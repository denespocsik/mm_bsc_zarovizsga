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66" r:id="rId5"/>
    <p:sldId id="259" r:id="rId6"/>
    <p:sldId id="260" r:id="rId7"/>
    <p:sldId id="263" r:id="rId8"/>
    <p:sldId id="261" r:id="rId9"/>
    <p:sldId id="262" r:id="rId10"/>
    <p:sldId id="264" r:id="rId11"/>
    <p:sldId id="267" r:id="rId12"/>
    <p:sldId id="268" r:id="rId13"/>
    <p:sldId id="269" r:id="rId14"/>
    <p:sldId id="270" r:id="rId15"/>
    <p:sldId id="271" r:id="rId16"/>
    <p:sldId id="273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2" r:id="rId26"/>
    <p:sldId id="283" r:id="rId2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4252"/>
    <a:srgbClr val="8B5E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6370" autoAdjust="0"/>
  </p:normalViewPr>
  <p:slideViewPr>
    <p:cSldViewPr snapToGrid="0">
      <p:cViewPr varScale="1">
        <p:scale>
          <a:sx n="56" d="100"/>
          <a:sy n="56" d="100"/>
        </p:scale>
        <p:origin x="90" y="6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19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E53D2-A48E-4C9B-B410-1E4D72DE286B}" type="datetimeFigureOut">
              <a:rPr lang="hu-HU" smtClean="0"/>
              <a:t>2023. 08. 29.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F073B-6FBE-4398-99B6-4AAC91B062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9637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42095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750C139D-3168-4490-BB9C-BC38A0EA8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xmlns="" id="{E8B206B0-EEE6-4BFD-858B-14AAFB8C8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15EFD624-2362-4233-AA2E-58D3AB2C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A2B3-E014-4A2E-A550-0FC801CC6702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D81589B6-0D22-495A-8AA4-804DAD7F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71DFD03E-3F7E-4EF4-9258-A04E4B2C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545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tartalom">
    <p:bg>
      <p:bgPr>
        <a:solidFill>
          <a:srgbClr val="5A42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églalap 13">
            <a:extLst>
              <a:ext uri="{FF2B5EF4-FFF2-40B4-BE49-F238E27FC236}">
                <a16:creationId xmlns:a16="http://schemas.microsoft.com/office/drawing/2014/main" xmlns="" id="{DDDEED1F-4A84-460A-8607-0736A80B4660}"/>
              </a:ext>
            </a:extLst>
          </p:cNvPr>
          <p:cNvSpPr/>
          <p:nvPr userDrawn="1"/>
        </p:nvSpPr>
        <p:spPr>
          <a:xfrm>
            <a:off x="5004707" y="113167"/>
            <a:ext cx="7094084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xmlns="" id="{B5A85F78-1FD5-4B49-B583-F7B2D395B8BA}"/>
              </a:ext>
            </a:extLst>
          </p:cNvPr>
          <p:cNvSpPr/>
          <p:nvPr userDrawn="1"/>
        </p:nvSpPr>
        <p:spPr>
          <a:xfrm>
            <a:off x="93209" y="89807"/>
            <a:ext cx="12005582" cy="1152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xmlns="" id="{C2069732-ACEA-44F7-B5CA-BAB2F9787C78}"/>
              </a:ext>
            </a:extLst>
          </p:cNvPr>
          <p:cNvSpPr/>
          <p:nvPr userDrawn="1"/>
        </p:nvSpPr>
        <p:spPr>
          <a:xfrm>
            <a:off x="93209" y="1265463"/>
            <a:ext cx="12005582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xmlns="" id="{FAB37637-9D6E-4D90-B2F1-76E205F96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10284" cy="718233"/>
          </a:xfrm>
        </p:spPr>
        <p:txBody>
          <a:bodyPr>
            <a:normAutofit/>
          </a:bodyPr>
          <a:lstStyle>
            <a:lvl1pPr>
              <a:defRPr sz="4000" b="1">
                <a:latin typeface="+mn-lt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B2CBCB6B-387A-4289-A82B-0BFAB4E69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510283" cy="5264148"/>
          </a:xfrm>
        </p:spPr>
        <p:txBody>
          <a:bodyPr/>
          <a:lstStyle>
            <a:lvl1pPr>
              <a:buClr>
                <a:srgbClr val="5A4252"/>
              </a:buClr>
              <a:buFont typeface="Wingdings" panose="05000000000000000000" pitchFamily="2" charset="2"/>
              <a:buChar char="§"/>
              <a:defRPr sz="2400"/>
            </a:lvl1pPr>
            <a:lvl2pPr>
              <a:buClr>
                <a:srgbClr val="5A4252"/>
              </a:buClr>
              <a:buFont typeface="Wingdings" panose="05000000000000000000" pitchFamily="2" charset="2"/>
              <a:buChar char="§"/>
              <a:defRPr sz="2400"/>
            </a:lvl2pPr>
            <a:lvl3pPr>
              <a:buClr>
                <a:srgbClr val="5A4252"/>
              </a:buClr>
              <a:buFont typeface="Wingdings" panose="05000000000000000000" pitchFamily="2" charset="2"/>
              <a:buChar char="§"/>
              <a:defRPr sz="2400"/>
            </a:lvl3pPr>
            <a:lvl4pPr>
              <a:buClr>
                <a:srgbClr val="5A4252"/>
              </a:buClr>
              <a:buFont typeface="Wingdings" panose="05000000000000000000" pitchFamily="2" charset="2"/>
              <a:buChar char="§"/>
              <a:defRPr sz="2400"/>
            </a:lvl4pPr>
            <a:lvl5pPr>
              <a:buClr>
                <a:srgbClr val="5A4252"/>
              </a:buClr>
              <a:buFont typeface="Wingdings" panose="05000000000000000000" pitchFamily="2" charset="2"/>
              <a:buChar char="§"/>
              <a:defRPr sz="2400"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7" name="Dia számának helye 5">
            <a:extLst>
              <a:ext uri="{FF2B5EF4-FFF2-40B4-BE49-F238E27FC236}">
                <a16:creationId xmlns:a16="http://schemas.microsoft.com/office/drawing/2014/main" xmlns="" id="{ABA2E200-FE90-4F81-A7F7-486CE3F2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2729" y="6379708"/>
            <a:ext cx="2743200" cy="365125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F906C4D8-32F2-4A19-B0E3-4323A7BEC644}" type="slidenum">
              <a:rPr lang="hu-HU" smtClean="0"/>
              <a:pPr/>
              <a:t>‹#›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xmlns="" id="{CCA7E92E-0678-4CB8-B34A-3CEDD493C7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463" y="211135"/>
            <a:ext cx="11510284" cy="440645"/>
          </a:xfrm>
        </p:spPr>
        <p:txBody>
          <a:bodyPr/>
          <a:lstStyle>
            <a:lvl1pPr>
              <a:buNone/>
              <a:defRPr b="0"/>
            </a:lvl1pPr>
          </a:lstStyle>
          <a:p>
            <a:pPr lvl="0"/>
            <a:r>
              <a:rPr lang="hu-HU" dirty="0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3022340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558E1F47-A20E-4BB9-A350-B0990DE5E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xmlns="" id="{A674DF5C-4EEB-42BF-947E-B831FE8D0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80F63501-4CC0-443D-9D68-F329C8C2B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EA38-83FC-4782-9732-2A658C756FBF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CBAEB0E0-2A8E-4ED6-A556-F8979733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229D3C6A-29F7-48FE-BCD5-E38A7ED7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4100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8810067C-BED7-4D0B-A7AE-64B226FE9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6989049E-102A-47F6-9DB1-D28194DAE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xmlns="" id="{56670EB4-6095-49EF-BC35-7B589A44C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xmlns="" id="{2B37BD7D-E3E5-45AB-8F04-C3BB6789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02E6-7993-453D-93F9-E6EF1116D18A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xmlns="" id="{3E3D45C3-0A0B-4B2E-82E4-EA07495C0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xmlns="" id="{B5B50F8E-6620-4235-B0AD-8AA15B30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66056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F266F4E0-940E-4BAE-B93C-63B7BDFB7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xmlns="" id="{0A2959B8-ED8C-4B0B-9977-61BD3846A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xmlns="" id="{1CCDBE15-67FD-4624-AA3C-3954AD9B7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DF322681-B9EB-4202-B82F-62986E7BE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xmlns="" id="{4C904C5F-E076-4D0B-8982-C2E9696E2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xmlns="" id="{DAE73D62-5ABD-42E2-8E4F-A4C9D60C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6007-D686-40BA-81B1-73FEF61F594E}" type="datetime1">
              <a:rPr lang="hu-HU" smtClean="0"/>
              <a:t>2023. 08. 29.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xmlns="" id="{12CEA0E5-76DF-4C30-B4E7-9D73172E1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xmlns="" id="{E4147FC1-08D6-4073-B160-DA6C7F80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892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FDDEF8AF-3DBD-4787-B3C3-E54E37A4B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xmlns="" id="{1004E331-98B3-4071-BBC4-B70A94793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9E8F-2C13-44E0-88ED-8DAC965F9F1B}" type="datetime1">
              <a:rPr lang="hu-HU" smtClean="0"/>
              <a:t>2023. 08. 29.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xmlns="" id="{9839F9EC-D9E3-4149-9FDB-26C9C93B5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xmlns="" id="{A996AA15-EE1A-41CC-A088-942F69E6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183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xmlns="" id="{8232CDB6-02A2-4E33-83D0-705F4C001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2AE6F-9176-4A48-8B31-B40F1CD1CA67}" type="datetime1">
              <a:rPr lang="hu-HU" smtClean="0"/>
              <a:t>2023. 08. 29.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xmlns="" id="{A57E066B-902D-436D-B156-0C745132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3817F04B-AF52-4648-8F6E-228367CF3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968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BF10A394-C766-410D-A40E-A419FE663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B9AE76C-FECB-4776-9AC6-0CC24C19A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xmlns="" id="{37756CC3-7EE4-4387-9A9B-A6A7EC4EC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xmlns="" id="{5F71D787-FE7E-488E-820D-677DB815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4019-9299-4649-B777-D3FD3F0DF105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xmlns="" id="{3F0CBFD6-E08D-4DC4-AD7A-CCFE1899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xmlns="" id="{76DBC206-9A73-416D-8C18-5E85F368E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360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1D336558-64C8-4443-A717-0E2F3CB77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xmlns="" id="{7D7D72D5-7457-4552-88D3-03E28DEDD6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xmlns="" id="{5D412EE6-6AD6-4C94-9EE3-B679EAFB6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xmlns="" id="{6B45C1E5-6AD4-490D-9144-44476B02F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CDC1-49EF-4ED0-A19F-FD7F561FE84C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xmlns="" id="{C044CDEB-6218-40E1-B4BA-41676461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xmlns="" id="{C00ED222-CB4F-44CF-BA9D-2FC17CE60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3880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F5A7E4B-F7E4-4AA4-860F-4C6A03C87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xmlns="" id="{AA651D79-3498-4F2E-9F68-953F93D4F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D304470A-ABA4-4D52-8CC9-952139B8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3B1C-99A4-498A-A255-49BFF718273E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5B1CFCD3-7120-46EC-9471-224D39A3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93B51A95-5799-4B77-AC52-43F335DD4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5978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xmlns="" id="{D373C461-39C7-4606-BCC4-70DADCEF4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xmlns="" id="{44A7E9BB-AA6D-4D97-B1A7-18F2CD1C65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11DD3EA0-896E-47E3-A1C0-707ECCCE9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5E8A-C486-4894-8349-73C1CA8437D8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FC1DE335-3672-4078-9D66-23423314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0FDC640C-F1ED-46D8-AB88-A36984A7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291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xmlns="" id="{79ED9102-32AA-4BE9-BDE5-05201ADDA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xmlns="" id="{463EEA34-9557-4D56-831A-83912F399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xmlns="" id="{AC69EE77-6CC9-4CC9-8D75-64722839D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D1FF1-846C-4DD0-B4AC-8156EDF0B994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xmlns="" id="{699550F0-C374-4C65-91D6-8BCFE575C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xmlns="" id="{2606282D-346B-422A-A731-68523C74F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2516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liminate the Stop Gap Cycle With Proactive IT Management | Ancero">
            <a:extLst>
              <a:ext uri="{FF2B5EF4-FFF2-40B4-BE49-F238E27FC236}">
                <a16:creationId xmlns:a16="http://schemas.microsoft.com/office/drawing/2014/main" xmlns="" id="{9A1C3846-C58E-46A1-8324-ABE628632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01243" y="0"/>
            <a:ext cx="14672701" cy="697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églalap 9">
            <a:extLst>
              <a:ext uri="{FF2B5EF4-FFF2-40B4-BE49-F238E27FC236}">
                <a16:creationId xmlns:a16="http://schemas.microsoft.com/office/drawing/2014/main" xmlns="" id="{B71DD668-A5C7-4E1D-B55A-AF9BA972D50B}"/>
              </a:ext>
            </a:extLst>
          </p:cNvPr>
          <p:cNvSpPr/>
          <p:nvPr/>
        </p:nvSpPr>
        <p:spPr>
          <a:xfrm>
            <a:off x="-36352" y="84481"/>
            <a:ext cx="11161552" cy="1263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xmlns="" id="{3C939434-E251-4120-898C-686C77FB2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6313" y="589969"/>
            <a:ext cx="10795686" cy="715684"/>
          </a:xfrm>
          <a:noFill/>
          <a:ln w="28575">
            <a:noFill/>
          </a:ln>
        </p:spPr>
        <p:txBody>
          <a:bodyPr anchor="ctr">
            <a:normAutofit fontScale="90000"/>
          </a:bodyPr>
          <a:lstStyle/>
          <a:p>
            <a:pPr algn="l"/>
            <a:r>
              <a:rPr lang="hu-HU" b="1" dirty="0">
                <a:latin typeface="+mn-lt"/>
              </a:rPr>
              <a:t>Kockázatmenedzsment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xmlns="" id="{13CA3651-BAD3-4EDE-AFD0-D06900524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2973" y="84481"/>
            <a:ext cx="2930666" cy="632211"/>
          </a:xfrm>
          <a:noFill/>
          <a:ln w="28575"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hu-HU" b="1" dirty="0"/>
              <a:t>Menedzsment alapjai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xmlns="" id="{C6A4C454-9DBE-4802-9EF2-C1214C1FEE2B}"/>
              </a:ext>
            </a:extLst>
          </p:cNvPr>
          <p:cNvSpPr/>
          <p:nvPr/>
        </p:nvSpPr>
        <p:spPr>
          <a:xfrm>
            <a:off x="0" y="84481"/>
            <a:ext cx="1382973" cy="1263413"/>
          </a:xfrm>
          <a:prstGeom prst="rect">
            <a:avLst/>
          </a:prstGeom>
          <a:solidFill>
            <a:srgbClr val="5A42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xmlns="" id="{D4FF0E0E-6C7A-4088-A4A3-FE1C79555183}"/>
              </a:ext>
            </a:extLst>
          </p:cNvPr>
          <p:cNvSpPr txBox="1"/>
          <p:nvPr/>
        </p:nvSpPr>
        <p:spPr>
          <a:xfrm>
            <a:off x="219891" y="348858"/>
            <a:ext cx="12511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000" b="1" dirty="0" smtClean="0">
                <a:solidFill>
                  <a:schemeClr val="bg1"/>
                </a:solidFill>
              </a:rPr>
              <a:t>12.</a:t>
            </a:r>
            <a:endParaRPr lang="hu-HU" sz="6000" b="1" dirty="0">
              <a:solidFill>
                <a:schemeClr val="bg1"/>
              </a:solidFill>
            </a:endParaRPr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776" y="314915"/>
            <a:ext cx="1305107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402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CB505F43-3D91-412E-9722-5437382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Tartalomjegyzék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71F1DE5-BF43-4C0B-A4A4-BEB34C77F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A kockázatok fogalma</a:t>
            </a:r>
          </a:p>
          <a:p>
            <a:r>
              <a:rPr lang="hu-HU" dirty="0"/>
              <a:t>A kockázatok szerepe</a:t>
            </a:r>
          </a:p>
          <a:p>
            <a:r>
              <a:rPr lang="hu-HU" dirty="0"/>
              <a:t>A kockázatmenedzsment fogalma</a:t>
            </a:r>
          </a:p>
          <a:p>
            <a:r>
              <a:rPr lang="hu-HU" dirty="0"/>
              <a:t>A kockázatmenedzsment célja</a:t>
            </a:r>
          </a:p>
          <a:p>
            <a:r>
              <a:rPr lang="hu-HU" dirty="0"/>
              <a:t>A kockázatmenedzsment fontossága</a:t>
            </a:r>
          </a:p>
          <a:p>
            <a:r>
              <a:rPr lang="hu-HU" dirty="0"/>
              <a:t>A kockázatmenedzsment lépései</a:t>
            </a:r>
          </a:p>
          <a:p>
            <a:r>
              <a:rPr lang="hu-HU" dirty="0"/>
              <a:t>A kockázatok azonosítása</a:t>
            </a:r>
          </a:p>
          <a:p>
            <a:r>
              <a:rPr lang="hu-HU" dirty="0"/>
              <a:t>Kvantitatív kockázatelemzés</a:t>
            </a:r>
          </a:p>
          <a:p>
            <a:r>
              <a:rPr lang="hu-HU" dirty="0"/>
              <a:t>A kockázatok kezelése</a:t>
            </a:r>
          </a:p>
          <a:p>
            <a:r>
              <a:rPr lang="hu-HU" dirty="0"/>
              <a:t>Becslések</a:t>
            </a:r>
          </a:p>
          <a:p>
            <a:r>
              <a:rPr lang="hu-HU" dirty="0"/>
              <a:t>Folyamatos kockázatmenedzsment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7ADB85DE-5D70-4A1B-9F2F-2707FFEC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BD92B2EB-B62B-48F3-B55A-A30661629A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39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3C7ABDB0-0F3D-452D-8D4E-54DA3EE22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Kockázatok fogalma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BDAED8DB-2CD5-47BC-B400-6652B7A93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kockázat, olyan a projekt kivitelezést befolyásoló tényező, amely sok esetben ismert a csapat számára azonban bekövetkezésének valószínűsége és hatásának mértéke csupán becsülhető</a:t>
            </a:r>
          </a:p>
          <a:p>
            <a:r>
              <a:rPr lang="hu-HU" dirty="0"/>
              <a:t>Amennyiben egy esemény bekövetkezése teljesen biztos, azt már nem problémának nevezzük</a:t>
            </a:r>
          </a:p>
          <a:p>
            <a:r>
              <a:rPr lang="hu-HU" dirty="0"/>
              <a:t>A kockázat </a:t>
            </a:r>
            <a:r>
              <a:rPr lang="hu-HU" b="1" dirty="0"/>
              <a:t>nem</a:t>
            </a:r>
            <a:r>
              <a:rPr lang="hu-HU" dirty="0"/>
              <a:t> egy negatív jelző!</a:t>
            </a:r>
          </a:p>
          <a:p>
            <a:pPr lvl="1"/>
            <a:r>
              <a:rPr lang="hu-HU" dirty="0"/>
              <a:t>A kockázat befolyásolhatja a projektet mind pozitív és negatív irányba</a:t>
            </a:r>
          </a:p>
          <a:p>
            <a:pPr lvl="1"/>
            <a:endParaRPr lang="hu-HU" dirty="0"/>
          </a:p>
          <a:p>
            <a:r>
              <a:rPr lang="hu-HU" dirty="0"/>
              <a:t>Ismert ismeretlenek – Azok a projektet befolyásoló </a:t>
            </a:r>
            <a:r>
              <a:rPr lang="hu-HU" dirty="0" smtClean="0"/>
              <a:t>események, </a:t>
            </a:r>
            <a:r>
              <a:rPr lang="hu-HU" dirty="0"/>
              <a:t>amelyekről a projekt csapat a megfelelő elemzések elvégzésével tudomást szerezhet</a:t>
            </a:r>
          </a:p>
          <a:p>
            <a:r>
              <a:rPr lang="hu-HU" dirty="0"/>
              <a:t>Ismeretlen ismeretlenek – Azok a projektet befolyásoló </a:t>
            </a:r>
            <a:r>
              <a:rPr lang="hu-HU" dirty="0" smtClean="0"/>
              <a:t>események, </a:t>
            </a:r>
            <a:r>
              <a:rPr lang="hu-HU" dirty="0"/>
              <a:t>amelyek léteznek, azonban a projekt csapat nem tudja azokat feltárni a megfelelő elemzésekkel</a:t>
            </a:r>
          </a:p>
          <a:p>
            <a:pPr lvl="1"/>
            <a:r>
              <a:rPr lang="hu-HU" dirty="0"/>
              <a:t>Ezekre a kockázatokra általában csak tartalék képzéssel lehet készülni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65DF102F-F4D2-41FC-8DD7-3BD0AC927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D820711-4B21-4505-ACE9-5FD859C153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589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D0A6418E-EC1E-4CA6-85C3-85076497F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kockázatok szerepe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356A7F7D-0051-45E0-8F61-DF1FB164A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Napjainkban a vállalatok egyre inkább egy folyamatosan változó, turbulens környezetben működnek</a:t>
            </a:r>
          </a:p>
          <a:p>
            <a:pPr lvl="1"/>
            <a:r>
              <a:rPr lang="hu-HU" dirty="0"/>
              <a:t>Egyre rugalmasabb termelés</a:t>
            </a:r>
          </a:p>
          <a:p>
            <a:pPr lvl="1"/>
            <a:r>
              <a:rPr lang="hu-HU" dirty="0"/>
              <a:t>Egyre komplexebb feladatok ellátása</a:t>
            </a:r>
          </a:p>
          <a:p>
            <a:pPr lvl="1"/>
            <a:r>
              <a:rPr lang="hu-HU" dirty="0"/>
              <a:t>Egyre növekvő és gyorsabban változó vásárlói igények</a:t>
            </a:r>
          </a:p>
          <a:p>
            <a:pPr marL="0" indent="0">
              <a:buNone/>
            </a:pPr>
            <a:r>
              <a:rPr lang="hu-HU" dirty="0"/>
              <a:t>A vállalatok folyamatos fejlődésre vannak kényszerítve a siker </a:t>
            </a:r>
            <a:r>
              <a:rPr lang="hu-HU" dirty="0" smtClean="0"/>
              <a:t>érdekében</a:t>
            </a:r>
          </a:p>
          <a:p>
            <a:pPr marL="0" indent="0">
              <a:buNone/>
            </a:pPr>
            <a:r>
              <a:rPr lang="hu-HU" dirty="0" smtClean="0"/>
              <a:t>A </a:t>
            </a:r>
            <a:r>
              <a:rPr lang="hu-HU" dirty="0"/>
              <a:t>változás azonban mindig kockázatokkal jár, hiszen a jövő eseményei mindig csupán csak becsülhetők</a:t>
            </a:r>
          </a:p>
          <a:p>
            <a:pPr lvl="1"/>
            <a:endParaRPr lang="hu-HU" dirty="0"/>
          </a:p>
          <a:p>
            <a:r>
              <a:rPr lang="hu-HU" b="1" dirty="0"/>
              <a:t>Vállalatkockázat</a:t>
            </a:r>
            <a:r>
              <a:rPr lang="hu-HU" dirty="0"/>
              <a:t> – Megéri-e befektetni ebbe a projektbe? Meg fog-e térülni? Bele illik a projekt a vállalat víziójába?</a:t>
            </a:r>
          </a:p>
          <a:p>
            <a:r>
              <a:rPr lang="hu-HU" b="1" dirty="0"/>
              <a:t>Projektkockázat </a:t>
            </a:r>
            <a:r>
              <a:rPr lang="hu-HU" dirty="0"/>
              <a:t>– Milyen tényezők befolyásolják a projekt sikeres megvalósulását?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AF33109F-0BAA-47DF-8114-257C95C46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877C7777-4389-48DE-88D9-96119D8BC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02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D0A6418E-EC1E-4CA6-85C3-85076497F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kockázatok szerepe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356A7F7D-0051-45E0-8F61-DF1FB164A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kockázatok tehát előre csak becsülhető események</a:t>
            </a:r>
          </a:p>
          <a:p>
            <a:r>
              <a:rPr lang="hu-HU" dirty="0"/>
              <a:t>A vállalatoknak sokszor kockázatos döntéseket kell meghozniuk a siker </a:t>
            </a:r>
            <a:r>
              <a:rPr lang="hu-HU" dirty="0" smtClean="0"/>
              <a:t>érdekében</a:t>
            </a:r>
          </a:p>
          <a:p>
            <a:r>
              <a:rPr lang="hu-HU" dirty="0" smtClean="0"/>
              <a:t>A </a:t>
            </a:r>
            <a:r>
              <a:rPr lang="hu-HU" dirty="0"/>
              <a:t>magas kockázattűrésű vállalatoknak versenyelőnye származhat ebből a vállalati kompetenciából, hiszen képesek magas kockázatú helyzetekben is a megfelelő döntést meghozni</a:t>
            </a:r>
          </a:p>
          <a:p>
            <a:r>
              <a:rPr lang="hu-HU" dirty="0"/>
              <a:t>Az emberek saját természetükből fakadóan nagyon nehezen vállnak meg a már biztos, megszerzett vagyonuktól vagy </a:t>
            </a:r>
            <a:r>
              <a:rPr lang="hu-HU" dirty="0" smtClean="0"/>
              <a:t>értékeiktől</a:t>
            </a:r>
          </a:p>
          <a:p>
            <a:r>
              <a:rPr lang="hu-HU" dirty="0" smtClean="0"/>
              <a:t>A </a:t>
            </a:r>
            <a:r>
              <a:rPr lang="hu-HU" dirty="0"/>
              <a:t>kockázatok kezelése a valószínűség számításra </a:t>
            </a:r>
            <a:r>
              <a:rPr lang="hu-HU" dirty="0" smtClean="0"/>
              <a:t>épül</a:t>
            </a:r>
          </a:p>
          <a:p>
            <a:r>
              <a:rPr lang="hu-HU" dirty="0" smtClean="0"/>
              <a:t>A </a:t>
            </a:r>
            <a:r>
              <a:rPr lang="hu-HU" dirty="0"/>
              <a:t>vállalatoknak a siker érdekében tudniuk kell kezelni a kockázatokat</a:t>
            </a:r>
          </a:p>
          <a:p>
            <a:pPr lvl="2"/>
            <a:r>
              <a:rPr lang="hu-HU" dirty="0"/>
              <a:t>Megfelelő kockázatkezelési rendszer kiépítése</a:t>
            </a:r>
          </a:p>
          <a:p>
            <a:pPr lvl="2"/>
            <a:r>
              <a:rPr lang="hu-HU" dirty="0"/>
              <a:t>A vállalati környezet folyamatos nyomon követése</a:t>
            </a:r>
          </a:p>
          <a:p>
            <a:pPr lvl="2"/>
            <a:r>
              <a:rPr lang="hu-HU" dirty="0"/>
              <a:t>Aktív tevékenység a negatív tényezők ellehetetlenítésére és a pozitív tényezők bekövetkezésének elősegítésére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AF33109F-0BAA-47DF-8114-257C95C46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877C7777-4389-48DE-88D9-96119D8BC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468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95B8D0E9-A314-40A6-8734-A7C634306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Fogalma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1D4B1DCE-119B-499D-A0B6-2F38281F9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kockázatmenedzsment tehát az a </a:t>
            </a:r>
            <a:r>
              <a:rPr lang="hu-HU" dirty="0" smtClean="0"/>
              <a:t>tevékenység, </a:t>
            </a:r>
            <a:r>
              <a:rPr lang="hu-HU" dirty="0"/>
              <a:t>amely a projekt tervezési és megvalósítási fázisában is </a:t>
            </a:r>
            <a:r>
              <a:rPr lang="hu-HU" b="1" dirty="0"/>
              <a:t>folyamatosan törekszik a projekt kivitelezését befolyásoló tényezők feltárására és azok megfelelő kezelésére</a:t>
            </a:r>
          </a:p>
          <a:p>
            <a:endParaRPr lang="hu-HU" dirty="0"/>
          </a:p>
          <a:p>
            <a:r>
              <a:rPr lang="hu-HU" dirty="0"/>
              <a:t>A </a:t>
            </a:r>
            <a:r>
              <a:rPr lang="hu-HU" b="1" dirty="0"/>
              <a:t>vállalati életben </a:t>
            </a:r>
            <a:r>
              <a:rPr lang="hu-HU" dirty="0"/>
              <a:t>a kockázatmenedzsment elősegíti a vállalati döntéshozást és a válságok helyez kezelését. A vállalati környezet folyamatos monitorozásával és a változásokra való helyes felkészüléssel a szervezet mind inkább biztosíthatja a sikeres és rugalmas működést</a:t>
            </a:r>
          </a:p>
          <a:p>
            <a:endParaRPr lang="hu-HU" dirty="0"/>
          </a:p>
          <a:p>
            <a:r>
              <a:rPr lang="hu-HU" dirty="0"/>
              <a:t>A </a:t>
            </a:r>
            <a:r>
              <a:rPr lang="hu-HU" b="1" dirty="0"/>
              <a:t>pénzügyi szektorban </a:t>
            </a:r>
            <a:r>
              <a:rPr lang="hu-HU" dirty="0"/>
              <a:t>a kockázatmenedzsment szintén nagy szerepet kap, hiszen a bankok a bekért adatok és szakértők véleményének kikérésével, a teljes projektkörnyezet feltérképezésével és annak megvalósításának kockázati elemzésével határozzák meg, hogy érdemes-e az adott projektet finanszírozni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832B7551-39AB-4191-A2BB-0271C7983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5A6D2F43-487D-4D52-B61C-EFDA93CC9C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156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D608DE9F-40C8-429E-A36A-79F495963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Kockázatok fajtái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D036FF9F-2214-49A4-AD12-2036C2047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20000"/>
          </a:bodyPr>
          <a:lstStyle/>
          <a:p>
            <a:r>
              <a:rPr lang="hu-HU" sz="2600" dirty="0"/>
              <a:t>A kockázatok számtalan irányból befolyásolhatják a projekt kivitelezését, éppen ezért nagyon fontos, hogy a csapat a lehető legszélesebb körben felmérje ezeket a tényezőket és végig gondolja, hogy a projekt milyen területeket érint, milyen igényeket </a:t>
            </a:r>
            <a:r>
              <a:rPr lang="hu-HU" sz="2600" dirty="0" smtClean="0"/>
              <a:t>támaszt</a:t>
            </a:r>
          </a:p>
          <a:p>
            <a:endParaRPr lang="hu-HU" dirty="0"/>
          </a:p>
          <a:p>
            <a:endParaRPr lang="hu-HU" dirty="0" smtClean="0"/>
          </a:p>
          <a:p>
            <a:endParaRPr lang="hu-HU" dirty="0"/>
          </a:p>
          <a:p>
            <a:endParaRPr lang="hu-HU" dirty="0" smtClean="0"/>
          </a:p>
          <a:p>
            <a:endParaRPr lang="hu-HU" dirty="0"/>
          </a:p>
          <a:p>
            <a:endParaRPr lang="hu-HU" dirty="0" smtClean="0"/>
          </a:p>
          <a:p>
            <a:endParaRPr lang="hu-HU" dirty="0"/>
          </a:p>
          <a:p>
            <a:endParaRPr lang="hu-HU" dirty="0" smtClean="0"/>
          </a:p>
          <a:p>
            <a:endParaRPr lang="hu-HU" dirty="0"/>
          </a:p>
          <a:p>
            <a:r>
              <a:rPr lang="hu-HU" sz="2600" dirty="0"/>
              <a:t>A teljesség igénye nélkül a kockázat fajtáinak felsorolása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1900" dirty="0"/>
              <a:t>Ország kockázat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1900" dirty="0"/>
              <a:t>Állam kockázat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1900" dirty="0"/>
              <a:t>Politikai kockázat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1900" dirty="0"/>
              <a:t>Árfolyam kockázat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1900" dirty="0"/>
              <a:t>Inflációs kockázat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1900" dirty="0"/>
              <a:t>Kamatláb kockázat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1900" dirty="0"/>
              <a:t>Jogosítványok és engedély kockázat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1900" dirty="0"/>
              <a:t>Üzemi teljesítmény kockázat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1900" dirty="0"/>
              <a:t>Nyersanyag kockázat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1900" dirty="0"/>
              <a:t>Szerződés kockázat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1900" dirty="0"/>
              <a:t>Környezeti kockázat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1900" dirty="0"/>
              <a:t>Jogi kockázat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1900" dirty="0"/>
              <a:t>Humán erőforrás kockázat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1900" dirty="0"/>
              <a:t>Infrastrukturális kockázat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hu-HU" sz="1900" dirty="0"/>
              <a:t>Váratlan események kockázata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BE27B784-CCAF-4619-B080-DDF5226C3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3FC306BE-D983-4B96-828A-499182C29B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655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1C21BEAC-ABF9-487D-BA29-CDE202B7B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BFC092E9-D8E7-4236-B3DA-741EFBD79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Feltárja a projekt környezetét és a projekt kivitelezést befolyásoló pozitív és negatív tényezőket</a:t>
            </a:r>
          </a:p>
          <a:p>
            <a:r>
              <a:rPr lang="hu-HU" dirty="0"/>
              <a:t>Kockázat prioritási sorrendet állítson fel</a:t>
            </a:r>
          </a:p>
          <a:p>
            <a:r>
              <a:rPr lang="hu-HU" dirty="0"/>
              <a:t>További elemzéseket végezzen</a:t>
            </a:r>
          </a:p>
          <a:p>
            <a:r>
              <a:rPr lang="hu-HU" dirty="0"/>
              <a:t>Készítsen részletes kockázati-tervet</a:t>
            </a:r>
          </a:p>
          <a:p>
            <a:r>
              <a:rPr lang="hu-HU" dirty="0"/>
              <a:t>Kerüljenek kijelölésre </a:t>
            </a:r>
            <a:r>
              <a:rPr lang="hu-HU" dirty="0" smtClean="0"/>
              <a:t>kockázatfelelősök, </a:t>
            </a:r>
            <a:r>
              <a:rPr lang="hu-HU" dirty="0"/>
              <a:t>akiknek a feladata az adott kockázatok nyomon követése és azok változásáról a beszámolás</a:t>
            </a:r>
          </a:p>
          <a:p>
            <a:r>
              <a:rPr lang="hu-HU" dirty="0"/>
              <a:t>Dokumentáljon </a:t>
            </a:r>
            <a:r>
              <a:rPr lang="hu-HU" dirty="0" smtClean="0"/>
              <a:t>folyamatosan</a:t>
            </a:r>
            <a:r>
              <a:rPr lang="hu-HU" dirty="0"/>
              <a:t>, vonja le a tapasztalatokat</a:t>
            </a:r>
          </a:p>
          <a:p>
            <a:r>
              <a:rPr lang="hu-HU" dirty="0"/>
              <a:t>A projekt megvalósítási szakaszában is tárja fel a kockázatokat, kövesse nyomon a már feltárt kockázatokat</a:t>
            </a:r>
          </a:p>
          <a:p>
            <a:r>
              <a:rPr lang="hu-HU" dirty="0"/>
              <a:t>A </a:t>
            </a:r>
            <a:r>
              <a:rPr lang="hu-HU" dirty="0" smtClean="0"/>
              <a:t>feljegyzett </a:t>
            </a:r>
            <a:r>
              <a:rPr lang="hu-HU" dirty="0"/>
              <a:t>tapasztalatokkal teremtsen értéket a jövőre nézve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0F1B51ED-B55E-438A-B798-CEA553EDC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20847CE3-AF0F-46FB-B2A2-A08FCE9AB8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937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094130D9-8C06-4016-B0B2-719CD134A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Fontossága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9354E949-1564-4BFD-8051-46B424E84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projekt környezetének ismerete és a befolyásoló tényezők feltérképezése nélkül a projekt csapatot számtalan olyan esemény </a:t>
            </a:r>
            <a:r>
              <a:rPr lang="hu-HU" dirty="0" smtClean="0"/>
              <a:t>érheti, </a:t>
            </a:r>
            <a:r>
              <a:rPr lang="hu-HU" dirty="0"/>
              <a:t>amire képtelenség időben reagálni</a:t>
            </a:r>
          </a:p>
          <a:p>
            <a:r>
              <a:rPr lang="hu-HU" dirty="0"/>
              <a:t>A kockázatmenedzsment hiánya a projekt vas-háromszögének változásához vezethet</a:t>
            </a:r>
          </a:p>
          <a:p>
            <a:pPr lvl="1"/>
            <a:r>
              <a:rPr lang="hu-HU" dirty="0"/>
              <a:t>Romlik a projekt minőség</a:t>
            </a:r>
          </a:p>
          <a:p>
            <a:pPr lvl="1"/>
            <a:r>
              <a:rPr lang="hu-HU" dirty="0"/>
              <a:t>Több erőforrásra van szükség a váratlan esemény áthidalásához</a:t>
            </a:r>
          </a:p>
          <a:p>
            <a:pPr lvl="1"/>
            <a:r>
              <a:rPr lang="hu-HU" dirty="0"/>
              <a:t>Több időre van szükség a váratlan esemény áthidalásához</a:t>
            </a:r>
          </a:p>
          <a:p>
            <a:pPr lvl="1"/>
            <a:endParaRPr lang="hu-HU" dirty="0"/>
          </a:p>
          <a:p>
            <a:r>
              <a:rPr lang="hu-HU" dirty="0"/>
              <a:t>Akár a projekt elhalasztásához vagy teljes elvetéséhez vezethet</a:t>
            </a:r>
          </a:p>
          <a:p>
            <a:endParaRPr lang="hu-HU" dirty="0"/>
          </a:p>
          <a:p>
            <a:r>
              <a:rPr lang="hu-HU" dirty="0"/>
              <a:t>A folyamatosan változó környezetből fakadóan a projekt csapat a rendszeres nyomon követés hiányában nem szerezhet tudomást a már ismert kockázatok változásáról és az újabb befolyásoló tényezők megjelenéséről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C511C4B0-1F68-4427-8194-0903D6525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8C824FA0-F786-452F-8E6B-67A431DE21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071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A91C86B5-7026-4643-8C27-052D7F28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Lépései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BF0B69FD-FE7E-40DA-BD9D-F8CCB4C53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projekt környezet feltérképezése</a:t>
            </a:r>
          </a:p>
          <a:p>
            <a:r>
              <a:rPr lang="hu-HU" dirty="0"/>
              <a:t>A projektet befolyásoló tényezők feltárása</a:t>
            </a:r>
          </a:p>
          <a:p>
            <a:r>
              <a:rPr lang="hu-HU" dirty="0"/>
              <a:t>Prioritási sorrend felállítása a feltárt kockázatokból</a:t>
            </a:r>
          </a:p>
          <a:p>
            <a:r>
              <a:rPr lang="hu-HU" dirty="0"/>
              <a:t>Kvantitatív kockázatelemzés</a:t>
            </a:r>
          </a:p>
          <a:p>
            <a:r>
              <a:rPr lang="hu-HU" dirty="0"/>
              <a:t>A kockázati-terv kialakítása</a:t>
            </a:r>
          </a:p>
          <a:p>
            <a:r>
              <a:rPr lang="hu-HU" dirty="0"/>
              <a:t>Kockázatfelelősök kijelölése</a:t>
            </a:r>
          </a:p>
          <a:p>
            <a:r>
              <a:rPr lang="hu-HU" dirty="0"/>
              <a:t>A kockázatok folyamatos nyomon követése a projekt megvalósítási fázisában is</a:t>
            </a:r>
          </a:p>
          <a:p>
            <a:r>
              <a:rPr lang="hu-HU" dirty="0"/>
              <a:t>Folyamatos dokumentáció, tapasztalat szerzés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86319FE-CED3-42CD-B331-080CA2BBD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3DA41F1D-0D9C-4FE8-AC2A-5C9514CBD8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90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76720371-9968-4087-BD34-4447CCBBE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projekt környezetének feltérképezése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E93398DD-0BB9-49E8-9EEC-DEDFBD279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265464"/>
            <a:ext cx="11579677" cy="55925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b="1" dirty="0"/>
              <a:t>Kommunikáció</a:t>
            </a:r>
          </a:p>
          <a:p>
            <a:pPr lvl="1"/>
            <a:r>
              <a:rPr lang="hu-HU" dirty="0"/>
              <a:t>Szakemberek véleményének kikérése</a:t>
            </a:r>
          </a:p>
          <a:p>
            <a:pPr lvl="1"/>
            <a:r>
              <a:rPr lang="hu-HU" dirty="0"/>
              <a:t>Ötletbörze a projekt csapattal (Több szem többet lát)</a:t>
            </a:r>
          </a:p>
          <a:p>
            <a:pPr lvl="1"/>
            <a:r>
              <a:rPr lang="hu-HU" dirty="0"/>
              <a:t>A csapat bevonása már most emelheti az elköteleződés szintjét</a:t>
            </a:r>
          </a:p>
          <a:p>
            <a:pPr lvl="1"/>
            <a:r>
              <a:rPr lang="hu-HU" dirty="0"/>
              <a:t>Nagyon fontos az elfogulatlanság és az őszinte kommunikáció, a kockázatok valódi és reális értékelése</a:t>
            </a:r>
          </a:p>
          <a:p>
            <a:pPr marL="0" indent="0">
              <a:buNone/>
            </a:pPr>
            <a:r>
              <a:rPr lang="hu-HU" b="1" dirty="0"/>
              <a:t>Rendelkezésre álló információk és dokumentumok felhasználása</a:t>
            </a:r>
          </a:p>
          <a:p>
            <a:pPr lvl="1"/>
            <a:r>
              <a:rPr lang="hu-HU" dirty="0"/>
              <a:t>Rendelkezésre álló projekt dokumentumok elemzése</a:t>
            </a:r>
          </a:p>
          <a:p>
            <a:pPr lvl="1"/>
            <a:r>
              <a:rPr lang="hu-HU" dirty="0"/>
              <a:t>Szerződések, engedélyek vizsgálata</a:t>
            </a:r>
          </a:p>
          <a:p>
            <a:pPr lvl="1"/>
            <a:r>
              <a:rPr lang="hu-HU" dirty="0"/>
              <a:t>A vállalat belső és külső környezetének ismerete (PESTEL és SWOT elemzés)</a:t>
            </a:r>
          </a:p>
          <a:p>
            <a:pPr lvl="2"/>
            <a:r>
              <a:rPr lang="hu-HU" dirty="0"/>
              <a:t>Az elemzések elvégzése a jövőre tekintve is, nem csak a jelenre</a:t>
            </a:r>
          </a:p>
          <a:p>
            <a:pPr lvl="1"/>
            <a:r>
              <a:rPr lang="hu-HU" dirty="0"/>
              <a:t>Korábbi projektek dokumentumainak, tapasztalatainak ismerete</a:t>
            </a:r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r>
              <a:rPr lang="hu-HU" dirty="0" smtClean="0"/>
              <a:t>„</a:t>
            </a:r>
            <a:r>
              <a:rPr lang="hu-HU" dirty="0"/>
              <a:t>Murphy törvénye szerint, ami </a:t>
            </a:r>
            <a:r>
              <a:rPr lang="hu-HU" dirty="0" smtClean="0"/>
              <a:t>elromolhat, </a:t>
            </a:r>
            <a:r>
              <a:rPr lang="hu-HU" dirty="0"/>
              <a:t>az el is romlik. A sikeres kockázatmenedzsment a kritikus látásmóddal kezdődik” (</a:t>
            </a:r>
            <a:r>
              <a:rPr lang="hu-HU" dirty="0" err="1"/>
              <a:t>Wold</a:t>
            </a:r>
            <a:r>
              <a:rPr lang="hu-HU" dirty="0"/>
              <a:t>, 2008)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234BE70A-3BA6-4DD2-B11F-01E12781E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1A373814-8A45-41D7-A4E6-4892557A65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 lépései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778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DA553EFB-016B-4EB0-9DC8-5ED98C51A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kockázatok rangsorolása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65ADDC52-CB04-46C1-A1EB-6BBAE1E28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457324"/>
            <a:ext cx="7887204" cy="5400675"/>
          </a:xfrm>
        </p:spPr>
        <p:txBody>
          <a:bodyPr>
            <a:normAutofit/>
          </a:bodyPr>
          <a:lstStyle/>
          <a:p>
            <a:r>
              <a:rPr lang="hu-HU" dirty="0"/>
              <a:t>Fontos, hogy egy előre meghatározott rendszerben, azonos elvek mentén, a lehető legmegbízhatóbb információk alapján kerüljön meghatározásra a kockázatok prioritási sorrendje</a:t>
            </a:r>
          </a:p>
          <a:p>
            <a:r>
              <a:rPr lang="hu-HU" dirty="0"/>
              <a:t>Rávilágít arra, hogy melyek azok a </a:t>
            </a:r>
            <a:r>
              <a:rPr lang="hu-HU" dirty="0" smtClean="0"/>
              <a:t>kockázatok, </a:t>
            </a:r>
            <a:r>
              <a:rPr lang="hu-HU" dirty="0"/>
              <a:t>amelyekkel a csapatnak leginkább fontos foglalkozni</a:t>
            </a:r>
          </a:p>
          <a:p>
            <a:r>
              <a:rPr lang="hu-HU" dirty="0"/>
              <a:t>A felhasznált adatok legyenek teljesek, objektívek, relevánsak és időszerűek (</a:t>
            </a:r>
            <a:r>
              <a:rPr lang="hu-HU" dirty="0" err="1"/>
              <a:t>Hicks</a:t>
            </a:r>
            <a:r>
              <a:rPr lang="hu-HU" dirty="0"/>
              <a:t>, 2020)</a:t>
            </a:r>
          </a:p>
          <a:p>
            <a:endParaRPr lang="hu-HU" dirty="0"/>
          </a:p>
          <a:p>
            <a:r>
              <a:rPr lang="hu-HU" dirty="0"/>
              <a:t>A kockázat elemzés egyik módja </a:t>
            </a:r>
          </a:p>
          <a:p>
            <a:pPr lvl="1"/>
            <a:r>
              <a:rPr lang="hu-HU" dirty="0"/>
              <a:t>Peter-</a:t>
            </a:r>
            <a:r>
              <a:rPr lang="hu-HU" dirty="0" err="1"/>
              <a:t>Hobbs</a:t>
            </a:r>
            <a:r>
              <a:rPr lang="hu-HU" dirty="0"/>
              <a:t> skála – 1 – 10 között értékeli az adott esemény bekövetkezésének valószínűségét, valamint annak bekövetkezésének súlyosságát</a:t>
            </a:r>
          </a:p>
          <a:p>
            <a:pPr lvl="1"/>
            <a:r>
              <a:rPr lang="hu-HU" dirty="0"/>
              <a:t>A kettő szorzatából kapjuk a kockázat prioritási számát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5026089A-E0B9-4B5E-BAD1-A240AC824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AD5A9029-4E18-4B31-831B-B1AB66C1DF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 lépései</a:t>
            </a:r>
          </a:p>
        </p:txBody>
      </p:sp>
      <p:pic>
        <p:nvPicPr>
          <p:cNvPr id="6" name="Picture 12">
            <a:extLst>
              <a:ext uri="{FF2B5EF4-FFF2-40B4-BE49-F238E27FC236}">
                <a16:creationId xmlns:a16="http://schemas.microsoft.com/office/drawing/2014/main" xmlns="" id="{3ECED016-C010-48C1-96FF-25129F2F4A8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7976" y="1970502"/>
            <a:ext cx="4175465" cy="3145449"/>
          </a:xfrm>
          <a:prstGeom prst="rect">
            <a:avLst/>
          </a:prstGeom>
          <a:noFill/>
          <a:ln w="28575">
            <a:solidFill>
              <a:srgbClr val="5A4252"/>
            </a:solidFill>
          </a:ln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220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60B0796E-CE7B-4BD3-B99F-35B1EEF60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Kvantitatív kockázatelemzés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F6B9712-071F-4558-A9D0-82A85A87B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510283" cy="2683266"/>
          </a:xfrm>
        </p:spPr>
        <p:txBody>
          <a:bodyPr/>
          <a:lstStyle/>
          <a:p>
            <a:r>
              <a:rPr lang="hu-HU" dirty="0"/>
              <a:t>Általában </a:t>
            </a:r>
            <a:r>
              <a:rPr lang="hu-HU" dirty="0" smtClean="0"/>
              <a:t>nagyméretű </a:t>
            </a:r>
            <a:r>
              <a:rPr lang="hu-HU" dirty="0"/>
              <a:t>projektek esetében indokolt a kockázatok további és részletes elemzése</a:t>
            </a:r>
          </a:p>
          <a:p>
            <a:r>
              <a:rPr lang="hu-HU" dirty="0"/>
              <a:t>A kvantitatív kutatás nagyrészt korábbi </a:t>
            </a:r>
            <a:r>
              <a:rPr lang="hu-HU" dirty="0" smtClean="0"/>
              <a:t>számadatokra </a:t>
            </a:r>
            <a:r>
              <a:rPr lang="hu-HU" dirty="0"/>
              <a:t>vagy nagy mennyiségben elérhető vagy előállítható információra épül – elvégzése nagyban elősegítheti a kockázatok tulajdonságainak pontos meghatározását és azok későbbi elemzését</a:t>
            </a:r>
          </a:p>
          <a:p>
            <a:r>
              <a:rPr lang="hu-HU" dirty="0"/>
              <a:t>Továbbra is nagyon fontos a pontos és releváns adatok használata és a rendelkezésre álló információk teljeskörű ismerete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69442DA1-6765-4B98-BFF9-EDF7F9C7B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92A683FB-454F-4D5F-A81C-754B0F562E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 lépései</a:t>
            </a: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xmlns="" id="{68D43EAA-0B61-47EE-A98A-0F8AF56AF791}"/>
              </a:ext>
            </a:extLst>
          </p:cNvPr>
          <p:cNvSpPr txBox="1">
            <a:spLocks/>
          </p:cNvSpPr>
          <p:nvPr/>
        </p:nvSpPr>
        <p:spPr>
          <a:xfrm>
            <a:off x="136069" y="4196861"/>
            <a:ext cx="11510283" cy="2597833"/>
          </a:xfrm>
          <a:prstGeom prst="rect">
            <a:avLst/>
          </a:prstGeom>
        </p:spPr>
        <p:txBody>
          <a:bodyPr vert="horz" lIns="91440" tIns="45720" rIns="91440" bIns="45720" numCol="2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5A4252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A4252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A4252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A4252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A4252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Események közötti kapcsolatok elemzése (Korrelációs számítás)</a:t>
            </a:r>
          </a:p>
          <a:p>
            <a:r>
              <a:rPr lang="hu-HU" dirty="0"/>
              <a:t>Érzékenység elemzés – projekt befolyásoló tényezők és azok kapcsolatait mutatja meg</a:t>
            </a:r>
          </a:p>
          <a:p>
            <a:r>
              <a:rPr lang="hu-HU" dirty="0"/>
              <a:t>Döntés-fa elemzés – segít a legmegfelelőbb döntések meghozatalában és azok hatásainak végig követésében</a:t>
            </a:r>
          </a:p>
          <a:p>
            <a:r>
              <a:rPr lang="hu-HU" dirty="0"/>
              <a:t>Elemzés szimulációval vagy prototípusok készítésével (Monte-Carlo elemzés – ütemtervre és költségvetésre) – Akár több ezer alkalommal </a:t>
            </a:r>
            <a:r>
              <a:rPr lang="hu-HU" dirty="0" smtClean="0"/>
              <a:t>lefuttatott </a:t>
            </a:r>
            <a:r>
              <a:rPr lang="hu-HU" dirty="0"/>
              <a:t>szimuláció egy egyszerűsített környezetben mutathat rá a </a:t>
            </a:r>
            <a:r>
              <a:rPr lang="hu-HU" dirty="0" smtClean="0"/>
              <a:t>kockázatokra, </a:t>
            </a:r>
            <a:r>
              <a:rPr lang="hu-HU" dirty="0"/>
              <a:t>és azok bekövetkezésének valószínűségére (S-görbe – várható érték)</a:t>
            </a: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301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EF6383C9-4147-4E63-8A0C-9F0231C5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kockázati-terv kialakítása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FA4CEFA8-2F55-45CE-BFA4-570721707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510283" cy="1932989"/>
          </a:xfrm>
        </p:spPr>
        <p:txBody>
          <a:bodyPr/>
          <a:lstStyle/>
          <a:p>
            <a:r>
              <a:rPr lang="hu-HU" dirty="0"/>
              <a:t>Ezt követően a csapatnak a feladata, hogy a feltárt kockázatok alapján létrehozza a kockázati-tervet, amely tartalmazza a kockázatokat, azok </a:t>
            </a:r>
            <a:r>
              <a:rPr lang="hu-HU" dirty="0" smtClean="0"/>
              <a:t>prioritását, </a:t>
            </a:r>
            <a:r>
              <a:rPr lang="hu-HU" dirty="0"/>
              <a:t>és a bekövetkezésük esetén megteendő lépéseket</a:t>
            </a:r>
          </a:p>
          <a:p>
            <a:r>
              <a:rPr lang="hu-HU" dirty="0"/>
              <a:t>A kockázatok kezelésére általában 5-5 lehetőséget érdemes megemlíteni attól függően, hogy az adott befolyásoló tényező negatív vagy pozitív hatású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AC3A3E76-D7AE-4B72-BC0C-F7DF57EEE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75700917-EDB0-4E9E-AC87-295AFF9831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 lépései</a:t>
            </a:r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xmlns="" id="{01BE8156-7347-4394-A49E-263E69E36406}"/>
              </a:ext>
            </a:extLst>
          </p:cNvPr>
          <p:cNvSpPr txBox="1">
            <a:spLocks/>
          </p:cNvSpPr>
          <p:nvPr/>
        </p:nvSpPr>
        <p:spPr>
          <a:xfrm>
            <a:off x="136070" y="3389918"/>
            <a:ext cx="11510283" cy="3354915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5A4252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A4252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A4252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A4252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5A4252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b="1" dirty="0"/>
              <a:t>Fenyegetés</a:t>
            </a:r>
          </a:p>
          <a:p>
            <a:pPr lvl="1"/>
            <a:r>
              <a:rPr lang="hu-HU" dirty="0"/>
              <a:t>Elfogadás</a:t>
            </a:r>
          </a:p>
          <a:p>
            <a:pPr lvl="1"/>
            <a:r>
              <a:rPr lang="hu-HU" dirty="0"/>
              <a:t>Elkerülés</a:t>
            </a:r>
          </a:p>
          <a:p>
            <a:pPr lvl="1"/>
            <a:r>
              <a:rPr lang="hu-HU" dirty="0"/>
              <a:t>Csökkentés</a:t>
            </a:r>
          </a:p>
          <a:p>
            <a:pPr lvl="1"/>
            <a:r>
              <a:rPr lang="hu-HU" dirty="0"/>
              <a:t>Átruházás</a:t>
            </a:r>
          </a:p>
          <a:p>
            <a:pPr lvl="1"/>
            <a:r>
              <a:rPr lang="hu-HU" dirty="0"/>
              <a:t>Eszkalálás</a:t>
            </a:r>
          </a:p>
          <a:p>
            <a:pPr lvl="1"/>
            <a:endParaRPr lang="hu-HU" dirty="0"/>
          </a:p>
          <a:p>
            <a:pPr lvl="1"/>
            <a:endParaRPr lang="hu-HU" dirty="0"/>
          </a:p>
          <a:p>
            <a:pPr lvl="1"/>
            <a:r>
              <a:rPr lang="hu-HU" b="1" dirty="0"/>
              <a:t>Lehetőség</a:t>
            </a:r>
          </a:p>
          <a:p>
            <a:pPr lvl="2"/>
            <a:r>
              <a:rPr lang="hu-HU" dirty="0"/>
              <a:t>Elfogadás</a:t>
            </a:r>
          </a:p>
          <a:p>
            <a:pPr lvl="2"/>
            <a:r>
              <a:rPr lang="hu-HU" dirty="0"/>
              <a:t>Kihasználás</a:t>
            </a:r>
          </a:p>
          <a:p>
            <a:pPr lvl="2"/>
            <a:r>
              <a:rPr lang="hu-HU" dirty="0"/>
              <a:t>Fokozás</a:t>
            </a:r>
          </a:p>
          <a:p>
            <a:pPr lvl="2"/>
            <a:r>
              <a:rPr lang="hu-HU" dirty="0"/>
              <a:t>Megosztás</a:t>
            </a:r>
          </a:p>
          <a:p>
            <a:pPr lvl="2"/>
            <a:r>
              <a:rPr lang="hu-HU" dirty="0"/>
              <a:t>Eszkalálás</a:t>
            </a:r>
          </a:p>
          <a:p>
            <a:pPr lvl="1"/>
            <a:endParaRPr lang="hu-HU" dirty="0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358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9EC7795D-DABB-4638-B213-4D3149C1B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Fenyegetések kezelése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6DA3057E-8A3B-41B9-9048-AF2B6420B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Elfogadás</a:t>
            </a:r>
          </a:p>
          <a:p>
            <a:pPr marL="457200" lvl="1" indent="0">
              <a:buNone/>
            </a:pPr>
            <a:r>
              <a:rPr lang="hu-HU" dirty="0"/>
              <a:t>A kockázat általában túl pici vagy jelentéktelen, így a csapat nem tesz semmit annak elkerülésére, elfogadja azt. Ebben az esetben tartalék képzés történhet az esetleges bekövetkezés áthidalására</a:t>
            </a:r>
          </a:p>
          <a:p>
            <a:r>
              <a:rPr lang="hu-HU" b="1" dirty="0"/>
              <a:t>Elkerülés</a:t>
            </a:r>
          </a:p>
          <a:p>
            <a:pPr marL="457200" lvl="1" indent="0">
              <a:buNone/>
            </a:pPr>
            <a:r>
              <a:rPr lang="hu-HU" dirty="0"/>
              <a:t>A csapat egyértelmű lépéseket tesz, hogy az adott, általában magas prioritású kockázat bekövetkezését teljesen ellehetetlenítse</a:t>
            </a:r>
          </a:p>
          <a:p>
            <a:r>
              <a:rPr lang="hu-HU" b="1" dirty="0"/>
              <a:t>Csökkentés</a:t>
            </a:r>
          </a:p>
          <a:p>
            <a:pPr marL="457200" lvl="1" indent="0">
              <a:buNone/>
            </a:pPr>
            <a:r>
              <a:rPr lang="hu-HU" dirty="0"/>
              <a:t>A csapat lépéseket tesz, hogy az adott befolyásoló esemény bekövetkezésének valószínűségét vagy annak hatását csökkentse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0D072D46-E491-4D98-BF10-54E0C8FB2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DC492456-6650-4E9D-9519-E4B022CCFC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 lépései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105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9EC7795D-DABB-4638-B213-4D3149C1B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Fenyegetések kezelése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6DA3057E-8A3B-41B9-9048-AF2B6420B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Átruházás</a:t>
            </a:r>
          </a:p>
          <a:p>
            <a:pPr marL="457200" lvl="1" indent="0">
              <a:buNone/>
            </a:pPr>
            <a:r>
              <a:rPr lang="hu-HU" dirty="0"/>
              <a:t>Abban az </a:t>
            </a:r>
            <a:r>
              <a:rPr lang="hu-HU" dirty="0" smtClean="0"/>
              <a:t>esetben, </a:t>
            </a:r>
            <a:r>
              <a:rPr lang="hu-HU" dirty="0"/>
              <a:t>ha a kockázat túl </a:t>
            </a:r>
            <a:r>
              <a:rPr lang="hu-HU" dirty="0" smtClean="0"/>
              <a:t>nagyméretű </a:t>
            </a:r>
            <a:r>
              <a:rPr lang="hu-HU" dirty="0"/>
              <a:t>vagy bekövetkezésének valószínűsége </a:t>
            </a:r>
            <a:r>
              <a:rPr lang="hu-HU" dirty="0" smtClean="0"/>
              <a:t>alacsony, </a:t>
            </a:r>
            <a:r>
              <a:rPr lang="hu-HU" dirty="0"/>
              <a:t>azonban hatása óriási lehet, a projekt csapat dönthet úgy, hogy átruházza a kockázatot egy harmadik félre. Ez lehet biztosító, bank, vagy egy másik </a:t>
            </a:r>
            <a:r>
              <a:rPr lang="hu-HU" dirty="0" smtClean="0"/>
              <a:t>szervezet, </a:t>
            </a:r>
            <a:r>
              <a:rPr lang="hu-HU" dirty="0"/>
              <a:t>aki átvállalja a projekt adott területének kivitelezését. Ez a kategória leginkább természeti katasztrófákra és nehezen kiszámítható eseményekre vonatkozik</a:t>
            </a:r>
          </a:p>
          <a:p>
            <a:r>
              <a:rPr lang="hu-HU" b="1" dirty="0"/>
              <a:t>Eszkalálás</a:t>
            </a:r>
          </a:p>
          <a:p>
            <a:pPr marL="457200" lvl="1" indent="0">
              <a:buNone/>
            </a:pPr>
            <a:r>
              <a:rPr lang="hu-HU" dirty="0"/>
              <a:t>Abban az </a:t>
            </a:r>
            <a:r>
              <a:rPr lang="hu-HU" dirty="0" smtClean="0"/>
              <a:t>esetben, </a:t>
            </a:r>
            <a:r>
              <a:rPr lang="hu-HU" dirty="0"/>
              <a:t>ha az adott kockázat kezelése túl mutat a csapat hatókörén, fontos annak az eszkalálása a megfelelő </a:t>
            </a:r>
            <a:r>
              <a:rPr lang="hu-HU" dirty="0" smtClean="0"/>
              <a:t>szintre, </a:t>
            </a:r>
            <a:r>
              <a:rPr lang="hu-HU" dirty="0"/>
              <a:t>ahol a fenyegető esemény megfelelően kezelésre kerül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0D072D46-E491-4D98-BF10-54E0C8FB2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DC492456-6650-4E9D-9519-E4B022CCFC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 lépései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098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9EC7795D-DABB-4638-B213-4D3149C1B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Lehetőségek kezelése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6DA3057E-8A3B-41B9-9048-AF2B6420B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Elfogadás</a:t>
            </a:r>
          </a:p>
          <a:p>
            <a:pPr marL="457200" lvl="1" indent="0">
              <a:buNone/>
            </a:pPr>
            <a:r>
              <a:rPr lang="hu-HU" dirty="0"/>
              <a:t>A pozitív lehetőség hatása olyan csekély, hogy nem érdemes erőforrást fektetni annak bekövetkezésének elősegítésébe. Ebben az esetben a projekt csapat tartalékot </a:t>
            </a:r>
            <a:r>
              <a:rPr lang="hu-HU" dirty="0" smtClean="0"/>
              <a:t>képezhet, </a:t>
            </a:r>
            <a:r>
              <a:rPr lang="hu-HU" dirty="0"/>
              <a:t>ha még is lehetőség lenne a kihasználásra később</a:t>
            </a:r>
          </a:p>
          <a:p>
            <a:r>
              <a:rPr lang="hu-HU" b="1" dirty="0"/>
              <a:t>Kihasználás</a:t>
            </a:r>
          </a:p>
          <a:p>
            <a:pPr marL="457200" lvl="1" indent="0">
              <a:buNone/>
            </a:pPr>
            <a:r>
              <a:rPr lang="hu-HU" dirty="0"/>
              <a:t>A projekt csapat egyértelmű lépéseket tesz a magas prioritású lehetőség bekövetkezésének biztosítására. Ezek általában olyan méretű pozitív </a:t>
            </a:r>
            <a:r>
              <a:rPr lang="hu-HU" dirty="0" smtClean="0"/>
              <a:t>kockázatok, </a:t>
            </a:r>
            <a:r>
              <a:rPr lang="hu-HU" dirty="0"/>
              <a:t>amelyek nagyban elősegíthetik a projekt előre haladtát</a:t>
            </a:r>
          </a:p>
          <a:p>
            <a:r>
              <a:rPr lang="hu-HU" b="1" dirty="0"/>
              <a:t>Fokozás</a:t>
            </a:r>
          </a:p>
          <a:p>
            <a:pPr marL="457200" lvl="1" indent="0">
              <a:buNone/>
            </a:pPr>
            <a:r>
              <a:rPr lang="hu-HU" dirty="0"/>
              <a:t>A csapat lépéseket tesz és törekszik a lehetőség kihasználáshoz szükséges környezet megteremtésére, azonban nem feltétlenül ez a fő prioritás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0D072D46-E491-4D98-BF10-54E0C8FB2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DC492456-6650-4E9D-9519-E4B022CCFC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 lépései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14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9EC7795D-DABB-4638-B213-4D3149C1B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Lehetőségek kezelése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6DA3057E-8A3B-41B9-9048-AF2B6420B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4"/>
            <a:ext cx="11510283" cy="5400675"/>
          </a:xfrm>
        </p:spPr>
        <p:txBody>
          <a:bodyPr/>
          <a:lstStyle/>
          <a:p>
            <a:r>
              <a:rPr lang="hu-HU" b="1" dirty="0"/>
              <a:t>Megosztás</a:t>
            </a:r>
          </a:p>
          <a:p>
            <a:pPr marL="457200" lvl="1" indent="0">
              <a:buNone/>
            </a:pPr>
            <a:r>
              <a:rPr lang="hu-HU" dirty="0"/>
              <a:t>Abban az </a:t>
            </a:r>
            <a:r>
              <a:rPr lang="hu-HU" dirty="0" smtClean="0"/>
              <a:t>esetben, </a:t>
            </a:r>
            <a:r>
              <a:rPr lang="hu-HU" dirty="0"/>
              <a:t>ha a kockázat túl </a:t>
            </a:r>
            <a:r>
              <a:rPr lang="hu-HU" dirty="0" smtClean="0"/>
              <a:t>nagyméretű </a:t>
            </a:r>
            <a:r>
              <a:rPr lang="hu-HU" dirty="0"/>
              <a:t>vagy bekövetkezésének valószínűsége alacsony azonban hatása óriási lehet, a projekt csapat dönthet úgy, hogy átruházza a kockázatot egy harmadik félre. A kockázat megosztásra kerülhet abban az esetben is, hogy ha a projekt csapat nem rendelkezik a szükséges kompetenciákkal annak kihasználására. Ekkor a projekt csapat megosztja a felelősséget és a hasznot egy harmadik féllel. Ezzel azonban új kockázatok kerülhetnek a </a:t>
            </a:r>
            <a:r>
              <a:rPr lang="hu-HU" dirty="0" smtClean="0"/>
              <a:t>felszínre, </a:t>
            </a:r>
            <a:r>
              <a:rPr lang="hu-HU" dirty="0"/>
              <a:t>hiszen ekkor a csapat egy külső </a:t>
            </a:r>
            <a:r>
              <a:rPr lang="hu-HU" dirty="0" smtClean="0"/>
              <a:t>szervezet </a:t>
            </a:r>
            <a:r>
              <a:rPr lang="hu-HU" dirty="0"/>
              <a:t>tevékenységétől és annak minőségétől is függővé válhat. Így ennek a döntésnek megfontoltnak és megalapozottnak kell lennie</a:t>
            </a:r>
          </a:p>
          <a:p>
            <a:r>
              <a:rPr lang="hu-HU" b="1" dirty="0"/>
              <a:t>Eszkalálás</a:t>
            </a:r>
          </a:p>
          <a:p>
            <a:pPr marL="457200" lvl="1" indent="0">
              <a:buNone/>
            </a:pPr>
            <a:r>
              <a:rPr lang="hu-HU" dirty="0"/>
              <a:t>Abban az </a:t>
            </a:r>
            <a:r>
              <a:rPr lang="hu-HU" dirty="0" smtClean="0"/>
              <a:t>esetben, </a:t>
            </a:r>
            <a:r>
              <a:rPr lang="hu-HU" dirty="0"/>
              <a:t>ha az adott kockázat kezelése túl mutat a csapat hatókörén, fontos annak az eszkalálása a megfelelő </a:t>
            </a:r>
            <a:r>
              <a:rPr lang="hu-HU" dirty="0" smtClean="0"/>
              <a:t>szintre, </a:t>
            </a:r>
            <a:r>
              <a:rPr lang="hu-HU" dirty="0"/>
              <a:t>ahol </a:t>
            </a:r>
            <a:r>
              <a:rPr lang="hu-HU" dirty="0" smtClean="0"/>
              <a:t>az </a:t>
            </a:r>
            <a:r>
              <a:rPr lang="hu-HU" dirty="0"/>
              <a:t>elősegítő esemény megfelelően kezelésre </a:t>
            </a:r>
            <a:r>
              <a:rPr lang="hu-HU" dirty="0" smtClean="0"/>
              <a:t>kerül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0D072D46-E491-4D98-BF10-54E0C8FB2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DC492456-6650-4E9D-9519-E4B022CCFC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 lépései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292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1A2A7EA8-5081-4E55-A397-69DBF15F6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Teljes projektkockázat kezelése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F29AC0BE-9991-4726-A5E3-4BD7FBFA4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teljes projektkockázatot a projekt feltárt kockázatainak összessége adja, amely alapján meghatározható, hogy mekkora a projekt sikeres megvalósulásának a valószínűsége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b="1" dirty="0"/>
              <a:t>A kockázatok </a:t>
            </a:r>
            <a:r>
              <a:rPr lang="hu-HU" b="1" dirty="0" smtClean="0"/>
              <a:t>kezelésének szintjei:</a:t>
            </a:r>
            <a:endParaRPr lang="hu-HU" b="1" dirty="0"/>
          </a:p>
          <a:p>
            <a:r>
              <a:rPr lang="hu-HU" b="1" dirty="0"/>
              <a:t>Projekt szint</a:t>
            </a:r>
          </a:p>
          <a:p>
            <a:pPr marL="457200" lvl="1" indent="0">
              <a:buNone/>
            </a:pPr>
            <a:r>
              <a:rPr lang="hu-HU" dirty="0"/>
              <a:t>Újra becslés, ütemterv újra tervezése, csapat és szakértők véleménye</a:t>
            </a:r>
          </a:p>
          <a:p>
            <a:r>
              <a:rPr lang="hu-HU" b="1" dirty="0"/>
              <a:t>Üzleti szint</a:t>
            </a:r>
          </a:p>
          <a:p>
            <a:pPr marL="457200" lvl="1" indent="0">
              <a:buNone/>
            </a:pPr>
            <a:r>
              <a:rPr lang="hu-HU" dirty="0"/>
              <a:t>Átértékelés, </a:t>
            </a:r>
            <a:r>
              <a:rPr lang="hu-HU" dirty="0" smtClean="0"/>
              <a:t>a túl </a:t>
            </a:r>
            <a:r>
              <a:rPr lang="hu-HU" dirty="0"/>
              <a:t>kockázatos funkció </a:t>
            </a:r>
            <a:r>
              <a:rPr lang="hu-HU" dirty="0" smtClean="0"/>
              <a:t>csökkentése</a:t>
            </a:r>
            <a:endParaRPr lang="hu-HU" dirty="0"/>
          </a:p>
          <a:p>
            <a:r>
              <a:rPr lang="hu-HU" b="1" dirty="0"/>
              <a:t>Vállalati szint</a:t>
            </a:r>
          </a:p>
          <a:p>
            <a:pPr marL="457200" lvl="1" indent="0">
              <a:buNone/>
            </a:pPr>
            <a:r>
              <a:rPr lang="hu-HU" dirty="0"/>
              <a:t>Kihelyezés, teljes átruházás, szakaszos kivitelezés, projekt eltolása, teljes elvetése</a:t>
            </a:r>
          </a:p>
          <a:p>
            <a:pPr lvl="1"/>
            <a:endParaRPr lang="hu-HU" dirty="0"/>
          </a:p>
          <a:p>
            <a:r>
              <a:rPr lang="hu-HU" dirty="0"/>
              <a:t>A </a:t>
            </a:r>
            <a:r>
              <a:rPr lang="hu-HU" dirty="0" smtClean="0"/>
              <a:t>vállalat </a:t>
            </a:r>
            <a:r>
              <a:rPr lang="hu-HU" dirty="0"/>
              <a:t>feladata, hogy ez alapján értékelje a projektek megvalósíthatóságát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FCFEB05D-CBFC-4DC5-8079-CA9A86ADE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24D568D8-9C54-49EA-8712-63B4E1C153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424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0E93A17F-191C-41F0-AD10-9D6DB52AC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Kockázatfelelősök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91B4F252-FCF1-4987-94B2-2084138A4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937981"/>
            <a:ext cx="11510283" cy="4783491"/>
          </a:xfrm>
        </p:spPr>
        <p:txBody>
          <a:bodyPr/>
          <a:lstStyle/>
          <a:p>
            <a:r>
              <a:rPr lang="hu-HU" dirty="0"/>
              <a:t>A </a:t>
            </a:r>
            <a:r>
              <a:rPr lang="hu-HU" b="1" dirty="0"/>
              <a:t>kockázat felelősök </a:t>
            </a:r>
            <a:r>
              <a:rPr lang="hu-HU" dirty="0"/>
              <a:t>feladata, hogy a rájuk bízott kockázatokat folyamatosan nyomon </a:t>
            </a:r>
            <a:r>
              <a:rPr lang="hu-HU" dirty="0" smtClean="0"/>
              <a:t>kövessék, </a:t>
            </a:r>
            <a:r>
              <a:rPr lang="hu-HU" dirty="0"/>
              <a:t>és azok helyzetéről beszámoljanak a projekt csapatnak</a:t>
            </a:r>
          </a:p>
          <a:p>
            <a:pPr marL="457200" lvl="1" indent="0">
              <a:buNone/>
            </a:pPr>
            <a:r>
              <a:rPr lang="hu-HU" dirty="0"/>
              <a:t>Nagyon fontos, hogy a projekt kockázatokat figyelemmel kísérjék, azok helyzetét </a:t>
            </a:r>
            <a:r>
              <a:rPr lang="hu-HU" dirty="0" smtClean="0"/>
              <a:t>dokumentálják, </a:t>
            </a:r>
            <a:r>
              <a:rPr lang="hu-HU" dirty="0"/>
              <a:t>és levonják a szükséges </a:t>
            </a:r>
            <a:r>
              <a:rPr lang="hu-HU" dirty="0" smtClean="0"/>
              <a:t>következtetéseket</a:t>
            </a:r>
            <a:br>
              <a:rPr lang="hu-HU" dirty="0" smtClean="0"/>
            </a:br>
            <a:r>
              <a:rPr lang="hu-HU" dirty="0" smtClean="0"/>
              <a:t/>
            </a:r>
            <a:br>
              <a:rPr lang="hu-HU" dirty="0" smtClean="0"/>
            </a:br>
            <a:endParaRPr lang="hu-HU" dirty="0"/>
          </a:p>
          <a:p>
            <a:r>
              <a:rPr lang="hu-HU" dirty="0"/>
              <a:t>A </a:t>
            </a:r>
            <a:r>
              <a:rPr lang="hu-HU" b="1" dirty="0"/>
              <a:t>moderálási technika </a:t>
            </a:r>
            <a:r>
              <a:rPr lang="hu-HU" dirty="0"/>
              <a:t>célja, hogy a projekt tervezési és megvalósítási fázisában is fenntartsa a kockázatmenedzsment prioritását és az ahhoz szükséges transzparens és őszinte kommunikációt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6867FB68-95A2-4F85-8EC7-205673F97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32347DCF-368A-452A-AE19-E655602163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429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1D646ABE-969D-4911-BA02-3828B5A85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Tartalékok képzése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9D2D01B4-E03D-4D69-B69B-0566B6FA6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Fontos kérdés tehát, hogy mennyi pénzt érdemes tartalékként </a:t>
            </a:r>
            <a:r>
              <a:rPr lang="hu-HU" dirty="0" smtClean="0"/>
              <a:t>félretenni </a:t>
            </a:r>
            <a:r>
              <a:rPr lang="hu-HU" dirty="0"/>
              <a:t>egy-egy projekt esetében</a:t>
            </a:r>
          </a:p>
          <a:p>
            <a:r>
              <a:rPr lang="hu-HU" dirty="0"/>
              <a:t>Ha minden kockázat áthidalására tartalékot képezne a </a:t>
            </a:r>
            <a:r>
              <a:rPr lang="hu-HU" dirty="0" smtClean="0"/>
              <a:t>csapat, </a:t>
            </a:r>
            <a:r>
              <a:rPr lang="hu-HU" dirty="0"/>
              <a:t>akkor biztosan egy elfogadhatatlan összeg lenne a végeredmény</a:t>
            </a:r>
          </a:p>
          <a:p>
            <a:r>
              <a:rPr lang="hu-HU" dirty="0"/>
              <a:t>A tartalékok meghatározásának egy módja, hogy a csapat összeszorozza a kockázatok kezeléséhez szükséges </a:t>
            </a:r>
            <a:r>
              <a:rPr lang="hu-HU" dirty="0" smtClean="0"/>
              <a:t>erőforrások értékét, </a:t>
            </a:r>
            <a:r>
              <a:rPr lang="hu-HU" dirty="0"/>
              <a:t>azok bekövetkezésének </a:t>
            </a:r>
            <a:r>
              <a:rPr lang="hu-HU" dirty="0" smtClean="0"/>
              <a:t>valószínűségével</a:t>
            </a:r>
          </a:p>
          <a:p>
            <a:r>
              <a:rPr lang="hu-HU" dirty="0" smtClean="0"/>
              <a:t>Ezzel </a:t>
            </a:r>
            <a:r>
              <a:rPr lang="hu-HU" dirty="0"/>
              <a:t>az összeggel a projekt csapat tehát a legvalószínűbb esetben minden felmerülő akadályt gond nélkül át tudna hidalni</a:t>
            </a:r>
          </a:p>
          <a:p>
            <a:r>
              <a:rPr lang="hu-HU" dirty="0"/>
              <a:t>Azonban ez a meghatározott összeg is sokszor túl </a:t>
            </a:r>
            <a:r>
              <a:rPr lang="hu-HU" dirty="0" smtClean="0"/>
              <a:t>magas, </a:t>
            </a:r>
            <a:r>
              <a:rPr lang="hu-HU" dirty="0"/>
              <a:t>és nem ad reális megoldást</a:t>
            </a:r>
          </a:p>
          <a:p>
            <a:r>
              <a:rPr lang="hu-HU" dirty="0"/>
              <a:t>Fontos látni, hogy minden a projektre félre tett összeg a vállalat más területeitől, más projektektől vonhatja el az erőforrásokat</a:t>
            </a:r>
          </a:p>
          <a:p>
            <a:r>
              <a:rPr lang="hu-HU" dirty="0"/>
              <a:t>A kulcs tehát, hogy a tárgyalásokon egyértelmű legyen, hogy mindenki a projekt sikere mellett </a:t>
            </a:r>
            <a:r>
              <a:rPr lang="hu-HU" dirty="0" smtClean="0"/>
              <a:t>elkötelezett, </a:t>
            </a:r>
            <a:r>
              <a:rPr lang="hu-HU" dirty="0"/>
              <a:t>és egy reális, mindenki számára megfelelő összeg körvonalazódjon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AE449B67-64D7-4BE0-A94E-85CD565EE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9641CB74-FBAC-49C8-A92A-B58DEDF667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8840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734600CE-7D86-461A-BD98-1934761A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Becslések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82CC4E23-2D2B-4CEA-9C60-D5C45B7DF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861347" cy="5264148"/>
          </a:xfrm>
        </p:spPr>
        <p:txBody>
          <a:bodyPr/>
          <a:lstStyle/>
          <a:p>
            <a:r>
              <a:rPr lang="hu-HU" dirty="0"/>
              <a:t>A jövő folyamatosan változik és sokszor nehezen kifürkészhető. Ennek az oka a bizonytalanság. A számítások során sosem lehet figyelembe venni minden egyes befolyásoló tényezőt annak érdekében, hogy egy teljesen pontos adat szülessen</a:t>
            </a:r>
          </a:p>
          <a:p>
            <a:r>
              <a:rPr lang="hu-HU" dirty="0"/>
              <a:t>A jövő meghatározására, és a projekt igényeinek </a:t>
            </a:r>
            <a:r>
              <a:rPr lang="hu-HU" dirty="0" smtClean="0"/>
              <a:t>körülhatárolására </a:t>
            </a:r>
            <a:r>
              <a:rPr lang="hu-HU" dirty="0"/>
              <a:t>szolgálnak a </a:t>
            </a:r>
            <a:r>
              <a:rPr lang="hu-HU" dirty="0" smtClean="0"/>
              <a:t>becslések</a:t>
            </a:r>
            <a:br>
              <a:rPr lang="hu-HU" dirty="0" smtClean="0"/>
            </a:br>
            <a:endParaRPr lang="hu-HU" dirty="0"/>
          </a:p>
          <a:p>
            <a:r>
              <a:rPr lang="hu-HU" dirty="0"/>
              <a:t>A becslések három szintjét különböztetjük meg</a:t>
            </a:r>
          </a:p>
          <a:p>
            <a:pPr lvl="1"/>
            <a:r>
              <a:rPr lang="hu-HU" b="1" dirty="0"/>
              <a:t>Javaslat értékelése</a:t>
            </a:r>
          </a:p>
          <a:p>
            <a:pPr marL="914400" lvl="2" indent="0">
              <a:buNone/>
            </a:pPr>
            <a:r>
              <a:rPr lang="hu-HU" dirty="0"/>
              <a:t>Megmutatja, hogy érdemes-e egyáltalán számításba venni a projekt megvalósítását</a:t>
            </a:r>
          </a:p>
          <a:p>
            <a:pPr lvl="1"/>
            <a:r>
              <a:rPr lang="hu-HU" b="1" dirty="0"/>
              <a:t>Durva </a:t>
            </a:r>
            <a:r>
              <a:rPr lang="hu-HU" b="1" dirty="0" smtClean="0"/>
              <a:t>nagyságrendek </a:t>
            </a:r>
            <a:r>
              <a:rPr lang="hu-HU" b="1" dirty="0"/>
              <a:t>szerinti</a:t>
            </a:r>
          </a:p>
          <a:p>
            <a:pPr marL="914400" lvl="2" indent="0">
              <a:buNone/>
            </a:pPr>
            <a:r>
              <a:rPr lang="hu-HU" dirty="0"/>
              <a:t>Projekt értékelésére és más projektekkel </a:t>
            </a:r>
            <a:r>
              <a:rPr lang="hu-HU" dirty="0" smtClean="0"/>
              <a:t>való összevethetőségére </a:t>
            </a:r>
            <a:r>
              <a:rPr lang="hu-HU" dirty="0"/>
              <a:t>ad </a:t>
            </a:r>
            <a:r>
              <a:rPr lang="hu-HU" dirty="0" smtClean="0"/>
              <a:t>lehetőséget</a:t>
            </a:r>
            <a:endParaRPr lang="hu-HU" dirty="0"/>
          </a:p>
          <a:p>
            <a:pPr lvl="1"/>
            <a:r>
              <a:rPr lang="hu-HU" b="1" dirty="0"/>
              <a:t>Részletes becslés</a:t>
            </a:r>
          </a:p>
          <a:p>
            <a:pPr marL="914400" lvl="2" indent="0">
              <a:buNone/>
            </a:pPr>
            <a:r>
              <a:rPr lang="hu-HU" dirty="0"/>
              <a:t>Legrészletesebb formája a becslésnek, időigényes, rengeteg releváns információt és szakértelmet igényel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8BCD1D81-1AFB-4FB8-AC36-10BF3C7E0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9CF4BFEF-F20B-440D-A3A2-CDDC6F8FFD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37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734600CE-7D86-461A-BD98-1934761A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Becslési formák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82CC4E23-2D2B-4CEA-9C60-D5C45B7DF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Analóg becslés</a:t>
            </a:r>
          </a:p>
          <a:p>
            <a:pPr marL="457200" lvl="1" indent="0">
              <a:buNone/>
            </a:pPr>
            <a:r>
              <a:rPr lang="hu-HU" b="1" dirty="0"/>
              <a:t>Múltbeli adatokat és információkat</a:t>
            </a:r>
            <a:r>
              <a:rPr lang="hu-HU" dirty="0"/>
              <a:t> használ fel egyes folyamatok idő és költségigényének meghatározására. </a:t>
            </a:r>
            <a:r>
              <a:rPr lang="hu-HU" u="sng" dirty="0"/>
              <a:t>Legegyszerűbb fajtája </a:t>
            </a:r>
            <a:r>
              <a:rPr lang="hu-HU" dirty="0"/>
              <a:t>a becslésnek. Megfelelő tapasztalattal, hasonló területeken végzett projektek esetében viszonylag pontos becslés készülhet. Sokszor további pontosítást igényel, egyedi adatok alapján</a:t>
            </a:r>
          </a:p>
          <a:p>
            <a:r>
              <a:rPr lang="hu-HU" b="1" dirty="0"/>
              <a:t>Parametrikus becslés</a:t>
            </a:r>
          </a:p>
          <a:p>
            <a:pPr marL="457200" lvl="1" indent="0">
              <a:buNone/>
            </a:pPr>
            <a:r>
              <a:rPr lang="hu-HU" b="1" dirty="0"/>
              <a:t>Múltbeli adatok és projektparaméterek </a:t>
            </a:r>
            <a:r>
              <a:rPr lang="hu-HU" dirty="0"/>
              <a:t>felhasználásával algoritmusok és képletek segítségével kerülnek meghatározásra a projekt igények. A megfelelő adatok segítségével nagyobb pontosság érhető el. </a:t>
            </a:r>
            <a:r>
              <a:rPr lang="hu-HU" u="sng" dirty="0"/>
              <a:t>Magas szakértelmet </a:t>
            </a:r>
            <a:r>
              <a:rPr lang="hu-HU" dirty="0"/>
              <a:t>igényel a megfelelő algoritmusok megválasztásának érdekében</a:t>
            </a:r>
          </a:p>
          <a:p>
            <a:r>
              <a:rPr lang="hu-HU" b="1" dirty="0"/>
              <a:t>Alulról felfele történő becslés</a:t>
            </a:r>
          </a:p>
          <a:p>
            <a:pPr marL="457200" lvl="1" indent="0">
              <a:buNone/>
            </a:pPr>
            <a:r>
              <a:rPr lang="hu-HU" b="1" dirty="0"/>
              <a:t>A WBS részekre bontott tevékenységeiből </a:t>
            </a:r>
            <a:r>
              <a:rPr lang="hu-HU" dirty="0"/>
              <a:t>indul felfelé. Amennyiben az egyes folyamatok nem becsülhetők kellő pontossággal érdemes azokat még tovább bontani. Ez a becslés </a:t>
            </a:r>
            <a:r>
              <a:rPr lang="hu-HU" u="sng" dirty="0"/>
              <a:t>legidőigényesebb</a:t>
            </a:r>
            <a:r>
              <a:rPr lang="hu-HU" dirty="0"/>
              <a:t> azonban lehető </a:t>
            </a:r>
            <a:r>
              <a:rPr lang="hu-HU" u="sng" dirty="0"/>
              <a:t>legpontosabb</a:t>
            </a:r>
            <a:r>
              <a:rPr lang="hu-HU" dirty="0"/>
              <a:t> formája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8BCD1D81-1AFB-4FB8-AC36-10BF3C7E0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9CF4BFEF-F20B-440D-A3A2-CDDC6F8FFD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9631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734600CE-7D86-461A-BD98-1934761A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Becslési formák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xmlns="" id="{82CC4E23-2D2B-4CEA-9C60-D5C45B7DF8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hu-HU" b="1" dirty="0"/>
                  <a:t>Hárompontos becslés</a:t>
                </a:r>
              </a:p>
              <a:p>
                <a:pPr lvl="1"/>
                <a:r>
                  <a:rPr lang="hu-HU" dirty="0"/>
                  <a:t>A kockázatok és az egyes kimenetelek figyelembevételével három kimenetel kerül meghatározásra. Készül egy </a:t>
                </a:r>
                <a:r>
                  <a:rPr lang="hu-HU" b="1" dirty="0"/>
                  <a:t>optimista, racionalista és egy pesszimista </a:t>
                </a:r>
                <a:r>
                  <a:rPr lang="hu-HU" dirty="0"/>
                  <a:t>becslés. Ezeknek az átlagából születik a hárompontos becslés</a:t>
                </a:r>
              </a:p>
              <a:p>
                <a:pPr lvl="1"/>
                <a:endParaRPr lang="hu-HU" sz="1800" i="1" dirty="0">
                  <a:effectLst/>
                  <a:latin typeface="Cambria Math" panose="02040503050406030204" pitchFamily="18" charset="0"/>
                  <a:ea typeface="Adobe Gothic Std B" panose="020B0800000000000000" pitchFamily="34" charset="-128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800" i="1" smtClean="0">
                          <a:effectLst/>
                          <a:latin typeface="Cambria Math" panose="02040503050406030204" pitchFamily="18" charset="0"/>
                          <a:ea typeface="Adobe Gothic Std B" panose="020B0800000000000000" pitchFamily="34" charset="-128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hu-HU" sz="1800" i="1" smtClean="0">
                          <a:effectLst/>
                          <a:latin typeface="Cambria Math" panose="02040503050406030204" pitchFamily="18" charset="0"/>
                          <a:ea typeface="Adobe Gothic Std B" panose="020B0800000000000000" pitchFamily="34" charset="-128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  <a:cs typeface="Times New Roman" panose="02020603050405020304" pitchFamily="18" charset="0"/>
                            </a:rPr>
                            <m:t>𝑜𝑝𝑡𝑖𝑚𝑖𝑠𝑡𝑎</m:t>
                          </m:r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  <a:cs typeface="Times New Roman" panose="02020603050405020304" pitchFamily="18" charset="0"/>
                            </a:rPr>
                            <m:t>𝑙𝑒𝑔𝑣𝑎𝑙</m:t>
                          </m:r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  <a:cs typeface="Times New Roman" panose="02020603050405020304" pitchFamily="18" charset="0"/>
                            </a:rPr>
                            <m:t>ó</m:t>
                          </m:r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  <a:cs typeface="Times New Roman" panose="02020603050405020304" pitchFamily="18" charset="0"/>
                            </a:rPr>
                            <m:t>𝑠𝑧</m:t>
                          </m:r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  <a:cs typeface="Times New Roman" panose="02020603050405020304" pitchFamily="18" charset="0"/>
                            </a:rPr>
                            <m:t>í</m:t>
                          </m:r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  <a:cs typeface="Times New Roman" panose="02020603050405020304" pitchFamily="18" charset="0"/>
                            </a:rPr>
                            <m:t>ű</m:t>
                          </m:r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  <a:cs typeface="Times New Roman" panose="02020603050405020304" pitchFamily="18" charset="0"/>
                            </a:rPr>
                            <m:t>𝑏𝑏</m:t>
                          </m:r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  <a:cs typeface="Times New Roman" panose="02020603050405020304" pitchFamily="18" charset="0"/>
                            </a:rPr>
                            <m:t>𝑝𝑒𝑠𝑠𝑧𝑖𝑚𝑖𝑠𝑡𝑎</m:t>
                          </m:r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Adobe Gothic Std B" panose="020B0800000000000000" pitchFamily="34" charset="-128"/>
                              <a:cs typeface="Times New Roman" panose="020206030504050203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hu-H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/>
                <a:endParaRPr lang="hu-HU" dirty="0"/>
              </a:p>
              <a:p>
                <a:pPr lvl="1"/>
                <a:r>
                  <a:rPr lang="hu-HU" dirty="0"/>
                  <a:t>A PERT becslés ugyan ezt az elvet követi azonban </a:t>
                </a:r>
                <a:r>
                  <a:rPr lang="hu-HU" b="1" dirty="0"/>
                  <a:t>az optimista és pesszimista számolásnak kisebb hangsúlyt </a:t>
                </a:r>
                <a:r>
                  <a:rPr lang="hu-HU" b="1" dirty="0" smtClean="0"/>
                  <a:t>ad, </a:t>
                </a:r>
                <a:r>
                  <a:rPr lang="hu-HU" dirty="0"/>
                  <a:t>mint a realistának</a:t>
                </a:r>
              </a:p>
              <a:p>
                <a:pPr marL="457200" lvl="1" indent="0">
                  <a:buNone/>
                </a:pPr>
                <a:endParaRPr lang="hu-HU" sz="1800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hu-HU" sz="18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𝑜𝑝𝑡𝑖𝑚𝑖𝑠𝑡𝑎</m:t>
                          </m:r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+(4∗</m:t>
                          </m:r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𝑙𝑒𝑔𝑣𝑎𝑙</m:t>
                          </m:r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ó</m:t>
                          </m:r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𝑠𝑧</m:t>
                          </m:r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í</m:t>
                          </m:r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ű</m:t>
                          </m:r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𝑏𝑏</m:t>
                          </m:r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)+</m:t>
                          </m:r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𝑝𝑒𝑠𝑠𝑧𝑖𝑚𝑖𝑠𝑡𝑎</m:t>
                          </m:r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hu-H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hu-HU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endParaRPr lang="hu-HU" dirty="0"/>
              </a:p>
            </p:txBody>
          </p:sp>
        </mc:Choice>
        <mc:Fallback>
          <p:sp>
            <p:nvSpPr>
              <p:cNvPr id="3" name="Tartalom helye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2CC4E23-2D2B-4CEA-9C60-D5C45B7DF8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794" t="-1620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8BCD1D81-1AFB-4FB8-AC36-10BF3C7E0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9CF4BFEF-F20B-440D-A3A2-CDDC6F8FFD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984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xmlns="" id="{EDC72CD2-A196-41A4-9996-A6B4F2127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Folyamatosság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xmlns="" id="{2B771B5A-DF49-453D-A17B-F4AD085C3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853366" cy="5264148"/>
          </a:xfrm>
        </p:spPr>
        <p:txBody>
          <a:bodyPr/>
          <a:lstStyle/>
          <a:p>
            <a:r>
              <a:rPr lang="hu-HU" b="1" dirty="0"/>
              <a:t>A kockázatmenedzsment nem érhet véget a tervezési fázisban</a:t>
            </a:r>
          </a:p>
          <a:p>
            <a:r>
              <a:rPr lang="hu-HU" dirty="0"/>
              <a:t>Már feltárt kockázatok prioritása megváltozhat, még fel nem tárt tényezők jelenhetnek meg</a:t>
            </a:r>
          </a:p>
          <a:p>
            <a:r>
              <a:rPr lang="hu-HU" dirty="0"/>
              <a:t>Érdemes a projekt mérföldköveinél újra átfogó kockázatelemzést </a:t>
            </a:r>
            <a:r>
              <a:rPr lang="hu-HU" dirty="0" smtClean="0"/>
              <a:t>végezni</a:t>
            </a:r>
          </a:p>
          <a:p>
            <a:r>
              <a:rPr lang="hu-HU" dirty="0" smtClean="0"/>
              <a:t>A </a:t>
            </a:r>
            <a:r>
              <a:rPr lang="hu-HU" dirty="0"/>
              <a:t>lehető legfrissebb információkkal dolgozzon a csapat</a:t>
            </a:r>
          </a:p>
          <a:p>
            <a:endParaRPr lang="hu-HU" dirty="0"/>
          </a:p>
          <a:p>
            <a:r>
              <a:rPr lang="hu-HU" dirty="0"/>
              <a:t>Folyamatos kommunikáció a csapattal, kockázatfelelősök rendszeres beszámolása</a:t>
            </a:r>
          </a:p>
          <a:p>
            <a:r>
              <a:rPr lang="hu-HU" dirty="0"/>
              <a:t>Folyamatos dokumentálás</a:t>
            </a:r>
          </a:p>
          <a:p>
            <a:pPr marL="457200" lvl="1" indent="0">
              <a:buNone/>
            </a:pPr>
            <a:r>
              <a:rPr lang="hu-HU" dirty="0" smtClean="0"/>
              <a:t>- Változások </a:t>
            </a:r>
            <a:r>
              <a:rPr lang="hu-HU" dirty="0"/>
              <a:t>feljegyzése</a:t>
            </a:r>
          </a:p>
          <a:p>
            <a:pPr marL="457200" lvl="1" indent="0">
              <a:buNone/>
            </a:pPr>
            <a:r>
              <a:rPr lang="hu-HU" dirty="0" smtClean="0"/>
              <a:t>- Nyomon </a:t>
            </a:r>
            <a:r>
              <a:rPr lang="hu-HU" dirty="0"/>
              <a:t>követés</a:t>
            </a:r>
          </a:p>
          <a:p>
            <a:pPr marL="457200" lvl="1" indent="0">
              <a:buNone/>
            </a:pPr>
            <a:r>
              <a:rPr lang="hu-HU" dirty="0" smtClean="0"/>
              <a:t>- Tapasztalatok </a:t>
            </a:r>
            <a:r>
              <a:rPr lang="hu-HU" dirty="0"/>
              <a:t>levonása</a:t>
            </a:r>
          </a:p>
          <a:p>
            <a:pPr marL="457200" lvl="1" indent="0">
              <a:buNone/>
            </a:pPr>
            <a:r>
              <a:rPr lang="hu-HU" b="1" dirty="0" smtClean="0"/>
              <a:t>- Érték </a:t>
            </a:r>
            <a:r>
              <a:rPr lang="hu-HU" b="1" dirty="0"/>
              <a:t>teremtés a jövőre nézve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xmlns="" id="{9576A875-733C-4684-BB52-5704DFB3B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xmlns="" id="{0D7B0EF3-59FD-4BE2-910F-1F6B184CC2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Kockázatmenedzsment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13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363845" y="3055305"/>
            <a:ext cx="5033727" cy="2044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4000" dirty="0" smtClean="0">
                <a:solidFill>
                  <a:srgbClr val="00B0F0"/>
                </a:solidFill>
              </a:rPr>
              <a:t>Köszönöm a figyelmet!</a:t>
            </a:r>
            <a:endParaRPr lang="hu-HU" sz="4000" dirty="0">
              <a:solidFill>
                <a:srgbClr val="00B0F0"/>
              </a:solidFill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hu-HU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003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2070</Words>
  <Application>Microsoft Office PowerPoint</Application>
  <PresentationFormat>Szélesvásznú</PresentationFormat>
  <Paragraphs>289</Paragraphs>
  <Slides>26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26</vt:i4>
      </vt:variant>
    </vt:vector>
  </HeadingPairs>
  <TitlesOfParts>
    <vt:vector size="34" baseType="lpstr">
      <vt:lpstr>Adobe Gothic Std B</vt:lpstr>
      <vt:lpstr>Arial</vt:lpstr>
      <vt:lpstr>Calibri</vt:lpstr>
      <vt:lpstr>Calibri Light</vt:lpstr>
      <vt:lpstr>Cambria Math</vt:lpstr>
      <vt:lpstr>Times New Roman</vt:lpstr>
      <vt:lpstr>Wingdings</vt:lpstr>
      <vt:lpstr>Office-téma</vt:lpstr>
      <vt:lpstr>Kockázatmenedzsment</vt:lpstr>
      <vt:lpstr>Tartalomjegyzék</vt:lpstr>
      <vt:lpstr>Kockázatok fogalma</vt:lpstr>
      <vt:lpstr>A kockázatok szerepe</vt:lpstr>
      <vt:lpstr>A kockázatok szerepe</vt:lpstr>
      <vt:lpstr>Fogalma</vt:lpstr>
      <vt:lpstr>Kockázatok fajtái</vt:lpstr>
      <vt:lpstr>Célja</vt:lpstr>
      <vt:lpstr>Fontossága</vt:lpstr>
      <vt:lpstr>Lépései</vt:lpstr>
      <vt:lpstr>A projekt környezetének feltérképezése</vt:lpstr>
      <vt:lpstr>A kockázatok rangsorolása</vt:lpstr>
      <vt:lpstr>Kvantitatív kockázatelemzés</vt:lpstr>
      <vt:lpstr>A kockázati-terv kialakítása</vt:lpstr>
      <vt:lpstr>Fenyegetések kezelése</vt:lpstr>
      <vt:lpstr>Fenyegetések kezelése</vt:lpstr>
      <vt:lpstr>Lehetőségek kezelése</vt:lpstr>
      <vt:lpstr>Lehetőségek kezelése</vt:lpstr>
      <vt:lpstr>Teljes projektkockázat kezelése</vt:lpstr>
      <vt:lpstr>Kockázatfelelősök</vt:lpstr>
      <vt:lpstr>Tartalékok képzése</vt:lpstr>
      <vt:lpstr>Becslések</vt:lpstr>
      <vt:lpstr>Becslési formák</vt:lpstr>
      <vt:lpstr>Becslési formák</vt:lpstr>
      <vt:lpstr>Folyamatosság</vt:lpstr>
      <vt:lpstr>PowerPoint bemutató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Kockázatmenedzsment</dc:title>
  <dc:creator>MMI</dc:creator>
  <cp:lastModifiedBy>Gombaszögi Ildikó</cp:lastModifiedBy>
  <cp:revision>54</cp:revision>
  <dcterms:created xsi:type="dcterms:W3CDTF">2021-01-18T18:03:07Z</dcterms:created>
  <dcterms:modified xsi:type="dcterms:W3CDTF">2023-08-29T14:46:18Z</dcterms:modified>
</cp:coreProperties>
</file>