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300" r:id="rId11"/>
    <p:sldId id="276" r:id="rId12"/>
    <p:sldId id="277" r:id="rId13"/>
    <p:sldId id="278" r:id="rId14"/>
    <p:sldId id="279" r:id="rId15"/>
    <p:sldId id="280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5" r:id="rId29"/>
    <p:sldId id="296" r:id="rId30"/>
    <p:sldId id="297" r:id="rId31"/>
    <p:sldId id="298" r:id="rId32"/>
    <p:sldId id="299" r:id="rId33"/>
    <p:sldId id="301" r:id="rId3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701F"/>
    <a:srgbClr val="E8A360"/>
    <a:srgbClr val="8F8F8F"/>
    <a:srgbClr val="88944D"/>
    <a:srgbClr val="3433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Közepesen sötét stílus 2 – 6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41" autoAdjust="0"/>
    <p:restoredTop sz="94789" autoAdjust="0"/>
  </p:normalViewPr>
  <p:slideViewPr>
    <p:cSldViewPr snapToGrid="0">
      <p:cViewPr varScale="1">
        <p:scale>
          <a:sx n="57" d="100"/>
          <a:sy n="57" d="100"/>
        </p:scale>
        <p:origin x="54" y="57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19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E53D2-A48E-4C9B-B410-1E4D72DE286B}" type="datetimeFigureOut">
              <a:rPr lang="hu-HU" smtClean="0"/>
              <a:t>2023. 08. 29.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F073B-6FBE-4398-99B6-4AAC91B062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963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9538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14979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19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8929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3704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3274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8424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5797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573025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62476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03660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61187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98325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29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82144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30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441693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31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773651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FF073B-6FBE-4398-99B6-4AAC91B062CD}" type="slidenum">
              <a:rPr lang="hu-HU" smtClean="0"/>
              <a:t>32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87246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750C139D-3168-4490-BB9C-BC38A0EA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="" xmlns:a16="http://schemas.microsoft.com/office/drawing/2014/main" id="{E8B206B0-EEE6-4BFD-858B-14AAFB8C8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15EFD624-2362-4233-AA2E-58D3AB2C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A2B3-E014-4A2E-A550-0FC801CC6702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D81589B6-0D22-495A-8AA4-804DAD7F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71DFD03E-3F7E-4EF4-9258-A04E4B2C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545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">
    <p:bg>
      <p:bgPr>
        <a:solidFill>
          <a:srgbClr val="D37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="" xmlns:a16="http://schemas.microsoft.com/office/drawing/2014/main" id="{DDDEED1F-4A84-460A-8607-0736A80B4660}"/>
              </a:ext>
            </a:extLst>
          </p:cNvPr>
          <p:cNvSpPr/>
          <p:nvPr userDrawn="1"/>
        </p:nvSpPr>
        <p:spPr>
          <a:xfrm>
            <a:off x="5004707" y="113167"/>
            <a:ext cx="7094084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="" xmlns:a16="http://schemas.microsoft.com/office/drawing/2014/main" id="{B5A85F78-1FD5-4B49-B583-F7B2D395B8BA}"/>
              </a:ext>
            </a:extLst>
          </p:cNvPr>
          <p:cNvSpPr/>
          <p:nvPr userDrawn="1"/>
        </p:nvSpPr>
        <p:spPr>
          <a:xfrm>
            <a:off x="93209" y="89807"/>
            <a:ext cx="12005582" cy="1152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="" xmlns:a16="http://schemas.microsoft.com/office/drawing/2014/main" id="{C2069732-ACEA-44F7-B5CA-BAB2F9787C78}"/>
              </a:ext>
            </a:extLst>
          </p:cNvPr>
          <p:cNvSpPr/>
          <p:nvPr userDrawn="1"/>
        </p:nvSpPr>
        <p:spPr>
          <a:xfrm>
            <a:off x="93209" y="1265463"/>
            <a:ext cx="12005582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="" xmlns:a16="http://schemas.microsoft.com/office/drawing/2014/main" id="{FAB37637-9D6E-4D90-B2F1-76E205F9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10284" cy="718233"/>
          </a:xfrm>
        </p:spPr>
        <p:txBody>
          <a:bodyPr>
            <a:normAutofit/>
          </a:bodyPr>
          <a:lstStyle>
            <a:lvl1pPr>
              <a:defRPr sz="4000" b="1">
                <a:latin typeface="+mn-lt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B2CBCB6B-387A-4289-A82B-0BFAB4E69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510283" cy="5264148"/>
          </a:xfrm>
        </p:spPr>
        <p:txBody>
          <a:bodyPr/>
          <a:lstStyle>
            <a:lvl1pPr>
              <a:buClr>
                <a:srgbClr val="D3701F"/>
              </a:buClr>
              <a:buFont typeface="Wingdings" panose="05000000000000000000" pitchFamily="2" charset="2"/>
              <a:buChar char="§"/>
              <a:defRPr sz="2400"/>
            </a:lvl1pPr>
            <a:lvl2pPr>
              <a:buClr>
                <a:srgbClr val="D3701F"/>
              </a:buClr>
              <a:buFont typeface="Wingdings" panose="05000000000000000000" pitchFamily="2" charset="2"/>
              <a:buChar char="§"/>
              <a:defRPr sz="2400"/>
            </a:lvl2pPr>
            <a:lvl3pPr>
              <a:buClr>
                <a:srgbClr val="D3701F"/>
              </a:buClr>
              <a:buFont typeface="Wingdings" panose="05000000000000000000" pitchFamily="2" charset="2"/>
              <a:buChar char="§"/>
              <a:defRPr sz="2400"/>
            </a:lvl3pPr>
            <a:lvl4pPr>
              <a:buClr>
                <a:srgbClr val="D3701F"/>
              </a:buClr>
              <a:buFont typeface="Wingdings" panose="05000000000000000000" pitchFamily="2" charset="2"/>
              <a:buChar char="§"/>
              <a:defRPr sz="2400"/>
            </a:lvl4pPr>
            <a:lvl5pPr>
              <a:buClr>
                <a:srgbClr val="D3701F"/>
              </a:buClr>
              <a:buFont typeface="Wingdings" panose="05000000000000000000" pitchFamily="2" charset="2"/>
              <a:buChar char="§"/>
              <a:defRPr sz="2400"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7" name="Dia számának helye 5">
            <a:extLst>
              <a:ext uri="{FF2B5EF4-FFF2-40B4-BE49-F238E27FC236}">
                <a16:creationId xmlns="" xmlns:a16="http://schemas.microsoft.com/office/drawing/2014/main" id="{ABA2E200-FE90-4F81-A7F7-486CE3F2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2729" y="6379708"/>
            <a:ext cx="27432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F906C4D8-32F2-4A19-B0E3-4323A7BEC644}" type="slidenum">
              <a:rPr lang="hu-HU" smtClean="0"/>
              <a:pPr/>
              <a:t>‹#›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1" name="Szöveg helye 10">
            <a:extLst>
              <a:ext uri="{FF2B5EF4-FFF2-40B4-BE49-F238E27FC236}">
                <a16:creationId xmlns="" xmlns:a16="http://schemas.microsoft.com/office/drawing/2014/main" id="{CCA7E92E-0678-4CB8-B34A-3CEDD493C7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463" y="211135"/>
            <a:ext cx="11510284" cy="440645"/>
          </a:xfrm>
        </p:spPr>
        <p:txBody>
          <a:bodyPr/>
          <a:lstStyle>
            <a:lvl1pPr>
              <a:buNone/>
              <a:defRPr b="0"/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302234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558E1F47-A20E-4BB9-A350-B0990DE5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="" xmlns:a16="http://schemas.microsoft.com/office/drawing/2014/main" id="{A674DF5C-4EEB-42BF-947E-B831FE8D0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80F63501-4CC0-443D-9D68-F329C8C2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EA38-83FC-4782-9732-2A658C756FBF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CBAEB0E0-2A8E-4ED6-A556-F8979733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229D3C6A-29F7-48FE-BCD5-E38A7ED7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4100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810067C-BED7-4D0B-A7AE-64B226FE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6989049E-102A-47F6-9DB1-D28194DAE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="" xmlns:a16="http://schemas.microsoft.com/office/drawing/2014/main" id="{56670EB4-6095-49EF-BC35-7B589A44C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="" xmlns:a16="http://schemas.microsoft.com/office/drawing/2014/main" id="{2B37BD7D-E3E5-45AB-8F04-C3BB6789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02E6-7993-453D-93F9-E6EF1116D18A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="" xmlns:a16="http://schemas.microsoft.com/office/drawing/2014/main" id="{3E3D45C3-0A0B-4B2E-82E4-EA07495C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="" xmlns:a16="http://schemas.microsoft.com/office/drawing/2014/main" id="{B5B50F8E-6620-4235-B0AD-8AA15B30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6056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F266F4E0-940E-4BAE-B93C-63B7BDFB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="" xmlns:a16="http://schemas.microsoft.com/office/drawing/2014/main" id="{0A2959B8-ED8C-4B0B-9977-61BD3846A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="" xmlns:a16="http://schemas.microsoft.com/office/drawing/2014/main" id="{1CCDBE15-67FD-4624-AA3C-3954AD9B7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DF322681-B9EB-4202-B82F-62986E7BE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="" xmlns:a16="http://schemas.microsoft.com/office/drawing/2014/main" id="{4C904C5F-E076-4D0B-8982-C2E9696E2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="" xmlns:a16="http://schemas.microsoft.com/office/drawing/2014/main" id="{DAE73D62-5ABD-42E2-8E4F-A4C9D60C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007-D686-40BA-81B1-73FEF61F594E}" type="datetime1">
              <a:rPr lang="hu-HU" smtClean="0"/>
              <a:t>2023. 08. 29.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="" xmlns:a16="http://schemas.microsoft.com/office/drawing/2014/main" id="{12CEA0E5-76DF-4C30-B4E7-9D73172E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="" xmlns:a16="http://schemas.microsoft.com/office/drawing/2014/main" id="{E4147FC1-08D6-4073-B160-DA6C7F80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89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FDDEF8AF-3DBD-4787-B3C3-E54E37A4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="" xmlns:a16="http://schemas.microsoft.com/office/drawing/2014/main" id="{1004E331-98B3-4071-BBC4-B70A9479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9E8F-2C13-44E0-88ED-8DAC965F9F1B}" type="datetime1">
              <a:rPr lang="hu-HU" smtClean="0"/>
              <a:t>2023. 08. 29.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="" xmlns:a16="http://schemas.microsoft.com/office/drawing/2014/main" id="{9839F9EC-D9E3-4149-9FDB-26C9C93B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="" xmlns:a16="http://schemas.microsoft.com/office/drawing/2014/main" id="{A996AA15-EE1A-41CC-A088-942F69E6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183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="" xmlns:a16="http://schemas.microsoft.com/office/drawing/2014/main" id="{8232CDB6-02A2-4E33-83D0-705F4C001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2AE6F-9176-4A48-8B31-B40F1CD1CA67}" type="datetime1">
              <a:rPr lang="hu-HU" smtClean="0"/>
              <a:t>2023. 08. 29.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="" xmlns:a16="http://schemas.microsoft.com/office/drawing/2014/main" id="{A57E066B-902D-436D-B156-0C745132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3817F04B-AF52-4648-8F6E-228367CF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968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BF10A394-C766-410D-A40E-A419FE663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1B9AE76C-FECB-4776-9AC6-0CC24C19A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="" xmlns:a16="http://schemas.microsoft.com/office/drawing/2014/main" id="{37756CC3-7EE4-4387-9A9B-A6A7EC4EC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="" xmlns:a16="http://schemas.microsoft.com/office/drawing/2014/main" id="{5F71D787-FE7E-488E-820D-677DB815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4019-9299-4649-B777-D3FD3F0DF105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="" xmlns:a16="http://schemas.microsoft.com/office/drawing/2014/main" id="{3F0CBFD6-E08D-4DC4-AD7A-CCFE1899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="" xmlns:a16="http://schemas.microsoft.com/office/drawing/2014/main" id="{76DBC206-9A73-416D-8C18-5E85F368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360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1D336558-64C8-4443-A717-0E2F3CB7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="" xmlns:a16="http://schemas.microsoft.com/office/drawing/2014/main" id="{7D7D72D5-7457-4552-88D3-03E28DEDD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="" xmlns:a16="http://schemas.microsoft.com/office/drawing/2014/main" id="{5D412EE6-6AD6-4C94-9EE3-B679EAFB6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="" xmlns:a16="http://schemas.microsoft.com/office/drawing/2014/main" id="{6B45C1E5-6AD4-490D-9144-44476B02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CDC1-49EF-4ED0-A19F-FD7F561FE84C}" type="datetime1">
              <a:rPr lang="hu-HU" smtClean="0"/>
              <a:t>2023. 08. 29.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="" xmlns:a16="http://schemas.microsoft.com/office/drawing/2014/main" id="{C044CDEB-6218-40E1-B4BA-41676461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="" xmlns:a16="http://schemas.microsoft.com/office/drawing/2014/main" id="{C00ED222-CB4F-44CF-BA9D-2FC17CE6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388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CF5A7E4B-F7E4-4AA4-860F-4C6A03C8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="" xmlns:a16="http://schemas.microsoft.com/office/drawing/2014/main" id="{AA651D79-3498-4F2E-9F68-953F93D4F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D304470A-ABA4-4D52-8CC9-952139B8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3B1C-99A4-498A-A255-49BFF718273E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5B1CFCD3-7120-46EC-9471-224D39A3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93B51A95-5799-4B77-AC52-43F335DD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597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="" xmlns:a16="http://schemas.microsoft.com/office/drawing/2014/main" id="{D373C461-39C7-4606-BCC4-70DADCEF4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="" xmlns:a16="http://schemas.microsoft.com/office/drawing/2014/main" id="{44A7E9BB-AA6D-4D97-B1A7-18F2CD1C6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11DD3EA0-896E-47E3-A1C0-707ECCCE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5E8A-C486-4894-8349-73C1CA8437D8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FC1DE335-3672-4078-9D66-23423314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0FDC640C-F1ED-46D8-AB88-A36984A7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291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="" xmlns:a16="http://schemas.microsoft.com/office/drawing/2014/main" id="{79ED9102-32AA-4BE9-BDE5-05201ADD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="" xmlns:a16="http://schemas.microsoft.com/office/drawing/2014/main" id="{463EEA34-9557-4D56-831A-83912F399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="" xmlns:a16="http://schemas.microsoft.com/office/drawing/2014/main" id="{AC69EE77-6CC9-4CC9-8D75-64722839D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D1FF1-846C-4DD0-B4AC-8156EDF0B994}" type="datetime1">
              <a:rPr lang="hu-HU" smtClean="0"/>
              <a:t>2023. 08. 29.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="" xmlns:a16="http://schemas.microsoft.com/office/drawing/2014/main" id="{699550F0-C374-4C65-91D6-8BCFE575C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="" xmlns:a16="http://schemas.microsoft.com/office/drawing/2014/main" id="{2606282D-346B-422A-A731-68523C74F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251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wnload wallpaper 1680x1050 road junction, interchange road, roads, fork,  sunset, city, los angeles widescreen 16:10 hd background">
            <a:extLst>
              <a:ext uri="{FF2B5EF4-FFF2-40B4-BE49-F238E27FC236}">
                <a16:creationId xmlns="" xmlns:a16="http://schemas.microsoft.com/office/drawing/2014/main" id="{5BC790C6-77E4-4CBD-9909-44323852C0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353" y="0"/>
            <a:ext cx="12408397" cy="775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églalap 9">
            <a:extLst>
              <a:ext uri="{FF2B5EF4-FFF2-40B4-BE49-F238E27FC236}">
                <a16:creationId xmlns="" xmlns:a16="http://schemas.microsoft.com/office/drawing/2014/main" id="{B71DD668-A5C7-4E1D-B55A-AF9BA972D50B}"/>
              </a:ext>
            </a:extLst>
          </p:cNvPr>
          <p:cNvSpPr/>
          <p:nvPr/>
        </p:nvSpPr>
        <p:spPr>
          <a:xfrm>
            <a:off x="-36352" y="84481"/>
            <a:ext cx="11161552" cy="1263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="" xmlns:a16="http://schemas.microsoft.com/office/drawing/2014/main" id="{3C939434-E251-4120-898C-686C77FB2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6313" y="589969"/>
            <a:ext cx="10795686" cy="715684"/>
          </a:xfrm>
          <a:noFill/>
          <a:ln w="28575">
            <a:noFill/>
          </a:ln>
        </p:spPr>
        <p:txBody>
          <a:bodyPr anchor="ctr">
            <a:normAutofit fontScale="90000"/>
          </a:bodyPr>
          <a:lstStyle/>
          <a:p>
            <a:pPr algn="l"/>
            <a:r>
              <a:rPr lang="hu-HU" b="1" dirty="0">
                <a:latin typeface="+mn-lt"/>
              </a:rPr>
              <a:t>Döntési modellek</a:t>
            </a:r>
          </a:p>
        </p:txBody>
      </p:sp>
      <p:sp>
        <p:nvSpPr>
          <p:cNvPr id="3" name="Alcím 2">
            <a:extLst>
              <a:ext uri="{FF2B5EF4-FFF2-40B4-BE49-F238E27FC236}">
                <a16:creationId xmlns="" xmlns:a16="http://schemas.microsoft.com/office/drawing/2014/main" id="{13CA3651-BAD3-4EDE-AFD0-D06900524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973" y="84481"/>
            <a:ext cx="2930666" cy="632211"/>
          </a:xfrm>
          <a:noFill/>
          <a:ln w="28575"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hu-HU" b="1" dirty="0"/>
              <a:t>Menedzsment alapjai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="" xmlns:a16="http://schemas.microsoft.com/office/drawing/2014/main" id="{C6A4C454-9DBE-4802-9EF2-C1214C1FEE2B}"/>
              </a:ext>
            </a:extLst>
          </p:cNvPr>
          <p:cNvSpPr/>
          <p:nvPr/>
        </p:nvSpPr>
        <p:spPr>
          <a:xfrm>
            <a:off x="0" y="84481"/>
            <a:ext cx="1382973" cy="1263413"/>
          </a:xfrm>
          <a:prstGeom prst="rect">
            <a:avLst/>
          </a:prstGeom>
          <a:solidFill>
            <a:srgbClr val="D370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="" xmlns:a16="http://schemas.microsoft.com/office/drawing/2014/main" id="{D4FF0E0E-6C7A-4088-A4A3-FE1C79555183}"/>
              </a:ext>
            </a:extLst>
          </p:cNvPr>
          <p:cNvSpPr txBox="1"/>
          <p:nvPr/>
        </p:nvSpPr>
        <p:spPr>
          <a:xfrm>
            <a:off x="219891" y="348858"/>
            <a:ext cx="12511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b="1" dirty="0" smtClean="0">
                <a:solidFill>
                  <a:schemeClr val="bg1"/>
                </a:solidFill>
              </a:rPr>
              <a:t>8.</a:t>
            </a:r>
            <a:endParaRPr lang="hu-HU" sz="6000" b="1" dirty="0">
              <a:solidFill>
                <a:schemeClr val="bg1"/>
              </a:solidFill>
            </a:endParaRPr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776" y="314915"/>
            <a:ext cx="1305107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0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Tartalomjegyzék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döntés fogalma, fajtái, célja</a:t>
            </a:r>
          </a:p>
          <a:p>
            <a:r>
              <a:rPr lang="hu-HU" dirty="0"/>
              <a:t>A döntési modell elemei</a:t>
            </a:r>
          </a:p>
          <a:p>
            <a:r>
              <a:rPr lang="hu-HU" dirty="0"/>
              <a:t>A megalapozott döntések feltételei</a:t>
            </a:r>
          </a:p>
          <a:p>
            <a:r>
              <a:rPr lang="hu-HU" dirty="0"/>
              <a:t>Döntést elősegítő módszerek</a:t>
            </a:r>
          </a:p>
          <a:p>
            <a:r>
              <a:rPr lang="hu-HU" dirty="0"/>
              <a:t>Döntést befolyásoló tényezők</a:t>
            </a:r>
          </a:p>
          <a:p>
            <a:r>
              <a:rPr lang="hu-HU" dirty="0"/>
              <a:t>Döntési osztályok</a:t>
            </a:r>
          </a:p>
          <a:p>
            <a:r>
              <a:rPr lang="hu-HU" dirty="0"/>
              <a:t>Döntési kritériumok</a:t>
            </a:r>
          </a:p>
          <a:p>
            <a:pPr lvl="1"/>
            <a:r>
              <a:rPr lang="hu-HU" dirty="0"/>
              <a:t>Biztos környezet</a:t>
            </a:r>
          </a:p>
          <a:p>
            <a:pPr lvl="1"/>
            <a:r>
              <a:rPr lang="hu-HU" dirty="0"/>
              <a:t>Bizonytalan környezet</a:t>
            </a:r>
          </a:p>
          <a:p>
            <a:pPr lvl="1"/>
            <a:r>
              <a:rPr lang="hu-HU" dirty="0"/>
              <a:t>Kockázatos környezet</a:t>
            </a:r>
          </a:p>
          <a:p>
            <a:r>
              <a:rPr lang="hu-HU" dirty="0"/>
              <a:t>A döntéshozatal lépcsői</a:t>
            </a:r>
          </a:p>
          <a:p>
            <a:r>
              <a:rPr lang="hu-HU" dirty="0"/>
              <a:t>Követelmények az utasításokkal szemben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350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Fontossága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03607"/>
            <a:ext cx="11919859" cy="56786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A menedzsment alap tevékenységei közé tartozik a tervezés, szükséges erőforrások optimális igényének meghatározása, emberek irányítása és a meghatározott célok eléréséhez vezető út koordinálása</a:t>
            </a:r>
          </a:p>
          <a:p>
            <a:pPr lvl="1"/>
            <a:r>
              <a:rPr lang="hu-HU" dirty="0"/>
              <a:t>A menedzsment kezében van a felelősség, hogy az adott szituációkban mindig a lehető legmegfelelőbb döntéseket hozzák meg</a:t>
            </a:r>
          </a:p>
          <a:p>
            <a:pPr lvl="1"/>
            <a:r>
              <a:rPr lang="hu-HU" dirty="0"/>
              <a:t>A helyes döntések meghozatala nagyban befolyásolhatja a vállalat későbbi működését</a:t>
            </a:r>
          </a:p>
          <a:p>
            <a:pPr marL="0" indent="0">
              <a:buNone/>
            </a:pPr>
            <a:r>
              <a:rPr lang="hu-HU" dirty="0"/>
              <a:t>A megfelelő döntések meghozatalát nagyban elősegítheti a:</a:t>
            </a:r>
          </a:p>
          <a:p>
            <a:pPr lvl="1"/>
            <a:r>
              <a:rPr lang="hu-HU" dirty="0"/>
              <a:t>folyamatos kommunikáció az emberekkel és szakértőkkel,</a:t>
            </a:r>
          </a:p>
          <a:p>
            <a:pPr lvl="1"/>
            <a:r>
              <a:rPr lang="hu-HU" dirty="0"/>
              <a:t>az adott terület szakértelme,</a:t>
            </a:r>
          </a:p>
          <a:p>
            <a:pPr lvl="1"/>
            <a:r>
              <a:rPr lang="hu-HU" dirty="0"/>
              <a:t>a célok pontos ismerete,</a:t>
            </a:r>
          </a:p>
          <a:p>
            <a:pPr lvl="1"/>
            <a:r>
              <a:rPr lang="hu-HU" dirty="0"/>
              <a:t>gyors, rugalmas felfogó és cselekvő képesség,</a:t>
            </a:r>
          </a:p>
          <a:p>
            <a:pPr lvl="1"/>
            <a:r>
              <a:rPr lang="hu-HU" dirty="0"/>
              <a:t>az adott terület környezetének, befolyásoló tényezőinek széleskörű ismerete,</a:t>
            </a:r>
          </a:p>
          <a:p>
            <a:pPr lvl="1"/>
            <a:r>
              <a:rPr lang="hu-HU" dirty="0"/>
              <a:t>az előrehaladás nyomon követése, változás és kockázatmenedzsment, kontrolling.</a:t>
            </a:r>
          </a:p>
          <a:p>
            <a:pPr marL="0" indent="0">
              <a:buNone/>
            </a:pPr>
            <a:r>
              <a:rPr lang="hu-HU" dirty="0"/>
              <a:t>A menedzsment döntéseit számos tanulmány segíti elő a siker érdekében</a:t>
            </a:r>
          </a:p>
          <a:p>
            <a:pPr marL="457200" lvl="1" indent="0">
              <a:buNone/>
            </a:pPr>
            <a:endParaRPr lang="hu-HU" sz="16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849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Döntés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sz="2400" b="1" dirty="0"/>
          </a:p>
          <a:p>
            <a:endParaRPr lang="hu-HU" b="1" dirty="0"/>
          </a:p>
          <a:p>
            <a:endParaRPr lang="hu-HU" sz="2400" b="1" dirty="0"/>
          </a:p>
          <a:p>
            <a:pPr marL="0" indent="0">
              <a:buNone/>
            </a:pPr>
            <a:r>
              <a:rPr lang="hu-HU" sz="2400" b="1" dirty="0"/>
              <a:t>Döntés:</a:t>
            </a:r>
          </a:p>
          <a:p>
            <a:pPr marL="0" indent="0">
              <a:buNone/>
            </a:pPr>
            <a:r>
              <a:rPr lang="hu-HU" sz="2400" i="1" dirty="0"/>
              <a:t>„alternatívák közötti célirányos választás, előre rögzített kritériumok szerint, valamilyen stratégiával” /</a:t>
            </a:r>
            <a:r>
              <a:rPr lang="hu-HU" sz="2400" i="1" dirty="0" err="1"/>
              <a:t>Kornai</a:t>
            </a:r>
            <a:r>
              <a:rPr lang="hu-HU" sz="2400" i="1" dirty="0"/>
              <a:t> János/</a:t>
            </a:r>
            <a:endParaRPr lang="hu-HU" dirty="0"/>
          </a:p>
          <a:p>
            <a:pPr marL="457200" lvl="1" indent="0">
              <a:buNone/>
            </a:pPr>
            <a:endParaRPr lang="hu-HU" sz="16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82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Döntés modell elemei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133" y="1601557"/>
            <a:ext cx="11159220" cy="5119915"/>
          </a:xfrm>
        </p:spPr>
        <p:txBody>
          <a:bodyPr/>
          <a:lstStyle/>
          <a:p>
            <a:r>
              <a:rPr lang="hu-HU" dirty="0"/>
              <a:t>Döntéshozó</a:t>
            </a:r>
          </a:p>
          <a:p>
            <a:r>
              <a:rPr lang="hu-HU" dirty="0"/>
              <a:t>Tényállapot</a:t>
            </a:r>
          </a:p>
          <a:p>
            <a:r>
              <a:rPr lang="hu-HU" dirty="0"/>
              <a:t>Tényállapotok valószínűségi eloszlása</a:t>
            </a:r>
          </a:p>
          <a:p>
            <a:r>
              <a:rPr lang="hu-HU" dirty="0"/>
              <a:t>Cselekvési változatok</a:t>
            </a:r>
          </a:p>
          <a:p>
            <a:r>
              <a:rPr lang="hu-HU" dirty="0"/>
              <a:t>Döntési kritérium</a:t>
            </a:r>
          </a:p>
          <a:p>
            <a:r>
              <a:rPr lang="hu-HU" dirty="0"/>
              <a:t>Eredmény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66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megalapozott döntés feltételei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133" y="1601557"/>
            <a:ext cx="11159220" cy="511991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u-HU" sz="2400" b="1" dirty="0"/>
              <a:t>Hatáskör </a:t>
            </a:r>
            <a:r>
              <a:rPr lang="hu-HU" sz="2400" dirty="0"/>
              <a:t>a döntéshez</a:t>
            </a:r>
          </a:p>
          <a:p>
            <a:pPr eaLnBrk="1" hangingPunct="1">
              <a:lnSpc>
                <a:spcPct val="90000"/>
              </a:lnSpc>
            </a:pPr>
            <a:r>
              <a:rPr lang="hu-HU" sz="2400" dirty="0"/>
              <a:t>Döntéshozó </a:t>
            </a:r>
            <a:r>
              <a:rPr lang="hu-HU" b="1" dirty="0"/>
              <a:t>felelőssége </a:t>
            </a:r>
            <a:r>
              <a:rPr lang="hu-HU" sz="2400" dirty="0"/>
              <a:t>a döntésért</a:t>
            </a:r>
          </a:p>
          <a:p>
            <a:pPr eaLnBrk="1" hangingPunct="1">
              <a:lnSpc>
                <a:spcPct val="90000"/>
              </a:lnSpc>
            </a:pPr>
            <a:r>
              <a:rPr lang="hu-HU" sz="2400" dirty="0"/>
              <a:t>Döntéshozó </a:t>
            </a:r>
            <a:r>
              <a:rPr lang="hu-HU" b="1" dirty="0"/>
              <a:t>felkészültsége</a:t>
            </a:r>
          </a:p>
          <a:p>
            <a:pPr eaLnBrk="1" hangingPunct="1">
              <a:lnSpc>
                <a:spcPct val="90000"/>
              </a:lnSpc>
            </a:pPr>
            <a:r>
              <a:rPr lang="hu-HU" sz="2400" dirty="0"/>
              <a:t>Megalapozott döntéshez szükséges </a:t>
            </a:r>
            <a:r>
              <a:rPr lang="hu-HU" b="1" dirty="0"/>
              <a:t>információ</a:t>
            </a:r>
          </a:p>
          <a:p>
            <a:pPr eaLnBrk="1" hangingPunct="1">
              <a:lnSpc>
                <a:spcPct val="90000"/>
              </a:lnSpc>
            </a:pPr>
            <a:r>
              <a:rPr lang="hu-HU" sz="2400" dirty="0"/>
              <a:t>Döntés-</a:t>
            </a:r>
            <a:r>
              <a:rPr lang="hu-HU" b="1" dirty="0"/>
              <a:t>előkészítés</a:t>
            </a:r>
            <a:r>
              <a:rPr lang="hu-HU" sz="2400" dirty="0"/>
              <a:t> alapossága</a:t>
            </a:r>
          </a:p>
          <a:p>
            <a:pPr eaLnBrk="1" hangingPunct="1">
              <a:lnSpc>
                <a:spcPct val="90000"/>
              </a:lnSpc>
            </a:pPr>
            <a:r>
              <a:rPr lang="hu-HU" sz="2400" dirty="0"/>
              <a:t>Döntéshozó </a:t>
            </a:r>
            <a:r>
              <a:rPr lang="hu-HU" b="1" dirty="0"/>
              <a:t>érdekeltsége</a:t>
            </a:r>
            <a:r>
              <a:rPr lang="hu-HU" sz="2400" dirty="0"/>
              <a:t> a döntés helyességében 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352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döntés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815151"/>
            <a:ext cx="11510283" cy="4906321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hu-HU" dirty="0"/>
              <a:t>Fajtái:</a:t>
            </a:r>
          </a:p>
          <a:p>
            <a:pPr lvl="1"/>
            <a:r>
              <a:rPr lang="hu-HU" dirty="0"/>
              <a:t>Statikus</a:t>
            </a:r>
          </a:p>
          <a:p>
            <a:pPr lvl="1"/>
            <a:r>
              <a:rPr lang="hu-HU" dirty="0"/>
              <a:t>Dinamikus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hu-HU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hu-HU" b="1" dirty="0"/>
              <a:t>Döntéshozatali folyamat:</a:t>
            </a:r>
          </a:p>
          <a:p>
            <a:pPr lvl="1"/>
            <a:r>
              <a:rPr lang="hu-HU" dirty="0"/>
              <a:t>Döntés </a:t>
            </a:r>
            <a:r>
              <a:rPr lang="hu-HU" b="1" dirty="0"/>
              <a:t>előkészítés</a:t>
            </a:r>
            <a:r>
              <a:rPr lang="hu-HU" dirty="0"/>
              <a:t>-alternatívák (szakértői csoport végzi)</a:t>
            </a:r>
          </a:p>
          <a:p>
            <a:pPr lvl="1"/>
            <a:r>
              <a:rPr lang="hu-HU" dirty="0"/>
              <a:t>Döntés és annak megfogalmazása (menedzser feladata)</a:t>
            </a:r>
          </a:p>
          <a:p>
            <a:pPr lvl="1"/>
            <a:endParaRPr lang="hu-HU" dirty="0"/>
          </a:p>
          <a:p>
            <a:pPr marL="0" indent="0">
              <a:buNone/>
            </a:pPr>
            <a:r>
              <a:rPr lang="hu-HU" dirty="0"/>
              <a:t>Döntési helyzetek ábrázolása</a:t>
            </a:r>
          </a:p>
          <a:p>
            <a:pPr lvl="1"/>
            <a:r>
              <a:rPr lang="hu-HU" dirty="0"/>
              <a:t>Döntési mátrix</a:t>
            </a:r>
          </a:p>
          <a:p>
            <a:pPr lvl="1"/>
            <a:r>
              <a:rPr lang="hu-HU" dirty="0"/>
              <a:t>Döntési </a:t>
            </a:r>
            <a:r>
              <a:rPr lang="hu-HU" dirty="0" err="1"/>
              <a:t>fagráf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94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döntési mátrix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6199081" cy="5264148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hu-HU" dirty="0"/>
              <a:t>A lehetséges környezeti állapotok, előre haladást befolyásoló tényezők feltérképezése</a:t>
            </a:r>
          </a:p>
          <a:p>
            <a:pPr lvl="1"/>
            <a:r>
              <a:rPr lang="hu-HU" dirty="0" smtClean="0"/>
              <a:t>környezet ismerete,</a:t>
            </a:r>
          </a:p>
          <a:p>
            <a:pPr lvl="1"/>
            <a:r>
              <a:rPr lang="hu-HU" dirty="0" smtClean="0"/>
              <a:t>Kockázatmenedzsment</a:t>
            </a:r>
          </a:p>
          <a:p>
            <a:pPr marL="457200" lvl="1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Befolyásoló tényezők előfordulásának valószínűségének meghatározása</a:t>
            </a:r>
          </a:p>
          <a:p>
            <a:pPr lvl="1"/>
            <a:r>
              <a:rPr lang="hu-HU" dirty="0"/>
              <a:t>Kockázatosság</a:t>
            </a:r>
          </a:p>
          <a:p>
            <a:pPr marL="457200" lvl="1" indent="0">
              <a:buNone/>
            </a:pPr>
            <a:r>
              <a:rPr lang="hu-HU" dirty="0"/>
              <a:t>A befolyásoló tényezők hatásának nagysága és a bekövetkezés valószínűségének szorzata adja a kockázat mértékét</a:t>
            </a:r>
          </a:p>
          <a:p>
            <a:pPr lvl="1"/>
            <a:r>
              <a:rPr lang="hu-HU" dirty="0"/>
              <a:t>Lehetséges cselekvések realizálása a befolyásoló tényező áthidalására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pic>
        <p:nvPicPr>
          <p:cNvPr id="2050" name="Picture 2" descr="Döntéstámogató módszerek és rendszerek /Elméleti jegyzet/ | Digitális  Tankönyvtár">
            <a:extLst>
              <a:ext uri="{FF2B5EF4-FFF2-40B4-BE49-F238E27FC236}">
                <a16:creationId xmlns="" xmlns:a16="http://schemas.microsoft.com/office/drawing/2014/main" id="{3D965085-15AC-4399-90CE-803E9EE38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784" y="1754431"/>
            <a:ext cx="5125014" cy="3349137"/>
          </a:xfrm>
          <a:prstGeom prst="rect">
            <a:avLst/>
          </a:prstGeom>
          <a:noFill/>
          <a:ln w="19050">
            <a:solidFill>
              <a:srgbClr val="D3701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586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döntési fagráf elemzés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395529" cy="526414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u-HU" dirty="0"/>
              <a:t>A menedzsment a realizált döntési lehetőségeket és az azzal járó kockázatokat döntési </a:t>
            </a:r>
            <a:r>
              <a:rPr lang="hu-HU" dirty="0" err="1"/>
              <a:t>fagráfon</a:t>
            </a:r>
            <a:r>
              <a:rPr lang="hu-HU" dirty="0"/>
              <a:t> </a:t>
            </a:r>
            <a:r>
              <a:rPr lang="hu-HU" dirty="0" smtClean="0"/>
              <a:t>elemezheti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11" name="Tartalom helye 2">
            <a:extLst>
              <a:ext uri="{FF2B5EF4-FFF2-40B4-BE49-F238E27FC236}">
                <a16:creationId xmlns="" xmlns:a16="http://schemas.microsoft.com/office/drawing/2014/main" id="{F0D0226B-C717-41D9-A81B-CE3171D6A6E1}"/>
              </a:ext>
            </a:extLst>
          </p:cNvPr>
          <p:cNvSpPr txBox="1">
            <a:spLocks/>
          </p:cNvSpPr>
          <p:nvPr/>
        </p:nvSpPr>
        <p:spPr>
          <a:xfrm>
            <a:off x="136069" y="2353733"/>
            <a:ext cx="11579677" cy="4450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D3701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3701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3701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3701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3701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hu-HU" dirty="0"/>
              <a:t>Az ábra alapja a döntések sikerességét befolyásoló tényezők bekövetkezésének valószínűségének és hatásának a lehető legpontosabb </a:t>
            </a:r>
            <a:r>
              <a:rPr lang="hu-HU" dirty="0" smtClean="0"/>
              <a:t>becslése</a:t>
            </a:r>
          </a:p>
          <a:p>
            <a:pPr eaLnBrk="1" hangingPunct="1">
              <a:lnSpc>
                <a:spcPct val="90000"/>
              </a:lnSpc>
            </a:pPr>
            <a:r>
              <a:rPr lang="hu-HU" dirty="0" smtClean="0"/>
              <a:t>Az </a:t>
            </a:r>
            <a:r>
              <a:rPr lang="hu-HU" dirty="0"/>
              <a:t>elemzés csak akkor lehet sikeres, ha a csapat a környezet és a tényezők lehető legszélesebb körű ismeretével </a:t>
            </a:r>
            <a:r>
              <a:rPr lang="hu-HU" dirty="0" smtClean="0"/>
              <a:t>rendelkezik</a:t>
            </a:r>
          </a:p>
          <a:p>
            <a:pPr eaLnBrk="1" hangingPunct="1">
              <a:lnSpc>
                <a:spcPct val="90000"/>
              </a:lnSpc>
            </a:pPr>
            <a:r>
              <a:rPr lang="hu-HU" dirty="0" smtClean="0"/>
              <a:t>Figyelembe </a:t>
            </a:r>
            <a:r>
              <a:rPr lang="hu-HU" dirty="0"/>
              <a:t>vesznek minden magas prioritású befolyásoló </a:t>
            </a:r>
            <a:r>
              <a:rPr lang="hu-HU" dirty="0" smtClean="0"/>
              <a:t>tényezőt</a:t>
            </a:r>
          </a:p>
          <a:p>
            <a:pPr eaLnBrk="1" hangingPunct="1">
              <a:lnSpc>
                <a:spcPct val="90000"/>
              </a:lnSpc>
            </a:pPr>
            <a:r>
              <a:rPr lang="hu-HU" dirty="0" smtClean="0"/>
              <a:t>A </a:t>
            </a:r>
            <a:r>
              <a:rPr lang="hu-HU" dirty="0"/>
              <a:t>becslések a lehető legpontosabb, releváns, megbízható, az elemzést alátámasztó adatokból </a:t>
            </a:r>
            <a:r>
              <a:rPr lang="hu-HU" dirty="0" smtClean="0"/>
              <a:t>készül</a:t>
            </a:r>
          </a:p>
          <a:p>
            <a:pPr eaLnBrk="1" hangingPunct="1">
              <a:lnSpc>
                <a:spcPct val="90000"/>
              </a:lnSpc>
            </a:pPr>
            <a:r>
              <a:rPr lang="hu-HU" dirty="0" smtClean="0"/>
              <a:t>Amennyiben </a:t>
            </a:r>
            <a:r>
              <a:rPr lang="hu-HU" dirty="0"/>
              <a:t>szükséges, kikérték szakértők </a:t>
            </a:r>
            <a:r>
              <a:rPr lang="hu-HU" dirty="0" smtClean="0"/>
              <a:t>véleményét</a:t>
            </a:r>
          </a:p>
          <a:p>
            <a:r>
              <a:rPr lang="hu-HU" dirty="0" smtClean="0"/>
              <a:t>A következő ábra </a:t>
            </a:r>
            <a:r>
              <a:rPr lang="hu-HU" dirty="0"/>
              <a:t>egy döntést szemléltet, hogy a vállalat vásároljon, vagy saját maga által fejlessze a szoftvert (Egyszerűsített példa)</a:t>
            </a:r>
          </a:p>
          <a:p>
            <a:pPr eaLnBrk="1" hangingPunct="1">
              <a:lnSpc>
                <a:spcPct val="90000"/>
              </a:lnSpc>
            </a:pPr>
            <a:endParaRPr lang="hu-HU" dirty="0"/>
          </a:p>
        </p:txBody>
      </p:sp>
      <p:pic>
        <p:nvPicPr>
          <p:cNvPr id="9" name="Kép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91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Döntési fa-gráf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hu-HU"/>
          </a:p>
        </p:txBody>
      </p:sp>
      <p:pic>
        <p:nvPicPr>
          <p:cNvPr id="6" name="Picture 8" descr="Quick Look at the PMBOK® Guide: Decision Tree Diagrams">
            <a:extLst>
              <a:ext uri="{FF2B5EF4-FFF2-40B4-BE49-F238E27FC236}">
                <a16:creationId xmlns="" xmlns:a16="http://schemas.microsoft.com/office/drawing/2014/main" id="{74ED6B70-CFB0-40A7-ADD3-0588F89C2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33964"/>
            <a:ext cx="11069383" cy="5287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215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döntési fagráf elemzés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36431"/>
            <a:ext cx="12055930" cy="5385042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buNone/>
            </a:pPr>
            <a:endParaRPr lang="hu-HU" sz="22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sp>
        <p:nvSpPr>
          <p:cNvPr id="11" name="Tartalom helye 2">
            <a:extLst>
              <a:ext uri="{FF2B5EF4-FFF2-40B4-BE49-F238E27FC236}">
                <a16:creationId xmlns="" xmlns:a16="http://schemas.microsoft.com/office/drawing/2014/main" id="{F0D0226B-C717-41D9-A81B-CE3171D6A6E1}"/>
              </a:ext>
            </a:extLst>
          </p:cNvPr>
          <p:cNvSpPr txBox="1">
            <a:spLocks/>
          </p:cNvSpPr>
          <p:nvPr/>
        </p:nvSpPr>
        <p:spPr>
          <a:xfrm>
            <a:off x="136069" y="1778000"/>
            <a:ext cx="11861348" cy="49434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D3701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3701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3701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3701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D3701F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hu-HU" sz="2200" dirty="0"/>
              <a:t>A csapat tehát realizálja a lehetséges döntéseket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2200" dirty="0"/>
              <a:t>Megállapítja azok sikeres kimenetelének esetleges </a:t>
            </a:r>
            <a:r>
              <a:rPr lang="hu-HU" sz="2200" dirty="0" smtClean="0"/>
              <a:t>kockázatait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2200" dirty="0"/>
              <a:t>E</a:t>
            </a:r>
            <a:r>
              <a:rPr lang="hu-HU" sz="2200" dirty="0" smtClean="0"/>
              <a:t>zekhez </a:t>
            </a:r>
            <a:r>
              <a:rPr lang="hu-HU" sz="2200" dirty="0"/>
              <a:t>valószínűségeket és várható hatást rendel</a:t>
            </a:r>
          </a:p>
          <a:p>
            <a:pPr marL="457200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hu-HU" sz="2200" dirty="0" smtClean="0"/>
              <a:t>Az </a:t>
            </a:r>
            <a:r>
              <a:rPr lang="hu-HU" sz="2200" dirty="0"/>
              <a:t>ábrán látszik tehát, hogy a Szoftver vásárlás </a:t>
            </a:r>
            <a:r>
              <a:rPr lang="hu-HU" sz="2200" b="1" dirty="0">
                <a:solidFill>
                  <a:schemeClr val="accent2">
                    <a:lumMod val="50000"/>
                  </a:schemeClr>
                </a:solidFill>
              </a:rPr>
              <a:t>50.000$</a:t>
            </a:r>
            <a:r>
              <a:rPr lang="hu-HU" sz="2200" dirty="0"/>
              <a:t>, míg a fejlesztés 120.000$</a:t>
            </a:r>
          </a:p>
          <a:p>
            <a:pPr marL="457200" indent="-457200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hu-HU" sz="2200" dirty="0"/>
              <a:t>A vásárlás azonban nem biztos, hogy kielégíti majd a vállalati igényeket</a:t>
            </a:r>
          </a:p>
          <a:p>
            <a:pPr marL="457200" lvl="1" indent="0">
              <a:buNone/>
            </a:pPr>
            <a:r>
              <a:rPr lang="hu-HU" sz="2200" b="1" dirty="0" smtClean="0">
                <a:solidFill>
                  <a:schemeClr val="accent1">
                    <a:lumMod val="50000"/>
                  </a:schemeClr>
                </a:solidFill>
              </a:rPr>
              <a:t>- 40</a:t>
            </a:r>
            <a:r>
              <a:rPr lang="hu-HU" sz="2200" b="1" dirty="0">
                <a:solidFill>
                  <a:schemeClr val="accent1">
                    <a:lumMod val="50000"/>
                  </a:schemeClr>
                </a:solidFill>
              </a:rPr>
              <a:t>%</a:t>
            </a:r>
            <a:r>
              <a:rPr lang="hu-HU" sz="2200" dirty="0"/>
              <a:t>, hogy igen – siker</a:t>
            </a:r>
          </a:p>
          <a:p>
            <a:pPr marL="457200" lvl="1" indent="0">
              <a:buNone/>
            </a:pPr>
            <a:r>
              <a:rPr lang="hu-HU" sz="2200" b="1" dirty="0" smtClean="0">
                <a:solidFill>
                  <a:srgbClr val="7030A0"/>
                </a:solidFill>
              </a:rPr>
              <a:t>- 60</a:t>
            </a:r>
            <a:r>
              <a:rPr lang="hu-HU" sz="2200" b="1" dirty="0">
                <a:solidFill>
                  <a:srgbClr val="7030A0"/>
                </a:solidFill>
              </a:rPr>
              <a:t>%</a:t>
            </a:r>
            <a:r>
              <a:rPr lang="hu-HU" sz="2200" dirty="0"/>
              <a:t>, hogy nem – kudarc – várható veszteség </a:t>
            </a:r>
            <a:r>
              <a:rPr lang="hu-HU" sz="2200" b="1" dirty="0">
                <a:solidFill>
                  <a:schemeClr val="accent6">
                    <a:lumMod val="50000"/>
                  </a:schemeClr>
                </a:solidFill>
              </a:rPr>
              <a:t>200.000$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2200" dirty="0"/>
              <a:t>Minden ágra meg lehet határozni tehát a várható költséget figyelembe véve a valószínűséget</a:t>
            </a:r>
          </a:p>
          <a:p>
            <a:pPr marL="457200" lvl="1" indent="0">
              <a:buNone/>
            </a:pPr>
            <a:r>
              <a:rPr lang="hu-HU" sz="2200" dirty="0" smtClean="0"/>
              <a:t>- Sikeres </a:t>
            </a:r>
            <a:r>
              <a:rPr lang="hu-HU" sz="2200" dirty="0"/>
              <a:t>ág: </a:t>
            </a:r>
            <a:r>
              <a:rPr lang="hu-HU" sz="2200" b="1" dirty="0">
                <a:solidFill>
                  <a:schemeClr val="accent2">
                    <a:lumMod val="50000"/>
                  </a:schemeClr>
                </a:solidFill>
              </a:rPr>
              <a:t>50.000$</a:t>
            </a:r>
            <a:r>
              <a:rPr lang="hu-HU" sz="2200" dirty="0"/>
              <a:t> * </a:t>
            </a:r>
            <a:r>
              <a:rPr lang="hu-HU" sz="2200" b="1" dirty="0">
                <a:solidFill>
                  <a:schemeClr val="accent1">
                    <a:lumMod val="50000"/>
                  </a:schemeClr>
                </a:solidFill>
              </a:rPr>
              <a:t>0,4</a:t>
            </a:r>
            <a:r>
              <a:rPr lang="hu-HU" sz="2200" dirty="0"/>
              <a:t> = 20.000$</a:t>
            </a:r>
          </a:p>
          <a:p>
            <a:pPr marL="457200" lvl="1" indent="0">
              <a:buNone/>
            </a:pPr>
            <a:r>
              <a:rPr lang="hu-HU" sz="2200" dirty="0" smtClean="0"/>
              <a:t>- Kudarc </a:t>
            </a:r>
            <a:r>
              <a:rPr lang="hu-HU" sz="2200" dirty="0"/>
              <a:t>ág: ( </a:t>
            </a:r>
            <a:r>
              <a:rPr lang="hu-HU" sz="2200" b="1" dirty="0">
                <a:solidFill>
                  <a:schemeClr val="accent2">
                    <a:lumMod val="50000"/>
                  </a:schemeClr>
                </a:solidFill>
              </a:rPr>
              <a:t>50.000$</a:t>
            </a:r>
            <a:r>
              <a:rPr lang="hu-HU" sz="2200" dirty="0"/>
              <a:t> + </a:t>
            </a:r>
            <a:r>
              <a:rPr lang="hu-HU" sz="2200" b="1" dirty="0">
                <a:solidFill>
                  <a:schemeClr val="accent6">
                    <a:lumMod val="50000"/>
                  </a:schemeClr>
                </a:solidFill>
              </a:rPr>
              <a:t>200.000$ </a:t>
            </a:r>
            <a:r>
              <a:rPr lang="hu-HU" sz="2200" b="1" dirty="0"/>
              <a:t>) * </a:t>
            </a:r>
            <a:r>
              <a:rPr lang="hu-HU" sz="2200" b="1" dirty="0">
                <a:solidFill>
                  <a:srgbClr val="7030A0"/>
                </a:solidFill>
              </a:rPr>
              <a:t>0,6 </a:t>
            </a:r>
            <a:r>
              <a:rPr lang="hu-HU" sz="2200" dirty="0"/>
              <a:t>= 150.000$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2200" dirty="0"/>
              <a:t>20.000$ + 150.000$ = 170.000$, ez tehát a várható költség amennyiben a csapat ezt az utat választja</a:t>
            </a:r>
          </a:p>
          <a:p>
            <a:pPr marL="457200" indent="-457200">
              <a:buFont typeface="+mj-lt"/>
              <a:buAutoNum type="arabicPeriod"/>
            </a:pPr>
            <a:r>
              <a:rPr lang="hu-HU" sz="2200" dirty="0"/>
              <a:t>A csapat feladat, hogy ez alapján a legolcsóbb, vagy legmegbízhatóbb utat válassza</a:t>
            </a:r>
          </a:p>
          <a:p>
            <a:endParaRPr lang="hu-HU" sz="2200" dirty="0"/>
          </a:p>
        </p:txBody>
      </p:sp>
      <p:pic>
        <p:nvPicPr>
          <p:cNvPr id="9" name="Kép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066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döntést befolyásoló tényezők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36431"/>
            <a:ext cx="11861346" cy="538504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hu-HU" dirty="0"/>
              <a:t>A meghozott döntést azonban sokszor nem csak a döntéssel járó költségek határozzák meg, a menedzsmentnek és a csapatnak számos szempont alapján kell mérlegelnie annak érdekében, hogy akár a költségek kárára a lehető legmegbízhatóbb és legmegfelelőbb döntés szülessen</a:t>
            </a:r>
          </a:p>
          <a:p>
            <a:pPr eaLnBrk="1" hangingPunct="1">
              <a:lnSpc>
                <a:spcPct val="90000"/>
              </a:lnSpc>
            </a:pPr>
            <a:r>
              <a:rPr lang="hu-HU" dirty="0"/>
              <a:t>Vállalt kockázatok</a:t>
            </a:r>
          </a:p>
          <a:p>
            <a:pPr eaLnBrk="1" hangingPunct="1">
              <a:lnSpc>
                <a:spcPct val="90000"/>
              </a:lnSpc>
            </a:pPr>
            <a:r>
              <a:rPr lang="hu-HU" dirty="0"/>
              <a:t>A döntés költsége</a:t>
            </a:r>
          </a:p>
          <a:p>
            <a:pPr eaLnBrk="1" hangingPunct="1">
              <a:lnSpc>
                <a:spcPct val="90000"/>
              </a:lnSpc>
            </a:pPr>
            <a:r>
              <a:rPr lang="hu-HU" dirty="0"/>
              <a:t>A döntés sikerének valószínűsége</a:t>
            </a:r>
          </a:p>
          <a:p>
            <a:pPr eaLnBrk="1" hangingPunct="1">
              <a:lnSpc>
                <a:spcPct val="90000"/>
              </a:lnSpc>
            </a:pPr>
            <a:r>
              <a:rPr lang="hu-HU" dirty="0"/>
              <a:t>A döntés minősége</a:t>
            </a:r>
          </a:p>
          <a:p>
            <a:pPr eaLnBrk="1" hangingPunct="1">
              <a:lnSpc>
                <a:spcPct val="90000"/>
              </a:lnSpc>
            </a:pPr>
            <a:r>
              <a:rPr lang="hu-HU" dirty="0"/>
              <a:t>A döntés fontossága</a:t>
            </a:r>
          </a:p>
          <a:p>
            <a:pPr eaLnBrk="1" hangingPunct="1">
              <a:lnSpc>
                <a:spcPct val="90000"/>
              </a:lnSpc>
            </a:pPr>
            <a:r>
              <a:rPr lang="hu-HU" dirty="0"/>
              <a:t>Szakértők, csapat véleménye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55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Döntési osztályok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36431"/>
            <a:ext cx="11861346" cy="5385042"/>
          </a:xfrm>
        </p:spPr>
        <p:txBody>
          <a:bodyPr>
            <a:normAutofit/>
          </a:bodyPr>
          <a:lstStyle/>
          <a:p>
            <a:r>
              <a:rPr lang="hu-HU" b="1" dirty="0"/>
              <a:t>B</a:t>
            </a:r>
            <a:r>
              <a:rPr lang="hu-HU" sz="2400" b="1" dirty="0"/>
              <a:t>iztos</a:t>
            </a:r>
            <a:r>
              <a:rPr lang="hu-HU" sz="2400" dirty="0"/>
              <a:t> körülmények közötti döntés</a:t>
            </a:r>
            <a:br>
              <a:rPr lang="hu-HU" sz="2400" dirty="0"/>
            </a:br>
            <a:endParaRPr lang="hu-HU" sz="2400" dirty="0"/>
          </a:p>
          <a:p>
            <a:r>
              <a:rPr lang="hu-HU" b="1" dirty="0"/>
              <a:t>B</a:t>
            </a:r>
            <a:r>
              <a:rPr lang="hu-HU" sz="2400" b="1" dirty="0"/>
              <a:t>izonytalan</a:t>
            </a:r>
            <a:r>
              <a:rPr lang="hu-HU" sz="2400" dirty="0"/>
              <a:t> körülmények közötti döntés</a:t>
            </a:r>
            <a:br>
              <a:rPr lang="hu-HU" sz="2400" dirty="0"/>
            </a:br>
            <a:endParaRPr lang="hu-HU" sz="2400" dirty="0"/>
          </a:p>
          <a:p>
            <a:r>
              <a:rPr lang="hu-HU" b="1" dirty="0"/>
              <a:t>K</a:t>
            </a:r>
            <a:r>
              <a:rPr lang="hu-HU" sz="2400" b="1" dirty="0"/>
              <a:t>ockázatos</a:t>
            </a:r>
            <a:r>
              <a:rPr lang="hu-HU" sz="2400" dirty="0"/>
              <a:t> körülmények közötti döntés</a:t>
            </a:r>
          </a:p>
          <a:p>
            <a:endParaRPr lang="hu-HU" dirty="0"/>
          </a:p>
          <a:p>
            <a:r>
              <a:rPr lang="hu-HU" sz="2400" dirty="0"/>
              <a:t>A szükséges elemzések elvégzésével a bizonytalan döntéstől a csapat egyr</a:t>
            </a:r>
            <a:r>
              <a:rPr lang="hu-HU" dirty="0"/>
              <a:t>e inkább a biztos körülmények irányába haladhat. Azonban az elemzések elvégzése is idő és erőforrás igényeket támaszt, így fontos megtalálni az arany középutat</a:t>
            </a:r>
            <a:endParaRPr lang="hu-HU" sz="24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146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Biztos körülmények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36431"/>
            <a:ext cx="11861346" cy="5385042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hu-HU" sz="2400" dirty="0"/>
              <a:t>A maximális eredményre törekvést konkrét feltételek mellett </a:t>
            </a:r>
            <a:r>
              <a:rPr lang="hu-HU" sz="2400" b="1" dirty="0"/>
              <a:t>biztos körülmények közötti döntéseknek </a:t>
            </a:r>
            <a:r>
              <a:rPr lang="hu-HU" sz="2400" dirty="0"/>
              <a:t>nevezzük, s racionális gondolkodásunkat ebben az esetben a maximális eredmény kritériuma fejezi ki.</a:t>
            </a:r>
          </a:p>
          <a:p>
            <a:pPr>
              <a:lnSpc>
                <a:spcPct val="80000"/>
              </a:lnSpc>
            </a:pPr>
            <a:endParaRPr lang="hu-HU" sz="2400" dirty="0"/>
          </a:p>
          <a:p>
            <a:pPr>
              <a:lnSpc>
                <a:spcPct val="80000"/>
              </a:lnSpc>
            </a:pPr>
            <a:r>
              <a:rPr lang="hu-HU" sz="2400" dirty="0"/>
              <a:t>Biztos körülmények – ritkán fordulnak elő.</a:t>
            </a:r>
          </a:p>
          <a:p>
            <a:pPr>
              <a:lnSpc>
                <a:spcPct val="80000"/>
              </a:lnSpc>
            </a:pPr>
            <a:endParaRPr lang="hu-HU" sz="2400" dirty="0"/>
          </a:p>
          <a:p>
            <a:pPr>
              <a:lnSpc>
                <a:spcPct val="80000"/>
              </a:lnSpc>
            </a:pPr>
            <a:r>
              <a:rPr lang="hu-HU" sz="2400" dirty="0"/>
              <a:t>A körülmények (azaz az egyes tényállapotok) bekövetkezését csak bizonyos valószínűséggel becsülhető meg.</a:t>
            </a:r>
          </a:p>
          <a:p>
            <a:pPr>
              <a:lnSpc>
                <a:spcPct val="80000"/>
              </a:lnSpc>
            </a:pPr>
            <a:endParaRPr lang="hu-HU" sz="2400" dirty="0"/>
          </a:p>
          <a:p>
            <a:pPr>
              <a:lnSpc>
                <a:spcPct val="80000"/>
              </a:lnSpc>
            </a:pPr>
            <a:r>
              <a:rPr lang="hu-HU" sz="2400" dirty="0"/>
              <a:t>Legegyszerűbb eset a szubjektív megítélés: </a:t>
            </a:r>
          </a:p>
          <a:p>
            <a:pPr>
              <a:lnSpc>
                <a:spcPct val="80000"/>
              </a:lnSpc>
            </a:pPr>
            <a:r>
              <a:rPr lang="hu-HU" b="1" dirty="0"/>
              <a:t>A</a:t>
            </a:r>
            <a:r>
              <a:rPr lang="hu-HU" sz="2400" b="1" dirty="0"/>
              <a:t>priorisztikus (tapasztalatot megelőző) szubjektív valószínűség</a:t>
            </a:r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727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Döntési kritériumok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36431"/>
            <a:ext cx="11861346" cy="538504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hu-HU" b="1" dirty="0"/>
              <a:t>Biztos körülmények </a:t>
            </a:r>
            <a:r>
              <a:rPr lang="hu-HU" dirty="0"/>
              <a:t>közötti döntési osztály</a:t>
            </a:r>
          </a:p>
          <a:p>
            <a:pPr lvl="2"/>
            <a:r>
              <a:rPr lang="hu-HU" dirty="0"/>
              <a:t>minimum vagy maximum kritérium </a:t>
            </a:r>
          </a:p>
          <a:p>
            <a:pPr marL="457200" indent="-457200">
              <a:buFont typeface="+mj-lt"/>
              <a:buAutoNum type="arabicPeriod"/>
            </a:pPr>
            <a:r>
              <a:rPr lang="hu-HU" b="1" dirty="0"/>
              <a:t>Bizonytalan körülmények </a:t>
            </a:r>
            <a:r>
              <a:rPr lang="hu-HU" dirty="0"/>
              <a:t>közötti döntési osztály</a:t>
            </a:r>
          </a:p>
          <a:p>
            <a:pPr lvl="2"/>
            <a:r>
              <a:rPr lang="hu-HU" dirty="0" err="1"/>
              <a:t>Wald</a:t>
            </a:r>
            <a:r>
              <a:rPr lang="hu-HU" dirty="0"/>
              <a:t> kritérium</a:t>
            </a:r>
          </a:p>
          <a:p>
            <a:pPr lvl="2"/>
            <a:r>
              <a:rPr lang="hu-HU" dirty="0"/>
              <a:t>Laplace – kritérium</a:t>
            </a:r>
          </a:p>
          <a:p>
            <a:pPr lvl="2"/>
            <a:r>
              <a:rPr lang="hu-HU" dirty="0" err="1"/>
              <a:t>Hurwitz</a:t>
            </a:r>
            <a:r>
              <a:rPr lang="hu-HU" dirty="0"/>
              <a:t> – kritérium</a:t>
            </a:r>
          </a:p>
          <a:p>
            <a:pPr lvl="2"/>
            <a:r>
              <a:rPr lang="hu-HU" dirty="0" err="1"/>
              <a:t>Savage</a:t>
            </a:r>
            <a:r>
              <a:rPr lang="hu-HU" dirty="0"/>
              <a:t> – kritérium</a:t>
            </a:r>
          </a:p>
          <a:p>
            <a:pPr marL="457200" indent="-457200">
              <a:buFont typeface="+mj-lt"/>
              <a:buAutoNum type="arabicPeriod"/>
            </a:pPr>
            <a:r>
              <a:rPr lang="hu-HU" b="1" dirty="0"/>
              <a:t>Kockázatos körülmények </a:t>
            </a:r>
            <a:r>
              <a:rPr lang="hu-HU" dirty="0"/>
              <a:t>közötti döntés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§"/>
            </a:pPr>
            <a:r>
              <a:rPr lang="hu-HU" dirty="0" err="1"/>
              <a:t>Bayes</a:t>
            </a:r>
            <a:r>
              <a:rPr lang="hu-HU" dirty="0"/>
              <a:t> – kritérium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118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Döntési feladat 1</a:t>
            </a:r>
            <a:r>
              <a:rPr lang="hu-HU" dirty="0" smtClean="0"/>
              <a:t>. - adatok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36431"/>
            <a:ext cx="11861346" cy="538504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hu-HU" dirty="0"/>
              <a:t>Egy vállalatnak bizonyos szezoncikk gyártásról kell döntenie. A rendelkezésre álló információk szerint a termék kizárólag csak egy szezonban adható el, és két gyártási eljárással gyártható. Ismertek a gyártási eljárásokra vonatkozó lényeges gazdasági adatok: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endParaRPr lang="hu-HU" dirty="0"/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hu-HU" b="1" dirty="0"/>
              <a:t>„A” eljárás </a:t>
            </a:r>
            <a:r>
              <a:rPr lang="hu-HU" dirty="0"/>
              <a:t>esetében 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dirty="0" smtClean="0"/>
              <a:t>- a </a:t>
            </a:r>
            <a:r>
              <a:rPr lang="hu-HU" dirty="0"/>
              <a:t>beruházási költség: 1000 </a:t>
            </a:r>
            <a:r>
              <a:rPr lang="hu-HU" dirty="0" err="1"/>
              <a:t>eFt</a:t>
            </a:r>
            <a:endParaRPr lang="hu-HU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hu-HU" dirty="0" smtClean="0"/>
              <a:t>- a </a:t>
            </a:r>
            <a:r>
              <a:rPr lang="hu-HU" dirty="0"/>
              <a:t>termék darabonkénti arányos költség: 1000 Ft/db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endParaRPr lang="hu-HU" dirty="0"/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hu-HU" b="1" dirty="0"/>
              <a:t>„B” eljárás </a:t>
            </a:r>
            <a:r>
              <a:rPr lang="hu-HU" dirty="0"/>
              <a:t>esetében 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dirty="0" smtClean="0"/>
              <a:t>- a </a:t>
            </a:r>
            <a:r>
              <a:rPr lang="hu-HU" dirty="0"/>
              <a:t>felszerszámozási költsége: 3000 </a:t>
            </a:r>
            <a:r>
              <a:rPr lang="hu-HU" dirty="0" err="1"/>
              <a:t>eFt</a:t>
            </a:r>
            <a:endParaRPr lang="hu-HU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hu-HU" dirty="0" smtClean="0"/>
              <a:t>- darabonkénti </a:t>
            </a:r>
            <a:r>
              <a:rPr lang="hu-HU" dirty="0"/>
              <a:t>arányos költség: 500 Ft/db.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endParaRPr lang="hu-HU" dirty="0"/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hu-HU" dirty="0"/>
              <a:t>A termék eladási ára rögzített: 1500 Ft/db.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096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Döntési feladat </a:t>
            </a:r>
            <a:r>
              <a:rPr lang="hu-HU" dirty="0" smtClean="0"/>
              <a:t>– cél meghatározás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8667" y="1457325"/>
            <a:ext cx="10037686" cy="5264148"/>
          </a:xfrm>
        </p:spPr>
        <p:txBody>
          <a:bodyPr numCol="2">
            <a:normAutofit/>
          </a:bodyPr>
          <a:lstStyle/>
          <a:p>
            <a:r>
              <a:rPr lang="hu-HU" dirty="0"/>
              <a:t>A döntés választást jelent a </a:t>
            </a:r>
            <a:r>
              <a:rPr lang="hu-HU" dirty="0" smtClean="0"/>
              <a:t>cselekvési alternatívák </a:t>
            </a:r>
            <a:r>
              <a:rPr lang="hu-HU" dirty="0"/>
              <a:t>között</a:t>
            </a:r>
          </a:p>
          <a:p>
            <a:r>
              <a:rPr lang="hu-HU" b="1" dirty="0"/>
              <a:t>Cél a maximális nyereség elérése</a:t>
            </a:r>
            <a:endParaRPr lang="hu-HU" dirty="0"/>
          </a:p>
          <a:p>
            <a:r>
              <a:rPr lang="hu-HU" dirty="0"/>
              <a:t>Három változat lehetséges:		</a:t>
            </a:r>
          </a:p>
          <a:p>
            <a:pPr lvl="1"/>
            <a:r>
              <a:rPr lang="hu-HU" i="1" dirty="0"/>
              <a:t>S1:</a:t>
            </a:r>
            <a:r>
              <a:rPr lang="hu-HU" dirty="0"/>
              <a:t>	nem gyártunk</a:t>
            </a:r>
          </a:p>
          <a:p>
            <a:pPr lvl="1"/>
            <a:r>
              <a:rPr lang="hu-HU" i="1" dirty="0"/>
              <a:t>S2:</a:t>
            </a:r>
            <a:r>
              <a:rPr lang="hu-HU" dirty="0"/>
              <a:t>	„A” technológia</a:t>
            </a:r>
          </a:p>
          <a:p>
            <a:pPr lvl="1"/>
            <a:r>
              <a:rPr lang="hu-HU" i="1" dirty="0"/>
              <a:t>S3:</a:t>
            </a:r>
            <a:r>
              <a:rPr lang="hu-HU" dirty="0"/>
              <a:t>	„B” technológia</a:t>
            </a:r>
          </a:p>
          <a:p>
            <a:pPr marL="0" indent="0">
              <a:buNone/>
            </a:pPr>
            <a:endParaRPr lang="hu-HU" dirty="0"/>
          </a:p>
          <a:p>
            <a:r>
              <a:rPr lang="hu-HU" b="1" dirty="0"/>
              <a:t>A megalapozott döntéshez elegendő-e a fentiekben adott információ?</a:t>
            </a:r>
          </a:p>
          <a:p>
            <a:r>
              <a:rPr lang="hu-HU" b="1" dirty="0"/>
              <a:t>NEM! Figyelembe kell venni a külső tényezőket, adottságokat is.</a:t>
            </a:r>
          </a:p>
          <a:p>
            <a:pPr marL="0" indent="0">
              <a:buNone/>
            </a:pPr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159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Döntési feladat </a:t>
            </a:r>
            <a:r>
              <a:rPr lang="hu-HU" dirty="0" smtClean="0"/>
              <a:t>– külső adottságok (kereslet)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336431"/>
            <a:ext cx="11861346" cy="5385042"/>
          </a:xfrm>
        </p:spPr>
        <p:txBody>
          <a:bodyPr numCol="2">
            <a:normAutofit/>
          </a:bodyPr>
          <a:lstStyle/>
          <a:p>
            <a:pPr>
              <a:lnSpc>
                <a:spcPct val="80000"/>
              </a:lnSpc>
            </a:pPr>
            <a:endParaRPr lang="hu-HU" sz="2400" dirty="0"/>
          </a:p>
          <a:p>
            <a:pPr>
              <a:lnSpc>
                <a:spcPct val="80000"/>
              </a:lnSpc>
            </a:pPr>
            <a:r>
              <a:rPr lang="hu-HU" sz="2400" dirty="0"/>
              <a:t>Tételezzük fel, hogy a lehetséges </a:t>
            </a:r>
            <a:r>
              <a:rPr lang="hu-HU" sz="2400" b="1" dirty="0"/>
              <a:t>kereslet</a:t>
            </a:r>
            <a:r>
              <a:rPr lang="hu-HU" sz="2400" dirty="0"/>
              <a:t> </a:t>
            </a:r>
            <a:r>
              <a:rPr lang="hu-HU" sz="2400" b="1" dirty="0"/>
              <a:t>három egymást kizáró mennyiségre </a:t>
            </a:r>
            <a:r>
              <a:rPr lang="hu-HU" sz="2400" dirty="0"/>
              <a:t>korlátozódik:</a:t>
            </a:r>
          </a:p>
          <a:p>
            <a:pPr lvl="1">
              <a:lnSpc>
                <a:spcPct val="80000"/>
              </a:lnSpc>
            </a:pPr>
            <a:r>
              <a:rPr lang="hu-HU" dirty="0"/>
              <a:t>1000 db; 3000 db; 5000 db</a:t>
            </a:r>
          </a:p>
          <a:p>
            <a:pPr>
              <a:lnSpc>
                <a:spcPct val="80000"/>
              </a:lnSpc>
            </a:pPr>
            <a:endParaRPr lang="hu-HU" sz="2400" dirty="0"/>
          </a:p>
          <a:p>
            <a:pPr>
              <a:lnSpc>
                <a:spcPct val="80000"/>
              </a:lnSpc>
            </a:pPr>
            <a:r>
              <a:rPr lang="hu-HU" sz="2400" dirty="0"/>
              <a:t>A döntéshozótól független és a döntés eredményét befolyásoló tényezőket </a:t>
            </a:r>
            <a:r>
              <a:rPr lang="hu-HU" sz="2400" b="1" u="sng" dirty="0"/>
              <a:t>tényállapotnak</a:t>
            </a:r>
            <a:r>
              <a:rPr lang="hu-HU" sz="2400" dirty="0"/>
              <a:t> nevezzük.</a:t>
            </a:r>
          </a:p>
          <a:p>
            <a:pPr>
              <a:lnSpc>
                <a:spcPct val="80000"/>
              </a:lnSpc>
            </a:pPr>
            <a:r>
              <a:rPr lang="hu-HU" sz="2400" dirty="0"/>
              <a:t>Ezek a következők:</a:t>
            </a:r>
          </a:p>
          <a:p>
            <a:pPr lvl="1">
              <a:lnSpc>
                <a:spcPct val="80000"/>
              </a:lnSpc>
            </a:pPr>
            <a:r>
              <a:rPr lang="hu-HU" dirty="0"/>
              <a:t>T1	1000 db</a:t>
            </a:r>
          </a:p>
          <a:p>
            <a:pPr lvl="1">
              <a:lnSpc>
                <a:spcPct val="80000"/>
              </a:lnSpc>
            </a:pPr>
            <a:r>
              <a:rPr lang="hu-HU" dirty="0"/>
              <a:t>T2	3000 db</a:t>
            </a:r>
          </a:p>
          <a:p>
            <a:pPr lvl="1">
              <a:lnSpc>
                <a:spcPct val="80000"/>
              </a:lnSpc>
            </a:pPr>
            <a:r>
              <a:rPr lang="hu-HU" dirty="0"/>
              <a:t>T3	5000 db</a:t>
            </a:r>
          </a:p>
          <a:p>
            <a:endParaRPr lang="hu-HU" b="1" dirty="0"/>
          </a:p>
          <a:p>
            <a:pPr marL="0" indent="0">
              <a:buNone/>
            </a:pPr>
            <a:endParaRPr lang="hu-HU" b="1" dirty="0"/>
          </a:p>
          <a:p>
            <a:pPr>
              <a:lnSpc>
                <a:spcPct val="80000"/>
              </a:lnSpc>
            </a:pPr>
            <a:r>
              <a:rPr lang="hu-HU" b="1" dirty="0"/>
              <a:t>„A” eljárás </a:t>
            </a:r>
            <a:r>
              <a:rPr lang="hu-HU" dirty="0"/>
              <a:t>esetében a beruházási költség: 1000 </a:t>
            </a:r>
            <a:r>
              <a:rPr lang="hu-HU" dirty="0" err="1"/>
              <a:t>eFt</a:t>
            </a:r>
            <a:endParaRPr lang="hu-HU" dirty="0"/>
          </a:p>
          <a:p>
            <a:pPr lvl="1">
              <a:lnSpc>
                <a:spcPct val="80000"/>
              </a:lnSpc>
            </a:pPr>
            <a:r>
              <a:rPr lang="hu-HU" dirty="0"/>
              <a:t>A termék </a:t>
            </a:r>
            <a:r>
              <a:rPr lang="hu-HU" dirty="0" err="1"/>
              <a:t>darabonkénti</a:t>
            </a:r>
            <a:r>
              <a:rPr lang="hu-HU" dirty="0"/>
              <a:t> arányos költség: 1000 Ft/db</a:t>
            </a:r>
          </a:p>
          <a:p>
            <a:pPr>
              <a:lnSpc>
                <a:spcPct val="80000"/>
              </a:lnSpc>
            </a:pPr>
            <a:endParaRPr lang="hu-HU" dirty="0"/>
          </a:p>
          <a:p>
            <a:pPr>
              <a:lnSpc>
                <a:spcPct val="80000"/>
              </a:lnSpc>
            </a:pPr>
            <a:r>
              <a:rPr lang="hu-HU" b="1" dirty="0"/>
              <a:t>„B” eljárás </a:t>
            </a:r>
            <a:r>
              <a:rPr lang="hu-HU" dirty="0"/>
              <a:t>esetében a felszerszámozási költsége: 3000 </a:t>
            </a:r>
            <a:r>
              <a:rPr lang="hu-HU" dirty="0" err="1"/>
              <a:t>eFt</a:t>
            </a:r>
            <a:endParaRPr lang="hu-HU" dirty="0"/>
          </a:p>
          <a:p>
            <a:pPr lvl="1">
              <a:lnSpc>
                <a:spcPct val="80000"/>
              </a:lnSpc>
            </a:pPr>
            <a:r>
              <a:rPr lang="hu-HU" dirty="0"/>
              <a:t>A </a:t>
            </a:r>
            <a:r>
              <a:rPr lang="hu-HU" dirty="0" err="1"/>
              <a:t>darabonkénti</a:t>
            </a:r>
            <a:r>
              <a:rPr lang="hu-HU" dirty="0"/>
              <a:t> arányos költség: 500 Ft/db.</a:t>
            </a:r>
          </a:p>
          <a:p>
            <a:pPr>
              <a:lnSpc>
                <a:spcPct val="80000"/>
              </a:lnSpc>
            </a:pPr>
            <a:endParaRPr lang="hu-HU" dirty="0"/>
          </a:p>
          <a:p>
            <a:pPr>
              <a:lnSpc>
                <a:spcPct val="80000"/>
              </a:lnSpc>
            </a:pPr>
            <a:r>
              <a:rPr lang="hu-HU" dirty="0"/>
              <a:t>A termék eladási ára rögzített: 1500 Ft/db.</a:t>
            </a:r>
          </a:p>
          <a:p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849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Döntési feladat – biztos környezet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463" y="1422400"/>
            <a:ext cx="11986536" cy="5435599"/>
          </a:xfrm>
        </p:spPr>
        <p:txBody>
          <a:bodyPr numCol="2">
            <a:normAutofit fontScale="77500" lnSpcReduction="20000"/>
          </a:bodyPr>
          <a:lstStyle/>
          <a:p>
            <a:pPr>
              <a:lnSpc>
                <a:spcPct val="80000"/>
              </a:lnSpc>
            </a:pPr>
            <a:endParaRPr lang="hu-HU" sz="2400" dirty="0"/>
          </a:p>
          <a:p>
            <a:pPr marL="0" indent="0">
              <a:lnSpc>
                <a:spcPct val="80000"/>
              </a:lnSpc>
              <a:buNone/>
            </a:pPr>
            <a:r>
              <a:rPr lang="hu-HU" sz="3300" b="1" dirty="0"/>
              <a:t>Eredmények </a:t>
            </a:r>
            <a:r>
              <a:rPr lang="hu-HU" sz="3300" b="1" dirty="0" smtClean="0"/>
              <a:t>összefoglalása –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hu-HU" sz="3300" b="1" dirty="0" smtClean="0"/>
              <a:t>döntési mátrixban</a:t>
            </a:r>
            <a:endParaRPr lang="hu-HU" sz="3300" b="1" dirty="0"/>
          </a:p>
          <a:p>
            <a:pPr marL="0" indent="0">
              <a:lnSpc>
                <a:spcPct val="80000"/>
              </a:lnSpc>
              <a:buNone/>
            </a:pPr>
            <a:endParaRPr lang="hu-HU" dirty="0"/>
          </a:p>
          <a:p>
            <a:endParaRPr lang="hu-HU" b="1" dirty="0"/>
          </a:p>
          <a:p>
            <a:pPr marL="0" indent="0">
              <a:buNone/>
            </a:pPr>
            <a:endParaRPr lang="hu-HU" b="1" dirty="0"/>
          </a:p>
          <a:p>
            <a:pPr>
              <a:lnSpc>
                <a:spcPct val="80000"/>
              </a:lnSpc>
            </a:pPr>
            <a:endParaRPr lang="hu-HU" b="1" dirty="0"/>
          </a:p>
          <a:p>
            <a:pPr>
              <a:lnSpc>
                <a:spcPct val="80000"/>
              </a:lnSpc>
            </a:pPr>
            <a:endParaRPr lang="hu-HU" b="1" dirty="0"/>
          </a:p>
          <a:p>
            <a:pPr>
              <a:lnSpc>
                <a:spcPct val="80000"/>
              </a:lnSpc>
            </a:pPr>
            <a:endParaRPr lang="hu-HU" b="1" dirty="0"/>
          </a:p>
          <a:p>
            <a:pPr>
              <a:lnSpc>
                <a:spcPct val="80000"/>
              </a:lnSpc>
            </a:pPr>
            <a:endParaRPr lang="hu-HU" b="1" dirty="0"/>
          </a:p>
          <a:p>
            <a:pPr marL="0" indent="0">
              <a:lnSpc>
                <a:spcPct val="80000"/>
              </a:lnSpc>
              <a:buNone/>
            </a:pPr>
            <a:endParaRPr lang="hu-HU" b="1" dirty="0"/>
          </a:p>
          <a:p>
            <a:pPr marL="0" indent="0">
              <a:lnSpc>
                <a:spcPct val="80000"/>
              </a:lnSpc>
              <a:buNone/>
            </a:pPr>
            <a:endParaRPr lang="hu-HU" b="1" dirty="0"/>
          </a:p>
          <a:p>
            <a:pPr>
              <a:lnSpc>
                <a:spcPct val="80000"/>
              </a:lnSpc>
            </a:pPr>
            <a:endParaRPr lang="hu-HU" b="1" dirty="0"/>
          </a:p>
          <a:p>
            <a:pPr>
              <a:lnSpc>
                <a:spcPct val="80000"/>
              </a:lnSpc>
            </a:pPr>
            <a:endParaRPr lang="hu-HU" b="1" dirty="0"/>
          </a:p>
          <a:p>
            <a:pPr marL="0" indent="0">
              <a:lnSpc>
                <a:spcPct val="80000"/>
              </a:lnSpc>
              <a:buNone/>
            </a:pPr>
            <a:endParaRPr lang="hu-HU" b="1" dirty="0"/>
          </a:p>
          <a:p>
            <a:pPr marL="0" indent="0">
              <a:lnSpc>
                <a:spcPct val="80000"/>
              </a:lnSpc>
              <a:buNone/>
            </a:pPr>
            <a:endParaRPr lang="hu-HU" b="1" dirty="0"/>
          </a:p>
          <a:p>
            <a:pPr>
              <a:lnSpc>
                <a:spcPct val="80000"/>
              </a:lnSpc>
            </a:pPr>
            <a:endParaRPr lang="hu-HU" b="1" dirty="0"/>
          </a:p>
          <a:p>
            <a:pPr>
              <a:lnSpc>
                <a:spcPct val="80000"/>
              </a:lnSpc>
            </a:pPr>
            <a:endParaRPr lang="hu-HU" b="1" dirty="0"/>
          </a:p>
          <a:p>
            <a:pPr marL="0" indent="0">
              <a:lnSpc>
                <a:spcPct val="80000"/>
              </a:lnSpc>
              <a:buNone/>
            </a:pPr>
            <a:r>
              <a:rPr lang="hu-HU" b="1" dirty="0"/>
              <a:t>MELLÉKSZÁMÍTÁS:</a:t>
            </a:r>
          </a:p>
          <a:p>
            <a:pPr marL="0" indent="0">
              <a:lnSpc>
                <a:spcPct val="80000"/>
              </a:lnSpc>
              <a:buNone/>
            </a:pPr>
            <a:endParaRPr lang="hu-HU" b="1" dirty="0"/>
          </a:p>
          <a:p>
            <a:pPr>
              <a:lnSpc>
                <a:spcPct val="80000"/>
              </a:lnSpc>
            </a:pPr>
            <a:r>
              <a:rPr lang="hu-HU" b="1" dirty="0"/>
              <a:t>S1 – nincs gyártás</a:t>
            </a:r>
          </a:p>
          <a:p>
            <a:pPr marL="0" indent="0">
              <a:lnSpc>
                <a:spcPct val="80000"/>
              </a:lnSpc>
              <a:buNone/>
            </a:pPr>
            <a:endParaRPr lang="hu-HU" b="1" dirty="0"/>
          </a:p>
          <a:p>
            <a:pPr>
              <a:lnSpc>
                <a:spcPct val="80000"/>
              </a:lnSpc>
            </a:pPr>
            <a:r>
              <a:rPr lang="hu-HU" b="1" dirty="0"/>
              <a:t>S2 - „A” eljárás </a:t>
            </a:r>
            <a:r>
              <a:rPr lang="hu-HU" dirty="0"/>
              <a:t>esetében a lehetséges profit: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hu-HU" dirty="0"/>
              <a:t>(bevétel - változó költség - fix költség)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hu-HU" dirty="0"/>
              <a:t>T1: (1,5eFt/db-1eFt/db)x 1 </a:t>
            </a:r>
            <a:r>
              <a:rPr lang="hu-HU" dirty="0" err="1"/>
              <a:t>edb</a:t>
            </a:r>
            <a:r>
              <a:rPr lang="hu-HU" dirty="0"/>
              <a:t> - 1MFt=-500eFt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hu-HU" dirty="0"/>
              <a:t>T2: (1,5eFt/db-1eFt/db)x 3 </a:t>
            </a:r>
            <a:r>
              <a:rPr lang="hu-HU" dirty="0" err="1"/>
              <a:t>edb</a:t>
            </a:r>
            <a:r>
              <a:rPr lang="hu-HU" dirty="0"/>
              <a:t> - 1MFt= +500eFt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hu-HU" dirty="0"/>
              <a:t>T3: (1,5eFt/db-1eFt/db)x 5 </a:t>
            </a:r>
            <a:r>
              <a:rPr lang="hu-HU" dirty="0" err="1"/>
              <a:t>edb</a:t>
            </a:r>
            <a:r>
              <a:rPr lang="hu-HU" dirty="0"/>
              <a:t> - 1MFt=+1500eFt</a:t>
            </a:r>
          </a:p>
          <a:p>
            <a:pPr marL="0" indent="0">
              <a:lnSpc>
                <a:spcPct val="80000"/>
              </a:lnSpc>
              <a:buNone/>
            </a:pPr>
            <a:endParaRPr lang="hu-HU" dirty="0"/>
          </a:p>
          <a:p>
            <a:pPr>
              <a:lnSpc>
                <a:spcPct val="80000"/>
              </a:lnSpc>
            </a:pPr>
            <a:r>
              <a:rPr lang="hu-HU" b="1" dirty="0"/>
              <a:t>S3 - „B” eljárás </a:t>
            </a:r>
            <a:r>
              <a:rPr lang="hu-HU" dirty="0"/>
              <a:t>esetében a fix költsége: 3000 </a:t>
            </a:r>
            <a:r>
              <a:rPr lang="hu-HU" dirty="0" err="1"/>
              <a:t>eFt</a:t>
            </a:r>
            <a:endParaRPr lang="hu-HU" dirty="0"/>
          </a:p>
          <a:p>
            <a:pPr marL="0" indent="0">
              <a:lnSpc>
                <a:spcPct val="80000"/>
              </a:lnSpc>
              <a:buNone/>
            </a:pPr>
            <a:r>
              <a:rPr lang="hu-HU" dirty="0"/>
              <a:t>T1: (1,5eFt/db-0,5eFt/db)x 1 </a:t>
            </a:r>
            <a:r>
              <a:rPr lang="hu-HU" dirty="0" err="1"/>
              <a:t>edb</a:t>
            </a:r>
            <a:r>
              <a:rPr lang="hu-HU" dirty="0"/>
              <a:t> - 3MFt=-2MFt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hu-HU" dirty="0"/>
              <a:t>T2: (1,5eFt/db-0,5eFt/db)x 3 </a:t>
            </a:r>
            <a:r>
              <a:rPr lang="hu-HU" dirty="0" err="1"/>
              <a:t>edb</a:t>
            </a:r>
            <a:r>
              <a:rPr lang="hu-HU" dirty="0"/>
              <a:t> - 3MFt= 0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hu-HU" dirty="0"/>
              <a:t>T3: (1,5eFt/db-0,5eFt/db)x 5 </a:t>
            </a:r>
            <a:r>
              <a:rPr lang="hu-HU" dirty="0" err="1"/>
              <a:t>edb</a:t>
            </a:r>
            <a:r>
              <a:rPr lang="hu-HU" dirty="0"/>
              <a:t> - 1MFt=+2MFt</a:t>
            </a:r>
          </a:p>
          <a:p>
            <a:pPr marL="0" indent="0">
              <a:lnSpc>
                <a:spcPct val="80000"/>
              </a:lnSpc>
              <a:buNone/>
            </a:pPr>
            <a:endParaRPr lang="hu-HU" dirty="0"/>
          </a:p>
          <a:p>
            <a:pPr marL="0" indent="0">
              <a:lnSpc>
                <a:spcPct val="80000"/>
              </a:lnSpc>
              <a:buNone/>
            </a:pP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Picture 4" descr="beolvasĂˇs0005">
            <a:extLst>
              <a:ext uri="{FF2B5EF4-FFF2-40B4-BE49-F238E27FC236}">
                <a16:creationId xmlns="" xmlns:a16="http://schemas.microsoft.com/office/drawing/2014/main" id="{959EA0AF-DD07-4A53-BC2C-36E783139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5463" y="3089571"/>
            <a:ext cx="4754096" cy="3053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Kép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12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Bizonytalan körülmények – WALD kritérium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64" y="1601558"/>
            <a:ext cx="11369968" cy="5256441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hu-HU" b="1" dirty="0"/>
              <a:t>MINI-MAX KRITÉRIUM</a:t>
            </a:r>
          </a:p>
          <a:p>
            <a:pPr lvl="1"/>
            <a:r>
              <a:rPr lang="hu-HU" dirty="0"/>
              <a:t>A pesszimista hozzáállású döntéshozót tételezzük fel: akármelyik étterembe is megyek, számomra a lehető legrosszabbat fogják főzni, így oda megyek, ahol az </a:t>
            </a:r>
            <a:r>
              <a:rPr lang="hu-HU" dirty="0" err="1"/>
              <a:t>éttermenkénti</a:t>
            </a:r>
            <a:r>
              <a:rPr lang="hu-HU" dirty="0"/>
              <a:t> minimális jólétem a lehető legnagyobb. Azaz a sorminimumok maximumát kell választani</a:t>
            </a:r>
          </a:p>
          <a:p>
            <a:pPr lvl="0"/>
            <a:endParaRPr lang="hu-HU" dirty="0"/>
          </a:p>
          <a:p>
            <a:pPr marL="0" lvl="0" indent="0">
              <a:buNone/>
            </a:pPr>
            <a:r>
              <a:rPr lang="hu-HU" b="1" dirty="0"/>
              <a:t>MAX-MAX KRITÉRIUM</a:t>
            </a:r>
          </a:p>
          <a:p>
            <a:pPr lvl="1"/>
            <a:r>
              <a:rPr lang="hu-HU" dirty="0"/>
              <a:t>Az optimista hozzáállású döntéshozót tételezzük fel: akármelyik étterembe is megyek, számomra a lehető legjobb ételt fogják megfőzni, így oda megyek, ahol az </a:t>
            </a:r>
            <a:r>
              <a:rPr lang="hu-HU" dirty="0" err="1"/>
              <a:t>éttermenkénti</a:t>
            </a:r>
            <a:r>
              <a:rPr lang="hu-HU" dirty="0"/>
              <a:t> maximális jólétem a lehető legnagyobb. Azaz a sormaximumok maximumát kell választani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697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Bizonytalan körülmények - HURWITZ kritérium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64" y="2061713"/>
            <a:ext cx="11249198" cy="4796286"/>
          </a:xfrm>
        </p:spPr>
        <p:txBody>
          <a:bodyPr numCol="1">
            <a:normAutofit/>
          </a:bodyPr>
          <a:lstStyle/>
          <a:p>
            <a:pPr lvl="1"/>
            <a:r>
              <a:rPr lang="hu-HU" dirty="0"/>
              <a:t>A </a:t>
            </a:r>
            <a:r>
              <a:rPr lang="hu-HU" dirty="0" err="1"/>
              <a:t>Hurwitz</a:t>
            </a:r>
            <a:r>
              <a:rPr lang="hu-HU" dirty="0"/>
              <a:t> kritérium esetén a preferenciafüggvény már több dimenziós lesz. Nem csupán az egyik szélsőértékét vesszük figyelembe, hanem a másikat is, és ehhez megfelelő súlyértéket kell rendelni</a:t>
            </a:r>
          </a:p>
          <a:p>
            <a:pPr lvl="1"/>
            <a:endParaRPr lang="hu-HU" dirty="0"/>
          </a:p>
          <a:p>
            <a:pPr lvl="1"/>
            <a:r>
              <a:rPr lang="hu-HU" dirty="0"/>
              <a:t>Esetünkben azt állítom, hogy számomra a legjobb ételt például 0,2 valószínűséggel főzik meg, míg 0,8 valószínűséggel kapom a számomra legkevésbé megfelelő menüt. Ennek alapján a szélsőértékek súlyozott átlagát vehetem jelzőszámnak (illetve súlyozott összegét), ami minél nagyobb, természetesen annál jobb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035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Bizonytalan körülmények - LAPLACE kritérium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64" y="1880558"/>
            <a:ext cx="11085296" cy="4977441"/>
          </a:xfrm>
        </p:spPr>
        <p:txBody>
          <a:bodyPr numCol="1">
            <a:normAutofit/>
          </a:bodyPr>
          <a:lstStyle/>
          <a:p>
            <a:pPr lvl="1"/>
            <a:r>
              <a:rPr lang="hu-HU" dirty="0"/>
              <a:t>A preferenciafüggvény itt már nem csak kettő, hanem j dimenziós lesz. A Laplace kritérium nem korlátozza szélsőértékekre a kombinációkat, hanem azt mondja, hogy éppen ellenkezőleg, nincs elégséges ok a másik kettő bármely súlyozására. </a:t>
            </a:r>
          </a:p>
          <a:p>
            <a:pPr lvl="1"/>
            <a:endParaRPr lang="hu-HU" dirty="0"/>
          </a:p>
          <a:p>
            <a:pPr lvl="1"/>
            <a:r>
              <a:rPr lang="hu-HU" dirty="0"/>
              <a:t>Azaz minden egyes alternatíva esetén a várható érték kiszámítása a cél oly módon, hogy, az egyes állapotok bekövetkezési valószínűségét az elégtelen megokolás elve alapján egyenlőnek tételezzük fel</a:t>
            </a:r>
            <a:br>
              <a:rPr lang="hu-HU" dirty="0"/>
            </a:br>
            <a:endParaRPr lang="hu-HU" dirty="0"/>
          </a:p>
          <a:p>
            <a:pPr lvl="1"/>
            <a:r>
              <a:rPr lang="hu-HU" dirty="0"/>
              <a:t>Matematikai valószínűség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202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Bizonytalan körülmények - SAVAGE-NIEHANS kritérium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64" y="1336430"/>
            <a:ext cx="12088836" cy="5521569"/>
          </a:xfrm>
        </p:spPr>
        <p:txBody>
          <a:bodyPr numCol="1">
            <a:normAutofit/>
          </a:bodyPr>
          <a:lstStyle/>
          <a:p>
            <a:pPr lvl="1"/>
            <a:r>
              <a:rPr lang="hu-HU" dirty="0"/>
              <a:t>A kritérium már másodlagos, vagyis </a:t>
            </a:r>
            <a:br>
              <a:rPr lang="hu-HU" dirty="0"/>
            </a:br>
            <a:r>
              <a:rPr lang="hu-HU" dirty="0"/>
              <a:t>- származtatott célváltozókat használ, mely ebben az esetben az elmaradt haszonnak (</a:t>
            </a:r>
            <a:r>
              <a:rPr lang="hu-HU" dirty="0" err="1"/>
              <a:t>opportunity</a:t>
            </a:r>
            <a:r>
              <a:rPr lang="hu-HU" dirty="0"/>
              <a:t> cost) nevezhető.</a:t>
            </a:r>
          </a:p>
          <a:p>
            <a:pPr lvl="1"/>
            <a:r>
              <a:rPr lang="hu-HU" dirty="0"/>
              <a:t>Először megnézzük, hogy az egyes természeti állapotok bekövetkezése esetén melyik alternatíva nyújtja a maximumot, s ebből az értékből a többi alternatíva kimeneti eredményét kivonjuk. Ekkor megkapjuk, hogy az egyes alternatívák a bekövetkezett természeti állapotok mellett mennyiben jelentenek elmaradt hasznot. </a:t>
            </a:r>
            <a:br>
              <a:rPr lang="hu-HU" dirty="0"/>
            </a:br>
            <a:r>
              <a:rPr lang="hu-HU" dirty="0"/>
              <a:t>Elmaradt haszon= optimális-tényleges döntés (előjelhelyesen). </a:t>
            </a:r>
          </a:p>
          <a:p>
            <a:r>
              <a:rPr lang="hu-HU" dirty="0"/>
              <a:t>Ekkortól a kritérium többféleképp folytatódhat: </a:t>
            </a:r>
          </a:p>
          <a:p>
            <a:pPr lvl="1"/>
            <a:r>
              <a:rPr lang="hu-HU" dirty="0"/>
              <a:t>A maxi-</a:t>
            </a:r>
            <a:r>
              <a:rPr lang="hu-HU" dirty="0" err="1"/>
              <a:t>max</a:t>
            </a:r>
            <a:r>
              <a:rPr lang="hu-HU" dirty="0"/>
              <a:t> kritérium szerint a minimális elmaradt hasznot minimalizáljuk</a:t>
            </a:r>
          </a:p>
          <a:p>
            <a:pPr lvl="1"/>
            <a:r>
              <a:rPr lang="hu-HU" dirty="0"/>
              <a:t>A HURWITZ kritérium szerint a maximális és minimális elmaradt haszon súlyozott értékét minimalizáljuk</a:t>
            </a:r>
          </a:p>
          <a:p>
            <a:pPr lvl="1"/>
            <a:r>
              <a:rPr lang="hu-HU" dirty="0"/>
              <a:t>A </a:t>
            </a:r>
            <a:r>
              <a:rPr lang="hu-HU" dirty="0" err="1"/>
              <a:t>Lalpace</a:t>
            </a:r>
            <a:r>
              <a:rPr lang="hu-HU" dirty="0"/>
              <a:t>-kritériumnak megfelelően az elmaradt haszon értékeit az elégtelen okok elve szerinti súlyozott átlagokat minimalizáljuk. 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006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Kockázatos döntés – BAYES kritérium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64" y="2001328"/>
            <a:ext cx="11300957" cy="4856671"/>
          </a:xfrm>
        </p:spPr>
        <p:txBody>
          <a:bodyPr numCol="1">
            <a:normAutofit/>
          </a:bodyPr>
          <a:lstStyle/>
          <a:p>
            <a:pPr lvl="1"/>
            <a:r>
              <a:rPr lang="hu-HU" dirty="0"/>
              <a:t>Statisztikai valószínűség</a:t>
            </a:r>
            <a:br>
              <a:rPr lang="hu-HU" dirty="0"/>
            </a:br>
            <a:endParaRPr lang="hu-HU" dirty="0"/>
          </a:p>
          <a:p>
            <a:pPr lvl="1"/>
            <a:r>
              <a:rPr lang="hu-HU" dirty="0"/>
              <a:t>Apriori (tapasztalati) valószínűség elosztás esetén:</a:t>
            </a:r>
          </a:p>
          <a:p>
            <a:pPr marL="914400" lvl="2" indent="0">
              <a:buNone/>
            </a:pPr>
            <a:r>
              <a:rPr lang="hu-HU" dirty="0"/>
              <a:t>A valószínűségekkel súlyozott összegek közül a legmagasabbat, vagy értelemszerűen pl. károk vizsgálata esetén a legalacsonyabbat választjuk.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59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Kockázatos döntés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64" y="1336430"/>
            <a:ext cx="12088836" cy="5521569"/>
          </a:xfrm>
        </p:spPr>
        <p:txBody>
          <a:bodyPr numCol="2">
            <a:normAutofit/>
          </a:bodyPr>
          <a:lstStyle/>
          <a:p>
            <a:pPr>
              <a:lnSpc>
                <a:spcPct val="80000"/>
              </a:lnSpc>
            </a:pPr>
            <a:r>
              <a:rPr lang="hu-HU" sz="2400" b="1" dirty="0"/>
              <a:t>Korábbi példa folytatása</a:t>
            </a:r>
          </a:p>
          <a:p>
            <a:r>
              <a:rPr lang="hu-HU" sz="2400" b="1" dirty="0"/>
              <a:t>Apriori szubjektív valószínűségek </a:t>
            </a:r>
            <a:r>
              <a:rPr lang="hu-HU" sz="2400" b="1" dirty="0" smtClean="0"/>
              <a:t/>
            </a:r>
            <a:br>
              <a:rPr lang="hu-HU" sz="2400" b="1" dirty="0" smtClean="0"/>
            </a:br>
            <a:r>
              <a:rPr lang="hu-HU" sz="2400" b="1" dirty="0" smtClean="0"/>
              <a:t>(</a:t>
            </a:r>
            <a:r>
              <a:rPr lang="hu-HU" b="1" dirty="0" smtClean="0"/>
              <a:t>statisztikai adatok alapján becsülhető)</a:t>
            </a:r>
            <a:r>
              <a:rPr lang="hu-HU" sz="2400" b="1" dirty="0" smtClean="0"/>
              <a:t>:</a:t>
            </a:r>
            <a:endParaRPr lang="hu-HU" sz="2400" b="1" dirty="0"/>
          </a:p>
          <a:p>
            <a:pPr lvl="1"/>
            <a:r>
              <a:rPr lang="hu-HU" dirty="0"/>
              <a:t>P(T1)=1/2</a:t>
            </a:r>
          </a:p>
          <a:p>
            <a:pPr lvl="1"/>
            <a:r>
              <a:rPr lang="hu-HU" dirty="0"/>
              <a:t>P(T2)=1/3</a:t>
            </a:r>
          </a:p>
          <a:p>
            <a:pPr lvl="1"/>
            <a:r>
              <a:rPr lang="hu-HU" dirty="0"/>
              <a:t>P(T3)=</a:t>
            </a:r>
            <a:r>
              <a:rPr lang="hu-HU" dirty="0" smtClean="0"/>
              <a:t>1/6</a:t>
            </a:r>
          </a:p>
          <a:p>
            <a:pPr marL="457200" lvl="1" indent="0">
              <a:buNone/>
            </a:pPr>
            <a:endParaRPr lang="hu-HU" b="1" dirty="0"/>
          </a:p>
          <a:p>
            <a:pPr>
              <a:lnSpc>
                <a:spcPct val="80000"/>
              </a:lnSpc>
            </a:pPr>
            <a:r>
              <a:rPr lang="hu-HU" b="1" dirty="0"/>
              <a:t>„A” eljárás </a:t>
            </a:r>
            <a:r>
              <a:rPr lang="hu-HU" dirty="0"/>
              <a:t>esetében a beruházási költség: 1000 </a:t>
            </a:r>
            <a:r>
              <a:rPr lang="hu-HU" dirty="0" err="1" smtClean="0"/>
              <a:t>eFt</a:t>
            </a:r>
            <a:r>
              <a:rPr lang="hu-HU" dirty="0"/>
              <a:t> </a:t>
            </a:r>
            <a:r>
              <a:rPr lang="hu-HU" dirty="0" smtClean="0"/>
              <a:t>és a termék </a:t>
            </a:r>
            <a:r>
              <a:rPr lang="hu-HU" dirty="0"/>
              <a:t>darabonkénti arányos </a:t>
            </a:r>
            <a:r>
              <a:rPr lang="hu-HU" dirty="0" smtClean="0"/>
              <a:t>költsége: </a:t>
            </a:r>
            <a:r>
              <a:rPr lang="hu-HU" dirty="0"/>
              <a:t>1000 Ft/db</a:t>
            </a:r>
          </a:p>
          <a:p>
            <a:pPr>
              <a:lnSpc>
                <a:spcPct val="80000"/>
              </a:lnSpc>
            </a:pPr>
            <a:endParaRPr lang="hu-HU" dirty="0"/>
          </a:p>
          <a:p>
            <a:pPr>
              <a:lnSpc>
                <a:spcPct val="80000"/>
              </a:lnSpc>
            </a:pPr>
            <a:r>
              <a:rPr lang="hu-HU" b="1" dirty="0"/>
              <a:t>„B” eljárás </a:t>
            </a:r>
            <a:r>
              <a:rPr lang="hu-HU" dirty="0"/>
              <a:t>esetében a felszerszámozási költsége: 3000 </a:t>
            </a:r>
            <a:r>
              <a:rPr lang="hu-HU" dirty="0" err="1" smtClean="0"/>
              <a:t>eFtés</a:t>
            </a:r>
            <a:r>
              <a:rPr lang="hu-HU" dirty="0" smtClean="0"/>
              <a:t> a </a:t>
            </a:r>
            <a:r>
              <a:rPr lang="hu-HU" dirty="0"/>
              <a:t>darabonkénti arányos költség: 500 Ft/db.</a:t>
            </a:r>
          </a:p>
          <a:p>
            <a:pPr>
              <a:lnSpc>
                <a:spcPct val="80000"/>
              </a:lnSpc>
            </a:pPr>
            <a:endParaRPr lang="hu-HU" dirty="0"/>
          </a:p>
          <a:p>
            <a:pPr>
              <a:lnSpc>
                <a:spcPct val="80000"/>
              </a:lnSpc>
            </a:pPr>
            <a:r>
              <a:rPr lang="hu-HU" dirty="0"/>
              <a:t>A termék eladási ára rögzített: 1500 Ft/db.</a:t>
            </a:r>
          </a:p>
          <a:p>
            <a:pPr lvl="1">
              <a:lnSpc>
                <a:spcPct val="80000"/>
              </a:lnSpc>
            </a:pPr>
            <a:r>
              <a:rPr lang="hu-HU" b="1" dirty="0"/>
              <a:t>T1	1000 db</a:t>
            </a:r>
          </a:p>
          <a:p>
            <a:pPr lvl="1">
              <a:lnSpc>
                <a:spcPct val="80000"/>
              </a:lnSpc>
            </a:pPr>
            <a:r>
              <a:rPr lang="hu-HU" b="1" dirty="0"/>
              <a:t>T2	3000 db</a:t>
            </a:r>
          </a:p>
          <a:p>
            <a:pPr lvl="1">
              <a:lnSpc>
                <a:spcPct val="80000"/>
              </a:lnSpc>
            </a:pPr>
            <a:r>
              <a:rPr lang="hu-HU" b="1" dirty="0"/>
              <a:t>T3	5000 db</a:t>
            </a:r>
          </a:p>
          <a:p>
            <a:pPr>
              <a:buFont typeface="Wingdings" pitchFamily="2" charset="2"/>
              <a:buNone/>
            </a:pPr>
            <a:endParaRPr lang="hu-HU" sz="2400" b="1" dirty="0"/>
          </a:p>
          <a:p>
            <a:pPr>
              <a:lnSpc>
                <a:spcPct val="80000"/>
              </a:lnSpc>
            </a:pPr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Picture 4" descr="beolvasĂˇs0005">
            <a:extLst>
              <a:ext uri="{FF2B5EF4-FFF2-40B4-BE49-F238E27FC236}">
                <a16:creationId xmlns="" xmlns:a16="http://schemas.microsoft.com/office/drawing/2014/main" id="{63C0032F-244A-4B73-9B20-7B866760B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60890" y="3353282"/>
            <a:ext cx="6036527" cy="3012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Kép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28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Kockázatos döntés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64" y="1336430"/>
            <a:ext cx="12088836" cy="5521569"/>
          </a:xfrm>
        </p:spPr>
        <p:txBody>
          <a:bodyPr numCol="2">
            <a:normAutofit/>
          </a:bodyPr>
          <a:lstStyle/>
          <a:p>
            <a:pPr>
              <a:lnSpc>
                <a:spcPct val="80000"/>
              </a:lnSpc>
            </a:pPr>
            <a:r>
              <a:rPr lang="hu-HU" sz="2400" b="1" dirty="0"/>
              <a:t>Korábbi példa folytatása</a:t>
            </a:r>
          </a:p>
          <a:p>
            <a:r>
              <a:rPr lang="hu-HU" sz="2400" b="1" dirty="0"/>
              <a:t>Apriori szubjektív valószínűségek </a:t>
            </a:r>
            <a:r>
              <a:rPr lang="hu-HU" sz="2400" b="1" dirty="0" smtClean="0"/>
              <a:t/>
            </a:r>
            <a:br>
              <a:rPr lang="hu-HU" sz="2400" b="1" dirty="0" smtClean="0"/>
            </a:br>
            <a:r>
              <a:rPr lang="hu-HU" b="1" dirty="0" smtClean="0"/>
              <a:t>(</a:t>
            </a:r>
            <a:r>
              <a:rPr lang="hu-HU" b="1" dirty="0"/>
              <a:t>statisztikai adatok alapján becsülhető):</a:t>
            </a:r>
          </a:p>
          <a:p>
            <a:pPr lvl="1"/>
            <a:r>
              <a:rPr lang="hu-HU" dirty="0" smtClean="0"/>
              <a:t>P(T1</a:t>
            </a:r>
            <a:r>
              <a:rPr lang="hu-HU" dirty="0"/>
              <a:t>)=1/2</a:t>
            </a:r>
          </a:p>
          <a:p>
            <a:pPr lvl="1"/>
            <a:r>
              <a:rPr lang="hu-HU" dirty="0"/>
              <a:t>P(T2)=1/3</a:t>
            </a:r>
          </a:p>
          <a:p>
            <a:pPr lvl="1"/>
            <a:r>
              <a:rPr lang="hu-HU" dirty="0"/>
              <a:t>P(T3)=1/6</a:t>
            </a:r>
          </a:p>
          <a:p>
            <a:endParaRPr lang="hu-HU" dirty="0"/>
          </a:p>
          <a:p>
            <a:r>
              <a:rPr lang="hu-HU" dirty="0"/>
              <a:t>M(S1)=0</a:t>
            </a:r>
          </a:p>
          <a:p>
            <a:r>
              <a:rPr lang="hu-HU" sz="2400" dirty="0"/>
              <a:t>M(S2)=1/2*-500+1/3*500+1/6*1500=166</a:t>
            </a:r>
          </a:p>
          <a:p>
            <a:r>
              <a:rPr lang="hu-HU" sz="2400" dirty="0"/>
              <a:t>M(S3)=1/2*-2000+1/3*0+1/6*2000=-667</a:t>
            </a:r>
          </a:p>
          <a:p>
            <a:pPr lvl="1"/>
            <a:endParaRPr lang="hu-HU" b="1" dirty="0"/>
          </a:p>
          <a:p>
            <a:pPr lvl="1"/>
            <a:endParaRPr lang="hu-HU" b="1" dirty="0"/>
          </a:p>
          <a:p>
            <a:pPr lvl="1"/>
            <a:endParaRPr lang="hu-HU" b="1" dirty="0"/>
          </a:p>
          <a:p>
            <a:pPr lvl="1"/>
            <a:endParaRPr lang="hu-HU" b="1" dirty="0"/>
          </a:p>
          <a:p>
            <a:r>
              <a:rPr lang="hu-HU" b="1" dirty="0"/>
              <a:t>Döntés:</a:t>
            </a:r>
            <a:r>
              <a:rPr lang="hu-HU" dirty="0"/>
              <a:t> S2 „A” technológia</a:t>
            </a:r>
          </a:p>
          <a:p>
            <a:pPr lvl="1"/>
            <a:r>
              <a:rPr lang="hu-HU" dirty="0"/>
              <a:t>Kockázat melletti döntés esetén a</a:t>
            </a:r>
            <a:r>
              <a:rPr lang="hu-HU" b="1" dirty="0"/>
              <a:t> döntési kritérium: </a:t>
            </a:r>
            <a:r>
              <a:rPr lang="hu-HU" dirty="0"/>
              <a:t>a maximális várható érték kritériuma (</a:t>
            </a:r>
            <a:r>
              <a:rPr lang="hu-HU" dirty="0" err="1"/>
              <a:t>Bayes</a:t>
            </a:r>
            <a:r>
              <a:rPr lang="hu-HU" dirty="0"/>
              <a:t> kritérium).</a:t>
            </a:r>
            <a:endParaRPr lang="hu-HU" b="1" dirty="0"/>
          </a:p>
          <a:p>
            <a:pPr>
              <a:buFont typeface="Wingdings" pitchFamily="2" charset="2"/>
              <a:buNone/>
            </a:pPr>
            <a:endParaRPr lang="hu-HU" sz="2400" b="1" dirty="0"/>
          </a:p>
          <a:p>
            <a:pPr>
              <a:lnSpc>
                <a:spcPct val="80000"/>
              </a:lnSpc>
            </a:pPr>
            <a:endParaRPr lang="hu-HU" b="1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Picture 4" descr="beolvasĂˇs0005">
            <a:extLst>
              <a:ext uri="{FF2B5EF4-FFF2-40B4-BE49-F238E27FC236}">
                <a16:creationId xmlns="" xmlns:a16="http://schemas.microsoft.com/office/drawing/2014/main" id="{63C0032F-244A-4B73-9B20-7B866760B8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23829" y="3628737"/>
            <a:ext cx="6036527" cy="3012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Kép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82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Döntési modellek három csoportja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64" y="1336430"/>
            <a:ext cx="12088836" cy="5521569"/>
          </a:xfrm>
        </p:spPr>
        <p:txBody>
          <a:bodyPr numCol="1">
            <a:normAutofit/>
          </a:bodyPr>
          <a:lstStyle/>
          <a:p>
            <a:r>
              <a:rPr lang="hu-HU" dirty="0"/>
              <a:t>Racionális/logikai döntési modell</a:t>
            </a:r>
          </a:p>
          <a:p>
            <a:endParaRPr lang="hu-HU" dirty="0"/>
          </a:p>
          <a:p>
            <a:r>
              <a:rPr lang="hu-HU" dirty="0"/>
              <a:t>Nem racionális/intuitív döntési modell</a:t>
            </a:r>
          </a:p>
          <a:p>
            <a:endParaRPr lang="hu-HU" dirty="0"/>
          </a:p>
          <a:p>
            <a:r>
              <a:rPr lang="hu-HU" dirty="0" err="1"/>
              <a:t>Prejudikatív</a:t>
            </a:r>
            <a:r>
              <a:rPr lang="hu-HU" dirty="0"/>
              <a:t> (előítéletes) döntési modell</a:t>
            </a:r>
          </a:p>
          <a:p>
            <a:endParaRPr lang="hu-HU" dirty="0"/>
          </a:p>
          <a:p>
            <a:r>
              <a:rPr lang="hu-HU" dirty="0"/>
              <a:t>A döntéshozatal résztvevői szerint,</a:t>
            </a:r>
          </a:p>
          <a:p>
            <a:pPr lvl="1"/>
            <a:r>
              <a:rPr lang="hu-HU" dirty="0"/>
              <a:t>Egyéni</a:t>
            </a:r>
          </a:p>
          <a:p>
            <a:pPr lvl="1"/>
            <a:r>
              <a:rPr lang="hu-HU" dirty="0"/>
              <a:t>Csoportos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389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döntéshozatal lépcsői I.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64" y="1846052"/>
            <a:ext cx="12088836" cy="5011947"/>
          </a:xfrm>
        </p:spPr>
        <p:txBody>
          <a:bodyPr numCol="1">
            <a:normAutofit/>
          </a:bodyPr>
          <a:lstStyle/>
          <a:p>
            <a:r>
              <a:rPr lang="hu-HU" sz="2400" dirty="0"/>
              <a:t>Probléma megfogalmazása és a döntés szükségességének megállapítása</a:t>
            </a:r>
          </a:p>
          <a:p>
            <a:r>
              <a:rPr lang="hu-HU" sz="2400" dirty="0"/>
              <a:t>Döntés kritikus tényezőinek azonosítása</a:t>
            </a:r>
          </a:p>
          <a:p>
            <a:r>
              <a:rPr lang="hu-HU" sz="2400" dirty="0"/>
              <a:t>Lehetséges alternatívák kidolgozása</a:t>
            </a:r>
          </a:p>
          <a:p>
            <a:r>
              <a:rPr lang="hu-HU" sz="2400" dirty="0"/>
              <a:t>Alternatívák elemzése</a:t>
            </a:r>
          </a:p>
          <a:p>
            <a:r>
              <a:rPr lang="hu-HU" sz="2400" dirty="0"/>
              <a:t>Alternatívák szelektálása, legjobbak kiválasztása</a:t>
            </a:r>
          </a:p>
          <a:p>
            <a:r>
              <a:rPr lang="hu-HU" sz="2400" dirty="0"/>
              <a:t>Döntéshozatal</a:t>
            </a:r>
          </a:p>
          <a:p>
            <a:r>
              <a:rPr lang="hu-HU" sz="2400" dirty="0"/>
              <a:t>Döntések verifikálása, utasítások megfogalmazása</a:t>
            </a:r>
          </a:p>
          <a:p>
            <a:r>
              <a:rPr lang="hu-HU" sz="2400" dirty="0"/>
              <a:t>Döntések végrehajtásának ellenőrzése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2780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döntéshozatal lépcsői II.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64" y="1897811"/>
            <a:ext cx="12088836" cy="4960188"/>
          </a:xfrm>
        </p:spPr>
        <p:txBody>
          <a:bodyPr numCol="1">
            <a:normAutofit/>
          </a:bodyPr>
          <a:lstStyle/>
          <a:p>
            <a:r>
              <a:rPr lang="hu-HU" dirty="0"/>
              <a:t>Probléma megfogalmazása</a:t>
            </a:r>
          </a:p>
          <a:p>
            <a:r>
              <a:rPr lang="hu-HU" dirty="0"/>
              <a:t>Döntés-előkészítés</a:t>
            </a:r>
          </a:p>
          <a:p>
            <a:r>
              <a:rPr lang="hu-HU" dirty="0"/>
              <a:t>A döntés megfogalmazása és verifikálása</a:t>
            </a:r>
          </a:p>
          <a:p>
            <a:r>
              <a:rPr lang="hu-HU" dirty="0"/>
              <a:t>Végrehajtás programozása, utasítások</a:t>
            </a:r>
          </a:p>
          <a:p>
            <a:r>
              <a:rPr lang="hu-HU" dirty="0"/>
              <a:t>Nyomon követés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8644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döntéshozatal lépcsői III.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64" y="1815152"/>
            <a:ext cx="12088836" cy="5042847"/>
          </a:xfrm>
        </p:spPr>
        <p:txBody>
          <a:bodyPr numCol="1">
            <a:normAutofit/>
          </a:bodyPr>
          <a:lstStyle/>
          <a:p>
            <a:pPr>
              <a:lnSpc>
                <a:spcPct val="80000"/>
              </a:lnSpc>
            </a:pPr>
            <a:r>
              <a:rPr lang="hu-HU" sz="2400" dirty="0"/>
              <a:t>Probléma felismerése, megfogalmazása (halszálka (</a:t>
            </a:r>
            <a:r>
              <a:rPr lang="hu-HU" sz="2400" dirty="0" err="1"/>
              <a:t>Ishikava</a:t>
            </a:r>
            <a:r>
              <a:rPr lang="hu-HU" sz="2400" dirty="0"/>
              <a:t>)-diagram, </a:t>
            </a:r>
            <a:r>
              <a:rPr lang="hu-HU" sz="2400" dirty="0" err="1"/>
              <a:t>Pareto</a:t>
            </a:r>
            <a:r>
              <a:rPr lang="hu-HU" sz="2400" dirty="0"/>
              <a:t>-diagram, erőtér elemzés, érintettek térképe)</a:t>
            </a:r>
          </a:p>
          <a:p>
            <a:pPr>
              <a:lnSpc>
                <a:spcPct val="80000"/>
              </a:lnSpc>
            </a:pPr>
            <a:r>
              <a:rPr lang="hu-HU" sz="2400" dirty="0"/>
              <a:t>Információgyűjtés (primer/szekunder, külső/belső, formális/informális, múltbeli/jövőbeli)</a:t>
            </a:r>
          </a:p>
          <a:p>
            <a:pPr>
              <a:lnSpc>
                <a:spcPct val="80000"/>
              </a:lnSpc>
            </a:pPr>
            <a:r>
              <a:rPr lang="hu-HU" sz="2400" dirty="0"/>
              <a:t>Alternatívák előállítása, alternatívák szűkítése</a:t>
            </a:r>
          </a:p>
          <a:p>
            <a:pPr>
              <a:lnSpc>
                <a:spcPct val="80000"/>
              </a:lnSpc>
            </a:pPr>
            <a:r>
              <a:rPr lang="hu-HU" sz="2400" dirty="0"/>
              <a:t>Választás (döntés)</a:t>
            </a:r>
          </a:p>
          <a:p>
            <a:pPr>
              <a:lnSpc>
                <a:spcPct val="80000"/>
              </a:lnSpc>
            </a:pPr>
            <a:r>
              <a:rPr lang="hu-HU" sz="2400" dirty="0"/>
              <a:t>Megvalósítás</a:t>
            </a:r>
          </a:p>
          <a:p>
            <a:pPr>
              <a:lnSpc>
                <a:spcPct val="80000"/>
              </a:lnSpc>
            </a:pPr>
            <a:r>
              <a:rPr lang="hu-HU" dirty="0"/>
              <a:t>Ellenőrzés</a:t>
            </a:r>
            <a:endParaRPr lang="hu-HU" sz="2400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6562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döntéshozatal lépcsői IV.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64" y="1854679"/>
            <a:ext cx="12088836" cy="5003320"/>
          </a:xfrm>
        </p:spPr>
        <p:txBody>
          <a:bodyPr numCol="1">
            <a:normAutofit/>
          </a:bodyPr>
          <a:lstStyle/>
          <a:p>
            <a:pPr>
              <a:lnSpc>
                <a:spcPct val="80000"/>
              </a:lnSpc>
            </a:pPr>
            <a:r>
              <a:rPr lang="hu-HU" sz="2400" b="1" dirty="0"/>
              <a:t>A probléma felismerésének szakasza</a:t>
            </a:r>
            <a:r>
              <a:rPr lang="hu-HU" sz="2400" dirty="0"/>
              <a:t>, megoldásra való kijelölése, célok kitűzése</a:t>
            </a:r>
          </a:p>
          <a:p>
            <a:pPr>
              <a:lnSpc>
                <a:spcPct val="80000"/>
              </a:lnSpc>
            </a:pPr>
            <a:r>
              <a:rPr lang="hu-HU" sz="2400" b="1" dirty="0"/>
              <a:t>Adatgyűjtés</a:t>
            </a:r>
            <a:r>
              <a:rPr lang="hu-HU" sz="2400" dirty="0"/>
              <a:t> – felvételezés, adatelemzés</a:t>
            </a:r>
          </a:p>
          <a:p>
            <a:pPr>
              <a:lnSpc>
                <a:spcPct val="80000"/>
              </a:lnSpc>
            </a:pPr>
            <a:r>
              <a:rPr lang="hu-HU" sz="2400" b="1" dirty="0"/>
              <a:t>A problémát előidéző okok feltárása</a:t>
            </a:r>
            <a:r>
              <a:rPr lang="hu-HU" sz="2400" dirty="0"/>
              <a:t> – ok-okozati elemzés</a:t>
            </a:r>
          </a:p>
          <a:p>
            <a:pPr>
              <a:lnSpc>
                <a:spcPct val="80000"/>
              </a:lnSpc>
            </a:pPr>
            <a:r>
              <a:rPr lang="hu-HU" sz="2400" b="1" dirty="0"/>
              <a:t>Megoldások tervezése</a:t>
            </a:r>
            <a:r>
              <a:rPr lang="hu-HU" sz="2400" dirty="0"/>
              <a:t>, az optimális megoldás kiválasztása</a:t>
            </a:r>
          </a:p>
          <a:p>
            <a:pPr>
              <a:lnSpc>
                <a:spcPct val="80000"/>
              </a:lnSpc>
            </a:pPr>
            <a:r>
              <a:rPr lang="hu-HU" sz="2400" b="1" dirty="0"/>
              <a:t>Megoldások megvalósítása</a:t>
            </a:r>
          </a:p>
          <a:p>
            <a:pPr>
              <a:lnSpc>
                <a:spcPct val="80000"/>
              </a:lnSpc>
            </a:pPr>
            <a:r>
              <a:rPr lang="hu-HU" sz="2400" b="1" dirty="0"/>
              <a:t>A problémával kapcsolatos megoldás ellenőrzése</a:t>
            </a:r>
            <a:r>
              <a:rPr lang="hu-HU" sz="2400" dirty="0"/>
              <a:t> – a várt eredmény értékelése, az eredeti problémával kapcsolatos-e az eredmény</a:t>
            </a:r>
          </a:p>
          <a:p>
            <a:pPr>
              <a:lnSpc>
                <a:spcPct val="80000"/>
              </a:lnSpc>
            </a:pPr>
            <a:r>
              <a:rPr lang="hu-HU" sz="2400" b="1" dirty="0"/>
              <a:t>Hosszú távú eredményesség szempontjából döntés a bevezetésről</a:t>
            </a:r>
            <a:r>
              <a:rPr lang="hu-HU" sz="2400" dirty="0"/>
              <a:t> – rendszerszerű működés 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211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=""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Követelmények az utasításokkal szemben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=""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64" y="1336430"/>
            <a:ext cx="12088836" cy="5521569"/>
          </a:xfrm>
        </p:spPr>
        <p:txBody>
          <a:bodyPr numCol="1">
            <a:normAutofit/>
          </a:bodyPr>
          <a:lstStyle/>
          <a:p>
            <a:pPr eaLnBrk="1" hangingPunct="1"/>
            <a:r>
              <a:rPr lang="hu-HU" dirty="0"/>
              <a:t>Pontosan kell rögzíteni a döntést!</a:t>
            </a:r>
            <a:br>
              <a:rPr lang="hu-HU" dirty="0"/>
            </a:br>
            <a:endParaRPr lang="hu-HU" dirty="0"/>
          </a:p>
          <a:p>
            <a:pPr eaLnBrk="1" hangingPunct="1"/>
            <a:r>
              <a:rPr lang="hu-HU" dirty="0"/>
              <a:t>Nyelvezete feleljen meg az érintettek szakmai felkészültségének!</a:t>
            </a:r>
            <a:br>
              <a:rPr lang="hu-HU" dirty="0"/>
            </a:br>
            <a:endParaRPr lang="hu-HU" dirty="0"/>
          </a:p>
          <a:p>
            <a:pPr eaLnBrk="1" hangingPunct="1"/>
            <a:r>
              <a:rPr lang="hu-HU" dirty="0"/>
              <a:t>Tartalma ne legyen ellentétes a szervezeti célokkal!</a:t>
            </a:r>
            <a:br>
              <a:rPr lang="hu-HU" dirty="0"/>
            </a:br>
            <a:endParaRPr lang="hu-HU" dirty="0"/>
          </a:p>
          <a:p>
            <a:pPr eaLnBrk="1" hangingPunct="1"/>
            <a:r>
              <a:rPr lang="hu-HU" dirty="0"/>
              <a:t>Logikai szerkezete legyen megfelelő!</a:t>
            </a:r>
          </a:p>
          <a:p>
            <a:pPr eaLnBrk="1" hangingPunct="1"/>
            <a:endParaRPr lang="hu-HU" dirty="0"/>
          </a:p>
          <a:p>
            <a:pPr eaLnBrk="1" hangingPunct="1"/>
            <a:r>
              <a:rPr lang="hu-HU" dirty="0"/>
              <a:t>Tényeken alapuló döntés hozás</a:t>
            </a:r>
          </a:p>
          <a:p>
            <a:pPr eaLnBrk="1" hangingPunct="1"/>
            <a:r>
              <a:rPr lang="hu-HU" dirty="0"/>
              <a:t>A döntések kerüljenek </a:t>
            </a:r>
            <a:r>
              <a:rPr lang="hu-HU" dirty="0" smtClean="0"/>
              <a:t>kommunikálásra</a:t>
            </a:r>
          </a:p>
          <a:p>
            <a:pPr eaLnBrk="1" hangingPunct="1"/>
            <a:r>
              <a:rPr lang="hu-HU" dirty="0" smtClean="0"/>
              <a:t>A </a:t>
            </a:r>
            <a:r>
              <a:rPr lang="hu-HU" dirty="0"/>
              <a:t>szervezet érintettjei legyenek tisztában a változásokkal és az ahhoz szükséges információkkal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=""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=""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Döntési modellek</a:t>
            </a:r>
          </a:p>
        </p:txBody>
      </p:sp>
      <p:sp>
        <p:nvSpPr>
          <p:cNvPr id="6" name="AutoShape 4" descr="Decision tree analysis for the risk averse organization">
            <a:extLst>
              <a:ext uri="{FF2B5EF4-FFF2-40B4-BE49-F238E27FC236}">
                <a16:creationId xmlns="" xmlns:a16="http://schemas.microsoft.com/office/drawing/2014/main" id="{61A25AD4-DF7C-46A3-84E1-3DB01BA96C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679895" cy="267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129" y="156410"/>
            <a:ext cx="776307" cy="58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0039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363845" y="3055305"/>
            <a:ext cx="5033727" cy="2044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4000" dirty="0" smtClean="0">
                <a:solidFill>
                  <a:srgbClr val="00B0F0"/>
                </a:solidFill>
              </a:rPr>
              <a:t>Köszönöm a figyelmet!</a:t>
            </a:r>
            <a:endParaRPr lang="hu-HU" sz="4000" dirty="0">
              <a:solidFill>
                <a:srgbClr val="00B0F0"/>
              </a:solidFill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hu-HU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56411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51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955</TotalTime>
  <Words>1521</Words>
  <Application>Microsoft Office PowerPoint</Application>
  <PresentationFormat>Szélesvásznú</PresentationFormat>
  <Paragraphs>382</Paragraphs>
  <Slides>33</Slides>
  <Notes>16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Wingdings</vt:lpstr>
      <vt:lpstr>Office-téma</vt:lpstr>
      <vt:lpstr>Döntési modellek</vt:lpstr>
      <vt:lpstr>Tartalomjegyzék</vt:lpstr>
      <vt:lpstr>Fontossága</vt:lpstr>
      <vt:lpstr>Döntés</vt:lpstr>
      <vt:lpstr>Döntés modell elemei</vt:lpstr>
      <vt:lpstr>A megalapozott döntés feltételei</vt:lpstr>
      <vt:lpstr>A döntés</vt:lpstr>
      <vt:lpstr>A döntési mátrix</vt:lpstr>
      <vt:lpstr>A döntési fagráf elemzés</vt:lpstr>
      <vt:lpstr>Döntési fa-gráf</vt:lpstr>
      <vt:lpstr>A döntési fagráf elemzés</vt:lpstr>
      <vt:lpstr>A döntést befolyásoló tényezők</vt:lpstr>
      <vt:lpstr>Döntési osztályok</vt:lpstr>
      <vt:lpstr>Biztos körülmények</vt:lpstr>
      <vt:lpstr>Döntési kritériumok</vt:lpstr>
      <vt:lpstr>Döntési feladat 1. - adatok</vt:lpstr>
      <vt:lpstr>Döntési feladat – cél meghatározás</vt:lpstr>
      <vt:lpstr>Döntési feladat – külső adottságok (kereslet)</vt:lpstr>
      <vt:lpstr>Döntési feladat – biztos környezet</vt:lpstr>
      <vt:lpstr>Bizonytalan körülmények – WALD kritérium</vt:lpstr>
      <vt:lpstr>Bizonytalan körülmények - HURWITZ kritérium</vt:lpstr>
      <vt:lpstr>Bizonytalan körülmények - LAPLACE kritérium</vt:lpstr>
      <vt:lpstr>Bizonytalan körülmények - SAVAGE-NIEHANS kritérium</vt:lpstr>
      <vt:lpstr>Kockázatos döntés – BAYES kritérium</vt:lpstr>
      <vt:lpstr>Kockázatos döntés</vt:lpstr>
      <vt:lpstr>Kockázatos döntés</vt:lpstr>
      <vt:lpstr>Döntési modellek három csoportja</vt:lpstr>
      <vt:lpstr>A döntéshozatal lépcsői I.</vt:lpstr>
      <vt:lpstr>A döntéshozatal lépcsői II.</vt:lpstr>
      <vt:lpstr>A döntéshozatal lépcsői III.</vt:lpstr>
      <vt:lpstr>A döntéshozatal lépcsői IV.</vt:lpstr>
      <vt:lpstr>Követelmények az utasításokkal szemben</vt:lpstr>
      <vt:lpstr>PowerPoint bemutató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döntési modellek</dc:title>
  <dc:creator>MMI</dc:creator>
  <cp:lastModifiedBy>Gombaszögi Ildikó</cp:lastModifiedBy>
  <cp:revision>80</cp:revision>
  <dcterms:created xsi:type="dcterms:W3CDTF">2021-01-18T18:03:07Z</dcterms:created>
  <dcterms:modified xsi:type="dcterms:W3CDTF">2023-08-29T15:18:28Z</dcterms:modified>
</cp:coreProperties>
</file>