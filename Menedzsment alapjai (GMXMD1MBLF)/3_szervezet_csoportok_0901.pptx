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11" r:id="rId4"/>
    <p:sldId id="319" r:id="rId5"/>
    <p:sldId id="320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258" r:id="rId26"/>
    <p:sldId id="283" r:id="rId27"/>
    <p:sldId id="309" r:id="rId28"/>
    <p:sldId id="259" r:id="rId29"/>
    <p:sldId id="260" r:id="rId30"/>
    <p:sldId id="274" r:id="rId31"/>
    <p:sldId id="262" r:id="rId32"/>
    <p:sldId id="261" r:id="rId33"/>
    <p:sldId id="263" r:id="rId34"/>
    <p:sldId id="264" r:id="rId35"/>
    <p:sldId id="275" r:id="rId36"/>
    <p:sldId id="269" r:id="rId37"/>
    <p:sldId id="265" r:id="rId38"/>
    <p:sldId id="266" r:id="rId39"/>
    <p:sldId id="267" r:id="rId40"/>
    <p:sldId id="268" r:id="rId41"/>
    <p:sldId id="270" r:id="rId42"/>
    <p:sldId id="271" r:id="rId43"/>
    <p:sldId id="272" r:id="rId44"/>
    <p:sldId id="281" r:id="rId45"/>
    <p:sldId id="273" r:id="rId46"/>
    <p:sldId id="276" r:id="rId47"/>
    <p:sldId id="277" r:id="rId48"/>
    <p:sldId id="278" r:id="rId49"/>
    <p:sldId id="279" r:id="rId50"/>
    <p:sldId id="280" r:id="rId51"/>
    <p:sldId id="307" r:id="rId52"/>
    <p:sldId id="308" r:id="rId53"/>
    <p:sldId id="310" r:id="rId5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1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9968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7711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="" xmlns:a16="http://schemas.microsoft.com/office/drawing/2014/main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="" xmlns:a16="http://schemas.microsoft.com/office/drawing/2014/main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="" xmlns:a16="http://schemas.microsoft.com/office/drawing/2014/main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771105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771105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771105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771105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771105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="" xmlns:a16="http://schemas.microsoft.com/office/drawing/2014/main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="" xmlns:a16="http://schemas.microsoft.com/office/drawing/2014/main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="" xmlns:a16="http://schemas.microsoft.com/office/drawing/2014/main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="" xmlns:a16="http://schemas.microsoft.com/office/drawing/2014/main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="" xmlns:a16="http://schemas.microsoft.com/office/drawing/2014/main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="" xmlns:a16="http://schemas.microsoft.com/office/drawing/2014/main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="" xmlns:a16="http://schemas.microsoft.com/office/drawing/2014/main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="" xmlns:a16="http://schemas.microsoft.com/office/drawing/2014/main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="" xmlns:a16="http://schemas.microsoft.com/office/drawing/2014/main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="" xmlns:a16="http://schemas.microsoft.com/office/drawing/2014/main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="" xmlns:a16="http://schemas.microsoft.com/office/drawing/2014/main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="" xmlns:a16="http://schemas.microsoft.com/office/drawing/2014/main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="" xmlns:a16="http://schemas.microsoft.com/office/drawing/2014/main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="" xmlns:a16="http://schemas.microsoft.com/office/drawing/2014/main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o.getglue.com/topics/p/meredith_belb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google.hu/url?sa=i&amp;rct=j&amp;q=&amp;esrc=s&amp;source=images&amp;cd=&amp;docid=7J0evO3GJNE6NM&amp;tbnid=lnYxhNKDLQRZdM:&amp;ved=0CAUQjRw&amp;url=http://www.tankonyvtar.hu/en/tartalom/tkt/controlling-gyakorlatban/ch01s05.html&amp;ei=pwFTUteTDszbsga9qIGwBA&amp;bvm=bv.53537100,d.Yms&amp;psig=AFQjCNE-T-1GXuq5qf5pZD3oqcZmTXpiJA&amp;ust=138125800144337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lfpack Wallpapers - Wallpaper Cave">
            <a:extLst>
              <a:ext uri="{FF2B5EF4-FFF2-40B4-BE49-F238E27FC236}">
                <a16:creationId xmlns="" xmlns:a16="http://schemas.microsoft.com/office/drawing/2014/main" id="{394C66E8-E960-4DEE-82EA-2CE87029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566" y="0"/>
            <a:ext cx="12380551" cy="791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 smtClean="0">
                <a:latin typeface="+mn-lt"/>
              </a:rPr>
              <a:t>A csoport és a szervezetek</a:t>
            </a:r>
            <a:endParaRPr lang="hu-HU" b="1" dirty="0">
              <a:latin typeface="+mn-lt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="" xmlns:a16="http://schemas.microsoft.com/office/drawing/2014/main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7711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="" xmlns:a16="http://schemas.microsoft.com/office/drawing/2014/main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>
                <a:solidFill>
                  <a:schemeClr val="bg1"/>
                </a:solidFill>
              </a:rPr>
              <a:t>3.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="" xmlns:a16="http://schemas.microsoft.com/office/drawing/2014/main" id="{C079E8BA-35B4-4766-BAC1-7056B5E87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csoportok fogalma, célja, funkciói</a:t>
            </a:r>
          </a:p>
          <a:p>
            <a:r>
              <a:rPr lang="hu-HU" dirty="0"/>
              <a:t>A csoportok fajáti</a:t>
            </a:r>
          </a:p>
          <a:p>
            <a:r>
              <a:rPr lang="hu-HU" dirty="0"/>
              <a:t>A csoportok jellemzői</a:t>
            </a:r>
          </a:p>
          <a:p>
            <a:r>
              <a:rPr lang="hu-HU" dirty="0"/>
              <a:t>A csoportfolyamat</a:t>
            </a:r>
          </a:p>
          <a:p>
            <a:r>
              <a:rPr lang="hu-HU" dirty="0"/>
              <a:t>A jó és rossz csoportok jellemzői</a:t>
            </a:r>
          </a:p>
          <a:p>
            <a:r>
              <a:rPr lang="hu-HU" dirty="0"/>
              <a:t>A csoporttagok jellemzői, szerepkörök</a:t>
            </a:r>
          </a:p>
          <a:p>
            <a:r>
              <a:rPr lang="hu-HU" dirty="0"/>
              <a:t>A szervezetek fogalma, célja, funkciói</a:t>
            </a:r>
          </a:p>
          <a:p>
            <a:r>
              <a:rPr lang="hu-HU" dirty="0"/>
              <a:t>A szervezeti struktúra</a:t>
            </a:r>
          </a:p>
          <a:p>
            <a:pPr lvl="1"/>
            <a:r>
              <a:rPr lang="hu-HU" dirty="0"/>
              <a:t>Munkakör megosztás</a:t>
            </a:r>
          </a:p>
          <a:p>
            <a:pPr lvl="1"/>
            <a:r>
              <a:rPr lang="hu-HU" dirty="0"/>
              <a:t>Hatáskör megosztás</a:t>
            </a:r>
          </a:p>
          <a:p>
            <a:pPr lvl="1"/>
            <a:r>
              <a:rPr lang="hu-HU" dirty="0"/>
              <a:t>Koordináció</a:t>
            </a:r>
          </a:p>
          <a:p>
            <a:pPr lvl="1"/>
            <a:r>
              <a:rPr lang="hu-HU" dirty="0"/>
              <a:t>Konfiguráció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 és 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292EDD9F-1A4F-4486-A51D-D0D8E4AC5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Összetartozó személyekből kialakult együttes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Tagjai között szimbolikus vagy gyakorlati értelemben vett kölcsönös függőség alakult ki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A csoport tagjainak bizonyos szükségletei individuálisan (egyedül) nem elégíthetők ki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Tagok a mindenki által elfogadott csoportnormákat szem előtt tartva egy </a:t>
            </a:r>
            <a:r>
              <a:rPr lang="hu-HU" b="1" dirty="0">
                <a:cs typeface="Times New Roman" pitchFamily="18" charset="0"/>
              </a:rPr>
              <a:t>közös cél</a:t>
            </a:r>
            <a:br>
              <a:rPr lang="hu-HU" b="1" dirty="0">
                <a:cs typeface="Times New Roman" pitchFamily="18" charset="0"/>
              </a:rPr>
            </a:br>
            <a:r>
              <a:rPr lang="hu-HU" dirty="0">
                <a:cs typeface="Times New Roman" pitchFamily="18" charset="0"/>
              </a:rPr>
              <a:t> érdekében tevékenykednek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Egymás viselkedését kölcsönösen szabályozzák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Legkisebb csoport a pár</a:t>
            </a:r>
          </a:p>
          <a:p>
            <a:endParaRPr lang="hu-H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81C6DFCE-1AEC-4D59-B316-7B56902A1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9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 fejlődésének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A csoportdinamikát alkotó törvényszerű, szerteágazó folyamatok </a:t>
            </a:r>
          </a:p>
          <a:p>
            <a:r>
              <a:rPr lang="hu-HU" b="1" dirty="0">
                <a:cs typeface="Times New Roman" pitchFamily="18" charset="0"/>
              </a:rPr>
              <a:t>Szakaszai</a:t>
            </a:r>
          </a:p>
          <a:p>
            <a:pPr lvl="1"/>
            <a:r>
              <a:rPr lang="hu-HU" dirty="0">
                <a:cs typeface="Times New Roman" pitchFamily="18" charset="0"/>
              </a:rPr>
              <a:t>megalakulás, </a:t>
            </a:r>
          </a:p>
          <a:p>
            <a:pPr lvl="1"/>
            <a:r>
              <a:rPr lang="hu-HU" dirty="0">
                <a:cs typeface="Times New Roman" pitchFamily="18" charset="0"/>
              </a:rPr>
              <a:t>viharzás, </a:t>
            </a:r>
          </a:p>
          <a:p>
            <a:pPr lvl="1"/>
            <a:r>
              <a:rPr lang="hu-HU" dirty="0">
                <a:cs typeface="Times New Roman" pitchFamily="18" charset="0"/>
              </a:rPr>
              <a:t>normaképzés,</a:t>
            </a:r>
            <a:endParaRPr lang="hu-HU" b="1" dirty="0">
              <a:cs typeface="Times New Roman" pitchFamily="18" charset="0"/>
            </a:endParaRPr>
          </a:p>
          <a:p>
            <a:pPr lvl="1"/>
            <a:r>
              <a:rPr lang="hu-HU" dirty="0">
                <a:cs typeface="Times New Roman" pitchFamily="18" charset="0"/>
              </a:rPr>
              <a:t>teljesítés,</a:t>
            </a:r>
          </a:p>
          <a:p>
            <a:pPr lvl="1"/>
            <a:r>
              <a:rPr lang="hu-HU" dirty="0">
                <a:cs typeface="Times New Roman" pitchFamily="18" charset="0"/>
              </a:rPr>
              <a:t>szétválás</a:t>
            </a:r>
          </a:p>
          <a:p>
            <a:r>
              <a:rPr lang="hu-HU" dirty="0">
                <a:cs typeface="Times New Roman" pitchFamily="18" charset="0"/>
              </a:rPr>
              <a:t>Csoporthatékonyság az összeolvadási fázisban a legmagasabb, ekkor a legnagyobb az egyetértés és a figyelem teljesen a projektre irányulhat</a:t>
            </a:r>
          </a:p>
          <a:p>
            <a:r>
              <a:rPr lang="hu-HU" dirty="0">
                <a:cs typeface="Times New Roman" pitchFamily="18" charset="0"/>
              </a:rPr>
              <a:t>Csoport irányítása szempontjából fontos tisztában lenni azzal is, hogy a csoportfejlődés </a:t>
            </a:r>
            <a:r>
              <a:rPr lang="hu-HU" b="1" dirty="0">
                <a:cs typeface="Times New Roman" pitchFamily="18" charset="0"/>
              </a:rPr>
              <a:t>első három állomása </a:t>
            </a:r>
            <a:r>
              <a:rPr lang="hu-HU" dirty="0">
                <a:cs typeface="Times New Roman" pitchFamily="18" charset="0"/>
              </a:rPr>
              <a:t>során – a kialakulástól a normaképzésig tartó szakaszokban – </a:t>
            </a:r>
            <a:r>
              <a:rPr lang="hu-HU" b="1" dirty="0">
                <a:cs typeface="Times New Roman" pitchFamily="18" charset="0"/>
              </a:rPr>
              <a:t>a társas kapcsolatokra irányuló szerepek dominálnak,</a:t>
            </a:r>
            <a:r>
              <a:rPr lang="hu-HU" dirty="0">
                <a:cs typeface="Times New Roman" pitchFamily="18" charset="0"/>
              </a:rPr>
              <a:t> és csak a teljesítés szakaszában kapnak hangsúlyt a feladatorientált szerepek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14F82CD-2014-4729-B7FD-F54243C7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4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 fejlődésének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59528" cy="5392373"/>
          </a:xfrm>
        </p:spPr>
        <p:txBody>
          <a:bodyPr>
            <a:noAutofit/>
          </a:bodyPr>
          <a:lstStyle/>
          <a:p>
            <a:r>
              <a:rPr lang="hu-HU" sz="2200" dirty="0"/>
              <a:t>A </a:t>
            </a:r>
            <a:r>
              <a:rPr lang="hu-HU" sz="2200" b="1" dirty="0"/>
              <a:t>megalakulás</a:t>
            </a:r>
            <a:r>
              <a:rPr lang="hu-HU" sz="2200" dirty="0"/>
              <a:t> szakaszát a tájékozódás, a tapogatódzás jellemzi. A csoporttagok lelkesek ugyan, de bizonytalanok a csoportban elfoglalt helyükkel kapcsolatban. Ebben a szakaszban „kóstolgatják” egymást, hiszen még nem tisztázott a csoport célja, belső struktúrája, nincsenek elosztva a csoportszerepek</a:t>
            </a:r>
          </a:p>
          <a:p>
            <a:r>
              <a:rPr lang="hu-HU" sz="2200" dirty="0"/>
              <a:t>A fejlődés következő szakaszát (</a:t>
            </a:r>
            <a:r>
              <a:rPr lang="hu-HU" sz="2200" b="1" dirty="0"/>
              <a:t>viharzás</a:t>
            </a:r>
            <a:r>
              <a:rPr lang="hu-HU" sz="2200" dirty="0"/>
              <a:t>) konfliktusok sora kíséri. A csoporttagok ellenállnak a mások által rájuk kényszerített korlátozásoknak, feladatvállalásoknak. A viták során történik meg a csoport feladatának, céljának meghatározása, és ekkor alakul ki a csoport szerkezete, belső hierarchiája is</a:t>
            </a:r>
          </a:p>
          <a:p>
            <a:r>
              <a:rPr lang="hu-HU" sz="2200" dirty="0"/>
              <a:t>A </a:t>
            </a:r>
            <a:r>
              <a:rPr lang="hu-HU" sz="2200" b="1" dirty="0"/>
              <a:t>normaképzés</a:t>
            </a:r>
            <a:r>
              <a:rPr lang="hu-HU" sz="2200" dirty="0"/>
              <a:t> szakaszában válnak szorossá a személyközi kapcsolatok. Az ellentétek és a barátságtalan érzelmek fokozatosan elsimulnak. Egyre fokozódik a csoporttagok közötti összhang, egymás megbecsülése és tisztelete. A csoport kialakítja saját nyelvét. A szakasz végére minden csoporttag pontosan érzékeli, hogy mi a tőle elvárt magatartás és teljesítmény</a:t>
            </a:r>
          </a:p>
          <a:p>
            <a:r>
              <a:rPr lang="hu-HU" sz="2200" dirty="0"/>
              <a:t>A negyedik szakaszában fogja a csoport minden figyelmét a </a:t>
            </a:r>
            <a:r>
              <a:rPr lang="hu-HU" sz="2200" b="1" dirty="0"/>
              <a:t>feladat megoldására </a:t>
            </a:r>
            <a:r>
              <a:rPr lang="hu-HU" sz="2200" dirty="0"/>
              <a:t>összpontosítani. Erre a fázisra az jellemző, hogy a csoporttagok lelkesen, önállóan vesznek részt a feladatok megoldásában</a:t>
            </a:r>
          </a:p>
          <a:p>
            <a:r>
              <a:rPr lang="hu-HU" sz="2200" dirty="0"/>
              <a:t>Az utolsó állomás a </a:t>
            </a:r>
            <a:r>
              <a:rPr lang="hu-HU" sz="2200" b="1" dirty="0"/>
              <a:t>szétválás</a:t>
            </a:r>
            <a:r>
              <a:rPr lang="hu-HU" sz="2200" dirty="0"/>
              <a:t>, amely a tevékenység eredményeinek összegzésével és értékelésével, a csoportban kialakult kapcsolatoknak más munkacsoportokra való átörökítésével telik  határozott időre létrejött csoportnál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1C8480BC-FC57-46AF-A3D6-DE0779A19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5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csoportok fajtái a szociológiában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hu-HU" sz="2200" b="1" dirty="0">
                <a:cs typeface="Times New Roman" pitchFamily="18" charset="0"/>
              </a:rPr>
              <a:t>Informális (elsődleges) csoport 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nem formális szabályok által definiált, hanem személyes kapcsolatok, szimpátiák, közös érdekek és azok képviselete tartja össze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spontán jön létre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kis taglétszámmal rendelkezik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minden csoporttag számára adott a szemtől szembeni kapcsolat lehetősége mindenki mással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a kialakulásában különösen nagy szerepük van az érzelmi tényezőknek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hu-HU" sz="2200" b="1" dirty="0">
                <a:cs typeface="Times New Roman" pitchFamily="18" charset="0"/>
              </a:rPr>
              <a:t>Formális (másodlagos) csoport 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a szervezeti szabályok által definiált 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létesülése többnyire a csoporton kívüli tényezőktől, külső akarat elhatározástól függ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ilyenek például a különféle szervezetek, intézmények, vagy az intézmény egy-egy osztálya</a:t>
            </a:r>
          </a:p>
          <a:p>
            <a:pPr lvl="1">
              <a:spcBef>
                <a:spcPts val="300"/>
              </a:spcBef>
            </a:pPr>
            <a:r>
              <a:rPr lang="hu-HU" sz="2200" dirty="0">
                <a:cs typeface="Times New Roman" pitchFamily="18" charset="0"/>
              </a:rPr>
              <a:t>a formalizált vagy intézményesült struktúrával rendelkező másodlagos csoportokban is kialakulnak a nem formalizált kapcsolatok (elsődleges, informális csoportok)</a:t>
            </a:r>
          </a:p>
          <a:p>
            <a:pPr lvl="1">
              <a:spcBef>
                <a:spcPts val="300"/>
              </a:spcBef>
            </a:pPr>
            <a:r>
              <a:rPr lang="hu-HU" sz="1800" dirty="0"/>
              <a:t>az emberek meghatározott céllal létrejött csoportja, amelyben az egyének a cél érdekében folyamatosan tevékenykednek arra szakosodott vezetők irányításával</a:t>
            </a:r>
          </a:p>
          <a:p>
            <a:pPr lvl="1">
              <a:spcBef>
                <a:spcPts val="300"/>
              </a:spcBef>
            </a:pPr>
            <a:r>
              <a:rPr lang="hu-HU" altLang="hu-HU" sz="1800" dirty="0">
                <a:solidFill>
                  <a:srgbClr val="000000"/>
                </a:solidFill>
              </a:rPr>
              <a:t>részlegekből, munkakörökből, feladat- és hatáskörökből, kapcsolatokból és folyamatokból áll</a:t>
            </a:r>
            <a:endParaRPr lang="hu-HU" sz="1800" dirty="0"/>
          </a:p>
          <a:p>
            <a:pPr lvl="1"/>
            <a:endParaRPr lang="hu-HU" dirty="0">
              <a:cs typeface="Times New Roman" pitchFamily="18" charset="0"/>
            </a:endParaRPr>
          </a:p>
          <a:p>
            <a:endParaRPr lang="hu-H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47FD8CB6-3443-4031-BADD-27810F35F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8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csoportkohézió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937982"/>
            <a:ext cx="11919859" cy="4806851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Csoporttagok közti összetartó erő </a:t>
            </a:r>
          </a:p>
          <a:p>
            <a:r>
              <a:rPr lang="hu-HU" dirty="0">
                <a:cs typeface="Times New Roman" pitchFamily="18" charset="0"/>
              </a:rPr>
              <a:t>Nő, ha a tagok egymással szoros vagy élénk kapcsolatot tartanak</a:t>
            </a:r>
          </a:p>
          <a:p>
            <a:r>
              <a:rPr lang="hu-HU" dirty="0">
                <a:cs typeface="Times New Roman" pitchFamily="18" charset="0"/>
              </a:rPr>
              <a:t>Hatására csökkennek a más csoportokkal vagy az un. külvilággal ápolt kapcsolatok</a:t>
            </a:r>
          </a:p>
          <a:p>
            <a:r>
              <a:rPr lang="hu-HU" dirty="0">
                <a:cs typeface="Times New Roman" pitchFamily="18" charset="0"/>
              </a:rPr>
              <a:t>Az egyénben </a:t>
            </a:r>
            <a:r>
              <a:rPr lang="hu-HU" b="1" dirty="0">
                <a:cs typeface="Times New Roman" pitchFamily="18" charset="0"/>
              </a:rPr>
              <a:t>csoport-hovatartozási érzés alakul ki</a:t>
            </a:r>
            <a:r>
              <a:rPr lang="hu-HU" dirty="0">
                <a:cs typeface="Times New Roman" pitchFamily="18" charset="0"/>
              </a:rPr>
              <a:t>, és más személyt, személyeket, és velük kapcsolatosan minden egyebet a csoport (érdekeinek, normáinak stb.) függvényében észlel, gondol vagy cselekszik, ameddig a csoport ezt a viselkedést honorálja</a:t>
            </a:r>
          </a:p>
          <a:p>
            <a:r>
              <a:rPr lang="hu-HU" dirty="0">
                <a:cs typeface="Times New Roman" pitchFamily="18" charset="0"/>
              </a:rPr>
              <a:t>Függ az egyének közötti szimpátia mértékétől, a bekerülés nehézségétől, valamint attól, milyen mértékben segíti a csoport az egyént saját céljai elérésében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DD7B1C8B-B2B9-465E-AEA9-F9C35A58B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4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csoportlégkör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8"/>
            <a:ext cx="11919859" cy="5143275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A csoportban érték- és normarendszer uralkodik, ezek megtartását a csoport támogatja </a:t>
            </a:r>
          </a:p>
          <a:p>
            <a:r>
              <a:rPr lang="hu-HU" dirty="0">
                <a:cs typeface="Times New Roman" pitchFamily="18" charset="0"/>
              </a:rPr>
              <a:t>Az attitűdök, a közös tevékenység értelme vagy sikertelensége, ill. ami a csoportban történik vagy arra hat, a csoportot sajátos motivációs állapotba hozza (pl. feszült, oldott, pesszimista, optimista, önző, szerető, szorongásos, felszabadult, nyomott, vidám, anyagias, áhítatos, nyugodt, túlfűtött stb.) </a:t>
            </a:r>
          </a:p>
          <a:p>
            <a:r>
              <a:rPr lang="hu-HU" dirty="0">
                <a:cs typeface="Times New Roman" pitchFamily="18" charset="0"/>
              </a:rPr>
              <a:t>Kialakulásában nagy szerepe van a vezetői vagy vezetési stílusnak. </a:t>
            </a:r>
          </a:p>
          <a:p>
            <a:r>
              <a:rPr lang="hu-HU" dirty="0">
                <a:cs typeface="Times New Roman" pitchFamily="18" charset="0"/>
              </a:rPr>
              <a:t>Meghatározza a tagok pszichés közérzetét, (aki abban „fürdik vagy fuldoklik”), munkáját, teljesítményét fokozza, viselkedését szabályozza</a:t>
            </a: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6E77E6B1-6F9E-4E00-9B74-A9704DAAF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0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csoportnormák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8"/>
            <a:ext cx="11919859" cy="5143275"/>
          </a:xfrm>
        </p:spPr>
        <p:txBody>
          <a:bodyPr>
            <a:noAutofit/>
          </a:bodyPr>
          <a:lstStyle/>
          <a:p>
            <a:pPr marL="65087" indent="0">
              <a:buNone/>
              <a:defRPr/>
            </a:pPr>
            <a:r>
              <a:rPr lang="hu-HU" dirty="0">
                <a:cs typeface="Times New Roman" pitchFamily="18" charset="0"/>
              </a:rPr>
              <a:t>A tagok elvárásai, megállapodásai a csoporton belüli viselkedési formákra</a:t>
            </a:r>
            <a:endParaRPr lang="hu-HU" i="1" dirty="0">
              <a:cs typeface="Times New Roman" pitchFamily="18" charset="0"/>
            </a:endParaRPr>
          </a:p>
          <a:p>
            <a:pPr marL="407987" indent="-342900">
              <a:defRPr/>
            </a:pPr>
            <a:endParaRPr lang="hu-HU" b="1" dirty="0">
              <a:cs typeface="Times New Roman" pitchFamily="18" charset="0"/>
            </a:endParaRPr>
          </a:p>
          <a:p>
            <a:pPr marL="65087" indent="0">
              <a:buNone/>
              <a:defRPr/>
            </a:pPr>
            <a:r>
              <a:rPr lang="hu-HU" b="1" dirty="0">
                <a:cs typeface="Times New Roman" pitchFamily="18" charset="0"/>
              </a:rPr>
              <a:t>Központi jelentőségű csoportnormák a szervezetben,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munkával kapcsolatos normák,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méltányossági normák,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a lojalitás és a megbízhatóság,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viszonossági (reciprocitási) normák,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munkahelyi magatartás,</a:t>
            </a:r>
          </a:p>
          <a:p>
            <a:pPr marL="966788" lvl="1" indent="-342900">
              <a:defRPr/>
            </a:pPr>
            <a:r>
              <a:rPr lang="hu-HU" dirty="0">
                <a:cs typeface="Times New Roman" pitchFamily="18" charset="0"/>
              </a:rPr>
              <a:t>normatív szokások (hangnem, stílus, közösségi szokások, külsőségek)</a:t>
            </a: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AEB2C98-F5B0-4164-9543-51161A50C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6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csoportnyomás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8"/>
            <a:ext cx="11919859" cy="5143275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A csoport strukturálódása, a tagok helyzetének kialakítása a felszínen, a csoport érték- és normarendszere alapján történik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Tagok személyes észlelését és vélekedését az együttes csoport állásfoglalás révén befolyásolja, elnyomja vagy kibontakoztatja, esetleg eltorzítja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b="1" dirty="0">
                <a:cs typeface="Times New Roman" pitchFamily="18" charset="0"/>
              </a:rPr>
              <a:t>Alkalmazkodás a csoportszellem kialakítása jegyében</a:t>
            </a:r>
            <a:br>
              <a:rPr lang="hu-HU" b="1" dirty="0">
                <a:cs typeface="Times New Roman" pitchFamily="18" charset="0"/>
              </a:rPr>
            </a:br>
            <a:endParaRPr lang="hu-HU" b="1" dirty="0">
              <a:cs typeface="Times New Roman" pitchFamily="18" charset="0"/>
            </a:endParaRPr>
          </a:p>
          <a:p>
            <a:r>
              <a:rPr lang="hu-HU" b="1" dirty="0">
                <a:cs typeface="Times New Roman" pitchFamily="18" charset="0"/>
              </a:rPr>
              <a:t>Lényege </a:t>
            </a:r>
            <a:r>
              <a:rPr lang="hu-HU" dirty="0">
                <a:cs typeface="Times New Roman" pitchFamily="18" charset="0"/>
              </a:rPr>
              <a:t>a csoporttal való közösség átérzése és a csoport iránti hűség érzése </a:t>
            </a:r>
          </a:p>
          <a:p>
            <a:pPr lvl="1"/>
            <a:r>
              <a:rPr lang="hu-HU" dirty="0">
                <a:cs typeface="Times New Roman" pitchFamily="18" charset="0"/>
              </a:rPr>
              <a:t>a csoport külvilággal keletkező konfliktusai során is lojalitás </a:t>
            </a:r>
          </a:p>
          <a:p>
            <a:pPr lvl="1"/>
            <a:r>
              <a:rPr lang="hu-HU" dirty="0">
                <a:cs typeface="Times New Roman" pitchFamily="18" charset="0"/>
              </a:rPr>
              <a:t>de ha az alkalmazkodás elmarad, a tag csoporttagsága kerül veszélybe</a:t>
            </a: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170420C-490F-4626-B6F7-D4AF8AD20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4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Komformitás</a:t>
            </a:r>
            <a:r>
              <a:rPr lang="hu-HU" dirty="0"/>
              <a:t> és függetlenség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b="1" dirty="0">
                <a:cs typeface="Times New Roman" pitchFamily="18" charset="0"/>
              </a:rPr>
              <a:t>Behódolás</a:t>
            </a:r>
          </a:p>
          <a:p>
            <a:pPr marL="457200" lvl="1" indent="0">
              <a:buNone/>
            </a:pPr>
            <a:r>
              <a:rPr lang="hu-HU" dirty="0">
                <a:cs typeface="Times New Roman" pitchFamily="18" charset="0"/>
              </a:rPr>
              <a:t>A társas értékeknek alárendeli magát ám azokkal továbbra sem ért egyet az adott személy. Csak folyamatos nyomás és számonkérés útján tartja fent a csoport a behódolás állapotát a személy felett</a:t>
            </a:r>
          </a:p>
          <a:p>
            <a:pPr marL="0" indent="0">
              <a:buNone/>
            </a:pPr>
            <a:r>
              <a:rPr lang="hu-HU" b="1" dirty="0">
                <a:cs typeface="Times New Roman" pitchFamily="18" charset="0"/>
              </a:rPr>
              <a:t>Azonosulás</a:t>
            </a:r>
          </a:p>
          <a:p>
            <a:pPr marL="457200" lvl="1" indent="0">
              <a:buNone/>
            </a:pPr>
            <a:r>
              <a:rPr lang="hu-HU" dirty="0">
                <a:cs typeface="Times New Roman" pitchFamily="18" charset="0"/>
              </a:rPr>
              <a:t>Az adott személy elfogadja az adott csoport elvárásait és azokkal azonosul külső ellenőrzés és nyomás nélkül is. Azonban a csoporton kívül továbbra is megtartja saját nézeteit és elképzeléseit</a:t>
            </a:r>
          </a:p>
          <a:p>
            <a:pPr marL="0" indent="0">
              <a:buNone/>
            </a:pPr>
            <a:r>
              <a:rPr lang="hu-HU" b="1" dirty="0">
                <a:cs typeface="Times New Roman" pitchFamily="18" charset="0"/>
              </a:rPr>
              <a:t>Internalizáció</a:t>
            </a:r>
          </a:p>
          <a:p>
            <a:pPr marL="457200" lvl="1" indent="0">
              <a:buNone/>
            </a:pPr>
            <a:r>
              <a:rPr lang="hu-HU" dirty="0">
                <a:solidFill>
                  <a:srgbClr val="000000"/>
                </a:solidFill>
              </a:rPr>
              <a:t>A</a:t>
            </a:r>
            <a:r>
              <a:rPr lang="hu-HU" b="0" i="0" dirty="0">
                <a:solidFill>
                  <a:srgbClr val="000000"/>
                </a:solidFill>
                <a:effectLst/>
              </a:rPr>
              <a:t> társas befolyásolás következményeképpen létrejövő állapot, amelynek során a személy a másik attitűdjeit, nézeteit és értékeit olyan fokon magáévá teszi, hogy minden kellő ellenőrzés híján is érvényesíti azokat</a:t>
            </a:r>
            <a:endParaRPr lang="hu-HU" dirty="0">
              <a:cs typeface="Times New Roman" pitchFamily="18" charset="0"/>
            </a:endParaRP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BD0F61C6-BD3A-46FE-9334-2A4D08FBF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3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csoportszerkezet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r>
              <a:rPr lang="hu-HU" dirty="0">
                <a:cs typeface="Times New Roman" pitchFamily="18" charset="0"/>
              </a:rPr>
              <a:t>A tartósan fennálló, együttes tevékenységet végző csoport a szervezetekre (élő organizmusokra) jellemző </a:t>
            </a:r>
            <a:r>
              <a:rPr lang="hu-HU" b="1" dirty="0">
                <a:cs typeface="Times New Roman" pitchFamily="18" charset="0"/>
              </a:rPr>
              <a:t>fejlődést mutatja</a:t>
            </a:r>
            <a:br>
              <a:rPr lang="hu-HU" b="1" dirty="0">
                <a:cs typeface="Times New Roman" pitchFamily="18" charset="0"/>
              </a:rPr>
            </a:br>
            <a:endParaRPr lang="hu-HU" b="1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A tagok kezdetben tagolatlan tevékenysége szerepekké differenciálódik, kapcsolatok szerveződnek és funkciók születnek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A kialakuló nem hivatalos csoportszerkezet eltérhet az eleve funkcionális feladatok és hatalmi hatáskörök meghatározásai körül szervezett hivatalos (formális) csoportok szerkezetétől, és annak működését erősítheti vagy gyengítheti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r>
              <a:rPr lang="hu-HU" dirty="0">
                <a:cs typeface="Times New Roman" pitchFamily="18" charset="0"/>
              </a:rPr>
              <a:t>A csoportoknak határozott szerkezete van, általában két vezetővel, akik közül az egyik a közös munkát irányítja, a másik egy </a:t>
            </a:r>
            <a:r>
              <a:rPr lang="hu-HU" b="1" dirty="0">
                <a:cs typeface="Times New Roman" pitchFamily="18" charset="0"/>
              </a:rPr>
              <a:t>„érzelmi felelős”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C091380-29E3-4A9B-A672-B638D2DD6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00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csoportdinamika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919859" cy="5392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dirty="0">
                <a:cs typeface="Times New Roman" pitchFamily="18" charset="0"/>
              </a:rPr>
              <a:t>A csoport működését jelző szabályok és kapcsolatok állandóan formálódó összessége 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hu-HU" dirty="0">
                <a:cs typeface="Times New Roman" pitchFamily="18" charset="0"/>
              </a:rPr>
              <a:t>A csoportban zajló és megfigyelhető </a:t>
            </a:r>
            <a:r>
              <a:rPr lang="hu-HU" b="1" dirty="0">
                <a:cs typeface="Times New Roman" pitchFamily="18" charset="0"/>
              </a:rPr>
              <a:t>események, pszichés történések és jelenségek </a:t>
            </a:r>
            <a:br>
              <a:rPr lang="hu-HU" b="1" dirty="0">
                <a:cs typeface="Times New Roman" pitchFamily="18" charset="0"/>
              </a:rPr>
            </a:br>
            <a:endParaRPr lang="hu-HU" b="1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hu-HU" b="1" dirty="0">
                <a:cs typeface="Times New Roman" pitchFamily="18" charset="0"/>
              </a:rPr>
              <a:t>Történések a tranzakciók</a:t>
            </a:r>
          </a:p>
          <a:p>
            <a:pPr lvl="1"/>
            <a:r>
              <a:rPr lang="hu-HU" dirty="0">
                <a:cs typeface="Times New Roman" pitchFamily="18" charset="0"/>
              </a:rPr>
              <a:t>a vezetőképződés, </a:t>
            </a:r>
          </a:p>
          <a:p>
            <a:pPr lvl="1"/>
            <a:r>
              <a:rPr lang="hu-HU" dirty="0">
                <a:cs typeface="Times New Roman" pitchFamily="18" charset="0"/>
              </a:rPr>
              <a:t>a bűnbakképzés, </a:t>
            </a:r>
          </a:p>
          <a:p>
            <a:pPr lvl="1"/>
            <a:r>
              <a:rPr lang="hu-HU" dirty="0">
                <a:cs typeface="Times New Roman" pitchFamily="18" charset="0"/>
              </a:rPr>
              <a:t>a csoportlégkör, és </a:t>
            </a:r>
          </a:p>
          <a:p>
            <a:pPr lvl="1"/>
            <a:r>
              <a:rPr lang="hu-HU" dirty="0">
                <a:cs typeface="Times New Roman" pitchFamily="18" charset="0"/>
              </a:rPr>
              <a:t>a csoport összetartásának </a:t>
            </a:r>
          </a:p>
          <a:p>
            <a:pPr lvl="1"/>
            <a:r>
              <a:rPr lang="hu-HU" dirty="0">
                <a:cs typeface="Times New Roman" pitchFamily="18" charset="0"/>
              </a:rPr>
              <a:t>széthúzásának az alakulása</a:t>
            </a:r>
            <a:br>
              <a:rPr lang="hu-HU" dirty="0">
                <a:cs typeface="Times New Roman" pitchFamily="18" charset="0"/>
              </a:rPr>
            </a:br>
            <a:endParaRPr lang="hu-HU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hu-HU" dirty="0">
                <a:cs typeface="Times New Roman" pitchFamily="18" charset="0"/>
              </a:rPr>
              <a:t>A csoport dinamika befolyásolja a csoport együttműködő és probléma megoldó képességét</a:t>
            </a:r>
          </a:p>
          <a:p>
            <a:pPr marL="457200" lvl="1" indent="0">
              <a:buNone/>
            </a:pPr>
            <a:r>
              <a:rPr lang="hu-HU" dirty="0">
                <a:cs typeface="Times New Roman" pitchFamily="18" charset="0"/>
              </a:rPr>
              <a:t>A csoport alakításkor nagyon fontos szempont a lehető legdinamikusabb csoport kialakításának igénye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CB9F0702-A9D1-404E-9D6A-BB2B7F425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95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jó és rossz csoport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2055930" cy="5392373"/>
          </a:xfrm>
        </p:spPr>
        <p:txBody>
          <a:bodyPr numCol="2">
            <a:noAutofit/>
          </a:bodyPr>
          <a:lstStyle/>
          <a:p>
            <a:pPr marL="0" indent="0">
              <a:lnSpc>
                <a:spcPct val="80000"/>
              </a:lnSpc>
              <a:spcBef>
                <a:spcPts val="300"/>
              </a:spcBef>
              <a:buNone/>
            </a:pPr>
            <a:r>
              <a:rPr lang="hu-HU" sz="2800" b="1" i="1" u="sng" dirty="0">
                <a:cs typeface="Times New Roman" pitchFamily="18" charset="0"/>
              </a:rPr>
              <a:t>A jó csoport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Hasonló gondolkodás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Teljesítmény (azonos cél)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Jó atmoszféra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Egyenlő felekként (partnerként) kezelik egymást </a:t>
            </a:r>
          </a:p>
          <a:p>
            <a:pPr lvl="0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Figyelem/meghallgatás </a:t>
            </a:r>
            <a:r>
              <a:rPr lang="hu-HU" dirty="0">
                <a:cs typeface="Times New Roman" pitchFamily="18" charset="0"/>
                <a:sym typeface="Wingdings"/>
              </a:rPr>
              <a:t></a:t>
            </a:r>
            <a:r>
              <a:rPr lang="hu-HU" dirty="0">
                <a:cs typeface="Times New Roman" pitchFamily="18" charset="0"/>
              </a:rPr>
              <a:t> TOLERANCIA</a:t>
            </a:r>
          </a:p>
          <a:p>
            <a:pPr lvl="0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Elismerések</a:t>
            </a:r>
          </a:p>
          <a:p>
            <a:pPr lvl="0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Támogatás</a:t>
            </a:r>
          </a:p>
          <a:p>
            <a:pPr lvl="0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Inspiráló feszültség/humor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Személyiségfejlesztő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Bizalom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Szinergia jelenség </a:t>
            </a:r>
            <a:br>
              <a:rPr lang="hu-HU" dirty="0">
                <a:cs typeface="Times New Roman" pitchFamily="18" charset="0"/>
              </a:rPr>
            </a:br>
            <a:r>
              <a:rPr lang="hu-HU" dirty="0">
                <a:cs typeface="Times New Roman" pitchFamily="18" charset="0"/>
              </a:rPr>
              <a:t>(csoporttöbblet= többet tud a csoport együtt, mint az egyének egyedül)</a:t>
            </a:r>
          </a:p>
          <a:p>
            <a:pPr lvl="0">
              <a:lnSpc>
                <a:spcPct val="80000"/>
              </a:lnSpc>
              <a:spcBef>
                <a:spcPts val="300"/>
              </a:spcBef>
            </a:pPr>
            <a:endParaRPr lang="hu-HU" b="1" dirty="0">
              <a:cs typeface="Times New Roman" pitchFamily="18" charset="0"/>
            </a:endParaRPr>
          </a:p>
          <a:p>
            <a:pPr marL="0" lvl="0" indent="0">
              <a:lnSpc>
                <a:spcPct val="80000"/>
              </a:lnSpc>
              <a:spcBef>
                <a:spcPts val="300"/>
              </a:spcBef>
              <a:buNone/>
            </a:pPr>
            <a:r>
              <a:rPr lang="hu-HU" sz="2800" b="1" i="1" u="sng" dirty="0">
                <a:cs typeface="Times New Roman" pitchFamily="18" charset="0"/>
              </a:rPr>
              <a:t>A rossz csoport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Hierarchia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Centrum – periféria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Mellőzöttség = TOLERANCIA hiánya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Becsmérlés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Agresszió más változata (kibeszélés, visszaélés)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Félelem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Blokkoló feszültség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>
                <a:cs typeface="Times New Roman" pitchFamily="18" charset="0"/>
              </a:rPr>
              <a:t>Eredménytelenség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dirty="0"/>
              <a:t>Személyiség „rontó”/visszafejlesztő</a:t>
            </a:r>
          </a:p>
          <a:p>
            <a:pPr lvl="0"/>
            <a:endParaRPr lang="hu-HU" b="1" dirty="0">
              <a:cs typeface="Times New Roman" pitchFamily="18" charset="0"/>
            </a:endParaRP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32C220F-2BFC-4283-9369-ABD2D8A47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76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Viselkedésmódok a csoportban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512" y="1978925"/>
            <a:ext cx="11359487" cy="476590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/>
              <a:t>Domináns viselkedés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 err="1"/>
              <a:t>Szociábilis</a:t>
            </a:r>
            <a:r>
              <a:rPr lang="hu-HU" sz="2200" b="1" dirty="0"/>
              <a:t> viselkedés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/>
              <a:t>Emocionális viselkedés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/>
              <a:t>Racionális viselkedés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/>
              <a:t>Originális viselkedés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sz="2200" b="1" dirty="0"/>
              <a:t>Passzív viselkedés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D48F9FCB-D5BC-4802-B31D-B4882903E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58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Viselkedésmódok a csoportban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2055930" cy="539237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300"/>
              </a:spcBef>
              <a:buNone/>
            </a:pPr>
            <a:r>
              <a:rPr lang="hu-HU" sz="2200" b="1" dirty="0"/>
              <a:t>Domináns viselkedés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A fölényhelyzet kihívására törekszik, rendszerint a legtöbbet beszél, a legtöbbet kezdeményez, és kifejezetten aktív viselkedést tanúsít.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Pozitív esetben a közös feladat megoldás elősegítésében a legtöbbet teszi (meghallgatja, összefoglalja a tartalmat).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Negatív esetben aktivitása nem mentes a rámenős, agresszív megnyilvánulásoktól (erőszakos, agresszív, vitatkozó; a saját igazát ki akarja harcolni).</a:t>
            </a:r>
            <a:br>
              <a:rPr lang="hu-HU" sz="2200" dirty="0"/>
            </a:br>
            <a:endParaRPr lang="hu-HU" sz="2200" dirty="0"/>
          </a:p>
          <a:p>
            <a:pPr marL="0" indent="0">
              <a:lnSpc>
                <a:spcPct val="80000"/>
              </a:lnSpc>
              <a:spcBef>
                <a:spcPts val="300"/>
              </a:spcBef>
              <a:buNone/>
            </a:pPr>
            <a:r>
              <a:rPr lang="hu-HU" sz="2200" b="1" dirty="0" err="1"/>
              <a:t>Szociábilis</a:t>
            </a:r>
            <a:r>
              <a:rPr lang="hu-HU" sz="2200" b="1" dirty="0"/>
              <a:t> viselkedés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Az interakcióban nagyobb mértékű érzelmi átéléssel vesz részt, teszi azonban ezt a közös munkára tekintettel, mivel ehhez mások pozitív érzelmeit is aktivizálni igyekszik.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Törekszik a jó hangulat megteremtésére, csökkenti a feszültségeket, állandóan tekintettel van másokra és a visszahúzódók oldódását is megkísérli.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Szinte a csoportos tevékenység érzelmi villámhárítójának a szerepét tölti be. (Mint a klasszikus családmodellben a családanyák.)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Fogékony mások érzelmeire, szereti, ha jó a hangulat a csoportban </a:t>
            </a:r>
            <a:r>
              <a:rPr lang="hu-HU" sz="2200" dirty="0">
                <a:sym typeface="Wingdings"/>
              </a:rPr>
              <a:t></a:t>
            </a:r>
            <a:r>
              <a:rPr lang="hu-HU" sz="2200" dirty="0"/>
              <a:t> próbálja kialakítani a „JÓ” csoport helyzetet; képes az empátiára; ki tudja fejezni érzéseit;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hu-HU" sz="2200" dirty="0"/>
              <a:t>Jó partner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646EEB2-B585-4A83-9F01-E8E820642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Viselkedésmódok a csoportban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296057" cy="5392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200" b="1" dirty="0"/>
              <a:t>Emocionális viselkedés</a:t>
            </a:r>
          </a:p>
          <a:p>
            <a:pPr lvl="1"/>
            <a:r>
              <a:rPr lang="hu-HU" dirty="0"/>
              <a:t>A személy érzelmi megnyilvánulásain van a hangsúly, azonban ezek olyan személyes érzelmek, amelyekkel csak önmagát fejezi ki, és amellyel önmaga elfogadtatására törekszik</a:t>
            </a:r>
          </a:p>
          <a:p>
            <a:pPr lvl="1"/>
            <a:r>
              <a:rPr lang="hu-HU" dirty="0"/>
              <a:t>Érvelés nélkül tagad, vagy állít, és mások érzelmeire kevésbé van tekintettel</a:t>
            </a:r>
          </a:p>
          <a:p>
            <a:pPr lvl="1"/>
            <a:r>
              <a:rPr lang="hu-HU" dirty="0"/>
              <a:t>Ha őt nem fogadják el, könnyen visszahúzódik, megsértődik, és fokozottan érzékennyé válik</a:t>
            </a:r>
            <a:br>
              <a:rPr lang="hu-HU" dirty="0"/>
            </a:br>
            <a:endParaRPr lang="hu-HU" b="1" dirty="0"/>
          </a:p>
          <a:p>
            <a:pPr marL="0" indent="0">
              <a:buNone/>
            </a:pPr>
            <a:r>
              <a:rPr lang="hu-HU" sz="2200" b="1" dirty="0"/>
              <a:t>Racionális viselkedés</a:t>
            </a:r>
          </a:p>
          <a:p>
            <a:pPr lvl="1"/>
            <a:r>
              <a:rPr lang="hu-HU" sz="2400" dirty="0"/>
              <a:t>A személynél az értelmi funkciók (gondolkodás, következtetés, érvek, ellenérvek, ítéletalkotás, stb.) érvényesülnek</a:t>
            </a:r>
          </a:p>
          <a:p>
            <a:pPr lvl="1"/>
            <a:r>
              <a:rPr lang="hu-HU" sz="2400" dirty="0"/>
              <a:t>Döntően nem, vagy alig fejez ki érzelmeket, és mások érzelmeire sem reagál. </a:t>
            </a:r>
            <a:br>
              <a:rPr lang="hu-HU" sz="2400" dirty="0"/>
            </a:br>
            <a:r>
              <a:rPr lang="hu-HU" sz="2400" i="1" dirty="0"/>
              <a:t>(bal agyféltekés folyamat; nincsenek érzelmi kirohanásai; zavarja a „nem oda illő” érzelmi kirohanás, pl.: valaki zokogásban tör ki mellette)</a:t>
            </a:r>
            <a:endParaRPr lang="hu-HU" sz="2200" b="1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2BF7BA7E-3D87-4453-A714-39E078AEF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86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Viselkedésmódok a csoportban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2055930" cy="539237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hu-HU" sz="2400" b="1" dirty="0"/>
              <a:t>Originális viselkedés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hu-HU" dirty="0"/>
              <a:t>A racionális viselkedés minőségi elemein van a hangsúly, a személy megnyilvánulásaival ötletek, elképzelések, lehetőségek, tervek, új szempontok és összefüggések kifejezésére törekszik. </a:t>
            </a:r>
          </a:p>
          <a:p>
            <a:pPr marL="457200" lvl="1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hu-HU" dirty="0"/>
              <a:t>(jobb féltekés; =</a:t>
            </a:r>
            <a:r>
              <a:rPr lang="hu-HU" b="1" dirty="0"/>
              <a:t> kreativitás</a:t>
            </a:r>
            <a:r>
              <a:rPr lang="hu-HU" dirty="0"/>
              <a:t>, a racionális </a:t>
            </a:r>
            <a:r>
              <a:rPr lang="hu-HU" dirty="0" err="1"/>
              <a:t>ellentéte</a:t>
            </a:r>
            <a:r>
              <a:rPr lang="hu-HU" dirty="0"/>
              <a:t>; intuitív gondolkodás; rengeteg ötlet közül csak pár használható, de azok jobbak, mint a racionális megoldások)</a:t>
            </a:r>
            <a:br>
              <a:rPr lang="hu-HU" dirty="0"/>
            </a:br>
            <a:endParaRPr lang="hu-HU" b="1" dirty="0"/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hu-HU" sz="2400" b="1" dirty="0"/>
              <a:t>Passzív viselkedés</a:t>
            </a:r>
          </a:p>
          <a:p>
            <a:pPr lvl="1"/>
            <a:r>
              <a:rPr lang="hu-HU" dirty="0"/>
              <a:t>Az interakcióban a személy nem tud, vagy nem akar aktivizálni, ebben alig vesz részt, a közös tevékenység perifériájára kerül. </a:t>
            </a:r>
          </a:p>
          <a:p>
            <a:pPr marL="457200" lvl="1" indent="0">
              <a:buNone/>
            </a:pPr>
            <a:r>
              <a:rPr lang="hu-HU" dirty="0"/>
              <a:t>(elnyomják; alul – vagy túlértékeli magát; etikai dolgok miatt szeretne távol maradni)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36C6211D-1677-439C-B196-AFE21140C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0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Konstruktív és destruktív szerepek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436406" cy="5392373"/>
          </a:xfrm>
        </p:spPr>
        <p:txBody>
          <a:bodyPr>
            <a:noAutofit/>
          </a:bodyPr>
          <a:lstStyle/>
          <a:p>
            <a:r>
              <a:rPr lang="hu-HU" dirty="0"/>
              <a:t>A </a:t>
            </a:r>
            <a:r>
              <a:rPr lang="hu-HU" b="1" dirty="0"/>
              <a:t>konstruktív szerepek</a:t>
            </a:r>
            <a:r>
              <a:rPr lang="hu-HU" dirty="0"/>
              <a:t> betöltői a csoport tevékenységét előmozdítják, így hozzájárulnak a csoportcél megvalósulásához</a:t>
            </a:r>
            <a:br>
              <a:rPr lang="hu-HU" dirty="0"/>
            </a:br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destruktív szerepek</a:t>
            </a:r>
            <a:r>
              <a:rPr lang="hu-HU" dirty="0"/>
              <a:t> tovább vivői a csoport tevékenységét akadályozzák, a csoportcél elérését nehezítik. </a:t>
            </a:r>
            <a:br>
              <a:rPr lang="hu-HU" dirty="0"/>
            </a:br>
            <a:endParaRPr lang="hu-HU" dirty="0"/>
          </a:p>
          <a:p>
            <a:r>
              <a:rPr lang="hu-HU" dirty="0"/>
              <a:t>A konfliktusok sok esetben azonban pozitív hatást eredményeznek, hiszen hozzásegítik a csoportot céljainak és normáinak tisztázásához, és a konfliktusok segítik elő a konszenzus megtalálását. </a:t>
            </a:r>
            <a:br>
              <a:rPr lang="hu-HU" dirty="0"/>
            </a:br>
            <a:endParaRPr lang="hu-HU" dirty="0"/>
          </a:p>
          <a:p>
            <a:r>
              <a:rPr lang="hu-HU" dirty="0"/>
              <a:t>A cél realizálásának várható pozitív hatásai mellett a konfliktusban felszínre kerülhetnek nem várt, negatív mellékhatások is.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A8C216AE-240B-4786-BC05-78597A4E4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9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Konstruktív szerepek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11704347" cy="5392373"/>
          </a:xfrm>
        </p:spPr>
        <p:txBody>
          <a:bodyPr>
            <a:noAutofit/>
          </a:bodyPr>
          <a:lstStyle/>
          <a:p>
            <a:r>
              <a:rPr lang="hu-HU" b="1" dirty="0"/>
              <a:t>Kezdeményező</a:t>
            </a:r>
            <a:r>
              <a:rPr lang="hu-HU" dirty="0"/>
              <a:t>: változtat, újításokat vezet be, variációk után néz</a:t>
            </a:r>
          </a:p>
          <a:p>
            <a:r>
              <a:rPr lang="hu-HU" b="1" dirty="0"/>
              <a:t>Véleménynyilvánító</a:t>
            </a:r>
            <a:r>
              <a:rPr lang="hu-HU" dirty="0"/>
              <a:t>: megtöri a csendet, beleszól, véleménye mellett kitart, felvállalja a vitát</a:t>
            </a:r>
          </a:p>
          <a:p>
            <a:r>
              <a:rPr lang="hu-HU" b="1" dirty="0"/>
              <a:t>Kérdező</a:t>
            </a:r>
            <a:r>
              <a:rPr lang="hu-HU" dirty="0"/>
              <a:t>: információra éhes, minden részletet tudni szeretne, a probléma tisztázásához segít hozzá</a:t>
            </a:r>
          </a:p>
          <a:p>
            <a:r>
              <a:rPr lang="hu-HU" b="1" dirty="0"/>
              <a:t>Informátor</a:t>
            </a:r>
            <a:r>
              <a:rPr lang="hu-HU" dirty="0"/>
              <a:t>: ő az, aki a csoporton belül és csoportok között hozza-viszi az információkat</a:t>
            </a:r>
          </a:p>
          <a:p>
            <a:r>
              <a:rPr lang="hu-HU" b="1" dirty="0"/>
              <a:t>Szabályalkotó</a:t>
            </a:r>
            <a:r>
              <a:rPr lang="hu-HU" dirty="0"/>
              <a:t>: a szabályokat, normákat, értékeket gyakran megfogalmazza, ezáltal elősegíti a csoport önreflexióját, vagyis, hogy a tagok előtt világos legyen, hogy milyen csoportnak a tagjai. Sokszor a szabályok kimondása biztosítja a csoport identitásának megerősödését</a:t>
            </a:r>
          </a:p>
          <a:p>
            <a:r>
              <a:rPr lang="hu-HU" b="1" dirty="0"/>
              <a:t>Általánosító</a:t>
            </a:r>
            <a:r>
              <a:rPr lang="hu-HU" dirty="0"/>
              <a:t>: összefoglalja, tisztázza, hogy mi történik a csoporton belül és kívül</a:t>
            </a:r>
          </a:p>
          <a:p>
            <a:r>
              <a:rPr lang="hu-HU" b="1" dirty="0"/>
              <a:t>Engedelmeskedő</a:t>
            </a:r>
            <a:r>
              <a:rPr lang="hu-HU" dirty="0"/>
              <a:t>: passzív, de fontos szerep, sokszor ők a tevékenység végzői. Nem ideális, ha egy csoportban túl sok az engedelmeskedő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CECBA53-8E25-4D47-BE70-9CB7034EA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54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Destruktív szerepek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8"/>
            <a:ext cx="11510284" cy="5143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dirty="0"/>
              <a:t>A destruktív szerepek vivői gyakran a konstruktív szerepeket viszik túlzásba.</a:t>
            </a:r>
            <a:br>
              <a:rPr lang="hu-HU" dirty="0"/>
            </a:br>
            <a:endParaRPr lang="hu-HU" dirty="0"/>
          </a:p>
          <a:p>
            <a:r>
              <a:rPr lang="hu-HU" b="1" dirty="0"/>
              <a:t>Akadékoskodó</a:t>
            </a:r>
            <a:r>
              <a:rPr lang="hu-HU" dirty="0"/>
              <a:t>: kezdeményező és véleménynyilvánító szerep eltúlzója</a:t>
            </a:r>
          </a:p>
          <a:p>
            <a:r>
              <a:rPr lang="hu-HU" b="1" dirty="0"/>
              <a:t>Vetélkedő</a:t>
            </a:r>
            <a:r>
              <a:rPr lang="hu-HU" dirty="0"/>
              <a:t>: az engedelmeskedő szerep eltúlzója, ő az, aki túlzottan aktív, tevékenykedik, magára vállal minden feladatot, ezáltal a többiekkel rivalizál</a:t>
            </a:r>
          </a:p>
          <a:p>
            <a:r>
              <a:rPr lang="hu-HU" b="1" dirty="0"/>
              <a:t>Mindentudó</a:t>
            </a:r>
            <a:r>
              <a:rPr lang="hu-HU" dirty="0"/>
              <a:t>: az általánosító szerep túltengéses változata</a:t>
            </a:r>
          </a:p>
          <a:p>
            <a:r>
              <a:rPr lang="hu-HU" b="1" dirty="0"/>
              <a:t>Hírharang</a:t>
            </a:r>
            <a:r>
              <a:rPr lang="hu-HU" dirty="0"/>
              <a:t>: nemcsak informál, hanem dezinformál is. Rémhíreket, pletykákat terjeszt </a:t>
            </a:r>
          </a:p>
          <a:p>
            <a:r>
              <a:rPr lang="hu-HU" b="1" dirty="0"/>
              <a:t>Pató Pál: </a:t>
            </a:r>
            <a:r>
              <a:rPr lang="hu-HU" dirty="0"/>
              <a:t>folyamatos halogatás, felelősség és döntéshozás áthárítása, minden feladat az utolsó pillanatra hagyása, csoporttevékenység megakasztója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C2EF2A6B-C44B-41D4-86A9-A81C3F17A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Diszfunkcionális csoportszerepek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352460"/>
            <a:ext cx="11404320" cy="5392373"/>
          </a:xfrm>
        </p:spPr>
        <p:txBody>
          <a:bodyPr>
            <a:noAutofit/>
          </a:bodyPr>
          <a:lstStyle/>
          <a:p>
            <a:r>
              <a:rPr lang="hu-HU" dirty="0"/>
              <a:t>A </a:t>
            </a:r>
            <a:r>
              <a:rPr lang="hu-HU" b="1" dirty="0"/>
              <a:t>sztár</a:t>
            </a:r>
            <a:r>
              <a:rPr lang="hu-HU" dirty="0"/>
              <a:t> általános népszerűsége nem társul funkcionális értékekkel (szervezés, tárgyilagos véleménymondás, bírói szerepkör), mindenkivel jóban van, de kapcsolatai felszínesek, politikája (a be nem avatkozás) azonban </a:t>
            </a:r>
            <a:r>
              <a:rPr lang="hu-HU" b="1" dirty="0"/>
              <a:t>válsághelyzetben csődöt mond</a:t>
            </a:r>
            <a:br>
              <a:rPr lang="hu-HU" b="1" dirty="0"/>
            </a:br>
            <a:r>
              <a:rPr lang="hu-HU" b="1" dirty="0"/>
              <a:t/>
            </a:r>
            <a:br>
              <a:rPr lang="hu-HU" b="1" dirty="0"/>
            </a:br>
            <a:endParaRPr lang="hu-HU" b="1" u="sng" dirty="0"/>
          </a:p>
          <a:p>
            <a:r>
              <a:rPr lang="hu-HU" dirty="0"/>
              <a:t>A másik pólusban a </a:t>
            </a:r>
            <a:r>
              <a:rPr lang="hu-HU" b="1" dirty="0"/>
              <a:t>bűnbak</a:t>
            </a:r>
            <a:r>
              <a:rPr lang="hu-HU" dirty="0"/>
              <a:t> található, akinek rejtett funkciója abban áll, hogy </a:t>
            </a:r>
            <a:r>
              <a:rPr lang="hu-HU" b="1" dirty="0"/>
              <a:t>levezeti a csoportban felhalmozódó agresszív feszültségeket, ezáltal erősíti a csoportkohéziót.</a:t>
            </a:r>
            <a:r>
              <a:rPr lang="hu-HU" dirty="0"/>
              <a:t> </a:t>
            </a:r>
            <a:br>
              <a:rPr lang="hu-HU" dirty="0"/>
            </a:br>
            <a:r>
              <a:rPr lang="hu-HU" dirty="0"/>
              <a:t>A várakozás a szerep betöltőjével szemben az, hogy olyan ember legyen, akire az agresszió ráirányítható, képes a csoport ellenségként látni, a csoport többségében ellenérzést váltson ki</a:t>
            </a:r>
          </a:p>
          <a:p>
            <a:pPr lvl="1"/>
            <a:r>
              <a:rPr lang="hu-HU" dirty="0"/>
              <a:t>A bűnbak szerepére kiszemelt személyek esetében többnyire a felnagyítás, a negatív személyiségvonások eltúlzása figyelhető meg. </a:t>
            </a:r>
            <a:r>
              <a:rPr lang="hu-HU" b="1" dirty="0"/>
              <a:t>Válsághelyzetben nagyon gyakran a bűnbak valódi segítséget tud nyújtani a csoportnak</a:t>
            </a:r>
            <a:r>
              <a:rPr lang="hu-HU" dirty="0"/>
              <a:t>, ezáltal kellemesen csalódhatnak benne (pl. </a:t>
            </a:r>
            <a:r>
              <a:rPr lang="hu-HU" dirty="0" err="1"/>
              <a:t>Nemecsek</a:t>
            </a:r>
            <a:r>
              <a:rPr lang="hu-HU" dirty="0"/>
              <a:t>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AC6EEF2F-4537-4D69-99DF-FFED39A2C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26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Belbin</a:t>
            </a:r>
            <a:r>
              <a:rPr lang="hu-HU" dirty="0"/>
              <a:t> teszt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2460"/>
            <a:ext cx="7106829" cy="5392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dirty="0"/>
              <a:t>Dr. Raymond Meredith </a:t>
            </a:r>
            <a:r>
              <a:rPr lang="hu-HU" dirty="0" err="1"/>
              <a:t>Belbin</a:t>
            </a:r>
            <a:endParaRPr lang="hu-HU" dirty="0"/>
          </a:p>
          <a:p>
            <a:pPr lvl="1"/>
            <a:r>
              <a:rPr lang="hu-HU" dirty="0"/>
              <a:t>brit kutató</a:t>
            </a:r>
          </a:p>
          <a:p>
            <a:pPr lvl="1"/>
            <a:r>
              <a:rPr lang="hu-HU" dirty="0"/>
              <a:t>menedzsment-elméleti munkássága</a:t>
            </a:r>
          </a:p>
          <a:p>
            <a:pPr lvl="1"/>
            <a:r>
              <a:rPr lang="en-US" dirty="0"/>
              <a:t>Organization for Economic Cooperation and Development in Paris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Meghatározta a hatékony menedzsment-teamek több létfontosságú szereplőjét</a:t>
            </a:r>
            <a:br>
              <a:rPr lang="hu-HU" dirty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Mindenki más és más jellemzők mentén végzi munkáját</a:t>
            </a:r>
          </a:p>
          <a:p>
            <a:pPr lvl="1"/>
            <a:r>
              <a:rPr lang="hu-HU" dirty="0"/>
              <a:t>www.belbin.com</a:t>
            </a:r>
            <a:endParaRPr lang="hu-H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Picture 2" descr="http://img.getglue.com/topics/p/meredith_belbin/normal.jpg">
            <a:hlinkClick r:id="rId2"/>
            <a:extLst>
              <a:ext uri="{FF2B5EF4-FFF2-40B4-BE49-F238E27FC236}">
                <a16:creationId xmlns="" xmlns:a16="http://schemas.microsoft.com/office/drawing/2014/main" id="{AED6792D-F7C6-4791-BC07-3D76F577E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5337" y="1364924"/>
            <a:ext cx="3615945" cy="3875843"/>
          </a:xfrm>
          <a:prstGeom prst="rect">
            <a:avLst/>
          </a:prstGeom>
          <a:noFill/>
          <a:ln w="28575">
            <a:solidFill>
              <a:srgbClr val="771105"/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="" xmlns:a16="http://schemas.microsoft.com/office/drawing/2014/main" id="{B0D7E10B-F8D1-44D5-B18B-2FBDA7A07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7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csoport szerepkörei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csoport</a:t>
            </a:r>
          </a:p>
        </p:txBody>
      </p:sp>
      <p:pic>
        <p:nvPicPr>
          <p:cNvPr id="6" name="Picture 2" descr="http://www.tankonyvtar.hu/en/tartalom/tkt/controlling-gyakorlatban/images/892.png">
            <a:hlinkClick r:id="rId2"/>
            <a:extLst>
              <a:ext uri="{FF2B5EF4-FFF2-40B4-BE49-F238E27FC236}">
                <a16:creationId xmlns="" xmlns:a16="http://schemas.microsoft.com/office/drawing/2014/main" id="{AFB2EB81-B822-43B6-976E-86D122C04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2188" y="1302689"/>
            <a:ext cx="7527624" cy="5266291"/>
          </a:xfrm>
          <a:prstGeom prst="rect">
            <a:avLst/>
          </a:prstGeom>
          <a:noFill/>
        </p:spPr>
      </p:pic>
      <p:pic>
        <p:nvPicPr>
          <p:cNvPr id="7" name="Kép 6">
            <a:extLst>
              <a:ext uri="{FF2B5EF4-FFF2-40B4-BE49-F238E27FC236}">
                <a16:creationId xmlns="" xmlns:a16="http://schemas.microsoft.com/office/drawing/2014/main" id="{366B11EE-382A-400C-80FD-38501E41C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99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formális csoportok – a szervezetek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55275" cy="5264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A szervezetek optimális működésének kulcskérdése a megfelelő szervezeti struktúra, koordinációs és kommunikációs tevékenységek megválasztása</a:t>
            </a:r>
          </a:p>
          <a:p>
            <a:pPr lvl="1"/>
            <a:r>
              <a:rPr lang="hu-HU" dirty="0"/>
              <a:t>Nagyon fontos tehát, hogy a menedzsment tisztában legyen a szervezet hosszútávú céljaival, a vállalati lehetőségekkel és ez alapján válassza meg a szervezet számára leginkább indokolt struktúrát</a:t>
            </a:r>
          </a:p>
          <a:p>
            <a:pPr lvl="1"/>
            <a:r>
              <a:rPr lang="hu-HU" dirty="0"/>
              <a:t>Ezáltal a szervezet</a:t>
            </a:r>
          </a:p>
          <a:p>
            <a:pPr lvl="2"/>
            <a:r>
              <a:rPr lang="hu-HU" dirty="0"/>
              <a:t>növelheti a hatékonyságot,</a:t>
            </a:r>
          </a:p>
          <a:p>
            <a:pPr lvl="2"/>
            <a:r>
              <a:rPr lang="hu-HU" dirty="0"/>
              <a:t>növelheti a termelékenységet,</a:t>
            </a:r>
          </a:p>
          <a:p>
            <a:pPr lvl="2"/>
            <a:r>
              <a:rPr lang="hu-HU" dirty="0"/>
              <a:t>rugalmasabbá válhat,</a:t>
            </a:r>
          </a:p>
          <a:p>
            <a:pPr lvl="2"/>
            <a:r>
              <a:rPr lang="hu-HU" dirty="0"/>
              <a:t>egyértelmű felelősség körök és kommunikációs útvonalak jönnek létre.</a:t>
            </a:r>
          </a:p>
          <a:p>
            <a:pPr marL="0" indent="0">
              <a:buNone/>
            </a:pPr>
            <a:r>
              <a:rPr lang="hu-HU" dirty="0"/>
              <a:t>A ma már egyre inkább elterjedő projektek kivitelezésének és a szervezeti funkciók ellátásának sikeréhez is elengedhetetlen a megfelelő csoportok kialakítása.</a:t>
            </a:r>
          </a:p>
          <a:p>
            <a:pPr lvl="1"/>
            <a:r>
              <a:rPr lang="hu-HU" dirty="0"/>
              <a:t>A sikeresen összeállított csoportok dinamikusak, és tagjai kiválóan működnek együtt a célok megvalósításának érdekében, ötleteik folyamatos megosztásával.</a:t>
            </a:r>
          </a:p>
          <a:p>
            <a:pPr lvl="1"/>
            <a:r>
              <a:rPr lang="hu-HU" dirty="0"/>
              <a:t>Éppen ezért a menedzsmentnek feladata az adott csoportba jól illeszkedő, megfelelő szakértelemmel rendelkező emberek kiválasztása.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 és 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07C5936-AFB1-4370-9DDA-16D2182F4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EB84B47F-8064-43F1-A955-AE721AC3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Formális és organikus szervezetek 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FF4FDC81-D10F-4753-86D4-A7DB5877F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69743"/>
            <a:ext cx="11919859" cy="4730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altLang="hu-HU" b="1" dirty="0">
                <a:solidFill>
                  <a:srgbClr val="000000"/>
                </a:solidFill>
              </a:rPr>
              <a:t>Mechanikus szervezetek (Klasszikus szervezeti forma)</a:t>
            </a:r>
            <a:br>
              <a:rPr lang="hu-HU" altLang="hu-HU" b="1" dirty="0">
                <a:solidFill>
                  <a:srgbClr val="000000"/>
                </a:solidFill>
              </a:rPr>
            </a:br>
            <a:endParaRPr lang="hu-HU" altLang="hu-HU" b="1" dirty="0">
              <a:solidFill>
                <a:srgbClr val="000000"/>
              </a:solidFill>
            </a:endParaRP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Szinte minden munkatevékenységre részletes és szigorú szabályok vonatkoznak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A vezetői és a végrehajtói feladatok élesen el vannak választva egymástól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Vezetők és beosztottak között nagy a távolság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A rangok, beosztások hangsúlyos szerepet kapnak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Be kell tartani a szolgálati utat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A kommunikációs csatornák kötöttek, fontosnak tartják az írásbeliséget, az ellenőrzést</a:t>
            </a:r>
          </a:p>
          <a:p>
            <a:pPr lvl="1"/>
            <a:r>
              <a:rPr lang="hu-HU" altLang="hu-HU" dirty="0">
                <a:solidFill>
                  <a:srgbClr val="000000"/>
                </a:solidFill>
              </a:rPr>
              <a:t>A szervezet úgy működik, mint egy gondosan megtervezett gép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F66A6FD-87B2-4E93-B0F1-315C6B72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2A466E94-48BF-49FF-8FC8-B74F0381E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 és 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344A526A-63E9-4F29-9B97-75C16DFAD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05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Formális és organikus szervezetek II.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altLang="hu-HU" b="1" dirty="0">
                <a:solidFill>
                  <a:srgbClr val="000000"/>
                </a:solidFill>
              </a:rPr>
              <a:t>Organikus szervezetek (Rugalmas, modern szervezeti forma)</a:t>
            </a:r>
            <a:br>
              <a:rPr lang="hu-HU" altLang="hu-HU" b="1" dirty="0">
                <a:solidFill>
                  <a:srgbClr val="000000"/>
                </a:solidFill>
              </a:rPr>
            </a:br>
            <a:endParaRPr lang="hu-HU" altLang="hu-HU" b="1" dirty="0">
              <a:solidFill>
                <a:srgbClr val="00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Folyamatos rugalmasság és a fejlődésre való nyitottság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A vezetők és a beosztottak közötti szakadék egyre inkább elmosódik 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A dolgozók bevonása a döntésekbe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Egyre inkább támogató vezetői szerepkör, folyamatos team-munka, innováció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Decentralizáltság, hatalommal, felelősséggel, bizalommal való felruházás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A szolgálati út betartása nem kötelező, azt gyakran nem veszik figyelembe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A szervezet központjában egyre inkább az emberi tényező áll, az irányítás alapja a kommunikáció</a:t>
            </a:r>
          </a:p>
          <a:p>
            <a:pPr lvl="1">
              <a:lnSpc>
                <a:spcPct val="110000"/>
              </a:lnSpc>
            </a:pPr>
            <a:r>
              <a:rPr lang="hu-HU" altLang="hu-HU" dirty="0">
                <a:solidFill>
                  <a:srgbClr val="000000"/>
                </a:solidFill>
              </a:rPr>
              <a:t>A szervezet egy élőlényhez hasonlít, ami állandóan mozgásban van, igyekszik kihasználni a környezetében jelentkező lehetőségeket és nyitott a folyamatos változásra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C452E49-6610-49B5-9C23-D83ED8549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11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7770214-0EE4-40E0-A569-03293D8A3CE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487" y="1081818"/>
            <a:ext cx="4516442" cy="484452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7S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18437"/>
            <a:ext cx="8309189" cy="54263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A vállalati struktúra elemei a </a:t>
            </a:r>
            <a:r>
              <a:rPr lang="hu-HU" dirty="0" err="1"/>
              <a:t>McKinsey</a:t>
            </a:r>
            <a:r>
              <a:rPr lang="hu-HU" dirty="0"/>
              <a:t> tanácsadó cég 7S modellje szerint 7 (3+4) elemből állnak</a:t>
            </a:r>
          </a:p>
          <a:p>
            <a:pPr lvl="1"/>
            <a:r>
              <a:rPr lang="hu-HU" b="1" dirty="0"/>
              <a:t>„Kemény” elemek – Mérhetők, tervezhetők, egyértelműen meghatározható</a:t>
            </a:r>
          </a:p>
          <a:p>
            <a:pPr lvl="3"/>
            <a:r>
              <a:rPr lang="hu-HU" dirty="0"/>
              <a:t>Struktúra – </a:t>
            </a:r>
            <a:r>
              <a:rPr lang="hu-HU" dirty="0" err="1"/>
              <a:t>structure</a:t>
            </a:r>
            <a:endParaRPr lang="hu-HU" dirty="0"/>
          </a:p>
          <a:p>
            <a:pPr lvl="3"/>
            <a:r>
              <a:rPr lang="hu-HU" dirty="0"/>
              <a:t>Rendszerek – </a:t>
            </a:r>
            <a:r>
              <a:rPr lang="hu-HU" dirty="0" err="1"/>
              <a:t>systems</a:t>
            </a:r>
            <a:endParaRPr lang="hu-HU" dirty="0"/>
          </a:p>
          <a:p>
            <a:pPr lvl="3"/>
            <a:r>
              <a:rPr lang="hu-HU" dirty="0"/>
              <a:t>Stratégia – </a:t>
            </a:r>
            <a:r>
              <a:rPr lang="hu-HU" dirty="0" err="1"/>
              <a:t>strategy</a:t>
            </a:r>
            <a:endParaRPr lang="hu-HU" dirty="0"/>
          </a:p>
          <a:p>
            <a:pPr lvl="1"/>
            <a:r>
              <a:rPr lang="hu-HU" b="1" dirty="0"/>
              <a:t>„Lágy” elemek – Leginkább emberi tényezőkhöz kötődik, nehezen mérhető, alakítható</a:t>
            </a:r>
          </a:p>
          <a:p>
            <a:pPr lvl="3"/>
            <a:r>
              <a:rPr lang="hu-HU" dirty="0"/>
              <a:t>Munkatársak – </a:t>
            </a:r>
            <a:r>
              <a:rPr lang="hu-HU" dirty="0" err="1"/>
              <a:t>staff</a:t>
            </a:r>
            <a:endParaRPr lang="hu-HU" dirty="0"/>
          </a:p>
          <a:p>
            <a:pPr lvl="3"/>
            <a:r>
              <a:rPr lang="hu-HU" dirty="0"/>
              <a:t>Képességek- </a:t>
            </a:r>
            <a:r>
              <a:rPr lang="hu-HU" dirty="0" err="1"/>
              <a:t>skills</a:t>
            </a:r>
            <a:endParaRPr lang="hu-HU" dirty="0"/>
          </a:p>
          <a:p>
            <a:pPr lvl="3"/>
            <a:r>
              <a:rPr lang="hu-HU" dirty="0"/>
              <a:t>Viselkedési formák – </a:t>
            </a:r>
            <a:r>
              <a:rPr lang="hu-HU" dirty="0" err="1"/>
              <a:t>style</a:t>
            </a:r>
            <a:endParaRPr lang="hu-HU" dirty="0"/>
          </a:p>
          <a:p>
            <a:pPr lvl="3">
              <a:spcAft>
                <a:spcPts val="800"/>
              </a:spcAft>
            </a:pPr>
            <a:r>
              <a:rPr lang="hu-HU" dirty="0"/>
              <a:t>Közös értékek – </a:t>
            </a:r>
            <a:r>
              <a:rPr lang="hu-HU" dirty="0" err="1"/>
              <a:t>shared</a:t>
            </a:r>
            <a:r>
              <a:rPr lang="hu-HU" dirty="0"/>
              <a:t> </a:t>
            </a:r>
            <a:r>
              <a:rPr lang="hu-HU" dirty="0" err="1"/>
              <a:t>values</a:t>
            </a:r>
            <a:endParaRPr lang="hu-HU" dirty="0"/>
          </a:p>
          <a:p>
            <a:pPr marL="0" indent="0">
              <a:spcAft>
                <a:spcPts val="800"/>
              </a:spcAft>
              <a:buNone/>
            </a:pPr>
            <a:r>
              <a:rPr lang="hu-HU" sz="2200" i="1" dirty="0"/>
              <a:t>A vállalati struktúra elemei nagyban összefüggenek, így egyetlen elem változásának a többiben is hatása lehet. Éppen ezért tervezéskor fontos figyelembe venni, hogy a döntés milyen hatással fog járni a szervezet többi területén is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Vállalati struktúra elemei</a:t>
            </a:r>
          </a:p>
        </p:txBody>
      </p:sp>
      <p:pic>
        <p:nvPicPr>
          <p:cNvPr id="7" name="Kép 6">
            <a:extLst>
              <a:ext uri="{FF2B5EF4-FFF2-40B4-BE49-F238E27FC236}">
                <a16:creationId xmlns="" xmlns:a16="http://schemas.microsoft.com/office/drawing/2014/main" id="{255E767E-83F1-4BAD-B961-EBAF9B33D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56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Szervezeti struktúra elemei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54346"/>
            <a:ext cx="11955275" cy="5624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/>
              <a:t>Az optimális és szükséges szervezeti felépítés kialakítása a korábban már részletezett vállalati külső és belső környezet elemzéssel és a vállalati stratégia tervezéssel kezdődik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Munkakör megosztás</a:t>
            </a:r>
          </a:p>
          <a:p>
            <a:pPr lvl="1"/>
            <a:r>
              <a:rPr lang="hu-HU" dirty="0"/>
              <a:t>A szervezet tevékenységeinek felosztása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Hatáskör megosztás</a:t>
            </a:r>
          </a:p>
          <a:p>
            <a:pPr lvl="1"/>
            <a:r>
              <a:rPr lang="hu-HU" dirty="0"/>
              <a:t>Centralizált, decentralizált szervezet</a:t>
            </a:r>
          </a:p>
          <a:p>
            <a:pPr lvl="1"/>
            <a:r>
              <a:rPr lang="hu-HU" dirty="0"/>
              <a:t>Egyvonalas, többvonalas szervezet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Koordináció</a:t>
            </a:r>
          </a:p>
          <a:p>
            <a:pPr lvl="1"/>
            <a:r>
              <a:rPr lang="hu-HU" dirty="0"/>
              <a:t>Vertikális, horizontális kommunikációs útvonalak</a:t>
            </a:r>
          </a:p>
          <a:p>
            <a:pPr lvl="1"/>
            <a:r>
              <a:rPr lang="hu-HU" dirty="0"/>
              <a:t>Az irányítás módja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Konfiguráció</a:t>
            </a:r>
          </a:p>
          <a:p>
            <a:pPr lvl="1"/>
            <a:r>
              <a:rPr lang="hu-HU" dirty="0"/>
              <a:t>Mélységi és szélességi tagoltság</a:t>
            </a:r>
          </a:p>
          <a:p>
            <a:pPr lvl="1"/>
            <a:r>
              <a:rPr lang="hu-HU" dirty="0"/>
              <a:t>Bővíthetőség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 és 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5256D591-7D1A-4279-BE3B-6A1E62585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1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Munkakör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55275" cy="5264148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</a:rPr>
              <a:t>A munkamegosztás egy nagyobb feladat részfeladatokra bontását, azok szervezeti egységekhez rendelését jelenti</a:t>
            </a:r>
            <a:br>
              <a:rPr lang="hu-HU" dirty="0">
                <a:effectLst/>
                <a:ea typeface="Calibri" panose="020F0502020204030204" pitchFamily="34" charset="0"/>
              </a:rPr>
            </a:br>
            <a:endParaRPr lang="hu-HU" dirty="0">
              <a:effectLst/>
              <a:ea typeface="Calibri" panose="020F0502020204030204" pitchFamily="34" charset="0"/>
            </a:endParaRPr>
          </a:p>
          <a:p>
            <a:r>
              <a:rPr lang="hu-HU" dirty="0"/>
              <a:t>Egyre inkább komplex tevékenységek, egyre nagyobb igény a feladatok megosztására</a:t>
            </a:r>
            <a:br>
              <a:rPr lang="hu-HU" dirty="0"/>
            </a:br>
            <a:endParaRPr lang="hu-HU" dirty="0"/>
          </a:p>
          <a:p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munkamegosztás lényege, hogy a szervezet minden egyes egysége (legyen az osztály, csoport, vagy egyén) a komparatív előnyeinek megfelelő feladattal foglalkozik, és nem terméket/szolgáltatást állít elő, hanem annak csupán egy részelemét</a:t>
            </a:r>
            <a:b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munkát többféle alapelv mentén is fel lehet osztani. A hozzárendelés történhet funkció, termék (csoport), vevő, régió szerinti elven is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 és a csoport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8B925191-2B5A-4359-B9AD-F2F374D6E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58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Lineáris szervezet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Picture 6" descr="lineáris">
            <a:extLst>
              <a:ext uri="{FF2B5EF4-FFF2-40B4-BE49-F238E27FC236}">
                <a16:creationId xmlns="" xmlns:a16="http://schemas.microsoft.com/office/drawing/2014/main" id="{8138147E-3E24-4ACA-A08C-4A2FDC1F3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08" y="1682507"/>
            <a:ext cx="9405579" cy="4261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="" xmlns:a16="http://schemas.microsoft.com/office/drawing/2014/main" id="{D5505E5C-E61F-4B86-A107-905C19C85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52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Lineáris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Egyszer</a:t>
            </a:r>
            <a:r>
              <a:rPr lang="hu-HU" altLang="hu-HU" sz="2400" dirty="0"/>
              <a:t>ű, </a:t>
            </a:r>
            <a:r>
              <a:rPr lang="hu-HU" altLang="hu-HU" dirty="0">
                <a:cs typeface="Times New Roman" panose="02020603050405020304" pitchFamily="18" charset="0"/>
              </a:rPr>
              <a:t>j</a:t>
            </a:r>
            <a:r>
              <a:rPr lang="hu-HU" altLang="hu-HU" sz="2400" dirty="0">
                <a:cs typeface="Times New Roman" panose="02020603050405020304" pitchFamily="18" charset="0"/>
              </a:rPr>
              <a:t>ól áttekinthet</a:t>
            </a:r>
            <a:r>
              <a:rPr lang="hu-HU" altLang="hu-HU" sz="2400" dirty="0"/>
              <a:t>ő</a:t>
            </a: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Egyértelm</a:t>
            </a:r>
            <a:r>
              <a:rPr lang="hu-HU" altLang="hu-HU" sz="2400" dirty="0"/>
              <a:t>ű</a:t>
            </a:r>
            <a:r>
              <a:rPr lang="hu-HU" altLang="hu-HU" sz="2400" dirty="0">
                <a:cs typeface="Times New Roman" panose="02020603050405020304" pitchFamily="18" charset="0"/>
              </a:rPr>
              <a:t> alá- és fölérendeltségi viszonyok jellemzik</a:t>
            </a: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Jól nyomon lehet követni a kiadott utasítások teljesítésének alakulását, az elért eredmény megítélését.</a:t>
            </a: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Alacsony költségek</a:t>
            </a: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Kevés az adminisztráció</a:t>
            </a: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A feladatok mennyiségének változása esetén a </a:t>
            </a:r>
            <a:r>
              <a:rPr lang="hu-HU" altLang="hu-HU" sz="2400" b="1" i="1" dirty="0">
                <a:cs typeface="Times New Roman" panose="02020603050405020304" pitchFamily="18" charset="0"/>
              </a:rPr>
              <a:t>szervezet szélességében és mélységében is tovább tagolható</a:t>
            </a:r>
            <a:endParaRPr lang="hu-HU" altLang="hu-HU" sz="2400" dirty="0">
              <a:cs typeface="Times New Roman" panose="02020603050405020304" pitchFamily="18" charset="0"/>
            </a:endParaRPr>
          </a:p>
          <a:p>
            <a:pPr eaLnBrk="1" hangingPunct="1"/>
            <a:r>
              <a:rPr lang="hu-HU" altLang="hu-HU" sz="2400" dirty="0">
                <a:cs typeface="Times New Roman" panose="02020603050405020304" pitchFamily="18" charset="0"/>
              </a:rPr>
              <a:t>Általában kevésbé összetett, </a:t>
            </a:r>
            <a:r>
              <a:rPr lang="hu-HU" altLang="hu-HU" sz="2400" dirty="0"/>
              <a:t>fők</a:t>
            </a:r>
            <a:r>
              <a:rPr lang="hu-HU" altLang="hu-HU" sz="2400" dirty="0">
                <a:cs typeface="Times New Roman" panose="02020603050405020304" pitchFamily="18" charset="0"/>
              </a:rPr>
              <a:t>ént kis- és családi vállalkozások esetében alkalmazott szervezeti forma</a:t>
            </a:r>
          </a:p>
          <a:p>
            <a:r>
              <a:rPr lang="hu-HU" altLang="hu-HU" dirty="0"/>
              <a:t>Hátránya, hogy nem elég rugalmas, a hiányzó specializáció növeli a felső szintű vezetők leterhelését. Növekedés esetén átláthatatlannál válhat</a:t>
            </a:r>
          </a:p>
          <a:p>
            <a:pPr eaLnBrk="1" hangingPunct="1"/>
            <a:endParaRPr lang="hu-HU" altLang="hu-HU" sz="2400" dirty="0"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92DF875E-3B11-44C8-A8B4-78F98A2B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76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szervezet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9" name="Picture 8" descr="funk többv">
            <a:extLst>
              <a:ext uri="{FF2B5EF4-FFF2-40B4-BE49-F238E27FC236}">
                <a16:creationId xmlns="" xmlns:a16="http://schemas.microsoft.com/office/drawing/2014/main" id="{3ACA128E-BA7E-499E-A15E-67F997443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687" y="1601558"/>
            <a:ext cx="9946256" cy="4986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="" xmlns:a16="http://schemas.microsoft.com/office/drawing/2014/main" id="{FF754272-0CE9-4689-970C-FB9553150E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606" y="156411"/>
            <a:ext cx="514830" cy="39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0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2461"/>
            <a:ext cx="11919858" cy="5505538"/>
          </a:xfrm>
        </p:spPr>
        <p:txBody>
          <a:bodyPr>
            <a:normAutofit fontScale="77500" lnSpcReduction="20000"/>
          </a:bodyPr>
          <a:lstStyle/>
          <a:p>
            <a:pPr marL="0" indent="0" eaLnBrk="1" hangingPunct="1">
              <a:buNone/>
            </a:pPr>
            <a:r>
              <a:rPr lang="hu-HU" altLang="hu-HU" sz="3100" b="1" dirty="0">
                <a:cs typeface="Times New Roman" panose="02020603050405020304" pitchFamily="18" charset="0"/>
              </a:rPr>
              <a:t>Hatékony működésének feltételei,</a:t>
            </a:r>
            <a:endParaRPr lang="hu-HU" altLang="hu-HU" sz="3100" b="1" dirty="0"/>
          </a:p>
          <a:p>
            <a:pPr lvl="1"/>
            <a:r>
              <a:rPr lang="hu-HU" altLang="hu-HU" sz="3100" dirty="0">
                <a:cs typeface="Times New Roman" panose="02020603050405020304" pitchFamily="18" charset="0"/>
              </a:rPr>
              <a:t>Stabil piaci, tudományos-technikai, technológiai környezet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Viszonylag könnyen áttekinthet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 termelési tevékenység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Nem túl széles termékskála</a:t>
            </a:r>
            <a:br>
              <a:rPr lang="hu-HU" altLang="hu-HU" sz="3100" dirty="0">
                <a:cs typeface="Times New Roman" panose="02020603050405020304" pitchFamily="18" charset="0"/>
              </a:rPr>
            </a:br>
            <a:endParaRPr lang="hu-HU" altLang="hu-HU" sz="31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hu-HU" altLang="hu-HU" sz="3100" b="1" dirty="0">
                <a:cs typeface="Times New Roman" panose="02020603050405020304" pitchFamily="18" charset="0"/>
              </a:rPr>
              <a:t>Jellemz</a:t>
            </a:r>
            <a:r>
              <a:rPr lang="hu-HU" altLang="hu-HU" sz="3100" b="1" dirty="0"/>
              <a:t>ő</a:t>
            </a:r>
            <a:r>
              <a:rPr lang="hu-HU" altLang="hu-HU" sz="3100" b="1" dirty="0">
                <a:cs typeface="Times New Roman" panose="02020603050405020304" pitchFamily="18" charset="0"/>
              </a:rPr>
              <a:t>k</a:t>
            </a:r>
            <a:endParaRPr lang="hu-HU" altLang="hu-HU" sz="31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Az els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dleges munkamegosztás funkciónként történik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Er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teljes a szabályozottság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 stratégiai és operatív döntési jogkörök a csúcsmenedzsmentben összpontosulnak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 döntési jogkör centralizált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 hangsúly a hatalom gyakorlásáról a szakmai hozzáértés fokozására tev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dik át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 munkát végrehajtó alsóbb szint</a:t>
            </a:r>
            <a:r>
              <a:rPr lang="hu-HU" altLang="hu-HU" sz="3100" dirty="0"/>
              <a:t>ű</a:t>
            </a:r>
            <a:r>
              <a:rPr lang="hu-HU" altLang="hu-HU" sz="3100" dirty="0">
                <a:cs typeface="Times New Roman" panose="02020603050405020304" pitchFamily="18" charset="0"/>
              </a:rPr>
              <a:t> menedzsment illetve szervezeti egységek az utasításokat több vezet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t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l is kaphatják</a:t>
            </a: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A </a:t>
            </a:r>
            <a:r>
              <a:rPr lang="hu-HU" altLang="hu-HU" sz="3100" b="1" dirty="0">
                <a:cs typeface="Times New Roman" panose="02020603050405020304" pitchFamily="18" charset="0"/>
              </a:rPr>
              <a:t>függelmi kapcsolatokra</a:t>
            </a:r>
            <a:r>
              <a:rPr lang="hu-HU" altLang="hu-HU" sz="3100" dirty="0">
                <a:cs typeface="Times New Roman" panose="02020603050405020304" pitchFamily="18" charset="0"/>
              </a:rPr>
              <a:t> az er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teljes linearitás, a </a:t>
            </a:r>
            <a:r>
              <a:rPr lang="hu-HU" altLang="hu-HU" sz="3100" b="1" dirty="0">
                <a:cs typeface="Times New Roman" panose="02020603050405020304" pitchFamily="18" charset="0"/>
              </a:rPr>
              <a:t>szakmai kapcsolatokra</a:t>
            </a:r>
            <a:r>
              <a:rPr lang="hu-HU" altLang="hu-HU" sz="3100" dirty="0">
                <a:cs typeface="Times New Roman" panose="02020603050405020304" pitchFamily="18" charset="0"/>
              </a:rPr>
              <a:t> az er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teljes funkcionalitás a jellemz</a:t>
            </a:r>
            <a:r>
              <a:rPr lang="hu-HU" altLang="hu-HU" sz="3100" dirty="0"/>
              <a:t>ő</a:t>
            </a:r>
            <a:endParaRPr lang="hu-HU" altLang="hu-HU" sz="31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hu-HU" altLang="hu-HU" sz="3100" dirty="0">
                <a:cs typeface="Times New Roman" panose="02020603050405020304" pitchFamily="18" charset="0"/>
              </a:rPr>
              <a:t>F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ként vertikális koordinációs megoldások jellemz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ek, nincs sok lehet</a:t>
            </a:r>
            <a:r>
              <a:rPr lang="hu-HU" altLang="hu-HU" sz="3100" dirty="0"/>
              <a:t>ő</a:t>
            </a:r>
            <a:r>
              <a:rPr lang="hu-HU" altLang="hu-HU" sz="3100" dirty="0">
                <a:cs typeface="Times New Roman" panose="02020603050405020304" pitchFamily="18" charset="0"/>
              </a:rPr>
              <a:t>ség a horizontális koordinációra (projektek, teamek, törzskar, bizottságok m</a:t>
            </a:r>
            <a:r>
              <a:rPr lang="hu-HU" altLang="hu-HU" sz="3100" dirty="0"/>
              <a:t>ű</a:t>
            </a:r>
            <a:r>
              <a:rPr lang="hu-HU" altLang="hu-HU" sz="3100" dirty="0">
                <a:cs typeface="Times New Roman" panose="02020603050405020304" pitchFamily="18" charset="0"/>
              </a:rPr>
              <a:t>ködésével)</a:t>
            </a:r>
          </a:p>
          <a:p>
            <a:pPr eaLnBrk="1" hangingPunct="1"/>
            <a:endParaRPr lang="hu-HU" altLang="hu-HU" sz="2400" dirty="0"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93EC162-C591-4769-A0D6-3AC315E74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16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2461"/>
            <a:ext cx="11919858" cy="55055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u-HU" altLang="hu-HU" sz="3100" b="1" u="sng" dirty="0">
                <a:cs typeface="Times New Roman" panose="02020603050405020304" pitchFamily="18" charset="0"/>
              </a:rPr>
              <a:t>Előnyei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funkcionális munkamegosztás növeli a szakszerűséget, amely a munkatermelékenység növekedését és az </a:t>
            </a:r>
            <a:r>
              <a:rPr lang="hu-HU" sz="3100" strike="noStrike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egységköltség</a:t>
            </a: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csökkenését eredményezheti,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kisebb vertikális tagoltság, és a jól meghatározott funkcionalitás a rendszer gyors működését teszi lehetővé,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termelési, illetve munkafolyamatok szabályozottsága jelentősen csökkentheti a koordinációs ráfordításokat,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stabil környezeti feltételekre alapozva a vállalati stratégia kialakítása viszonylag egyszerű</a:t>
            </a:r>
            <a:endParaRPr lang="hu-HU" altLang="hu-HU" sz="31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u-HU" altLang="hu-HU" sz="3100" b="1" u="sng" dirty="0">
                <a:cs typeface="Times New Roman" panose="02020603050405020304" pitchFamily="18" charset="0"/>
              </a:rPr>
              <a:t>Hátrányai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növekvő diverzifikációnál a funkcionális specializáció miatt az anyagi és információs kapcsolatok olyan nehezen áttekinthető rendszere jöhet létre, amely jelentős mértékben megnöveli a koordinációs ráfordításokat,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funkcionális szakosodás felesleges mennyiségi és minőségi tartalékokat hozhat létre, a szakszerűség öncélúvá válhat;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szervezet külső és belső kapcsolatainak növekvő bonyolultsága következtében a döntési hatáskörök centralizáltsága egyre csökkenő mértékben képes valódi koordinációt biztosítani;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</a:pPr>
            <a:r>
              <a:rPr lang="hu-HU" sz="3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centralizált hatáskörök és az erőteljes szabályozottság útján történő irányítás megnehezíti a szervezet alkalmazkodó képességét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A63BEEFD-4535-4990-A2F3-11800201C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3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Funkcionális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2461"/>
            <a:ext cx="11919858" cy="5505538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hu-HU" altLang="hu-HU" b="1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hu-HU" altLang="hu-HU" b="1" dirty="0">
                <a:cs typeface="Times New Roman" panose="02020603050405020304" pitchFamily="18" charset="0"/>
              </a:rPr>
              <a:t>Törzskar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dirty="0">
                <a:cs typeface="Times New Roman" panose="02020603050405020304" pitchFamily="18" charset="0"/>
              </a:rPr>
              <a:t>Kialakulásának célja a vezet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 túlterheltségének csökkentése, a szakma színvonalának növelése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dirty="0">
                <a:cs typeface="Times New Roman" panose="02020603050405020304" pitchFamily="18" charset="0"/>
              </a:rPr>
              <a:t>A szervezet kiegészül egy törzsegységgel, amely a különböz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 szakterületek szakért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it foglalja magába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dirty="0">
                <a:cs typeface="Times New Roman" panose="02020603050405020304" pitchFamily="18" charset="0"/>
              </a:rPr>
              <a:t>A törzsegység szakért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i véleményt alkotnak, de utasítási joguk nincs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dirty="0">
                <a:cs typeface="Times New Roman" panose="02020603050405020304" pitchFamily="18" charset="0"/>
              </a:rPr>
              <a:t>F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ként a funkcionális szervezeti forma el</a:t>
            </a:r>
            <a:r>
              <a:rPr lang="hu-HU" altLang="hu-HU" dirty="0"/>
              <a:t>ő</a:t>
            </a:r>
            <a:r>
              <a:rPr lang="hu-HU" altLang="hu-HU" dirty="0">
                <a:cs typeface="Times New Roman" panose="02020603050405020304" pitchFamily="18" charset="0"/>
              </a:rPr>
              <a:t>nyeire épül</a:t>
            </a:r>
          </a:p>
          <a:p>
            <a:pPr eaLnBrk="1" hangingPunct="1"/>
            <a:endParaRPr lang="hu-HU" altLang="hu-HU" sz="3100" dirty="0">
              <a:cs typeface="Times New Roman" panose="02020603050405020304" pitchFamily="18" charset="0"/>
            </a:endParaRPr>
          </a:p>
          <a:p>
            <a:pPr eaLnBrk="1" hangingPunct="1"/>
            <a:endParaRPr lang="hu-HU" altLang="hu-HU" sz="2400" dirty="0"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86AED179-4D08-47CC-8279-7C463E0DF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06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Divizionális szervezet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8" name="Picture 7" descr="div">
            <a:extLst>
              <a:ext uri="{FF2B5EF4-FFF2-40B4-BE49-F238E27FC236}">
                <a16:creationId xmlns="" xmlns:a16="http://schemas.microsoft.com/office/drawing/2014/main" id="{52FBA931-87DA-44CD-A78D-BA3DFD7D3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43" y="1136543"/>
            <a:ext cx="11146404" cy="560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="" xmlns:a16="http://schemas.microsoft.com/office/drawing/2014/main" id="{D3A9993C-CD2D-44C5-8E1F-514C9B584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69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Divizionális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05678"/>
            <a:ext cx="11919858" cy="5552321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buNone/>
            </a:pPr>
            <a:r>
              <a:rPr lang="hu-HU" altLang="hu-HU" sz="3400" b="1" dirty="0">
                <a:cs typeface="Times New Roman" panose="02020603050405020304" pitchFamily="18" charset="0"/>
              </a:rPr>
              <a:t>Kialakulásának okai</a:t>
            </a:r>
          </a:p>
          <a:p>
            <a:pPr lvl="1" eaLnBrk="1" hangingPunct="1"/>
            <a:r>
              <a:rPr lang="hu-HU" altLang="hu-HU" sz="3400" dirty="0">
                <a:cs typeface="Arial" panose="020B0604020202020204" pitchFamily="34" charset="0"/>
              </a:rPr>
              <a:t>Növekv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Arial" panose="020B0604020202020204" pitchFamily="34" charset="0"/>
              </a:rPr>
              <a:t> vállalati méretek, </a:t>
            </a:r>
            <a:r>
              <a:rPr lang="hu-HU" altLang="hu-HU" sz="3400" dirty="0" err="1">
                <a:cs typeface="Arial" panose="020B0604020202020204" pitchFamily="34" charset="0"/>
              </a:rPr>
              <a:t>internacionalizálás</a:t>
            </a:r>
            <a:endParaRPr lang="hu-HU" altLang="hu-HU" sz="34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hu-HU" altLang="hu-HU" sz="3400" dirty="0">
                <a:cs typeface="Arial" panose="020B0604020202020204" pitchFamily="34" charset="0"/>
              </a:rPr>
              <a:t>Er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Arial" panose="020B0604020202020204" pitchFamily="34" charset="0"/>
              </a:rPr>
              <a:t>teljes termelési- ill. termékdiverzifikáció (termékcsaládok, széles termékskála, heterogén termékek)</a:t>
            </a:r>
            <a:endParaRPr lang="hu-HU" altLang="hu-HU" sz="34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hu-HU" altLang="hu-HU" sz="3400" dirty="0">
                <a:cs typeface="Arial" panose="020B0604020202020204" pitchFamily="34" charset="0"/>
              </a:rPr>
              <a:t>Viszonylag dinamikus környezet</a:t>
            </a:r>
            <a:endParaRPr lang="hu-HU" altLang="hu-HU" sz="34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hu-HU" altLang="hu-HU" sz="3400" b="1" dirty="0">
                <a:cs typeface="Times New Roman" panose="02020603050405020304" pitchFamily="18" charset="0"/>
              </a:rPr>
              <a:t>Jellemz</a:t>
            </a:r>
            <a:r>
              <a:rPr lang="hu-HU" altLang="hu-HU" sz="3400" b="1" dirty="0"/>
              <a:t>ő</a:t>
            </a:r>
            <a:r>
              <a:rPr lang="hu-HU" altLang="hu-HU" sz="3400" b="1" dirty="0">
                <a:cs typeface="Times New Roman" panose="02020603050405020304" pitchFamily="18" charset="0"/>
              </a:rPr>
              <a:t>k</a:t>
            </a:r>
          </a:p>
          <a:p>
            <a:pPr lvl="1" eaLnBrk="1" hangingPunct="1"/>
            <a:r>
              <a:rPr lang="hu-HU" altLang="hu-HU" sz="3400" b="1" dirty="0">
                <a:cs typeface="Times New Roman" panose="02020603050405020304" pitchFamily="18" charset="0"/>
              </a:rPr>
              <a:t>Tárgyi elv</a:t>
            </a:r>
            <a:r>
              <a:rPr lang="hu-HU" altLang="hu-HU" sz="3400" b="1" dirty="0"/>
              <a:t>ű</a:t>
            </a:r>
            <a:r>
              <a:rPr lang="hu-HU" altLang="hu-HU" sz="3400" b="1" dirty="0">
                <a:cs typeface="Times New Roman" panose="02020603050405020304" pitchFamily="18" charset="0"/>
              </a:rPr>
              <a:t> </a:t>
            </a:r>
            <a:r>
              <a:rPr lang="hu-HU" altLang="hu-HU" sz="3400" dirty="0">
                <a:cs typeface="Times New Roman" panose="02020603050405020304" pitchFamily="18" charset="0"/>
              </a:rPr>
              <a:t>a munkamegosztás, vagyis termék(csoport), vev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Times New Roman" panose="02020603050405020304" pitchFamily="18" charset="0"/>
              </a:rPr>
              <a:t>(csoport) ill. földrajzi értelemben vett piaci </a:t>
            </a:r>
            <a:r>
              <a:rPr lang="hu-HU" altLang="hu-HU" sz="3400" b="1" dirty="0">
                <a:cs typeface="Times New Roman" panose="02020603050405020304" pitchFamily="18" charset="0"/>
              </a:rPr>
              <a:t>régiók szerint tagolják a szervezetet</a:t>
            </a:r>
            <a:endParaRPr lang="hu-HU" altLang="hu-HU" sz="34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hu-HU" altLang="hu-HU" sz="3400" dirty="0">
                <a:cs typeface="Times New Roman" panose="02020603050405020304" pitchFamily="18" charset="0"/>
              </a:rPr>
              <a:t>K+F tevékenységek megosztása</a:t>
            </a:r>
          </a:p>
          <a:p>
            <a:pPr lvl="1" eaLnBrk="1" hangingPunct="1"/>
            <a:r>
              <a:rPr lang="hu-HU" altLang="hu-HU" sz="3400" dirty="0">
                <a:cs typeface="Times New Roman" panose="02020603050405020304" pitchFamily="18" charset="0"/>
              </a:rPr>
              <a:t>A </a:t>
            </a:r>
            <a:r>
              <a:rPr lang="en-GB" altLang="hu-HU" sz="3400" dirty="0">
                <a:cs typeface="Times New Roman" panose="02020603050405020304" pitchFamily="18" charset="0"/>
              </a:rPr>
              <a:t>top-down</a:t>
            </a:r>
            <a:r>
              <a:rPr lang="hu-HU" altLang="hu-HU" sz="3400" dirty="0">
                <a:cs typeface="Times New Roman" panose="02020603050405020304" pitchFamily="18" charset="0"/>
              </a:rPr>
              <a:t> és a </a:t>
            </a:r>
            <a:r>
              <a:rPr lang="en-GB" altLang="hu-HU" sz="3400" dirty="0">
                <a:cs typeface="Times New Roman" panose="02020603050405020304" pitchFamily="18" charset="0"/>
              </a:rPr>
              <a:t>bottom-up</a:t>
            </a:r>
            <a:r>
              <a:rPr lang="hu-HU" altLang="hu-HU" sz="3400" dirty="0">
                <a:cs typeface="Times New Roman" panose="02020603050405020304" pitchFamily="18" charset="0"/>
              </a:rPr>
              <a:t> információáramlás egyszerre érvényesül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3400" b="1" dirty="0">
                <a:cs typeface="Times New Roman" panose="02020603050405020304" pitchFamily="18" charset="0"/>
              </a:rPr>
              <a:t>Felső vezetés – központi egységek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dirty="0">
                <a:cs typeface="Times New Roman" panose="02020603050405020304" pitchFamily="18" charset="0"/>
              </a:rPr>
              <a:t>Irányítási, koordinációs és ellen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Times New Roman" panose="02020603050405020304" pitchFamily="18" charset="0"/>
              </a:rPr>
              <a:t>rzési tevékenység (kontrolling), hosszútávú célok, stratégia kialakítása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dirty="0">
                <a:cs typeface="Times New Roman" panose="02020603050405020304" pitchFamily="18" charset="0"/>
              </a:rPr>
              <a:t>források elosztása (pénzügy)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dirty="0">
                <a:cs typeface="Times New Roman" panose="02020603050405020304" pitchFamily="18" charset="0"/>
              </a:rPr>
              <a:t>a divíziók egymástól független m</a:t>
            </a:r>
            <a:r>
              <a:rPr lang="hu-HU" altLang="hu-HU" sz="3400" dirty="0"/>
              <a:t>ű</a:t>
            </a:r>
            <a:r>
              <a:rPr lang="hu-HU" altLang="hu-HU" sz="3400" dirty="0">
                <a:cs typeface="Times New Roman" panose="02020603050405020304" pitchFamily="18" charset="0"/>
              </a:rPr>
              <a:t>ködési feltételeinek megteremtése,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dirty="0">
                <a:cs typeface="Times New Roman" panose="02020603050405020304" pitchFamily="18" charset="0"/>
              </a:rPr>
              <a:t>hatékonysági kritériumok kidolgozása és teljesülésüknek ellen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Times New Roman" panose="02020603050405020304" pitchFamily="18" charset="0"/>
              </a:rPr>
              <a:t>rzése.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b="1" dirty="0">
                <a:cs typeface="Times New Roman" panose="02020603050405020304" pitchFamily="18" charset="0"/>
              </a:rPr>
              <a:t>Központi szolgáltató egységek:</a:t>
            </a:r>
            <a:r>
              <a:rPr lang="hu-HU" altLang="hu-HU" sz="3400" dirty="0">
                <a:cs typeface="Times New Roman" panose="02020603050405020304" pitchFamily="18" charset="0"/>
              </a:rPr>
              <a:t> számítástechnikai és szervezési központ, oktatási- és továbbképzési központ, piackutatás, szállítás - anyagmozgatás</a:t>
            </a:r>
            <a:endParaRPr lang="hu-HU" altLang="hu-HU" sz="3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3400" b="1" dirty="0">
                <a:cs typeface="Times New Roman" panose="02020603050405020304" pitchFamily="18" charset="0"/>
              </a:rPr>
              <a:t>Divíziók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3400" dirty="0">
                <a:cs typeface="Times New Roman" panose="02020603050405020304" pitchFamily="18" charset="0"/>
              </a:rPr>
              <a:t>Nagy önállósággal rendelkeznek, a hatáskörök jelent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Times New Roman" panose="02020603050405020304" pitchFamily="18" charset="0"/>
              </a:rPr>
              <a:t>s része a divízióvezet</a:t>
            </a:r>
            <a:r>
              <a:rPr lang="hu-HU" altLang="hu-HU" sz="3400" dirty="0"/>
              <a:t>ő</a:t>
            </a:r>
            <a:r>
              <a:rPr lang="hu-HU" altLang="hu-HU" sz="3400" dirty="0">
                <a:cs typeface="Times New Roman" panose="02020603050405020304" pitchFamily="18" charset="0"/>
              </a:rPr>
              <a:t>k kezében van.</a:t>
            </a:r>
          </a:p>
          <a:p>
            <a:pPr eaLnBrk="1" hangingPunct="1"/>
            <a:endParaRPr lang="hu-HU" altLang="hu-HU" sz="2400" dirty="0"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F835669-E80C-486F-B965-74AC2967C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76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Divizionális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05678"/>
            <a:ext cx="11919858" cy="555232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hu-HU" altLang="hu-HU" sz="2400" b="1" u="sng" dirty="0">
                <a:cs typeface="Times New Roman" panose="02020603050405020304" pitchFamily="18" charset="0"/>
              </a:rPr>
              <a:t>Előnyei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felsővezetés fókuszálhat a hosszútávó célok kialakítására és az erőforrások megteremtésére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divíziók autonómiájának köszönhetően növekszik a rugalmasság, decentralizáltság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piaci változások csak az adott divíziót érintik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vállalati tagoltság az adott területek, vevők hatékonyabb kiszolgálásához vezet</a:t>
            </a:r>
          </a:p>
          <a:p>
            <a:pPr marL="457200" lvl="1" indent="0">
              <a:buNone/>
            </a:pPr>
            <a:endParaRPr lang="hu-HU" altLang="hu-HU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hu-HU" altLang="hu-HU" b="1" u="sng" dirty="0">
                <a:cs typeface="Times New Roman" panose="02020603050405020304" pitchFamily="18" charset="0"/>
              </a:rPr>
              <a:t>Hátrányai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felsővezetés és a divízió vezetők érdekei eltérhetnek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Érdekellentét esetében több ellenőrzés válhat szükségessé, amely a felsővezetés leterheltségéhez, a divizionális előny elvesztéséhez vezet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Magas fix költségek, a divíziók fenntartása érdekében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Kevésbé rugalmas szervezeti forma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FEBD6A8-C3DA-4053-8C67-D163535B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79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Mátrix szervezet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8" name="Picture 8" descr="mátrix1">
            <a:extLst>
              <a:ext uri="{FF2B5EF4-FFF2-40B4-BE49-F238E27FC236}">
                <a16:creationId xmlns="" xmlns:a16="http://schemas.microsoft.com/office/drawing/2014/main" id="{B3AA2828-9FF8-4BBF-803B-BB6762B94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734" y="1458751"/>
            <a:ext cx="8420532" cy="512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="" xmlns:a16="http://schemas.microsoft.com/office/drawing/2014/main" id="{89F66D59-15B6-481D-8D38-FAFF055CC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83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Mátrix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05678"/>
            <a:ext cx="12055929" cy="5552321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hu-HU" altLang="hu-HU" sz="2200" dirty="0">
                <a:cs typeface="Times New Roman" panose="02020603050405020304" pitchFamily="18" charset="0"/>
              </a:rPr>
              <a:t>Az els</a:t>
            </a:r>
            <a:r>
              <a:rPr lang="hu-HU" altLang="hu-HU" sz="2200" dirty="0"/>
              <a:t>ő</a:t>
            </a:r>
            <a:r>
              <a:rPr lang="hu-HU" altLang="hu-HU" sz="2200" dirty="0">
                <a:cs typeface="Times New Roman" panose="02020603050405020304" pitchFamily="18" charset="0"/>
              </a:rPr>
              <a:t>dleges munkamegosztás szintjén </a:t>
            </a:r>
            <a:r>
              <a:rPr lang="hu-HU" altLang="hu-HU" sz="2200" b="1" dirty="0">
                <a:cs typeface="Times New Roman" panose="02020603050405020304" pitchFamily="18" charset="0"/>
              </a:rPr>
              <a:t>két munkamegosztási elvet egyszerre</a:t>
            </a:r>
            <a:r>
              <a:rPr lang="hu-HU" altLang="hu-HU" sz="2200" dirty="0">
                <a:cs typeface="Times New Roman" panose="02020603050405020304" pitchFamily="18" charset="0"/>
              </a:rPr>
              <a:t> (szimultán) alkalmaznak. </a:t>
            </a:r>
          </a:p>
          <a:p>
            <a:pPr lvl="1"/>
            <a:r>
              <a:rPr lang="hu-HU" altLang="hu-HU" sz="2200" dirty="0">
                <a:sym typeface="Symbol" panose="05050102010706020507" pitchFamily="18" charset="2"/>
              </a:rPr>
              <a:t>Több dimenziós szervezeti forma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200" dirty="0">
                <a:cs typeface="Times New Roman" panose="02020603050405020304" pitchFamily="18" charset="0"/>
              </a:rPr>
              <a:t>Az alkalmazott munkamegosztási elvek „kombinációi”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2200" b="1" dirty="0">
                <a:cs typeface="Times New Roman" panose="02020603050405020304" pitchFamily="18" charset="0"/>
              </a:rPr>
              <a:t>Funkció – termék </a:t>
            </a:r>
            <a:r>
              <a:rPr lang="hu-HU" altLang="hu-HU" sz="2200" dirty="0">
                <a:cs typeface="Times New Roman" panose="02020603050405020304" pitchFamily="18" charset="0"/>
              </a:rPr>
              <a:t>– termék-, vev</a:t>
            </a:r>
            <a:r>
              <a:rPr lang="hu-HU" altLang="hu-HU" sz="2200" dirty="0"/>
              <a:t>ő</a:t>
            </a:r>
            <a:r>
              <a:rPr lang="hu-HU" altLang="hu-HU" sz="2200" dirty="0">
                <a:cs typeface="Times New Roman" panose="02020603050405020304" pitchFamily="18" charset="0"/>
              </a:rPr>
              <a:t>orientált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2200" b="1" dirty="0">
                <a:cs typeface="Times New Roman" panose="02020603050405020304" pitchFamily="18" charset="0"/>
              </a:rPr>
              <a:t>Funkció, termék – régió 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2200" b="1" dirty="0">
                <a:cs typeface="Times New Roman" panose="02020603050405020304" pitchFamily="18" charset="0"/>
              </a:rPr>
              <a:t>Funkció – projekt</a:t>
            </a:r>
          </a:p>
          <a:p>
            <a:pPr marL="0" indent="0">
              <a:buNone/>
            </a:pPr>
            <a:r>
              <a:rPr lang="hu-HU" altLang="hu-HU" sz="2200" dirty="0"/>
              <a:t>Dinamikusan </a:t>
            </a:r>
            <a:r>
              <a:rPr lang="hu-HU" altLang="hu-HU" sz="2200" b="1" dirty="0"/>
              <a:t>változó környezet</a:t>
            </a:r>
            <a:r>
              <a:rPr lang="hu-HU" altLang="hu-HU" sz="2200" dirty="0"/>
              <a:t>, összetett, jelentős </a:t>
            </a:r>
            <a:r>
              <a:rPr lang="hu-HU" altLang="hu-HU" sz="2200" b="1" dirty="0"/>
              <a:t>innovációs</a:t>
            </a:r>
            <a:r>
              <a:rPr lang="hu-HU" altLang="hu-HU" sz="2200" dirty="0"/>
              <a:t> igénnyel jellemezhető feladatok,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200" dirty="0"/>
              <a:t>Konfliktus kezelési készség és képesség a szervezeten belül,</a:t>
            </a:r>
          </a:p>
          <a:p>
            <a:pPr lvl="1"/>
            <a:r>
              <a:rPr lang="hu-HU" altLang="hu-HU" sz="2200" dirty="0"/>
              <a:t>A szabályozottság dominanciája nem teljes, az egyeztetések, a konfliktuskezelés elvárt.</a:t>
            </a:r>
          </a:p>
          <a:p>
            <a:pPr lvl="1"/>
            <a:r>
              <a:rPr lang="hu-HU" altLang="hu-HU" sz="2200" dirty="0"/>
              <a:t>A döntések decentralizáltak, a funkcionális és tárgyi elvű vezetők együtt döntenek, azonos kompetenciával rendelkeznek</a:t>
            </a:r>
          </a:p>
          <a:p>
            <a:pPr lvl="1"/>
            <a:r>
              <a:rPr lang="hu-HU" altLang="hu-HU" sz="2200" dirty="0"/>
              <a:t>A szabályozottság, formalizáltság viszonylag alacsony érvényű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200" dirty="0"/>
              <a:t>A </a:t>
            </a:r>
            <a:r>
              <a:rPr lang="hu-HU" altLang="hu-HU" sz="2200" b="1" dirty="0"/>
              <a:t>horizontális és vertikális koordináció </a:t>
            </a:r>
            <a:r>
              <a:rPr lang="hu-HU" altLang="hu-HU" sz="2200" dirty="0"/>
              <a:t>a strukturális megoldás alapján biztosított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hu-HU" altLang="hu-HU" sz="2200" dirty="0"/>
              <a:t>A </a:t>
            </a:r>
            <a:r>
              <a:rPr lang="hu-HU" altLang="hu-HU" sz="2200" b="1" dirty="0"/>
              <a:t>személyorientált koordinációs eszközök </a:t>
            </a:r>
            <a:r>
              <a:rPr lang="hu-HU" altLang="hu-HU" sz="2200" dirty="0"/>
              <a:t>a meghatározóak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9AE96EFE-2C26-4009-958C-3C2F5ACC2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67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Mátrix szervezet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05678"/>
            <a:ext cx="12055929" cy="5552321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hu-HU" altLang="hu-HU" b="1" u="sng" dirty="0">
                <a:cs typeface="Times New Roman" panose="02020603050405020304" pitchFamily="18" charset="0"/>
              </a:rPr>
              <a:t>Előnyei</a:t>
            </a:r>
          </a:p>
          <a:p>
            <a:pPr lvl="1" eaLnBrk="1" hangingPunct="1"/>
            <a:r>
              <a:rPr lang="hu-HU" altLang="hu-HU" dirty="0"/>
              <a:t>Adaptív, alkalmazkodik a kihívásokhoz</a:t>
            </a:r>
          </a:p>
          <a:p>
            <a:pPr lvl="1" eaLnBrk="1" hangingPunct="1"/>
            <a:r>
              <a:rPr lang="hu-HU" altLang="hu-HU" dirty="0"/>
              <a:t>Innovatív szemlélet érvényesíthető</a:t>
            </a:r>
          </a:p>
          <a:p>
            <a:pPr lvl="1" eaLnBrk="1" hangingPunct="1"/>
            <a:r>
              <a:rPr lang="hu-HU" altLang="hu-HU" dirty="0"/>
              <a:t>Kevert struktúrák alakulhatnak ki, mint pl. a </a:t>
            </a:r>
            <a:r>
              <a:rPr lang="hu-HU" altLang="hu-HU" dirty="0" err="1"/>
              <a:t>mikro</a:t>
            </a:r>
            <a:r>
              <a:rPr lang="hu-HU" altLang="hu-HU" dirty="0"/>
              <a:t>-mátrix</a:t>
            </a:r>
          </a:p>
          <a:p>
            <a:pPr lvl="1" eaLnBrk="1" hangingPunct="1"/>
            <a:r>
              <a:rPr lang="hu-HU" altLang="hu-HU" dirty="0"/>
              <a:t>A konfliktuskezelés egyben tanulási folyamat</a:t>
            </a:r>
          </a:p>
          <a:p>
            <a:pPr lvl="1" eaLnBrk="1" hangingPunct="1"/>
            <a:r>
              <a:rPr lang="hu-HU" altLang="hu-HU" dirty="0"/>
              <a:t>Elősegíti a rugalmasságot</a:t>
            </a:r>
          </a:p>
          <a:p>
            <a:pPr lvl="1" eaLnBrk="1" hangingPunct="1"/>
            <a:r>
              <a:rPr lang="hu-HU" altLang="hu-HU" dirty="0"/>
              <a:t>Az egészséges versengés elősegítheti az előre haladást</a:t>
            </a:r>
            <a:endParaRPr lang="hu-HU" altLang="hu-HU" b="1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hu-HU" altLang="hu-HU" b="1" u="sng" dirty="0">
                <a:cs typeface="Times New Roman" panose="02020603050405020304" pitchFamily="18" charset="0"/>
              </a:rPr>
              <a:t>Hátrányai</a:t>
            </a:r>
          </a:p>
          <a:p>
            <a:pPr lvl="1" eaLnBrk="1" hangingPunct="1"/>
            <a:r>
              <a:rPr lang="hu-HU" altLang="hu-HU" dirty="0"/>
              <a:t>A konfliktus helyzet állandó jelenléte</a:t>
            </a:r>
          </a:p>
          <a:p>
            <a:pPr lvl="1" eaLnBrk="1" hangingPunct="1"/>
            <a:r>
              <a:rPr lang="hu-HU" altLang="hu-HU" dirty="0"/>
              <a:t>A vezetők rivalizálása</a:t>
            </a:r>
          </a:p>
          <a:p>
            <a:pPr lvl="1" eaLnBrk="1" hangingPunct="1"/>
            <a:r>
              <a:rPr lang="hu-HU" altLang="hu-HU" dirty="0"/>
              <a:t>A döntések és a felelősségvállalás elhárítása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Az elszabadult konfliktusok moderálása leterhelhetik a felsővezetést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Magas szintű szervezeti kompetenciákat és elköteleződést igényel, tényleg csak meglehetősen rugalmas, indokolt környezetben érdemes alkalmazni</a:t>
            </a:r>
          </a:p>
          <a:p>
            <a:pPr eaLnBrk="1" hangingPunct="1"/>
            <a:endParaRPr lang="hu-HU" altLang="hu-HU" sz="22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19573FA5-FCBA-448A-9EBF-12BBD3895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24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orientáció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33378"/>
            <a:ext cx="12055929" cy="5624622"/>
          </a:xfrm>
        </p:spPr>
        <p:txBody>
          <a:bodyPr>
            <a:noAutofit/>
          </a:bodyPr>
          <a:lstStyle/>
          <a:p>
            <a:pPr eaLnBrk="1" hangingPunct="1"/>
            <a:r>
              <a:rPr lang="hu-HU" altLang="hu-HU" dirty="0"/>
              <a:t>Napjainkban egyre több szervezet választja a projektek megvalósítását mint a szervezet elsődleges hajtómotorja</a:t>
            </a:r>
          </a:p>
          <a:p>
            <a:pPr eaLnBrk="1" hangingPunct="1"/>
            <a:r>
              <a:rPr lang="hu-HU" altLang="hu-HU" dirty="0"/>
              <a:t>Mátrix szervezeti forma – funkció – projekt mátrix</a:t>
            </a:r>
          </a:p>
          <a:p>
            <a:pPr eaLnBrk="1" hangingPunct="1"/>
            <a:r>
              <a:rPr lang="hu-HU" altLang="hu-HU" dirty="0"/>
              <a:t>Egyre nagyobb szerepkört kap a projektmenedzsment</a:t>
            </a:r>
          </a:p>
          <a:p>
            <a:pPr eaLnBrk="1" hangingPunct="1"/>
            <a:r>
              <a:rPr lang="hu-HU" altLang="hu-HU" b="1" dirty="0"/>
              <a:t>Működés projekteken keresztül</a:t>
            </a:r>
          </a:p>
          <a:p>
            <a:pPr lvl="2"/>
            <a:r>
              <a:rPr lang="hu-HU" altLang="hu-HU" dirty="0"/>
              <a:t>Egyedi tevékenység, pontos céllal, erőforrás és időigénnyel amelyet a vállalat csak egyszer valósít meg</a:t>
            </a:r>
          </a:p>
          <a:p>
            <a:pPr lvl="2"/>
            <a:r>
              <a:rPr lang="hu-HU" altLang="hu-HU" dirty="0"/>
              <a:t>Elősegíti a rugalmasságot</a:t>
            </a:r>
          </a:p>
          <a:p>
            <a:pPr lvl="2"/>
            <a:r>
              <a:rPr lang="hu-HU" altLang="hu-HU" dirty="0"/>
              <a:t>Felelősséget helyez a projektek sikeres kivitelezésére</a:t>
            </a:r>
          </a:p>
          <a:p>
            <a:pPr lvl="2"/>
            <a:r>
              <a:rPr lang="hu-HU" altLang="hu-HU" dirty="0"/>
              <a:t>Célorientált, biztosítja a szervezeti előre haladást és a folyamatos fejlődést</a:t>
            </a:r>
          </a:p>
          <a:p>
            <a:pPr lvl="2"/>
            <a:r>
              <a:rPr lang="hu-HU" altLang="hu-HU" dirty="0"/>
              <a:t>Elősegíti a tervezést, a szükséges kompetenciák, erőforrások, idő meghatározását</a:t>
            </a:r>
          </a:p>
          <a:p>
            <a:pPr lvl="2"/>
            <a:r>
              <a:rPr lang="hu-HU" altLang="hu-HU" dirty="0"/>
              <a:t>Mérhető folyamatokat biztosít amelyeknek a végeredménye pontosan meghatározott</a:t>
            </a:r>
          </a:p>
          <a:p>
            <a:pPr lvl="2"/>
            <a:r>
              <a:rPr lang="hu-HU" altLang="hu-HU" dirty="0"/>
              <a:t>Biztosítja a szervezeti tanulást</a:t>
            </a:r>
          </a:p>
          <a:p>
            <a:pPr lvl="2"/>
            <a:r>
              <a:rPr lang="hu-HU" altLang="hu-HU" dirty="0"/>
              <a:t>Lehetővé teszi a szervezeti változást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1AD1273D-D256-4837-B8DE-7495F5724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5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orientáció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sp>
        <p:nvSpPr>
          <p:cNvPr id="8" name="Rectangle 32">
            <a:extLst>
              <a:ext uri="{FF2B5EF4-FFF2-40B4-BE49-F238E27FC236}">
                <a16:creationId xmlns="" xmlns:a16="http://schemas.microsoft.com/office/drawing/2014/main" id="{A31C6984-3E5E-4067-ACCC-6599B17A5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377" y="1335435"/>
            <a:ext cx="2160587" cy="503237"/>
          </a:xfrm>
          <a:prstGeom prst="rect">
            <a:avLst/>
          </a:prstGeom>
          <a:solidFill>
            <a:srgbClr val="771105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hu-H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hu-HU" altLang="hu-HU" b="1" dirty="0">
                <a:solidFill>
                  <a:schemeClr val="bg1"/>
                </a:solidFill>
                <a:latin typeface="+mn-lt"/>
              </a:rPr>
              <a:t>Vállalatvezetés</a:t>
            </a:r>
          </a:p>
        </p:txBody>
      </p:sp>
      <p:grpSp>
        <p:nvGrpSpPr>
          <p:cNvPr id="9" name="Group 59">
            <a:extLst>
              <a:ext uri="{FF2B5EF4-FFF2-40B4-BE49-F238E27FC236}">
                <a16:creationId xmlns="" xmlns:a16="http://schemas.microsoft.com/office/drawing/2014/main" id="{894082CF-3816-4E0D-A5BE-B4395FE3C4D9}"/>
              </a:ext>
            </a:extLst>
          </p:cNvPr>
          <p:cNvGrpSpPr>
            <a:grpSpLocks/>
          </p:cNvGrpSpPr>
          <p:nvPr/>
        </p:nvGrpSpPr>
        <p:grpSpPr bwMode="auto">
          <a:xfrm>
            <a:off x="2133377" y="1848825"/>
            <a:ext cx="8245478" cy="4897441"/>
            <a:chOff x="476" y="1162"/>
            <a:chExt cx="5194" cy="3085"/>
          </a:xfrm>
          <a:solidFill>
            <a:srgbClr val="771105"/>
          </a:solidFill>
        </p:grpSpPr>
        <p:sp>
          <p:nvSpPr>
            <p:cNvPr id="10" name="Rectangle 33">
              <a:extLst>
                <a:ext uri="{FF2B5EF4-FFF2-40B4-BE49-F238E27FC236}">
                  <a16:creationId xmlns="" xmlns:a16="http://schemas.microsoft.com/office/drawing/2014/main" id="{0D027A7D-EF4A-4FC6-8502-92D6FCDEC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344"/>
              <a:ext cx="907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Termelés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Termelési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igazgató</a:t>
              </a:r>
            </a:p>
          </p:txBody>
        </p:sp>
        <p:sp>
          <p:nvSpPr>
            <p:cNvPr id="11" name="Rectangle 34">
              <a:extLst>
                <a:ext uri="{FF2B5EF4-FFF2-40B4-BE49-F238E27FC236}">
                  <a16:creationId xmlns="" xmlns:a16="http://schemas.microsoft.com/office/drawing/2014/main" id="{E9C3713C-99E6-4A46-A332-036A475E9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344"/>
              <a:ext cx="908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Kereskedelem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Kereskedelmi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igazgató</a:t>
              </a:r>
            </a:p>
          </p:txBody>
        </p:sp>
        <p:sp>
          <p:nvSpPr>
            <p:cNvPr id="12" name="Rectangle 35">
              <a:extLst>
                <a:ext uri="{FF2B5EF4-FFF2-40B4-BE49-F238E27FC236}">
                  <a16:creationId xmlns="" xmlns:a16="http://schemas.microsoft.com/office/drawing/2014/main" id="{13F4D254-5836-4CAC-8454-92433A865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1344"/>
              <a:ext cx="885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Vállalati 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igazgatás</a:t>
              </a:r>
            </a:p>
          </p:txBody>
        </p:sp>
        <p:sp>
          <p:nvSpPr>
            <p:cNvPr id="13" name="Rectangle 36">
              <a:extLst>
                <a:ext uri="{FF2B5EF4-FFF2-40B4-BE49-F238E27FC236}">
                  <a16:creationId xmlns="" xmlns:a16="http://schemas.microsoft.com/office/drawing/2014/main" id="{57D634C9-9E35-4C2A-A566-04BDCC538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612"/>
              <a:ext cx="952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C 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projekt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(vezető)</a:t>
              </a:r>
            </a:p>
          </p:txBody>
        </p:sp>
        <p:sp>
          <p:nvSpPr>
            <p:cNvPr id="14" name="Rectangle 37">
              <a:extLst>
                <a:ext uri="{FF2B5EF4-FFF2-40B4-BE49-F238E27FC236}">
                  <a16:creationId xmlns="" xmlns:a16="http://schemas.microsoft.com/office/drawing/2014/main" id="{FC43DEF3-0075-499F-BB1C-DCF7449E9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840"/>
              <a:ext cx="952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B 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projekt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(vezető)</a:t>
              </a:r>
            </a:p>
          </p:txBody>
        </p:sp>
        <p:sp>
          <p:nvSpPr>
            <p:cNvPr id="15" name="Rectangle 38">
              <a:extLst>
                <a:ext uri="{FF2B5EF4-FFF2-40B4-BE49-F238E27FC236}">
                  <a16:creationId xmlns="" xmlns:a16="http://schemas.microsoft.com/office/drawing/2014/main" id="{387E6302-FA64-4F6F-9258-DCC1BDAD8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069"/>
              <a:ext cx="952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A 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Projekt</a:t>
              </a:r>
            </a:p>
            <a:p>
              <a:pPr algn="ctr" eaLnBrk="1" hangingPunct="1"/>
              <a:r>
                <a:rPr lang="hu-HU" altLang="hu-HU" b="1">
                  <a:solidFill>
                    <a:schemeClr val="bg1"/>
                  </a:solidFill>
                  <a:latin typeface="+mn-lt"/>
                </a:rPr>
                <a:t>(vezető)</a:t>
              </a:r>
            </a:p>
          </p:txBody>
        </p:sp>
        <p:sp>
          <p:nvSpPr>
            <p:cNvPr id="16" name="Line 39">
              <a:extLst>
                <a:ext uri="{FF2B5EF4-FFF2-40B4-BE49-F238E27FC236}">
                  <a16:creationId xmlns="" xmlns:a16="http://schemas.microsoft.com/office/drawing/2014/main" id="{C9BD6863-96AA-4106-8DE8-6C11E6F8D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2387"/>
              <a:ext cx="3674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Line 40">
              <a:extLst>
                <a:ext uri="{FF2B5EF4-FFF2-40B4-BE49-F238E27FC236}">
                  <a16:creationId xmlns="" xmlns:a16="http://schemas.microsoft.com/office/drawing/2014/main" id="{BFEB1A19-C1BF-4F20-A5F7-4F392BE91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3158"/>
              <a:ext cx="3674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Line 41">
              <a:extLst>
                <a:ext uri="{FF2B5EF4-FFF2-40B4-BE49-F238E27FC236}">
                  <a16:creationId xmlns="" xmlns:a16="http://schemas.microsoft.com/office/drawing/2014/main" id="{D9230858-BF11-4EB6-8834-347940A5F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3929"/>
              <a:ext cx="3674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9" name="Line 42">
              <a:extLst>
                <a:ext uri="{FF2B5EF4-FFF2-40B4-BE49-F238E27FC236}">
                  <a16:creationId xmlns="" xmlns:a16="http://schemas.microsoft.com/office/drawing/2014/main" id="{46AD4CA6-3EC8-46EC-B61D-E74699E17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1979"/>
              <a:ext cx="0" cy="195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0" name="Line 43">
              <a:extLst>
                <a:ext uri="{FF2B5EF4-FFF2-40B4-BE49-F238E27FC236}">
                  <a16:creationId xmlns="" xmlns:a16="http://schemas.microsoft.com/office/drawing/2014/main" id="{90498C76-C45B-402B-9ED8-8766805E7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979"/>
              <a:ext cx="0" cy="195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1" name="Line 44">
              <a:extLst>
                <a:ext uri="{FF2B5EF4-FFF2-40B4-BE49-F238E27FC236}">
                  <a16:creationId xmlns="" xmlns:a16="http://schemas.microsoft.com/office/drawing/2014/main" id="{23CB4E4F-9A8A-41DD-A1CA-81FFB14B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979"/>
              <a:ext cx="0" cy="195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2" name="Line 45">
              <a:extLst>
                <a:ext uri="{FF2B5EF4-FFF2-40B4-BE49-F238E27FC236}">
                  <a16:creationId xmlns="" xmlns:a16="http://schemas.microsoft.com/office/drawing/2014/main" id="{314AF99A-8E4B-4AB7-94FC-FA4760121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979"/>
              <a:ext cx="0" cy="195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3" name="Line 46">
              <a:extLst>
                <a:ext uri="{FF2B5EF4-FFF2-40B4-BE49-F238E27FC236}">
                  <a16:creationId xmlns="" xmlns:a16="http://schemas.microsoft.com/office/drawing/2014/main" id="{33A916AF-EAC2-4292-A634-25DB2F646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661"/>
              <a:ext cx="272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4" name="Line 47">
              <a:extLst>
                <a:ext uri="{FF2B5EF4-FFF2-40B4-BE49-F238E27FC236}">
                  <a16:creationId xmlns="" xmlns:a16="http://schemas.microsoft.com/office/drawing/2014/main" id="{229F5B33-974B-4750-866C-80C0679A9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1253"/>
              <a:ext cx="4763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5" name="Line 48">
              <a:extLst>
                <a:ext uri="{FF2B5EF4-FFF2-40B4-BE49-F238E27FC236}">
                  <a16:creationId xmlns="" xmlns:a16="http://schemas.microsoft.com/office/drawing/2014/main" id="{5940AB2E-9735-421F-9D14-7872540E4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1253"/>
              <a:ext cx="0" cy="272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6" name="Line 49">
              <a:extLst>
                <a:ext uri="{FF2B5EF4-FFF2-40B4-BE49-F238E27FC236}">
                  <a16:creationId xmlns="" xmlns:a16="http://schemas.microsoft.com/office/drawing/2014/main" id="{3718C541-0FCD-4202-8B32-68A0124EF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974"/>
              <a:ext cx="1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7" name="Line 50">
              <a:extLst>
                <a:ext uri="{FF2B5EF4-FFF2-40B4-BE49-F238E27FC236}">
                  <a16:creationId xmlns="" xmlns:a16="http://schemas.microsoft.com/office/drawing/2014/main" id="{AA00B0D9-65E7-4B1A-978D-D7095F9CA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158"/>
              <a:ext cx="1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8" name="Line 51">
              <a:extLst>
                <a:ext uri="{FF2B5EF4-FFF2-40B4-BE49-F238E27FC236}">
                  <a16:creationId xmlns="" xmlns:a16="http://schemas.microsoft.com/office/drawing/2014/main" id="{EBC2ABE6-202E-47C5-8A95-AE19D02AF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2432"/>
              <a:ext cx="13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9" name="Line 52">
              <a:extLst>
                <a:ext uri="{FF2B5EF4-FFF2-40B4-BE49-F238E27FC236}">
                  <a16:creationId xmlns="" xmlns:a16="http://schemas.microsoft.com/office/drawing/2014/main" id="{182954AD-60BE-44D1-850D-B878071B7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253"/>
              <a:ext cx="0" cy="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0" name="Line 53">
              <a:extLst>
                <a:ext uri="{FF2B5EF4-FFF2-40B4-BE49-F238E27FC236}">
                  <a16:creationId xmlns="" xmlns:a16="http://schemas.microsoft.com/office/drawing/2014/main" id="{3A391341-E724-4B37-837F-6966F97B2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1253"/>
              <a:ext cx="0" cy="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1" name="Line 54">
              <a:extLst>
                <a:ext uri="{FF2B5EF4-FFF2-40B4-BE49-F238E27FC236}">
                  <a16:creationId xmlns="" xmlns:a16="http://schemas.microsoft.com/office/drawing/2014/main" id="{00F73F03-B87F-4C96-B354-D08E6EF06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1253"/>
              <a:ext cx="0" cy="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2" name="Line 55">
              <a:extLst>
                <a:ext uri="{FF2B5EF4-FFF2-40B4-BE49-F238E27FC236}">
                  <a16:creationId xmlns="" xmlns:a16="http://schemas.microsoft.com/office/drawing/2014/main" id="{3F2E9FC3-70C9-47F9-B56C-D1E860A5E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1253"/>
              <a:ext cx="0" cy="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3" name="Line 56">
              <a:extLst>
                <a:ext uri="{FF2B5EF4-FFF2-40B4-BE49-F238E27FC236}">
                  <a16:creationId xmlns="" xmlns:a16="http://schemas.microsoft.com/office/drawing/2014/main" id="{CC2B8975-6D56-4FEC-BC0B-707225433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162"/>
              <a:ext cx="0" cy="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hu-HU" b="1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34" name="Rectangle 57">
              <a:extLst>
                <a:ext uri="{FF2B5EF4-FFF2-40B4-BE49-F238E27FC236}">
                  <a16:creationId xmlns="" xmlns:a16="http://schemas.microsoft.com/office/drawing/2014/main" id="{362777A0-191E-4C94-82C8-12665B032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344"/>
              <a:ext cx="907" cy="635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hu-H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hu-HU" altLang="hu-HU" b="1" dirty="0">
                  <a:solidFill>
                    <a:schemeClr val="bg1"/>
                  </a:solidFill>
                  <a:latin typeface="+mn-lt"/>
                </a:rPr>
                <a:t>Fejlesztés</a:t>
              </a:r>
            </a:p>
            <a:p>
              <a:pPr algn="ctr" eaLnBrk="1" hangingPunct="1"/>
              <a:r>
                <a:rPr lang="hu-HU" altLang="hu-HU" b="1" dirty="0">
                  <a:solidFill>
                    <a:schemeClr val="bg1"/>
                  </a:solidFill>
                  <a:latin typeface="+mn-lt"/>
                </a:rPr>
                <a:t>Fejlesztési</a:t>
              </a:r>
            </a:p>
            <a:p>
              <a:pPr algn="ctr" eaLnBrk="1" hangingPunct="1"/>
              <a:r>
                <a:rPr lang="hu-HU" altLang="hu-HU" b="1" dirty="0">
                  <a:solidFill>
                    <a:schemeClr val="bg1"/>
                  </a:solidFill>
                  <a:latin typeface="+mn-lt"/>
                </a:rPr>
                <a:t>igazgató</a:t>
              </a:r>
            </a:p>
          </p:txBody>
        </p:sp>
      </p:grpSp>
      <p:pic>
        <p:nvPicPr>
          <p:cNvPr id="35" name="Kép 34">
            <a:extLst>
              <a:ext uri="{FF2B5EF4-FFF2-40B4-BE49-F238E27FC236}">
                <a16:creationId xmlns="" xmlns:a16="http://schemas.microsoft.com/office/drawing/2014/main" id="{0CE13FA4-274E-4946-B494-838058C34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03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PBO – Project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Operation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43954"/>
            <a:ext cx="12055929" cy="5514045"/>
          </a:xfrm>
        </p:spPr>
        <p:txBody>
          <a:bodyPr>
            <a:noAutofit/>
          </a:bodyPr>
          <a:lstStyle/>
          <a:p>
            <a:pPr eaLnBrk="1" hangingPunct="1"/>
            <a:r>
              <a:rPr lang="hu-HU" altLang="hu-HU" dirty="0"/>
              <a:t>A vállalat egyszerre több párhuzamos és egymást követő projektet valósít meg ezzel biztosítva a szervezeti körforgást</a:t>
            </a:r>
          </a:p>
          <a:p>
            <a:pPr lvl="1"/>
            <a:r>
              <a:rPr lang="hu-HU" altLang="hu-HU" b="1" dirty="0"/>
              <a:t>… </a:t>
            </a:r>
            <a:r>
              <a:rPr lang="hu-HU" altLang="hu-HU" b="1" dirty="0">
                <a:sym typeface="Wingdings" panose="05000000000000000000" pitchFamily="2" charset="2"/>
              </a:rPr>
              <a:t> </a:t>
            </a:r>
            <a:r>
              <a:rPr lang="hu-HU" altLang="hu-HU" b="1" dirty="0"/>
              <a:t>Tervezés </a:t>
            </a:r>
            <a:r>
              <a:rPr lang="hu-HU" altLang="hu-HU" b="1" dirty="0">
                <a:sym typeface="Wingdings" panose="05000000000000000000" pitchFamily="2" charset="2"/>
              </a:rPr>
              <a:t> Konszolidálás  Végrehajtás  …</a:t>
            </a:r>
          </a:p>
          <a:p>
            <a:r>
              <a:rPr lang="hu-HU" altLang="hu-HU" dirty="0">
                <a:sym typeface="Wingdings" panose="05000000000000000000" pitchFamily="2" charset="2"/>
              </a:rPr>
              <a:t>A projektmenedzser magas pozícióban helyezkedik el a szervezet hierarchiájában (sokszor klasszikus szervezeti formákban a projektmenedzsernek nincs gyakorlati hatalma)</a:t>
            </a:r>
          </a:p>
          <a:p>
            <a:r>
              <a:rPr lang="hu-HU" altLang="hu-HU" dirty="0">
                <a:sym typeface="Wingdings" panose="05000000000000000000" pitchFamily="2" charset="2"/>
              </a:rPr>
              <a:t>Projekt-elvűség, döntési kompetenciák és a hatalommal való felruházás megteremtése</a:t>
            </a:r>
          </a:p>
          <a:p>
            <a:r>
              <a:rPr lang="hu-HU" altLang="hu-HU" b="1" dirty="0">
                <a:sym typeface="Wingdings" panose="05000000000000000000" pitchFamily="2" charset="2"/>
              </a:rPr>
              <a:t>A PBO tulajdonságai</a:t>
            </a:r>
          </a:p>
          <a:p>
            <a:pPr lvl="1"/>
            <a:r>
              <a:rPr lang="hu-HU" altLang="hu-HU" dirty="0">
                <a:sym typeface="Wingdings" panose="05000000000000000000" pitchFamily="2" charset="2"/>
              </a:rPr>
              <a:t>Egyértelmű elköteleződés a projektmenedzsment mellett</a:t>
            </a:r>
          </a:p>
          <a:p>
            <a:pPr lvl="1"/>
            <a:r>
              <a:rPr lang="hu-HU" altLang="hu-HU" dirty="0">
                <a:sym typeface="Wingdings" panose="05000000000000000000" pitchFamily="2" charset="2"/>
              </a:rPr>
              <a:t>Programmenedzsment – projekt hálózatok és láncolatok felállítása</a:t>
            </a:r>
          </a:p>
          <a:p>
            <a:pPr lvl="1"/>
            <a:r>
              <a:rPr lang="hu-HU" altLang="hu-HU" dirty="0">
                <a:sym typeface="Wingdings" panose="05000000000000000000" pitchFamily="2" charset="2"/>
              </a:rPr>
              <a:t>Szakértői csoportok felállítása – feladatuk a projektcsapat támogatása</a:t>
            </a:r>
          </a:p>
          <a:p>
            <a:pPr lvl="2"/>
            <a:r>
              <a:rPr lang="hu-HU" altLang="hu-HU" dirty="0">
                <a:sym typeface="Wingdings" panose="05000000000000000000" pitchFamily="2" charset="2"/>
              </a:rPr>
              <a:t>Szakértői tanácsadás, tervezés, dokumentáció, értékelés egységesítése</a:t>
            </a:r>
          </a:p>
          <a:p>
            <a:pPr lvl="2"/>
            <a:r>
              <a:rPr lang="hu-HU" altLang="hu-HU" dirty="0">
                <a:sym typeface="Wingdings" panose="05000000000000000000" pitchFamily="2" charset="2"/>
              </a:rPr>
              <a:t>A projektmenedzser terheltségének csökkentése, munkájának segítése</a:t>
            </a:r>
          </a:p>
          <a:p>
            <a:pPr lvl="1"/>
            <a:r>
              <a:rPr lang="hu-HU" altLang="hu-HU" dirty="0">
                <a:sym typeface="Wingdings" panose="05000000000000000000" pitchFamily="2" charset="2"/>
              </a:rPr>
              <a:t>Projektek megvalósításában gondolkodás, körforgás szemlélet</a:t>
            </a:r>
            <a:endParaRPr lang="hu-HU" alt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Munkakör megosztás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F155A835-ED40-48B7-AEED-7E70DEFDC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78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Hatáskör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43954"/>
            <a:ext cx="12055929" cy="5514045"/>
          </a:xfrm>
        </p:spPr>
        <p:txBody>
          <a:bodyPr>
            <a:noAutofit/>
          </a:bodyPr>
          <a:lstStyle/>
          <a:p>
            <a:pPr eaLnBrk="1" hangingPunct="1"/>
            <a:r>
              <a:rPr lang="hu-HU" altLang="hu-HU" dirty="0"/>
              <a:t>Döntési és utasítási jogok megoszlása a szervezeti tagok között</a:t>
            </a:r>
          </a:p>
          <a:p>
            <a:pPr lvl="1"/>
            <a:r>
              <a:rPr lang="hu-HU" altLang="hu-HU" dirty="0"/>
              <a:t> A hatáskör megosztás ideális esetben kompetencia alapon történik</a:t>
            </a:r>
          </a:p>
          <a:p>
            <a:r>
              <a:rPr lang="hu-HU" altLang="hu-HU" dirty="0"/>
              <a:t>A hosszútávú, stratégiai döntések általában a szervezet felsővezetéséhez kapcsolódnak</a:t>
            </a:r>
          </a:p>
          <a:p>
            <a:r>
              <a:rPr lang="hu-HU" altLang="hu-HU" dirty="0"/>
              <a:t>A mindennapi operatív döntések meghozatalára ideális esetben a döntési igény megjelenési szintjéhez a lehető legközelebb van lehetőség</a:t>
            </a:r>
          </a:p>
          <a:p>
            <a:pPr marL="0" indent="0">
              <a:buNone/>
            </a:pPr>
            <a:endParaRPr lang="hu-HU" altLang="hu-HU" dirty="0"/>
          </a:p>
          <a:p>
            <a:pPr marL="0" indent="0">
              <a:buNone/>
            </a:pPr>
            <a:r>
              <a:rPr lang="hu-HU" altLang="hu-HU" b="1" dirty="0"/>
              <a:t>Centralizált szervezet</a:t>
            </a:r>
          </a:p>
          <a:p>
            <a:pPr marL="457200" lvl="1" indent="0">
              <a:buNone/>
            </a:pPr>
            <a:r>
              <a:rPr lang="hu-HU" dirty="0">
                <a:effectLst/>
                <a:ea typeface="Calibri" panose="020F0502020204030204" pitchFamily="34" charset="0"/>
              </a:rPr>
              <a:t>Amennyiben a stratégiai és operatív döntéseket is a szervezeti hierarchia csúcsán álló személyek hozzák meg, a szervezetet centralizáltnak tekintjük</a:t>
            </a:r>
          </a:p>
          <a:p>
            <a:pPr marL="0" indent="0">
              <a:buNone/>
            </a:pPr>
            <a:r>
              <a:rPr lang="hu-HU" altLang="hu-HU" b="1" dirty="0"/>
              <a:t>Decentralizált szervezet</a:t>
            </a:r>
          </a:p>
          <a:p>
            <a:pPr marL="457200" lvl="1" indent="0">
              <a:buNone/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mennyiben a döntési hatáskörök egy része – jellemzően az operatív feladatokhoz kapcsolódóan - a szervezet alacsonyabb hierarchikus szintjeihez kerül, akkor a szervezet decentralizált jellemzőket mutat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69310540-7B1A-4766-8614-E5E5FCB18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60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Hatáskör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43954"/>
            <a:ext cx="12055929" cy="5514045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hu-HU" altLang="hu-HU" b="1" dirty="0"/>
              <a:t>Egyvonalas</a:t>
            </a:r>
            <a:r>
              <a:rPr lang="hu-HU" altLang="hu-HU" b="1" dirty="0">
                <a:cs typeface="Times New Roman" panose="02020603050405020304" pitchFamily="18" charset="0"/>
              </a:rPr>
              <a:t> szervezet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A szervezeti egységek kifejezetten csak egy vezetőtől kaphatnak utasítást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Világos alá-fölé rendeltség, áttekinthető, egyszerű viszonyok</a:t>
            </a:r>
          </a:p>
          <a:p>
            <a:pPr lvl="1"/>
            <a:r>
              <a:rPr lang="hu-HU" altLang="hu-HU" dirty="0">
                <a:cs typeface="Times New Roman" panose="02020603050405020304" pitchFamily="18" charset="0"/>
              </a:rPr>
              <a:t>Szervezeti növekedés esetén azonban</a:t>
            </a:r>
          </a:p>
          <a:p>
            <a:pPr lvl="2"/>
            <a:r>
              <a:rPr lang="hu-HU" altLang="hu-HU" dirty="0">
                <a:cs typeface="Times New Roman" panose="02020603050405020304" pitchFamily="18" charset="0"/>
              </a:rPr>
              <a:t>Egyre hosszabb utasítási láncok</a:t>
            </a:r>
          </a:p>
          <a:p>
            <a:pPr lvl="2"/>
            <a:r>
              <a:rPr lang="hu-HU" altLang="hu-HU" dirty="0">
                <a:cs typeface="Times New Roman" panose="02020603050405020304" pitchFamily="18" charset="0"/>
              </a:rPr>
              <a:t>Átláthatatlan függőségek jelennek meg</a:t>
            </a:r>
          </a:p>
          <a:p>
            <a:pPr lvl="2"/>
            <a:r>
              <a:rPr lang="hu-HU" altLang="hu-HU" dirty="0">
                <a:cs typeface="Times New Roman" panose="02020603050405020304" pitchFamily="18" charset="0"/>
              </a:rPr>
              <a:t>A felsővezetést egyre inkább leterheli a koordináció</a:t>
            </a:r>
          </a:p>
          <a:p>
            <a:pPr marL="0" indent="0" eaLnBrk="1" hangingPunct="1">
              <a:buNone/>
            </a:pPr>
            <a:r>
              <a:rPr lang="hu-HU" altLang="hu-HU" b="1" dirty="0">
                <a:cs typeface="Times New Roman" panose="02020603050405020304" pitchFamily="18" charset="0"/>
              </a:rPr>
              <a:t>Többvonalas szervezet</a:t>
            </a:r>
          </a:p>
          <a:p>
            <a:pPr lvl="1"/>
            <a:r>
              <a:rPr lang="hu-HU" altLang="hu-HU" dirty="0"/>
              <a:t>Összetettebb szervezetekben jelenik meg ahol a munkamegosztás több dimenzió mentén történik</a:t>
            </a:r>
          </a:p>
          <a:p>
            <a:pPr lvl="1"/>
            <a:r>
              <a:rPr lang="hu-HU" altLang="hu-HU" dirty="0"/>
              <a:t>Decentralizáltság, specializáltság, közvetlen utasítási utak</a:t>
            </a:r>
          </a:p>
          <a:p>
            <a:pPr lvl="1"/>
            <a:r>
              <a:rPr lang="hu-HU" altLang="hu-HU" dirty="0"/>
              <a:t>Egységek akár több vezetőtől is kaphatnak utasítást</a:t>
            </a:r>
          </a:p>
          <a:p>
            <a:pPr lvl="1"/>
            <a:r>
              <a:rPr lang="hu-HU" altLang="hu-HU" dirty="0"/>
              <a:t>Számos konfliktus forrása lehet (Mátrix szervezet hátrányai)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E50DC1EA-769F-4511-B895-0A0F59411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969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Koordináció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43954"/>
            <a:ext cx="12055929" cy="5514045"/>
          </a:xfrm>
        </p:spPr>
        <p:txBody>
          <a:bodyPr>
            <a:no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</a:rPr>
              <a:t>A szervezeti egységek munkáját összehangoló koordinációs eszközök a szervezeti struktúra fontos elemei</a:t>
            </a:r>
          </a:p>
          <a:p>
            <a:pPr eaLnBrk="1" hangingPunct="1"/>
            <a:r>
              <a:rPr lang="hu-HU" dirty="0">
                <a:effectLst/>
                <a:ea typeface="Calibri" panose="020F0502020204030204" pitchFamily="34" charset="0"/>
              </a:rPr>
              <a:t>A koordináció nem más, mint a kommunikáció célzott formája</a:t>
            </a:r>
          </a:p>
          <a:p>
            <a:pPr marL="0" indent="0" eaLnBrk="1" hangingPunct="1">
              <a:buNone/>
            </a:pPr>
            <a:r>
              <a:rPr lang="hu-HU" altLang="hu-HU" b="1" dirty="0"/>
              <a:t>Vertikális koordináció</a:t>
            </a:r>
          </a:p>
          <a:p>
            <a:pPr lvl="1"/>
            <a:r>
              <a:rPr lang="hu-HU" b="0" i="0" dirty="0">
                <a:solidFill>
                  <a:srgbClr val="222222"/>
                </a:solidFill>
                <a:effectLst/>
              </a:rPr>
              <a:t>az egymás alá- és fölérendelt szervezeti egységek (személyek) közötti kommunikáció, amelynek jellegzetes megnyilvánulási formái az utasítás, ill. a jelentés</a:t>
            </a:r>
            <a:endParaRPr lang="hu-HU" altLang="hu-HU" dirty="0"/>
          </a:p>
          <a:p>
            <a:pPr marL="0" indent="0" eaLnBrk="1" hangingPunct="1">
              <a:buNone/>
            </a:pPr>
            <a:r>
              <a:rPr lang="hu-HU" altLang="hu-HU" b="1" dirty="0"/>
              <a:t>Horizontális koordináció</a:t>
            </a:r>
          </a:p>
          <a:p>
            <a:pPr lvl="1"/>
            <a:r>
              <a:rPr lang="hu-HU" b="0" i="0" dirty="0">
                <a:solidFill>
                  <a:srgbClr val="222222"/>
                </a:solidFill>
                <a:effectLst/>
              </a:rPr>
              <a:t> az azonos tevékenységi és hatásköri szinten lévő szervezeti egységek (személyek) közötti kommunikációs utakhoz kapcsolódik</a:t>
            </a:r>
          </a:p>
          <a:p>
            <a:pPr marL="0" indent="0">
              <a:buNone/>
            </a:pPr>
            <a:r>
              <a:rPr lang="hu-HU" altLang="hu-HU" b="1" dirty="0">
                <a:solidFill>
                  <a:srgbClr val="222222"/>
                </a:solidFill>
              </a:rPr>
              <a:t>A koordináció történhet:</a:t>
            </a:r>
          </a:p>
          <a:p>
            <a:pPr lvl="1"/>
            <a:r>
              <a:rPr lang="hu-HU" altLang="hu-HU" dirty="0">
                <a:solidFill>
                  <a:srgbClr val="222222"/>
                </a:solidFill>
              </a:rPr>
              <a:t>kölcsönös megegyezéssel,</a:t>
            </a:r>
          </a:p>
          <a:p>
            <a:pPr lvl="1"/>
            <a:r>
              <a:rPr lang="hu-HU" altLang="hu-HU" dirty="0">
                <a:solidFill>
                  <a:srgbClr val="222222"/>
                </a:solidFill>
              </a:rPr>
              <a:t>közvetlen irányítással,</a:t>
            </a:r>
          </a:p>
          <a:p>
            <a:pPr lvl="1"/>
            <a:r>
              <a:rPr lang="hu-HU" altLang="hu-HU" dirty="0">
                <a:solidFill>
                  <a:srgbClr val="222222"/>
                </a:solidFill>
              </a:rPr>
              <a:t>szabályozással.</a:t>
            </a:r>
            <a:endParaRPr lang="hu-HU" alt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01F99B25-971F-4075-8664-C724D3B78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46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Koordináció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4"/>
            <a:ext cx="12055929" cy="5592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1900" b="1" dirty="0">
                <a:effectLst/>
                <a:ea typeface="Calibri" panose="020F0502020204030204" pitchFamily="34" charset="0"/>
              </a:rPr>
              <a:t>Technokratikus koordináció</a:t>
            </a:r>
          </a:p>
          <a:p>
            <a:pPr lvl="1"/>
            <a:r>
              <a:rPr lang="hu-HU" sz="1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Akülönböző</a:t>
            </a:r>
            <a:r>
              <a:rPr lang="hu-HU" sz="1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szabályok, szabályzatok, eljárások, vagy a tervek (stratégiai, operatív, funkcionális) és programok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koordináció ezen formáinak előnye, hogy nyoma van és visszakereshető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Mindent fél számára egyértelműek az utasítások és egyszerre több érintettel is lehet őket kommunikálni</a:t>
            </a:r>
          </a:p>
          <a:p>
            <a:pPr lvl="1"/>
            <a:r>
              <a:rPr lang="hu-HU" sz="1900" dirty="0">
                <a:ea typeface="Calibri" panose="020F0502020204030204" pitchFamily="34" charset="0"/>
                <a:cs typeface="Times New Roman" panose="02020603050405020304" pitchFamily="18" charset="0"/>
              </a:rPr>
              <a:t>Az alkalmazottak konkrét feladatok, szituációk mentén tudnak önállóan előre haladni, döntést hozni</a:t>
            </a:r>
            <a:endParaRPr lang="hu-HU" sz="1900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hu-HU" altLang="hu-HU" sz="1900" b="1" dirty="0"/>
              <a:t>Személyorientált koordináció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A 7S modell lágy elemeihez kapcsolódnak és a szervezeti kultúra, értékrend mentén hatnak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Céljuk a szervezeti tagok szervezeti kultúrával való azonosulásának támogatása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Ilyen gyakorlatok lehetnek a konfliktuskezelési módozatok, vagy a vezetőképzés és kiválasztás gyakorlata</a:t>
            </a:r>
          </a:p>
          <a:p>
            <a:pPr lvl="1"/>
            <a:r>
              <a:rPr lang="hu-HU" altLang="hu-HU" sz="1900" dirty="0"/>
              <a:t>Előnye, hogy a sikeres oktatással és meghonosított vállalati filozófiával az alkalmazottak is önálló döntéseket képesek hozni, amelyek a vállalati érdekeket képviselik</a:t>
            </a:r>
          </a:p>
          <a:p>
            <a:pPr lvl="1"/>
            <a:r>
              <a:rPr lang="hu-HU" altLang="hu-HU" sz="1900" dirty="0"/>
              <a:t>Sok időt, energiát és elköteleződést, vezetői példamutatást igényel a kialakítása vagy a megváltoztatása</a:t>
            </a:r>
          </a:p>
          <a:p>
            <a:pPr marL="0" indent="0">
              <a:buNone/>
            </a:pPr>
            <a:r>
              <a:rPr lang="hu-HU" altLang="hu-HU" sz="1900" b="1" dirty="0"/>
              <a:t>Strukturális koordináció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Céljuk a vezetői döntések és a szervezeti egységek működése közötti összhang megteremtése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Ilyen megoldások lehetnek az ad hoc és állandó bizottságok, a projekt teamek és a termékmenedzseri rendszer</a:t>
            </a:r>
          </a:p>
          <a:p>
            <a:pPr lvl="1"/>
            <a:r>
              <a:rPr lang="hu-HU" sz="1900" dirty="0">
                <a:effectLst/>
                <a:ea typeface="Calibri" panose="020F0502020204030204" pitchFamily="34" charset="0"/>
              </a:rPr>
              <a:t>Adott cél érdekében egy </a:t>
            </a:r>
            <a:r>
              <a:rPr lang="hu-HU" sz="1900" dirty="0">
                <a:ea typeface="Calibri" panose="020F0502020204030204" pitchFamily="34" charset="0"/>
              </a:rPr>
              <a:t>csoport létrehozása a koncentrált kommunikáció és előre haladás érdekében</a:t>
            </a:r>
            <a:r>
              <a:rPr lang="hu-HU" sz="1900" dirty="0">
                <a:effectLst/>
                <a:ea typeface="Calibri" panose="020F0502020204030204" pitchFamily="34" charset="0"/>
              </a:rPr>
              <a:t> </a:t>
            </a:r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91F025CD-CBAE-48A2-AFCF-973E19192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7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Konfiguráció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4"/>
            <a:ext cx="11919859" cy="559253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konfiguráció másodlagos strukturális jellemző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többi három jellemző együttesen alakítja ki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Vizualizációs technika, melynek segítségével könnyebben átlátható a szervezet struktúrája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Jellemzői: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szervezet </a:t>
            </a: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mélységi 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tagoltsága (hierarchikus szintek száma)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szervezet </a:t>
            </a: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szélességi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tagoltsága (egy vezető alá közvetlenül tartozó alárendeltek száma)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szervezeti </a:t>
            </a: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egységek mérete 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(az adott egységhez tartozó foglalkoztatottak száma)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</a:rPr>
              <a:t>A konfiguráción jól látszik, hogy egy adott szervezet milyen hatáskörmegosztást alkalmaz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</a:rPr>
              <a:t>Könnyen alakítható szervezeti konfigurációk, melyek szélességben és mélységben tetszőlegesen bővíthetők és a felesleges tevékenységeket/egységeket könnyen le lehet építeni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A konfiguráció határozza meg a projektmenedzsment hierarchiában való elhelyezkedését is a vállalatokon belül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altLang="hu-HU" sz="1900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="" xmlns:a16="http://schemas.microsoft.com/office/drawing/2014/main" id="{376953F9-17C1-4C58-BA39-CA85845AB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32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szervezeti kultúra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8BC3D0F7-C4D3-4F94-8DCA-0052C1DBC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631" y="1265462"/>
            <a:ext cx="10419498" cy="559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Kép 5">
            <a:extLst>
              <a:ext uri="{FF2B5EF4-FFF2-40B4-BE49-F238E27FC236}">
                <a16:creationId xmlns="" xmlns:a16="http://schemas.microsoft.com/office/drawing/2014/main" id="{7963943F-6041-404D-BF68-B01B49911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707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szervezeti jéghegy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Szervezeti struktúra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34106B11-890F-465C-B5EF-747076ED2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9804" y="113167"/>
            <a:ext cx="6642340" cy="660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>
            <a:extLst>
              <a:ext uri="{FF2B5EF4-FFF2-40B4-BE49-F238E27FC236}">
                <a16:creationId xmlns="" xmlns:a16="http://schemas.microsoft.com/office/drawing/2014/main" id="{1B273F26-571C-488C-8271-7AAE0EF04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280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>
                <a:solidFill>
                  <a:srgbClr val="00B0F0"/>
                </a:solidFill>
              </a:rPr>
              <a:t>Köszönöm a figyelmet!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3156</Words>
  <Application>Microsoft Office PowerPoint</Application>
  <PresentationFormat>Szélesvásznú</PresentationFormat>
  <Paragraphs>575</Paragraphs>
  <Slides>53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53</vt:i4>
      </vt:variant>
    </vt:vector>
  </HeadingPairs>
  <TitlesOfParts>
    <vt:vector size="60" baseType="lpstr">
      <vt:lpstr>Arial</vt:lpstr>
      <vt:lpstr>Calibri</vt:lpstr>
      <vt:lpstr>Calibri Light</vt:lpstr>
      <vt:lpstr>Symbol</vt:lpstr>
      <vt:lpstr>Times New Roman</vt:lpstr>
      <vt:lpstr>Wingdings</vt:lpstr>
      <vt:lpstr>Office-téma</vt:lpstr>
      <vt:lpstr>A csoport és a szervezetek</vt:lpstr>
      <vt:lpstr>Tartalomjegyzék</vt:lpstr>
      <vt:lpstr>A csoport</vt:lpstr>
      <vt:lpstr>A csoport fejlődésének folyamata</vt:lpstr>
      <vt:lpstr>A csoport fejlődésének folyamata</vt:lpstr>
      <vt:lpstr>A csoportok fajtái a szociológiában</vt:lpstr>
      <vt:lpstr>A csoportkohézió</vt:lpstr>
      <vt:lpstr>A csoportlégkör</vt:lpstr>
      <vt:lpstr>A csoportnormák</vt:lpstr>
      <vt:lpstr>A csoportnyomás</vt:lpstr>
      <vt:lpstr>Komformitás és függetlenség</vt:lpstr>
      <vt:lpstr>A csoportszerkezet</vt:lpstr>
      <vt:lpstr>A csoportdinamika</vt:lpstr>
      <vt:lpstr>A jó és rossz csoport</vt:lpstr>
      <vt:lpstr>Viselkedésmódok a csoportban</vt:lpstr>
      <vt:lpstr>Viselkedésmódok a csoportban</vt:lpstr>
      <vt:lpstr>Viselkedésmódok a csoportban</vt:lpstr>
      <vt:lpstr>Viselkedésmódok a csoportban</vt:lpstr>
      <vt:lpstr>Konstruktív és destruktív szerepek</vt:lpstr>
      <vt:lpstr>Konstruktív szerepek</vt:lpstr>
      <vt:lpstr>Destruktív szerepek</vt:lpstr>
      <vt:lpstr>Diszfunkcionális csoportszerepek</vt:lpstr>
      <vt:lpstr>Belbin teszt</vt:lpstr>
      <vt:lpstr>A csoport szerepkörei</vt:lpstr>
      <vt:lpstr>A formális csoportok – a szervezetek</vt:lpstr>
      <vt:lpstr>Formális és organikus szervezetek I.</vt:lpstr>
      <vt:lpstr>Formális és organikus szervezetek II.</vt:lpstr>
      <vt:lpstr>7S modell</vt:lpstr>
      <vt:lpstr>Szervezeti struktúra elemei</vt:lpstr>
      <vt:lpstr>Munkakör megosztás</vt:lpstr>
      <vt:lpstr>Lineáris szervezet</vt:lpstr>
      <vt:lpstr>Lineáris szervezet</vt:lpstr>
      <vt:lpstr>Funkcionális szervezet</vt:lpstr>
      <vt:lpstr>Funkcionális szervezet</vt:lpstr>
      <vt:lpstr>Funkcionális szervezet</vt:lpstr>
      <vt:lpstr>Funkcionális szervezet</vt:lpstr>
      <vt:lpstr>Divizionális szervezet</vt:lpstr>
      <vt:lpstr>Divizionális szervezet</vt:lpstr>
      <vt:lpstr>Divizionális szervezet</vt:lpstr>
      <vt:lpstr>Mátrix szervezet</vt:lpstr>
      <vt:lpstr>Mátrix szervezet</vt:lpstr>
      <vt:lpstr>Mátrix szervezet</vt:lpstr>
      <vt:lpstr>Projekt orientáció</vt:lpstr>
      <vt:lpstr>Projekt orientáció</vt:lpstr>
      <vt:lpstr>PBO – Project Based Operation</vt:lpstr>
      <vt:lpstr>Hatáskör megosztás</vt:lpstr>
      <vt:lpstr>Hatáskör megosztás</vt:lpstr>
      <vt:lpstr>Koordináció</vt:lpstr>
      <vt:lpstr>Koordináció</vt:lpstr>
      <vt:lpstr>Konfiguráció</vt:lpstr>
      <vt:lpstr>A szervezeti kultúra</vt:lpstr>
      <vt:lpstr>A szervezeti jéghegy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Csoport, szervezeti formák</dc:title>
  <dc:creator>MMI</dc:creator>
  <cp:lastModifiedBy>Gombaszögi Ildikó</cp:lastModifiedBy>
  <cp:revision>72</cp:revision>
  <dcterms:created xsi:type="dcterms:W3CDTF">2021-01-18T18:03:07Z</dcterms:created>
  <dcterms:modified xsi:type="dcterms:W3CDTF">2023-08-29T15:13:40Z</dcterms:modified>
</cp:coreProperties>
</file>