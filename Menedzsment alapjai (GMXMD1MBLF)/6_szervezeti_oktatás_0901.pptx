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1" r:id="rId25"/>
    <p:sldId id="282" r:id="rId26"/>
    <p:sldId id="279" r:id="rId27"/>
    <p:sldId id="280" r:id="rId28"/>
    <p:sldId id="284" r:id="rId2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4235"/>
    <a:srgbClr val="E9E2D7"/>
    <a:srgbClr val="CDBD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6370" autoAdjust="0"/>
  </p:normalViewPr>
  <p:slideViewPr>
    <p:cSldViewPr snapToGrid="0">
      <p:cViewPr varScale="1">
        <p:scale>
          <a:sx n="56" d="100"/>
          <a:sy n="56" d="100"/>
        </p:scale>
        <p:origin x="84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="" xmlns:a16="http://schemas.microsoft.com/office/drawing/2014/main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524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="" xmlns:a16="http://schemas.microsoft.com/office/drawing/2014/main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="" xmlns:a16="http://schemas.microsoft.com/office/drawing/2014/main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="" xmlns:a16="http://schemas.microsoft.com/office/drawing/2014/main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="" xmlns:a16="http://schemas.microsoft.com/office/drawing/2014/main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524235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524235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524235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524235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524235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="" xmlns:a16="http://schemas.microsoft.com/office/drawing/2014/main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="" xmlns:a16="http://schemas.microsoft.com/office/drawing/2014/main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="" xmlns:a16="http://schemas.microsoft.com/office/drawing/2014/main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="" xmlns:a16="http://schemas.microsoft.com/office/drawing/2014/main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="" xmlns:a16="http://schemas.microsoft.com/office/drawing/2014/main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="" xmlns:a16="http://schemas.microsoft.com/office/drawing/2014/main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="" xmlns:a16="http://schemas.microsoft.com/office/drawing/2014/main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="" xmlns:a16="http://schemas.microsoft.com/office/drawing/2014/main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="" xmlns:a16="http://schemas.microsoft.com/office/drawing/2014/main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="" xmlns:a16="http://schemas.microsoft.com/office/drawing/2014/main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="" xmlns:a16="http://schemas.microsoft.com/office/drawing/2014/main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="" xmlns:a16="http://schemas.microsoft.com/office/drawing/2014/main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="" xmlns:a16="http://schemas.microsoft.com/office/drawing/2014/main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="" xmlns:a16="http://schemas.microsoft.com/office/drawing/2014/main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="" xmlns:a16="http://schemas.microsoft.com/office/drawing/2014/main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="" xmlns:a16="http://schemas.microsoft.com/office/drawing/2014/main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="" xmlns:a16="http://schemas.microsoft.com/office/drawing/2014/main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="" xmlns:a16="http://schemas.microsoft.com/office/drawing/2014/main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="" xmlns:a16="http://schemas.microsoft.com/office/drawing/2014/main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="" xmlns:a16="http://schemas.microsoft.com/office/drawing/2014/main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allpaper Books, Library, Shelves, Lighting - Hd Book Library Background -  3840x2400 - Download HD Wallpaper - WallpaperTip">
            <a:extLst>
              <a:ext uri="{FF2B5EF4-FFF2-40B4-BE49-F238E27FC236}">
                <a16:creationId xmlns="" xmlns:a16="http://schemas.microsoft.com/office/drawing/2014/main" id="{0CB32353-3A25-4BB6-8046-416E6D2B0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591" y="-460744"/>
            <a:ext cx="12482624" cy="780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B71DD668-A5C7-4E1D-B55A-AF9BA972D50B}"/>
              </a:ext>
            </a:extLst>
          </p:cNvPr>
          <p:cNvSpPr/>
          <p:nvPr/>
        </p:nvSpPr>
        <p:spPr>
          <a:xfrm>
            <a:off x="-36352" y="84481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="" xmlns:a16="http://schemas.microsoft.com/office/drawing/2014/main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Szervezeti oktatás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="" xmlns:a16="http://schemas.microsoft.com/office/drawing/2014/main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="" xmlns:a16="http://schemas.microsoft.com/office/drawing/2014/main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524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="" xmlns:a16="http://schemas.microsoft.com/office/drawing/2014/main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 smtClean="0">
                <a:solidFill>
                  <a:schemeClr val="bg1"/>
                </a:solidFill>
              </a:rPr>
              <a:t>6.</a:t>
            </a:r>
            <a:endParaRPr lang="hu-HU" sz="6000" b="1" dirty="0">
              <a:solidFill>
                <a:schemeClr val="bg1"/>
              </a:solidFill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776" y="314915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601557"/>
            <a:ext cx="11510283" cy="5119915"/>
          </a:xfrm>
        </p:spPr>
        <p:txBody>
          <a:bodyPr/>
          <a:lstStyle/>
          <a:p>
            <a:r>
              <a:rPr lang="hu-HU" dirty="0"/>
              <a:t>A szervezeti oktatás fogalma, célja, funkciói</a:t>
            </a:r>
          </a:p>
          <a:p>
            <a:r>
              <a:rPr lang="hu-HU" dirty="0"/>
              <a:t>Államifeladatok az oktatás terén</a:t>
            </a:r>
          </a:p>
          <a:p>
            <a:r>
              <a:rPr lang="hu-HU" dirty="0"/>
              <a:t>A szervezeti oktatás fajtái</a:t>
            </a:r>
          </a:p>
          <a:p>
            <a:r>
              <a:rPr lang="hu-HU" dirty="0"/>
              <a:t>A szervezeti oktatás tervezési folyamata</a:t>
            </a:r>
          </a:p>
          <a:p>
            <a:r>
              <a:rPr lang="hu-HU" dirty="0"/>
              <a:t>Vezetőképzés</a:t>
            </a:r>
          </a:p>
          <a:p>
            <a:r>
              <a:rPr lang="hu-HU" dirty="0"/>
              <a:t>Szervezeti kompetenciák</a:t>
            </a:r>
          </a:p>
          <a:p>
            <a:r>
              <a:rPr lang="hu-HU" dirty="0"/>
              <a:t>A szervezeti kompetenciák fajtái</a:t>
            </a:r>
          </a:p>
          <a:p>
            <a:r>
              <a:rPr lang="hu-HU" dirty="0" smtClean="0"/>
              <a:t>Kompetenciák - Egyetemi felmérés - műszaki menedzserek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3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 lnSpcReduction="10000"/>
          </a:bodyPr>
          <a:lstStyle/>
          <a:p>
            <a:r>
              <a:rPr lang="hu-HU" dirty="0"/>
              <a:t>A folyamatos fejlődés és a szervezeti változások egyre komplexebb szervezeti tudást és a dolgozóktól egyre magasabb szintű kompetenciákat </a:t>
            </a:r>
            <a:r>
              <a:rPr lang="hu-HU" dirty="0" smtClean="0"/>
              <a:t>igényelnek</a:t>
            </a:r>
          </a:p>
          <a:p>
            <a:endParaRPr lang="hu-HU" dirty="0"/>
          </a:p>
          <a:p>
            <a:r>
              <a:rPr lang="hu-HU" dirty="0" smtClean="0"/>
              <a:t>A </a:t>
            </a:r>
            <a:r>
              <a:rPr lang="hu-HU" dirty="0"/>
              <a:t>változásokat sikeresen kommunikálni kell és azok elsajátításához biztosítani kell a dolgozók számára a szükséges tovább képzéseket és </a:t>
            </a:r>
            <a:r>
              <a:rPr lang="hu-HU" dirty="0" smtClean="0"/>
              <a:t>erőforrásokat</a:t>
            </a:r>
          </a:p>
          <a:p>
            <a:pPr marL="457200" lvl="1" indent="0">
              <a:buNone/>
            </a:pPr>
            <a:endParaRPr lang="hu-HU" dirty="0"/>
          </a:p>
          <a:p>
            <a:r>
              <a:rPr lang="hu-HU" dirty="0"/>
              <a:t>A vállalatokban a magas szakértelemmel rendelkező humán erőforrás fontosabb tényező mint </a:t>
            </a:r>
            <a:r>
              <a:rPr lang="hu-HU" dirty="0" smtClean="0"/>
              <a:t>valaha</a:t>
            </a:r>
          </a:p>
          <a:p>
            <a:endParaRPr lang="hu-HU" dirty="0" smtClean="0"/>
          </a:p>
          <a:p>
            <a:r>
              <a:rPr lang="hu-HU" dirty="0" smtClean="0"/>
              <a:t>A </a:t>
            </a:r>
            <a:r>
              <a:rPr lang="hu-HU" dirty="0"/>
              <a:t>vállalatoknak törekedni kell arra, hogy a szervezeti filozófia részévé váljon a folyamatos tanulás és a fejlődésre való </a:t>
            </a:r>
            <a:r>
              <a:rPr lang="hu-HU" dirty="0" smtClean="0"/>
              <a:t>igény</a:t>
            </a:r>
          </a:p>
          <a:p>
            <a:endParaRPr lang="hu-HU" dirty="0"/>
          </a:p>
          <a:p>
            <a:r>
              <a:rPr lang="hu-HU" dirty="0" smtClean="0"/>
              <a:t>Fontos, </a:t>
            </a:r>
            <a:r>
              <a:rPr lang="hu-HU" dirty="0"/>
              <a:t>hogy a menedzsment tisztában legyen a dolgozók oktatásának értékével és a vezetői utánpótlás biztosításának fontosságával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Humánerőforrás fejlesztés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Egy folyamatos tevékenységsorozatot jelent, amely szervezett tanulást jelent, abból a célból, hogy az egyént képessé tegye saját viselkedésének, magatartásának megváltoztatására. </a:t>
            </a:r>
          </a:p>
          <a:p>
            <a:pPr marL="457200" lvl="1" indent="0">
              <a:buNone/>
            </a:pPr>
            <a:r>
              <a:rPr lang="hu-HU" sz="1400" dirty="0" smtClean="0"/>
              <a:t>(</a:t>
            </a:r>
            <a:r>
              <a:rPr lang="hu-HU" sz="1400" dirty="0" err="1" smtClean="0"/>
              <a:t>Bakacsi</a:t>
            </a:r>
            <a:r>
              <a:rPr lang="hu-HU" sz="1400" dirty="0" smtClean="0"/>
              <a:t> </a:t>
            </a:r>
            <a:r>
              <a:rPr lang="hu-HU" sz="1400" dirty="0" err="1"/>
              <a:t>Gy</a:t>
            </a:r>
            <a:r>
              <a:rPr lang="hu-HU" sz="1400" dirty="0"/>
              <a:t>. (2000): Stratégiai emberi erőforrás menedzsment, KJK-KERSZÖV Jogi és Üzleti Kiadó Kft. Bp</a:t>
            </a:r>
            <a:r>
              <a:rPr lang="hu-HU" sz="1400" dirty="0" smtClean="0"/>
              <a:t>.)</a:t>
            </a:r>
            <a:endParaRPr lang="hu-HU" sz="1400" dirty="0"/>
          </a:p>
          <a:p>
            <a:endParaRPr lang="hu-HU" sz="1800" dirty="0"/>
          </a:p>
          <a:p>
            <a:pPr marL="0" indent="0">
              <a:buNone/>
            </a:pPr>
            <a:r>
              <a:rPr lang="hu-HU" b="1" dirty="0"/>
              <a:t>Okai</a:t>
            </a:r>
          </a:p>
          <a:p>
            <a:pPr lvl="1"/>
            <a:r>
              <a:rPr lang="hu-HU" dirty="0"/>
              <a:t>nem megfelelő munkaerőpiaci kínálat</a:t>
            </a:r>
          </a:p>
          <a:p>
            <a:pPr lvl="1"/>
            <a:r>
              <a:rPr lang="hu-HU" dirty="0"/>
              <a:t>nem megfelelő munkaerő kiválasztás</a:t>
            </a:r>
          </a:p>
          <a:p>
            <a:pPr lvl="1"/>
            <a:r>
              <a:rPr lang="hu-HU" dirty="0"/>
              <a:t>új kihívások a piac részéről</a:t>
            </a:r>
          </a:p>
          <a:p>
            <a:pPr lvl="1"/>
            <a:r>
              <a:rPr lang="hu-HU" dirty="0"/>
              <a:t>új technológia megjelenése</a:t>
            </a:r>
          </a:p>
          <a:p>
            <a:pPr lvl="1"/>
            <a:r>
              <a:rPr lang="hu-HU" dirty="0"/>
              <a:t>munkaerő-felesleg a cégen belül</a:t>
            </a:r>
          </a:p>
          <a:p>
            <a:pPr lvl="1"/>
            <a:r>
              <a:rPr lang="hu-HU" dirty="0"/>
              <a:t>új munkakörök megjelenése</a:t>
            </a:r>
          </a:p>
          <a:p>
            <a:pPr lvl="1"/>
            <a:r>
              <a:rPr lang="hu-HU" dirty="0"/>
              <a:t>egyéni igények változása</a:t>
            </a:r>
          </a:p>
          <a:p>
            <a:endParaRPr lang="hu-HU" b="1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0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Fogalmak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/>
          <a:lstStyle/>
          <a:p>
            <a:r>
              <a:rPr lang="hu-HU" b="1" dirty="0"/>
              <a:t>Képzés</a:t>
            </a:r>
            <a:r>
              <a:rPr lang="hu-HU" dirty="0"/>
              <a:t> (adott munkakör betöltéséhez szükséges ismeretek elsajátítása)</a:t>
            </a:r>
          </a:p>
          <a:p>
            <a:r>
              <a:rPr lang="hu-HU" b="1" dirty="0"/>
              <a:t>Továbbképzés</a:t>
            </a:r>
            <a:r>
              <a:rPr lang="hu-HU" dirty="0"/>
              <a:t> (az adott munkakör betöltéséhez a megváltozott környezethez igazodó új ismeretek elsajátítása) </a:t>
            </a:r>
          </a:p>
          <a:p>
            <a:r>
              <a:rPr lang="hu-HU" b="1" dirty="0"/>
              <a:t>Átképzés </a:t>
            </a:r>
            <a:r>
              <a:rPr lang="hu-HU" dirty="0"/>
              <a:t>(a szervezeten belül új munkakör betöltéséhez szükséges ismeretek elsajátítása)</a:t>
            </a:r>
          </a:p>
          <a:p>
            <a:r>
              <a:rPr lang="hu-HU" b="1" dirty="0"/>
              <a:t>Tréning</a:t>
            </a:r>
            <a:r>
              <a:rPr lang="hu-HU" dirty="0"/>
              <a:t> (</a:t>
            </a:r>
            <a:r>
              <a:rPr lang="hu-HU" dirty="0" err="1"/>
              <a:t>training</a:t>
            </a:r>
            <a:r>
              <a:rPr lang="hu-HU" dirty="0"/>
              <a:t>: magyar fordítás szerint a fentiekben felsorolt képzések)</a:t>
            </a:r>
          </a:p>
          <a:p>
            <a:r>
              <a:rPr lang="hu-HU" b="1" dirty="0"/>
              <a:t>Fejlesztés</a:t>
            </a:r>
            <a:r>
              <a:rPr lang="hu-HU" dirty="0"/>
              <a:t> (</a:t>
            </a:r>
            <a:r>
              <a:rPr lang="hu-HU" dirty="0" err="1"/>
              <a:t>development</a:t>
            </a:r>
            <a:r>
              <a:rPr lang="hu-HU" dirty="0"/>
              <a:t>: </a:t>
            </a:r>
            <a:r>
              <a:rPr lang="hu-HU" dirty="0" smtClean="0"/>
              <a:t>nem </a:t>
            </a:r>
            <a:r>
              <a:rPr lang="hu-HU" dirty="0"/>
              <a:t>munka specifikus, készségek, képességek viselkedési módok attitűdök megváltoztatására, irányulhat, általános készségfejlesztés)</a:t>
            </a:r>
          </a:p>
          <a:p>
            <a:r>
              <a:rPr lang="hu-HU" b="1" dirty="0"/>
              <a:t>Oktatás </a:t>
            </a:r>
            <a:r>
              <a:rPr lang="hu-HU" dirty="0"/>
              <a:t>(</a:t>
            </a:r>
            <a:r>
              <a:rPr lang="hu-HU" dirty="0" err="1"/>
              <a:t>education</a:t>
            </a:r>
            <a:r>
              <a:rPr lang="hu-HU" dirty="0"/>
              <a:t>: </a:t>
            </a:r>
            <a:r>
              <a:rPr lang="hu-HU" dirty="0" smtClean="0"/>
              <a:t>a </a:t>
            </a:r>
            <a:r>
              <a:rPr lang="hu-HU" dirty="0"/>
              <a:t>tanulás a tanuló jövőbeni munkájára fókuszál. Komplex ismeretek elsajátítása - a képzésekkel ellentétben, - a jövőbeni hasznosítás reményében történik, a dolgozó jelenlegi munkájára nincs jelentős hatással.)</a:t>
            </a:r>
          </a:p>
          <a:p>
            <a:endParaRPr lang="hu-HU" b="1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0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Állami feladatok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Az aktív munkaerőpiac fejlesztése a munkanélküliség leküzdése érdekében, a tartós munkanélküliség megelőzése, a fiatal korosztályok segítése a munkaerőpiacba való bekapcsolódásba</a:t>
            </a:r>
          </a:p>
          <a:p>
            <a:r>
              <a:rPr lang="hu-HU" dirty="0"/>
              <a:t>Egyenlő esélyek biztosítása a foglalkoztatásban</a:t>
            </a:r>
          </a:p>
          <a:p>
            <a:r>
              <a:rPr lang="hu-HU" dirty="0"/>
              <a:t>A szakképzés fejlesztése, az élethosszig tartó képzés elősegítése</a:t>
            </a:r>
          </a:p>
          <a:p>
            <a:r>
              <a:rPr lang="hu-HU" dirty="0"/>
              <a:t>A változó munkakörülményekhez alkalmazkodni képes munkaerő képzése</a:t>
            </a:r>
          </a:p>
          <a:p>
            <a:r>
              <a:rPr lang="hu-HU" dirty="0"/>
              <a:t>A nők foglalkoztatásának támogatása</a:t>
            </a:r>
          </a:p>
          <a:p>
            <a:r>
              <a:rPr lang="hu-HU" dirty="0"/>
              <a:t>A helyi munkaerő-piaci igények kielégítési lehetőségeinek javítása</a:t>
            </a:r>
          </a:p>
          <a:p>
            <a:r>
              <a:rPr lang="hu-HU" dirty="0"/>
              <a:t>A képzés és a munka világának közelítése</a:t>
            </a:r>
          </a:p>
          <a:p>
            <a:r>
              <a:rPr lang="hu-HU" dirty="0"/>
              <a:t>A kamara, az önkormányzat szerepének átgondolása a kapcsolatok létesítésében</a:t>
            </a:r>
          </a:p>
          <a:p>
            <a:r>
              <a:rPr lang="hu-HU" dirty="0"/>
              <a:t>Nemzetközi tapasztalatok, megoldási módok gyűjtése</a:t>
            </a:r>
          </a:p>
          <a:p>
            <a:r>
              <a:rPr lang="hu-HU" dirty="0"/>
              <a:t>A munkanélküliek képzése </a:t>
            </a:r>
          </a:p>
          <a:p>
            <a:r>
              <a:rPr lang="hu-HU" dirty="0"/>
              <a:t>Az alapismeretek, alapkészségek megerősítése a munkanélküliek képzésében</a:t>
            </a:r>
          </a:p>
          <a:p>
            <a:r>
              <a:rPr lang="hu-HU" dirty="0"/>
              <a:t>A képzés szervezésében a gazdaságos megoldások ösztönzése</a:t>
            </a:r>
          </a:p>
          <a:p>
            <a:r>
              <a:rPr lang="hu-HU" dirty="0"/>
              <a:t>A munkanélküliek visszavezetése a munka világába</a:t>
            </a:r>
          </a:p>
          <a:p>
            <a:endParaRPr lang="hu-HU" b="1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8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 descr="https://regi.tankonyvtar.hu/hu/tartalom/tamop412A/2011-0021_55_emberi_eroforras_gazdalkodas/55_k50.jpg">
            <a:extLst>
              <a:ext uri="{FF2B5EF4-FFF2-40B4-BE49-F238E27FC236}">
                <a16:creationId xmlns="" xmlns:a16="http://schemas.microsoft.com/office/drawing/2014/main" id="{F0EEDE52-5446-41F4-8F03-E89EC5BC14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67" y="1310957"/>
            <a:ext cx="10505762" cy="538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Állami feladatok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9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Fajtái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656283"/>
            <a:ext cx="11919858" cy="5065190"/>
          </a:xfrm>
        </p:spPr>
        <p:txBody>
          <a:bodyPr>
            <a:normAutofit/>
          </a:bodyPr>
          <a:lstStyle/>
          <a:p>
            <a:r>
              <a:rPr lang="hu-HU" dirty="0"/>
              <a:t>Helyszíne szerint (külső, belső)</a:t>
            </a:r>
          </a:p>
          <a:p>
            <a:r>
              <a:rPr lang="hu-HU" dirty="0"/>
              <a:t>Időtartama szerint (1 órán belüli, néhány napos, több hetes)</a:t>
            </a:r>
          </a:p>
          <a:p>
            <a:r>
              <a:rPr lang="hu-HU" dirty="0"/>
              <a:t>Időhorizontja szerint (rövid- vagy hosszútávú célokat szolgáló)</a:t>
            </a:r>
          </a:p>
          <a:p>
            <a:r>
              <a:rPr lang="hu-HU" dirty="0"/>
              <a:t>Tárgya (tudás/ismeret, képesség, magatartás)</a:t>
            </a:r>
          </a:p>
          <a:p>
            <a:r>
              <a:rPr lang="hu-HU" dirty="0"/>
              <a:t>Orientáció </a:t>
            </a:r>
            <a:r>
              <a:rPr lang="hu-HU" dirty="0" smtClean="0"/>
              <a:t>- </a:t>
            </a:r>
            <a:r>
              <a:rPr lang="hu-HU" dirty="0"/>
              <a:t>módszertan/szaktudás - csapatmunka</a:t>
            </a:r>
          </a:p>
          <a:p>
            <a:endParaRPr lang="hu-HU" b="1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92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Területei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8" name="Tartalom helye 3" descr="https://regi.tankonyvtar.hu/hu/tartalom/tamop412A/2011-0021_55_emberi_eroforras_gazdalkodas/55_k51.jpg">
            <a:extLst>
              <a:ext uri="{FF2B5EF4-FFF2-40B4-BE49-F238E27FC236}">
                <a16:creationId xmlns="" xmlns:a16="http://schemas.microsoft.com/office/drawing/2014/main" id="{01BBEE50-3C9D-497F-9E4E-945B5F79A7D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35" y="1423918"/>
            <a:ext cx="10399940" cy="506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656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Megéri, </a:t>
            </a:r>
            <a:r>
              <a:rPr lang="hu-HU" dirty="0" smtClean="0"/>
              <a:t>ha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r>
              <a:rPr lang="hu-HU" dirty="0" smtClean="0"/>
              <a:t>közelebb </a:t>
            </a:r>
            <a:r>
              <a:rPr lang="hu-HU" dirty="0"/>
              <a:t>kerülünk a vevői igények teljesítéséhez</a:t>
            </a:r>
          </a:p>
          <a:p>
            <a:r>
              <a:rPr lang="hu-HU" dirty="0" smtClean="0"/>
              <a:t>versenytársakat </a:t>
            </a:r>
            <a:r>
              <a:rPr lang="hu-HU" dirty="0"/>
              <a:t>megelőzzük</a:t>
            </a:r>
          </a:p>
          <a:p>
            <a:r>
              <a:rPr lang="hu-HU" dirty="0" smtClean="0"/>
              <a:t>szervezet </a:t>
            </a:r>
            <a:r>
              <a:rPr lang="hu-HU" dirty="0"/>
              <a:t>reagálási képessége javul</a:t>
            </a:r>
          </a:p>
          <a:p>
            <a:r>
              <a:rPr lang="hu-HU" dirty="0" smtClean="0"/>
              <a:t>szervezeti </a:t>
            </a:r>
            <a:r>
              <a:rPr lang="hu-HU" dirty="0"/>
              <a:t>kultúra javul</a:t>
            </a:r>
          </a:p>
          <a:p>
            <a:r>
              <a:rPr lang="hu-HU" dirty="0" smtClean="0"/>
              <a:t>költségek </a:t>
            </a:r>
            <a:r>
              <a:rPr lang="hu-HU" dirty="0"/>
              <a:t>kimutathatóan megtérülnek</a:t>
            </a:r>
          </a:p>
          <a:p>
            <a:r>
              <a:rPr lang="hu-HU" dirty="0" smtClean="0"/>
              <a:t>dolgozóra </a:t>
            </a:r>
            <a:r>
              <a:rPr lang="hu-HU" dirty="0"/>
              <a:t>szabott, a cég és a dolgozó fejlődési céljai összehangoltak</a:t>
            </a:r>
          </a:p>
          <a:p>
            <a:r>
              <a:rPr lang="hu-HU" dirty="0" smtClean="0"/>
              <a:t>dolgozó </a:t>
            </a:r>
            <a:r>
              <a:rPr lang="hu-HU" dirty="0"/>
              <a:t>nem viszi el a tudást (nem lép ki) a megtérülése </a:t>
            </a:r>
            <a:r>
              <a:rPr lang="hu-HU" dirty="0" smtClean="0"/>
              <a:t>előtt.</a:t>
            </a:r>
            <a:endParaRPr lang="hu-HU" dirty="0"/>
          </a:p>
          <a:p>
            <a:endParaRPr lang="hu-HU" b="1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8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1436845"/>
          </a:xfrm>
        </p:spPr>
        <p:txBody>
          <a:bodyPr>
            <a:normAutofit/>
          </a:bodyPr>
          <a:lstStyle/>
          <a:p>
            <a:r>
              <a:rPr lang="hu-HU" dirty="0" smtClean="0"/>
              <a:t>Emberi erőforrás menedzsment (EEM)</a:t>
            </a:r>
            <a:br>
              <a:rPr lang="hu-HU" dirty="0" smtClean="0"/>
            </a:br>
            <a:r>
              <a:rPr lang="hu-HU" dirty="0" smtClean="0"/>
              <a:t>oktatás-stratégia </a:t>
            </a:r>
            <a:r>
              <a:rPr lang="hu-HU" dirty="0"/>
              <a:t>kialakítás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2484407"/>
            <a:ext cx="11919858" cy="4237065"/>
          </a:xfrm>
        </p:spPr>
        <p:txBody>
          <a:bodyPr>
            <a:normAutofit/>
          </a:bodyPr>
          <a:lstStyle/>
          <a:p>
            <a:r>
              <a:rPr lang="hu-HU" dirty="0"/>
              <a:t>Vízió megfogalmazása</a:t>
            </a:r>
          </a:p>
          <a:p>
            <a:r>
              <a:rPr lang="hu-HU" dirty="0"/>
              <a:t>Misszió </a:t>
            </a:r>
          </a:p>
          <a:p>
            <a:r>
              <a:rPr lang="hu-HU" dirty="0"/>
              <a:t>Eszközrendszer definiálása</a:t>
            </a:r>
          </a:p>
          <a:p>
            <a:r>
              <a:rPr lang="hu-HU" dirty="0"/>
              <a:t>Döntési jogkörök kijelölése</a:t>
            </a:r>
          </a:p>
          <a:p>
            <a:endParaRPr lang="hu-HU" b="1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12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Célok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Munkaadók továbbképzése, vezetői képességek javítása:</a:t>
            </a:r>
          </a:p>
          <a:p>
            <a:pPr lvl="1"/>
            <a:r>
              <a:rPr lang="hu-HU" dirty="0"/>
              <a:t>a konfliktuskezelő képesség fejlesztése;</a:t>
            </a:r>
          </a:p>
          <a:p>
            <a:pPr lvl="1"/>
            <a:r>
              <a:rPr lang="hu-HU" dirty="0"/>
              <a:t>korszerű vezetői ismeretek, nyelvismeret;</a:t>
            </a:r>
          </a:p>
          <a:p>
            <a:pPr lvl="1"/>
            <a:r>
              <a:rPr lang="hu-HU" dirty="0"/>
              <a:t>a vezetők és a szakértők külföldi tapasztalatainak </a:t>
            </a:r>
            <a:r>
              <a:rPr lang="hu-HU" dirty="0" smtClean="0"/>
              <a:t>gyarapítása.</a:t>
            </a:r>
            <a:endParaRPr lang="hu-HU" dirty="0"/>
          </a:p>
          <a:p>
            <a:endParaRPr lang="hu-HU" dirty="0"/>
          </a:p>
          <a:p>
            <a:pPr marL="0" indent="0">
              <a:buNone/>
            </a:pPr>
            <a:r>
              <a:rPr lang="hu-HU" b="1" dirty="0"/>
              <a:t>A munkavállalók képzése:</a:t>
            </a:r>
          </a:p>
          <a:p>
            <a:pPr lvl="1"/>
            <a:r>
              <a:rPr lang="hu-HU" dirty="0"/>
              <a:t>a valamennyi munkahelyre érvényes, a távlati szempontokat is figyelembe vevő ismeretek, képességek, készségek minimumának meghatározása;</a:t>
            </a:r>
          </a:p>
          <a:p>
            <a:pPr lvl="1"/>
            <a:r>
              <a:rPr lang="hu-HU" dirty="0"/>
              <a:t>problémamegoldó képességet, kommunikációs képességeket fejlesztő tréningek szervezése;</a:t>
            </a:r>
          </a:p>
          <a:p>
            <a:pPr lvl="1"/>
            <a:r>
              <a:rPr lang="hu-HU" dirty="0"/>
              <a:t>számítástechnikai ismeretek oktatása, nyelvoktatás.</a:t>
            </a:r>
          </a:p>
          <a:p>
            <a:endParaRPr lang="hu-HU" b="1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4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Tervezés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r>
              <a:rPr lang="hu-HU" dirty="0"/>
              <a:t>Szervezet céljai, folyamatai, munkakörök és kapcsolódó kompetenciák </a:t>
            </a:r>
            <a:r>
              <a:rPr lang="hu-HU" b="1" dirty="0" smtClean="0"/>
              <a:t>beazonosítás</a:t>
            </a:r>
            <a:r>
              <a:rPr lang="hu-HU" dirty="0" smtClean="0"/>
              <a:t>a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b="1" dirty="0"/>
              <a:t>Felmérés </a:t>
            </a:r>
            <a:r>
              <a:rPr lang="hu-HU" dirty="0"/>
              <a:t>a dolgozók meglévő kompetenciáiról, tanulási hajlandóságáról, </a:t>
            </a:r>
            <a:r>
              <a:rPr lang="hu-HU" dirty="0" smtClean="0"/>
              <a:t>motiválhatóságáról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Az </a:t>
            </a:r>
            <a:r>
              <a:rPr lang="hu-HU" b="1" dirty="0"/>
              <a:t>eltérések elemzése </a:t>
            </a:r>
            <a:r>
              <a:rPr lang="hu-HU" dirty="0"/>
              <a:t>alapján a rövid távú feladatok, képzések </a:t>
            </a:r>
            <a:r>
              <a:rPr lang="hu-HU" dirty="0" smtClean="0"/>
              <a:t>meghatározása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A </a:t>
            </a:r>
            <a:r>
              <a:rPr lang="hu-HU" b="1" dirty="0"/>
              <a:t>külső környezeti változásokra való felkészülés</a:t>
            </a:r>
            <a:r>
              <a:rPr lang="hu-HU" dirty="0"/>
              <a:t>, proaktív fejlesztési és oktatási feladatok </a:t>
            </a:r>
            <a:r>
              <a:rPr lang="hu-HU" dirty="0" smtClean="0"/>
              <a:t>meghatározása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b="1" dirty="0"/>
              <a:t>Konkrét terv </a:t>
            </a:r>
            <a:r>
              <a:rPr lang="hu-HU" dirty="0"/>
              <a:t>kidolgozása időbeli ütemezés, erőforrás igény, motivációs rendszerrel összhang kialakítás</a:t>
            </a:r>
          </a:p>
          <a:p>
            <a:endParaRPr lang="hu-HU" b="1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996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smtClean="0"/>
              <a:t>szervezeti képzés-tervezés </a:t>
            </a:r>
            <a:r>
              <a:rPr lang="hu-HU" dirty="0"/>
              <a:t>konkrét feladatai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Fejlesztendő terület meghatározása</a:t>
            </a:r>
          </a:p>
          <a:p>
            <a:r>
              <a:rPr lang="hu-HU" dirty="0"/>
              <a:t>Dolgozók kijelölése</a:t>
            </a:r>
          </a:p>
          <a:p>
            <a:r>
              <a:rPr lang="hu-HU" dirty="0"/>
              <a:t>Kiindulási állapot felmérése (teszt, kérdőív, elbeszélgetés)</a:t>
            </a:r>
          </a:p>
          <a:p>
            <a:r>
              <a:rPr lang="hu-HU" dirty="0"/>
              <a:t>Képzési forma meghatározása (munkaidőn belül, vagy kívül, belső vagy külső képzés, oktatóval, vagy önképzéssel, személyesen vagy online anyagokkal, stb.)</a:t>
            </a:r>
          </a:p>
          <a:p>
            <a:r>
              <a:rPr lang="hu-HU" dirty="0"/>
              <a:t>Idő- és költségterv elkészítése (erőforrás igény alapján)</a:t>
            </a:r>
          </a:p>
          <a:p>
            <a:r>
              <a:rPr lang="hu-HU" dirty="0"/>
              <a:t>Tananyag elkészítése, további erőforrásigény meghatározása</a:t>
            </a:r>
          </a:p>
          <a:p>
            <a:r>
              <a:rPr lang="hu-HU" dirty="0"/>
              <a:t>Próbaoktatás lebonyolítása</a:t>
            </a:r>
          </a:p>
          <a:p>
            <a:r>
              <a:rPr lang="hu-HU" dirty="0"/>
              <a:t>Mérés, terv-tény összehasonlítás</a:t>
            </a:r>
          </a:p>
          <a:p>
            <a:r>
              <a:rPr lang="hu-HU" dirty="0"/>
              <a:t>Tananyag módosítás, standardizálás</a:t>
            </a:r>
          </a:p>
          <a:p>
            <a:r>
              <a:rPr lang="hu-HU" dirty="0"/>
              <a:t>Motivációs rendszer kiegészítése, szabályzatok felülvizsgálata</a:t>
            </a:r>
          </a:p>
          <a:p>
            <a:r>
              <a:rPr lang="hu-HU" dirty="0"/>
              <a:t>Képzési naptár</a:t>
            </a:r>
          </a:p>
          <a:p>
            <a:r>
              <a:rPr lang="hu-HU" dirty="0"/>
              <a:t>Helyettesítések megszervezése</a:t>
            </a:r>
          </a:p>
          <a:p>
            <a:r>
              <a:rPr lang="hu-HU" dirty="0"/>
              <a:t>Után követés, helyesbítések megtervezése</a:t>
            </a:r>
            <a:endParaRPr lang="hu-HU" b="1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81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képzés eredményességének mérési problémái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r>
              <a:rPr lang="hu-HU" dirty="0"/>
              <a:t>Minőségjavulás</a:t>
            </a:r>
          </a:p>
          <a:p>
            <a:r>
              <a:rPr lang="hu-HU" dirty="0"/>
              <a:t>Selejt csökkenés</a:t>
            </a:r>
          </a:p>
          <a:p>
            <a:r>
              <a:rPr lang="hu-HU" dirty="0"/>
              <a:t>Kommunikáció javulása</a:t>
            </a:r>
          </a:p>
          <a:p>
            <a:r>
              <a:rPr lang="hu-HU" dirty="0"/>
              <a:t>Változástól való félelem csökkenése</a:t>
            </a:r>
          </a:p>
          <a:p>
            <a:r>
              <a:rPr lang="hu-HU" dirty="0"/>
              <a:t>Techno-stressz csökkenése</a:t>
            </a:r>
          </a:p>
          <a:p>
            <a:r>
              <a:rPr lang="hu-HU" dirty="0"/>
              <a:t>Üzleti eredmény növekedése</a:t>
            </a:r>
          </a:p>
          <a:p>
            <a:r>
              <a:rPr lang="hu-HU" dirty="0"/>
              <a:t>A szervezet reagálási képességének javulása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6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vezetőképzés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A. Zsigmond: </a:t>
            </a:r>
          </a:p>
          <a:p>
            <a:pPr lvl="1"/>
            <a:r>
              <a:rPr lang="hu-HU" dirty="0"/>
              <a:t>„Vezetőképzés során mindig felmerül a szervezeti kultúra kérdése. Vagyis hogy mi a vezetői eszmény, mit szeretnénk, hogyan viszonyuljanak vezetőink a munkatársakhoz, hogyan motiválják őket, hogyan adjanak fejlesztő visszajelzéseket. </a:t>
            </a:r>
            <a:endParaRPr lang="hu-HU" dirty="0" smtClean="0"/>
          </a:p>
          <a:p>
            <a:pPr marL="457200" lvl="1" indent="0">
              <a:buNone/>
            </a:pPr>
            <a:endParaRPr lang="hu-HU" dirty="0"/>
          </a:p>
          <a:p>
            <a:pPr lvl="1"/>
            <a:r>
              <a:rPr lang="hu-HU" dirty="0"/>
              <a:t>Az is kérdés, kit képezzünk, milyen speciális vezetői szakmai képzésre van szüksége az egyes embereknek. Hogyan illeszkedjenek a szervezeti kultúrába, mik a vezetői utánpótlás-nevelés, a tehetséggondozás legfontosabb irányelvei jelenleg a szervezetben, és így tovább.”</a:t>
            </a:r>
          </a:p>
          <a:p>
            <a:pPr marL="0" indent="0">
              <a:buNone/>
            </a:pPr>
            <a:r>
              <a:rPr lang="hu-HU" sz="800" dirty="0"/>
              <a:t>(https://</a:t>
            </a:r>
            <a:r>
              <a:rPr lang="hu-HU" sz="800" dirty="0" smtClean="0"/>
              <a:t>docplayer.hu/1047495-Human-eroforras-fejlesztesi-elemzo-szervezo-szakmabemutato-informacios-mappa.html)</a:t>
            </a:r>
            <a:endParaRPr lang="hu-HU" sz="8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39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Vállalati kompetenciák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r>
              <a:rPr lang="hu-HU" dirty="0"/>
              <a:t>„Készségek és képességek együttesét jelenti, melyek segítségével valaki problémamegoldásra képes egy adott területen, jelenti továbbá az illetőnek azt a hajlandóságát is, hogy a problémamegoldásra való képességét alkalmazza és kivitelezze</a:t>
            </a:r>
          </a:p>
          <a:p>
            <a:r>
              <a:rPr lang="hu-HU" dirty="0"/>
              <a:t>A fogalom magában foglalja az illető tudását, tapasztalatait éppúgy, mint személyes adottságait</a:t>
            </a:r>
          </a:p>
          <a:p>
            <a:r>
              <a:rPr lang="hu-HU" dirty="0"/>
              <a:t>A kompetencia a döntést, kivitelezést, megvalósulást szolgáló képességrendszer</a:t>
            </a:r>
            <a:r>
              <a:rPr lang="hu-HU" dirty="0" smtClean="0"/>
              <a:t>.”</a:t>
            </a:r>
            <a:br>
              <a:rPr lang="hu-HU" dirty="0" smtClean="0"/>
            </a:br>
            <a:endParaRPr lang="hu-HU" dirty="0"/>
          </a:p>
          <a:p>
            <a:r>
              <a:rPr lang="hu-HU" dirty="0"/>
              <a:t>A szervezeti kompetenciák kialakulásának alapfeltétele a megfelelő munkakörnyezet, a feladat elvégzéséhez szükséges eszközök és </a:t>
            </a:r>
            <a:r>
              <a:rPr lang="hu-HU" dirty="0" smtClean="0"/>
              <a:t>erőforrások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sz="800" dirty="0" smtClean="0"/>
              <a:t>(https</a:t>
            </a:r>
            <a:r>
              <a:rPr lang="hu-HU" sz="800" dirty="0"/>
              <a:t>://www.careersolutions.hu/single-post/a-talentek-%</a:t>
            </a:r>
            <a:r>
              <a:rPr lang="hu-HU" sz="800" dirty="0" smtClean="0"/>
              <a:t>C3%A9s-a-kompetencia)</a:t>
            </a:r>
            <a:endParaRPr lang="hu-HU" sz="8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89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kompetencia összetevői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hu-HU" b="1" dirty="0"/>
              <a:t>Ismeretek</a:t>
            </a:r>
          </a:p>
          <a:p>
            <a:pPr marL="457200" lvl="1" indent="0">
              <a:buNone/>
            </a:pPr>
            <a:r>
              <a:rPr lang="hu-HU" dirty="0"/>
              <a:t>Tanulás során, illetve tapasztalatok által szerzett információ</a:t>
            </a:r>
          </a:p>
          <a:p>
            <a:pPr marL="457200" indent="-457200">
              <a:buFont typeface="+mj-lt"/>
              <a:buAutoNum type="arabicPeriod"/>
            </a:pPr>
            <a:r>
              <a:rPr lang="hu-HU" b="1" dirty="0"/>
              <a:t>Készségek, jártasságok</a:t>
            </a:r>
          </a:p>
          <a:p>
            <a:pPr marL="457200" lvl="1" indent="0">
              <a:buNone/>
            </a:pPr>
            <a:r>
              <a:rPr lang="hu-HU" dirty="0"/>
              <a:t>Fizikai és szellemi feladatok elvégzéséhez szükséges ismeretek</a:t>
            </a:r>
          </a:p>
          <a:p>
            <a:pPr marL="457200" indent="-457200">
              <a:buFont typeface="+mj-lt"/>
              <a:buAutoNum type="arabicPeriod"/>
            </a:pPr>
            <a:r>
              <a:rPr lang="hu-HU" b="1" dirty="0"/>
              <a:t>Személyes értékek</a:t>
            </a:r>
          </a:p>
          <a:p>
            <a:pPr marL="457200" lvl="1" indent="0">
              <a:buNone/>
            </a:pPr>
            <a:r>
              <a:rPr lang="hu-HU" dirty="0"/>
              <a:t>Az egyénre jellemző viselkedési, gondolkodási és érzésminta </a:t>
            </a:r>
          </a:p>
          <a:p>
            <a:pPr marL="457200" indent="-457200">
              <a:buFont typeface="+mj-lt"/>
              <a:buAutoNum type="arabicPeriod"/>
            </a:pPr>
            <a:r>
              <a:rPr lang="hu-HU" b="1" dirty="0"/>
              <a:t>Attitűd</a:t>
            </a:r>
          </a:p>
          <a:p>
            <a:pPr marL="457200" lvl="1" indent="0">
              <a:buNone/>
            </a:pPr>
            <a:r>
              <a:rPr lang="hu-HU" dirty="0"/>
              <a:t>Magatartás, viselkedés, modor, szellemi beállítottság, hozzáállás, viszonyulás valamihez vagy valakihez</a:t>
            </a:r>
          </a:p>
          <a:p>
            <a:pPr marL="457200" indent="-457200">
              <a:buFont typeface="+mj-lt"/>
              <a:buAutoNum type="arabicPeriod"/>
            </a:pPr>
            <a:r>
              <a:rPr lang="hu-HU" b="1" dirty="0"/>
              <a:t>Személyiségjellemzők</a:t>
            </a:r>
          </a:p>
          <a:p>
            <a:pPr marL="457200" lvl="1" indent="0">
              <a:buNone/>
            </a:pPr>
            <a:r>
              <a:rPr lang="hu-HU" dirty="0"/>
              <a:t>Azon tulajdonság, amely teljes képet ad pszichikai, fizikai jellemzőinkről az adott helyzetekre adott válaszok során</a:t>
            </a:r>
          </a:p>
          <a:p>
            <a:pPr marL="457200" indent="-457200">
              <a:buFont typeface="+mj-lt"/>
              <a:buAutoNum type="arabicPeriod"/>
            </a:pPr>
            <a:r>
              <a:rPr lang="hu-HU" b="1" dirty="0"/>
              <a:t>Motivációk</a:t>
            </a:r>
          </a:p>
          <a:p>
            <a:pPr marL="457200" lvl="1" indent="0">
              <a:buNone/>
            </a:pPr>
            <a:r>
              <a:rPr lang="hu-HU" dirty="0"/>
              <a:t>Viselkedést befolyásoló, irányító tulajdonság az elérni kívánt cél érdekében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65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Szakmai kompetencia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Ismeretek</a:t>
            </a:r>
          </a:p>
          <a:p>
            <a:pPr lvl="1"/>
            <a:r>
              <a:rPr lang="hu-HU" dirty="0"/>
              <a:t>Magas színvonalú szakismeretek, naprakész szaktudás</a:t>
            </a:r>
          </a:p>
          <a:p>
            <a:pPr lvl="1"/>
            <a:r>
              <a:rPr lang="hu-HU" dirty="0"/>
              <a:t>Elméleti ismeretek gyakorlatba való átültetésének képessége</a:t>
            </a:r>
          </a:p>
          <a:p>
            <a:pPr lvl="1"/>
            <a:r>
              <a:rPr lang="hu-HU" dirty="0"/>
              <a:t>Multidiszciplináris (több tudományterületen való) gondolkodásmód</a:t>
            </a:r>
          </a:p>
          <a:p>
            <a:pPr lvl="1"/>
            <a:r>
              <a:rPr lang="hu-HU" dirty="0"/>
              <a:t>Legalább egy idegen nyelv magas szintű </a:t>
            </a:r>
            <a:r>
              <a:rPr lang="hu-HU" dirty="0" smtClean="0"/>
              <a:t>ismerete</a:t>
            </a:r>
          </a:p>
          <a:p>
            <a:pPr lvl="1"/>
            <a:endParaRPr lang="hu-HU" dirty="0"/>
          </a:p>
          <a:p>
            <a:pPr marL="0" indent="0">
              <a:buNone/>
            </a:pPr>
            <a:r>
              <a:rPr lang="hu-HU" b="1" dirty="0"/>
              <a:t>Készségek</a:t>
            </a:r>
          </a:p>
          <a:p>
            <a:pPr lvl="1"/>
            <a:r>
              <a:rPr lang="hu-HU" dirty="0"/>
              <a:t>Minimális irányítás melletti intenzív munkavégzés képessége</a:t>
            </a:r>
          </a:p>
          <a:p>
            <a:pPr lvl="1"/>
            <a:r>
              <a:rPr lang="hu-HU" dirty="0"/>
              <a:t>Új készségek, cselekvési módszerek elsajátítása iránti fogékonyság </a:t>
            </a:r>
          </a:p>
          <a:p>
            <a:pPr lvl="1"/>
            <a:r>
              <a:rPr lang="hu-HU" dirty="0"/>
              <a:t>Modern információtechnológiák használatában való jártasság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14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Módszertani kompetencia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Tanulás</a:t>
            </a:r>
          </a:p>
          <a:p>
            <a:pPr lvl="1"/>
            <a:r>
              <a:rPr lang="hu-HU" dirty="0"/>
              <a:t>További folyamatos tanulás iránti elkötelezettség</a:t>
            </a:r>
          </a:p>
          <a:p>
            <a:pPr marL="0" indent="0">
              <a:buNone/>
            </a:pPr>
            <a:r>
              <a:rPr lang="hu-HU" b="1" dirty="0"/>
              <a:t>Gondolkodás és probléma viszonya</a:t>
            </a:r>
          </a:p>
          <a:p>
            <a:pPr lvl="1"/>
            <a:r>
              <a:rPr lang="hu-HU" dirty="0"/>
              <a:t>Problémamegoldó képesség</a:t>
            </a:r>
          </a:p>
          <a:p>
            <a:pPr lvl="1"/>
            <a:r>
              <a:rPr lang="hu-HU" dirty="0"/>
              <a:t>Információk megszerzésének és megfelelő felhasználásuknak a képessége</a:t>
            </a:r>
          </a:p>
          <a:p>
            <a:pPr lvl="1"/>
            <a:r>
              <a:rPr lang="hu-HU" dirty="0"/>
              <a:t>Döntéshozatali képesség</a:t>
            </a:r>
          </a:p>
          <a:p>
            <a:pPr lvl="1"/>
            <a:r>
              <a:rPr lang="hu-HU" dirty="0"/>
              <a:t>Globális (nemzetközi mértékben értelmezett) tájékozottság</a:t>
            </a:r>
          </a:p>
          <a:p>
            <a:pPr marL="0" indent="0">
              <a:buNone/>
            </a:pPr>
            <a:r>
              <a:rPr lang="hu-HU" b="1" dirty="0"/>
              <a:t>Kreativitás</a:t>
            </a:r>
          </a:p>
          <a:p>
            <a:pPr lvl="1"/>
            <a:r>
              <a:rPr lang="hu-HU" dirty="0"/>
              <a:t>Kreatív gondolkodási készség</a:t>
            </a:r>
          </a:p>
          <a:p>
            <a:pPr lvl="1"/>
            <a:r>
              <a:rPr lang="hu-HU" dirty="0"/>
              <a:t>Alkalmazkodóképesség, rugalmasság</a:t>
            </a:r>
          </a:p>
          <a:p>
            <a:pPr lvl="1"/>
            <a:r>
              <a:rPr lang="hu-HU" dirty="0"/>
              <a:t>Változások kezelésének képessége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48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Társas kompetencia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Kommunikáció</a:t>
            </a:r>
          </a:p>
          <a:p>
            <a:pPr lvl="1"/>
            <a:r>
              <a:rPr lang="hu-HU" dirty="0"/>
              <a:t>Szóbeli kommunikációs készségek</a:t>
            </a:r>
          </a:p>
          <a:p>
            <a:pPr lvl="1"/>
            <a:r>
              <a:rPr lang="hu-HU" dirty="0"/>
              <a:t>Prezentációs készségek</a:t>
            </a:r>
          </a:p>
          <a:p>
            <a:pPr lvl="1"/>
            <a:r>
              <a:rPr lang="hu-HU" dirty="0"/>
              <a:t>Íráskészség/ jelentés-írási képesség</a:t>
            </a:r>
          </a:p>
          <a:p>
            <a:pPr marL="0" indent="0">
              <a:buNone/>
            </a:pPr>
            <a:r>
              <a:rPr lang="hu-HU" b="1" dirty="0"/>
              <a:t>Kooperáció</a:t>
            </a:r>
          </a:p>
          <a:p>
            <a:pPr lvl="1"/>
            <a:r>
              <a:rPr lang="hu-HU" dirty="0"/>
              <a:t>Másokkal való együttműködés / Csoportban való munkavégzés képessége</a:t>
            </a:r>
          </a:p>
          <a:p>
            <a:pPr lvl="1"/>
            <a:r>
              <a:rPr lang="hu-HU" dirty="0"/>
              <a:t>Más (különböző) nézetek iránti tolerancia</a:t>
            </a:r>
          </a:p>
          <a:p>
            <a:pPr lvl="1"/>
            <a:r>
              <a:rPr lang="hu-HU" dirty="0"/>
              <a:t>Multikulturális környezetben való munkavégzés képessége</a:t>
            </a:r>
          </a:p>
          <a:p>
            <a:pPr lvl="1"/>
            <a:r>
              <a:rPr lang="hu-HU" dirty="0"/>
              <a:t>Szociális érzékenység</a:t>
            </a:r>
          </a:p>
          <a:p>
            <a:pPr marL="0" indent="0">
              <a:buNone/>
            </a:pPr>
            <a:r>
              <a:rPr lang="hu-HU" b="1" dirty="0"/>
              <a:t>Vezetői</a:t>
            </a:r>
          </a:p>
          <a:p>
            <a:pPr lvl="1"/>
            <a:r>
              <a:rPr lang="hu-HU" dirty="0"/>
              <a:t>Mások meggyőzésének képessége</a:t>
            </a:r>
          </a:p>
          <a:p>
            <a:pPr lvl="1"/>
            <a:r>
              <a:rPr lang="hu-HU" dirty="0"/>
              <a:t>Menedzseri és vezetői képességek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28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Személyes kompetencia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811547"/>
            <a:ext cx="11919858" cy="4909926"/>
          </a:xfrm>
        </p:spPr>
        <p:txBody>
          <a:bodyPr>
            <a:normAutofit/>
          </a:bodyPr>
          <a:lstStyle/>
          <a:p>
            <a:r>
              <a:rPr lang="hu-HU" dirty="0"/>
              <a:t>Etikus cselekvések iránti elkötelezettség</a:t>
            </a:r>
          </a:p>
          <a:p>
            <a:r>
              <a:rPr lang="hu-HU" dirty="0"/>
              <a:t>Felelősségvállalási készség</a:t>
            </a:r>
          </a:p>
          <a:p>
            <a:r>
              <a:rPr lang="hu-HU" dirty="0"/>
              <a:t>Kockázatvállalási képesség</a:t>
            </a:r>
          </a:p>
          <a:p>
            <a:r>
              <a:rPr lang="hu-HU" dirty="0"/>
              <a:t>Nemzetközi tapasztalatok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374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Munkahelyi kompetenciák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Személyek közötti (</a:t>
            </a:r>
            <a:r>
              <a:rPr lang="hu-HU" b="1" dirty="0" err="1"/>
              <a:t>inter-personal</a:t>
            </a:r>
            <a:r>
              <a:rPr lang="hu-HU" b="1" dirty="0"/>
              <a:t>) készségek</a:t>
            </a:r>
          </a:p>
          <a:p>
            <a:pPr lvl="1"/>
            <a:r>
              <a:rPr lang="hu-HU" dirty="0"/>
              <a:t>A csapatmunka és a közös célokért való együttműködés készsége </a:t>
            </a:r>
          </a:p>
          <a:p>
            <a:pPr lvl="1"/>
            <a:r>
              <a:rPr lang="hu-HU" dirty="0"/>
              <a:t>Vezetői képességek </a:t>
            </a:r>
            <a:endParaRPr lang="hu-HU" dirty="0" smtClean="0"/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Belső személyes (</a:t>
            </a:r>
            <a:r>
              <a:rPr lang="hu-HU" b="1" dirty="0" err="1"/>
              <a:t>intra-personal</a:t>
            </a:r>
            <a:r>
              <a:rPr lang="hu-HU" b="1" dirty="0"/>
              <a:t>) készségek</a:t>
            </a:r>
          </a:p>
          <a:p>
            <a:pPr lvl="1"/>
            <a:r>
              <a:rPr lang="hu-HU" dirty="0"/>
              <a:t>Motivációs készség és pozitív attitűd, kutatásra, elemzésre </a:t>
            </a:r>
          </a:p>
          <a:p>
            <a:pPr lvl="1"/>
            <a:r>
              <a:rPr lang="hu-HU" dirty="0"/>
              <a:t>A tanulás képessége </a:t>
            </a:r>
          </a:p>
          <a:p>
            <a:pPr lvl="1"/>
            <a:r>
              <a:rPr lang="hu-HU" dirty="0"/>
              <a:t>Probléma megoldási készség </a:t>
            </a:r>
          </a:p>
          <a:p>
            <a:pPr lvl="1"/>
            <a:r>
              <a:rPr lang="hu-HU" dirty="0"/>
              <a:t>Hatékony kommunikációs készség szóban, írásban, szűkkörben és nyilvánosan </a:t>
            </a:r>
          </a:p>
          <a:p>
            <a:pPr lvl="1"/>
            <a:r>
              <a:rPr lang="hu-HU" dirty="0"/>
              <a:t>Analitikus készség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19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Készségfejlesztés típusai és területei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D54313AF-7F37-4598-B384-D478F6A00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5463"/>
            <a:ext cx="11989436" cy="559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85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Készségfejlesztés típusai és területei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oktatás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8AE4F6B0-D144-4292-9EC1-0EA496F40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60" y="1656283"/>
            <a:ext cx="11564587" cy="486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00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63" y="156410"/>
            <a:ext cx="11791953" cy="1109053"/>
          </a:xfrm>
        </p:spPr>
        <p:txBody>
          <a:bodyPr>
            <a:normAutofit fontScale="90000"/>
          </a:bodyPr>
          <a:lstStyle/>
          <a:p>
            <a:r>
              <a:rPr lang="hu-HU" dirty="0" err="1" smtClean="0"/>
              <a:t>Kompetencik</a:t>
            </a:r>
            <a:r>
              <a:rPr lang="hu-HU" dirty="0" smtClean="0"/>
              <a:t> fontossági sorrendje</a:t>
            </a:r>
            <a:br>
              <a:rPr lang="hu-HU" dirty="0" smtClean="0"/>
            </a:br>
            <a:r>
              <a:rPr lang="hu-HU" dirty="0" smtClean="0"/>
              <a:t> </a:t>
            </a:r>
            <a:r>
              <a:rPr lang="hu-HU" dirty="0"/>
              <a:t>(</a:t>
            </a:r>
            <a:r>
              <a:rPr lang="hu-HU" sz="2800" dirty="0"/>
              <a:t>MM hallgatók </a:t>
            </a:r>
            <a:r>
              <a:rPr lang="hu-HU" sz="2800" dirty="0" smtClean="0"/>
              <a:t>válaszai: jelenlegi-már végzett hallgatók 7= fontos, 0= nem fontos</a:t>
            </a:r>
            <a:r>
              <a:rPr lang="hu-HU" dirty="0" smtClean="0"/>
              <a:t>)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hu-HU" dirty="0"/>
          </a:p>
        </p:txBody>
      </p:sp>
      <p:graphicFrame>
        <p:nvGraphicFramePr>
          <p:cNvPr id="6" name="Tartalom helye 3">
            <a:extLst>
              <a:ext uri="{FF2B5EF4-FFF2-40B4-BE49-F238E27FC236}">
                <a16:creationId xmlns="" xmlns:a16="http://schemas.microsoft.com/office/drawing/2014/main" id="{2563ABCA-0331-4E0C-9C93-14210001E7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319056"/>
              </p:ext>
            </p:extLst>
          </p:nvPr>
        </p:nvGraphicFramePr>
        <p:xfrm>
          <a:off x="487134" y="1414731"/>
          <a:ext cx="10899734" cy="5391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7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220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7400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3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</a:rPr>
                        <a:t>1-1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Problémamegoldó képesség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6,47- </a:t>
                      </a:r>
                      <a:r>
                        <a:rPr kumimoji="0" lang="hu-H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6,40</a:t>
                      </a:r>
                      <a:endParaRPr lang="hu-HU" sz="1600" dirty="0">
                        <a:solidFill>
                          <a:schemeClr val="tx1"/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</a:rPr>
                        <a:t>2-8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Times New Roman"/>
                        </a:rPr>
                        <a:t>Döntéshozatali képesség</a:t>
                      </a:r>
                      <a:endParaRPr lang="hu-HU" sz="20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rgbClr val="000000"/>
                          </a:solidFill>
                          <a:highlight>
                            <a:srgbClr val="FF0000"/>
                          </a:highlight>
                          <a:latin typeface="+mn-lt"/>
                          <a:ea typeface="Times New Roman"/>
                        </a:rPr>
                        <a:t>6,18 -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5,58</a:t>
                      </a:r>
                      <a:endParaRPr lang="hu-HU" sz="16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3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</a:rPr>
                        <a:t>3-13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Times New Roman"/>
                        </a:rPr>
                        <a:t>Menedzseri és vezetői képességek </a:t>
                      </a:r>
                      <a:endParaRPr lang="hu-HU" sz="20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rgbClr val="000000"/>
                          </a:solidFill>
                          <a:highlight>
                            <a:srgbClr val="FF0000"/>
                          </a:highlight>
                          <a:latin typeface="+mn-lt"/>
                          <a:ea typeface="Times New Roman"/>
                        </a:rPr>
                        <a:t>6,07 -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4,92</a:t>
                      </a:r>
                      <a:endParaRPr lang="hu-HU" sz="16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3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</a:rPr>
                        <a:t>4-5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Szóbeli kommunikációs készségek 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6,06 -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5,86</a:t>
                      </a:r>
                      <a:endParaRPr lang="hu-HU" sz="16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3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b="0" dirty="0">
                          <a:solidFill>
                            <a:srgbClr val="FF0000"/>
                          </a:solidFill>
                          <a:latin typeface="+mn-lt"/>
                          <a:ea typeface="Calibri"/>
                        </a:rPr>
                        <a:t>5-2</a:t>
                      </a: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b="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</a:rPr>
                        <a:t>Másokkal való együttműködés/ csoportmunka</a:t>
                      </a:r>
                      <a:r>
                        <a:rPr lang="hu-HU" sz="2000" b="0" baseline="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</a:rPr>
                        <a:t> </a:t>
                      </a:r>
                      <a:r>
                        <a:rPr lang="hu-HU" sz="2000" b="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</a:rPr>
                        <a:t>képessége</a:t>
                      </a:r>
                      <a:endParaRPr lang="hu-HU" sz="2000" b="0" dirty="0">
                        <a:solidFill>
                          <a:srgbClr val="FF0000"/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+mn-lt"/>
                          <a:ea typeface="Times New Roman"/>
                        </a:rPr>
                        <a:t>6,03 -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6,14</a:t>
                      </a:r>
                      <a:endParaRPr lang="hu-HU" sz="1600" dirty="0">
                        <a:solidFill>
                          <a:schemeClr val="tx1"/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3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</a:rPr>
                        <a:t>6-10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Magas színvonalú szakismeretek, naprakész szaktudás 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6,01 -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5,49</a:t>
                      </a:r>
                      <a:endParaRPr lang="hu-HU" sz="16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03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</a:rPr>
                        <a:t>7-7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Kreatív gondolkodási készség 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5,98 -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5,71</a:t>
                      </a:r>
                      <a:endParaRPr lang="hu-HU" sz="16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54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</a:rPr>
                        <a:t>8-11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Elméleti ismeretek gyakorlatba való átültetésének képessége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5,93 -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5,35</a:t>
                      </a:r>
                      <a:endParaRPr lang="hu-HU" sz="16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03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</a:rPr>
                        <a:t>9-12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Mások meggyőzésének képessége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5,91 -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5,05</a:t>
                      </a:r>
                      <a:endParaRPr lang="hu-HU" sz="16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254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FF0000"/>
                          </a:solidFill>
                          <a:latin typeface="+mn-lt"/>
                          <a:ea typeface="Calibri"/>
                        </a:rPr>
                        <a:t>10-6</a:t>
                      </a: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</a:rPr>
                        <a:t>Információk megszerzésének és felhasználásának a képessége </a:t>
                      </a:r>
                      <a:endParaRPr lang="hu-HU" sz="2000" dirty="0">
                        <a:solidFill>
                          <a:srgbClr val="FF0000"/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+mn-lt"/>
                          <a:ea typeface="Times New Roman"/>
                        </a:rPr>
                        <a:t>5,89 -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5,81</a:t>
                      </a:r>
                      <a:endParaRPr lang="hu-HU" sz="1600" dirty="0">
                        <a:solidFill>
                          <a:schemeClr val="tx1"/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3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FF0000"/>
                          </a:solidFill>
                          <a:latin typeface="+mn-lt"/>
                          <a:ea typeface="Calibri"/>
                        </a:rPr>
                        <a:t>11-4</a:t>
                      </a: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</a:rPr>
                        <a:t>Alkalmazkodóképesség (rugalmasság) </a:t>
                      </a:r>
                      <a:endParaRPr lang="hu-HU" sz="2000" dirty="0">
                        <a:solidFill>
                          <a:srgbClr val="FF0000"/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+mn-lt"/>
                          <a:ea typeface="Times New Roman"/>
                        </a:rPr>
                        <a:t>5,82 -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5,96</a:t>
                      </a:r>
                      <a:endParaRPr lang="hu-HU" sz="1600" dirty="0">
                        <a:solidFill>
                          <a:schemeClr val="tx1"/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254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</a:rPr>
                        <a:t>12-9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Modern információtechnológiák használatában való jártasság </a:t>
                      </a:r>
                      <a:endParaRPr lang="hu-HU" sz="20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5,65 -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5,53</a:t>
                      </a:r>
                      <a:endParaRPr lang="hu-HU" sz="1600" dirty="0"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254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FF0000"/>
                          </a:solidFill>
                          <a:latin typeface="+mn-lt"/>
                          <a:ea typeface="Calibri"/>
                        </a:rPr>
                        <a:t>13-3</a:t>
                      </a: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</a:rPr>
                        <a:t>Minimális irányítás mellett intenzív munkavégzés képessége</a:t>
                      </a:r>
                      <a:endParaRPr lang="hu-HU" sz="2000" dirty="0">
                        <a:solidFill>
                          <a:srgbClr val="FF0000"/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+mn-lt"/>
                          <a:ea typeface="Times New Roman"/>
                        </a:rPr>
                        <a:t>5,46 - </a:t>
                      </a:r>
                      <a:r>
                        <a:rPr kumimoji="0" lang="hu-H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6,03</a:t>
                      </a:r>
                      <a:endParaRPr lang="hu-HU" sz="1600" dirty="0">
                        <a:solidFill>
                          <a:schemeClr val="tx1"/>
                        </a:solidFill>
                        <a:latin typeface="+mn-lt"/>
                        <a:ea typeface="Calibri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98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337266"/>
            <a:ext cx="11510284" cy="928198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Képzéssel szemben támasztott</a:t>
            </a:r>
            <a:br>
              <a:rPr lang="hu-HU" dirty="0" smtClean="0"/>
            </a:br>
            <a:r>
              <a:rPr lang="hu-HU" dirty="0" smtClean="0"/>
              <a:t> követelmények (MM)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V="1">
            <a:off x="205463" y="156410"/>
            <a:ext cx="11510284" cy="54725"/>
          </a:xfrm>
        </p:spPr>
        <p:txBody>
          <a:bodyPr>
            <a:normAutofit fontScale="25000" lnSpcReduction="20000"/>
          </a:bodyPr>
          <a:lstStyle/>
          <a:p>
            <a:endParaRPr lang="hu-HU" dirty="0"/>
          </a:p>
        </p:txBody>
      </p:sp>
      <p:sp>
        <p:nvSpPr>
          <p:cNvPr id="7" name="Tartalom helye 6">
            <a:extLst>
              <a:ext uri="{FF2B5EF4-FFF2-40B4-BE49-F238E27FC236}">
                <a16:creationId xmlns="" xmlns:a16="http://schemas.microsoft.com/office/drawing/2014/main" id="{63C2124D-9F6E-4438-884E-4CD31A851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graphicFrame>
        <p:nvGraphicFramePr>
          <p:cNvPr id="8" name="Tartalom helye 3">
            <a:extLst>
              <a:ext uri="{FF2B5EF4-FFF2-40B4-BE49-F238E27FC236}">
                <a16:creationId xmlns="" xmlns:a16="http://schemas.microsoft.com/office/drawing/2014/main" id="{7CBDE593-F745-4C4C-825D-BCAE640E95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8037532"/>
              </p:ext>
            </p:extLst>
          </p:nvPr>
        </p:nvGraphicFramePr>
        <p:xfrm>
          <a:off x="179512" y="1331195"/>
          <a:ext cx="6820964" cy="54520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53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555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5496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400" dirty="0">
                          <a:solidFill>
                            <a:srgbClr val="524235"/>
                          </a:solidFill>
                          <a:effectLst/>
                        </a:rPr>
                        <a:t>1.</a:t>
                      </a:r>
                      <a:endParaRPr lang="hu-HU" sz="2400" dirty="0">
                        <a:solidFill>
                          <a:srgbClr val="52423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solidFill>
                            <a:schemeClr val="tx1"/>
                          </a:solidFill>
                          <a:effectLst/>
                        </a:rPr>
                        <a:t>A munkaerőpiacon jól felhasználható végzettség biztosítása </a:t>
                      </a:r>
                      <a:endParaRPr lang="hu-H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669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400" dirty="0">
                          <a:solidFill>
                            <a:srgbClr val="524235"/>
                          </a:solidFill>
                          <a:effectLst/>
                        </a:rPr>
                        <a:t>2.</a:t>
                      </a:r>
                      <a:endParaRPr lang="hu-HU" sz="2400" dirty="0">
                        <a:solidFill>
                          <a:srgbClr val="52423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effectLst/>
                        </a:rPr>
                        <a:t>Függetlenség a politikai hatalomtól</a:t>
                      </a:r>
                      <a:endParaRPr lang="hu-H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952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400" dirty="0">
                          <a:solidFill>
                            <a:srgbClr val="524235"/>
                          </a:solidFill>
                          <a:effectLst/>
                        </a:rPr>
                        <a:t>3.</a:t>
                      </a:r>
                      <a:endParaRPr lang="hu-HU" sz="2400" dirty="0">
                        <a:solidFill>
                          <a:srgbClr val="52423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effectLst/>
                        </a:rPr>
                        <a:t>Széles körű nemzetközi hallgatói mobilitás biztosítása </a:t>
                      </a:r>
                      <a:endParaRPr lang="hu-H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952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400" dirty="0">
                          <a:solidFill>
                            <a:srgbClr val="524235"/>
                          </a:solidFill>
                          <a:effectLst/>
                        </a:rPr>
                        <a:t>4.</a:t>
                      </a:r>
                      <a:endParaRPr lang="hu-HU" sz="2400" dirty="0">
                        <a:solidFill>
                          <a:srgbClr val="52423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effectLst/>
                        </a:rPr>
                        <a:t>Rugalmas képzési rendszer (váltás, újrakezdés biztosítása) </a:t>
                      </a:r>
                      <a:endParaRPr lang="hu-H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952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400" dirty="0">
                          <a:solidFill>
                            <a:srgbClr val="524235"/>
                          </a:solidFill>
                          <a:effectLst/>
                        </a:rPr>
                        <a:t>5.</a:t>
                      </a:r>
                      <a:endParaRPr lang="hu-HU" sz="2400" dirty="0">
                        <a:solidFill>
                          <a:srgbClr val="52423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effectLst/>
                        </a:rPr>
                        <a:t>Tanárok és diákok együttműködése, partneri kapcsolata</a:t>
                      </a:r>
                      <a:endParaRPr lang="hu-H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5944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400" dirty="0">
                          <a:solidFill>
                            <a:srgbClr val="524235"/>
                          </a:solidFill>
                          <a:effectLst/>
                        </a:rPr>
                        <a:t>6.</a:t>
                      </a:r>
                      <a:endParaRPr lang="hu-HU" sz="2400" dirty="0">
                        <a:solidFill>
                          <a:srgbClr val="52423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effectLst/>
                        </a:rPr>
                        <a:t>Társadalmi esélyegyenlőség elősegítése </a:t>
                      </a:r>
                      <a:endParaRPr lang="hu-H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952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400" dirty="0">
                          <a:solidFill>
                            <a:srgbClr val="524235"/>
                          </a:solidFill>
                          <a:effectLst/>
                        </a:rPr>
                        <a:t>7.</a:t>
                      </a:r>
                      <a:endParaRPr lang="hu-HU" sz="2400" dirty="0">
                        <a:solidFill>
                          <a:srgbClr val="52423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effectLst/>
                        </a:rPr>
                        <a:t>Kulturális, társadalmi és erkölcsi értékek átadása </a:t>
                      </a:r>
                      <a:endParaRPr lang="hu-H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0669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400" dirty="0">
                          <a:solidFill>
                            <a:srgbClr val="524235"/>
                          </a:solidFill>
                          <a:effectLst/>
                        </a:rPr>
                        <a:t>8.</a:t>
                      </a:r>
                      <a:endParaRPr lang="hu-HU" sz="2400" dirty="0">
                        <a:solidFill>
                          <a:srgbClr val="52423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effectLst/>
                        </a:rPr>
                        <a:t>Tudományos kutatás</a:t>
                      </a:r>
                      <a:endParaRPr lang="hu-H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0669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400" dirty="0">
                          <a:solidFill>
                            <a:srgbClr val="524235"/>
                          </a:solidFill>
                          <a:effectLst/>
                        </a:rPr>
                        <a:t>9.</a:t>
                      </a:r>
                      <a:endParaRPr lang="hu-HU" sz="2400" dirty="0">
                        <a:solidFill>
                          <a:srgbClr val="52423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u-HU" sz="2000" dirty="0">
                          <a:effectLst/>
                        </a:rPr>
                        <a:t>Felelősség az egész társadalom iránt </a:t>
                      </a:r>
                      <a:endParaRPr lang="hu-H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rgbClr val="E9E2D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Kép 8">
            <a:extLst>
              <a:ext uri="{FF2B5EF4-FFF2-40B4-BE49-F238E27FC236}">
                <a16:creationId xmlns="" xmlns:a16="http://schemas.microsoft.com/office/drawing/2014/main" id="{D82E4EDA-250C-4315-84C4-8FA680E153E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857" y="166139"/>
            <a:ext cx="5251560" cy="6555334"/>
          </a:xfrm>
          <a:prstGeom prst="rect">
            <a:avLst/>
          </a:prstGeom>
          <a:noFill/>
          <a:ln>
            <a:solidFill>
              <a:srgbClr val="524235"/>
            </a:solidFill>
          </a:ln>
        </p:spPr>
      </p:pic>
    </p:spTree>
    <p:extLst>
      <p:ext uri="{BB962C8B-B14F-4D97-AF65-F5344CB8AC3E}">
        <p14:creationId xmlns:p14="http://schemas.microsoft.com/office/powerpoint/2010/main" val="2351363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 smtClean="0">
                <a:solidFill>
                  <a:srgbClr val="00B0F0"/>
                </a:solidFill>
              </a:rPr>
              <a:t>Köszönöm a figyelmet!</a:t>
            </a:r>
            <a:endParaRPr lang="hu-HU" sz="4000" dirty="0">
              <a:solidFill>
                <a:srgbClr val="00B0F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49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1441</Words>
  <Application>Microsoft Office PowerPoint</Application>
  <PresentationFormat>Szélesvásznú</PresentationFormat>
  <Paragraphs>309</Paragraphs>
  <Slides>28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Wingdings</vt:lpstr>
      <vt:lpstr>Office-téma</vt:lpstr>
      <vt:lpstr>Szervezeti oktatás</vt:lpstr>
      <vt:lpstr>Tartalomjegyzék</vt:lpstr>
      <vt:lpstr>Fontossága</vt:lpstr>
      <vt:lpstr>Humánerőforrás fejlesztés</vt:lpstr>
      <vt:lpstr>Fogalmak</vt:lpstr>
      <vt:lpstr>Állami feladatok</vt:lpstr>
      <vt:lpstr>Állami feladatok</vt:lpstr>
      <vt:lpstr>Fajtái</vt:lpstr>
      <vt:lpstr>Területei</vt:lpstr>
      <vt:lpstr>Megéri, ha</vt:lpstr>
      <vt:lpstr>Emberi erőforrás menedzsment (EEM) oktatás-stratégia kialakítás</vt:lpstr>
      <vt:lpstr>Célok</vt:lpstr>
      <vt:lpstr>Tervezés</vt:lpstr>
      <vt:lpstr>A szervezeti képzés-tervezés konkrét feladatai</vt:lpstr>
      <vt:lpstr>A képzés eredményességének mérési problémái</vt:lpstr>
      <vt:lpstr>A vezetőképzés</vt:lpstr>
      <vt:lpstr>Vállalati kompetenciák</vt:lpstr>
      <vt:lpstr>A kompetencia összetevői</vt:lpstr>
      <vt:lpstr>Szakmai kompetencia</vt:lpstr>
      <vt:lpstr>Módszertani kompetencia</vt:lpstr>
      <vt:lpstr>Társas kompetencia</vt:lpstr>
      <vt:lpstr>Személyes kompetencia</vt:lpstr>
      <vt:lpstr>Munkahelyi kompetenciák</vt:lpstr>
      <vt:lpstr>Készségfejlesztés típusai és területei</vt:lpstr>
      <vt:lpstr>Készségfejlesztés típusai és területei</vt:lpstr>
      <vt:lpstr>Kompetencik fontossági sorrendje  (MM hallgatók válaszai: jelenlegi-már végzett hallgatók 7= fontos, 0= nem fontos)</vt:lpstr>
      <vt:lpstr>Képzéssel szemben támasztott  követelmények (MM)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szervezeti oktatás</dc:title>
  <dc:creator>MMI</dc:creator>
  <cp:lastModifiedBy>Gombaszögi Ildikó</cp:lastModifiedBy>
  <cp:revision>39</cp:revision>
  <dcterms:created xsi:type="dcterms:W3CDTF">2021-01-18T18:03:07Z</dcterms:created>
  <dcterms:modified xsi:type="dcterms:W3CDTF">2023-08-29T15:16:35Z</dcterms:modified>
</cp:coreProperties>
</file>