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4" r:id="rId21"/>
    <p:sldId id="275" r:id="rId22"/>
    <p:sldId id="277" r:id="rId23"/>
    <p:sldId id="278" r:id="rId24"/>
    <p:sldId id="279" r:id="rId25"/>
    <p:sldId id="280" r:id="rId26"/>
    <p:sldId id="281" r:id="rId27"/>
    <p:sldId id="285" r:id="rId28"/>
    <p:sldId id="282" r:id="rId29"/>
    <p:sldId id="284" r:id="rId30"/>
    <p:sldId id="283" r:id="rId31"/>
    <p:sldId id="290" r:id="rId32"/>
    <p:sldId id="286" r:id="rId33"/>
    <p:sldId id="287" r:id="rId34"/>
    <p:sldId id="288" r:id="rId35"/>
    <p:sldId id="289" r:id="rId36"/>
    <p:sldId id="291" r:id="rId3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6370" autoAdjust="0"/>
  </p:normalViewPr>
  <p:slideViewPr>
    <p:cSldViewPr snapToGrid="0">
      <p:cViewPr varScale="1">
        <p:scale>
          <a:sx n="56" d="100"/>
          <a:sy n="56" d="100"/>
        </p:scale>
        <p:origin x="90" y="6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19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E53D2-A48E-4C9B-B410-1E4D72DE286B}" type="datetimeFigureOut">
              <a:rPr lang="hu-HU" smtClean="0"/>
              <a:t>2023. 08. 29.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F073B-6FBE-4398-99B6-4AAC91B062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963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0055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66301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750C139D-3168-4490-BB9C-BC38A0EA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xmlns="" id="{E8B206B0-EEE6-4BFD-858B-14AAFB8C8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15EFD624-2362-4233-AA2E-58D3AB2C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A2B3-E014-4A2E-A550-0FC801CC6702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D81589B6-0D22-495A-8AA4-804DAD7F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71DFD03E-3F7E-4EF4-9258-A04E4B2C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545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tartalom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:a16="http://schemas.microsoft.com/office/drawing/2014/main" xmlns="" id="{DDDEED1F-4A84-460A-8607-0736A80B4660}"/>
              </a:ext>
            </a:extLst>
          </p:cNvPr>
          <p:cNvSpPr/>
          <p:nvPr userDrawn="1"/>
        </p:nvSpPr>
        <p:spPr>
          <a:xfrm>
            <a:off x="5004707" y="113167"/>
            <a:ext cx="7094084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xmlns="" id="{B5A85F78-1FD5-4B49-B583-F7B2D395B8BA}"/>
              </a:ext>
            </a:extLst>
          </p:cNvPr>
          <p:cNvSpPr/>
          <p:nvPr userDrawn="1"/>
        </p:nvSpPr>
        <p:spPr>
          <a:xfrm>
            <a:off x="93209" y="89807"/>
            <a:ext cx="12005582" cy="1152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xmlns="" id="{C2069732-ACEA-44F7-B5CA-BAB2F9787C78}"/>
              </a:ext>
            </a:extLst>
          </p:cNvPr>
          <p:cNvSpPr/>
          <p:nvPr userDrawn="1"/>
        </p:nvSpPr>
        <p:spPr>
          <a:xfrm>
            <a:off x="93209" y="1265463"/>
            <a:ext cx="12005582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FAB37637-9D6E-4D90-B2F1-76E205F9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10284" cy="718233"/>
          </a:xfrm>
        </p:spPr>
        <p:txBody>
          <a:bodyPr>
            <a:normAutofit/>
          </a:bodyPr>
          <a:lstStyle>
            <a:lvl1pPr>
              <a:defRPr sz="4000" b="1">
                <a:latin typeface="+mn-lt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B2CBCB6B-387A-4289-A82B-0BFAB4E69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510283" cy="5264148"/>
          </a:xfrm>
        </p:spPr>
        <p:txBody>
          <a:bodyPr/>
          <a:lstStyle>
            <a:lvl1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§"/>
              <a:defRPr sz="2400"/>
            </a:lvl1pPr>
            <a:lvl2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§"/>
              <a:defRPr sz="2400"/>
            </a:lvl2pPr>
            <a:lvl3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§"/>
              <a:defRPr sz="2400"/>
            </a:lvl3pPr>
            <a:lvl4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§"/>
              <a:defRPr sz="2400"/>
            </a:lvl4pPr>
            <a:lvl5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§"/>
              <a:defRPr sz="2400"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xmlns="" id="{ABA2E200-FE90-4F81-A7F7-486CE3F2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2729" y="6379708"/>
            <a:ext cx="27432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F906C4D8-32F2-4A19-B0E3-4323A7BEC644}" type="slidenum">
              <a:rPr lang="hu-HU" smtClean="0"/>
              <a:pPr/>
              <a:t>‹#›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xmlns="" id="{CCA7E92E-0678-4CB8-B34A-3CEDD493C7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463" y="211135"/>
            <a:ext cx="11510284" cy="440645"/>
          </a:xfrm>
        </p:spPr>
        <p:txBody>
          <a:bodyPr/>
          <a:lstStyle>
            <a:lvl1pPr>
              <a:buNone/>
              <a:defRPr b="0"/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302234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558E1F47-A20E-4BB9-A350-B0990DE5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A674DF5C-4EEB-42BF-947E-B831FE8D0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80F63501-4CC0-443D-9D68-F329C8C2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EA38-83FC-4782-9732-2A658C756FBF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CBAEB0E0-2A8E-4ED6-A556-F8979733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229D3C6A-29F7-48FE-BCD5-E38A7ED7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4100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810067C-BED7-4D0B-A7AE-64B226FE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6989049E-102A-47F6-9DB1-D28194DAE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xmlns="" id="{56670EB4-6095-49EF-BC35-7B589A44C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2B37BD7D-E3E5-45AB-8F04-C3BB6789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02E6-7993-453D-93F9-E6EF1116D18A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3E3D45C3-0A0B-4B2E-82E4-EA07495C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B5B50F8E-6620-4235-B0AD-8AA15B30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6056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266F4E0-940E-4BAE-B93C-63B7BDFB7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0A2959B8-ED8C-4B0B-9977-61BD3846A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xmlns="" id="{1CCDBE15-67FD-4624-AA3C-3954AD9B7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DF322681-B9EB-4202-B82F-62986E7BE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xmlns="" id="{4C904C5F-E076-4D0B-8982-C2E9696E2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xmlns="" id="{DAE73D62-5ABD-42E2-8E4F-A4C9D60C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007-D686-40BA-81B1-73FEF61F594E}" type="datetime1">
              <a:rPr lang="hu-HU" smtClean="0"/>
              <a:t>2023. 08. 29.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xmlns="" id="{12CEA0E5-76DF-4C30-B4E7-9D73172E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xmlns="" id="{E4147FC1-08D6-4073-B160-DA6C7F80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89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DDEF8AF-3DBD-4787-B3C3-E54E37A4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xmlns="" id="{1004E331-98B3-4071-BBC4-B70A9479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9E8F-2C13-44E0-88ED-8DAC965F9F1B}" type="datetime1">
              <a:rPr lang="hu-HU" smtClean="0"/>
              <a:t>2023. 08. 29.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xmlns="" id="{9839F9EC-D9E3-4149-9FDB-26C9C93B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xmlns="" id="{A996AA15-EE1A-41CC-A088-942F69E6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183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xmlns="" id="{8232CDB6-02A2-4E33-83D0-705F4C001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2AE6F-9176-4A48-8B31-B40F1CD1CA67}" type="datetime1">
              <a:rPr lang="hu-HU" smtClean="0"/>
              <a:t>2023. 08. 29.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xmlns="" id="{A57E066B-902D-436D-B156-0C745132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3817F04B-AF52-4648-8F6E-228367CF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968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BF10A394-C766-410D-A40E-A419FE663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B9AE76C-FECB-4776-9AC6-0CC24C19A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xmlns="" id="{37756CC3-7EE4-4387-9A9B-A6A7EC4EC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5F71D787-FE7E-488E-820D-677DB815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4019-9299-4649-B777-D3FD3F0DF105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3F0CBFD6-E08D-4DC4-AD7A-CCFE1899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76DBC206-9A73-416D-8C18-5E85F368E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360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1D336558-64C8-4443-A717-0E2F3CB7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xmlns="" id="{7D7D72D5-7457-4552-88D3-03E28DEDD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xmlns="" id="{5D412EE6-6AD6-4C94-9EE3-B679EAFB6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6B45C1E5-6AD4-490D-9144-44476B02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CDC1-49EF-4ED0-A19F-FD7F561FE84C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C044CDEB-6218-40E1-B4BA-41676461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C00ED222-CB4F-44CF-BA9D-2FC17CE6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388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F5A7E4B-F7E4-4AA4-860F-4C6A03C8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xmlns="" id="{AA651D79-3498-4F2E-9F68-953F93D4F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D304470A-ABA4-4D52-8CC9-952139B8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3B1C-99A4-498A-A255-49BFF718273E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5B1CFCD3-7120-46EC-9471-224D39A3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93B51A95-5799-4B77-AC52-43F335DD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597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xmlns="" id="{D373C461-39C7-4606-BCC4-70DADCEF4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xmlns="" id="{44A7E9BB-AA6D-4D97-B1A7-18F2CD1C6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11DD3EA0-896E-47E3-A1C0-707ECCCE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5E8A-C486-4894-8349-73C1CA8437D8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FC1DE335-3672-4078-9D66-23423314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0FDC640C-F1ED-46D8-AB88-A36984A7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291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xmlns="" id="{79ED9102-32AA-4BE9-BDE5-05201ADDA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463EEA34-9557-4D56-831A-83912F399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AC69EE77-6CC9-4CC9-8D75-64722839D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D1FF1-846C-4DD0-B4AC-8156EDF0B994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699550F0-C374-4C65-91D6-8BCFE575C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2606282D-346B-422A-A731-68523C74F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251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 5">
            <a:extLst>
              <a:ext uri="{FF2B5EF4-FFF2-40B4-BE49-F238E27FC236}">
                <a16:creationId xmlns:a16="http://schemas.microsoft.com/office/drawing/2014/main" xmlns="" id="{18275E16-4F99-41AF-9091-1CA5F3B8542E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xmlns="" id="{B71DD668-A5C7-4E1D-B55A-AF9BA972D50B}"/>
              </a:ext>
            </a:extLst>
          </p:cNvPr>
          <p:cNvSpPr/>
          <p:nvPr/>
        </p:nvSpPr>
        <p:spPr>
          <a:xfrm>
            <a:off x="-36352" y="84481"/>
            <a:ext cx="11161552" cy="1263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3C939434-E251-4120-898C-686C77FB2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6313" y="589969"/>
            <a:ext cx="10795686" cy="715684"/>
          </a:xfrm>
          <a:noFill/>
          <a:ln w="28575">
            <a:noFill/>
          </a:ln>
        </p:spPr>
        <p:txBody>
          <a:bodyPr anchor="ctr">
            <a:normAutofit fontScale="90000"/>
          </a:bodyPr>
          <a:lstStyle/>
          <a:p>
            <a:pPr algn="l"/>
            <a:r>
              <a:rPr lang="hu-HU" b="1" dirty="0">
                <a:latin typeface="+mn-lt"/>
              </a:rPr>
              <a:t>Projektmenedzsment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xmlns="" id="{13CA3651-BAD3-4EDE-AFD0-D06900524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973" y="84481"/>
            <a:ext cx="2930666" cy="632211"/>
          </a:xfrm>
          <a:noFill/>
          <a:ln w="28575"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hu-HU" b="1" dirty="0"/>
              <a:t>Menedzsment alapjai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xmlns="" id="{C6A4C454-9DBE-4802-9EF2-C1214C1FEE2B}"/>
              </a:ext>
            </a:extLst>
          </p:cNvPr>
          <p:cNvSpPr/>
          <p:nvPr/>
        </p:nvSpPr>
        <p:spPr>
          <a:xfrm>
            <a:off x="0" y="84481"/>
            <a:ext cx="1382973" cy="126341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xmlns="" id="{D4FF0E0E-6C7A-4088-A4A3-FE1C79555183}"/>
              </a:ext>
            </a:extLst>
          </p:cNvPr>
          <p:cNvSpPr txBox="1"/>
          <p:nvPr/>
        </p:nvSpPr>
        <p:spPr>
          <a:xfrm>
            <a:off x="219891" y="348858"/>
            <a:ext cx="12511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b="1" dirty="0" smtClean="0">
                <a:solidFill>
                  <a:schemeClr val="bg1"/>
                </a:solidFill>
              </a:rPr>
              <a:t>10.</a:t>
            </a:r>
            <a:endParaRPr lang="hu-HU" sz="6000" b="1" dirty="0">
              <a:solidFill>
                <a:schemeClr val="bg1"/>
              </a:solidFill>
            </a:endParaRPr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776" y="314915"/>
            <a:ext cx="1305107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0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Tartalomjegyzék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projektmenedzsment fogalma</a:t>
            </a:r>
          </a:p>
          <a:p>
            <a:r>
              <a:rPr lang="hu-HU" dirty="0"/>
              <a:t>A projektmenedzsment célja és funkciói</a:t>
            </a:r>
          </a:p>
          <a:p>
            <a:r>
              <a:rPr lang="hu-HU" dirty="0"/>
              <a:t>A projektmenedzsment elterjedésének története</a:t>
            </a:r>
          </a:p>
          <a:p>
            <a:r>
              <a:rPr lang="hu-HU" dirty="0"/>
              <a:t>A projektmenedzsment fontossága</a:t>
            </a:r>
          </a:p>
          <a:p>
            <a:r>
              <a:rPr lang="hu-HU" dirty="0"/>
              <a:t>A projektmenedzsment szintjei és típusai</a:t>
            </a:r>
          </a:p>
          <a:p>
            <a:r>
              <a:rPr lang="hu-HU" dirty="0"/>
              <a:t>A projekt életciklus</a:t>
            </a:r>
          </a:p>
          <a:p>
            <a:r>
              <a:rPr lang="hu-HU" dirty="0"/>
              <a:t>A projekt siker kritériumai</a:t>
            </a:r>
          </a:p>
          <a:p>
            <a:r>
              <a:rPr lang="hu-HU" dirty="0"/>
              <a:t>A projekt résztvevői</a:t>
            </a:r>
          </a:p>
          <a:p>
            <a:r>
              <a:rPr lang="hu-HU" dirty="0"/>
              <a:t>A projekt alapszabályai</a:t>
            </a:r>
          </a:p>
          <a:p>
            <a:r>
              <a:rPr lang="hu-HU" dirty="0"/>
              <a:t>A projekt tervezés lépései és eszközei</a:t>
            </a:r>
          </a:p>
          <a:p>
            <a:r>
              <a:rPr lang="hu-HU" dirty="0"/>
              <a:t>Folyamatos projektmenedzsment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39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Fogalma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7421551" cy="5264148"/>
          </a:xfrm>
        </p:spPr>
        <p:txBody>
          <a:bodyPr/>
          <a:lstStyle/>
          <a:p>
            <a:r>
              <a:rPr lang="hu-HU" dirty="0"/>
              <a:t>„A projekt olyan tevékenység, amelyet </a:t>
            </a:r>
            <a:r>
              <a:rPr lang="hu-HU" b="1" dirty="0"/>
              <a:t>csak egyszer végzünk el</a:t>
            </a:r>
            <a:r>
              <a:rPr lang="hu-HU" dirty="0"/>
              <a:t>.” (Verzuh, 2006)</a:t>
            </a:r>
          </a:p>
          <a:p>
            <a:r>
              <a:rPr lang="hu-HU" b="1" dirty="0"/>
              <a:t>Pontos céllal rendelkezik </a:t>
            </a:r>
            <a:r>
              <a:rPr lang="hu-HU" dirty="0"/>
              <a:t>és előre eltervezett lépések megvalósításával jön létre</a:t>
            </a:r>
          </a:p>
          <a:p>
            <a:r>
              <a:rPr lang="hu-HU" dirty="0"/>
              <a:t>Nincs két egyforma projekt. Minden projekt tehát egyedi folyamat</a:t>
            </a:r>
          </a:p>
          <a:p>
            <a:r>
              <a:rPr lang="hu-HU" b="1" dirty="0"/>
              <a:t>Előre meghatározott idő, költség és minőségi elvárásokkal rendelkezik (Vasháromszög)</a:t>
            </a:r>
          </a:p>
          <a:p>
            <a:endParaRPr lang="hu-HU" dirty="0"/>
          </a:p>
          <a:p>
            <a:r>
              <a:rPr lang="hu-HU" dirty="0"/>
              <a:t>Amennyiben a vasháromszög elemei közül valamelyik megváltozik, a projektsikerhez szükséges másik két elem is vele fog változni.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1026" name="Picture 2" descr="Project management triangle - Wikipedia">
            <a:extLst>
              <a:ext uri="{FF2B5EF4-FFF2-40B4-BE49-F238E27FC236}">
                <a16:creationId xmlns:a16="http://schemas.microsoft.com/office/drawing/2014/main" xmlns="" id="{DC86BBC4-4422-45BC-9616-15B31B344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253" y="1858657"/>
            <a:ext cx="4352676" cy="365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42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70596ECB-520E-4714-A252-7F5A7D125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A37785D1-C135-4182-A2B6-9F8DCCF90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 dirty="0"/>
              <a:t>A projektmenedzsment célja</a:t>
            </a:r>
          </a:p>
          <a:p>
            <a:pPr lvl="1"/>
            <a:r>
              <a:rPr lang="hu-HU" dirty="0"/>
              <a:t>A projektek sikeres megvalósítása </a:t>
            </a:r>
            <a:r>
              <a:rPr lang="hu-HU" dirty="0" smtClean="0"/>
              <a:t>(vasháromszög </a:t>
            </a:r>
            <a:r>
              <a:rPr lang="hu-HU" dirty="0"/>
              <a:t>elemeinek tartása)</a:t>
            </a:r>
          </a:p>
          <a:p>
            <a:pPr lvl="1"/>
            <a:r>
              <a:rPr lang="hu-HU" dirty="0"/>
              <a:t>A projektcél elérése és az elvárások kielégítése</a:t>
            </a:r>
          </a:p>
          <a:p>
            <a:pPr lvl="1"/>
            <a:r>
              <a:rPr lang="hu-HU" dirty="0"/>
              <a:t>A szervezeti tanulás és fejlődés biztosítása, tapasztalatok szerzése</a:t>
            </a:r>
          </a:p>
          <a:p>
            <a:pPr lvl="1"/>
            <a:endParaRPr lang="hu-HU" dirty="0"/>
          </a:p>
          <a:p>
            <a:pPr marL="0" indent="0">
              <a:buNone/>
            </a:pPr>
            <a:r>
              <a:rPr lang="hu-HU" b="1" dirty="0"/>
              <a:t>A projektmenedzsment segít hatékonnyá válni</a:t>
            </a:r>
          </a:p>
          <a:p>
            <a:pPr lvl="1"/>
            <a:r>
              <a:rPr lang="hu-HU" dirty="0"/>
              <a:t>Segíti a tervezést, az erőforrások elosztását, az időgazdálkodást, a célorientáltságot</a:t>
            </a:r>
          </a:p>
          <a:p>
            <a:pPr lvl="1"/>
            <a:r>
              <a:rPr lang="hu-HU" dirty="0"/>
              <a:t>Segíti a felelősség körök meghatározását és a siker kockázatainak feltérképezését</a:t>
            </a:r>
          </a:p>
          <a:p>
            <a:pPr lvl="1"/>
            <a:r>
              <a:rPr lang="hu-HU" dirty="0"/>
              <a:t>Segíti a vállalati rugalmasságot és nyitottságot a fejlődésre</a:t>
            </a:r>
          </a:p>
          <a:p>
            <a:pPr lvl="1"/>
            <a:r>
              <a:rPr lang="hu-HU" dirty="0"/>
              <a:t>Segít versenyelőnyre szert tenni </a:t>
            </a:r>
            <a:r>
              <a:rPr lang="hu-HU" dirty="0" smtClean="0"/>
              <a:t>(vállalati </a:t>
            </a:r>
            <a:r>
              <a:rPr lang="hu-HU" dirty="0"/>
              <a:t>képességek fejlődése) 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D671239-D582-4AE3-8564-3490E876D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73FB44C7-10CD-44F2-8E52-061C8B339F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958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E9F7EED-CFF3-4419-A3A2-3F301BA24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Funkciói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98282D7-40A3-491D-BE62-D4B7D9B58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projekt célok és a projekt hatókörének </a:t>
            </a:r>
            <a:r>
              <a:rPr lang="hu-HU" dirty="0" smtClean="0"/>
              <a:t>meghatározása</a:t>
            </a:r>
          </a:p>
          <a:p>
            <a:pPr marL="0" indent="0">
              <a:buNone/>
            </a:pPr>
            <a:endParaRPr lang="hu-HU" dirty="0" smtClean="0"/>
          </a:p>
          <a:p>
            <a:r>
              <a:rPr lang="hu-HU" dirty="0" smtClean="0"/>
              <a:t>Célok</a:t>
            </a:r>
            <a:r>
              <a:rPr lang="hu-HU" dirty="0"/>
              <a:t>, elvárások és sikertényezők </a:t>
            </a:r>
            <a:r>
              <a:rPr lang="hu-HU" dirty="0" smtClean="0"/>
              <a:t>leszögezése</a:t>
            </a:r>
          </a:p>
          <a:p>
            <a:pPr marL="0" indent="0">
              <a:buNone/>
            </a:pPr>
            <a:endParaRPr lang="hu-HU" dirty="0"/>
          </a:p>
          <a:p>
            <a:r>
              <a:rPr lang="hu-HU" dirty="0" err="1"/>
              <a:t>Stakeholderek</a:t>
            </a:r>
            <a:r>
              <a:rPr lang="hu-HU" dirty="0"/>
              <a:t> </a:t>
            </a:r>
            <a:r>
              <a:rPr lang="hu-HU" dirty="0" smtClean="0"/>
              <a:t>(érintett </a:t>
            </a:r>
            <a:r>
              <a:rPr lang="hu-HU" dirty="0"/>
              <a:t>felek) feltérképezése, szerepük </a:t>
            </a:r>
            <a:r>
              <a:rPr lang="hu-HU" dirty="0" smtClean="0"/>
              <a:t>meghatározása</a:t>
            </a:r>
          </a:p>
          <a:p>
            <a:pPr marL="0" indent="0">
              <a:buNone/>
            </a:pPr>
            <a:endParaRPr lang="hu-HU" dirty="0"/>
          </a:p>
          <a:p>
            <a:r>
              <a:rPr lang="hu-HU" dirty="0"/>
              <a:t>Projekt szabályok kialakítása - alapdokumentumok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Projektalapító okirat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Munkakimutatás (</a:t>
            </a:r>
            <a:r>
              <a:rPr lang="hu-HU" dirty="0" err="1"/>
              <a:t>State</a:t>
            </a:r>
            <a:r>
              <a:rPr lang="hu-HU" dirty="0"/>
              <a:t> of </a:t>
            </a:r>
            <a:r>
              <a:rPr lang="hu-HU" dirty="0" err="1"/>
              <a:t>work</a:t>
            </a:r>
            <a:r>
              <a:rPr lang="hu-HU" dirty="0"/>
              <a:t> – SOW)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Tevékenység felelős mátrix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Kommunikációs terv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0A2D2A23-A649-48B7-A383-133F820BF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5B06DBAE-287F-4B06-8526-45A77DA8DD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24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04C32E2E-1139-4BDD-8CF0-B9A0A8432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Elterjedése – I. szakasz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8A517200-3BA3-42EA-BB2E-C74B27DA1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 dirty="0"/>
              <a:t>1911</a:t>
            </a:r>
            <a:r>
              <a:rPr lang="hu-HU" dirty="0"/>
              <a:t> – Frederick </a:t>
            </a:r>
            <a:r>
              <a:rPr lang="hu-HU" dirty="0" err="1"/>
              <a:t>Winslow</a:t>
            </a:r>
            <a:r>
              <a:rPr lang="hu-HU" dirty="0"/>
              <a:t> Taylor – Tudományos irányítás alapjai</a:t>
            </a:r>
          </a:p>
          <a:p>
            <a:pPr lvl="1"/>
            <a:r>
              <a:rPr lang="hu-HU" dirty="0"/>
              <a:t>Pontos munkakörök, hatáskörök meghatározása</a:t>
            </a:r>
          </a:p>
          <a:p>
            <a:pPr lvl="1"/>
            <a:r>
              <a:rPr lang="hu-HU" dirty="0"/>
              <a:t>Erőforrások koordinációja</a:t>
            </a:r>
          </a:p>
          <a:p>
            <a:pPr lvl="1"/>
            <a:r>
              <a:rPr lang="hu-HU" dirty="0"/>
              <a:t>A vezető szerepének pontos </a:t>
            </a:r>
            <a:r>
              <a:rPr lang="hu-HU" dirty="0" smtClean="0"/>
              <a:t>meghatározása</a:t>
            </a:r>
          </a:p>
          <a:p>
            <a:pPr marL="457200" lvl="1" indent="0">
              <a:buNone/>
            </a:pPr>
            <a:r>
              <a:rPr lang="hu-HU" dirty="0" smtClean="0"/>
              <a:t>„A </a:t>
            </a:r>
            <a:r>
              <a:rPr lang="hu-HU" dirty="0"/>
              <a:t>vezető pontosan tudja, hogy mit akar az emberekkel megvalósítani és gondoskodik arról, hogy ezt a legjobb és legolcsóbb módon meg is tegyék</a:t>
            </a:r>
            <a:r>
              <a:rPr lang="hu-HU" dirty="0" smtClean="0"/>
              <a:t>”.(Taylor)</a:t>
            </a:r>
          </a:p>
          <a:p>
            <a:pPr marL="914400" lvl="2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/>
              <a:t>1941</a:t>
            </a:r>
            <a:r>
              <a:rPr lang="hu-HU" dirty="0"/>
              <a:t> – Manhattan </a:t>
            </a:r>
            <a:r>
              <a:rPr lang="hu-HU" dirty="0" smtClean="0"/>
              <a:t>project - Első </a:t>
            </a:r>
            <a:r>
              <a:rPr lang="hu-HU" dirty="0"/>
              <a:t>projektek</a:t>
            </a:r>
          </a:p>
          <a:p>
            <a:pPr marL="0" indent="0">
              <a:buNone/>
            </a:pPr>
            <a:r>
              <a:rPr lang="hu-HU" b="1" dirty="0"/>
              <a:t>1956</a:t>
            </a:r>
            <a:r>
              <a:rPr lang="hu-HU" dirty="0"/>
              <a:t> – Hideg </a:t>
            </a:r>
            <a:r>
              <a:rPr lang="hu-HU" dirty="0" smtClean="0"/>
              <a:t>háború - </a:t>
            </a:r>
            <a:r>
              <a:rPr lang="hu-HU" dirty="0" err="1" smtClean="0"/>
              <a:t>Cost</a:t>
            </a:r>
            <a:r>
              <a:rPr lang="hu-HU" dirty="0" smtClean="0"/>
              <a:t> </a:t>
            </a:r>
            <a:r>
              <a:rPr lang="hu-HU" dirty="0"/>
              <a:t>– Schedule </a:t>
            </a:r>
            <a:r>
              <a:rPr lang="hu-HU" dirty="0" err="1"/>
              <a:t>Control</a:t>
            </a:r>
            <a:r>
              <a:rPr lang="hu-HU" dirty="0"/>
              <a:t> System</a:t>
            </a:r>
          </a:p>
          <a:p>
            <a:pPr marL="0" indent="0">
              <a:buNone/>
            </a:pPr>
            <a:r>
              <a:rPr lang="hu-HU" b="1" dirty="0"/>
              <a:t>1958</a:t>
            </a:r>
            <a:r>
              <a:rPr lang="hu-HU" dirty="0"/>
              <a:t> – Program </a:t>
            </a:r>
            <a:r>
              <a:rPr lang="hu-HU" dirty="0" err="1"/>
              <a:t>Evaulation</a:t>
            </a:r>
            <a:r>
              <a:rPr lang="hu-HU" dirty="0"/>
              <a:t> </a:t>
            </a:r>
            <a:r>
              <a:rPr lang="hu-HU" dirty="0" err="1"/>
              <a:t>Review</a:t>
            </a:r>
            <a:r>
              <a:rPr lang="hu-HU" dirty="0"/>
              <a:t> </a:t>
            </a:r>
            <a:r>
              <a:rPr lang="hu-HU" dirty="0" err="1"/>
              <a:t>Technique</a:t>
            </a:r>
            <a:r>
              <a:rPr lang="hu-HU" dirty="0"/>
              <a:t> (PERT)</a:t>
            </a:r>
          </a:p>
          <a:p>
            <a:pPr marL="0" indent="0">
              <a:buNone/>
            </a:pPr>
            <a:r>
              <a:rPr lang="hu-HU" b="1" dirty="0"/>
              <a:t>1970</a:t>
            </a:r>
            <a:r>
              <a:rPr lang="hu-HU" dirty="0"/>
              <a:t> – NASA űrprojektek</a:t>
            </a:r>
          </a:p>
          <a:p>
            <a:pPr lvl="1"/>
            <a:endParaRPr lang="hu-HU" dirty="0"/>
          </a:p>
          <a:p>
            <a:pPr lvl="1"/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4786A2C3-3902-4F7E-8DE4-19B93DAB6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C2E3FAA-3FAB-414A-BC76-BEB9D3ABE8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349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3D970338-0C30-494C-B58F-9284999E2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Elterjedése – II. szakasz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E3DFDAF1-5C6B-4FA5-8956-A19765A70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 dirty="0"/>
              <a:t>1970 – 1990 </a:t>
            </a:r>
            <a:r>
              <a:rPr lang="hu-HU" dirty="0"/>
              <a:t>– Vállalatok globalizációja</a:t>
            </a:r>
          </a:p>
          <a:p>
            <a:pPr lvl="1"/>
            <a:r>
              <a:rPr lang="hu-HU" dirty="0"/>
              <a:t>Egyre inkább komplex feladat körök</a:t>
            </a:r>
          </a:p>
          <a:p>
            <a:pPr lvl="1"/>
            <a:r>
              <a:rPr lang="hu-HU" dirty="0"/>
              <a:t>A magasszintű tervezés és erőforrások koordinálásának igénye</a:t>
            </a:r>
          </a:p>
          <a:p>
            <a:pPr lvl="1"/>
            <a:r>
              <a:rPr lang="hu-HU" dirty="0"/>
              <a:t>A gyors fejlődés és rugalmasság egyre inkább növekvő igénye</a:t>
            </a:r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A </a:t>
            </a:r>
            <a:r>
              <a:rPr lang="hu-HU" dirty="0"/>
              <a:t>terjeszkedés és a komplex tevékenységek lebonyolítása projektek keretein belül</a:t>
            </a:r>
          </a:p>
          <a:p>
            <a:pPr lvl="1"/>
            <a:r>
              <a:rPr lang="hu-HU" dirty="0"/>
              <a:t>Célorientáltság, vezetés, tervezés, erőforrásmenedzsment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4E993E01-733E-4CB2-A6EA-247F44F0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FAC98F62-093D-416E-B518-F582CE8691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51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1E2A5AC8-7470-42C1-A9D4-2A2EE90F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Elterjedése – III. szakasz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52ADBD1-4506-43A4-BE40-167D864C4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 dirty="0"/>
              <a:t>1990 – 2000</a:t>
            </a:r>
          </a:p>
          <a:p>
            <a:pPr lvl="1"/>
            <a:r>
              <a:rPr lang="hu-HU" dirty="0"/>
              <a:t>International PM </a:t>
            </a:r>
            <a:r>
              <a:rPr lang="hu-HU" dirty="0" err="1"/>
              <a:t>association</a:t>
            </a:r>
            <a:r>
              <a:rPr lang="hu-HU" dirty="0"/>
              <a:t> – Világ kongresszus</a:t>
            </a:r>
          </a:p>
          <a:p>
            <a:pPr lvl="1"/>
            <a:r>
              <a:rPr lang="hu-HU" dirty="0"/>
              <a:t>Stratégiai prioritás</a:t>
            </a:r>
          </a:p>
          <a:p>
            <a:pPr lvl="1"/>
            <a:r>
              <a:rPr lang="hu-HU" dirty="0"/>
              <a:t>Vállalati versenyelőny és rugalmasság</a:t>
            </a:r>
          </a:p>
          <a:p>
            <a:pPr lvl="1"/>
            <a:r>
              <a:rPr lang="hu-HU" dirty="0"/>
              <a:t>A projektmenedzsment már szervezeti képesség</a:t>
            </a:r>
          </a:p>
          <a:p>
            <a:pPr marL="914400" lvl="2" indent="0">
              <a:buNone/>
            </a:pPr>
            <a:r>
              <a:rPr lang="hu-HU" dirty="0" smtClean="0"/>
              <a:t>- Nem </a:t>
            </a:r>
            <a:r>
              <a:rPr lang="hu-HU" dirty="0"/>
              <a:t>minden szervezet tud sikeresen projekteket levezényelni</a:t>
            </a:r>
          </a:p>
          <a:p>
            <a:pPr marL="914400" lvl="2" indent="0">
              <a:buNone/>
            </a:pPr>
            <a:r>
              <a:rPr lang="hu-HU" dirty="0" smtClean="0"/>
              <a:t>- Menedzserek </a:t>
            </a:r>
            <a:r>
              <a:rPr lang="hu-HU" dirty="0"/>
              <a:t>hiánya</a:t>
            </a:r>
          </a:p>
          <a:p>
            <a:pPr lvl="1"/>
            <a:r>
              <a:rPr lang="hu-HU" dirty="0"/>
              <a:t>Első projektmenedzsment képzések megjelenése</a:t>
            </a:r>
          </a:p>
          <a:p>
            <a:pPr lvl="1"/>
            <a:r>
              <a:rPr lang="hu-HU" dirty="0"/>
              <a:t>A projektmenedzsment elterjed az egészségügyben, a gyártó iparban és a gyorsan fejlődő informatikában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18055FB9-53A8-4256-8E91-05A663026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E4938493-FE0C-4E43-A9F2-A6E87B89F7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979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B7820360-658B-47C1-90BC-688892B79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Elterjedése </a:t>
            </a:r>
            <a:r>
              <a:rPr lang="hu-HU"/>
              <a:t>– IV. </a:t>
            </a:r>
            <a:r>
              <a:rPr lang="hu-HU" dirty="0"/>
              <a:t>szakasz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84167A74-F1BB-410C-B610-8C8DE7714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932317"/>
            <a:ext cx="11510283" cy="4789156"/>
          </a:xfrm>
        </p:spPr>
        <p:txBody>
          <a:bodyPr/>
          <a:lstStyle/>
          <a:p>
            <a:pPr marL="0" indent="0">
              <a:buNone/>
            </a:pPr>
            <a:r>
              <a:rPr lang="hu-HU" b="1" dirty="0"/>
              <a:t>2000 – napjainkig</a:t>
            </a:r>
          </a:p>
          <a:p>
            <a:pPr lvl="1"/>
            <a:r>
              <a:rPr lang="hu-HU" dirty="0"/>
              <a:t>Projekt Management Institute – Ma már több mint 600.000 tag (2021)</a:t>
            </a:r>
          </a:p>
          <a:p>
            <a:pPr lvl="1"/>
            <a:r>
              <a:rPr lang="hu-HU" dirty="0"/>
              <a:t>A projektek és a projektmenedzsment teljes elterjedése</a:t>
            </a:r>
          </a:p>
          <a:p>
            <a:pPr lvl="1"/>
            <a:r>
              <a:rPr lang="hu-HU" dirty="0"/>
              <a:t>A projektmenedzsment megjelenése Magyarországon</a:t>
            </a:r>
          </a:p>
          <a:p>
            <a:pPr lvl="1"/>
            <a:r>
              <a:rPr lang="hu-HU" dirty="0"/>
              <a:t>Projektmenedzsment oktatás elterjedése</a:t>
            </a:r>
          </a:p>
          <a:p>
            <a:pPr lvl="1"/>
            <a:r>
              <a:rPr lang="hu-HU" dirty="0"/>
              <a:t>Egyre inkább növekvő tudásbázis</a:t>
            </a:r>
          </a:p>
          <a:p>
            <a:pPr lvl="1"/>
            <a:r>
              <a:rPr lang="hu-HU" dirty="0"/>
              <a:t>Számos szervezet már a teljes működését projektek lebonyolításán keresztül végzi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6B7A62F3-8655-45A1-B5D6-9B17E7722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52C5EBBD-572F-4AFD-B08C-9DCE06781D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59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A2B237CA-6189-4E1A-BAE8-7AA9B308E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Fontossága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A9B2570E-5F8E-4F5C-9821-BAD42BD6B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Egyre inkább változó környezet</a:t>
            </a:r>
          </a:p>
          <a:p>
            <a:r>
              <a:rPr lang="hu-HU" dirty="0"/>
              <a:t>Növekvő vásárlói igények, látens igényekre való fókuszálás</a:t>
            </a:r>
          </a:p>
          <a:p>
            <a:r>
              <a:rPr lang="hu-HU" dirty="0"/>
              <a:t>A környezeti változás egyre inkább innovációra, fejlődésre kényszeríti a vállalatokat</a:t>
            </a:r>
          </a:p>
          <a:p>
            <a:r>
              <a:rPr lang="hu-HU" dirty="0"/>
              <a:t>Csak rugalmas és a fejlődésre nyitott vállalatok maradhatnak sikeresek hosszútávon</a:t>
            </a:r>
          </a:p>
          <a:p>
            <a:r>
              <a:rPr lang="hu-HU" dirty="0"/>
              <a:t>A változás igénye és az innováció projektek kivitelezését ösztönzi</a:t>
            </a:r>
          </a:p>
          <a:p>
            <a:endParaRPr lang="hu-HU" dirty="0"/>
          </a:p>
          <a:p>
            <a:r>
              <a:rPr lang="hu-HU" dirty="0"/>
              <a:t>„A projektek alkalmazásának célja a szervezeti rugalmasság kialakítása a vállalatokon belül, valamint a végrehajtott folyamatok eredményei minőségének biztosítása. Ezáltal versenyelőnyt lehet kialakítani.” (Roland </a:t>
            </a:r>
            <a:r>
              <a:rPr lang="hu-HU" dirty="0" err="1"/>
              <a:t>Gareis</a:t>
            </a:r>
            <a:r>
              <a:rPr lang="hu-HU" dirty="0"/>
              <a:t>, 2007)</a:t>
            </a:r>
          </a:p>
          <a:p>
            <a:r>
              <a:rPr lang="hu-HU" dirty="0"/>
              <a:t>„A szüntelen innováció a projekteken keresztül valósítható meg. A nagyobb változás több innovációt, az pedig több projektet igényel.” (Eric </a:t>
            </a:r>
            <a:r>
              <a:rPr lang="hu-HU" dirty="0" err="1"/>
              <a:t>Verzus</a:t>
            </a:r>
            <a:r>
              <a:rPr lang="hu-HU" dirty="0"/>
              <a:t>, 2006)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F42F376-33B8-4347-A713-3FD7E9C9E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764B3B27-ADCB-4710-8A15-27FA3D7CA0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220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BBEB5A32-7A8E-4C78-AACD-45B2BBEC5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Szintjei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E24AF4CD-43A5-44B4-ADBD-0ED37DBC6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 dirty="0"/>
              <a:t>Projektmenedzsment</a:t>
            </a:r>
          </a:p>
          <a:p>
            <a:pPr lvl="1"/>
            <a:r>
              <a:rPr lang="hu-HU" dirty="0"/>
              <a:t>Egyetlen projekt menedzselése</a:t>
            </a:r>
          </a:p>
          <a:p>
            <a:pPr lvl="1"/>
            <a:r>
              <a:rPr lang="hu-HU" dirty="0"/>
              <a:t>Egyedi folyamat tervezése, kontrollingja, szervezése</a:t>
            </a:r>
          </a:p>
          <a:p>
            <a:pPr lvl="1"/>
            <a:r>
              <a:rPr lang="hu-HU" dirty="0"/>
              <a:t>Hatókör, ütemezés, költségek</a:t>
            </a:r>
          </a:p>
          <a:p>
            <a:pPr marL="0" indent="0">
              <a:buNone/>
            </a:pPr>
            <a:r>
              <a:rPr lang="hu-HU" b="1" dirty="0"/>
              <a:t>Portfóliómenedzsment</a:t>
            </a:r>
          </a:p>
          <a:p>
            <a:pPr lvl="1"/>
            <a:r>
              <a:rPr lang="hu-HU" dirty="0"/>
              <a:t>Több projekt erőforrásainak kezelése</a:t>
            </a:r>
          </a:p>
          <a:p>
            <a:pPr lvl="1"/>
            <a:r>
              <a:rPr lang="hu-HU" dirty="0"/>
              <a:t>Prioritási sorrendet állít fel az egyes projektek igényei és fontossága alapján</a:t>
            </a:r>
          </a:p>
          <a:p>
            <a:pPr lvl="1"/>
            <a:r>
              <a:rPr lang="hu-HU" dirty="0"/>
              <a:t>A vállalati stratégiai célokat tartja szem előtt, átfogóan vizsgálja a projekt igényeket</a:t>
            </a:r>
          </a:p>
          <a:p>
            <a:pPr marL="0" indent="0">
              <a:buNone/>
            </a:pPr>
            <a:r>
              <a:rPr lang="hu-HU" b="1" dirty="0"/>
              <a:t>Programmenedzsment</a:t>
            </a:r>
          </a:p>
          <a:p>
            <a:pPr lvl="1"/>
            <a:r>
              <a:rPr lang="hu-HU" dirty="0"/>
              <a:t>Több projekt egymást követő vagy párhuzamos kivitelezésére szolgál</a:t>
            </a:r>
          </a:p>
          <a:p>
            <a:pPr lvl="1"/>
            <a:r>
              <a:rPr lang="hu-HU" dirty="0"/>
              <a:t>Feladata a rendelkezésre álló erőforrások optimalizálása</a:t>
            </a:r>
          </a:p>
          <a:p>
            <a:pPr lvl="1"/>
            <a:r>
              <a:rPr lang="hu-HU" dirty="0"/>
              <a:t>Egy nagy projektnek is nevezhető, amely több projekt egységes menedzselésével jön létre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A16E2A9A-15E1-4C73-8C27-6E4FAECC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D6347647-5D2A-4C5C-B5E6-A33F12227D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92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D0FA2E5-B93C-44F4-8BF1-500B6E83C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Típusai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99822DDA-6C98-4E60-AD77-BB230174B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A projektmenedzsment ma már a vállalatok működésének minden területén megjelenik. </a:t>
            </a:r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A </a:t>
            </a:r>
            <a:r>
              <a:rPr lang="hu-HU" dirty="0"/>
              <a:t>projekttermék lehet </a:t>
            </a:r>
            <a:r>
              <a:rPr lang="hu-HU" dirty="0" smtClean="0"/>
              <a:t>kézzel </a:t>
            </a:r>
            <a:r>
              <a:rPr lang="hu-HU" dirty="0"/>
              <a:t>fogható vagy szellemi termék</a:t>
            </a:r>
            <a:r>
              <a:rPr lang="hu-HU" dirty="0" smtClean="0"/>
              <a:t>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 smtClean="0"/>
              <a:t>Fajtái:</a:t>
            </a:r>
            <a:endParaRPr lang="hu-HU" dirty="0"/>
          </a:p>
          <a:p>
            <a:pPr lvl="1"/>
            <a:r>
              <a:rPr lang="hu-HU" dirty="0"/>
              <a:t>Formális projektek</a:t>
            </a:r>
          </a:p>
          <a:p>
            <a:pPr lvl="1"/>
            <a:r>
              <a:rPr lang="hu-HU" dirty="0"/>
              <a:t>Termék fejlesztési projektek</a:t>
            </a:r>
          </a:p>
          <a:p>
            <a:pPr lvl="1"/>
            <a:r>
              <a:rPr lang="hu-HU" dirty="0"/>
              <a:t>Szervezési projektek</a:t>
            </a:r>
          </a:p>
          <a:p>
            <a:pPr lvl="1"/>
            <a:r>
              <a:rPr lang="hu-HU" dirty="0"/>
              <a:t>Kutatási projektek</a:t>
            </a:r>
          </a:p>
          <a:p>
            <a:pPr lvl="1"/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D433AB1-F652-41F0-89B1-467493047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7051771C-A001-4BF6-8E57-6353D6C9D6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436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67FF863E-85CD-4B74-A641-A8FBE664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életciklus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59A52ABE-7635-4FA3-86FC-1E5D2312A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 dirty="0"/>
              <a:t>Definiálás</a:t>
            </a:r>
          </a:p>
          <a:p>
            <a:pPr lvl="1"/>
            <a:r>
              <a:rPr lang="hu-HU" dirty="0"/>
              <a:t>A projekt alapszabályainak meghatározása</a:t>
            </a:r>
          </a:p>
          <a:p>
            <a:pPr lvl="1"/>
            <a:r>
              <a:rPr lang="hu-HU" dirty="0"/>
              <a:t>Célok, stakeholderek, hatókörök pontos meghatározása</a:t>
            </a:r>
          </a:p>
          <a:p>
            <a:pPr marL="0" indent="0">
              <a:buNone/>
            </a:pPr>
            <a:endParaRPr lang="hu-HU" b="1" dirty="0" smtClean="0"/>
          </a:p>
          <a:p>
            <a:pPr marL="0" indent="0">
              <a:buNone/>
            </a:pPr>
            <a:r>
              <a:rPr lang="hu-HU" b="1" dirty="0" smtClean="0"/>
              <a:t>Tervezés</a:t>
            </a:r>
            <a:endParaRPr lang="hu-HU" b="1" dirty="0"/>
          </a:p>
          <a:p>
            <a:pPr lvl="1"/>
            <a:r>
              <a:rPr lang="hu-HU" dirty="0"/>
              <a:t>Részletes ütemterv készítés</a:t>
            </a:r>
          </a:p>
          <a:p>
            <a:pPr lvl="1"/>
            <a:r>
              <a:rPr lang="hu-HU" dirty="0"/>
              <a:t>Idő és erőforrás igények lehető legpontosabb becslése és rögzítése</a:t>
            </a:r>
          </a:p>
          <a:p>
            <a:pPr lvl="1"/>
            <a:r>
              <a:rPr lang="hu-HU" dirty="0"/>
              <a:t>Folyamatok és felelősségkörök meghatározása</a:t>
            </a:r>
          </a:p>
          <a:p>
            <a:pPr lvl="1"/>
            <a:r>
              <a:rPr lang="hu-HU" dirty="0"/>
              <a:t>Kockázatelemzés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2373673A-2F6F-4490-A1FA-AB854135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E7C2E911-09CC-42C9-A0C0-9EA191EAEF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811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67FF863E-85CD-4B74-A641-A8FBE664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életciklus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59A52ABE-7635-4FA3-86FC-1E5D2312A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 dirty="0"/>
              <a:t>Végrehajtás</a:t>
            </a:r>
          </a:p>
          <a:p>
            <a:pPr lvl="1"/>
            <a:r>
              <a:rPr lang="hu-HU" dirty="0"/>
              <a:t>Akár a projekt tevékenység 90%-át is kiteszi</a:t>
            </a:r>
          </a:p>
          <a:p>
            <a:pPr lvl="1"/>
            <a:r>
              <a:rPr lang="hu-HU" dirty="0"/>
              <a:t>Előrehaladás mérése</a:t>
            </a:r>
          </a:p>
          <a:p>
            <a:pPr lvl="1"/>
            <a:r>
              <a:rPr lang="hu-HU" dirty="0"/>
              <a:t>Nyomon követes és korrekciós lépések megtétele</a:t>
            </a:r>
          </a:p>
          <a:p>
            <a:pPr lvl="1"/>
            <a:r>
              <a:rPr lang="hu-HU" dirty="0"/>
              <a:t>Folyamatos kommunikáció, konfliktus kezelés, tájékoztatás</a:t>
            </a:r>
          </a:p>
          <a:p>
            <a:pPr lvl="1"/>
            <a:r>
              <a:rPr lang="hu-HU" dirty="0"/>
              <a:t>Tanulságok rögzítése, dokumentáció</a:t>
            </a:r>
          </a:p>
          <a:p>
            <a:pPr marL="0" indent="0">
              <a:buNone/>
            </a:pPr>
            <a:r>
              <a:rPr lang="hu-HU" b="1" dirty="0"/>
              <a:t>Lezárás</a:t>
            </a:r>
          </a:p>
          <a:p>
            <a:pPr lvl="1"/>
            <a:r>
              <a:rPr lang="hu-HU" dirty="0"/>
              <a:t>Végeredmény átadása</a:t>
            </a:r>
          </a:p>
          <a:p>
            <a:pPr lvl="1"/>
            <a:r>
              <a:rPr lang="hu-HU" dirty="0"/>
              <a:t>Következő szakaszba lépés </a:t>
            </a:r>
            <a:r>
              <a:rPr lang="hu-HU" dirty="0" smtClean="0"/>
              <a:t>(következő </a:t>
            </a:r>
            <a:r>
              <a:rPr lang="hu-HU" dirty="0"/>
              <a:t>projekt)</a:t>
            </a:r>
          </a:p>
          <a:p>
            <a:pPr lvl="1"/>
            <a:r>
              <a:rPr lang="hu-HU" dirty="0"/>
              <a:t>Lezárás, elemzés, tapasztalatok értékelése</a:t>
            </a:r>
          </a:p>
          <a:p>
            <a:pPr lvl="1"/>
            <a:r>
              <a:rPr lang="hu-HU" dirty="0"/>
              <a:t>A következtetések levonása sokszor elmarad pedig a szervezeti tanulás szempontjából </a:t>
            </a:r>
            <a:r>
              <a:rPr lang="hu-HU" dirty="0" smtClean="0"/>
              <a:t>kulcsfontosságú</a:t>
            </a:r>
            <a:endParaRPr lang="hu-HU" dirty="0"/>
          </a:p>
          <a:p>
            <a:pPr lvl="1"/>
            <a:r>
              <a:rPr lang="hu-HU" dirty="0"/>
              <a:t>Összefoglaló jelentés – eredmény elemzés, csapat, folyamatok, partnerek értékelése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2373673A-2F6F-4490-A1FA-AB854135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E7C2E911-09CC-42C9-A0C0-9EA191EAEF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898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BF304581-B31B-4237-B736-76329836B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indítás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FD891D8-C11C-47F1-A306-B82C06695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b="1" dirty="0"/>
              <a:t>Projektjavaslat</a:t>
            </a:r>
          </a:p>
          <a:p>
            <a:pPr lvl="1"/>
            <a:r>
              <a:rPr lang="hu-HU" dirty="0"/>
              <a:t>Konkrét cél és probléma definiálása, megoldási javaslat</a:t>
            </a:r>
          </a:p>
          <a:p>
            <a:pPr lvl="1"/>
            <a:r>
              <a:rPr lang="hu-HU" dirty="0"/>
              <a:t>Költség-haszon elemzés, üzleti követelmények, hatókör</a:t>
            </a:r>
          </a:p>
          <a:p>
            <a:pPr lvl="1"/>
            <a:r>
              <a:rPr lang="hu-HU" dirty="0"/>
              <a:t>Projektek összevethetősége ez alapján, megfelelő projekt kiválasztása</a:t>
            </a:r>
          </a:p>
          <a:p>
            <a:pPr marL="0" indent="0">
              <a:buNone/>
            </a:pPr>
            <a:endParaRPr lang="hu-HU" b="1" dirty="0" smtClean="0"/>
          </a:p>
          <a:p>
            <a:pPr marL="0" indent="0">
              <a:buNone/>
            </a:pPr>
            <a:r>
              <a:rPr lang="hu-HU" b="1" dirty="0" smtClean="0"/>
              <a:t>Projektindítás </a:t>
            </a:r>
            <a:r>
              <a:rPr lang="hu-HU" b="1" dirty="0"/>
              <a:t>kérdései</a:t>
            </a:r>
          </a:p>
          <a:p>
            <a:pPr lvl="1"/>
            <a:r>
              <a:rPr lang="hu-HU" dirty="0"/>
              <a:t>Valóban egyedi a probléma és tervezést igényel?</a:t>
            </a:r>
          </a:p>
          <a:p>
            <a:pPr lvl="1"/>
            <a:r>
              <a:rPr lang="hu-HU" dirty="0"/>
              <a:t>Rendelkezik a vállalat a szükséges tudással és kapacitással a projekt sikeres megvalósításának érdekében?</a:t>
            </a:r>
          </a:p>
          <a:p>
            <a:pPr lvl="1"/>
            <a:r>
              <a:rPr lang="hu-HU" dirty="0"/>
              <a:t>Hozzájárul a projekt a szervezeti fejlődéshez, tanuláshoz?</a:t>
            </a:r>
          </a:p>
          <a:p>
            <a:r>
              <a:rPr lang="hu-HU" dirty="0"/>
              <a:t>Amennyiben bármely kérdésre a válasz nem, a projekt megvalósítását érdemes megfontolni, elvetni, </a:t>
            </a:r>
            <a:r>
              <a:rPr lang="hu-HU" dirty="0" smtClean="0"/>
              <a:t>vagy átruházni </a:t>
            </a:r>
            <a:r>
              <a:rPr lang="hu-HU" dirty="0"/>
              <a:t>egy külső félre.</a:t>
            </a:r>
          </a:p>
          <a:p>
            <a:r>
              <a:rPr lang="hu-HU" dirty="0"/>
              <a:t>Visszafordíthatatlansági pont – A projekt megvalósítás azon pontja amelyet követően a projektet jobban megéri befejezni mintsem annak megvalósítását félbehagyni.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3FC0C63D-5BE1-4CA9-A331-2CACAB421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08CB2A8-C258-4927-AEEB-11D3E705BB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377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15E63B80-4C0E-473E-8D12-A2B509AC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siker kritériumai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BE41A304-D625-4368-A892-950B8AFC1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vas háromszögnek való megfelelés</a:t>
            </a:r>
          </a:p>
          <a:p>
            <a:endParaRPr lang="hu-HU" dirty="0"/>
          </a:p>
          <a:p>
            <a:r>
              <a:rPr lang="hu-HU" dirty="0"/>
              <a:t>Egyetértés a pontosan meghatározott, mérhető és konkrét projektcélokban</a:t>
            </a:r>
          </a:p>
          <a:p>
            <a:r>
              <a:rPr lang="hu-HU" dirty="0"/>
              <a:t>Egyértelmű projektterv, mérhető és pontosan meghatározott folyamatok</a:t>
            </a:r>
          </a:p>
          <a:p>
            <a:r>
              <a:rPr lang="hu-HU" dirty="0"/>
              <a:t>Állandó és eredményes kommunikáció</a:t>
            </a:r>
          </a:p>
          <a:p>
            <a:r>
              <a:rPr lang="hu-HU" dirty="0"/>
              <a:t>Szabályozott hatókör, pontosan meghatározott felelősség körök</a:t>
            </a:r>
          </a:p>
          <a:p>
            <a:r>
              <a:rPr lang="hu-HU" dirty="0"/>
              <a:t>A menedzsment támogatása</a:t>
            </a:r>
          </a:p>
          <a:p>
            <a:endParaRPr lang="hu-HU" dirty="0"/>
          </a:p>
          <a:p>
            <a:r>
              <a:rPr lang="hu-HU" dirty="0"/>
              <a:t>Személyi feltételek – támogatottság, a csapat dinamikája</a:t>
            </a:r>
          </a:p>
          <a:p>
            <a:r>
              <a:rPr lang="hu-HU" dirty="0"/>
              <a:t>Definíciós feltételek – szükséges elemzések elvégzése, célok pontos meghatározása</a:t>
            </a:r>
          </a:p>
          <a:p>
            <a:r>
              <a:rPr lang="hu-HU" dirty="0"/>
              <a:t>A megrendelő igényeinek pontos ismerete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DA9235B-8FDD-49BE-B9BA-A207017ED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39D39ADD-A9DD-4925-AF5D-6945F91A74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90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098C6EB6-021B-4C04-8AB3-52A421D90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Projektminőség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64743EA-0D53-4827-938E-E55E4FE91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Mennyire teljesíti a projekt a külső és belső vevők minőségre vonatkozó elvárásait</a:t>
            </a:r>
          </a:p>
          <a:p>
            <a:r>
              <a:rPr lang="hu-HU" dirty="0"/>
              <a:t>Az elvárások meghaladása – Q = 1 vagy Q &gt; 1</a:t>
            </a:r>
          </a:p>
          <a:p>
            <a:r>
              <a:rPr lang="hu-HU" dirty="0"/>
              <a:t>Q = átadott eredmény / elvárások</a:t>
            </a:r>
          </a:p>
          <a:p>
            <a:endParaRPr lang="hu-HU" dirty="0"/>
          </a:p>
          <a:p>
            <a:r>
              <a:rPr lang="hu-HU" dirty="0"/>
              <a:t>A projektminőség a projekt három pontján mérhető</a:t>
            </a:r>
          </a:p>
          <a:p>
            <a:pPr lvl="1"/>
            <a:r>
              <a:rPr lang="hu-HU" dirty="0"/>
              <a:t>Végeredményen</a:t>
            </a:r>
          </a:p>
          <a:p>
            <a:pPr lvl="1"/>
            <a:r>
              <a:rPr lang="hu-HU" dirty="0"/>
              <a:t>Folyamatokban</a:t>
            </a:r>
          </a:p>
          <a:p>
            <a:pPr lvl="1"/>
            <a:r>
              <a:rPr lang="hu-HU" dirty="0"/>
              <a:t>Megrendelőnél</a:t>
            </a:r>
          </a:p>
          <a:p>
            <a:r>
              <a:rPr lang="hu-HU" dirty="0"/>
              <a:t>Folyamatos elemzés, tanulságok rögzítése</a:t>
            </a:r>
          </a:p>
          <a:p>
            <a:r>
              <a:rPr lang="hu-HU" dirty="0"/>
              <a:t>Egyértelmű, mérhető elvárások</a:t>
            </a:r>
          </a:p>
          <a:p>
            <a:r>
              <a:rPr lang="hu-HU" dirty="0"/>
              <a:t>A megrendelő igényeinek pontos ismerete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E7AC7C7-14CA-499A-9EEC-807818886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xmlns="" id="{C01E5B18-5496-4244-A6A2-EEBF26A53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788" y="211138"/>
            <a:ext cx="11510962" cy="441325"/>
          </a:xfrm>
        </p:spPr>
        <p:txBody>
          <a:bodyPr>
            <a:normAutofit lnSpcReduction="10000"/>
          </a:bodyPr>
          <a:lstStyle/>
          <a:p>
            <a:r>
              <a:rPr lang="hu-HU" dirty="0"/>
              <a:t>Projekt siker kritériumai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929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A3462F1A-7E94-44B1-9B3E-D03D1F9B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sikertelenség kritériumai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6C70140-8ADA-4B59-A16A-796FDF813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Nem veszünk tudomást a változásokról</a:t>
            </a:r>
          </a:p>
          <a:p>
            <a:r>
              <a:rPr lang="hu-HU" dirty="0"/>
              <a:t>Nem végezzük el a szükséges elemzéseket</a:t>
            </a:r>
          </a:p>
          <a:p>
            <a:r>
              <a:rPr lang="hu-HU" dirty="0"/>
              <a:t>Kapkodunk, túl gyors eredményeket akarunk</a:t>
            </a:r>
          </a:p>
          <a:p>
            <a:r>
              <a:rPr lang="hu-HU" dirty="0"/>
              <a:t>Tehetetlenség következtében a jó ötleteket hagyjuk </a:t>
            </a:r>
            <a:r>
              <a:rPr lang="hu-HU" dirty="0" smtClean="0"/>
              <a:t>kárba veszni</a:t>
            </a:r>
            <a:endParaRPr lang="hu-HU" dirty="0"/>
          </a:p>
          <a:p>
            <a:r>
              <a:rPr lang="hu-HU" dirty="0"/>
              <a:t>Nem végzünk megvalósíthatósági elemzést</a:t>
            </a:r>
          </a:p>
          <a:p>
            <a:r>
              <a:rPr lang="hu-HU" dirty="0"/>
              <a:t>Túl menedzseljük a projektet</a:t>
            </a:r>
          </a:p>
          <a:p>
            <a:r>
              <a:rPr lang="hu-HU" dirty="0"/>
              <a:t>Nem ismerjük be, hogy a projekt kudarcba fulladt</a:t>
            </a:r>
          </a:p>
          <a:p>
            <a:r>
              <a:rPr lang="hu-HU" dirty="0"/>
              <a:t>Nem vizsgáljuk a kudarcot</a:t>
            </a:r>
          </a:p>
          <a:p>
            <a:r>
              <a:rPr lang="hu-HU" dirty="0"/>
              <a:t>Nem kutatjuk a projekt előnyeit és hátrányait</a:t>
            </a:r>
          </a:p>
          <a:p>
            <a:r>
              <a:rPr lang="hu-HU" dirty="0"/>
              <a:t>Nem ismerjük a projekt környezetét és annak befolyásoló tényezőit</a:t>
            </a:r>
          </a:p>
          <a:p>
            <a:r>
              <a:rPr lang="hu-HU" dirty="0"/>
              <a:t>Hagyjuk, hogy politikai érdekek diktáljanak</a:t>
            </a:r>
          </a:p>
          <a:p>
            <a:r>
              <a:rPr lang="hu-HU" dirty="0"/>
              <a:t>Gyenge vezetés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2CBD2171-2D4A-47B7-851D-E057F3590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xmlns="" id="{70952BCE-C61C-4335-9320-2704C58FD5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788" y="211138"/>
            <a:ext cx="11510962" cy="441325"/>
          </a:xfrm>
        </p:spPr>
        <p:txBody>
          <a:bodyPr>
            <a:normAutofit lnSpcReduction="10000"/>
          </a:bodyPr>
          <a:lstStyle/>
          <a:p>
            <a:r>
              <a:rPr lang="hu-HU" dirty="0"/>
              <a:t>Projekt siker kritériumai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58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002871F-8765-4ADD-A526-B12693A39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Stakeholderek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F6944B00-CEA0-4EC3-BC3B-2A281B689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Stakeholdereknek nevezünk minden olyan </a:t>
            </a:r>
            <a:r>
              <a:rPr lang="hu-HU" dirty="0" smtClean="0"/>
              <a:t>személyt, </a:t>
            </a:r>
            <a:r>
              <a:rPr lang="hu-HU" dirty="0"/>
              <a:t>akit bármilyen módon érint a projekt kivitelezése</a:t>
            </a:r>
          </a:p>
          <a:p>
            <a:r>
              <a:rPr lang="hu-HU" dirty="0"/>
              <a:t>A Stakeholderekre a projekt kivitelezése valamilyen pozitív vagy negatív hatással lehet, éppen ezért a stakeholderek lehetőség szerint pozitívan vagy negatívan állnak a projekt kivitelezéséhez</a:t>
            </a:r>
          </a:p>
          <a:p>
            <a:r>
              <a:rPr lang="hu-HU" dirty="0"/>
              <a:t>A Stakeholdereknek sokszor kisebb vagy nagyobb hatásuk lehet a projekt megvalósulásának elősegítésére vagy hátráltatására</a:t>
            </a:r>
          </a:p>
          <a:p>
            <a:r>
              <a:rPr lang="hu-HU" dirty="0"/>
              <a:t>Nagyon fontos tehát a Stakeholderek elemzése, azok felmérése, céljaik és lehetőségeik megértése, kezelésükre stratégia kidolgozása</a:t>
            </a:r>
          </a:p>
          <a:p>
            <a:r>
              <a:rPr lang="hu-HU" dirty="0"/>
              <a:t>A pozitív Stakeholderek támogatása, jó viszony ápolása</a:t>
            </a:r>
          </a:p>
          <a:p>
            <a:r>
              <a:rPr lang="hu-HU" dirty="0"/>
              <a:t>Negatív Stakeholdereket szokás „fekete báránynak” nevezni</a:t>
            </a:r>
          </a:p>
          <a:p>
            <a:pPr lvl="1"/>
            <a:r>
              <a:rPr lang="hu-HU" dirty="0"/>
              <a:t>Érdemes távoltartani őket a projekttől, folyamatosan szemmel tartani vagy,</a:t>
            </a:r>
          </a:p>
          <a:p>
            <a:pPr lvl="1"/>
            <a:r>
              <a:rPr lang="hu-HU" dirty="0"/>
              <a:t>Látszólag fontos feladattal bevonni a tevékenységbe, hátha idővel elköteleződik mellette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1E96AFFC-AC47-45D3-BC5B-280F78443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B1B4F74-1453-473F-9625-8271FD3D61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projekt résztvevői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252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B8C1C01B-15BC-448E-8DDC-2C186D00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Érintettek (Stakeholderek)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91EA6DF2-F006-4843-A9A9-014899B28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b="1" dirty="0"/>
              <a:t>Projektmenedzser</a:t>
            </a:r>
          </a:p>
          <a:p>
            <a:pPr lvl="1"/>
            <a:r>
              <a:rPr lang="hu-HU" dirty="0"/>
              <a:t>Feladata a helyes emberek kiválasztása, koordinálás, motiváció, tettvágy fenntartása, </a:t>
            </a:r>
            <a:r>
              <a:rPr lang="hu-HU" dirty="0" err="1"/>
              <a:t>Empowerment</a:t>
            </a:r>
            <a:r>
              <a:rPr lang="hu-HU" dirty="0"/>
              <a:t> (Tagok hatalommal, felelősséggel való felruházása)</a:t>
            </a:r>
          </a:p>
          <a:p>
            <a:pPr lvl="1"/>
            <a:r>
              <a:rPr lang="hu-HU" dirty="0"/>
              <a:t>Vezetői képességek, cél szemelőt tartása, mindig elérhető, naprakész, rugalmas</a:t>
            </a:r>
          </a:p>
          <a:p>
            <a:pPr lvl="1"/>
            <a:r>
              <a:rPr lang="hu-HU" dirty="0"/>
              <a:t>Kiválóan kommunikál, informál és kezeli a konfliktusokat</a:t>
            </a:r>
          </a:p>
          <a:p>
            <a:pPr lvl="1"/>
            <a:r>
              <a:rPr lang="hu-HU" dirty="0"/>
              <a:t>Sokszor nincs konkrét hatalma a szervezeten belül, kevés eszköz áll a rendelkezésére</a:t>
            </a:r>
          </a:p>
          <a:p>
            <a:pPr marL="0" indent="0">
              <a:buNone/>
            </a:pPr>
            <a:endParaRPr lang="hu-HU" b="1" dirty="0" smtClean="0"/>
          </a:p>
          <a:p>
            <a:pPr marL="0" indent="0">
              <a:buNone/>
            </a:pPr>
            <a:r>
              <a:rPr lang="hu-HU" b="1" dirty="0" err="1" smtClean="0"/>
              <a:t>Projektteam</a:t>
            </a:r>
            <a:endParaRPr lang="hu-HU" b="1" dirty="0"/>
          </a:p>
          <a:p>
            <a:pPr lvl="1"/>
            <a:r>
              <a:rPr lang="hu-HU" dirty="0"/>
              <a:t>A csapat képességein és a projektbe fektetett erőfeszítésen múlik leginkább a projektsiker, dinamika – csapatmunka, probléma megoldóképesség</a:t>
            </a:r>
          </a:p>
          <a:p>
            <a:pPr lvl="1"/>
            <a:r>
              <a:rPr lang="hu-HU" dirty="0"/>
              <a:t>A Teamsiker alapja a</a:t>
            </a:r>
          </a:p>
          <a:p>
            <a:pPr lvl="2"/>
            <a:r>
              <a:rPr lang="hu-HU" dirty="0"/>
              <a:t>m</a:t>
            </a:r>
            <a:r>
              <a:rPr lang="hu-HU" dirty="0" smtClean="0"/>
              <a:t>egfelelő </a:t>
            </a:r>
            <a:r>
              <a:rPr lang="hu-HU" dirty="0"/>
              <a:t>környezet</a:t>
            </a:r>
          </a:p>
          <a:p>
            <a:pPr lvl="2"/>
            <a:r>
              <a:rPr lang="hu-HU" dirty="0"/>
              <a:t>e</a:t>
            </a:r>
            <a:r>
              <a:rPr lang="hu-HU" dirty="0" smtClean="0"/>
              <a:t>gyüttműködés</a:t>
            </a:r>
            <a:endParaRPr lang="hu-HU" dirty="0"/>
          </a:p>
          <a:p>
            <a:pPr lvl="2"/>
            <a:r>
              <a:rPr lang="hu-HU" dirty="0"/>
              <a:t>v</a:t>
            </a:r>
            <a:r>
              <a:rPr lang="hu-HU" dirty="0" smtClean="0"/>
              <a:t>ezetői </a:t>
            </a:r>
            <a:r>
              <a:rPr lang="hu-HU" dirty="0"/>
              <a:t>támogatás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EB46F53B-49F5-4FD6-81D2-1BA6C5959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CA372C41-912C-4E0D-942E-1FB6604F67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512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EDB7DADB-3EA1-4187-9FFC-4BA90A837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Érintettek (Stakeholderek)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939EA95A-F699-44D8-8A5E-C3C6D4316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b="1" dirty="0"/>
              <a:t>Szponzor</a:t>
            </a:r>
          </a:p>
          <a:p>
            <a:pPr lvl="1"/>
            <a:r>
              <a:rPr lang="hu-HU" dirty="0"/>
              <a:t>Általában a szervezeti hierarchiában magasan elhelyezkedő személy</a:t>
            </a:r>
          </a:p>
          <a:p>
            <a:pPr lvl="1"/>
            <a:r>
              <a:rPr lang="hu-HU" dirty="0"/>
              <a:t>Végsősoron ő vállal felelősséget a projekt sikerért</a:t>
            </a:r>
          </a:p>
          <a:p>
            <a:pPr lvl="1"/>
            <a:r>
              <a:rPr lang="hu-HU" dirty="0"/>
              <a:t>Érdeke a projekt </a:t>
            </a:r>
            <a:r>
              <a:rPr lang="hu-HU" dirty="0" smtClean="0"/>
              <a:t>megvalósulása</a:t>
            </a:r>
          </a:p>
          <a:p>
            <a:pPr lvl="1"/>
            <a:r>
              <a:rPr lang="hu-HU" dirty="0" smtClean="0"/>
              <a:t>Feladata </a:t>
            </a:r>
            <a:br>
              <a:rPr lang="hu-HU" dirty="0" smtClean="0"/>
            </a:br>
            <a:r>
              <a:rPr lang="hu-HU" dirty="0" smtClean="0"/>
              <a:t>- a </a:t>
            </a:r>
            <a:r>
              <a:rPr lang="hu-HU" dirty="0"/>
              <a:t>folyamatos kommunikáció a </a:t>
            </a:r>
            <a:r>
              <a:rPr lang="hu-HU" dirty="0" smtClean="0"/>
              <a:t>csapattal</a:t>
            </a:r>
            <a:br>
              <a:rPr lang="hu-HU" dirty="0" smtClean="0"/>
            </a:br>
            <a:r>
              <a:rPr lang="hu-HU" dirty="0" smtClean="0"/>
              <a:t>- projekt </a:t>
            </a:r>
            <a:r>
              <a:rPr lang="hu-HU" dirty="0"/>
              <a:t>megfelelő környezetének </a:t>
            </a:r>
            <a:r>
              <a:rPr lang="hu-HU" dirty="0" smtClean="0"/>
              <a:t>megteremtése</a:t>
            </a:r>
            <a:br>
              <a:rPr lang="hu-HU" dirty="0" smtClean="0"/>
            </a:br>
            <a:r>
              <a:rPr lang="hu-HU" dirty="0" smtClean="0"/>
              <a:t>- projekt </a:t>
            </a:r>
            <a:r>
              <a:rPr lang="hu-HU" dirty="0"/>
              <a:t>előre </a:t>
            </a:r>
            <a:r>
              <a:rPr lang="hu-HU" dirty="0" err="1"/>
              <a:t>haladtának</a:t>
            </a:r>
            <a:r>
              <a:rPr lang="hu-HU" dirty="0"/>
              <a:t> </a:t>
            </a:r>
            <a:r>
              <a:rPr lang="hu-HU" dirty="0" smtClean="0"/>
              <a:t>támogatása</a:t>
            </a:r>
            <a:br>
              <a:rPr lang="hu-HU" dirty="0" smtClean="0"/>
            </a:br>
            <a:r>
              <a:rPr lang="hu-HU" dirty="0" smtClean="0"/>
              <a:t>- projektmenedzser támogatása</a:t>
            </a:r>
          </a:p>
          <a:p>
            <a:pPr marL="457200" lvl="1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/>
              <a:t>Funkcionális vezetők</a:t>
            </a:r>
          </a:p>
          <a:p>
            <a:pPr lvl="1"/>
            <a:r>
              <a:rPr lang="hu-HU" dirty="0"/>
              <a:t>A vállalat stabil területeit vezető személyek</a:t>
            </a:r>
          </a:p>
          <a:p>
            <a:pPr lvl="1"/>
            <a:r>
              <a:rPr lang="hu-HU" dirty="0"/>
              <a:t>A projekten dolgozók sokszor az alapvető munkájuk mellett dolgoznak a projekten</a:t>
            </a:r>
          </a:p>
          <a:p>
            <a:pPr lvl="1"/>
            <a:r>
              <a:rPr lang="hu-HU" dirty="0"/>
              <a:t>Fontos a funkcionális vezetőkkel való jó kapcsolat, hiszen tőlük is függ a csapatban dolgozók leterheltsége és a projekt kivitelezésnek támogatása vagy hátráltatása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3EB6ACEB-FFBF-4E03-8A78-0BE3F50D0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5D63F54D-024B-484C-9813-035D360998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352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D7FC649-4738-4BA8-99C9-1A3CFAB87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projekt alapszabályai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043C8101-E704-4509-B48F-A20B4EF92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Definíciós szakaszban kerülnek meghatározásra</a:t>
            </a:r>
          </a:p>
          <a:p>
            <a:pPr lvl="1"/>
            <a:r>
              <a:rPr lang="hu-HU" dirty="0" smtClean="0"/>
              <a:t>A d</a:t>
            </a:r>
            <a:r>
              <a:rPr lang="hu-HU" dirty="0" smtClean="0"/>
              <a:t>okumentációk </a:t>
            </a:r>
            <a:r>
              <a:rPr lang="hu-HU" dirty="0"/>
              <a:t>összessége</a:t>
            </a:r>
          </a:p>
          <a:p>
            <a:pPr lvl="1"/>
            <a:r>
              <a:rPr lang="hu-HU" dirty="0" smtClean="0"/>
              <a:t>A feltételek </a:t>
            </a:r>
            <a:r>
              <a:rPr lang="hu-HU" dirty="0"/>
              <a:t>pontos rögzítése a siker érdekében</a:t>
            </a:r>
          </a:p>
          <a:p>
            <a:pPr lvl="1"/>
            <a:r>
              <a:rPr lang="hu-HU" dirty="0"/>
              <a:t>Mindenkinek ismernie kell</a:t>
            </a:r>
          </a:p>
          <a:p>
            <a:pPr lvl="1"/>
            <a:r>
              <a:rPr lang="hu-HU" dirty="0"/>
              <a:t>Mindenkinek egyet kell vele értenie</a:t>
            </a:r>
          </a:p>
          <a:p>
            <a:pPr marL="457200" lvl="1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 smtClean="0"/>
              <a:t>A dokumentáció elemei:</a:t>
            </a:r>
            <a:endParaRPr lang="hu-HU" dirty="0"/>
          </a:p>
          <a:p>
            <a:r>
              <a:rPr lang="hu-HU" dirty="0"/>
              <a:t>Projektalapító okirat</a:t>
            </a:r>
          </a:p>
          <a:p>
            <a:r>
              <a:rPr lang="hu-HU" dirty="0"/>
              <a:t>Munkakimutatás (SOW)</a:t>
            </a:r>
          </a:p>
          <a:p>
            <a:r>
              <a:rPr lang="hu-HU" dirty="0"/>
              <a:t>Tevékenység felelős mátrix</a:t>
            </a:r>
          </a:p>
          <a:p>
            <a:r>
              <a:rPr lang="hu-HU" dirty="0"/>
              <a:t>Kommunikációs terv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94C2F7B-D784-4DA8-891F-D262B10A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9AABCD83-E9FE-4BDF-8FCC-3BE55CF6D9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509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908DE889-556E-4FFD-AEC2-D2DB5FDF7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projekt </a:t>
            </a:r>
            <a:r>
              <a:rPr lang="hu-HU" dirty="0" smtClean="0"/>
              <a:t>alapdokumentumai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8939027F-44A4-4295-8F72-16B8F0641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 dirty="0"/>
              <a:t>Projektalapító okirat</a:t>
            </a:r>
          </a:p>
          <a:p>
            <a:pPr lvl="1"/>
            <a:r>
              <a:rPr lang="hu-HU" dirty="0"/>
              <a:t>A projekt hivatalos bejelentése</a:t>
            </a:r>
          </a:p>
          <a:p>
            <a:pPr lvl="1"/>
            <a:r>
              <a:rPr lang="hu-HU" dirty="0"/>
              <a:t>Kezdési időpontjának meghatározása</a:t>
            </a:r>
          </a:p>
          <a:p>
            <a:pPr lvl="1"/>
            <a:r>
              <a:rPr lang="hu-HU" dirty="0"/>
              <a:t>Innentől kezdve a projekt létezik és a menedzsment annak megvalósulását támogatja</a:t>
            </a:r>
          </a:p>
          <a:p>
            <a:pPr lvl="1"/>
            <a:r>
              <a:rPr lang="hu-HU" dirty="0"/>
              <a:t>Felruházza a projektmenedzsert a projekt megvalósítására</a:t>
            </a:r>
          </a:p>
          <a:p>
            <a:pPr lvl="1"/>
            <a:r>
              <a:rPr lang="hu-HU" dirty="0"/>
              <a:t>Mindenkihez el kell, hogy jusson</a:t>
            </a:r>
          </a:p>
          <a:p>
            <a:pPr lvl="1"/>
            <a:r>
              <a:rPr lang="hu-HU" dirty="0"/>
              <a:t>Lehet email, vagy </a:t>
            </a:r>
            <a:r>
              <a:rPr lang="hu-HU" dirty="0" smtClean="0"/>
              <a:t>levél</a:t>
            </a:r>
          </a:p>
          <a:p>
            <a:pPr marL="457200" lvl="1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/>
              <a:t>Munkakimutatás (</a:t>
            </a:r>
            <a:r>
              <a:rPr lang="hu-HU" b="1" dirty="0" err="1"/>
              <a:t>State</a:t>
            </a:r>
            <a:r>
              <a:rPr lang="hu-HU" b="1" dirty="0"/>
              <a:t> of </a:t>
            </a:r>
            <a:r>
              <a:rPr lang="hu-HU" b="1" dirty="0" err="1"/>
              <a:t>work</a:t>
            </a:r>
            <a:r>
              <a:rPr lang="hu-HU" b="1" dirty="0"/>
              <a:t> – SOW)</a:t>
            </a:r>
          </a:p>
          <a:p>
            <a:pPr lvl="1"/>
            <a:r>
              <a:rPr lang="hu-HU" dirty="0"/>
              <a:t>Projekt célok, elvárások, kritériumok és eredmények leszögezése</a:t>
            </a:r>
          </a:p>
          <a:p>
            <a:pPr lvl="1"/>
            <a:r>
              <a:rPr lang="hu-HU" dirty="0"/>
              <a:t>Költség és ütemterv becslés, hatókör és stakeholderek elemzés</a:t>
            </a:r>
          </a:p>
          <a:p>
            <a:pPr lvl="1"/>
            <a:r>
              <a:rPr lang="hu-HU" dirty="0"/>
              <a:t>Szolgálati út és változási stratégia meghatározása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A4D87F2C-6BAE-46A6-8793-C304E592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115065B-C152-44C2-8865-BEA6F3CEDE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69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3BCE48C9-CC90-4041-BBBF-7DF6362E2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projekt </a:t>
            </a:r>
            <a:r>
              <a:rPr lang="hu-HU" dirty="0" smtClean="0"/>
              <a:t>alapdokumentumai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5C1D7874-A914-4C7F-9B97-E14D9724E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 dirty="0"/>
              <a:t>Tevékenység felelős mátrix</a:t>
            </a:r>
          </a:p>
          <a:p>
            <a:pPr lvl="1"/>
            <a:r>
              <a:rPr lang="hu-HU" dirty="0"/>
              <a:t>Tevékenységek megjelenítése</a:t>
            </a:r>
          </a:p>
          <a:p>
            <a:pPr lvl="1"/>
            <a:r>
              <a:rPr lang="hu-HU" dirty="0"/>
              <a:t>Személyek és a hozzájuk tartozó felelősségkörök szemléltetése</a:t>
            </a:r>
          </a:p>
          <a:p>
            <a:pPr lvl="1"/>
            <a:r>
              <a:rPr lang="hu-HU" dirty="0"/>
              <a:t>Kapcsolati rendszerek, hatókörök meghatározása</a:t>
            </a:r>
          </a:p>
          <a:p>
            <a:pPr lvl="1"/>
            <a:r>
              <a:rPr lang="hu-HU" dirty="0"/>
              <a:t>Kommunikációs hibák elkerülésére tett lépések </a:t>
            </a:r>
            <a:r>
              <a:rPr lang="hu-HU" dirty="0" smtClean="0"/>
              <a:t>rögzítése</a:t>
            </a:r>
          </a:p>
          <a:p>
            <a:pPr marL="457200" lvl="1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/>
              <a:t>Kommunikációs terv</a:t>
            </a:r>
          </a:p>
          <a:p>
            <a:pPr lvl="1"/>
            <a:r>
              <a:rPr lang="hu-HU" dirty="0"/>
              <a:t>Az megfelelő információ áramlás biztosítása</a:t>
            </a:r>
          </a:p>
          <a:p>
            <a:pPr lvl="1"/>
            <a:r>
              <a:rPr lang="hu-HU" dirty="0"/>
              <a:t>Csatornák létrehozása</a:t>
            </a:r>
          </a:p>
          <a:p>
            <a:pPr lvl="1"/>
            <a:r>
              <a:rPr lang="hu-HU" dirty="0"/>
              <a:t>Kinek, mikor, hol, hogyan, milyen információra van szüksége?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47614B32-1E96-4655-AA22-39731749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A5256CD0-D8B9-4080-ACC7-A4CE332ED2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21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0AC48C-DBF2-4182-90FC-A9B686CD9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Tervezés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FF02045-B88F-41F7-BC2D-084946275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b="1" dirty="0" err="1"/>
              <a:t>Work</a:t>
            </a:r>
            <a:r>
              <a:rPr lang="hu-HU" b="1" dirty="0"/>
              <a:t> </a:t>
            </a:r>
            <a:r>
              <a:rPr lang="hu-HU" b="1" dirty="0" err="1"/>
              <a:t>Breakdown</a:t>
            </a:r>
            <a:r>
              <a:rPr lang="hu-HU" b="1" dirty="0"/>
              <a:t> </a:t>
            </a:r>
            <a:r>
              <a:rPr lang="hu-HU" b="1" dirty="0" err="1"/>
              <a:t>Structure</a:t>
            </a:r>
            <a:r>
              <a:rPr lang="hu-HU" b="1" dirty="0"/>
              <a:t> (WBS)</a:t>
            </a:r>
          </a:p>
          <a:p>
            <a:pPr lvl="1"/>
            <a:r>
              <a:rPr lang="hu-HU" dirty="0"/>
              <a:t>Feladata, hogy a projektet, jól átlátható folyamatokra bontsa szét</a:t>
            </a:r>
          </a:p>
          <a:p>
            <a:pPr lvl="1"/>
            <a:r>
              <a:rPr lang="hu-HU" dirty="0"/>
              <a:t>A tevékenységekre bontás fentről lefele zajlik</a:t>
            </a:r>
          </a:p>
          <a:p>
            <a:pPr lvl="1"/>
            <a:r>
              <a:rPr lang="hu-HU" dirty="0"/>
              <a:t>A részfeladatok összeadásával az egész projektet kell, hogy visszakapjuk</a:t>
            </a:r>
          </a:p>
          <a:p>
            <a:pPr lvl="1"/>
            <a:r>
              <a:rPr lang="hu-HU" dirty="0"/>
              <a:t>A részfeladatot érthető nevekkel kell ellátni</a:t>
            </a:r>
          </a:p>
          <a:p>
            <a:r>
              <a:rPr lang="hu-HU" b="1" dirty="0"/>
              <a:t>A WBS minden feladatot azonosít</a:t>
            </a:r>
          </a:p>
          <a:p>
            <a:pPr lvl="1"/>
            <a:r>
              <a:rPr lang="hu-HU" dirty="0"/>
              <a:t>Grafikusan és vázlatosan szemléleti a projekt tevékenységet</a:t>
            </a:r>
          </a:p>
          <a:p>
            <a:pPr lvl="1"/>
            <a:r>
              <a:rPr lang="hu-HU" dirty="0"/>
              <a:t>Segíti a megértést, tervezést, projekt hatókörének, igényeinek feltárását</a:t>
            </a:r>
          </a:p>
          <a:p>
            <a:pPr lvl="1"/>
            <a:r>
              <a:rPr lang="hu-HU" dirty="0"/>
              <a:t>Segíti az előrehaladás mérését, költség és ütemterv készítést, projekt team kialakítást</a:t>
            </a:r>
          </a:p>
          <a:p>
            <a:pPr lvl="1"/>
            <a:r>
              <a:rPr lang="hu-HU" dirty="0"/>
              <a:t>A felelősség körök kialakítását</a:t>
            </a:r>
          </a:p>
          <a:p>
            <a:r>
              <a:rPr lang="hu-HU" dirty="0"/>
              <a:t>8/80-as szabály – Egy tevékenység legoptimálisabb esetben 8 – 80 óra közé esik</a:t>
            </a:r>
          </a:p>
          <a:p>
            <a:r>
              <a:rPr lang="hu-HU" dirty="0"/>
              <a:t>Jelentés szabály – Egy tevékenység ne legyen hosszabb mint két jelentés közötti időszak</a:t>
            </a:r>
          </a:p>
          <a:p>
            <a:r>
              <a:rPr lang="hu-HU" dirty="0"/>
              <a:t>H</a:t>
            </a:r>
            <a:r>
              <a:rPr lang="hu-HU" dirty="0" smtClean="0"/>
              <a:t>asznos </a:t>
            </a:r>
            <a:r>
              <a:rPr lang="hu-HU" dirty="0"/>
              <a:t>szabály – Egy tevékenységet csak addig bontsunk amíg az valóban elősegíti a tervezést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34E8DF9C-111B-43A8-A3AF-EE94C94D3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8CC36B6D-0EF0-404A-9256-DCAEE87864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3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A51E07D-8824-4914-B72C-599E7980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Tervezés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E3B54CA5-5173-4357-B34F-570429B31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264148"/>
          </a:xfrm>
        </p:spPr>
        <p:txBody>
          <a:bodyPr/>
          <a:lstStyle/>
          <a:p>
            <a:pPr marL="0" indent="0">
              <a:buNone/>
            </a:pPr>
            <a:r>
              <a:rPr lang="hu-HU" b="1" dirty="0"/>
              <a:t>Precedencia táblázat</a:t>
            </a:r>
          </a:p>
          <a:p>
            <a:pPr lvl="1"/>
            <a:r>
              <a:rPr lang="hu-HU" dirty="0"/>
              <a:t>Az elkészített WBS alapján hozható létre</a:t>
            </a:r>
          </a:p>
          <a:p>
            <a:pPr lvl="1"/>
            <a:r>
              <a:rPr lang="hu-HU" dirty="0"/>
              <a:t>Feladata feltárni a projekt tevékenységek közötti kapcsolatokat</a:t>
            </a:r>
          </a:p>
          <a:p>
            <a:pPr lvl="1"/>
            <a:r>
              <a:rPr lang="hu-HU" dirty="0"/>
              <a:t>Segíti a folyamatok közötti kapcsolatok meghatározását</a:t>
            </a:r>
          </a:p>
          <a:p>
            <a:pPr lvl="2"/>
            <a:r>
              <a:rPr lang="hu-HU" dirty="0"/>
              <a:t>Helyes és leghatékonyabb sorrend felállítását</a:t>
            </a:r>
          </a:p>
          <a:p>
            <a:pPr lvl="2"/>
            <a:r>
              <a:rPr lang="hu-HU" dirty="0"/>
              <a:t>Feltételek </a:t>
            </a:r>
            <a:r>
              <a:rPr lang="hu-HU" dirty="0" smtClean="0"/>
              <a:t>elemzését</a:t>
            </a:r>
          </a:p>
          <a:p>
            <a:pPr lvl="2"/>
            <a:endParaRPr lang="hu-HU" dirty="0"/>
          </a:p>
          <a:p>
            <a:r>
              <a:rPr lang="hu-HU" dirty="0"/>
              <a:t>Befejezés – Kezdés kapcsolat – Egy tevékenység csak a másik befejeztével kezdhető el</a:t>
            </a:r>
          </a:p>
          <a:p>
            <a:r>
              <a:rPr lang="hu-HU" dirty="0"/>
              <a:t>Kezdés – Befejezés kapcsolat – Egy tevékenység csak egy másik megkezdésével fejezhető be</a:t>
            </a:r>
          </a:p>
          <a:p>
            <a:r>
              <a:rPr lang="hu-HU" dirty="0"/>
              <a:t>Kezdés – Kezdés kapcsolat – Két tevékenység csak egyszerre kezdhető meg</a:t>
            </a:r>
          </a:p>
          <a:p>
            <a:r>
              <a:rPr lang="hu-HU" dirty="0"/>
              <a:t>Befejezés – Befejezés kapcsolat – Két tevékenység egymástól függetlenül megkezdhető, azonban lezárásukhoz mindkét tevékenység befejezése szükséges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4BAF59E9-9CDD-4811-A6B3-7535537F0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E7BB638C-9C17-4669-8E44-A0D7704267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7545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1B0A6BA0-DA3A-405E-A032-E8BBFC69E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Precedencia</a:t>
            </a:r>
            <a:r>
              <a:rPr lang="hu-HU" dirty="0"/>
              <a:t> </a:t>
            </a:r>
            <a:r>
              <a:rPr lang="hu-HU" dirty="0" smtClean="0"/>
              <a:t>táblázat - példa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8BCF8DB-855F-490E-9E39-4DDF859A1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591B48EB-6F22-4F0A-B92F-B6C72829E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3AD6E518-556A-4462-A381-8B5BD59330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3074" name="Picture 2" descr="Projektmenedzsment | Digitális Tankönyvtár">
            <a:extLst>
              <a:ext uri="{FF2B5EF4-FFF2-40B4-BE49-F238E27FC236}">
                <a16:creationId xmlns:a16="http://schemas.microsoft.com/office/drawing/2014/main" xmlns="" id="{9A555A78-F7ED-4E1D-AE52-233C37CE6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70" y="1387076"/>
            <a:ext cx="11521456" cy="4992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303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6A19C9FC-A105-4BE9-AEF4-12EF3059A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Tervezés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66309E3E-EB35-47ED-9FBB-EF4015928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 dirty="0"/>
              <a:t>Háló tervezés</a:t>
            </a:r>
          </a:p>
          <a:p>
            <a:pPr lvl="1"/>
            <a:r>
              <a:rPr lang="hu-HU" dirty="0"/>
              <a:t>Az elkészített WBS és precedencia táblázatból hozható létre</a:t>
            </a:r>
          </a:p>
          <a:p>
            <a:pPr lvl="1"/>
            <a:r>
              <a:rPr lang="hu-HU" dirty="0"/>
              <a:t>Feladata a tevékenységek vizuális szemléltetése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hu-HU" dirty="0"/>
              <a:t>Átláthatóság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hu-HU" dirty="0"/>
              <a:t>Időigény és erőforrás igények lehető legpontosabb meghatározása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hu-HU" dirty="0"/>
              <a:t>Szemlélteti a tevékenységek közötti kapcsolatokat és időigényeket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hu-HU" dirty="0"/>
              <a:t>Segít meghatározni a kritikus utat és a rugalmas tevékenységeket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hu-HU" dirty="0"/>
              <a:t>Segít meghatározni az egyes tevékenységek legkorábbi, illetve legutolsó kezdési és befejezési időpontjait</a:t>
            </a:r>
          </a:p>
          <a:p>
            <a:pPr lvl="1"/>
            <a:r>
              <a:rPr lang="hu-HU" dirty="0"/>
              <a:t>CPM háló – pontos, előre megbecsült adatokkal dolgozik</a:t>
            </a:r>
          </a:p>
          <a:p>
            <a:pPr lvl="1"/>
            <a:r>
              <a:rPr lang="hu-HU" dirty="0"/>
              <a:t>PERT háló – előre ismeretlen adatokkal dolgozik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hu-HU" dirty="0"/>
              <a:t>Optimista, pesszimista, realista becslés is készül belőle</a:t>
            </a:r>
          </a:p>
          <a:p>
            <a:pPr marL="0" indent="0">
              <a:buNone/>
            </a:pPr>
            <a:r>
              <a:rPr lang="hu-HU" b="1" dirty="0"/>
              <a:t>Kritikus út </a:t>
            </a:r>
            <a:r>
              <a:rPr lang="hu-HU" dirty="0"/>
              <a:t>– A kritikus út mentén a tevékenységeket nem lehet halasztani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E458127B-FFB5-4BB8-80B8-1EB8839D9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E3038FDF-4678-4579-8F98-0EDC215851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821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5406C984-1652-4105-AEF4-E6BECBC3D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CPM háló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4D4A6B3-2F9D-48BF-BE2B-FE1EAD45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244C804C-F8DE-476F-913A-F59AE422C1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2050" name="Picture 2" descr="Operációkutatás alapjai | Digitális Tankönyvtár">
            <a:extLst>
              <a:ext uri="{FF2B5EF4-FFF2-40B4-BE49-F238E27FC236}">
                <a16:creationId xmlns:a16="http://schemas.microsoft.com/office/drawing/2014/main" xmlns="" id="{4BCC0C05-027F-4E29-8CF4-1BABFE4AF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45" y="1352330"/>
            <a:ext cx="11172719" cy="5294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016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621AC986-AAAA-41A5-A67B-1B0F5486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Tervezés - </a:t>
            </a:r>
            <a:r>
              <a:rPr lang="hu-HU" dirty="0"/>
              <a:t>GANTT </a:t>
            </a:r>
            <a:r>
              <a:rPr lang="hu-HU" dirty="0" err="1" smtClean="0"/>
              <a:t>diagramm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37A23983-30CE-4754-AA46-A469BA9BF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579676" cy="5264148"/>
          </a:xfrm>
        </p:spPr>
        <p:txBody>
          <a:bodyPr>
            <a:normAutofit/>
          </a:bodyPr>
          <a:lstStyle/>
          <a:p>
            <a:r>
              <a:rPr lang="hu-HU" dirty="0" smtClean="0"/>
              <a:t>Az </a:t>
            </a:r>
            <a:r>
              <a:rPr lang="hu-HU" dirty="0"/>
              <a:t>idő függvényében ábrázolja a projekt egymást követő tevékenységeit</a:t>
            </a:r>
          </a:p>
          <a:p>
            <a:r>
              <a:rPr lang="hu-HU" dirty="0"/>
              <a:t>Gyorsan létrehozható, áttekinthető</a:t>
            </a:r>
          </a:p>
          <a:p>
            <a:r>
              <a:rPr lang="hu-HU" dirty="0"/>
              <a:t>Leolvasható erőforrás igények</a:t>
            </a:r>
          </a:p>
          <a:p>
            <a:r>
              <a:rPr lang="hu-HU" dirty="0"/>
              <a:t>Szemlélteti a tevékenységek sorrendjét</a:t>
            </a:r>
          </a:p>
          <a:p>
            <a:r>
              <a:rPr lang="hu-HU" dirty="0"/>
              <a:t>Elősegíti a tervezést</a:t>
            </a:r>
          </a:p>
          <a:p>
            <a:endParaRPr lang="hu-HU" dirty="0"/>
          </a:p>
          <a:p>
            <a:r>
              <a:rPr lang="hu-HU" dirty="0"/>
              <a:t>Nem mutatja meg a tevékenységek közötti kapcsolatokat</a:t>
            </a:r>
          </a:p>
          <a:p>
            <a:r>
              <a:rPr lang="hu-HU" dirty="0"/>
              <a:t>Sok tevékenység esetén már átláthatatlan</a:t>
            </a:r>
          </a:p>
          <a:p>
            <a:r>
              <a:rPr lang="hu-HU" dirty="0"/>
              <a:t>A tevékenységek sorrendjének optimalizálása csak próbálgatással történhet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4F67C46B-63DA-4948-8799-DC65DC15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7A82EE6-955A-47D4-92E2-844FE24131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9936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GANTT </a:t>
            </a:r>
            <a:r>
              <a:rPr lang="hu-HU" dirty="0" smtClean="0"/>
              <a:t>diagram - példa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hu-HU"/>
          </a:p>
        </p:txBody>
      </p:sp>
      <p:pic>
        <p:nvPicPr>
          <p:cNvPr id="6" name="Picture 2" descr="Mastering Your Production Calendar [FREE Gantt Chart Excel Template]">
            <a:extLst>
              <a:ext uri="{FF2B5EF4-FFF2-40B4-BE49-F238E27FC236}">
                <a16:creationId xmlns:a16="http://schemas.microsoft.com/office/drawing/2014/main" xmlns="" id="{AECD684A-075A-4B6C-AA2A-C4300A93F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63" y="1382308"/>
            <a:ext cx="11791954" cy="5414181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7963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29E3B5D-8ADD-4E92-9B0A-D0BB47CE7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Tervezés - </a:t>
            </a:r>
            <a:r>
              <a:rPr lang="hu-HU" dirty="0"/>
              <a:t>Erőforrás diagram 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2C4AF0D-8BED-4783-AC5D-C5B110085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Vizuálisan </a:t>
            </a:r>
            <a:r>
              <a:rPr lang="hu-HU" dirty="0"/>
              <a:t>szemlélteti az időfüggvényében a projekt erőforrás igényeit</a:t>
            </a:r>
          </a:p>
          <a:p>
            <a:r>
              <a:rPr lang="hu-HU" dirty="0"/>
              <a:t>Szoros kapcsolatban áll a projekt tevékenységeivel</a:t>
            </a:r>
          </a:p>
          <a:p>
            <a:r>
              <a:rPr lang="hu-HU" b="1" dirty="0"/>
              <a:t>Erőforrás csúcs </a:t>
            </a:r>
            <a:r>
              <a:rPr lang="hu-HU" dirty="0"/>
              <a:t>– Az a pont ahol a projekt kimagaslóan magas erőforrásokat követel</a:t>
            </a:r>
          </a:p>
          <a:p>
            <a:r>
              <a:rPr lang="hu-HU" b="1" dirty="0"/>
              <a:t>Erőforrás kiegyensúlyozás </a:t>
            </a:r>
            <a:r>
              <a:rPr lang="hu-HU" dirty="0"/>
              <a:t>– A projekt tevékenységek esetleges eltolásával eltüntethetőek az erőforrás csúcsok, az erőforrás igények kiegyensúlyozhatók (Csak rugalmas és tartalék idővel rendelkező projektek esetében lehetséges)</a:t>
            </a:r>
          </a:p>
          <a:p>
            <a:r>
              <a:rPr lang="hu-HU" dirty="0"/>
              <a:t>Egy szervezet álltalában több projekttel is párhuzamosan foglalkozik, így az </a:t>
            </a:r>
            <a:r>
              <a:rPr lang="hu-HU" b="1" dirty="0"/>
              <a:t>erőforrás diagrammot</a:t>
            </a:r>
            <a:r>
              <a:rPr lang="hu-HU" dirty="0"/>
              <a:t>, a futó projektekre, </a:t>
            </a:r>
            <a:r>
              <a:rPr lang="hu-HU" b="1" dirty="0"/>
              <a:t>átfogóan</a:t>
            </a:r>
            <a:r>
              <a:rPr lang="hu-HU" dirty="0"/>
              <a:t> szokás ábrázolni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Meghatározható, hogy a projektek összessége hol lépi át a szervezeti kapacitást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A projektek optimális mozgatásával eltüntethetők az erőforrás csúcsok</a:t>
            </a:r>
          </a:p>
          <a:p>
            <a:r>
              <a:rPr lang="hu-HU" b="1" dirty="0"/>
              <a:t>Mérföldkövek</a:t>
            </a:r>
            <a:r>
              <a:rPr lang="hu-HU" dirty="0"/>
              <a:t> – A projekt mérföldkövei fontos pontok amelyek elérésével a csapat nyomon követheti a projekt szakaszait, a kezdés és befejezés fix mérföldkövek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88E0CA96-880F-4CD7-8391-6EB72FD5D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CBB9C69F-2C0E-4AE9-B4EA-A80DA3437E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079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8146030-C9E5-488D-BBF6-D8101306E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Folyamatos projektmenedzsment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7AE4BC37-EA32-488F-8652-7273C4732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4"/>
            <a:ext cx="11861347" cy="5400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„A projektmenedzsment igazán csak a megvalósítási fázisban kezdődik” (Eric Verzuh, 2006)</a:t>
            </a:r>
          </a:p>
          <a:p>
            <a:pPr marL="0" indent="0">
              <a:buNone/>
            </a:pPr>
            <a:r>
              <a:rPr lang="hu-HU" dirty="0"/>
              <a:t>Elengedhetetlenül fontos </a:t>
            </a:r>
            <a:r>
              <a:rPr lang="hu-HU" b="1" dirty="0"/>
              <a:t>a projekt nyomon </a:t>
            </a:r>
            <a:r>
              <a:rPr lang="hu-HU" b="1" dirty="0" smtClean="0"/>
              <a:t>követése</a:t>
            </a:r>
            <a:r>
              <a:rPr lang="hu-HU" dirty="0"/>
              <a:t>, folyamatos menedzselése</a:t>
            </a:r>
          </a:p>
          <a:p>
            <a:pPr lvl="1"/>
            <a:r>
              <a:rPr lang="hu-HU" dirty="0"/>
              <a:t>A csapattal való folyamatos kommunikáció, tájékoztatás</a:t>
            </a:r>
          </a:p>
          <a:p>
            <a:pPr lvl="1"/>
            <a:r>
              <a:rPr lang="hu-HU" dirty="0"/>
              <a:t>A projektterv nyomon követese, helyesbítő lépések megtétele</a:t>
            </a:r>
          </a:p>
          <a:p>
            <a:pPr lvl="1"/>
            <a:r>
              <a:rPr lang="hu-HU" dirty="0"/>
              <a:t>A projektkörnyezet folyamatos elemzése és a rugalmas projektvezetés</a:t>
            </a:r>
          </a:p>
          <a:p>
            <a:pPr lvl="1"/>
            <a:r>
              <a:rPr lang="hu-HU" dirty="0"/>
              <a:t>Konfliktus kezelés, a cél folyamatos szem előtt tartása</a:t>
            </a:r>
          </a:p>
          <a:p>
            <a:pPr lvl="1"/>
            <a:r>
              <a:rPr lang="hu-HU" dirty="0"/>
              <a:t>Folyamatos dokumentáció és a tapasztalatok </a:t>
            </a:r>
            <a:r>
              <a:rPr lang="hu-HU" dirty="0" smtClean="0"/>
              <a:t>rögzítése</a:t>
            </a:r>
          </a:p>
          <a:p>
            <a:pPr lvl="1"/>
            <a:r>
              <a:rPr lang="hu-HU" dirty="0" smtClean="0"/>
              <a:t>Értékteremtés </a:t>
            </a:r>
            <a:r>
              <a:rPr lang="hu-HU" dirty="0"/>
              <a:t>a jövő </a:t>
            </a:r>
            <a:r>
              <a:rPr lang="hu-HU" dirty="0" smtClean="0"/>
              <a:t>számára</a:t>
            </a:r>
          </a:p>
          <a:p>
            <a:pPr marL="914400" lvl="2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/>
              <a:t>Projekt kontrolling </a:t>
            </a:r>
            <a:r>
              <a:rPr lang="hu-HU" dirty="0"/>
              <a:t>– Információs rendszer amely biztosítja a szükséges információkat a projekt környezetének és előre haladásának változásáról, eltérésekről a céloktól</a:t>
            </a:r>
          </a:p>
          <a:p>
            <a:pPr lvl="1"/>
            <a:r>
              <a:rPr lang="hu-HU" dirty="0"/>
              <a:t>Terv – tény összehasonlítási tevékenység</a:t>
            </a:r>
          </a:p>
          <a:p>
            <a:pPr lvl="1"/>
            <a:r>
              <a:rPr lang="hu-HU" dirty="0"/>
              <a:t>Céloktól való eltérés mielőbbi feltárása és szükséges lépések megtétele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19D4DB62-62F9-48D8-9977-0E2ECB1A5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557B28D9-5899-4073-BC35-823A0FCA17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78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99D0525E-E623-40BF-9CE1-EA8FF8CE1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Agilis projektvezetés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D1B1B0F2-C873-4C9F-868B-0375112DD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265463"/>
            <a:ext cx="11919859" cy="57736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A folyamatosság és rugalmasság igényének következtében ma már egyre inkább nagyobb hangsúlyt kap az agilis projektvezetés fogalma (2021, PMBOK 7th </a:t>
            </a:r>
            <a:r>
              <a:rPr lang="hu-HU" dirty="0" err="1"/>
              <a:t>edition</a:t>
            </a:r>
            <a:r>
              <a:rPr lang="hu-HU" dirty="0" smtClean="0"/>
              <a:t>)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Az agilis projektek lebonyolításának a lényege a teljes rugalmasság és a megrendelői igényekhez való folyamatos </a:t>
            </a:r>
            <a:r>
              <a:rPr lang="hu-HU" dirty="0" smtClean="0"/>
              <a:t>alkalmazkodás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 smtClean="0"/>
              <a:t>Leginkább </a:t>
            </a:r>
            <a:r>
              <a:rPr lang="hu-HU" dirty="0"/>
              <a:t>az informatika területén valósul meg egyelőre hatékonyan</a:t>
            </a:r>
          </a:p>
          <a:p>
            <a:pPr marL="0" indent="0">
              <a:buNone/>
            </a:pPr>
            <a:r>
              <a:rPr lang="hu-HU" dirty="0"/>
              <a:t>A csapat egy úgy nevezett </a:t>
            </a:r>
            <a:r>
              <a:rPr lang="hu-HU" b="1" dirty="0"/>
              <a:t>„Backlog” </a:t>
            </a:r>
            <a:r>
              <a:rPr lang="hu-HU" dirty="0"/>
              <a:t>–</a:t>
            </a:r>
            <a:r>
              <a:rPr lang="hu-HU" dirty="0" err="1"/>
              <a:t>ból</a:t>
            </a:r>
            <a:r>
              <a:rPr lang="hu-HU" dirty="0"/>
              <a:t> dolgozik amely tartalmazza a megrendelői igényeket</a:t>
            </a:r>
          </a:p>
          <a:p>
            <a:pPr lvl="1"/>
            <a:r>
              <a:rPr lang="hu-HU" dirty="0" smtClean="0"/>
              <a:t>a </a:t>
            </a:r>
            <a:r>
              <a:rPr lang="hu-HU" dirty="0"/>
              <a:t>csapat (két hetes) </a:t>
            </a:r>
            <a:r>
              <a:rPr lang="hu-HU" b="1" dirty="0"/>
              <a:t>sprintekben dolgozik </a:t>
            </a:r>
            <a:r>
              <a:rPr lang="hu-HU" dirty="0"/>
              <a:t>és erre a két hétre tesz vállalásokat a backlogból</a:t>
            </a:r>
          </a:p>
          <a:p>
            <a:pPr lvl="1"/>
            <a:r>
              <a:rPr lang="hu-HU" dirty="0" smtClean="0"/>
              <a:t>mindennap </a:t>
            </a:r>
            <a:r>
              <a:rPr lang="hu-HU" dirty="0"/>
              <a:t>és a sprint végén a csapat értékeli a tevékenységet és újra alkalmazkodik az esetleges változásokhoz</a:t>
            </a:r>
          </a:p>
          <a:p>
            <a:pPr lvl="1"/>
            <a:r>
              <a:rPr lang="hu-HU" dirty="0" smtClean="0"/>
              <a:t>egy </a:t>
            </a:r>
            <a:r>
              <a:rPr lang="hu-HU" dirty="0"/>
              <a:t>úgy nevezett </a:t>
            </a:r>
            <a:r>
              <a:rPr lang="hu-HU" b="1" dirty="0" err="1"/>
              <a:t>Scrum</a:t>
            </a:r>
            <a:r>
              <a:rPr lang="hu-HU" b="1" dirty="0"/>
              <a:t> </a:t>
            </a:r>
            <a:r>
              <a:rPr lang="hu-HU" b="1" dirty="0" err="1"/>
              <a:t>master</a:t>
            </a:r>
            <a:r>
              <a:rPr lang="hu-HU" b="1" dirty="0"/>
              <a:t> </a:t>
            </a:r>
            <a:r>
              <a:rPr lang="hu-HU" dirty="0"/>
              <a:t>felel a megfelelő projekt környezet és a feladatokhoz szükséges igények megteremtéséről – Támogató projektvezetés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0E62594-1982-4971-A1B8-BBC193FE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823F46E3-5C2A-490E-A428-E6B6685B0D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6387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DD2F2C1-F7A9-4B30-A7F9-835A458D8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Agilis projektvezetés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F459A2CC-BD64-4886-AD05-E572E1A55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 dirty="0"/>
              <a:t>Az agilis projektvezetés előnyei</a:t>
            </a:r>
          </a:p>
          <a:p>
            <a:pPr lvl="1"/>
            <a:r>
              <a:rPr lang="hu-HU" dirty="0"/>
              <a:t>Rugalmasság</a:t>
            </a:r>
          </a:p>
          <a:p>
            <a:pPr lvl="1"/>
            <a:r>
              <a:rPr lang="hu-HU" dirty="0"/>
              <a:t>Folyamatos alkalmazkodás a megrendelői igényekhez</a:t>
            </a:r>
          </a:p>
          <a:p>
            <a:pPr lvl="1"/>
            <a:r>
              <a:rPr lang="hu-HU" dirty="0"/>
              <a:t>Folyamatos reakció a környezeti változásokhoz</a:t>
            </a:r>
          </a:p>
          <a:p>
            <a:pPr lvl="1"/>
            <a:r>
              <a:rPr lang="hu-HU" dirty="0"/>
              <a:t>A két hetes sprintek lehetővé teszik a pontos nyomon </a:t>
            </a:r>
            <a:r>
              <a:rPr lang="hu-HU" dirty="0" smtClean="0"/>
              <a:t>követést</a:t>
            </a:r>
          </a:p>
          <a:p>
            <a:pPr marL="457200" lvl="1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/>
              <a:t>Az agilis projektvezetés feltételei</a:t>
            </a:r>
          </a:p>
          <a:p>
            <a:pPr lvl="1"/>
            <a:r>
              <a:rPr lang="hu-HU" dirty="0"/>
              <a:t>Rugalmas csapat</a:t>
            </a:r>
          </a:p>
          <a:p>
            <a:pPr lvl="1"/>
            <a:r>
              <a:rPr lang="hu-HU" dirty="0"/>
              <a:t>Valóban elkötelezett és a projektsikerben érdekelt projektvezető</a:t>
            </a:r>
          </a:p>
          <a:p>
            <a:pPr lvl="1"/>
            <a:r>
              <a:rPr lang="hu-HU" dirty="0"/>
              <a:t>Megfelelő vállalati környezet</a:t>
            </a:r>
          </a:p>
          <a:p>
            <a:pPr lvl="1"/>
            <a:r>
              <a:rPr lang="hu-HU" dirty="0"/>
              <a:t>A rugalmas projektvezetés </a:t>
            </a:r>
            <a:r>
              <a:rPr lang="hu-HU" dirty="0" smtClean="0"/>
              <a:t>igénye</a:t>
            </a:r>
          </a:p>
          <a:p>
            <a:pPr lvl="1"/>
            <a:r>
              <a:rPr lang="hu-HU" dirty="0" smtClean="0"/>
              <a:t>Gyorsan </a:t>
            </a:r>
            <a:r>
              <a:rPr lang="hu-HU" dirty="0"/>
              <a:t>változó, fejlődő </a:t>
            </a:r>
            <a:r>
              <a:rPr lang="hu-HU" dirty="0" smtClean="0"/>
              <a:t>környezet</a:t>
            </a:r>
          </a:p>
          <a:p>
            <a:pPr lvl="1"/>
            <a:r>
              <a:rPr lang="hu-HU" dirty="0" smtClean="0"/>
              <a:t>Gyakran </a:t>
            </a:r>
            <a:r>
              <a:rPr lang="hu-HU" dirty="0"/>
              <a:t>változó megrendelői elvárások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1E05EE0B-EAE6-4E15-8F7F-51AE3848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C490F8BD-4800-4F28-A629-DF7E87BE62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Projektmenedzsment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836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363845" y="3055305"/>
            <a:ext cx="5033727" cy="2044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4000" dirty="0" smtClean="0">
                <a:solidFill>
                  <a:srgbClr val="00B0F0"/>
                </a:solidFill>
              </a:rPr>
              <a:t>Köszönöm a figyelmet!</a:t>
            </a:r>
            <a:endParaRPr lang="hu-HU" sz="4000" dirty="0">
              <a:solidFill>
                <a:srgbClr val="00B0F0"/>
              </a:solidFill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hu-HU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17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2284</Words>
  <Application>Microsoft Office PowerPoint</Application>
  <PresentationFormat>Szélesvásznú</PresentationFormat>
  <Paragraphs>424</Paragraphs>
  <Slides>36</Slides>
  <Notes>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Wingdings</vt:lpstr>
      <vt:lpstr>Office-téma</vt:lpstr>
      <vt:lpstr>Projektmenedzsment</vt:lpstr>
      <vt:lpstr>Tartalomjegyzék</vt:lpstr>
      <vt:lpstr>Fogalma</vt:lpstr>
      <vt:lpstr>Célja</vt:lpstr>
      <vt:lpstr>Funkciói</vt:lpstr>
      <vt:lpstr>Elterjedése – I. szakasz</vt:lpstr>
      <vt:lpstr>Elterjedése – II. szakasz</vt:lpstr>
      <vt:lpstr>Elterjedése – III. szakasz</vt:lpstr>
      <vt:lpstr>Elterjedése – IV. szakasz</vt:lpstr>
      <vt:lpstr>Fontossága</vt:lpstr>
      <vt:lpstr>Szintjei</vt:lpstr>
      <vt:lpstr>Típusai</vt:lpstr>
      <vt:lpstr>Projekt életciklus</vt:lpstr>
      <vt:lpstr>Projekt életciklus</vt:lpstr>
      <vt:lpstr>Projekt indítás</vt:lpstr>
      <vt:lpstr>Projekt siker kritériumai</vt:lpstr>
      <vt:lpstr>Projektminőség</vt:lpstr>
      <vt:lpstr>A sikertelenség kritériumai</vt:lpstr>
      <vt:lpstr>Stakeholderek</vt:lpstr>
      <vt:lpstr>Érintettek (Stakeholderek)</vt:lpstr>
      <vt:lpstr>Érintettek (Stakeholderek)</vt:lpstr>
      <vt:lpstr>A projekt alapszabályai</vt:lpstr>
      <vt:lpstr>A projekt alapdokumentumai</vt:lpstr>
      <vt:lpstr>A projekt alapdokumentumai</vt:lpstr>
      <vt:lpstr>Tervezés</vt:lpstr>
      <vt:lpstr>Tervezés</vt:lpstr>
      <vt:lpstr>Precedencia táblázat - példa</vt:lpstr>
      <vt:lpstr>Tervezés</vt:lpstr>
      <vt:lpstr>CPM háló</vt:lpstr>
      <vt:lpstr>Tervezés - GANTT diagramm</vt:lpstr>
      <vt:lpstr>GANTT diagram - példa</vt:lpstr>
      <vt:lpstr>Tervezés - Erőforrás diagram </vt:lpstr>
      <vt:lpstr>Folyamatos projektmenedzsment</vt:lpstr>
      <vt:lpstr>Agilis projektvezetés</vt:lpstr>
      <vt:lpstr>Agilis projektvezetés</vt:lpstr>
      <vt:lpstr>PowerPoint bemutató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Projektmenedzsment</dc:title>
  <dc:creator>MMI</dc:creator>
  <cp:lastModifiedBy>Gombaszögi Ildikó</cp:lastModifiedBy>
  <cp:revision>33</cp:revision>
  <dcterms:created xsi:type="dcterms:W3CDTF">2021-01-18T18:03:07Z</dcterms:created>
  <dcterms:modified xsi:type="dcterms:W3CDTF">2023-08-29T14:25:06Z</dcterms:modified>
</cp:coreProperties>
</file>