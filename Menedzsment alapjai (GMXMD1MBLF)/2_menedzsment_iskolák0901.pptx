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9" r:id="rId23"/>
    <p:sldId id="280" r:id="rId24"/>
    <p:sldId id="281" r:id="rId25"/>
    <p:sldId id="282" r:id="rId26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B1F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9" autoAdjust="0"/>
    <p:restoredTop sz="96370" autoAdjust="0"/>
  </p:normalViewPr>
  <p:slideViewPr>
    <p:cSldViewPr snapToGrid="0">
      <p:cViewPr varScale="1">
        <p:scale>
          <a:sx n="56" d="100"/>
          <a:sy n="56" d="100"/>
        </p:scale>
        <p:origin x="90" y="60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3819" y="45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9E53D2-A48E-4C9B-B410-1E4D72DE286B}" type="datetimeFigureOut">
              <a:rPr lang="hu-HU" smtClean="0"/>
              <a:t>2023. 08. 29.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FF073B-6FBE-4398-99B6-4AAC91B062C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196373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="" xmlns:a16="http://schemas.microsoft.com/office/drawing/2014/main" id="{750C139D-3168-4490-BB9C-BC38A0EA8E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="" xmlns:a16="http://schemas.microsoft.com/office/drawing/2014/main" id="{E8B206B0-EEE6-4BFD-858B-14AAFB8C86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="" xmlns:a16="http://schemas.microsoft.com/office/drawing/2014/main" id="{15EFD624-2362-4233-AA2E-58D3AB2C1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2A2B3-E014-4A2E-A550-0FC801CC6702}" type="datetime1">
              <a:rPr lang="hu-HU" smtClean="0"/>
              <a:t>2023. 08. 29.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="" xmlns:a16="http://schemas.microsoft.com/office/drawing/2014/main" id="{D81589B6-0D22-495A-8AA4-804DAD7FD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="" xmlns:a16="http://schemas.microsoft.com/office/drawing/2014/main" id="{71DFD03E-3F7E-4EF4-9258-A04E4B2C7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954588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ím és tartalom">
    <p:bg>
      <p:bgPr>
        <a:solidFill>
          <a:srgbClr val="1B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églalap 13">
            <a:extLst>
              <a:ext uri="{FF2B5EF4-FFF2-40B4-BE49-F238E27FC236}">
                <a16:creationId xmlns="" xmlns:a16="http://schemas.microsoft.com/office/drawing/2014/main" id="{DDDEED1F-4A84-460A-8607-0736A80B4660}"/>
              </a:ext>
            </a:extLst>
          </p:cNvPr>
          <p:cNvSpPr/>
          <p:nvPr userDrawn="1"/>
        </p:nvSpPr>
        <p:spPr>
          <a:xfrm>
            <a:off x="5004707" y="113167"/>
            <a:ext cx="7094084" cy="55027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3" name="Téglalap 12">
            <a:extLst>
              <a:ext uri="{FF2B5EF4-FFF2-40B4-BE49-F238E27FC236}">
                <a16:creationId xmlns="" xmlns:a16="http://schemas.microsoft.com/office/drawing/2014/main" id="{B5A85F78-1FD5-4B49-B583-F7B2D395B8BA}"/>
              </a:ext>
            </a:extLst>
          </p:cNvPr>
          <p:cNvSpPr/>
          <p:nvPr userDrawn="1"/>
        </p:nvSpPr>
        <p:spPr>
          <a:xfrm>
            <a:off x="93209" y="89807"/>
            <a:ext cx="12005582" cy="11522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8" name="Téglalap 7">
            <a:extLst>
              <a:ext uri="{FF2B5EF4-FFF2-40B4-BE49-F238E27FC236}">
                <a16:creationId xmlns="" xmlns:a16="http://schemas.microsoft.com/office/drawing/2014/main" id="{C2069732-ACEA-44F7-B5CA-BAB2F9787C78}"/>
              </a:ext>
            </a:extLst>
          </p:cNvPr>
          <p:cNvSpPr/>
          <p:nvPr userDrawn="1"/>
        </p:nvSpPr>
        <p:spPr>
          <a:xfrm>
            <a:off x="93209" y="1265463"/>
            <a:ext cx="12005582" cy="55027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Cím 1">
            <a:extLst>
              <a:ext uri="{FF2B5EF4-FFF2-40B4-BE49-F238E27FC236}">
                <a16:creationId xmlns="" xmlns:a16="http://schemas.microsoft.com/office/drawing/2014/main" id="{FAB37637-9D6E-4D90-B2F1-76E205F961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133" y="547230"/>
            <a:ext cx="11510284" cy="718233"/>
          </a:xfrm>
        </p:spPr>
        <p:txBody>
          <a:bodyPr>
            <a:normAutofit/>
          </a:bodyPr>
          <a:lstStyle>
            <a:lvl1pPr>
              <a:defRPr sz="4000" b="1">
                <a:latin typeface="+mn-lt"/>
              </a:defRPr>
            </a:lvl1pPr>
          </a:lstStyle>
          <a:p>
            <a:r>
              <a:rPr lang="hu-HU" dirty="0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="" xmlns:a16="http://schemas.microsoft.com/office/drawing/2014/main" id="{B2CBCB6B-387A-4289-A82B-0BFAB4E69E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0" y="1457325"/>
            <a:ext cx="11510283" cy="5264148"/>
          </a:xfrm>
        </p:spPr>
        <p:txBody>
          <a:bodyPr/>
          <a:lstStyle>
            <a:lvl1pPr>
              <a:buClr>
                <a:srgbClr val="1B1F20"/>
              </a:buClr>
              <a:buFont typeface="Wingdings" panose="05000000000000000000" pitchFamily="2" charset="2"/>
              <a:buChar char="§"/>
              <a:defRPr sz="2400"/>
            </a:lvl1pPr>
            <a:lvl2pPr>
              <a:buClr>
                <a:srgbClr val="1B1F20"/>
              </a:buClr>
              <a:buFont typeface="Wingdings" panose="05000000000000000000" pitchFamily="2" charset="2"/>
              <a:buChar char="§"/>
              <a:defRPr sz="2400"/>
            </a:lvl2pPr>
            <a:lvl3pPr>
              <a:buClr>
                <a:srgbClr val="1B1F20"/>
              </a:buClr>
              <a:buFont typeface="Wingdings" panose="05000000000000000000" pitchFamily="2" charset="2"/>
              <a:buChar char="§"/>
              <a:defRPr sz="2400"/>
            </a:lvl3pPr>
            <a:lvl4pPr>
              <a:buClr>
                <a:srgbClr val="1B1F20"/>
              </a:buClr>
              <a:buFont typeface="Wingdings" panose="05000000000000000000" pitchFamily="2" charset="2"/>
              <a:buChar char="§"/>
              <a:defRPr sz="2400"/>
            </a:lvl4pPr>
            <a:lvl5pPr>
              <a:buClr>
                <a:srgbClr val="1B1F20"/>
              </a:buClr>
              <a:buFont typeface="Wingdings" panose="05000000000000000000" pitchFamily="2" charset="2"/>
              <a:buChar char="§"/>
              <a:defRPr sz="2400"/>
            </a:lvl5pPr>
          </a:lstStyle>
          <a:p>
            <a:pPr lvl="0"/>
            <a:r>
              <a:rPr lang="hu-HU" dirty="0"/>
              <a:t>Mintaszöveg szerkesztése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  <a:p>
            <a:pPr lvl="3"/>
            <a:r>
              <a:rPr lang="hu-HU" dirty="0"/>
              <a:t>Negyedik szint</a:t>
            </a:r>
          </a:p>
          <a:p>
            <a:pPr lvl="4"/>
            <a:r>
              <a:rPr lang="hu-HU" dirty="0"/>
              <a:t>Ötödik szint</a:t>
            </a:r>
          </a:p>
        </p:txBody>
      </p:sp>
      <p:sp>
        <p:nvSpPr>
          <p:cNvPr id="7" name="Dia számának helye 5">
            <a:extLst>
              <a:ext uri="{FF2B5EF4-FFF2-40B4-BE49-F238E27FC236}">
                <a16:creationId xmlns="" xmlns:a16="http://schemas.microsoft.com/office/drawing/2014/main" id="{ABA2E200-FE90-4F81-A7F7-486CE3F25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2729" y="6379708"/>
            <a:ext cx="2743200" cy="365125"/>
          </a:xfrm>
        </p:spPr>
        <p:txBody>
          <a:bodyPr/>
          <a:lstStyle>
            <a:lvl1pPr>
              <a:defRPr sz="1400" b="1">
                <a:solidFill>
                  <a:schemeClr val="tx1"/>
                </a:solidFill>
              </a:defRPr>
            </a:lvl1pPr>
          </a:lstStyle>
          <a:p>
            <a:fld id="{F906C4D8-32F2-4A19-B0E3-4323A7BEC644}" type="slidenum">
              <a:rPr lang="hu-HU" smtClean="0"/>
              <a:pPr/>
              <a:t>‹#›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11" name="Szöveg helye 10">
            <a:extLst>
              <a:ext uri="{FF2B5EF4-FFF2-40B4-BE49-F238E27FC236}">
                <a16:creationId xmlns="" xmlns:a16="http://schemas.microsoft.com/office/drawing/2014/main" id="{CCA7E92E-0678-4CB8-B34A-3CEDD493C73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05463" y="211135"/>
            <a:ext cx="11510284" cy="440645"/>
          </a:xfrm>
        </p:spPr>
        <p:txBody>
          <a:bodyPr/>
          <a:lstStyle>
            <a:lvl1pPr>
              <a:buNone/>
              <a:defRPr b="0"/>
            </a:lvl1pPr>
          </a:lstStyle>
          <a:p>
            <a:pPr lvl="0"/>
            <a:r>
              <a:rPr lang="hu-HU" dirty="0"/>
              <a:t>Mintaszöveg szerkesztése</a:t>
            </a:r>
          </a:p>
        </p:txBody>
      </p:sp>
    </p:spTree>
    <p:extLst>
      <p:ext uri="{BB962C8B-B14F-4D97-AF65-F5344CB8AC3E}">
        <p14:creationId xmlns:p14="http://schemas.microsoft.com/office/powerpoint/2010/main" val="30223406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="" xmlns:a16="http://schemas.microsoft.com/office/drawing/2014/main" id="{558E1F47-A20E-4BB9-A350-B0990DE5E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="" xmlns:a16="http://schemas.microsoft.com/office/drawing/2014/main" id="{A674DF5C-4EEB-42BF-947E-B831FE8D0E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="" xmlns:a16="http://schemas.microsoft.com/office/drawing/2014/main" id="{80F63501-4CC0-443D-9D68-F329C8C2B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1EA38-83FC-4782-9732-2A658C756FBF}" type="datetime1">
              <a:rPr lang="hu-HU" smtClean="0"/>
              <a:t>2023. 08. 29.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="" xmlns:a16="http://schemas.microsoft.com/office/drawing/2014/main" id="{CBAEB0E0-2A8E-4ED6-A556-F89797330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="" xmlns:a16="http://schemas.microsoft.com/office/drawing/2014/main" id="{229D3C6A-29F7-48FE-BCD5-E38A7ED76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1410095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="" xmlns:a16="http://schemas.microsoft.com/office/drawing/2014/main" id="{8810067C-BED7-4D0B-A7AE-64B226FE9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="" xmlns:a16="http://schemas.microsoft.com/office/drawing/2014/main" id="{6989049E-102A-47F6-9DB1-D28194DAEC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="" xmlns:a16="http://schemas.microsoft.com/office/drawing/2014/main" id="{56670EB4-6095-49EF-BC35-7B589A44C7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="" xmlns:a16="http://schemas.microsoft.com/office/drawing/2014/main" id="{2B37BD7D-E3E5-45AB-8F04-C3BB67891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702E6-7993-453D-93F9-E6EF1116D18A}" type="datetime1">
              <a:rPr lang="hu-HU" smtClean="0"/>
              <a:t>2023. 08. 29.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="" xmlns:a16="http://schemas.microsoft.com/office/drawing/2014/main" id="{3E3D45C3-0A0B-4B2E-82E4-EA07495C0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="" xmlns:a16="http://schemas.microsoft.com/office/drawing/2014/main" id="{B5B50F8E-6620-4235-B0AD-8AA15B30E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660569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="" xmlns:a16="http://schemas.microsoft.com/office/drawing/2014/main" id="{F266F4E0-940E-4BAE-B93C-63B7BDFB7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="" xmlns:a16="http://schemas.microsoft.com/office/drawing/2014/main" id="{0A2959B8-ED8C-4B0B-9977-61BD3846A4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="" xmlns:a16="http://schemas.microsoft.com/office/drawing/2014/main" id="{1CCDBE15-67FD-4624-AA3C-3954AD9B70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="" xmlns:a16="http://schemas.microsoft.com/office/drawing/2014/main" id="{DF322681-B9EB-4202-B82F-62986E7BEB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="" xmlns:a16="http://schemas.microsoft.com/office/drawing/2014/main" id="{4C904C5F-E076-4D0B-8982-C2E9696E23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="" xmlns:a16="http://schemas.microsoft.com/office/drawing/2014/main" id="{DAE73D62-5ABD-42E2-8E4F-A4C9D60C5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D6007-D686-40BA-81B1-73FEF61F594E}" type="datetime1">
              <a:rPr lang="hu-HU" smtClean="0"/>
              <a:t>2023. 08. 29.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="" xmlns:a16="http://schemas.microsoft.com/office/drawing/2014/main" id="{12CEA0E5-76DF-4C30-B4E7-9D73172E1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="" xmlns:a16="http://schemas.microsoft.com/office/drawing/2014/main" id="{E4147FC1-08D6-4073-B160-DA6C7F806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089282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="" xmlns:a16="http://schemas.microsoft.com/office/drawing/2014/main" id="{FDDEF8AF-3DBD-4787-B3C3-E54E37A4B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="" xmlns:a16="http://schemas.microsoft.com/office/drawing/2014/main" id="{1004E331-98B3-4071-BBC4-B70A94793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99E8F-2C13-44E0-88ED-8DAC965F9F1B}" type="datetime1">
              <a:rPr lang="hu-HU" smtClean="0"/>
              <a:t>2023. 08. 29.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="" xmlns:a16="http://schemas.microsoft.com/office/drawing/2014/main" id="{9839F9EC-D9E3-4149-9FDB-26C9C93B5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="" xmlns:a16="http://schemas.microsoft.com/office/drawing/2014/main" id="{A996AA15-EE1A-41CC-A088-942F69E68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018340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="" xmlns:a16="http://schemas.microsoft.com/office/drawing/2014/main" id="{8232CDB6-02A2-4E33-83D0-705F4C0012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2AE6F-9176-4A48-8B31-B40F1CD1CA67}" type="datetime1">
              <a:rPr lang="hu-HU" smtClean="0"/>
              <a:t>2023. 08. 29.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="" xmlns:a16="http://schemas.microsoft.com/office/drawing/2014/main" id="{A57E066B-902D-436D-B156-0C745132A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="" xmlns:a16="http://schemas.microsoft.com/office/drawing/2014/main" id="{3817F04B-AF52-4648-8F6E-228367CF3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996865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="" xmlns:a16="http://schemas.microsoft.com/office/drawing/2014/main" id="{BF10A394-C766-410D-A40E-A419FE663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="" xmlns:a16="http://schemas.microsoft.com/office/drawing/2014/main" id="{1B9AE76C-FECB-4776-9AC6-0CC24C19A2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="" xmlns:a16="http://schemas.microsoft.com/office/drawing/2014/main" id="{37756CC3-7EE4-4387-9A9B-A6A7EC4EC4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="" xmlns:a16="http://schemas.microsoft.com/office/drawing/2014/main" id="{5F71D787-FE7E-488E-820D-677DB815C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64019-9299-4649-B777-D3FD3F0DF105}" type="datetime1">
              <a:rPr lang="hu-HU" smtClean="0"/>
              <a:t>2023. 08. 29.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="" xmlns:a16="http://schemas.microsoft.com/office/drawing/2014/main" id="{3F0CBFD6-E08D-4DC4-AD7A-CCFE18994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="" xmlns:a16="http://schemas.microsoft.com/office/drawing/2014/main" id="{76DBC206-9A73-416D-8C18-5E85F368E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136013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="" xmlns:a16="http://schemas.microsoft.com/office/drawing/2014/main" id="{1D336558-64C8-4443-A717-0E2F3CB774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="" xmlns:a16="http://schemas.microsoft.com/office/drawing/2014/main" id="{7D7D72D5-7457-4552-88D3-03E28DEDD6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="" xmlns:a16="http://schemas.microsoft.com/office/drawing/2014/main" id="{5D412EE6-6AD6-4C94-9EE3-B679EAFB6D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="" xmlns:a16="http://schemas.microsoft.com/office/drawing/2014/main" id="{6B45C1E5-6AD4-490D-9144-44476B02F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1CDC1-49EF-4ED0-A19F-FD7F561FE84C}" type="datetime1">
              <a:rPr lang="hu-HU" smtClean="0"/>
              <a:t>2023. 08. 29.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="" xmlns:a16="http://schemas.microsoft.com/office/drawing/2014/main" id="{C044CDEB-6218-40E1-B4BA-416764613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="" xmlns:a16="http://schemas.microsoft.com/office/drawing/2014/main" id="{C00ED222-CB4F-44CF-BA9D-2FC17CE60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038806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="" xmlns:a16="http://schemas.microsoft.com/office/drawing/2014/main" id="{CF5A7E4B-F7E4-4AA4-860F-4C6A03C87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="" xmlns:a16="http://schemas.microsoft.com/office/drawing/2014/main" id="{AA651D79-3498-4F2E-9F68-953F93D4F7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="" xmlns:a16="http://schemas.microsoft.com/office/drawing/2014/main" id="{D304470A-ABA4-4D52-8CC9-952139B85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93B1C-99A4-498A-A255-49BFF718273E}" type="datetime1">
              <a:rPr lang="hu-HU" smtClean="0"/>
              <a:t>2023. 08. 29.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="" xmlns:a16="http://schemas.microsoft.com/office/drawing/2014/main" id="{5B1CFCD3-7120-46EC-9471-224D39A3B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="" xmlns:a16="http://schemas.microsoft.com/office/drawing/2014/main" id="{93B51A95-5799-4B77-AC52-43F335DD4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859780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="" xmlns:a16="http://schemas.microsoft.com/office/drawing/2014/main" id="{D373C461-39C7-4606-BCC4-70DADCEF46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="" xmlns:a16="http://schemas.microsoft.com/office/drawing/2014/main" id="{44A7E9BB-AA6D-4D97-B1A7-18F2CD1C65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="" xmlns:a16="http://schemas.microsoft.com/office/drawing/2014/main" id="{11DD3EA0-896E-47E3-A1C0-707ECCCE9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A5E8A-C486-4894-8349-73C1CA8437D8}" type="datetime1">
              <a:rPr lang="hu-HU" smtClean="0"/>
              <a:t>2023. 08. 29.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="" xmlns:a16="http://schemas.microsoft.com/office/drawing/2014/main" id="{FC1DE335-3672-4078-9D66-234233146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="" xmlns:a16="http://schemas.microsoft.com/office/drawing/2014/main" id="{0FDC640C-F1ED-46D8-AB88-A36984A7B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72912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="" xmlns:a16="http://schemas.microsoft.com/office/drawing/2014/main" id="{79ED9102-32AA-4BE9-BDE5-05201ADDA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="" xmlns:a16="http://schemas.microsoft.com/office/drawing/2014/main" id="{463EEA34-9557-4D56-831A-83912F399A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="" xmlns:a16="http://schemas.microsoft.com/office/drawing/2014/main" id="{AC69EE77-6CC9-4CC9-8D75-64722839DE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2D1FF1-846C-4DD0-B4AC-8156EDF0B994}" type="datetime1">
              <a:rPr lang="hu-HU" smtClean="0"/>
              <a:t>2023. 08. 29.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="" xmlns:a16="http://schemas.microsoft.com/office/drawing/2014/main" id="{699550F0-C374-4C65-91D6-8BCFE575C3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="" xmlns:a16="http://schemas.microsoft.com/office/drawing/2014/main" id="{2606282D-346B-422A-A731-68523C74F4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06C4D8-32F2-4A19-B0E3-4323A7BEC64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825163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he building of legend: Henry Ford's Piquette Avenue Plant">
            <a:extLst>
              <a:ext uri="{FF2B5EF4-FFF2-40B4-BE49-F238E27FC236}">
                <a16:creationId xmlns="" xmlns:a16="http://schemas.microsoft.com/office/drawing/2014/main" id="{2158B649-3DC4-4F2F-B4C3-29A47490EC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1157" y="-979743"/>
            <a:ext cx="12627225" cy="8812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églalap 9">
            <a:extLst>
              <a:ext uri="{FF2B5EF4-FFF2-40B4-BE49-F238E27FC236}">
                <a16:creationId xmlns="" xmlns:a16="http://schemas.microsoft.com/office/drawing/2014/main" id="{B71DD668-A5C7-4E1D-B55A-AF9BA972D50B}"/>
              </a:ext>
            </a:extLst>
          </p:cNvPr>
          <p:cNvSpPr/>
          <p:nvPr/>
        </p:nvSpPr>
        <p:spPr>
          <a:xfrm>
            <a:off x="-71862" y="93299"/>
            <a:ext cx="11161552" cy="12634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Cím 1">
            <a:extLst>
              <a:ext uri="{FF2B5EF4-FFF2-40B4-BE49-F238E27FC236}">
                <a16:creationId xmlns="" xmlns:a16="http://schemas.microsoft.com/office/drawing/2014/main" id="{3C939434-E251-4120-898C-686C77FB2B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96313" y="589969"/>
            <a:ext cx="10795686" cy="715684"/>
          </a:xfrm>
          <a:noFill/>
          <a:ln w="28575">
            <a:noFill/>
          </a:ln>
        </p:spPr>
        <p:txBody>
          <a:bodyPr anchor="ctr">
            <a:normAutofit fontScale="90000"/>
          </a:bodyPr>
          <a:lstStyle/>
          <a:p>
            <a:pPr algn="l"/>
            <a:r>
              <a:rPr lang="hu-HU" b="1" dirty="0">
                <a:latin typeface="+mn-lt"/>
              </a:rPr>
              <a:t>Menedzsment iskolák</a:t>
            </a:r>
          </a:p>
        </p:txBody>
      </p:sp>
      <p:sp>
        <p:nvSpPr>
          <p:cNvPr id="3" name="Alcím 2">
            <a:extLst>
              <a:ext uri="{FF2B5EF4-FFF2-40B4-BE49-F238E27FC236}">
                <a16:creationId xmlns="" xmlns:a16="http://schemas.microsoft.com/office/drawing/2014/main" id="{13CA3651-BAD3-4EDE-AFD0-D069005249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82973" y="84481"/>
            <a:ext cx="2930666" cy="632211"/>
          </a:xfrm>
          <a:noFill/>
          <a:ln w="28575">
            <a:noFill/>
          </a:ln>
        </p:spPr>
        <p:txBody>
          <a:bodyPr anchor="ctr">
            <a:normAutofit/>
          </a:bodyPr>
          <a:lstStyle/>
          <a:p>
            <a:pPr algn="l"/>
            <a:r>
              <a:rPr lang="hu-HU" b="1" dirty="0"/>
              <a:t>Menedzsment alapjai</a:t>
            </a:r>
          </a:p>
        </p:txBody>
      </p:sp>
      <p:sp>
        <p:nvSpPr>
          <p:cNvPr id="4" name="Téglalap 3">
            <a:extLst>
              <a:ext uri="{FF2B5EF4-FFF2-40B4-BE49-F238E27FC236}">
                <a16:creationId xmlns="" xmlns:a16="http://schemas.microsoft.com/office/drawing/2014/main" id="{C6A4C454-9DBE-4802-9EF2-C1214C1FEE2B}"/>
              </a:ext>
            </a:extLst>
          </p:cNvPr>
          <p:cNvSpPr/>
          <p:nvPr/>
        </p:nvSpPr>
        <p:spPr>
          <a:xfrm>
            <a:off x="0" y="84481"/>
            <a:ext cx="1382973" cy="1263413"/>
          </a:xfrm>
          <a:prstGeom prst="rect">
            <a:avLst/>
          </a:prstGeom>
          <a:solidFill>
            <a:srgbClr val="1B1F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" name="Szövegdoboz 4">
            <a:extLst>
              <a:ext uri="{FF2B5EF4-FFF2-40B4-BE49-F238E27FC236}">
                <a16:creationId xmlns="" xmlns:a16="http://schemas.microsoft.com/office/drawing/2014/main" id="{D4FF0E0E-6C7A-4088-A4A3-FE1C79555183}"/>
              </a:ext>
            </a:extLst>
          </p:cNvPr>
          <p:cNvSpPr txBox="1"/>
          <p:nvPr/>
        </p:nvSpPr>
        <p:spPr>
          <a:xfrm>
            <a:off x="219891" y="348858"/>
            <a:ext cx="125116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6000" b="1" dirty="0" smtClean="0">
                <a:solidFill>
                  <a:schemeClr val="bg1"/>
                </a:solidFill>
              </a:rPr>
              <a:t>2.</a:t>
            </a:r>
            <a:endParaRPr lang="hu-HU" sz="6000" b="1" dirty="0">
              <a:solidFill>
                <a:schemeClr val="bg1"/>
              </a:solidFill>
            </a:endParaRP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9776" y="314915"/>
            <a:ext cx="1305107" cy="990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14027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="" xmlns:a16="http://schemas.microsoft.com/office/drawing/2014/main" id="{4089B0F0-FEAD-4C0A-861B-8E9AC629E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Fontossága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="" xmlns:a16="http://schemas.microsoft.com/office/drawing/2014/main" id="{2CB725CF-76DA-4E45-AA11-392765DD7C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1" y="1457325"/>
            <a:ext cx="11861346" cy="5264148"/>
          </a:xfrm>
        </p:spPr>
        <p:txBody>
          <a:bodyPr/>
          <a:lstStyle/>
          <a:p>
            <a:pPr marL="0" indent="0">
              <a:buNone/>
            </a:pPr>
            <a:r>
              <a:rPr lang="hu-HU" dirty="0"/>
              <a:t>Az 1900-as évektől kezdve számtalan kutatás irányul a menedzsment és annak egyre szélesebb körű területeinek vizsgálatára és elemzésére</a:t>
            </a:r>
          </a:p>
          <a:p>
            <a:pPr lvl="1"/>
            <a:r>
              <a:rPr lang="hu-HU" dirty="0"/>
              <a:t>A 20. században számos olyan menedzsment elveket képviselő mű </a:t>
            </a:r>
            <a:r>
              <a:rPr lang="hu-HU" dirty="0" smtClean="0"/>
              <a:t>született, </a:t>
            </a:r>
            <a:r>
              <a:rPr lang="hu-HU" dirty="0"/>
              <a:t>amelyeknek az alapjait még ma is használjuk a menedzselési, tervezési és vezetési folyamatokban</a:t>
            </a:r>
          </a:p>
          <a:p>
            <a:pPr lvl="1"/>
            <a:r>
              <a:rPr lang="hu-HU" dirty="0"/>
              <a:t>Éppen ezért a menedzsment történetének és a mai modern elveket megelőző elméletek megismerésére egyértelműen érdemes időt szánni</a:t>
            </a:r>
          </a:p>
          <a:p>
            <a:pPr marL="0" indent="0">
              <a:buNone/>
            </a:pPr>
            <a:endParaRPr lang="hu-HU" dirty="0" smtClean="0"/>
          </a:p>
          <a:p>
            <a:pPr marL="0" indent="0">
              <a:buNone/>
            </a:pPr>
            <a:r>
              <a:rPr lang="hu-HU" dirty="0" smtClean="0"/>
              <a:t>A történelemi fejlődés nyomonkövetésével lehetőség </a:t>
            </a:r>
            <a:r>
              <a:rPr lang="hu-HU" dirty="0"/>
              <a:t>nyílik </a:t>
            </a:r>
            <a:r>
              <a:rPr lang="hu-HU" dirty="0" smtClean="0"/>
              <a:t>megszemlélni</a:t>
            </a:r>
            <a:endParaRPr lang="hu-HU" dirty="0"/>
          </a:p>
          <a:p>
            <a:pPr lvl="1"/>
            <a:r>
              <a:rPr lang="hu-HU" dirty="0" smtClean="0"/>
              <a:t>a munkamegosztás </a:t>
            </a:r>
            <a:r>
              <a:rPr lang="hu-HU" dirty="0"/>
              <a:t>és hatáskör megosztás megjelenésének </a:t>
            </a:r>
            <a:r>
              <a:rPr lang="hu-HU" dirty="0" smtClean="0"/>
              <a:t>fontosságát,</a:t>
            </a:r>
            <a:endParaRPr lang="hu-HU" dirty="0"/>
          </a:p>
          <a:p>
            <a:pPr lvl="1"/>
            <a:r>
              <a:rPr lang="hu-HU" dirty="0"/>
              <a:t>a</a:t>
            </a:r>
            <a:r>
              <a:rPr lang="hu-HU" dirty="0" smtClean="0"/>
              <a:t> menedzsment, </a:t>
            </a:r>
            <a:r>
              <a:rPr lang="hu-HU" dirty="0"/>
              <a:t>mint funkció </a:t>
            </a:r>
            <a:r>
              <a:rPr lang="hu-HU" dirty="0" smtClean="0"/>
              <a:t>megjelenését,</a:t>
            </a:r>
            <a:endParaRPr lang="hu-HU" dirty="0"/>
          </a:p>
          <a:p>
            <a:pPr lvl="1"/>
            <a:r>
              <a:rPr lang="hu-HU" dirty="0" smtClean="0"/>
              <a:t>az </a:t>
            </a:r>
            <a:r>
              <a:rPr lang="hu-HU" dirty="0"/>
              <a:t>ember gépként való kezelését, majd egyre inkább a dolgozói jólét irányába elmozduló </a:t>
            </a:r>
            <a:r>
              <a:rPr lang="hu-HU" dirty="0" smtClean="0"/>
              <a:t>elveket.</a:t>
            </a:r>
            <a:endParaRPr lang="hu-HU" dirty="0"/>
          </a:p>
          <a:p>
            <a:pPr lvl="1"/>
            <a:r>
              <a:rPr lang="hu-HU" dirty="0" smtClean="0"/>
              <a:t>a </a:t>
            </a:r>
            <a:r>
              <a:rPr lang="hu-HU" dirty="0"/>
              <a:t>döntéshozás és a menedzsment szerteágazó területeinek </a:t>
            </a:r>
            <a:r>
              <a:rPr lang="hu-HU" dirty="0" smtClean="0"/>
              <a:t>fejlődését.</a:t>
            </a:r>
            <a:endParaRPr lang="hu-HU" dirty="0"/>
          </a:p>
          <a:p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="" xmlns:a16="http://schemas.microsoft.com/office/drawing/2014/main" id="{C41DEF00-0517-45C0-A052-A80E7C3A1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2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="" xmlns:a16="http://schemas.microsoft.com/office/drawing/2014/main" id="{49BED690-FC48-4FCE-8A77-16BFCEDF2B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Menedzsment iskolák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7424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="" xmlns:a16="http://schemas.microsoft.com/office/drawing/2014/main" id="{4089B0F0-FEAD-4C0A-861B-8E9AC629E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Elméletek kialakulása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="" xmlns:a16="http://schemas.microsoft.com/office/drawing/2014/main" id="{2CB725CF-76DA-4E45-AA11-392765DD7C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7261" y="1457325"/>
            <a:ext cx="10710155" cy="5264148"/>
          </a:xfrm>
        </p:spPr>
        <p:txBody>
          <a:bodyPr>
            <a:noAutofit/>
          </a:bodyPr>
          <a:lstStyle/>
          <a:p>
            <a:pPr marL="0" indent="0" algn="just">
              <a:spcBef>
                <a:spcPts val="500"/>
              </a:spcBef>
              <a:buNone/>
            </a:pPr>
            <a:r>
              <a:rPr lang="hu-HU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Klasszikus </a:t>
            </a:r>
            <a:r>
              <a:rPr lang="hu-HU" b="1" dirty="0" err="1" smtClean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leadership</a:t>
            </a:r>
            <a:r>
              <a:rPr lang="hu-HU" b="1" dirty="0" smtClean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hu-HU" sz="2000" dirty="0" smtClean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(személyes vezetés) </a:t>
            </a:r>
            <a:r>
              <a:rPr lang="hu-HU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felfogás</a:t>
            </a:r>
          </a:p>
          <a:p>
            <a:pPr lvl="1" algn="just"/>
            <a:r>
              <a:rPr lang="hu-HU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Vezetői tulajdonságokon alapuló </a:t>
            </a:r>
            <a:r>
              <a:rPr lang="hu-HU" dirty="0" smtClean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közelítések</a:t>
            </a:r>
          </a:p>
          <a:p>
            <a:pPr marL="457200" lvl="1" indent="0" algn="just">
              <a:buNone/>
            </a:pPr>
            <a:endParaRPr lang="hu-HU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spcBef>
                <a:spcPts val="500"/>
              </a:spcBef>
              <a:buNone/>
            </a:pPr>
            <a:r>
              <a:rPr lang="hu-HU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Vezetői magatartás vizsgálata</a:t>
            </a:r>
          </a:p>
          <a:p>
            <a:pPr lvl="1" algn="just"/>
            <a:r>
              <a:rPr lang="hu-HU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Döntésközpontú elméletek</a:t>
            </a:r>
          </a:p>
          <a:p>
            <a:pPr lvl="1" algn="just"/>
            <a:r>
              <a:rPr lang="hu-HU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Személyiségközpontú elméletek</a:t>
            </a:r>
          </a:p>
          <a:p>
            <a:pPr lvl="1" algn="just"/>
            <a:r>
              <a:rPr lang="hu-HU" dirty="0" smtClean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Kontingencia elméletek</a:t>
            </a:r>
          </a:p>
          <a:p>
            <a:pPr marL="457200" lvl="1" indent="0" algn="just">
              <a:buNone/>
            </a:pPr>
            <a:endParaRPr lang="hu-HU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spcBef>
                <a:spcPts val="500"/>
              </a:spcBef>
              <a:buNone/>
            </a:pPr>
            <a:r>
              <a:rPr lang="hu-HU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Napjaink </a:t>
            </a:r>
            <a:r>
              <a:rPr lang="hu-HU" b="1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leadership</a:t>
            </a:r>
            <a:r>
              <a:rPr lang="hu-HU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elméletei</a:t>
            </a:r>
          </a:p>
          <a:p>
            <a:pPr lvl="1" algn="just"/>
            <a:r>
              <a:rPr lang="hu-HU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Üzletkötő-átalakító vezetés</a:t>
            </a:r>
          </a:p>
          <a:p>
            <a:pPr lvl="1" algn="just"/>
            <a:r>
              <a:rPr lang="hu-HU" dirty="0" smtClean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John </a:t>
            </a:r>
            <a:r>
              <a:rPr lang="hu-HU" dirty="0" err="1" smtClean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Kotter</a:t>
            </a:r>
            <a:r>
              <a:rPr lang="hu-HU" dirty="0" smtClean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hu-HU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menedzser-leader szerepek</a:t>
            </a:r>
          </a:p>
          <a:p>
            <a:pPr lvl="1" algn="just">
              <a:spcAft>
                <a:spcPts val="800"/>
              </a:spcAft>
            </a:pPr>
            <a:r>
              <a:rPr lang="hu-HU" dirty="0" smtClean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Henry </a:t>
            </a:r>
            <a:r>
              <a:rPr lang="hu-HU" dirty="0" err="1" smtClean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Mintzberg</a:t>
            </a:r>
            <a:r>
              <a:rPr lang="hu-HU" dirty="0" smtClean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hu-HU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vezetői szerepek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="" xmlns:a16="http://schemas.microsoft.com/office/drawing/2014/main" id="{C41DEF00-0517-45C0-A052-A80E7C3A1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3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="" xmlns:a16="http://schemas.microsoft.com/office/drawing/2014/main" id="{49BED690-FC48-4FCE-8A77-16BFCEDF2B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Menedzsment iskolák</a:t>
            </a:r>
          </a:p>
        </p:txBody>
      </p:sp>
      <p:pic>
        <p:nvPicPr>
          <p:cNvPr id="7" name="Kép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11613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="" xmlns:a16="http://schemas.microsoft.com/office/drawing/2014/main" id="{4089B0F0-FEAD-4C0A-861B-8E9AC629E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Elméletek kialakulása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="" xmlns:a16="http://schemas.microsoft.com/office/drawing/2014/main" id="{C41DEF00-0517-45C0-A052-A80E7C3A1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4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="" xmlns:a16="http://schemas.microsoft.com/office/drawing/2014/main" id="{49BED690-FC48-4FCE-8A77-16BFCEDF2B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Menedzsment iskolák</a:t>
            </a:r>
          </a:p>
        </p:txBody>
      </p:sp>
      <p:pic>
        <p:nvPicPr>
          <p:cNvPr id="6" name="Kép 5" descr="alap2">
            <a:extLst>
              <a:ext uri="{FF2B5EF4-FFF2-40B4-BE49-F238E27FC236}">
                <a16:creationId xmlns="" xmlns:a16="http://schemas.microsoft.com/office/drawing/2014/main" id="{BCDA40B9-1D5F-42CF-8C27-B4AC37B00700}"/>
              </a:ext>
            </a:extLst>
          </p:cNvPr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 rot="16200000">
            <a:off x="3359879" y="-468995"/>
            <a:ext cx="5201451" cy="90302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Kép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0551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="" xmlns:a16="http://schemas.microsoft.com/office/drawing/2014/main" id="{4089B0F0-FEAD-4C0A-861B-8E9AC629E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Elméletek kialakulása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="" xmlns:a16="http://schemas.microsoft.com/office/drawing/2014/main" id="{2CB725CF-76DA-4E45-AA11-392765DD7C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1" y="1457325"/>
            <a:ext cx="11861346" cy="5264148"/>
          </a:xfrm>
        </p:spPr>
        <p:txBody>
          <a:bodyPr>
            <a:noAutofit/>
          </a:bodyPr>
          <a:lstStyle/>
          <a:p>
            <a:pPr marL="0" indent="0" algn="just">
              <a:spcBef>
                <a:spcPts val="500"/>
              </a:spcBef>
              <a:buNone/>
            </a:pPr>
            <a:r>
              <a:rPr lang="hu-HU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Klasszikus korszak (Tudományos menedzsment)</a:t>
            </a:r>
          </a:p>
          <a:p>
            <a:pPr lvl="1" algn="just"/>
            <a:r>
              <a:rPr lang="hu-HU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F. W. Taylor</a:t>
            </a:r>
          </a:p>
          <a:p>
            <a:pPr lvl="1" algn="just"/>
            <a:r>
              <a:rPr lang="hu-HU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H. </a:t>
            </a:r>
            <a:r>
              <a:rPr lang="hu-HU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Fayol</a:t>
            </a:r>
            <a:endParaRPr lang="hu-HU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 algn="just"/>
            <a:r>
              <a:rPr lang="hu-HU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M. Weber</a:t>
            </a:r>
          </a:p>
          <a:p>
            <a:pPr lvl="1" algn="just"/>
            <a:r>
              <a:rPr lang="hu-HU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H. Ford</a:t>
            </a:r>
          </a:p>
          <a:p>
            <a:pPr marL="0" indent="0" algn="just">
              <a:spcBef>
                <a:spcPts val="500"/>
              </a:spcBef>
              <a:buNone/>
            </a:pPr>
            <a:r>
              <a:rPr lang="hu-HU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Emberközpontú irányzatok korszaka</a:t>
            </a:r>
          </a:p>
          <a:p>
            <a:pPr lvl="1" algn="just"/>
            <a:r>
              <a:rPr lang="hu-HU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E. </a:t>
            </a:r>
            <a:r>
              <a:rPr lang="hu-HU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Mayo</a:t>
            </a:r>
            <a:endParaRPr lang="hu-HU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 algn="just"/>
            <a:r>
              <a:rPr lang="hu-HU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D. Mc. Gregor</a:t>
            </a:r>
          </a:p>
          <a:p>
            <a:pPr lvl="1" algn="just"/>
            <a:r>
              <a:rPr lang="hu-HU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S. Freud, K. </a:t>
            </a:r>
            <a:r>
              <a:rPr lang="hu-HU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Lewin</a:t>
            </a:r>
            <a:r>
              <a:rPr lang="hu-HU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C. </a:t>
            </a:r>
            <a:r>
              <a:rPr lang="hu-HU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Barnard</a:t>
            </a:r>
            <a:r>
              <a:rPr lang="hu-HU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H. Simon</a:t>
            </a:r>
          </a:p>
          <a:p>
            <a:pPr marL="0" indent="0" algn="just">
              <a:spcBef>
                <a:spcPts val="500"/>
              </a:spcBef>
              <a:buNone/>
            </a:pPr>
            <a:r>
              <a:rPr lang="hu-HU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Integrációs szemléletű irányzatok</a:t>
            </a:r>
          </a:p>
          <a:p>
            <a:pPr lvl="1" algn="just"/>
            <a:r>
              <a:rPr lang="hu-HU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Rendszerelmélet </a:t>
            </a:r>
          </a:p>
          <a:p>
            <a:pPr lvl="1" algn="just"/>
            <a:r>
              <a:rPr lang="hu-HU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Tranzakciós költségelmélet </a:t>
            </a:r>
          </a:p>
          <a:p>
            <a:pPr lvl="1" algn="just"/>
            <a:r>
              <a:rPr lang="hu-HU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Kontingencia vagy szituáció elmélet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="" xmlns:a16="http://schemas.microsoft.com/office/drawing/2014/main" id="{C41DEF00-0517-45C0-A052-A80E7C3A1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5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="" xmlns:a16="http://schemas.microsoft.com/office/drawing/2014/main" id="{49BED690-FC48-4FCE-8A77-16BFCEDF2B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Menedzsment iskolák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33261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="" xmlns:a16="http://schemas.microsoft.com/office/drawing/2014/main" id="{CB505F43-3D91-412E-9722-5437382E2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/>
              <a:t>Frederick </a:t>
            </a:r>
            <a:r>
              <a:rPr lang="hu-HU" dirty="0" err="1"/>
              <a:t>Winslow</a:t>
            </a:r>
            <a:r>
              <a:rPr lang="hu-HU" dirty="0"/>
              <a:t> Taylor (1856 – 1915)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="" xmlns:a16="http://schemas.microsoft.com/office/drawing/2014/main" id="{271F1DE5-BF43-4C0B-A4A4-BEB34C77F4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hu-HU" b="1" dirty="0"/>
              <a:t>Taylorizmus, 1911-ben kiadott, Tudományos irányítás alapelvei</a:t>
            </a:r>
          </a:p>
          <a:p>
            <a:pPr lvl="1"/>
            <a:r>
              <a:rPr lang="hu-HU" dirty="0"/>
              <a:t>A munka minden elemét pontosan meg kell tervezni</a:t>
            </a:r>
          </a:p>
          <a:p>
            <a:pPr lvl="1"/>
            <a:r>
              <a:rPr lang="hu-HU" dirty="0"/>
              <a:t>A dolgozókat tudományosan kell kiválasztani, betanítani, fejleszteni</a:t>
            </a:r>
          </a:p>
          <a:p>
            <a:pPr lvl="1"/>
            <a:r>
              <a:rPr lang="hu-HU" dirty="0"/>
              <a:t>A menedzserek felügyeljék a tervezett munkafolyamatok megvalósítását</a:t>
            </a:r>
          </a:p>
          <a:p>
            <a:pPr lvl="1"/>
            <a:r>
              <a:rPr lang="hu-HU" dirty="0"/>
              <a:t>Munka és felelősség megosztás a menedzserek és a munkások között</a:t>
            </a:r>
          </a:p>
          <a:p>
            <a:pPr lvl="1"/>
            <a:r>
              <a:rPr lang="hu-HU" dirty="0"/>
              <a:t>A munkaerő lehető leghatékonyabb felhasználása</a:t>
            </a:r>
          </a:p>
          <a:p>
            <a:pPr lvl="1"/>
            <a:r>
              <a:rPr lang="hu-HU" dirty="0"/>
              <a:t>Munkamegosztás bevezetése, munkakörök kialakítása</a:t>
            </a:r>
          </a:p>
          <a:p>
            <a:pPr lvl="1"/>
            <a:r>
              <a:rPr lang="hu-HU" dirty="0"/>
              <a:t>Pihenőidők bevezetése – kifáradásmentes munkavégzés</a:t>
            </a:r>
          </a:p>
          <a:p>
            <a:pPr lvl="1"/>
            <a:r>
              <a:rPr lang="hu-HU" dirty="0"/>
              <a:t>Egyéni ambíciók táplálása</a:t>
            </a:r>
          </a:p>
          <a:p>
            <a:pPr lvl="1"/>
            <a:r>
              <a:rPr lang="hu-HU" dirty="0"/>
              <a:t>Darabbéres fizetési rendszer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="" xmlns:a16="http://schemas.microsoft.com/office/drawing/2014/main" id="{7ADB85DE-5D70-4A1B-9F2F-2707FFEC9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6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="" xmlns:a16="http://schemas.microsoft.com/office/drawing/2014/main" id="{BD92B2EB-B62B-48F3-B55A-A30661629A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Klasszikus menedzsment iskolák</a:t>
            </a:r>
          </a:p>
        </p:txBody>
      </p:sp>
      <p:pic>
        <p:nvPicPr>
          <p:cNvPr id="2050" name="Picture 2" descr="Frederick Winslow Taylor – Wikipédia">
            <a:extLst>
              <a:ext uri="{FF2B5EF4-FFF2-40B4-BE49-F238E27FC236}">
                <a16:creationId xmlns="" xmlns:a16="http://schemas.microsoft.com/office/drawing/2014/main" id="{D1907367-69AE-4010-AFE2-8DB8553068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86834" y="1136543"/>
            <a:ext cx="1910583" cy="3844302"/>
          </a:xfrm>
          <a:prstGeom prst="rect">
            <a:avLst/>
          </a:prstGeom>
          <a:noFill/>
          <a:ln w="28575">
            <a:solidFill>
              <a:srgbClr val="1B1F2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Kép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47703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="" xmlns:a16="http://schemas.microsoft.com/office/drawing/2014/main" id="{CB505F43-3D91-412E-9722-5437382E2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/>
              <a:t>Frederick </a:t>
            </a:r>
            <a:r>
              <a:rPr lang="hu-HU" dirty="0" err="1"/>
              <a:t>Winslow</a:t>
            </a:r>
            <a:r>
              <a:rPr lang="hu-HU" dirty="0"/>
              <a:t> Taylor (1856 – 1915)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="" xmlns:a16="http://schemas.microsoft.com/office/drawing/2014/main" id="{271F1DE5-BF43-4C0B-A4A4-BEB34C77F4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0" y="1457324"/>
            <a:ext cx="11510283" cy="544107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hu-HU" b="1" dirty="0"/>
              <a:t>Taylorizmus, 1911-ben kiadott, Tudományos irányítás alapelvei</a:t>
            </a:r>
          </a:p>
          <a:p>
            <a:pPr lvl="1"/>
            <a:r>
              <a:rPr lang="hu-HU" dirty="0"/>
              <a:t>A norma feletti teljesítés ösztönzése bértöbblettel, egyéni teljesítmény alapján differenciált anyagi ösztönzés</a:t>
            </a:r>
          </a:p>
          <a:p>
            <a:pPr lvl="1"/>
            <a:r>
              <a:rPr lang="hu-HU" dirty="0"/>
              <a:t>Eredmény: magasabb mennyiségi teljesítmény, magasabb szintű munkamorál</a:t>
            </a:r>
          </a:p>
          <a:p>
            <a:pPr lvl="1"/>
            <a:r>
              <a:rPr lang="hu-HU" dirty="0"/>
              <a:t>Az ember érzelmektől mentes, pénzért dolgozik, pénz = munkateljesítmény</a:t>
            </a:r>
          </a:p>
          <a:p>
            <a:pPr lvl="1"/>
            <a:r>
              <a:rPr lang="hu-HU" dirty="0"/>
              <a:t>Személytelen mechanizmus, az ember is a gép tartozéka</a:t>
            </a:r>
          </a:p>
          <a:p>
            <a:pPr lvl="1"/>
            <a:r>
              <a:rPr lang="hu-HU" dirty="0"/>
              <a:t>A vállalat zárt rendszer, annak környezetét figyelmen kívül hagyja</a:t>
            </a:r>
          </a:p>
          <a:p>
            <a:pPr lvl="1"/>
            <a:r>
              <a:rPr lang="hu-HU" b="1" dirty="0"/>
              <a:t>Módszerek: </a:t>
            </a:r>
            <a:r>
              <a:rPr lang="hu-HU" b="1" dirty="0" smtClean="0"/>
              <a:t>munkamegosztás</a:t>
            </a:r>
            <a:r>
              <a:rPr lang="hu-HU" b="1" dirty="0"/>
              <a:t>, egységesítés, szabványosítás, funkcionális </a:t>
            </a:r>
            <a:r>
              <a:rPr lang="hu-HU" b="1" dirty="0" smtClean="0"/>
              <a:t>irányítás</a:t>
            </a:r>
          </a:p>
          <a:p>
            <a:pPr marL="457200" lvl="1" indent="0">
              <a:buNone/>
            </a:pPr>
            <a:endParaRPr lang="hu-HU" b="1" dirty="0"/>
          </a:p>
          <a:p>
            <a:pPr marL="0" indent="0">
              <a:buNone/>
            </a:pPr>
            <a:r>
              <a:rPr lang="hu-HU" b="1" dirty="0"/>
              <a:t>Taylor munkásságát számos menedzsment terület azóta is az alapjainak tekinti</a:t>
            </a:r>
          </a:p>
          <a:p>
            <a:pPr lvl="1"/>
            <a:r>
              <a:rPr lang="hu-HU" b="1" dirty="0"/>
              <a:t>Projektmenedzsment</a:t>
            </a:r>
            <a:r>
              <a:rPr lang="hu-HU" dirty="0"/>
              <a:t> – Menedzseri szerepkör pontos meghatározása, Idő és erőforrás igények tervezése</a:t>
            </a:r>
          </a:p>
          <a:p>
            <a:pPr lvl="1"/>
            <a:r>
              <a:rPr lang="hu-HU" b="1" dirty="0"/>
              <a:t>Minőségmenedzsment</a:t>
            </a:r>
            <a:r>
              <a:rPr lang="hu-HU" dirty="0"/>
              <a:t> – Minőség ellenőrzés, az előállított termék minőségének ellenőrzése azóta is a minőségmenedzsment legalapvetőbb lépése</a:t>
            </a:r>
          </a:p>
          <a:p>
            <a:pPr lvl="1"/>
            <a:r>
              <a:rPr lang="hu-HU" b="1" dirty="0"/>
              <a:t>Termelésmenedzsment </a:t>
            </a:r>
            <a:r>
              <a:rPr lang="hu-HU" dirty="0"/>
              <a:t>– Kapacitás és erőforrás tervezés, a termelés optimalizálása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="" xmlns:a16="http://schemas.microsoft.com/office/drawing/2014/main" id="{7ADB85DE-5D70-4A1B-9F2F-2707FFEC9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7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="" xmlns:a16="http://schemas.microsoft.com/office/drawing/2014/main" id="{BD92B2EB-B62B-48F3-B55A-A30661629A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Klasszikus menedzsment iskolák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5511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="" xmlns:a16="http://schemas.microsoft.com/office/drawing/2014/main" id="{CB505F43-3D91-412E-9722-5437382E2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 smtClean="0"/>
              <a:t>A </a:t>
            </a:r>
            <a:r>
              <a:rPr lang="hu-HU" dirty="0" err="1" smtClean="0"/>
              <a:t>taylorizmus</a:t>
            </a:r>
            <a:r>
              <a:rPr lang="hu-HU" dirty="0" smtClean="0"/>
              <a:t> kritikája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="" xmlns:a16="http://schemas.microsoft.com/office/drawing/2014/main" id="{271F1DE5-BF43-4C0B-A4A4-BEB34C77F4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0" y="1457324"/>
            <a:ext cx="11510283" cy="544107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hu-HU" dirty="0"/>
              <a:t>Eredetileg a </a:t>
            </a:r>
            <a:r>
              <a:rPr lang="hu-HU" dirty="0" err="1" smtClean="0"/>
              <a:t>taylorizmus</a:t>
            </a:r>
            <a:r>
              <a:rPr lang="hu-HU" dirty="0" smtClean="0"/>
              <a:t> </a:t>
            </a:r>
            <a:r>
              <a:rPr lang="hu-HU" dirty="0"/>
              <a:t>gondosan kidolgozott üzleti alapfolyamatokra épült és hasonlóan ellenőrzött szolgáltatási rendszert használt. Az így kialakult rangsoros irányítás központja a szervezetben lévő emberek igényeit az üzleti célokkal szemben másodlagosnak tekintette</a:t>
            </a:r>
          </a:p>
          <a:p>
            <a:pPr marL="0" indent="0">
              <a:buNone/>
            </a:pPr>
            <a:r>
              <a:rPr lang="hu-HU" b="1" dirty="0"/>
              <a:t>A modern vállalatok azonban már általában új igényeket támasztanak, amely aspektusok Taylor munkájából még hiányoznak</a:t>
            </a:r>
            <a:r>
              <a:rPr lang="hu-HU" b="1" dirty="0" smtClean="0"/>
              <a:t>.</a:t>
            </a:r>
          </a:p>
          <a:p>
            <a:pPr marL="0" indent="0">
              <a:buNone/>
            </a:pPr>
            <a:endParaRPr lang="hu-HU" dirty="0"/>
          </a:p>
          <a:p>
            <a:pPr marL="0" indent="0">
              <a:buNone/>
            </a:pPr>
            <a:r>
              <a:rPr lang="hu-HU" b="1" dirty="0"/>
              <a:t>Az új szervezetek jellegzetességei a következők</a:t>
            </a:r>
          </a:p>
          <a:p>
            <a:pPr lvl="1"/>
            <a:r>
              <a:rPr lang="hu-HU" dirty="0"/>
              <a:t>Mozgékonyság</a:t>
            </a:r>
          </a:p>
          <a:p>
            <a:pPr lvl="1"/>
            <a:r>
              <a:rPr lang="hu-HU" dirty="0" err="1" smtClean="0"/>
              <a:t>Horizontalitás</a:t>
            </a:r>
            <a:r>
              <a:rPr lang="hu-HU" dirty="0" smtClean="0"/>
              <a:t> / </a:t>
            </a:r>
            <a:r>
              <a:rPr lang="hu-HU" dirty="0"/>
              <a:t>sík vezetési szerkezet</a:t>
            </a:r>
          </a:p>
          <a:p>
            <a:pPr lvl="1"/>
            <a:r>
              <a:rPr lang="hu-HU" dirty="0"/>
              <a:t>Rugalmasság és gyorsaság</a:t>
            </a:r>
          </a:p>
          <a:p>
            <a:pPr lvl="1"/>
            <a:r>
              <a:rPr lang="hu-HU" dirty="0"/>
              <a:t>Vevőközpontúság</a:t>
            </a:r>
          </a:p>
          <a:p>
            <a:pPr lvl="1"/>
            <a:r>
              <a:rPr lang="hu-HU" dirty="0"/>
              <a:t>Nemzetköziség</a:t>
            </a:r>
          </a:p>
          <a:p>
            <a:pPr lvl="1"/>
            <a:r>
              <a:rPr lang="hu-HU" dirty="0"/>
              <a:t>Bizonytalan környezet és működés (a megosztottságból kifolyólag)</a:t>
            </a:r>
          </a:p>
          <a:p>
            <a:pPr lvl="1"/>
            <a:r>
              <a:rPr lang="hu-HU" dirty="0"/>
              <a:t>A változásokhoz végtelenül alkalmazkodni képes</a:t>
            </a:r>
          </a:p>
          <a:p>
            <a:pPr lvl="1"/>
            <a:r>
              <a:rPr lang="hu-HU" dirty="0"/>
              <a:t>Csoportalapú vezetés (központi helyett)</a:t>
            </a:r>
          </a:p>
          <a:p>
            <a:pPr lvl="1"/>
            <a:r>
              <a:rPr lang="hu-HU" dirty="0"/>
              <a:t>Kapcsolattartás (kapcsolat-hálózatokon keresztül)</a:t>
            </a:r>
          </a:p>
          <a:p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="" xmlns:a16="http://schemas.microsoft.com/office/drawing/2014/main" id="{7ADB85DE-5D70-4A1B-9F2F-2707FFEC9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8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="" xmlns:a16="http://schemas.microsoft.com/office/drawing/2014/main" id="{BD92B2EB-B62B-48F3-B55A-A30661629A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Klasszikus menedzsment iskolák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52417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="" xmlns:a16="http://schemas.microsoft.com/office/drawing/2014/main" id="{CB505F43-3D91-412E-9722-5437382E2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/>
              <a:t>Henry </a:t>
            </a:r>
            <a:r>
              <a:rPr lang="hu-HU" dirty="0" err="1"/>
              <a:t>Fayol</a:t>
            </a:r>
            <a:r>
              <a:rPr lang="hu-HU" dirty="0"/>
              <a:t> (1841 – 1925)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="" xmlns:a16="http://schemas.microsoft.com/office/drawing/2014/main" id="{271F1DE5-BF43-4C0B-A4A4-BEB34C77F4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0" y="1457324"/>
            <a:ext cx="11510283" cy="544107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dirty="0"/>
              <a:t>A klasszikus szervezetelmélet megalapozója. Menedzsment elvek megfogalmazója, elsőként fogalmazta meg a menedzseri funkciókat amelyeket máig használunk. A vállalatok igazgatási tevékenységének elemzése, tervezés, szervezés, közvetlen irányítás, koordinálás és </a:t>
            </a:r>
            <a:r>
              <a:rPr lang="hu-HU" dirty="0" smtClean="0"/>
              <a:t>ellenőrzés</a:t>
            </a:r>
          </a:p>
          <a:p>
            <a:pPr marL="0" indent="0">
              <a:buNone/>
            </a:pPr>
            <a:endParaRPr lang="hu-HU" dirty="0"/>
          </a:p>
          <a:p>
            <a:pPr marL="0" indent="0">
              <a:buNone/>
            </a:pPr>
            <a:r>
              <a:rPr lang="hu-HU" dirty="0" err="1"/>
              <a:t>Fayol</a:t>
            </a:r>
            <a:r>
              <a:rPr lang="hu-HU" dirty="0"/>
              <a:t> meglátásában vezetni nem más, mint </a:t>
            </a:r>
            <a:r>
              <a:rPr lang="hu-HU" b="1" dirty="0"/>
              <a:t>tervezni, szervezni, közvetlenül irányítani, koordinálni és ellenőrizni</a:t>
            </a:r>
            <a:r>
              <a:rPr lang="hu-HU" dirty="0"/>
              <a:t>. </a:t>
            </a:r>
            <a:endParaRPr lang="hu-HU" dirty="0" smtClean="0"/>
          </a:p>
          <a:p>
            <a:pPr marL="0" indent="0">
              <a:buNone/>
            </a:pPr>
            <a:endParaRPr lang="hu-HU" dirty="0" smtClean="0"/>
          </a:p>
          <a:p>
            <a:pPr marL="0" indent="0">
              <a:buNone/>
            </a:pPr>
            <a:r>
              <a:rPr lang="hu-HU" dirty="0" smtClean="0"/>
              <a:t>A </a:t>
            </a:r>
            <a:r>
              <a:rPr lang="hu-HU" dirty="0" err="1"/>
              <a:t>fayolizmus</a:t>
            </a:r>
            <a:r>
              <a:rPr lang="hu-HU" dirty="0"/>
              <a:t> ugyanakkor statikus szemléletű, elhanyagolja a szervezet és benne a vezetés dinamikus szempontjait, amelyek mindenütt ott vannak, ahol van újítás, korszerűsítés, fejlődés. Ennek ellenére </a:t>
            </a:r>
            <a:r>
              <a:rPr lang="hu-HU" dirty="0" err="1"/>
              <a:t>Fayol</a:t>
            </a:r>
            <a:r>
              <a:rPr lang="hu-HU" dirty="0"/>
              <a:t> elmélete a vezetéssel foglalkozó munkákra a mai napig is kimutatható hatással van</a:t>
            </a:r>
          </a:p>
          <a:p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="" xmlns:a16="http://schemas.microsoft.com/office/drawing/2014/main" id="{7ADB85DE-5D70-4A1B-9F2F-2707FFEC9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9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="" xmlns:a16="http://schemas.microsoft.com/office/drawing/2014/main" id="{BD92B2EB-B62B-48F3-B55A-A30661629A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Klasszikus menedzsment iskolák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09137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="" xmlns:a16="http://schemas.microsoft.com/office/drawing/2014/main" id="{CB505F43-3D91-412E-9722-5437382E2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/>
              <a:t>Henry </a:t>
            </a:r>
            <a:r>
              <a:rPr lang="hu-HU" dirty="0" err="1"/>
              <a:t>Fayol</a:t>
            </a:r>
            <a:r>
              <a:rPr lang="hu-HU" dirty="0"/>
              <a:t> (1841 – 1925)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="" xmlns:a16="http://schemas.microsoft.com/office/drawing/2014/main" id="{271F1DE5-BF43-4C0B-A4A4-BEB34C77F4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0" y="1457324"/>
            <a:ext cx="11510283" cy="5441079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hu-HU" dirty="0" err="1"/>
              <a:t>Fayol</a:t>
            </a:r>
            <a:r>
              <a:rPr lang="hu-HU" dirty="0"/>
              <a:t> inkább </a:t>
            </a:r>
            <a:r>
              <a:rPr lang="hu-HU" b="1" dirty="0"/>
              <a:t>az emberre figyelt</a:t>
            </a:r>
            <a:r>
              <a:rPr lang="hu-HU" dirty="0"/>
              <a:t>, aki az elvégzett feladatának a felelősségét </a:t>
            </a:r>
            <a:r>
              <a:rPr lang="hu-HU" dirty="0" smtClean="0"/>
              <a:t>viseli</a:t>
            </a:r>
          </a:p>
          <a:p>
            <a:pPr marL="0" indent="0">
              <a:buNone/>
            </a:pPr>
            <a:endParaRPr lang="hu-HU" dirty="0"/>
          </a:p>
          <a:p>
            <a:pPr marL="0" indent="0">
              <a:buNone/>
            </a:pPr>
            <a:r>
              <a:rPr lang="hu-HU" dirty="0"/>
              <a:t>Tanulmányozta az üzemi szervezetet, elkülönítve annak hat alapvető </a:t>
            </a:r>
            <a:r>
              <a:rPr lang="hu-HU" dirty="0" smtClean="0"/>
              <a:t>funkcióját:</a:t>
            </a:r>
          </a:p>
          <a:p>
            <a:pPr lvl="1">
              <a:buFontTx/>
              <a:buChar char="-"/>
            </a:pPr>
            <a:r>
              <a:rPr lang="hu-HU" dirty="0" smtClean="0"/>
              <a:t>a </a:t>
            </a:r>
            <a:r>
              <a:rPr lang="hu-HU" dirty="0"/>
              <a:t>pénzügyi</a:t>
            </a:r>
            <a:r>
              <a:rPr lang="hu-HU" dirty="0" smtClean="0"/>
              <a:t>,</a:t>
            </a:r>
          </a:p>
          <a:p>
            <a:pPr lvl="1">
              <a:buFontTx/>
              <a:buChar char="-"/>
            </a:pPr>
            <a:r>
              <a:rPr lang="hu-HU" dirty="0" smtClean="0"/>
              <a:t>a </a:t>
            </a:r>
            <a:r>
              <a:rPr lang="hu-HU" dirty="0"/>
              <a:t>műszaki</a:t>
            </a:r>
            <a:r>
              <a:rPr lang="hu-HU" dirty="0" smtClean="0"/>
              <a:t>,</a:t>
            </a:r>
          </a:p>
          <a:p>
            <a:pPr lvl="1">
              <a:buFontTx/>
              <a:buChar char="-"/>
            </a:pPr>
            <a:r>
              <a:rPr lang="hu-HU" dirty="0"/>
              <a:t>a kereskedelmi,</a:t>
            </a:r>
            <a:endParaRPr lang="hu-HU" dirty="0" smtClean="0"/>
          </a:p>
          <a:p>
            <a:pPr lvl="1">
              <a:buFontTx/>
              <a:buChar char="-"/>
            </a:pPr>
            <a:r>
              <a:rPr lang="hu-HU" dirty="0" smtClean="0"/>
              <a:t>a </a:t>
            </a:r>
            <a:r>
              <a:rPr lang="hu-HU" dirty="0"/>
              <a:t>biztonsági, </a:t>
            </a:r>
            <a:endParaRPr lang="hu-HU" dirty="0" smtClean="0"/>
          </a:p>
          <a:p>
            <a:pPr lvl="1">
              <a:buFontTx/>
              <a:buChar char="-"/>
            </a:pPr>
            <a:r>
              <a:rPr lang="hu-HU" dirty="0" smtClean="0"/>
              <a:t>a </a:t>
            </a:r>
            <a:r>
              <a:rPr lang="hu-HU" dirty="0"/>
              <a:t>nyilvántartó és </a:t>
            </a:r>
            <a:endParaRPr lang="hu-HU" dirty="0" smtClean="0"/>
          </a:p>
          <a:p>
            <a:pPr lvl="1">
              <a:buFontTx/>
              <a:buChar char="-"/>
            </a:pPr>
            <a:r>
              <a:rPr lang="hu-HU" dirty="0" smtClean="0"/>
              <a:t>a </a:t>
            </a:r>
            <a:r>
              <a:rPr lang="hu-HU" dirty="0"/>
              <a:t>vezetési </a:t>
            </a:r>
            <a:r>
              <a:rPr lang="hu-HU" dirty="0" smtClean="0"/>
              <a:t>tevékenységet.</a:t>
            </a:r>
          </a:p>
          <a:p>
            <a:pPr marL="0" indent="0">
              <a:buNone/>
            </a:pPr>
            <a:endParaRPr lang="hu-HU" dirty="0"/>
          </a:p>
          <a:p>
            <a:pPr marL="0" indent="0">
              <a:buNone/>
            </a:pPr>
            <a:r>
              <a:rPr lang="hu-HU" dirty="0" err="1"/>
              <a:t>Fayol</a:t>
            </a:r>
            <a:r>
              <a:rPr lang="hu-HU" dirty="0"/>
              <a:t> megfigyelése szerint minél magasabban helyezkedik el valaki a szervezeti hierarchiában, annál lényegbevágóbb a vezetési felkészültsége és kevésbé fontos a szakmai </a:t>
            </a:r>
            <a:r>
              <a:rPr lang="hu-HU" dirty="0" smtClean="0"/>
              <a:t>képzettsége</a:t>
            </a:r>
          </a:p>
          <a:p>
            <a:pPr marL="0" indent="0">
              <a:buNone/>
            </a:pPr>
            <a:endParaRPr lang="hu-HU" dirty="0"/>
          </a:p>
          <a:p>
            <a:pPr marL="0" indent="0">
              <a:buNone/>
            </a:pPr>
            <a:r>
              <a:rPr lang="hu-HU" dirty="0"/>
              <a:t>Megfigyelte azt is, hogy a vezetés </a:t>
            </a:r>
            <a:r>
              <a:rPr lang="hu-HU" dirty="0" smtClean="0"/>
              <a:t>kivételével, </a:t>
            </a:r>
            <a:r>
              <a:rPr lang="hu-HU" dirty="0"/>
              <a:t>minden más munkára már kora ifjúkoruktól felkészítik az embereket különböző formájú és szintű oktatás </a:t>
            </a:r>
            <a:r>
              <a:rPr lang="hu-HU" dirty="0" smtClean="0"/>
              <a:t>útján</a:t>
            </a:r>
          </a:p>
          <a:p>
            <a:pPr marL="0" indent="0">
              <a:buNone/>
            </a:pPr>
            <a:endParaRPr lang="hu-HU" dirty="0"/>
          </a:p>
          <a:p>
            <a:pPr marL="0" indent="0">
              <a:buNone/>
            </a:pPr>
            <a:r>
              <a:rPr lang="hu-HU" dirty="0"/>
              <a:t>Ennek a hiányosságnak a kiküszöbölésére dolgozta ki a </a:t>
            </a:r>
            <a:r>
              <a:rPr lang="hu-HU" b="1" dirty="0"/>
              <a:t>vezetés 14 </a:t>
            </a:r>
            <a:r>
              <a:rPr lang="hu-HU" b="1" dirty="0" smtClean="0"/>
              <a:t>alapelvét</a:t>
            </a:r>
            <a:endParaRPr lang="hu-HU" dirty="0"/>
          </a:p>
          <a:p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="" xmlns:a16="http://schemas.microsoft.com/office/drawing/2014/main" id="{7ADB85DE-5D70-4A1B-9F2F-2707FFEC9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10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="" xmlns:a16="http://schemas.microsoft.com/office/drawing/2014/main" id="{BD92B2EB-B62B-48F3-B55A-A30661629A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Klasszikus menedzsment iskolák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8297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="" xmlns:a16="http://schemas.microsoft.com/office/drawing/2014/main" id="{CB505F43-3D91-412E-9722-5437382E2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/>
              <a:t>Henry </a:t>
            </a:r>
            <a:r>
              <a:rPr lang="hu-HU" dirty="0" err="1"/>
              <a:t>Fayol</a:t>
            </a:r>
            <a:r>
              <a:rPr lang="hu-HU" dirty="0"/>
              <a:t> (1841 – 1925) – A vezetés 14 alapelve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="" xmlns:a16="http://schemas.microsoft.com/office/drawing/2014/main" id="{271F1DE5-BF43-4C0B-A4A4-BEB34C77F4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0" y="1518081"/>
            <a:ext cx="11919859" cy="5380321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hu-HU" dirty="0" smtClean="0"/>
              <a:t>1. A </a:t>
            </a:r>
            <a:r>
              <a:rPr lang="hu-HU" b="1" dirty="0"/>
              <a:t>munkamegosztás</a:t>
            </a:r>
            <a:r>
              <a:rPr lang="hu-HU" dirty="0"/>
              <a:t>nak természeti eredete van, és jelentősége a társadalmi szervezetek fejlődésével arányosan nő</a:t>
            </a:r>
            <a:r>
              <a:rPr lang="hu-HU" dirty="0" smtClean="0"/>
              <a:t>.</a:t>
            </a:r>
            <a:br>
              <a:rPr lang="hu-HU" dirty="0" smtClean="0"/>
            </a:br>
            <a:endParaRPr lang="hu-HU" dirty="0"/>
          </a:p>
          <a:p>
            <a:pPr marL="0" indent="0">
              <a:buNone/>
            </a:pPr>
            <a:r>
              <a:rPr lang="hu-HU" dirty="0"/>
              <a:t>2. A </a:t>
            </a:r>
            <a:r>
              <a:rPr lang="hu-HU" b="1" dirty="0"/>
              <a:t>hatáskör és a felelősség </a:t>
            </a:r>
            <a:r>
              <a:rPr lang="hu-HU" dirty="0"/>
              <a:t>azt jelenti, hogy a vezetőknek rendelkezési, utasítási joguk van, és az engedelmességet akár ki is </a:t>
            </a:r>
            <a:r>
              <a:rPr lang="hu-HU" dirty="0" smtClean="0"/>
              <a:t>kényszeríthetik. </a:t>
            </a:r>
            <a:r>
              <a:rPr lang="hu-HU" dirty="0"/>
              <a:t>Ha egy vezető nem felelősségvállaló, akkor ezzel az összes többi vezetői erényét megsemmisíti</a:t>
            </a:r>
            <a:r>
              <a:rPr lang="hu-HU" dirty="0" smtClean="0"/>
              <a:t>.</a:t>
            </a:r>
            <a:br>
              <a:rPr lang="hu-HU" dirty="0" smtClean="0"/>
            </a:br>
            <a:endParaRPr lang="hu-HU" dirty="0"/>
          </a:p>
          <a:p>
            <a:pPr marL="0" indent="0">
              <a:buNone/>
            </a:pPr>
            <a:r>
              <a:rPr lang="hu-HU" dirty="0"/>
              <a:t>3. A </a:t>
            </a:r>
            <a:r>
              <a:rPr lang="hu-HU" b="1" dirty="0"/>
              <a:t>fegyelem</a:t>
            </a:r>
            <a:r>
              <a:rPr lang="hu-HU" dirty="0"/>
              <a:t> lényegében az engedelmesség, a szorgalom és a kitartás</a:t>
            </a:r>
            <a:r>
              <a:rPr lang="hu-HU" dirty="0" smtClean="0"/>
              <a:t>.</a:t>
            </a:r>
            <a:br>
              <a:rPr lang="hu-HU" dirty="0" smtClean="0"/>
            </a:br>
            <a:endParaRPr lang="hu-HU" dirty="0"/>
          </a:p>
          <a:p>
            <a:pPr marL="0" indent="0">
              <a:buNone/>
            </a:pPr>
            <a:r>
              <a:rPr lang="hu-HU" dirty="0"/>
              <a:t>4. A </a:t>
            </a:r>
            <a:r>
              <a:rPr lang="hu-HU" b="1" dirty="0"/>
              <a:t>rendelkezés egysége </a:t>
            </a:r>
            <a:r>
              <a:rPr lang="hu-HU" dirty="0"/>
              <a:t>azt jelenti, hogy akárkiről is legyen szó, csak egy embertől kaphat utasítást. Hasonló feladatokat </a:t>
            </a:r>
            <a:r>
              <a:rPr lang="hu-HU" dirty="0" smtClean="0"/>
              <a:t>ugyanaz </a:t>
            </a:r>
            <a:r>
              <a:rPr lang="hu-HU" dirty="0"/>
              <a:t>irányítson</a:t>
            </a:r>
            <a:r>
              <a:rPr lang="hu-HU" dirty="0" smtClean="0"/>
              <a:t>.</a:t>
            </a:r>
            <a:br>
              <a:rPr lang="hu-HU" dirty="0" smtClean="0"/>
            </a:br>
            <a:endParaRPr lang="hu-HU" dirty="0"/>
          </a:p>
          <a:p>
            <a:pPr marL="0" indent="0">
              <a:buNone/>
            </a:pPr>
            <a:r>
              <a:rPr lang="hu-HU" dirty="0"/>
              <a:t>5. A </a:t>
            </a:r>
            <a:r>
              <a:rPr lang="hu-HU" b="1" dirty="0"/>
              <a:t>vezetés egysége </a:t>
            </a:r>
            <a:r>
              <a:rPr lang="hu-HU" dirty="0"/>
              <a:t>biztosítja a szervezeti cselekvés egységét és az erőfeszítések koordinálását</a:t>
            </a:r>
            <a:r>
              <a:rPr lang="hu-HU" dirty="0" smtClean="0"/>
              <a:t>.</a:t>
            </a:r>
            <a:br>
              <a:rPr lang="hu-HU" dirty="0" smtClean="0"/>
            </a:br>
            <a:endParaRPr lang="hu-HU" dirty="0"/>
          </a:p>
          <a:p>
            <a:pPr marL="0" indent="0">
              <a:buNone/>
            </a:pPr>
            <a:r>
              <a:rPr lang="hu-HU" dirty="0"/>
              <a:t>6. A részérdekeket az </a:t>
            </a:r>
            <a:r>
              <a:rPr lang="hu-HU" b="1" dirty="0"/>
              <a:t>általános érdekeknek </a:t>
            </a:r>
            <a:r>
              <a:rPr lang="hu-HU" dirty="0"/>
              <a:t>kell alárendelni. Az egyén érdeke nem kerülhet a szervezet érdeke elé</a:t>
            </a:r>
            <a:r>
              <a:rPr lang="hu-HU" dirty="0" smtClean="0"/>
              <a:t>.</a:t>
            </a:r>
            <a:br>
              <a:rPr lang="hu-HU" dirty="0" smtClean="0"/>
            </a:br>
            <a:endParaRPr lang="hu-HU" dirty="0"/>
          </a:p>
          <a:p>
            <a:pPr marL="0" indent="0">
              <a:buNone/>
            </a:pPr>
            <a:r>
              <a:rPr lang="hu-HU" dirty="0"/>
              <a:t>7. </a:t>
            </a:r>
            <a:r>
              <a:rPr lang="hu-HU" b="1" dirty="0"/>
              <a:t>Ellenszolgáltatás</a:t>
            </a:r>
            <a:r>
              <a:rPr lang="hu-HU" dirty="0"/>
              <a:t>ra tarthat igényt mindenki, aki a szervezetért szolgálatot tett.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="" xmlns:a16="http://schemas.microsoft.com/office/drawing/2014/main" id="{7ADB85DE-5D70-4A1B-9F2F-2707FFEC9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11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="" xmlns:a16="http://schemas.microsoft.com/office/drawing/2014/main" id="{BD92B2EB-B62B-48F3-B55A-A30661629A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Klasszikus menedzsment iskolák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67989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="" xmlns:a16="http://schemas.microsoft.com/office/drawing/2014/main" id="{CB505F43-3D91-412E-9722-5437382E2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/>
              <a:t>Henry </a:t>
            </a:r>
            <a:r>
              <a:rPr lang="hu-HU" dirty="0" err="1"/>
              <a:t>Fayol</a:t>
            </a:r>
            <a:r>
              <a:rPr lang="hu-HU" dirty="0"/>
              <a:t> (1841 – 1925) – A vezetés 14 alapelve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="" xmlns:a16="http://schemas.microsoft.com/office/drawing/2014/main" id="{271F1DE5-BF43-4C0B-A4A4-BEB34C77F4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0" y="1382233"/>
            <a:ext cx="11919859" cy="551617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hu-HU" dirty="0"/>
              <a:t>8. A </a:t>
            </a:r>
            <a:r>
              <a:rPr lang="hu-HU" b="1" dirty="0"/>
              <a:t>centralizálás</a:t>
            </a:r>
            <a:r>
              <a:rPr lang="hu-HU" dirty="0"/>
              <a:t> a természetben és a társadalomban is egyaránt szükséges. A hatalmat és a hatásköröket a menedzseri hierarchia csúcsán kell koncentrálni</a:t>
            </a:r>
            <a:r>
              <a:rPr lang="hu-HU" dirty="0" smtClean="0"/>
              <a:t>.</a:t>
            </a:r>
          </a:p>
          <a:p>
            <a:pPr marL="0" indent="0">
              <a:buNone/>
            </a:pPr>
            <a:endParaRPr lang="hu-HU" dirty="0"/>
          </a:p>
          <a:p>
            <a:pPr marL="0" indent="0">
              <a:buNone/>
            </a:pPr>
            <a:r>
              <a:rPr lang="hu-HU" dirty="0"/>
              <a:t>9. A vezetés hatékonyságához, szükség van a rendszer </a:t>
            </a:r>
            <a:r>
              <a:rPr lang="hu-HU" b="1" dirty="0"/>
              <a:t>hierarchiájának pontos meghatározására</a:t>
            </a:r>
            <a:r>
              <a:rPr lang="hu-HU" dirty="0"/>
              <a:t>. Az irányítási lánc minden fokozatán megfelelő hatáskörök </a:t>
            </a:r>
            <a:r>
              <a:rPr lang="hu-HU" dirty="0" smtClean="0"/>
              <a:t>szükségesek, </a:t>
            </a:r>
            <a:r>
              <a:rPr lang="hu-HU" dirty="0"/>
              <a:t>amelyet mindig be kell tartani</a:t>
            </a:r>
            <a:r>
              <a:rPr lang="hu-HU" dirty="0" smtClean="0"/>
              <a:t>.</a:t>
            </a:r>
          </a:p>
          <a:p>
            <a:pPr marL="0" indent="0">
              <a:buNone/>
            </a:pPr>
            <a:endParaRPr lang="hu-HU" dirty="0"/>
          </a:p>
          <a:p>
            <a:pPr marL="0" indent="0">
              <a:buNone/>
            </a:pPr>
            <a:r>
              <a:rPr lang="hu-HU" dirty="0"/>
              <a:t>10. </a:t>
            </a:r>
            <a:r>
              <a:rPr lang="hu-HU" b="1" dirty="0"/>
              <a:t>Rend</a:t>
            </a:r>
            <a:r>
              <a:rPr lang="hu-HU" dirty="0"/>
              <a:t> nélkül nincs szervezet. A megfelelő erőforrások a megfelelő helyen és időben álljanak mindig rendelkezésre</a:t>
            </a:r>
            <a:r>
              <a:rPr lang="hu-HU" dirty="0" smtClean="0"/>
              <a:t>.</a:t>
            </a:r>
          </a:p>
          <a:p>
            <a:pPr marL="0" indent="0">
              <a:buNone/>
            </a:pPr>
            <a:endParaRPr lang="hu-HU" dirty="0"/>
          </a:p>
          <a:p>
            <a:pPr marL="0" indent="0">
              <a:buNone/>
            </a:pPr>
            <a:r>
              <a:rPr lang="hu-HU" dirty="0"/>
              <a:t>11. A vezetés minden szintjén érvényesülnie kell a </a:t>
            </a:r>
            <a:r>
              <a:rPr lang="hu-HU" b="1" dirty="0"/>
              <a:t>méltányosság</a:t>
            </a:r>
            <a:r>
              <a:rPr lang="hu-HU" dirty="0"/>
              <a:t>nak. A menedzser legyen udvarias és méltányos beosztottjaival</a:t>
            </a:r>
            <a:r>
              <a:rPr lang="hu-HU" dirty="0" smtClean="0"/>
              <a:t>.</a:t>
            </a:r>
          </a:p>
          <a:p>
            <a:pPr marL="0" indent="0">
              <a:buNone/>
            </a:pPr>
            <a:endParaRPr lang="hu-HU" dirty="0"/>
          </a:p>
          <a:p>
            <a:pPr marL="0" indent="0">
              <a:buNone/>
            </a:pPr>
            <a:r>
              <a:rPr lang="hu-HU" dirty="0"/>
              <a:t>12. A </a:t>
            </a:r>
            <a:r>
              <a:rPr lang="hu-HU" b="1" dirty="0"/>
              <a:t>személyzet</a:t>
            </a:r>
            <a:r>
              <a:rPr lang="hu-HU" dirty="0"/>
              <a:t> </a:t>
            </a:r>
            <a:r>
              <a:rPr lang="hu-HU" b="1" dirty="0"/>
              <a:t>állandóság</a:t>
            </a:r>
            <a:r>
              <a:rPr lang="hu-HU" dirty="0"/>
              <a:t>a adja meg a szervezet létének tartósságát. A beosztottak nagymértékű elvándorlása nem előnyös</a:t>
            </a:r>
            <a:r>
              <a:rPr lang="hu-HU" dirty="0" smtClean="0"/>
              <a:t>.</a:t>
            </a:r>
          </a:p>
          <a:p>
            <a:pPr marL="0" indent="0">
              <a:buNone/>
            </a:pPr>
            <a:endParaRPr lang="hu-HU" dirty="0"/>
          </a:p>
          <a:p>
            <a:pPr marL="0" indent="0">
              <a:buNone/>
            </a:pPr>
            <a:r>
              <a:rPr lang="hu-HU" dirty="0"/>
              <a:t>13. A </a:t>
            </a:r>
            <a:r>
              <a:rPr lang="hu-HU" b="1" dirty="0"/>
              <a:t>kezdeményezés</a:t>
            </a:r>
            <a:r>
              <a:rPr lang="hu-HU" dirty="0"/>
              <a:t> elfojtása az értelem száműzésével egyenlő. A dolgozók </a:t>
            </a:r>
            <a:r>
              <a:rPr lang="hu-HU" dirty="0" smtClean="0"/>
              <a:t>kezdeményezését </a:t>
            </a:r>
            <a:r>
              <a:rPr lang="hu-HU" dirty="0"/>
              <a:t>mindig </a:t>
            </a:r>
            <a:r>
              <a:rPr lang="hu-HU" dirty="0" smtClean="0"/>
              <a:t>támogatni kell.</a:t>
            </a:r>
          </a:p>
          <a:p>
            <a:pPr marL="0" indent="0">
              <a:buNone/>
            </a:pPr>
            <a:endParaRPr lang="hu-HU" dirty="0"/>
          </a:p>
          <a:p>
            <a:pPr marL="0" indent="0">
              <a:buNone/>
            </a:pPr>
            <a:r>
              <a:rPr lang="hu-HU" dirty="0"/>
              <a:t>14. A </a:t>
            </a:r>
            <a:r>
              <a:rPr lang="hu-HU" b="1" dirty="0"/>
              <a:t>szervezet ereje </a:t>
            </a:r>
            <a:r>
              <a:rPr lang="hu-HU" dirty="0"/>
              <a:t>a szervezet </a:t>
            </a:r>
            <a:r>
              <a:rPr lang="hu-HU" b="1" dirty="0"/>
              <a:t>tagjainak egységében </a:t>
            </a:r>
            <a:r>
              <a:rPr lang="hu-HU" dirty="0"/>
              <a:t>rejlik. A közösségi szellem, a team munka, a közösségi szellem érték, ezért ösztönözni kell.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="" xmlns:a16="http://schemas.microsoft.com/office/drawing/2014/main" id="{7ADB85DE-5D70-4A1B-9F2F-2707FFEC9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12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="" xmlns:a16="http://schemas.microsoft.com/office/drawing/2014/main" id="{BD92B2EB-B62B-48F3-B55A-A30661629A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Klasszikus menedzsment iskolák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72196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="" xmlns:a16="http://schemas.microsoft.com/office/drawing/2014/main" id="{CB505F43-3D91-412E-9722-5437382E2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 smtClean="0"/>
              <a:t>A </a:t>
            </a:r>
            <a:r>
              <a:rPr lang="hu-HU" dirty="0" err="1" smtClean="0"/>
              <a:t>fayolizmus</a:t>
            </a:r>
            <a:r>
              <a:rPr lang="hu-HU" dirty="0" smtClean="0"/>
              <a:t> kritikája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="" xmlns:a16="http://schemas.microsoft.com/office/drawing/2014/main" id="{271F1DE5-BF43-4C0B-A4A4-BEB34C77F4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0" y="1656283"/>
            <a:ext cx="11919859" cy="52421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dirty="0" err="1"/>
              <a:t>Fayol</a:t>
            </a:r>
            <a:r>
              <a:rPr lang="hu-HU" dirty="0"/>
              <a:t> elképzelései szintén egy teljesen statikus szervezeti környezetben működnek tökéletesen</a:t>
            </a:r>
          </a:p>
          <a:p>
            <a:pPr marL="0" indent="0">
              <a:buNone/>
            </a:pPr>
            <a:endParaRPr lang="hu-HU" dirty="0" smtClean="0"/>
          </a:p>
          <a:p>
            <a:pPr marL="0" indent="0">
              <a:buNone/>
            </a:pPr>
            <a:r>
              <a:rPr lang="hu-HU" dirty="0" smtClean="0"/>
              <a:t>A </a:t>
            </a:r>
            <a:r>
              <a:rPr lang="hu-HU" dirty="0"/>
              <a:t>centralizáció a mai komplex és gyors működésen alapuló szervezetek felső vezetését túlzottan leterhelné</a:t>
            </a:r>
          </a:p>
          <a:p>
            <a:pPr marL="0" indent="0">
              <a:buNone/>
            </a:pPr>
            <a:endParaRPr lang="hu-HU" dirty="0" smtClean="0"/>
          </a:p>
          <a:p>
            <a:pPr marL="0" indent="0">
              <a:buNone/>
            </a:pPr>
            <a:r>
              <a:rPr lang="hu-HU" dirty="0" smtClean="0"/>
              <a:t>A </a:t>
            </a:r>
            <a:r>
              <a:rPr lang="hu-HU" dirty="0"/>
              <a:t>szervezeteknek ma már egy gyorsan változó, turbulens környezetben </a:t>
            </a:r>
            <a:r>
              <a:rPr lang="hu-HU" dirty="0" smtClean="0"/>
              <a:t>kell </a:t>
            </a:r>
            <a:r>
              <a:rPr lang="hu-HU" dirty="0"/>
              <a:t>komplex feladatokat </a:t>
            </a:r>
            <a:r>
              <a:rPr lang="hu-HU" dirty="0" smtClean="0"/>
              <a:t>ellátniuk, </a:t>
            </a:r>
            <a:r>
              <a:rPr lang="hu-HU" dirty="0"/>
              <a:t>ezáltal a szervezeti fejlődésre való </a:t>
            </a:r>
            <a:r>
              <a:rPr lang="hu-HU" dirty="0" smtClean="0"/>
              <a:t>nyitottság, </a:t>
            </a:r>
            <a:r>
              <a:rPr lang="hu-HU" dirty="0"/>
              <a:t>és a decentralizált rugalmas vezetés </a:t>
            </a:r>
            <a:r>
              <a:rPr lang="hu-HU" dirty="0" smtClean="0"/>
              <a:t>gyakorlatilag elengedhetetlen </a:t>
            </a:r>
            <a:r>
              <a:rPr lang="hu-HU" dirty="0"/>
              <a:t>fogalmak egy piaci verseny vezetésére törekvő szervezet esetében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="" xmlns:a16="http://schemas.microsoft.com/office/drawing/2014/main" id="{7ADB85DE-5D70-4A1B-9F2F-2707FFEC9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13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="" xmlns:a16="http://schemas.microsoft.com/office/drawing/2014/main" id="{BD92B2EB-B62B-48F3-B55A-A30661629A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Klasszikus menedzsment iskolák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96920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="" xmlns:a16="http://schemas.microsoft.com/office/drawing/2014/main" id="{CB505F43-3D91-412E-9722-5437382E2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/>
              <a:t>Henry Ford (1863 – 1947)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="" xmlns:a16="http://schemas.microsoft.com/office/drawing/2014/main" id="{271F1DE5-BF43-4C0B-A4A4-BEB34C77F4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776" y="1382233"/>
            <a:ext cx="11900660" cy="5267142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hu-HU" dirty="0"/>
              <a:t>T</a:t>
            </a:r>
            <a:r>
              <a:rPr lang="hu-HU" dirty="0" smtClean="0"/>
              <a:t>aylor </a:t>
            </a:r>
            <a:r>
              <a:rPr lang="hu-HU" dirty="0"/>
              <a:t>munkaszervezési elveit a legteljesebb mértékben alkalmazta a gyakorlatban. </a:t>
            </a:r>
            <a:r>
              <a:rPr lang="hu-HU" dirty="0" smtClean="0"/>
              <a:t/>
            </a:r>
            <a:br>
              <a:rPr lang="hu-HU" dirty="0" smtClean="0"/>
            </a:br>
            <a:endParaRPr lang="hu-HU" dirty="0" smtClean="0"/>
          </a:p>
          <a:p>
            <a:pPr marL="0" indent="0">
              <a:buNone/>
            </a:pPr>
            <a:r>
              <a:rPr lang="hu-HU" dirty="0" smtClean="0"/>
              <a:t>A </a:t>
            </a:r>
            <a:r>
              <a:rPr lang="hu-HU" b="1" dirty="0"/>
              <a:t>Fordizmus</a:t>
            </a:r>
            <a:r>
              <a:rPr lang="hu-HU" dirty="0"/>
              <a:t> jellemzői, </a:t>
            </a:r>
          </a:p>
          <a:p>
            <a:pPr lvl="2"/>
            <a:r>
              <a:rPr lang="hu-HU" dirty="0"/>
              <a:t>az üzemszervezés, </a:t>
            </a:r>
          </a:p>
          <a:p>
            <a:pPr lvl="2"/>
            <a:r>
              <a:rPr lang="hu-HU" dirty="0"/>
              <a:t>nagyüzemi termelés, </a:t>
            </a:r>
          </a:p>
          <a:p>
            <a:pPr lvl="2"/>
            <a:r>
              <a:rPr lang="hu-HU" dirty="0"/>
              <a:t>tömegtermelés, </a:t>
            </a:r>
          </a:p>
          <a:p>
            <a:pPr lvl="2"/>
            <a:r>
              <a:rPr lang="hu-HU" dirty="0"/>
              <a:t>anyagáramlás, </a:t>
            </a:r>
          </a:p>
          <a:p>
            <a:pPr lvl="2"/>
            <a:r>
              <a:rPr lang="hu-HU" dirty="0"/>
              <a:t>időtervezés, </a:t>
            </a:r>
          </a:p>
          <a:p>
            <a:pPr lvl="2"/>
            <a:r>
              <a:rPr lang="hu-HU" dirty="0"/>
              <a:t>időrendi irányítás</a:t>
            </a:r>
          </a:p>
          <a:p>
            <a:pPr marL="0" indent="0">
              <a:buNone/>
            </a:pPr>
            <a:endParaRPr lang="hu-HU" dirty="0" smtClean="0"/>
          </a:p>
          <a:p>
            <a:pPr marL="0" indent="0">
              <a:buNone/>
            </a:pPr>
            <a:r>
              <a:rPr lang="hu-HU" dirty="0" smtClean="0"/>
              <a:t>Sikerének </a:t>
            </a:r>
            <a:r>
              <a:rPr lang="hu-HU" dirty="0"/>
              <a:t>titka a tömegtermelés módszerében és a magas bérekben rejlett. </a:t>
            </a:r>
            <a:r>
              <a:rPr lang="hu-HU" dirty="0" smtClean="0"/>
              <a:t>Származásánál fogva empatikus volt </a:t>
            </a:r>
            <a:r>
              <a:rPr lang="hu-HU" dirty="0"/>
              <a:t>dolgozói iránt, és vázlatos alapelveket dolgozott ki a munkásokat illetően, amiket állandóan alkalmazott </a:t>
            </a:r>
            <a:r>
              <a:rPr lang="hu-HU" dirty="0" smtClean="0"/>
              <a:t>is:</a:t>
            </a:r>
            <a:endParaRPr lang="hu-HU" dirty="0"/>
          </a:p>
          <a:p>
            <a:pPr lvl="1"/>
            <a:r>
              <a:rPr lang="hu-HU" dirty="0" smtClean="0"/>
              <a:t>a lehető </a:t>
            </a:r>
            <a:r>
              <a:rPr lang="hu-HU" dirty="0"/>
              <a:t>legmagasabb béreket fizette, és ebben igazi reformer volt</a:t>
            </a:r>
          </a:p>
          <a:p>
            <a:pPr lvl="1"/>
            <a:r>
              <a:rPr lang="hu-HU" dirty="0" smtClean="0"/>
              <a:t>a </a:t>
            </a:r>
            <a:r>
              <a:rPr lang="hu-HU" dirty="0"/>
              <a:t>jelentkezőket kérdés és referencia nélkül vette </a:t>
            </a:r>
            <a:r>
              <a:rPr lang="hu-HU" dirty="0" smtClean="0"/>
              <a:t>fel.</a:t>
            </a:r>
            <a:endParaRPr lang="hu-HU" dirty="0"/>
          </a:p>
          <a:p>
            <a:pPr marL="0" indent="0">
              <a:buNone/>
            </a:pPr>
            <a:endParaRPr lang="hu-HU" dirty="0" smtClean="0"/>
          </a:p>
          <a:p>
            <a:pPr marL="0" indent="0">
              <a:buNone/>
            </a:pPr>
            <a:r>
              <a:rPr lang="hu-HU" dirty="0" smtClean="0"/>
              <a:t>Sok </a:t>
            </a:r>
            <a:r>
              <a:rPr lang="hu-HU" dirty="0"/>
              <a:t>európai szocialistára nagy hatással volt Ford </a:t>
            </a:r>
            <a:r>
              <a:rPr lang="hu-HU" dirty="0" smtClean="0"/>
              <a:t>példaadása, </a:t>
            </a:r>
            <a:r>
              <a:rPr lang="hu-HU" dirty="0"/>
              <a:t>mellyel idejétmúlttá nyilvánította a marxizmust, </a:t>
            </a:r>
            <a:r>
              <a:rPr lang="hu-HU" dirty="0" smtClean="0"/>
              <a:t>továbbá </a:t>
            </a:r>
            <a:r>
              <a:rPr lang="hu-HU" dirty="0"/>
              <a:t>egyértelművé tette, hogy a kapitalizmus észszerűsíthető és </a:t>
            </a:r>
            <a:r>
              <a:rPr lang="hu-HU" dirty="0" smtClean="0"/>
              <a:t>moralizálható.</a:t>
            </a:r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="" xmlns:a16="http://schemas.microsoft.com/office/drawing/2014/main" id="{7ADB85DE-5D70-4A1B-9F2F-2707FFEC9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14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="" xmlns:a16="http://schemas.microsoft.com/office/drawing/2014/main" id="{BD92B2EB-B62B-48F3-B55A-A30661629A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Klasszikus menedzsment iskolák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5277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="" xmlns:a16="http://schemas.microsoft.com/office/drawing/2014/main" id="{CB505F43-3D91-412E-9722-5437382E2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/>
              <a:t>Henry Ford (1863 – 1947)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="" xmlns:a16="http://schemas.microsoft.com/office/drawing/2014/main" id="{271F1DE5-BF43-4C0B-A4A4-BEB34C77F4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0" y="1382233"/>
            <a:ext cx="11919859" cy="5516170"/>
          </a:xfrm>
        </p:spPr>
        <p:txBody>
          <a:bodyPr>
            <a:normAutofit fontScale="70000" lnSpcReduction="2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hu-HU" dirty="0"/>
              <a:t>A </a:t>
            </a:r>
            <a:r>
              <a:rPr lang="hu-HU" dirty="0" err="1"/>
              <a:t>taylori</a:t>
            </a:r>
            <a:r>
              <a:rPr lang="hu-HU" dirty="0"/>
              <a:t> munkaszervezési elveket ő ültette át a gyakorlatba</a:t>
            </a:r>
          </a:p>
          <a:p>
            <a:pPr marL="457200" indent="-457200">
              <a:buFont typeface="+mj-lt"/>
              <a:buAutoNum type="arabicPeriod"/>
            </a:pPr>
            <a:endParaRPr lang="hu-HU" dirty="0" smtClean="0"/>
          </a:p>
          <a:p>
            <a:pPr marL="457200" indent="-457200">
              <a:buFont typeface="+mj-lt"/>
              <a:buAutoNum type="arabicPeriod"/>
            </a:pPr>
            <a:r>
              <a:rPr lang="hu-HU" dirty="0" smtClean="0"/>
              <a:t>1909. </a:t>
            </a:r>
            <a:r>
              <a:rPr lang="hu-HU" dirty="0"/>
              <a:t>kifejleszti a tömeggyártásra szánt T-modellt</a:t>
            </a:r>
          </a:p>
          <a:p>
            <a:pPr marL="457200" indent="-457200">
              <a:buFont typeface="+mj-lt"/>
              <a:buAutoNum type="arabicPeriod"/>
            </a:pPr>
            <a:endParaRPr lang="hu-HU" dirty="0" smtClean="0"/>
          </a:p>
          <a:p>
            <a:pPr marL="457200" indent="-457200">
              <a:buFont typeface="+mj-lt"/>
              <a:buAutoNum type="arabicPeriod"/>
            </a:pPr>
            <a:r>
              <a:rPr lang="hu-HU" dirty="0" smtClean="0"/>
              <a:t>Futószalagszerű </a:t>
            </a:r>
            <a:r>
              <a:rPr lang="hu-HU" dirty="0"/>
              <a:t>gyártás bevezetése (1913)</a:t>
            </a:r>
          </a:p>
          <a:p>
            <a:pPr marL="457200" indent="-457200">
              <a:buFont typeface="+mj-lt"/>
              <a:buAutoNum type="arabicPeriod"/>
            </a:pPr>
            <a:endParaRPr lang="hu-HU" dirty="0" smtClean="0"/>
          </a:p>
          <a:p>
            <a:pPr marL="457200" indent="-457200">
              <a:buFont typeface="+mj-lt"/>
              <a:buAutoNum type="arabicPeriod"/>
            </a:pPr>
            <a:r>
              <a:rPr lang="hu-HU" dirty="0" smtClean="0"/>
              <a:t>Nagyüzemi </a:t>
            </a:r>
            <a:r>
              <a:rPr lang="hu-HU" dirty="0"/>
              <a:t>termelés megszervezése (tömeggyártás)</a:t>
            </a:r>
          </a:p>
          <a:p>
            <a:pPr marL="457200" indent="-457200">
              <a:buFont typeface="+mj-lt"/>
              <a:buAutoNum type="arabicPeriod"/>
            </a:pPr>
            <a:endParaRPr lang="hu-HU" dirty="0" smtClean="0"/>
          </a:p>
          <a:p>
            <a:pPr marL="457200" indent="-457200">
              <a:buFont typeface="+mj-lt"/>
              <a:buAutoNum type="arabicPeriod"/>
            </a:pPr>
            <a:r>
              <a:rPr lang="hu-HU" dirty="0" smtClean="0"/>
              <a:t>Szociális </a:t>
            </a:r>
            <a:r>
              <a:rPr lang="hu-HU" dirty="0"/>
              <a:t>juttatások</a:t>
            </a:r>
          </a:p>
          <a:p>
            <a:pPr marL="457200" indent="-457200">
              <a:buFont typeface="+mj-lt"/>
              <a:buAutoNum type="arabicPeriod"/>
            </a:pPr>
            <a:endParaRPr lang="hu-HU" dirty="0" smtClean="0"/>
          </a:p>
          <a:p>
            <a:pPr marL="457200" indent="-457200">
              <a:buFont typeface="+mj-lt"/>
              <a:buAutoNum type="arabicPeriod"/>
            </a:pPr>
            <a:r>
              <a:rPr lang="hu-HU" dirty="0" smtClean="0"/>
              <a:t>Pontosan </a:t>
            </a:r>
            <a:r>
              <a:rPr lang="hu-HU" dirty="0"/>
              <a:t>kidolgozta az olcsó kocsi kialakításának feltételrendszerét</a:t>
            </a:r>
          </a:p>
          <a:p>
            <a:pPr marL="457200" indent="-457200">
              <a:buFont typeface="+mj-lt"/>
              <a:buAutoNum type="arabicPeriod"/>
            </a:pPr>
            <a:endParaRPr lang="hu-HU" dirty="0" smtClean="0"/>
          </a:p>
          <a:p>
            <a:pPr marL="457200" indent="-457200">
              <a:buFont typeface="+mj-lt"/>
              <a:buAutoNum type="arabicPeriod"/>
            </a:pPr>
            <a:r>
              <a:rPr lang="hu-HU" dirty="0" smtClean="0"/>
              <a:t>Sajátos </a:t>
            </a:r>
            <a:r>
              <a:rPr lang="hu-HU" dirty="0"/>
              <a:t>teljesítménybér a szalagok mellett dolgozóknak: meghatározta a szalag sebességét, ennek útján a végzendő munka mennyiségét; óra-illetve napibért fizetett</a:t>
            </a:r>
          </a:p>
          <a:p>
            <a:pPr marL="457200" indent="-457200">
              <a:buFont typeface="+mj-lt"/>
              <a:buAutoNum type="arabicPeriod"/>
            </a:pPr>
            <a:endParaRPr lang="hu-HU" dirty="0"/>
          </a:p>
          <a:p>
            <a:pPr marL="457200" indent="-457200">
              <a:buFont typeface="+mj-lt"/>
              <a:buAutoNum type="arabicPeriod"/>
            </a:pPr>
            <a:r>
              <a:rPr lang="hu-HU" dirty="0"/>
              <a:t>Á</a:t>
            </a:r>
            <a:r>
              <a:rPr lang="hu-HU" dirty="0" smtClean="0"/>
              <a:t>ltalánossá </a:t>
            </a:r>
            <a:r>
              <a:rPr lang="hu-HU" dirty="0"/>
              <a:t>tette a napi 8 órai munkát (túlórák szabadidőben voltak kivehetők)</a:t>
            </a:r>
          </a:p>
          <a:p>
            <a:pPr marL="457200" indent="-457200">
              <a:buFont typeface="+mj-lt"/>
              <a:buAutoNum type="arabicPeriod"/>
            </a:pPr>
            <a:endParaRPr lang="hu-HU" dirty="0" smtClean="0"/>
          </a:p>
          <a:p>
            <a:pPr marL="457200" indent="-457200">
              <a:buFont typeface="+mj-lt"/>
              <a:buAutoNum type="arabicPeriod"/>
            </a:pPr>
            <a:r>
              <a:rPr lang="hu-HU" dirty="0" smtClean="0"/>
              <a:t>Pontos </a:t>
            </a:r>
            <a:r>
              <a:rPr lang="hu-HU" dirty="0"/>
              <a:t>időtervezés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="" xmlns:a16="http://schemas.microsoft.com/office/drawing/2014/main" id="{7ADB85DE-5D70-4A1B-9F2F-2707FFEC9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15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="" xmlns:a16="http://schemas.microsoft.com/office/drawing/2014/main" id="{BD92B2EB-B62B-48F3-B55A-A30661629A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Klasszikus menedzsment iskolák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0968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="" xmlns:a16="http://schemas.microsoft.com/office/drawing/2014/main" id="{CB505F43-3D91-412E-9722-5437382E2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/>
              <a:t>Max Weber (1864 – 1920)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="" xmlns:a16="http://schemas.microsoft.com/office/drawing/2014/main" id="{271F1DE5-BF43-4C0B-A4A4-BEB34C77F4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0" y="1601557"/>
            <a:ext cx="11919859" cy="529684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dirty="0"/>
              <a:t>Hat vezetési elvet alakított ki amelyek nagy hangsúlyt fektettek a szervezeti struktúra optimális és kontrollált </a:t>
            </a:r>
            <a:r>
              <a:rPr lang="hu-HU" dirty="0" smtClean="0"/>
              <a:t>felépítésére, </a:t>
            </a:r>
            <a:r>
              <a:rPr lang="hu-HU" dirty="0"/>
              <a:t>és az elvégzett tevékenységek nyomon követhetőségére, </a:t>
            </a:r>
            <a:r>
              <a:rPr lang="hu-HU" dirty="0" smtClean="0"/>
              <a:t>ellenőrizhetőségére:</a:t>
            </a:r>
          </a:p>
          <a:p>
            <a:pPr marL="0" indent="0">
              <a:buNone/>
            </a:pPr>
            <a:endParaRPr lang="hu-HU" dirty="0"/>
          </a:p>
          <a:p>
            <a:pPr lvl="1"/>
            <a:r>
              <a:rPr lang="hu-HU" dirty="0"/>
              <a:t>Munkamegosztás</a:t>
            </a:r>
          </a:p>
          <a:p>
            <a:pPr lvl="1"/>
            <a:r>
              <a:rPr lang="hu-HU" dirty="0"/>
              <a:t>Szabályozottság</a:t>
            </a:r>
          </a:p>
          <a:p>
            <a:pPr lvl="1"/>
            <a:r>
              <a:rPr lang="hu-HU" dirty="0"/>
              <a:t>Hierarchia</a:t>
            </a:r>
          </a:p>
          <a:p>
            <a:pPr lvl="1"/>
            <a:r>
              <a:rPr lang="hu-HU" dirty="0"/>
              <a:t>Aktaszerűség</a:t>
            </a:r>
          </a:p>
          <a:p>
            <a:pPr lvl="1"/>
            <a:r>
              <a:rPr lang="hu-HU" dirty="0"/>
              <a:t>Szakmai hozzáértés</a:t>
            </a:r>
          </a:p>
          <a:p>
            <a:pPr lvl="1"/>
            <a:r>
              <a:rPr lang="hu-HU" dirty="0"/>
              <a:t>Személytelenség tárgyilagosság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="" xmlns:a16="http://schemas.microsoft.com/office/drawing/2014/main" id="{7ADB85DE-5D70-4A1B-9F2F-2707FFEC9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16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="" xmlns:a16="http://schemas.microsoft.com/office/drawing/2014/main" id="{BD92B2EB-B62B-48F3-B55A-A30661629A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Klasszikus menedzsment iskolák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75055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="" xmlns:a16="http://schemas.microsoft.com/office/drawing/2014/main" id="{CB505F43-3D91-412E-9722-5437382E2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/>
              <a:t>Emberközpontú irányzatok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="" xmlns:a16="http://schemas.microsoft.com/office/drawing/2014/main" id="{271F1DE5-BF43-4C0B-A4A4-BEB34C77F4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0" y="1382233"/>
            <a:ext cx="11919859" cy="5516170"/>
          </a:xfrm>
        </p:spPr>
        <p:txBody>
          <a:bodyPr>
            <a:normAutofit fontScale="92500" lnSpcReduction="10000"/>
          </a:bodyPr>
          <a:lstStyle/>
          <a:p>
            <a:r>
              <a:rPr lang="hu-HU" b="1" dirty="0"/>
              <a:t>A szervezetekben élő, dolgozó embert állították a középpontba</a:t>
            </a:r>
          </a:p>
          <a:p>
            <a:r>
              <a:rPr lang="hu-HU" dirty="0"/>
              <a:t>A szervezet, mint társadalmi rendszer befolyásolja az </a:t>
            </a:r>
            <a:r>
              <a:rPr lang="hu-HU" b="1" dirty="0"/>
              <a:t>egyéni szervezeti szerepek </a:t>
            </a:r>
            <a:r>
              <a:rPr lang="hu-HU" dirty="0"/>
              <a:t>kialakulását és saját normákat alakít ki, amelyek eltérnek a formális szervezet által előírtaktól</a:t>
            </a:r>
          </a:p>
          <a:p>
            <a:r>
              <a:rPr lang="hu-HU" dirty="0"/>
              <a:t>Az egyéneket </a:t>
            </a:r>
            <a:r>
              <a:rPr lang="hu-HU" b="1" dirty="0"/>
              <a:t>nemcsak gazdasági ösztönzőkkel</a:t>
            </a:r>
            <a:r>
              <a:rPr lang="hu-HU" dirty="0"/>
              <a:t>, hanem különböző társas és pszichológiai tényezőkkel  is lehet motiválni. A viselkedést olyan tényezők  is befolyásolják, mint pl. érzések, érzelmek és attitűdök</a:t>
            </a:r>
          </a:p>
          <a:p>
            <a:r>
              <a:rPr lang="hu-HU" dirty="0"/>
              <a:t>Az </a:t>
            </a:r>
            <a:r>
              <a:rPr lang="hu-HU" b="1" dirty="0"/>
              <a:t>informális munkacsoport </a:t>
            </a:r>
            <a:r>
              <a:rPr lang="hu-HU" dirty="0"/>
              <a:t>fontos szervezeti tényező. A csoportnak nagy szerepe van az egyes munkások attitűdjének és teljesítményének meghatározásában</a:t>
            </a:r>
          </a:p>
          <a:p>
            <a:r>
              <a:rPr lang="hu-HU" dirty="0"/>
              <a:t>A formális struktúrán alapuló vezetési módszereket a </a:t>
            </a:r>
            <a:r>
              <a:rPr lang="hu-HU" b="1" dirty="0" smtClean="0"/>
              <a:t>pszicho-szociális </a:t>
            </a:r>
            <a:r>
              <a:rPr lang="hu-HU" dirty="0" smtClean="0"/>
              <a:t>megfontolások </a:t>
            </a:r>
            <a:r>
              <a:rPr lang="hu-HU" dirty="0"/>
              <a:t>bekapcsolásával jelentősen át kell alakítani</a:t>
            </a:r>
          </a:p>
          <a:p>
            <a:r>
              <a:rPr lang="hu-HU" dirty="0"/>
              <a:t>A munkások teljesítménye szorosan összefügg </a:t>
            </a:r>
            <a:r>
              <a:rPr lang="hu-HU" b="1" dirty="0"/>
              <a:t>munkahelyi megelégedettség</a:t>
            </a:r>
            <a:r>
              <a:rPr lang="hu-HU" dirty="0"/>
              <a:t>ükkel</a:t>
            </a:r>
          </a:p>
          <a:p>
            <a:r>
              <a:rPr lang="hu-HU" dirty="0"/>
              <a:t>Fontos, hogy </a:t>
            </a:r>
            <a:r>
              <a:rPr lang="hu-HU" b="1" dirty="0"/>
              <a:t>működőképes  kommunikációs csatornák </a:t>
            </a:r>
            <a:r>
              <a:rPr lang="hu-HU" dirty="0"/>
              <a:t>épüljenek ki a szervezeti szintek között, hogy javuljon az információáramlás</a:t>
            </a:r>
          </a:p>
          <a:p>
            <a:r>
              <a:rPr lang="hu-HU" dirty="0"/>
              <a:t>A vezetésnek </a:t>
            </a:r>
            <a:r>
              <a:rPr lang="hu-HU" b="1" dirty="0"/>
              <a:t>technikai és szociális képzettségre </a:t>
            </a:r>
            <a:r>
              <a:rPr lang="hu-HU" dirty="0"/>
              <a:t>egyaránt szükség van</a:t>
            </a:r>
          </a:p>
          <a:p>
            <a:r>
              <a:rPr lang="hu-HU" dirty="0"/>
              <a:t>A szervezeti tagok nagyobb teljesítményre serkenthetők azáltal, hogy lehetővé tesszük számukra bizonyos </a:t>
            </a:r>
            <a:r>
              <a:rPr lang="hu-HU" b="1" dirty="0"/>
              <a:t>szociálpszichológiai szükségleteik kielégítését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="" xmlns:a16="http://schemas.microsoft.com/office/drawing/2014/main" id="{7ADB85DE-5D70-4A1B-9F2F-2707FFEC9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17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="" xmlns:a16="http://schemas.microsoft.com/office/drawing/2014/main" id="{BD92B2EB-B62B-48F3-B55A-A30661629A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Emberközpontú irányzatok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7584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="" xmlns:a16="http://schemas.microsoft.com/office/drawing/2014/main" id="{CB505F43-3D91-412E-9722-5437382E2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/>
              <a:t>George </a:t>
            </a:r>
            <a:r>
              <a:rPr lang="hu-HU" dirty="0" err="1"/>
              <a:t>Elton</a:t>
            </a:r>
            <a:r>
              <a:rPr lang="hu-HU" dirty="0"/>
              <a:t> </a:t>
            </a:r>
            <a:r>
              <a:rPr lang="hu-HU" dirty="0" err="1"/>
              <a:t>Mayo</a:t>
            </a:r>
            <a:r>
              <a:rPr lang="hu-HU" dirty="0"/>
              <a:t> (1880 – 1949)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="" xmlns:a16="http://schemas.microsoft.com/office/drawing/2014/main" id="{271F1DE5-BF43-4C0B-A4A4-BEB34C77F4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1" y="1828799"/>
            <a:ext cx="10197538" cy="455090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b="1" dirty="0"/>
              <a:t>Human Relations irányzat </a:t>
            </a:r>
            <a:r>
              <a:rPr lang="hu-HU" b="1" dirty="0" smtClean="0"/>
              <a:t>megteremtője</a:t>
            </a:r>
          </a:p>
          <a:p>
            <a:pPr marL="0" indent="0">
              <a:buNone/>
            </a:pPr>
            <a:endParaRPr lang="hu-HU" b="1" dirty="0"/>
          </a:p>
          <a:p>
            <a:pPr marL="0" indent="0">
              <a:buNone/>
            </a:pPr>
            <a:r>
              <a:rPr lang="hu-HU" b="1" dirty="0" smtClean="0"/>
              <a:t>Jellemzői:</a:t>
            </a:r>
            <a:endParaRPr lang="hu-HU" b="1" dirty="0"/>
          </a:p>
          <a:p>
            <a:pPr lvl="1"/>
            <a:r>
              <a:rPr lang="hu-HU" dirty="0"/>
              <a:t>az embert és a csoportmunkát helyezi előtérbe,</a:t>
            </a:r>
          </a:p>
          <a:p>
            <a:pPr lvl="1"/>
            <a:r>
              <a:rPr lang="hu-HU" dirty="0"/>
              <a:t>tagadja, hogy a gondolkodás csak a vezetők feladata és a munkásoknak </a:t>
            </a:r>
            <a:r>
              <a:rPr lang="hu-HU" dirty="0" smtClean="0"/>
              <a:t>csak a </a:t>
            </a:r>
            <a:r>
              <a:rPr lang="hu-HU" dirty="0"/>
              <a:t>végrehajtás a feladata,</a:t>
            </a:r>
          </a:p>
          <a:p>
            <a:pPr lvl="1"/>
            <a:r>
              <a:rPr lang="hu-HU" dirty="0"/>
              <a:t>a vezetők társadalmi összefüggésrendszerben dolgoznak,</a:t>
            </a:r>
          </a:p>
          <a:p>
            <a:pPr lvl="1"/>
            <a:r>
              <a:rPr lang="hu-HU" dirty="0"/>
              <a:t>a vezetői munka hatékonyságát pszichológiai tényezők </a:t>
            </a:r>
            <a:r>
              <a:rPr lang="hu-HU" dirty="0" smtClean="0"/>
              <a:t>befolyásolják.</a:t>
            </a:r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="" xmlns:a16="http://schemas.microsoft.com/office/drawing/2014/main" id="{7ADB85DE-5D70-4A1B-9F2F-2707FFEC9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18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="" xmlns:a16="http://schemas.microsoft.com/office/drawing/2014/main" id="{BD92B2EB-B62B-48F3-B55A-A30661629A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Emberközpontú irányzatok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67734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="" xmlns:a16="http://schemas.microsoft.com/office/drawing/2014/main" id="{CB505F43-3D91-412E-9722-5437382E2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/>
              <a:t>Douglas McGregor (1906 – 1964)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="" xmlns:a16="http://schemas.microsoft.com/office/drawing/2014/main" id="{271F1DE5-BF43-4C0B-A4A4-BEB34C77F4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0" y="1382233"/>
            <a:ext cx="11919859" cy="551617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hu-HU" i="1" dirty="0"/>
              <a:t>Kiindulópont: minden vezető tevékenysége, döntése mögött felfedezhetők az emberi természetről és viselkedésről alkotott feltételezések. </a:t>
            </a:r>
            <a:r>
              <a:rPr lang="hu-HU" i="1" dirty="0" smtClean="0"/>
              <a:t/>
            </a:r>
            <a:br>
              <a:rPr lang="hu-HU" i="1" dirty="0" smtClean="0"/>
            </a:br>
            <a:r>
              <a:rPr lang="hu-HU" i="1" dirty="0" smtClean="0"/>
              <a:t>Az </a:t>
            </a:r>
            <a:r>
              <a:rPr lang="hu-HU" i="1" dirty="0"/>
              <a:t>X és Y elméletében foglalja </a:t>
            </a:r>
            <a:r>
              <a:rPr lang="hu-HU" i="1" dirty="0" smtClean="0"/>
              <a:t>össze az </a:t>
            </a:r>
            <a:r>
              <a:rPr lang="hu-HU" i="1" dirty="0"/>
              <a:t>emberekről alkotott hiedelmeit</a:t>
            </a:r>
          </a:p>
          <a:p>
            <a:pPr marL="0" indent="0">
              <a:buNone/>
            </a:pPr>
            <a:endParaRPr lang="hu-HU" b="1" dirty="0" smtClean="0"/>
          </a:p>
          <a:p>
            <a:pPr marL="0" indent="0">
              <a:buNone/>
            </a:pPr>
            <a:r>
              <a:rPr lang="hu-HU" b="1" dirty="0" smtClean="0"/>
              <a:t>X elmélet jellemzői:</a:t>
            </a:r>
            <a:endParaRPr lang="hu-HU" b="1" dirty="0"/>
          </a:p>
          <a:p>
            <a:pPr lvl="1"/>
            <a:r>
              <a:rPr lang="hu-HU" dirty="0"/>
              <a:t>A vezetés irányító és ellenőrző szerepeit erősítette. </a:t>
            </a:r>
            <a:endParaRPr lang="hu-HU" dirty="0" smtClean="0"/>
          </a:p>
          <a:p>
            <a:pPr lvl="1"/>
            <a:r>
              <a:rPr lang="hu-HU" dirty="0" smtClean="0"/>
              <a:t>A </a:t>
            </a:r>
            <a:r>
              <a:rPr lang="hu-HU" dirty="0"/>
              <a:t>beosztottak kezdeményezés nélküli, passzív szerepbe kényszerültek. </a:t>
            </a:r>
            <a:endParaRPr lang="hu-HU" dirty="0" smtClean="0"/>
          </a:p>
          <a:p>
            <a:pPr lvl="1"/>
            <a:r>
              <a:rPr lang="hu-HU" dirty="0" smtClean="0"/>
              <a:t>Vezető elvárásai a következetes figyelem miatti </a:t>
            </a:r>
            <a:r>
              <a:rPr lang="hu-HU" dirty="0"/>
              <a:t>feszültség, idegesség, alacsonyabb teljesítmény. </a:t>
            </a:r>
            <a:endParaRPr lang="hu-HU" dirty="0" smtClean="0"/>
          </a:p>
          <a:p>
            <a:pPr lvl="1"/>
            <a:r>
              <a:rPr lang="hu-HU" dirty="0" smtClean="0"/>
              <a:t>A </a:t>
            </a:r>
            <a:r>
              <a:rPr lang="hu-HU" dirty="0"/>
              <a:t>vezető a negatív attitűddel maga ásta csapdába esett bele</a:t>
            </a:r>
          </a:p>
          <a:p>
            <a:pPr marL="0" indent="0">
              <a:buNone/>
            </a:pPr>
            <a:endParaRPr lang="hu-HU" b="1" dirty="0" smtClean="0"/>
          </a:p>
          <a:p>
            <a:pPr marL="0" indent="0">
              <a:buNone/>
            </a:pPr>
            <a:r>
              <a:rPr lang="hu-HU" b="1" dirty="0" smtClean="0"/>
              <a:t>Y elmélet jellemzői:</a:t>
            </a:r>
            <a:endParaRPr lang="hu-HU" b="1" dirty="0"/>
          </a:p>
          <a:p>
            <a:pPr lvl="1"/>
            <a:r>
              <a:rPr lang="hu-HU" dirty="0"/>
              <a:t>Az átlagember számára kívánatos a munkavégzéssel járó testi és szellemi erőfeszítés. </a:t>
            </a:r>
            <a:endParaRPr lang="hu-HU" dirty="0" smtClean="0"/>
          </a:p>
          <a:p>
            <a:pPr lvl="1"/>
            <a:r>
              <a:rPr lang="hu-HU" dirty="0" smtClean="0"/>
              <a:t>Ha </a:t>
            </a:r>
            <a:r>
              <a:rPr lang="hu-HU" dirty="0"/>
              <a:t>az ember elkötelezi magát bizonyos szervezeti célok iránt, </a:t>
            </a:r>
            <a:r>
              <a:rPr lang="hu-HU" dirty="0" smtClean="0"/>
              <a:t>azonosul, mert az </a:t>
            </a:r>
            <a:r>
              <a:rPr lang="hu-HU" dirty="0"/>
              <a:t>ember képes magát irányítani és ellenőrizni. </a:t>
            </a:r>
            <a:endParaRPr lang="hu-HU" dirty="0" smtClean="0"/>
          </a:p>
          <a:p>
            <a:pPr lvl="1"/>
            <a:r>
              <a:rPr lang="hu-HU" dirty="0" smtClean="0"/>
              <a:t>Szervezeti </a:t>
            </a:r>
            <a:r>
              <a:rPr lang="hu-HU" dirty="0"/>
              <a:t>elkötelezettség vs. jutalom. </a:t>
            </a:r>
            <a:endParaRPr lang="hu-HU" dirty="0" smtClean="0"/>
          </a:p>
          <a:p>
            <a:pPr lvl="1"/>
            <a:r>
              <a:rPr lang="hu-HU" dirty="0" smtClean="0"/>
              <a:t>Megfelelő feltételek mellett </a:t>
            </a:r>
            <a:r>
              <a:rPr lang="hu-HU" dirty="0"/>
              <a:t>felelősség </a:t>
            </a:r>
            <a:r>
              <a:rPr lang="hu-HU" dirty="0" smtClean="0"/>
              <a:t>keresése </a:t>
            </a:r>
          </a:p>
          <a:p>
            <a:pPr lvl="1"/>
            <a:r>
              <a:rPr lang="hu-HU" dirty="0" smtClean="0"/>
              <a:t>A modern ipari élet az átlagember </a:t>
            </a:r>
            <a:r>
              <a:rPr lang="hu-HU" dirty="0"/>
              <a:t>szellemi potenciálját csak részben használja ki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="" xmlns:a16="http://schemas.microsoft.com/office/drawing/2014/main" id="{7ADB85DE-5D70-4A1B-9F2F-2707FFEC9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19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="" xmlns:a16="http://schemas.microsoft.com/office/drawing/2014/main" id="{BD92B2EB-B62B-48F3-B55A-A30661629A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Emberközpontú irányzatok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47375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="" xmlns:a16="http://schemas.microsoft.com/office/drawing/2014/main" id="{CB505F43-3D91-412E-9722-5437382E2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/>
              <a:t>Douglas McGregor (1906 – 1964)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="" xmlns:a16="http://schemas.microsoft.com/office/drawing/2014/main" id="{271F1DE5-BF43-4C0B-A4A4-BEB34C77F4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0" y="1382233"/>
            <a:ext cx="11919859" cy="5516170"/>
          </a:xfrm>
        </p:spPr>
        <p:txBody>
          <a:bodyPr numCol="2">
            <a:normAutofit lnSpcReduction="10000"/>
          </a:bodyPr>
          <a:lstStyle/>
          <a:p>
            <a:pPr marL="0" indent="0">
              <a:buNone/>
            </a:pPr>
            <a:r>
              <a:rPr lang="hu-HU" b="1" dirty="0"/>
              <a:t>Klasszikus X </a:t>
            </a:r>
            <a:r>
              <a:rPr lang="hu-HU" b="1" dirty="0" smtClean="0"/>
              <a:t>elmélet:</a:t>
            </a:r>
            <a:endParaRPr lang="hu-HU" b="1" dirty="0"/>
          </a:p>
          <a:p>
            <a:pPr lvl="1"/>
            <a:r>
              <a:rPr lang="hu-HU" dirty="0"/>
              <a:t>Az átlagemberben veleszületett idegenkedés van a munkával szemben és ha lehet, kerüli azt. </a:t>
            </a:r>
            <a:endParaRPr lang="hu-HU" dirty="0" smtClean="0"/>
          </a:p>
          <a:p>
            <a:pPr lvl="1"/>
            <a:r>
              <a:rPr lang="hu-HU" dirty="0" smtClean="0"/>
              <a:t>Kerülik </a:t>
            </a:r>
            <a:r>
              <a:rPr lang="hu-HU" dirty="0"/>
              <a:t>a felelősséget. </a:t>
            </a:r>
            <a:endParaRPr lang="hu-HU" dirty="0" smtClean="0"/>
          </a:p>
          <a:p>
            <a:pPr lvl="1"/>
            <a:r>
              <a:rPr lang="hu-HU" dirty="0" smtClean="0"/>
              <a:t>Nem </a:t>
            </a:r>
            <a:r>
              <a:rPr lang="hu-HU" dirty="0"/>
              <a:t>érdeklik az eredmények. </a:t>
            </a:r>
            <a:endParaRPr lang="hu-HU" dirty="0" smtClean="0"/>
          </a:p>
          <a:p>
            <a:pPr lvl="1"/>
            <a:r>
              <a:rPr lang="hu-HU" dirty="0" smtClean="0"/>
              <a:t>Az </a:t>
            </a:r>
            <a:r>
              <a:rPr lang="hu-HU" dirty="0"/>
              <a:t>emberek önállótlanok és lusták és a legkevesebbet dolgoznak. </a:t>
            </a:r>
            <a:endParaRPr lang="hu-HU" dirty="0" smtClean="0"/>
          </a:p>
          <a:p>
            <a:pPr lvl="1"/>
            <a:r>
              <a:rPr lang="hu-HU" dirty="0" smtClean="0"/>
              <a:t>A </a:t>
            </a:r>
            <a:r>
              <a:rPr lang="hu-HU" dirty="0"/>
              <a:t>legtöbb embert kényszeríteni, ellenőrizni, irányítani és büntetéssel kell fenyegetni, erőfeszítésre rábírni. </a:t>
            </a:r>
            <a:endParaRPr lang="hu-HU" dirty="0" smtClean="0"/>
          </a:p>
          <a:p>
            <a:pPr lvl="1"/>
            <a:r>
              <a:rPr lang="hu-HU" dirty="0" smtClean="0"/>
              <a:t>Az </a:t>
            </a:r>
            <a:r>
              <a:rPr lang="hu-HU" dirty="0"/>
              <a:t>átlagember szeretik, ha irányítják, igyekszik elhárítani a felelősséget.</a:t>
            </a:r>
          </a:p>
          <a:p>
            <a:endParaRPr lang="hu-HU" b="1" dirty="0"/>
          </a:p>
          <a:p>
            <a:endParaRPr lang="hu-HU" b="1" dirty="0"/>
          </a:p>
          <a:p>
            <a:endParaRPr lang="hu-HU" b="1" dirty="0"/>
          </a:p>
          <a:p>
            <a:r>
              <a:rPr lang="hu-HU" b="1" dirty="0"/>
              <a:t>Y elmélet</a:t>
            </a:r>
          </a:p>
          <a:p>
            <a:pPr lvl="1"/>
            <a:r>
              <a:rPr lang="hu-HU" dirty="0"/>
              <a:t>Önállóság, </a:t>
            </a:r>
            <a:endParaRPr lang="hu-HU" dirty="0" smtClean="0"/>
          </a:p>
          <a:p>
            <a:pPr lvl="1"/>
            <a:r>
              <a:rPr lang="hu-HU" dirty="0" smtClean="0"/>
              <a:t>Saját </a:t>
            </a:r>
            <a:r>
              <a:rPr lang="hu-HU" dirty="0"/>
              <a:t>céljukért keményen dolgoznak, </a:t>
            </a:r>
            <a:endParaRPr lang="hu-HU" dirty="0" smtClean="0"/>
          </a:p>
          <a:p>
            <a:pPr lvl="1"/>
            <a:r>
              <a:rPr lang="hu-HU" dirty="0" smtClean="0"/>
              <a:t>Eredményre </a:t>
            </a:r>
            <a:r>
              <a:rPr lang="hu-HU" dirty="0"/>
              <a:t>törekvés, </a:t>
            </a:r>
            <a:endParaRPr lang="hu-HU" dirty="0" smtClean="0"/>
          </a:p>
          <a:p>
            <a:pPr lvl="1"/>
            <a:r>
              <a:rPr lang="hu-HU" dirty="0" smtClean="0"/>
              <a:t>Képesek </a:t>
            </a:r>
            <a:r>
              <a:rPr lang="hu-HU" dirty="0"/>
              <a:t>saját viselkedésük irányítására</a:t>
            </a:r>
          </a:p>
          <a:p>
            <a:pPr lvl="1"/>
            <a:r>
              <a:rPr lang="hu-HU" dirty="0"/>
              <a:t>Nem passzívak</a:t>
            </a:r>
          </a:p>
          <a:p>
            <a:pPr lvl="1"/>
            <a:r>
              <a:rPr lang="hu-HU" dirty="0"/>
              <a:t>Nem ostobák</a:t>
            </a:r>
          </a:p>
          <a:p>
            <a:pPr lvl="1"/>
            <a:r>
              <a:rPr lang="hu-HU" dirty="0"/>
              <a:t>Döntésképesek</a:t>
            </a:r>
          </a:p>
          <a:p>
            <a:pPr lvl="1"/>
            <a:r>
              <a:rPr lang="hu-HU" dirty="0"/>
              <a:t>Az ember nem idegenkedik a munkától</a:t>
            </a:r>
          </a:p>
          <a:p>
            <a:pPr lvl="1"/>
            <a:r>
              <a:rPr lang="hu-HU" dirty="0"/>
              <a:t>Elkötelezettség, saját irányítás</a:t>
            </a:r>
          </a:p>
          <a:p>
            <a:pPr lvl="1"/>
            <a:r>
              <a:rPr lang="hu-HU" dirty="0"/>
              <a:t>Felelősségérzet</a:t>
            </a:r>
          </a:p>
          <a:p>
            <a:pPr lvl="1"/>
            <a:r>
              <a:rPr lang="hu-HU" dirty="0"/>
              <a:t>Kívánják szervezetük sikerét </a:t>
            </a:r>
            <a:endParaRPr lang="hu-HU" dirty="0" smtClean="0"/>
          </a:p>
          <a:p>
            <a:pPr lvl="1"/>
            <a:r>
              <a:rPr lang="hu-HU" dirty="0" smtClean="0"/>
              <a:t>A </a:t>
            </a:r>
            <a:r>
              <a:rPr lang="hu-HU" dirty="0"/>
              <a:t>vállalatok az ember szellemi potenciálját csak részben használják ki.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="" xmlns:a16="http://schemas.microsoft.com/office/drawing/2014/main" id="{7ADB85DE-5D70-4A1B-9F2F-2707FFEC9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20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="" xmlns:a16="http://schemas.microsoft.com/office/drawing/2014/main" id="{BD92B2EB-B62B-48F3-B55A-A30661629A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Emberközpontú irányzatok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1511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="" xmlns:a16="http://schemas.microsoft.com/office/drawing/2014/main" id="{CB505F43-3D91-412E-9722-5437382E2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/>
              <a:t>Döntésközpontú – Leadership elméletek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="" xmlns:a16="http://schemas.microsoft.com/office/drawing/2014/main" id="{271F1DE5-BF43-4C0B-A4A4-BEB34C77F4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0" y="1382233"/>
            <a:ext cx="11919859" cy="5516170"/>
          </a:xfrm>
        </p:spPr>
        <p:txBody>
          <a:bodyPr numCol="1">
            <a:normAutofit/>
          </a:bodyPr>
          <a:lstStyle/>
          <a:p>
            <a:pPr marL="0" indent="0">
              <a:buNone/>
            </a:pPr>
            <a:r>
              <a:rPr lang="hu-HU" dirty="0"/>
              <a:t>A vezetési stílusokat a döntéshozatal módja szerint tipologizálják</a:t>
            </a:r>
          </a:p>
          <a:p>
            <a:endParaRPr lang="hu-HU" dirty="0" smtClean="0"/>
          </a:p>
          <a:p>
            <a:pPr marL="0" indent="0">
              <a:buNone/>
            </a:pPr>
            <a:r>
              <a:rPr lang="hu-HU" dirty="0" smtClean="0"/>
              <a:t>Hogyan </a:t>
            </a:r>
            <a:r>
              <a:rPr lang="hu-HU" dirty="0"/>
              <a:t>hozza a vezető a döntést, milyen részvételt enged másoknak a döntéshozatalban</a:t>
            </a:r>
          </a:p>
          <a:p>
            <a:pPr lvl="1"/>
            <a:r>
              <a:rPr lang="hu-HU" dirty="0"/>
              <a:t>Vezetői típusok</a:t>
            </a:r>
          </a:p>
          <a:p>
            <a:pPr lvl="1"/>
            <a:r>
              <a:rPr lang="hu-HU" dirty="0"/>
              <a:t>Vezetői döntéshozás</a:t>
            </a:r>
          </a:p>
          <a:p>
            <a:pPr lvl="1"/>
            <a:r>
              <a:rPr lang="hu-HU" dirty="0"/>
              <a:t>Szervezeti kultúra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="" xmlns:a16="http://schemas.microsoft.com/office/drawing/2014/main" id="{7ADB85DE-5D70-4A1B-9F2F-2707FFEC9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21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="" xmlns:a16="http://schemas.microsoft.com/office/drawing/2014/main" id="{BD92B2EB-B62B-48F3-B55A-A30661629A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Döntésközpontú - Leadership elméletek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03667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="" xmlns:a16="http://schemas.microsoft.com/office/drawing/2014/main" id="{CB505F43-3D91-412E-9722-5437382E2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/>
              <a:t>Kurt </a:t>
            </a:r>
            <a:r>
              <a:rPr lang="hu-HU" dirty="0" err="1"/>
              <a:t>Lewin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="" xmlns:a16="http://schemas.microsoft.com/office/drawing/2014/main" id="{271F1DE5-BF43-4C0B-A4A4-BEB34C77F4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0" y="1382233"/>
            <a:ext cx="11919859" cy="5516170"/>
          </a:xfrm>
        </p:spPr>
        <p:txBody>
          <a:bodyPr numCol="1">
            <a:normAutofit lnSpcReduction="10000"/>
          </a:bodyPr>
          <a:lstStyle/>
          <a:p>
            <a:pPr marL="0" indent="0">
              <a:buNone/>
            </a:pPr>
            <a:r>
              <a:rPr lang="hu-HU" b="1" dirty="0"/>
              <a:t>Autokratikus vezető</a:t>
            </a:r>
          </a:p>
          <a:p>
            <a:pPr lvl="1"/>
            <a:r>
              <a:rPr lang="hu-HU" dirty="0"/>
              <a:t>az autokratikus vezető egymaga uralja a csoport tevékenységét, ő határoz minden lényeges kérdésben, szubjektív alapon értékel; szigorú, fegyelmet tartó</a:t>
            </a:r>
          </a:p>
          <a:p>
            <a:pPr marL="0" indent="0">
              <a:buNone/>
            </a:pPr>
            <a:r>
              <a:rPr lang="hu-HU" b="1" dirty="0"/>
              <a:t>Demokratikus vezető</a:t>
            </a:r>
          </a:p>
          <a:p>
            <a:pPr lvl="1"/>
            <a:r>
              <a:rPr lang="hu-HU" dirty="0"/>
              <a:t> igyekszik fokozni a csoporttagok részvételét, objektív teljesítményértékelésre törekszik</a:t>
            </a:r>
          </a:p>
          <a:p>
            <a:pPr marL="0" indent="0">
              <a:buNone/>
            </a:pPr>
            <a:r>
              <a:rPr lang="hu-HU" b="1" dirty="0" err="1"/>
              <a:t>Laisseiz-faire</a:t>
            </a:r>
            <a:r>
              <a:rPr lang="hu-HU" b="1" dirty="0"/>
              <a:t> </a:t>
            </a:r>
            <a:r>
              <a:rPr lang="hu-HU" b="1" dirty="0" smtClean="0"/>
              <a:t>(szabadjára engedő) vezető</a:t>
            </a:r>
            <a:endParaRPr lang="hu-HU" b="1" dirty="0"/>
          </a:p>
          <a:p>
            <a:pPr lvl="1"/>
            <a:r>
              <a:rPr lang="hu-HU" dirty="0"/>
              <a:t>a vezető passzív résztvevője a csoport tevékenységének; lényegében nem is vezető, csak tanácsadó</a:t>
            </a:r>
          </a:p>
          <a:p>
            <a:pPr marL="0" indent="0">
              <a:buNone/>
            </a:pPr>
            <a:endParaRPr lang="hu-HU" b="1" dirty="0" smtClean="0"/>
          </a:p>
          <a:p>
            <a:pPr marL="0" indent="0">
              <a:buNone/>
            </a:pPr>
            <a:r>
              <a:rPr lang="hu-HU" b="1" dirty="0" smtClean="0"/>
              <a:t>Vizsgálata </a:t>
            </a:r>
            <a:r>
              <a:rPr lang="hu-HU" b="1" dirty="0"/>
              <a:t>az alábbi szempontokra terjedt </a:t>
            </a:r>
            <a:r>
              <a:rPr lang="hu-HU" b="1" dirty="0" smtClean="0"/>
              <a:t>ki a három fenti vezetési stílusú szervezeteknél:</a:t>
            </a:r>
            <a:endParaRPr lang="hu-HU" b="1" dirty="0"/>
          </a:p>
          <a:p>
            <a:pPr lvl="1"/>
            <a:r>
              <a:rPr lang="hu-HU" dirty="0"/>
              <a:t>a tevékenységek szabályozása</a:t>
            </a:r>
          </a:p>
          <a:p>
            <a:pPr lvl="1"/>
            <a:r>
              <a:rPr lang="hu-HU" dirty="0"/>
              <a:t>a feladatok megosztása</a:t>
            </a:r>
          </a:p>
          <a:p>
            <a:pPr lvl="1"/>
            <a:r>
              <a:rPr lang="hu-HU" dirty="0"/>
              <a:t>a csoporton belüli együttműködés</a:t>
            </a:r>
          </a:p>
          <a:p>
            <a:pPr lvl="1"/>
            <a:r>
              <a:rPr lang="hu-HU" dirty="0"/>
              <a:t>a tevékenység eredményének értékelése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="" xmlns:a16="http://schemas.microsoft.com/office/drawing/2014/main" id="{7ADB85DE-5D70-4A1B-9F2F-2707FFEC9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22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="" xmlns:a16="http://schemas.microsoft.com/office/drawing/2014/main" id="{BD92B2EB-B62B-48F3-B55A-A30661629A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Döntésközpontú - Leadership elméletek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0336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="" xmlns:a16="http://schemas.microsoft.com/office/drawing/2014/main" id="{CB505F43-3D91-412E-9722-5437382E2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/>
              <a:t>Likert egytényezős modellje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="" xmlns:a16="http://schemas.microsoft.com/office/drawing/2014/main" id="{271F1DE5-BF43-4C0B-A4A4-BEB34C77F4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0" y="1382233"/>
            <a:ext cx="11919859" cy="5516170"/>
          </a:xfrm>
        </p:spPr>
        <p:txBody>
          <a:bodyPr numCol="1">
            <a:normAutofit fontScale="92500" lnSpcReduction="10000"/>
          </a:bodyPr>
          <a:lstStyle/>
          <a:p>
            <a:r>
              <a:rPr lang="hu-HU" dirty="0"/>
              <a:t>Likert és munkatársai a participatív, támogató vezetési stílust </a:t>
            </a:r>
            <a:r>
              <a:rPr lang="hu-HU" dirty="0" smtClean="0"/>
              <a:t>ajánlották</a:t>
            </a:r>
          </a:p>
          <a:p>
            <a:pPr marL="0" indent="0">
              <a:buNone/>
            </a:pPr>
            <a:endParaRPr lang="hu-HU" dirty="0"/>
          </a:p>
          <a:p>
            <a:r>
              <a:rPr lang="hu-HU" dirty="0"/>
              <a:t>Likert a vezetési stílusok leírására négyfokozatú tipológiát alkotott. A 2 szélső érték tulajdonképpen megfelel </a:t>
            </a:r>
            <a:r>
              <a:rPr lang="hu-HU" dirty="0" err="1"/>
              <a:t>Lewin</a:t>
            </a:r>
            <a:r>
              <a:rPr lang="hu-HU" dirty="0"/>
              <a:t> autokratikus és demokratikus </a:t>
            </a:r>
            <a:r>
              <a:rPr lang="hu-HU" dirty="0" smtClean="0"/>
              <a:t>stílusának</a:t>
            </a:r>
          </a:p>
          <a:p>
            <a:pPr marL="0" indent="0">
              <a:buNone/>
            </a:pPr>
            <a:endParaRPr lang="hu-HU" dirty="0"/>
          </a:p>
          <a:p>
            <a:r>
              <a:rPr lang="hu-HU" b="1" dirty="0" err="1"/>
              <a:t>Koonzt</a:t>
            </a:r>
            <a:r>
              <a:rPr lang="hu-HU" b="1" dirty="0"/>
              <a:t> és társai ezt a következő módon írják le (Likert nyomán):</a:t>
            </a:r>
          </a:p>
          <a:p>
            <a:pPr lvl="1"/>
            <a:r>
              <a:rPr lang="hu-HU" b="1" dirty="0"/>
              <a:t>keménykezű parancsoló: </a:t>
            </a:r>
            <a:r>
              <a:rPr lang="hu-HU" dirty="0"/>
              <a:t>autokratikus vezető, beosztottjai­val bizalmatlan; rendszerint fenyeget, ritkábban jutalmaz, lefelé irányuló kommunikáció, központosított döntéshozatal és ellenőrzés</a:t>
            </a:r>
          </a:p>
          <a:p>
            <a:pPr lvl="1"/>
            <a:r>
              <a:rPr lang="hu-HU" b="1" dirty="0"/>
              <a:t>jóakaratú parancsoló: </a:t>
            </a:r>
            <a:r>
              <a:rPr lang="hu-HU" dirty="0"/>
              <a:t>némi bizalom a beosztottak iránt; ritkábban fenyeget, valamelyest működteti a felfelé irányuló kommunikációs csatornákat is; a döntések bizonyos körét alárendeltjei hatáskörébe utalja, de szorosan ellenőrzi őket</a:t>
            </a:r>
          </a:p>
          <a:p>
            <a:pPr lvl="1"/>
            <a:r>
              <a:rPr lang="hu-HU" b="1" dirty="0"/>
              <a:t>konzultatív stílusú vezető: </a:t>
            </a:r>
            <a:r>
              <a:rPr lang="hu-HU" dirty="0"/>
              <a:t>alapvetően bízik beosztottjai­ban, véleményüket konstruktívan felhasználja, motiválás: jutalmazás, igen ritka büntetés, kommunikáció felfelé és lefelé, átfogó döntések esetén testületi elv, míg a speciális döntések széleskörűen eloszlanak; sokszínű konzultációs gyakorlat</a:t>
            </a:r>
          </a:p>
          <a:p>
            <a:pPr lvl="1"/>
            <a:r>
              <a:rPr lang="hu-HU" b="1" dirty="0"/>
              <a:t>részvételi csoport: </a:t>
            </a:r>
            <a:r>
              <a:rPr lang="hu-HU" dirty="0"/>
              <a:t>teljes bizalom a beosztottak iránt, állandóan igénylik az ötletüket; motiválás: anyagi elismerés, a csoporttagok bekapcsolása a célkitűzési folyamatba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="" xmlns:a16="http://schemas.microsoft.com/office/drawing/2014/main" id="{7ADB85DE-5D70-4A1B-9F2F-2707FFEC9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23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="" xmlns:a16="http://schemas.microsoft.com/office/drawing/2014/main" id="{BD92B2EB-B62B-48F3-B55A-A30661629A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Döntésközpontú - Leadership elméletek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80167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="" xmlns:a16="http://schemas.microsoft.com/office/drawing/2014/main" id="{CB505F43-3D91-412E-9722-5437382E2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/>
              <a:t>Tannenbaum – </a:t>
            </a:r>
            <a:r>
              <a:rPr lang="hu-HU" dirty="0" smtClean="0"/>
              <a:t>Schmidt: </a:t>
            </a:r>
            <a:r>
              <a:rPr lang="hu-HU" dirty="0"/>
              <a:t>hatalom – részvétel modell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="" xmlns:a16="http://schemas.microsoft.com/office/drawing/2014/main" id="{271F1DE5-BF43-4C0B-A4A4-BEB34C77F4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0" y="1382233"/>
            <a:ext cx="11919859" cy="5516170"/>
          </a:xfrm>
        </p:spPr>
        <p:txBody>
          <a:bodyPr numCol="1">
            <a:normAutofit fontScale="85000" lnSpcReduction="20000"/>
          </a:bodyPr>
          <a:lstStyle/>
          <a:p>
            <a:pPr marL="0" indent="0">
              <a:buNone/>
            </a:pPr>
            <a:r>
              <a:rPr lang="hu-HU" dirty="0" smtClean="0"/>
              <a:t>Árnyalt, </a:t>
            </a:r>
            <a:r>
              <a:rPr lang="hu-HU" dirty="0"/>
              <a:t>hétfokozatú skálán írták le és értelmezték a beosztottaknak a hatalomban való </a:t>
            </a:r>
            <a:r>
              <a:rPr lang="hu-HU" dirty="0" smtClean="0"/>
              <a:t>részvételét</a:t>
            </a:r>
            <a:endParaRPr lang="hu-HU" dirty="0"/>
          </a:p>
          <a:p>
            <a:pPr marL="0" indent="0">
              <a:buNone/>
            </a:pPr>
            <a:r>
              <a:rPr lang="hu-HU" dirty="0"/>
              <a:t>A 2 szélső típus: </a:t>
            </a:r>
            <a:r>
              <a:rPr lang="hu-HU" dirty="0" smtClean="0"/>
              <a:t>főnök-központú</a:t>
            </a:r>
            <a:r>
              <a:rPr lang="hu-HU" dirty="0"/>
              <a:t>, ill. </a:t>
            </a:r>
            <a:r>
              <a:rPr lang="hu-HU" dirty="0" smtClean="0"/>
              <a:t>beosztott-központú vezetés</a:t>
            </a:r>
          </a:p>
          <a:p>
            <a:pPr marL="0" indent="0">
              <a:buNone/>
            </a:pPr>
            <a:endParaRPr lang="hu-HU" dirty="0"/>
          </a:p>
          <a:p>
            <a:pPr marL="0" indent="0">
              <a:buNone/>
            </a:pPr>
            <a:r>
              <a:rPr lang="hu-HU" b="1" dirty="0"/>
              <a:t>A döntéshozatal kapcsán a következőket vizsgálták</a:t>
            </a:r>
          </a:p>
          <a:p>
            <a:pPr lvl="1"/>
            <a:r>
              <a:rPr lang="hu-HU" dirty="0"/>
              <a:t>ki fogalmazza meg a </a:t>
            </a:r>
            <a:r>
              <a:rPr lang="hu-HU" dirty="0" smtClean="0"/>
              <a:t>problémát?</a:t>
            </a:r>
            <a:endParaRPr lang="hu-HU" dirty="0"/>
          </a:p>
          <a:p>
            <a:pPr lvl="1"/>
            <a:r>
              <a:rPr lang="hu-HU" dirty="0"/>
              <a:t>ki javasol megoldási </a:t>
            </a:r>
            <a:r>
              <a:rPr lang="hu-HU" dirty="0" smtClean="0"/>
              <a:t>alternatívát?</a:t>
            </a:r>
            <a:endParaRPr lang="hu-HU" dirty="0"/>
          </a:p>
          <a:p>
            <a:pPr lvl="1"/>
            <a:r>
              <a:rPr lang="hu-HU" dirty="0"/>
              <a:t>ki véleményezi a </a:t>
            </a:r>
            <a:r>
              <a:rPr lang="hu-HU" dirty="0" smtClean="0"/>
              <a:t>javaslatokat?</a:t>
            </a:r>
            <a:endParaRPr lang="hu-HU" dirty="0"/>
          </a:p>
          <a:p>
            <a:pPr lvl="1"/>
            <a:r>
              <a:rPr lang="hu-HU" dirty="0"/>
              <a:t>ki határozza meg a döntéshozatal </a:t>
            </a:r>
            <a:r>
              <a:rPr lang="hu-HU" dirty="0" smtClean="0"/>
              <a:t>szabályait?</a:t>
            </a:r>
            <a:endParaRPr lang="hu-HU" dirty="0"/>
          </a:p>
          <a:p>
            <a:pPr lvl="1"/>
            <a:r>
              <a:rPr lang="hu-HU" dirty="0"/>
              <a:t>végső soron ki </a:t>
            </a:r>
            <a:r>
              <a:rPr lang="hu-HU" dirty="0" smtClean="0"/>
              <a:t>dönt?</a:t>
            </a:r>
          </a:p>
          <a:p>
            <a:pPr marL="457200" lvl="1" indent="0">
              <a:buNone/>
            </a:pPr>
            <a:endParaRPr lang="hu-HU" dirty="0"/>
          </a:p>
          <a:p>
            <a:pPr marL="0" indent="0">
              <a:buNone/>
            </a:pPr>
            <a:r>
              <a:rPr lang="hu-HU" b="1" dirty="0"/>
              <a:t>A 7 </a:t>
            </a:r>
            <a:r>
              <a:rPr lang="hu-HU" b="1" dirty="0" smtClean="0"/>
              <a:t>fokozat:</a:t>
            </a:r>
            <a:endParaRPr lang="hu-HU" b="1" dirty="0"/>
          </a:p>
          <a:p>
            <a:pPr marL="914400" lvl="1" indent="-457200">
              <a:buFont typeface="+mj-lt"/>
              <a:buAutoNum type="arabicPeriod"/>
            </a:pPr>
            <a:r>
              <a:rPr lang="hu-HU" dirty="0"/>
              <a:t>A vezető meghozza és bejelenti döntését.</a:t>
            </a:r>
          </a:p>
          <a:p>
            <a:pPr marL="914400" lvl="1" indent="-457200">
              <a:buFont typeface="+mj-lt"/>
              <a:buAutoNum type="arabicPeriod"/>
            </a:pPr>
            <a:r>
              <a:rPr lang="hu-HU" dirty="0"/>
              <a:t>A vezető „eladja” a döntését.</a:t>
            </a:r>
          </a:p>
          <a:p>
            <a:pPr marL="914400" lvl="1" indent="-457200">
              <a:buFont typeface="+mj-lt"/>
              <a:buAutoNum type="arabicPeriod"/>
            </a:pPr>
            <a:r>
              <a:rPr lang="hu-HU" dirty="0"/>
              <a:t>A vezető elmondja gondolatait, és felszólítja beosztottjait, hogy tegyenek fel kérdéseket.</a:t>
            </a:r>
          </a:p>
          <a:p>
            <a:pPr marL="914400" lvl="1" indent="-457200">
              <a:buFont typeface="+mj-lt"/>
              <a:buAutoNum type="arabicPeriod"/>
            </a:pPr>
            <a:r>
              <a:rPr lang="hu-HU" dirty="0"/>
              <a:t>A vezető bejelent egy döntés úgy, hogy azon még változtatni lehet.</a:t>
            </a:r>
          </a:p>
          <a:p>
            <a:pPr marL="914400" lvl="1" indent="-457200">
              <a:buFont typeface="+mj-lt"/>
              <a:buAutoNum type="arabicPeriod"/>
            </a:pPr>
            <a:r>
              <a:rPr lang="hu-HU" dirty="0"/>
              <a:t>A vezető előadja a problémát, meghallgatja a javaslatot, majd dönt.</a:t>
            </a:r>
          </a:p>
          <a:p>
            <a:pPr marL="914400" lvl="1" indent="-457200">
              <a:buFont typeface="+mj-lt"/>
              <a:buAutoNum type="arabicPeriod"/>
            </a:pPr>
            <a:r>
              <a:rPr lang="hu-HU" dirty="0"/>
              <a:t>A vezető megállapítja a határokat és felkéri a csoportot a döntés meghozatalára.</a:t>
            </a:r>
          </a:p>
          <a:p>
            <a:pPr marL="914400" lvl="1" indent="-457200">
              <a:buFont typeface="+mj-lt"/>
              <a:buAutoNum type="arabicPeriod"/>
            </a:pPr>
            <a:r>
              <a:rPr lang="hu-HU" dirty="0"/>
              <a:t>A vezető lehetővé teszi, hogy előírt korlátokon belül a csoport hozza meg a döntéseket.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="" xmlns:a16="http://schemas.microsoft.com/office/drawing/2014/main" id="{7ADB85DE-5D70-4A1B-9F2F-2707FFEC9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24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="" xmlns:a16="http://schemas.microsoft.com/office/drawing/2014/main" id="{BD92B2EB-B62B-48F3-B55A-A30661629A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Döntésközpontú - Leadership elméletek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69296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3363845" y="3055305"/>
            <a:ext cx="5033727" cy="20446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sz="4000" dirty="0" smtClean="0">
                <a:solidFill>
                  <a:srgbClr val="00B0F0"/>
                </a:solidFill>
              </a:rPr>
              <a:t>Köszönöm a figyelmet!</a:t>
            </a:r>
            <a:endParaRPr lang="hu-HU" sz="4000" dirty="0">
              <a:solidFill>
                <a:srgbClr val="00B0F0"/>
              </a:solidFill>
            </a:endParaRP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25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endParaRPr lang="hu-HU"/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7806" y="156411"/>
            <a:ext cx="581630" cy="44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6043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364</TotalTime>
  <Words>1994</Words>
  <Application>Microsoft Office PowerPoint</Application>
  <PresentationFormat>Szélesvásznú</PresentationFormat>
  <Paragraphs>325</Paragraphs>
  <Slides>25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5</vt:i4>
      </vt:variant>
      <vt:variant>
        <vt:lpstr>Téma</vt:lpstr>
      </vt:variant>
      <vt:variant>
        <vt:i4>1</vt:i4>
      </vt:variant>
      <vt:variant>
        <vt:lpstr>Diacímek</vt:lpstr>
      </vt:variant>
      <vt:variant>
        <vt:i4>25</vt:i4>
      </vt:variant>
    </vt:vector>
  </HeadingPairs>
  <TitlesOfParts>
    <vt:vector size="31" baseType="lpstr">
      <vt:lpstr>Arial</vt:lpstr>
      <vt:lpstr>Calibri</vt:lpstr>
      <vt:lpstr>Calibri Light</vt:lpstr>
      <vt:lpstr>Times New Roman</vt:lpstr>
      <vt:lpstr>Wingdings</vt:lpstr>
      <vt:lpstr>Office-téma</vt:lpstr>
      <vt:lpstr>Menedzsment iskolák</vt:lpstr>
      <vt:lpstr>Fontossága</vt:lpstr>
      <vt:lpstr>Elméletek kialakulása</vt:lpstr>
      <vt:lpstr>Elméletek kialakulása</vt:lpstr>
      <vt:lpstr>Elméletek kialakulása</vt:lpstr>
      <vt:lpstr>Frederick Winslow Taylor (1856 – 1915)</vt:lpstr>
      <vt:lpstr>Frederick Winslow Taylor (1856 – 1915)</vt:lpstr>
      <vt:lpstr>A taylorizmus kritikája</vt:lpstr>
      <vt:lpstr>Henry Fayol (1841 – 1925)</vt:lpstr>
      <vt:lpstr>Henry Fayol (1841 – 1925)</vt:lpstr>
      <vt:lpstr>Henry Fayol (1841 – 1925) – A vezetés 14 alapelve</vt:lpstr>
      <vt:lpstr>Henry Fayol (1841 – 1925) – A vezetés 14 alapelve</vt:lpstr>
      <vt:lpstr>A fayolizmus kritikája</vt:lpstr>
      <vt:lpstr>Henry Ford (1863 – 1947)</vt:lpstr>
      <vt:lpstr>Henry Ford (1863 – 1947)</vt:lpstr>
      <vt:lpstr>Max Weber (1864 – 1920)</vt:lpstr>
      <vt:lpstr>Emberközpontú irányzatok</vt:lpstr>
      <vt:lpstr>George Elton Mayo (1880 – 1949)</vt:lpstr>
      <vt:lpstr>Douglas McGregor (1906 – 1964)</vt:lpstr>
      <vt:lpstr>Douglas McGregor (1906 – 1964)</vt:lpstr>
      <vt:lpstr>Döntésközpontú – Leadership elméletek</vt:lpstr>
      <vt:lpstr>Kurt Lewin</vt:lpstr>
      <vt:lpstr>Likert egytényezős modellje</vt:lpstr>
      <vt:lpstr>Tannenbaum – Schmidt: hatalom – részvétel modell</vt:lpstr>
      <vt:lpstr>PowerPoint bemutató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Menedzsment alapjai 2.</dc:title>
  <dc:creator>MMI</dc:creator>
  <cp:lastModifiedBy>Gombaszögi Ildikó</cp:lastModifiedBy>
  <cp:revision>48</cp:revision>
  <dcterms:created xsi:type="dcterms:W3CDTF">2021-01-18T18:03:07Z</dcterms:created>
  <dcterms:modified xsi:type="dcterms:W3CDTF">2023-08-29T15:11:35Z</dcterms:modified>
</cp:coreProperties>
</file>