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9" r:id="rId14"/>
    <p:sldId id="308" r:id="rId15"/>
    <p:sldId id="307" r:id="rId16"/>
    <p:sldId id="310" r:id="rId17"/>
    <p:sldId id="311" r:id="rId18"/>
    <p:sldId id="312" r:id="rId19"/>
    <p:sldId id="313" r:id="rId20"/>
    <p:sldId id="331" r:id="rId21"/>
    <p:sldId id="314" r:id="rId22"/>
    <p:sldId id="315" r:id="rId23"/>
    <p:sldId id="316" r:id="rId24"/>
    <p:sldId id="318" r:id="rId25"/>
    <p:sldId id="319" r:id="rId26"/>
    <p:sldId id="321" r:id="rId27"/>
    <p:sldId id="320" r:id="rId28"/>
    <p:sldId id="322" r:id="rId29"/>
    <p:sldId id="330" r:id="rId30"/>
    <p:sldId id="323" r:id="rId31"/>
    <p:sldId id="324" r:id="rId32"/>
    <p:sldId id="325" r:id="rId33"/>
    <p:sldId id="326" r:id="rId34"/>
    <p:sldId id="327" r:id="rId35"/>
    <p:sldId id="328" r:id="rId36"/>
    <p:sldId id="329" r:id="rId37"/>
    <p:sldId id="282" r:id="rId3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5289"/>
    <a:srgbClr val="E8A360"/>
    <a:srgbClr val="8F8F8F"/>
    <a:srgbClr val="88944D"/>
    <a:srgbClr val="3433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Közepesen sötét stílus 2 – 6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6370" autoAdjust="0"/>
  </p:normalViewPr>
  <p:slideViewPr>
    <p:cSldViewPr snapToGrid="0">
      <p:cViewPr varScale="1">
        <p:scale>
          <a:sx n="74" d="100"/>
          <a:sy n="74" d="100"/>
        </p:scale>
        <p:origin x="340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9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9E53D2-A48E-4C9B-B410-1E4D72DE286B}" type="datetimeFigureOut">
              <a:rPr lang="hu-HU" smtClean="0"/>
              <a:t>2023. 08. 28.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FF073B-6FBE-4398-99B6-4AAC91B062C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963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0C139D-3168-4490-BB9C-BC38A0EA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8B206B0-EEE6-4BFD-858B-14AAFB8C8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5EFD624-2362-4233-AA2E-58D3AB2C1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2A2B3-E014-4A2E-A550-0FC801CC6702}" type="datetime1">
              <a:rPr lang="hu-HU" smtClean="0"/>
              <a:t>2023. 08. 28.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81589B6-0D22-495A-8AA4-804DAD7FD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1DFD03E-3F7E-4EF4-9258-A04E4B2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545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ím és tartalom">
    <p:bg>
      <p:bgPr>
        <a:solidFill>
          <a:srgbClr val="2E52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id="{DDDEED1F-4A84-460A-8607-0736A80B4660}"/>
              </a:ext>
            </a:extLst>
          </p:cNvPr>
          <p:cNvSpPr/>
          <p:nvPr userDrawn="1"/>
        </p:nvSpPr>
        <p:spPr>
          <a:xfrm>
            <a:off x="5004707" y="113167"/>
            <a:ext cx="7094084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B5A85F78-1FD5-4B49-B583-F7B2D395B8BA}"/>
              </a:ext>
            </a:extLst>
          </p:cNvPr>
          <p:cNvSpPr/>
          <p:nvPr userDrawn="1"/>
        </p:nvSpPr>
        <p:spPr>
          <a:xfrm>
            <a:off x="93209" y="89807"/>
            <a:ext cx="12005582" cy="11522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C2069732-ACEA-44F7-B5CA-BAB2F9787C78}"/>
              </a:ext>
            </a:extLst>
          </p:cNvPr>
          <p:cNvSpPr/>
          <p:nvPr userDrawn="1"/>
        </p:nvSpPr>
        <p:spPr>
          <a:xfrm>
            <a:off x="93209" y="1265463"/>
            <a:ext cx="12005582" cy="55027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AB37637-9D6E-4D90-B2F1-76E205F96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718233"/>
          </a:xfrm>
        </p:spPr>
        <p:txBody>
          <a:bodyPr>
            <a:normAutofit/>
          </a:bodyPr>
          <a:lstStyle>
            <a:lvl1pPr>
              <a:defRPr sz="4000" b="1">
                <a:latin typeface="+mn-lt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2CBCB6B-387A-4289-A82B-0BFAB4E69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510283" cy="5264148"/>
          </a:xfrm>
        </p:spPr>
        <p:txBody>
          <a:bodyPr/>
          <a:lstStyle>
            <a:lvl1pPr>
              <a:buClr>
                <a:srgbClr val="2E5289"/>
              </a:buClr>
              <a:buFont typeface="Wingdings" panose="05000000000000000000" pitchFamily="2" charset="2"/>
              <a:buChar char="§"/>
              <a:defRPr sz="2400"/>
            </a:lvl1pPr>
            <a:lvl2pPr>
              <a:buClr>
                <a:srgbClr val="2E5289"/>
              </a:buClr>
              <a:buFont typeface="Wingdings" panose="05000000000000000000" pitchFamily="2" charset="2"/>
              <a:buChar char="§"/>
              <a:defRPr sz="2400"/>
            </a:lvl2pPr>
            <a:lvl3pPr>
              <a:buClr>
                <a:srgbClr val="2E5289"/>
              </a:buClr>
              <a:buFont typeface="Wingdings" panose="05000000000000000000" pitchFamily="2" charset="2"/>
              <a:buChar char="§"/>
              <a:defRPr sz="2400"/>
            </a:lvl3pPr>
            <a:lvl4pPr>
              <a:buClr>
                <a:srgbClr val="2E5289"/>
              </a:buClr>
              <a:buFont typeface="Wingdings" panose="05000000000000000000" pitchFamily="2" charset="2"/>
              <a:buChar char="§"/>
              <a:defRPr sz="2400"/>
            </a:lvl4pPr>
            <a:lvl5pPr>
              <a:buClr>
                <a:srgbClr val="2E5289"/>
              </a:buClr>
              <a:buFont typeface="Wingdings" panose="05000000000000000000" pitchFamily="2" charset="2"/>
              <a:buChar char="§"/>
              <a:defRPr sz="2400"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ABA2E200-FE90-4F81-A7F7-486CE3F2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2729" y="6379708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F906C4D8-32F2-4A19-B0E3-4323A7BEC644}" type="slidenum">
              <a:rPr lang="hu-HU" smtClean="0"/>
              <a:pPr/>
              <a:t>‹#›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11" name="Szöveg helye 10">
            <a:extLst>
              <a:ext uri="{FF2B5EF4-FFF2-40B4-BE49-F238E27FC236}">
                <a16:creationId xmlns:a16="http://schemas.microsoft.com/office/drawing/2014/main" id="{CCA7E92E-0678-4CB8-B34A-3CEDD493C7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463" y="211135"/>
            <a:ext cx="11510284" cy="440645"/>
          </a:xfrm>
        </p:spPr>
        <p:txBody>
          <a:bodyPr/>
          <a:lstStyle>
            <a:lvl1pPr>
              <a:buNone/>
              <a:defRPr b="0"/>
            </a:lvl1pPr>
          </a:lstStyle>
          <a:p>
            <a:pPr lvl="0"/>
            <a:r>
              <a:rPr lang="hu-HU" dirty="0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30223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8E1F47-A20E-4BB9-A350-B0990DE5E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674DF5C-4EEB-42BF-947E-B831FE8D0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0F63501-4CC0-443D-9D68-F329C8C2B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1EA38-83FC-4782-9732-2A658C756FBF}" type="datetime1">
              <a:rPr lang="hu-HU" smtClean="0"/>
              <a:t>2023. 08. 28.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BAEB0E0-2A8E-4ED6-A556-F89797330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29D3C6A-29F7-48FE-BCD5-E38A7ED7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4100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10067C-BED7-4D0B-A7AE-64B226FE9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989049E-102A-47F6-9DB1-D28194DAEC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6670EB4-6095-49EF-BC35-7B589A44C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B37BD7D-E3E5-45AB-8F04-C3BB67891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02E6-7993-453D-93F9-E6EF1116D18A}" type="datetime1">
              <a:rPr lang="hu-HU" smtClean="0"/>
              <a:t>2023. 08. 28.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E3D45C3-0A0B-4B2E-82E4-EA07495C0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5B50F8E-6620-4235-B0AD-8AA15B30E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66056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66F4E0-940E-4BAE-B93C-63B7BDFB7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A2959B8-ED8C-4B0B-9977-61BD3846A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CCDBE15-67FD-4624-AA3C-3954AD9B7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DF322681-B9EB-4202-B82F-62986E7BE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C904C5F-E076-4D0B-8982-C2E9696E2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AE73D62-5ABD-42E2-8E4F-A4C9D60C5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6007-D686-40BA-81B1-73FEF61F594E}" type="datetime1">
              <a:rPr lang="hu-HU" smtClean="0"/>
              <a:t>2023. 08. 28.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12CEA0E5-76DF-4C30-B4E7-9D73172E1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E4147FC1-08D6-4073-B160-DA6C7F80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892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DEF8AF-3DBD-4787-B3C3-E54E37A4B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1004E331-98B3-4071-BBC4-B70A94793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99E8F-2C13-44E0-88ED-8DAC965F9F1B}" type="datetime1">
              <a:rPr lang="hu-HU" smtClean="0"/>
              <a:t>2023. 08. 28.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839F9EC-D9E3-4149-9FDB-26C9C93B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996AA15-EE1A-41CC-A088-942F69E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1834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232CDB6-02A2-4E33-83D0-705F4C001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2AE6F-9176-4A48-8B31-B40F1CD1CA67}" type="datetime1">
              <a:rPr lang="hu-HU" smtClean="0"/>
              <a:t>2023. 08. 28.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A57E066B-902D-436D-B156-0C745132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817F04B-AF52-4648-8F6E-228367CF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6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10A394-C766-410D-A40E-A419FE66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B9AE76C-FECB-4776-9AC6-0CC24C19A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7756CC3-7EE4-4387-9A9B-A6A7EC4EC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F71D787-FE7E-488E-820D-677DB815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64019-9299-4649-B777-D3FD3F0DF105}" type="datetime1">
              <a:rPr lang="hu-HU" smtClean="0"/>
              <a:t>2023. 08. 28.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F0CBFD6-E08D-4DC4-AD7A-CCFE18994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6DBC206-9A73-416D-8C18-5E85F368E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360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D336558-64C8-4443-A717-0E2F3CB77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D7D72D5-7457-4552-88D3-03E28DEDD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D412EE6-6AD6-4C94-9EE3-B679EAFB6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B45C1E5-6AD4-490D-9144-44476B02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CDC1-49EF-4ED0-A19F-FD7F561FE84C}" type="datetime1">
              <a:rPr lang="hu-HU" smtClean="0"/>
              <a:t>2023. 08. 28.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044CDEB-6218-40E1-B4BA-41676461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00ED222-CB4F-44CF-BA9D-2FC17CE60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0388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F5A7E4B-F7E4-4AA4-860F-4C6A03C87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A651D79-3498-4F2E-9F68-953F93D4F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304470A-ABA4-4D52-8CC9-952139B8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3B1C-99A4-498A-A255-49BFF718273E}" type="datetime1">
              <a:rPr lang="hu-HU" smtClean="0"/>
              <a:t>2023. 08. 28.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B1CFCD3-7120-46EC-9471-224D39A3B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3B51A95-5799-4B77-AC52-43F335DD4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85978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D373C461-39C7-4606-BCC4-70DADCEF46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4A7E9BB-AA6D-4D97-B1A7-18F2CD1C65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1DD3EA0-896E-47E3-A1C0-707ECCCE9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5E8A-C486-4894-8349-73C1CA8437D8}" type="datetime1">
              <a:rPr lang="hu-HU" smtClean="0"/>
              <a:t>2023. 08. 28.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C1DE335-3672-4078-9D66-23423314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FDC640C-F1ED-46D8-AB88-A36984A7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29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9ED9102-32AA-4BE9-BDE5-05201ADDA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63EEA34-9557-4D56-831A-83912F399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C69EE77-6CC9-4CC9-8D75-64722839DE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D1FF1-846C-4DD0-B4AC-8156EDF0B994}" type="datetime1">
              <a:rPr lang="hu-HU" smtClean="0"/>
              <a:t>2023. 08. 28.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99550F0-C374-4C65-91D6-8BCFE575C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606282D-346B-422A-A731-68523C74F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6C4D8-32F2-4A19-B0E3-4323A7BEC64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51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 descr="A képen hó, kültéri, hegy, természet látható&#10;&#10;Automatikusan generált leírás">
            <a:extLst>
              <a:ext uri="{FF2B5EF4-FFF2-40B4-BE49-F238E27FC236}">
                <a16:creationId xmlns:a16="http://schemas.microsoft.com/office/drawing/2014/main" id="{07D630EF-2BBD-4FC4-8D12-CF13E2710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881" y="-495300"/>
            <a:ext cx="12537913" cy="7836196"/>
          </a:xfrm>
          <a:prstGeom prst="rect">
            <a:avLst/>
          </a:prstGeom>
        </p:spPr>
      </p:pic>
      <p:sp>
        <p:nvSpPr>
          <p:cNvPr id="10" name="Téglalap 9">
            <a:extLst>
              <a:ext uri="{FF2B5EF4-FFF2-40B4-BE49-F238E27FC236}">
                <a16:creationId xmlns:a16="http://schemas.microsoft.com/office/drawing/2014/main" id="{B71DD668-A5C7-4E1D-B55A-AF9BA972D50B}"/>
              </a:ext>
            </a:extLst>
          </p:cNvPr>
          <p:cNvSpPr/>
          <p:nvPr/>
        </p:nvSpPr>
        <p:spPr>
          <a:xfrm>
            <a:off x="-36352" y="84481"/>
            <a:ext cx="11161552" cy="12634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C939434-E251-4120-898C-686C77FB2B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6313" y="589969"/>
            <a:ext cx="10795686" cy="715684"/>
          </a:xfrm>
          <a:noFill/>
          <a:ln w="28575">
            <a:noFill/>
          </a:ln>
        </p:spPr>
        <p:txBody>
          <a:bodyPr anchor="ctr">
            <a:normAutofit fontScale="90000"/>
          </a:bodyPr>
          <a:lstStyle/>
          <a:p>
            <a:pPr algn="l"/>
            <a:r>
              <a:rPr lang="hu-HU" b="1" dirty="0">
                <a:latin typeface="+mn-lt"/>
              </a:rPr>
              <a:t>Motiváció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3CA3651-BAD3-4EDE-AFD0-D06900524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973" y="84481"/>
            <a:ext cx="2930666" cy="632211"/>
          </a:xfrm>
          <a:noFill/>
          <a:ln w="28575">
            <a:noFill/>
          </a:ln>
        </p:spPr>
        <p:txBody>
          <a:bodyPr anchor="ctr">
            <a:normAutofit/>
          </a:bodyPr>
          <a:lstStyle/>
          <a:p>
            <a:pPr algn="l"/>
            <a:r>
              <a:rPr lang="hu-HU" b="1" dirty="0"/>
              <a:t>Menedzsment alapjai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C6A4C454-9DBE-4802-9EF2-C1214C1FEE2B}"/>
              </a:ext>
            </a:extLst>
          </p:cNvPr>
          <p:cNvSpPr/>
          <p:nvPr/>
        </p:nvSpPr>
        <p:spPr>
          <a:xfrm>
            <a:off x="0" y="84481"/>
            <a:ext cx="1382973" cy="1263413"/>
          </a:xfrm>
          <a:prstGeom prst="rect">
            <a:avLst/>
          </a:prstGeom>
          <a:solidFill>
            <a:srgbClr val="2E52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4FF0E0E-6C7A-4088-A4A3-FE1C79555183}"/>
              </a:ext>
            </a:extLst>
          </p:cNvPr>
          <p:cNvSpPr txBox="1"/>
          <p:nvPr/>
        </p:nvSpPr>
        <p:spPr>
          <a:xfrm>
            <a:off x="219891" y="348858"/>
            <a:ext cx="1251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000" b="1" dirty="0">
                <a:solidFill>
                  <a:schemeClr val="bg1"/>
                </a:solidFill>
              </a:rPr>
              <a:t>5.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C8A9086F-FEDE-4832-B9AD-41A5C9A10E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7082" y="115074"/>
            <a:ext cx="1251166" cy="94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40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69EF0C-42A0-421D-B027-6DBE0CFFB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Tartalomjegyzék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F12147-6F3C-4852-B85B-07D3582AD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133" y="1601557"/>
            <a:ext cx="11159220" cy="5119915"/>
          </a:xfrm>
        </p:spPr>
        <p:txBody>
          <a:bodyPr/>
          <a:lstStyle/>
          <a:p>
            <a:r>
              <a:rPr lang="hu-HU" dirty="0"/>
              <a:t>A motiváció fogalma, fajtái, célja</a:t>
            </a:r>
          </a:p>
          <a:p>
            <a:r>
              <a:rPr lang="hu-HU" dirty="0"/>
              <a:t>A motiváció folyamata</a:t>
            </a:r>
          </a:p>
          <a:p>
            <a:r>
              <a:rPr lang="hu-HU" dirty="0"/>
              <a:t>Szervezeti kompetenciák</a:t>
            </a:r>
          </a:p>
          <a:p>
            <a:r>
              <a:rPr lang="hu-HU" dirty="0"/>
              <a:t>Motivációs elméletek</a:t>
            </a:r>
          </a:p>
          <a:p>
            <a:pPr lvl="1"/>
            <a:r>
              <a:rPr lang="hu-HU" dirty="0"/>
              <a:t>Tartalom elméletek</a:t>
            </a:r>
          </a:p>
          <a:p>
            <a:pPr lvl="1"/>
            <a:r>
              <a:rPr lang="hu-HU" dirty="0"/>
              <a:t>Folyamat elméletek</a:t>
            </a:r>
          </a:p>
          <a:p>
            <a:pPr lvl="1"/>
            <a:r>
              <a:rPr lang="hu-HU" dirty="0"/>
              <a:t>További elméletek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9D9D77E-EB16-4BFA-B727-8C1BFA4DB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9F424DC-954D-44AA-83FE-5B865B89ED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Motiváció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FF40391-F954-471E-827A-8FD008AC5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52893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350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Fontossága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A menedzseri feladatkör elengedhetetlen szerepköre </a:t>
            </a:r>
            <a:r>
              <a:rPr lang="hu-HU" b="1" dirty="0"/>
              <a:t>a dolgozók motiválása</a:t>
            </a:r>
            <a:r>
              <a:rPr lang="hu-HU" dirty="0"/>
              <a:t>, a cél szem elött tartása a célok elérésének érdekében</a:t>
            </a:r>
          </a:p>
          <a:p>
            <a:pPr lvl="1"/>
            <a:r>
              <a:rPr lang="hu-HU" dirty="0"/>
              <a:t>A menedzsernek feladata tevékenységekhez szükséges környezet megteremtése, a vezetői támogatás biztosítása és a dolgozók elégedettségének, elkötelezettségének fenntartása</a:t>
            </a:r>
          </a:p>
          <a:p>
            <a:pPr marL="0" indent="0">
              <a:buNone/>
            </a:pPr>
            <a:r>
              <a:rPr lang="hu-HU" dirty="0"/>
              <a:t>A menedzseri tulajdonságoknak fontos része a</a:t>
            </a:r>
          </a:p>
          <a:p>
            <a:pPr lvl="1"/>
            <a:r>
              <a:rPr lang="hu-HU" dirty="0"/>
              <a:t>motiváltság</a:t>
            </a:r>
          </a:p>
          <a:p>
            <a:pPr lvl="1"/>
            <a:r>
              <a:rPr lang="hu-HU" dirty="0"/>
              <a:t>energikusság</a:t>
            </a:r>
          </a:p>
          <a:p>
            <a:pPr lvl="1"/>
            <a:r>
              <a:rPr lang="hu-HU" dirty="0"/>
              <a:t>elkötelezettség a tevékenység sikere mellett</a:t>
            </a:r>
          </a:p>
          <a:p>
            <a:pPr lvl="1"/>
            <a:r>
              <a:rPr lang="hu-HU" dirty="0"/>
              <a:t>folyamatos példamutatás</a:t>
            </a:r>
          </a:p>
          <a:p>
            <a:pPr lvl="1"/>
            <a:r>
              <a:rPr lang="hu-HU" dirty="0"/>
              <a:t>az emberek magával húzása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i="1" dirty="0"/>
              <a:t>A motiváltság és az emberi munka hatékonyságának kutatása hosszas múltra tekint vissza, amelynek ismerete még a mai, modern szervezetek működésében is elengedhetetlen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5BC9D88-48F9-43EC-BB77-6B9F6C599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735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motiváció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sz="2400" i="1" dirty="0"/>
              <a:t>„Az emberek gyakran azt mondják, hogy a motiváció nem tart túl sokáig. Nos, a fürdés sem – épp ezért javasoljuk naponta.” </a:t>
            </a:r>
            <a:r>
              <a:rPr lang="hu-HU" sz="2400" dirty="0"/>
              <a:t>(</a:t>
            </a:r>
            <a:r>
              <a:rPr lang="hu-HU" sz="2400" dirty="0" err="1"/>
              <a:t>Zig</a:t>
            </a:r>
            <a:r>
              <a:rPr lang="hu-HU" sz="2400" dirty="0"/>
              <a:t> </a:t>
            </a:r>
            <a:r>
              <a:rPr lang="hu-HU" sz="2400" dirty="0" err="1"/>
              <a:t>Ziglar</a:t>
            </a:r>
            <a:r>
              <a:rPr lang="hu-HU" sz="2400" dirty="0"/>
              <a:t>)</a:t>
            </a:r>
          </a:p>
          <a:p>
            <a:pPr marL="0" indent="0">
              <a:buNone/>
            </a:pPr>
            <a:endParaRPr lang="hu-HU" b="1" dirty="0"/>
          </a:p>
          <a:p>
            <a:pPr marL="0" indent="0">
              <a:buNone/>
            </a:pPr>
            <a:r>
              <a:rPr lang="hu-HU" b="1" dirty="0"/>
              <a:t>Jelentése: </a:t>
            </a:r>
            <a:r>
              <a:rPr lang="hu-HU" dirty="0" err="1"/>
              <a:t>movere</a:t>
            </a:r>
            <a:r>
              <a:rPr lang="hu-HU" dirty="0"/>
              <a:t> latin szó: mozgás, késztetés, a viselkedés hajtóereje, az ösztönzők által előállított indíték, a motívum, amely konkrét cselekvéshez vezet, alapja: szükséglet </a:t>
            </a:r>
          </a:p>
          <a:p>
            <a:endParaRPr lang="hu-HU" b="1" dirty="0"/>
          </a:p>
          <a:p>
            <a:r>
              <a:rPr lang="hu-HU" b="1" dirty="0"/>
              <a:t>A motiváció mindazon belső indíttatású szükségletek összessége, amelyeket kívánságként, vágyként, hajtóerőként írjuk le. </a:t>
            </a:r>
          </a:p>
          <a:p>
            <a:r>
              <a:rPr lang="hu-HU" b="1" dirty="0"/>
              <a:t>Az aktiváló és mozgatóerő, belső állapot, amely erőfeszítést, állhatatosságot és célokat is magába foglal. </a:t>
            </a:r>
            <a:br>
              <a:rPr lang="hu-HU" b="1" i="1" dirty="0">
                <a:latin typeface="Calibri" pitchFamily="34" charset="0"/>
              </a:rPr>
            </a:b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2BBB491-96F1-40DA-9667-C39FFC23D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503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Folyamata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Calibri" pitchFamily="34" charset="0"/>
              </a:rPr>
              <a:t>Kiindulópontja egy kielégítetlen szükséglet</a:t>
            </a:r>
          </a:p>
          <a:p>
            <a:r>
              <a:rPr lang="hu-HU" dirty="0">
                <a:latin typeface="Calibri" pitchFamily="34" charset="0"/>
              </a:rPr>
              <a:t>Az egyénen belüli hiány</a:t>
            </a:r>
          </a:p>
          <a:p>
            <a:r>
              <a:rPr lang="hu-HU" dirty="0">
                <a:latin typeface="Calibri" pitchFamily="34" charset="0"/>
              </a:rPr>
              <a:t>A hiány az az inger, ami beindítja az események láncát </a:t>
            </a:r>
          </a:p>
          <a:p>
            <a:r>
              <a:rPr lang="hu-HU" dirty="0">
                <a:latin typeface="Calibri" pitchFamily="34" charset="0"/>
              </a:rPr>
              <a:t>Ez vezet a viselkedéshez</a:t>
            </a:r>
            <a:br>
              <a:rPr lang="hu-HU" b="1" i="1" dirty="0">
                <a:latin typeface="Calibri" pitchFamily="34" charset="0"/>
              </a:rPr>
            </a:b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</a:t>
            </a:r>
          </a:p>
          <a:p>
            <a:endParaRPr lang="hu-HU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91F2E6-052C-49F6-B5E9-507FB0239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356" y="2947035"/>
            <a:ext cx="1800225" cy="865188"/>
          </a:xfrm>
          <a:prstGeom prst="rect">
            <a:avLst/>
          </a:prstGeom>
          <a:solidFill>
            <a:srgbClr val="2E528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b="1">
                <a:solidFill>
                  <a:schemeClr val="bg1"/>
                </a:solidFill>
              </a:rPr>
              <a:t>Kielégítetlen </a:t>
            </a:r>
          </a:p>
          <a:p>
            <a:pPr algn="ctr"/>
            <a:r>
              <a:rPr lang="hu-HU" b="1">
                <a:solidFill>
                  <a:schemeClr val="bg1"/>
                </a:solidFill>
              </a:rPr>
              <a:t>szükséglet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422934E-1E89-45E1-A3FE-A086C0B70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531" y="5612448"/>
            <a:ext cx="1584325" cy="647700"/>
          </a:xfrm>
          <a:prstGeom prst="rect">
            <a:avLst/>
          </a:prstGeom>
          <a:solidFill>
            <a:srgbClr val="2E528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b="1">
                <a:solidFill>
                  <a:schemeClr val="bg1"/>
                </a:solidFill>
              </a:rPr>
              <a:t>Belső </a:t>
            </a:r>
          </a:p>
          <a:p>
            <a:pPr algn="ctr"/>
            <a:r>
              <a:rPr lang="hu-HU" b="1">
                <a:solidFill>
                  <a:schemeClr val="bg1"/>
                </a:solidFill>
              </a:rPr>
              <a:t>feszültség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951D6300-007A-45C6-9458-AD8A88B7D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7656" y="5612448"/>
            <a:ext cx="1657350" cy="647700"/>
          </a:xfrm>
          <a:prstGeom prst="rect">
            <a:avLst/>
          </a:prstGeom>
          <a:solidFill>
            <a:srgbClr val="2E528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b="1">
                <a:solidFill>
                  <a:schemeClr val="bg1"/>
                </a:solidFill>
              </a:rPr>
              <a:t>Hajtóerő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CF4EDB3F-1ED2-4A6E-BA3D-B94A2A2A3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806" y="5612448"/>
            <a:ext cx="1728787" cy="647700"/>
          </a:xfrm>
          <a:prstGeom prst="rect">
            <a:avLst/>
          </a:prstGeom>
          <a:solidFill>
            <a:srgbClr val="2E528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b="1">
                <a:solidFill>
                  <a:schemeClr val="bg1"/>
                </a:solidFill>
              </a:rPr>
              <a:t>Kereső</a:t>
            </a:r>
          </a:p>
          <a:p>
            <a:pPr algn="ctr"/>
            <a:r>
              <a:rPr lang="hu-HU" b="1">
                <a:solidFill>
                  <a:schemeClr val="bg1"/>
                </a:solidFill>
              </a:rPr>
              <a:t>magatartás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8C791586-419D-43BE-B1F9-71BFB8768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2931" y="5612448"/>
            <a:ext cx="1692275" cy="647700"/>
          </a:xfrm>
          <a:prstGeom prst="rect">
            <a:avLst/>
          </a:prstGeom>
          <a:solidFill>
            <a:srgbClr val="2E528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b="1">
                <a:solidFill>
                  <a:schemeClr val="bg1"/>
                </a:solidFill>
              </a:rPr>
              <a:t>Kielégített</a:t>
            </a:r>
          </a:p>
          <a:p>
            <a:pPr algn="ctr"/>
            <a:r>
              <a:rPr lang="hu-HU" b="1">
                <a:solidFill>
                  <a:schemeClr val="bg1"/>
                </a:solidFill>
              </a:rPr>
              <a:t>szükséglet</a:t>
            </a:r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2200B7D9-C2C8-45BE-83CE-CE8E65F064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2618" y="3812223"/>
            <a:ext cx="0" cy="1800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 b="1">
              <a:solidFill>
                <a:schemeClr val="bg1"/>
              </a:solidFill>
            </a:endParaRPr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65180111-929E-44A1-9D3B-32622D983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5856" y="5899785"/>
            <a:ext cx="431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 b="1">
              <a:solidFill>
                <a:schemeClr val="bg1"/>
              </a:solidFill>
            </a:endParaRPr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86539524-DC2C-42DC-AF8D-C945FAB17D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5006" y="5899785"/>
            <a:ext cx="431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 b="1">
              <a:solidFill>
                <a:schemeClr val="bg1"/>
              </a:solidFill>
            </a:endParaRPr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4045D1E1-3003-4D28-B6EE-F6147DA3BB34}"/>
              </a:ext>
            </a:extLst>
          </p:cNvPr>
          <p:cNvSpPr>
            <a:spLocks noChangeShapeType="1"/>
          </p:cNvSpPr>
          <p:nvPr/>
        </p:nvSpPr>
        <p:spPr bwMode="auto">
          <a:xfrm>
            <a:off x="9384006" y="5899785"/>
            <a:ext cx="288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 b="1">
              <a:solidFill>
                <a:schemeClr val="bg1"/>
              </a:solidFill>
            </a:endParaRP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7E723B96-A3A3-4736-935E-387B91365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2206" y="2947035"/>
            <a:ext cx="2016125" cy="865188"/>
          </a:xfrm>
          <a:prstGeom prst="rect">
            <a:avLst/>
          </a:prstGeom>
          <a:solidFill>
            <a:srgbClr val="2E528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b="1">
                <a:solidFill>
                  <a:schemeClr val="bg1"/>
                </a:solidFill>
              </a:rPr>
              <a:t>Belső feszültség</a:t>
            </a:r>
          </a:p>
          <a:p>
            <a:pPr algn="ctr"/>
            <a:r>
              <a:rPr lang="hu-HU" b="1">
                <a:solidFill>
                  <a:schemeClr val="bg1"/>
                </a:solidFill>
              </a:rPr>
              <a:t>csökkenése</a:t>
            </a:r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503EAF0D-CE3B-4F5B-8282-366B8D7B53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76168" y="3812223"/>
            <a:ext cx="0" cy="18002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 b="1">
              <a:solidFill>
                <a:schemeClr val="bg1"/>
              </a:solidFill>
            </a:endParaRP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97F41BBC-DDC9-4D67-98C4-98BB77BF9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27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motívumok eredete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Biológiai (túlélés)</a:t>
            </a:r>
          </a:p>
          <a:p>
            <a:r>
              <a:rPr lang="hu-HU" dirty="0"/>
              <a:t>Tanult, szocializációs</a:t>
            </a:r>
            <a:br>
              <a:rPr lang="hu-HU" dirty="0"/>
            </a:br>
            <a:endParaRPr lang="hu-HU" dirty="0"/>
          </a:p>
          <a:p>
            <a:r>
              <a:rPr lang="hu-HU" dirty="0"/>
              <a:t>Vagy</a:t>
            </a:r>
          </a:p>
          <a:p>
            <a:pPr lvl="1"/>
            <a:r>
              <a:rPr lang="hu-HU" dirty="0"/>
              <a:t>Elsődleges - fiziológiai</a:t>
            </a:r>
          </a:p>
          <a:p>
            <a:pPr lvl="1"/>
            <a:r>
              <a:rPr lang="hu-HU" dirty="0"/>
              <a:t>Általános - pszichés</a:t>
            </a:r>
          </a:p>
          <a:p>
            <a:pPr lvl="1"/>
            <a:r>
              <a:rPr lang="hu-HU" dirty="0"/>
              <a:t>Másodlagos – tanult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b="1" dirty="0"/>
              <a:t>A motiváció, mint vezetés-elméleti fogalom:</a:t>
            </a:r>
          </a:p>
          <a:p>
            <a:pPr lvl="1"/>
            <a:r>
              <a:rPr lang="hu-HU" dirty="0"/>
              <a:t>Ösztönzés</a:t>
            </a:r>
          </a:p>
          <a:p>
            <a:pPr lvl="1"/>
            <a:r>
              <a:rPr lang="hu-HU" dirty="0"/>
              <a:t>Mozgósítás a szervezeti célok érdekében</a:t>
            </a:r>
          </a:p>
          <a:p>
            <a:pPr lvl="1"/>
            <a:r>
              <a:rPr lang="hu-HU" dirty="0"/>
              <a:t>Vezetői magatartás</a:t>
            </a:r>
            <a:br>
              <a:rPr lang="hu-HU" b="1" i="1" dirty="0">
                <a:latin typeface="Calibri" pitchFamily="34" charset="0"/>
              </a:rPr>
            </a:b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D221FB3-0752-45F4-9D0D-BC86D846B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39156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85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Teljesítmény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>
                <a:latin typeface="Calibri" pitchFamily="34" charset="0"/>
              </a:rPr>
              <a:t>A menedzser feladata, hogy az embereket ösztönözze a meghatározott cél elérésére a rendelkezésükre álló képességeik és kapacitásuk teljeskörű felhasználásával</a:t>
            </a:r>
          </a:p>
          <a:p>
            <a:r>
              <a:rPr lang="hu-HU" b="1" dirty="0">
                <a:latin typeface="Calibri" pitchFamily="34" charset="0"/>
              </a:rPr>
              <a:t>Teljesítmény</a:t>
            </a:r>
            <a:r>
              <a:rPr lang="hu-HU" dirty="0">
                <a:latin typeface="Calibri" pitchFamily="34" charset="0"/>
              </a:rPr>
              <a:t> = képesség * motiváció vagy képesség * kapacitás</a:t>
            </a:r>
          </a:p>
          <a:p>
            <a:endParaRPr lang="hu-HU" b="1" i="1" dirty="0">
              <a:latin typeface="Calibri" pitchFamily="34" charset="0"/>
            </a:endParaRPr>
          </a:p>
          <a:p>
            <a:r>
              <a:rPr lang="hu-HU" b="1" dirty="0">
                <a:latin typeface="Calibri" pitchFamily="34" charset="0"/>
              </a:rPr>
              <a:t>Motiváció - eredmény modell:</a:t>
            </a:r>
          </a:p>
          <a:p>
            <a:pPr marL="0" indent="0">
              <a:buNone/>
            </a:pPr>
            <a:endParaRPr lang="hu-HU" b="1" dirty="0">
              <a:latin typeface="Calibri" pitchFamily="34" charset="0"/>
            </a:endParaRPr>
          </a:p>
          <a:p>
            <a:pPr marL="0" indent="0">
              <a:buNone/>
            </a:pPr>
            <a:endParaRPr lang="hu-HU" b="1" dirty="0">
              <a:latin typeface="Calibri" pitchFamily="34" charset="0"/>
            </a:endParaRPr>
          </a:p>
          <a:p>
            <a:pPr marL="0" indent="0">
              <a:buNone/>
            </a:pPr>
            <a:endParaRPr lang="hu-HU" b="1" dirty="0">
              <a:latin typeface="Calibri" pitchFamily="34" charset="0"/>
            </a:endParaRPr>
          </a:p>
          <a:p>
            <a:pPr marL="0" indent="0">
              <a:buNone/>
            </a:pPr>
            <a:endParaRPr lang="hu-HU" b="1" dirty="0">
              <a:latin typeface="Calibri" pitchFamily="34" charset="0"/>
            </a:endParaRPr>
          </a:p>
          <a:p>
            <a:pPr marL="0" indent="0">
              <a:buNone/>
            </a:pPr>
            <a:endParaRPr lang="hu-HU" b="1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b="1" dirty="0">
                <a:solidFill>
                  <a:srgbClr val="FF0000"/>
                </a:solidFill>
                <a:latin typeface="Calibri" pitchFamily="34" charset="0"/>
              </a:rPr>
              <a:t>Input</a:t>
            </a:r>
            <a:r>
              <a:rPr lang="hu-HU" b="1" dirty="0">
                <a:latin typeface="Calibri" pitchFamily="34" charset="0"/>
              </a:rPr>
              <a:t>											</a:t>
            </a:r>
            <a:r>
              <a:rPr lang="hu-HU" b="1" dirty="0">
                <a:solidFill>
                  <a:srgbClr val="FF0000"/>
                </a:solidFill>
                <a:latin typeface="Calibri" pitchFamily="34" charset="0"/>
              </a:rPr>
              <a:t>Output</a:t>
            </a:r>
          </a:p>
          <a:p>
            <a:pPr marL="0" indent="0">
              <a:buNone/>
            </a:pPr>
            <a:r>
              <a:rPr lang="hu-HU" b="1" i="1" dirty="0">
                <a:latin typeface="Calibri" pitchFamily="34" charset="0"/>
              </a:rPr>
              <a:t>                                                                      </a:t>
            </a:r>
            <a:r>
              <a:rPr lang="hu-HU" b="1" dirty="0">
                <a:solidFill>
                  <a:srgbClr val="FF0000"/>
                </a:solidFill>
                <a:latin typeface="Calibri" pitchFamily="34" charset="0"/>
              </a:rPr>
              <a:t>Közvetítő változó</a:t>
            </a:r>
            <a:br>
              <a:rPr lang="hu-HU" b="1" i="1" dirty="0">
                <a:latin typeface="Calibri" pitchFamily="34" charset="0"/>
              </a:rPr>
            </a:br>
            <a:endParaRPr lang="hu-HU" b="1" i="1" dirty="0">
              <a:latin typeface="Calibri" pitchFamily="34" charset="0"/>
            </a:endParaRPr>
          </a:p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</a:t>
            </a:r>
          </a:p>
          <a:p>
            <a:endParaRPr lang="hu-H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B11C5F-35D8-42AF-BAF9-73C8336A0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855" y="3934729"/>
            <a:ext cx="2087563" cy="1008062"/>
          </a:xfrm>
          <a:prstGeom prst="rect">
            <a:avLst/>
          </a:prstGeom>
          <a:solidFill>
            <a:srgbClr val="2E528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b="1">
                <a:solidFill>
                  <a:schemeClr val="bg1"/>
                </a:solidFill>
              </a:rPr>
              <a:t>Emberi összetevők</a:t>
            </a:r>
          </a:p>
          <a:p>
            <a:pPr algn="ctr"/>
            <a:r>
              <a:rPr lang="hu-HU" b="1">
                <a:solidFill>
                  <a:schemeClr val="bg1"/>
                </a:solidFill>
              </a:rPr>
              <a:t>-egyéni jellemzők</a:t>
            </a:r>
          </a:p>
          <a:p>
            <a:pPr algn="ctr"/>
            <a:r>
              <a:rPr lang="hu-HU" b="1">
                <a:solidFill>
                  <a:schemeClr val="bg1"/>
                </a:solidFill>
              </a:rPr>
              <a:t>-csoport hatás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F22F98-8504-4E42-A886-993201345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855" y="5374591"/>
            <a:ext cx="2087563" cy="1079500"/>
          </a:xfrm>
          <a:prstGeom prst="rect">
            <a:avLst/>
          </a:prstGeom>
          <a:solidFill>
            <a:srgbClr val="2E528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b="1">
                <a:solidFill>
                  <a:schemeClr val="bg1"/>
                </a:solidFill>
              </a:rPr>
              <a:t>Szervezeti tényezők</a:t>
            </a:r>
          </a:p>
          <a:p>
            <a:pPr algn="ctr"/>
            <a:r>
              <a:rPr lang="hu-HU" b="1">
                <a:solidFill>
                  <a:schemeClr val="bg1"/>
                </a:solidFill>
              </a:rPr>
              <a:t>-technológia</a:t>
            </a:r>
          </a:p>
          <a:p>
            <a:pPr algn="ctr"/>
            <a:r>
              <a:rPr lang="hu-HU" b="1">
                <a:solidFill>
                  <a:schemeClr val="bg1"/>
                </a:solidFill>
              </a:rPr>
              <a:t>-szervezetterv.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1483CF-F90A-49E7-9E8F-41B9329BD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3043" y="4653866"/>
            <a:ext cx="1800225" cy="1225550"/>
          </a:xfrm>
          <a:prstGeom prst="rect">
            <a:avLst/>
          </a:prstGeom>
          <a:solidFill>
            <a:srgbClr val="2E528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b="1">
                <a:solidFill>
                  <a:schemeClr val="bg1"/>
                </a:solidFill>
              </a:rPr>
              <a:t>Vezetői</a:t>
            </a:r>
          </a:p>
          <a:p>
            <a:pPr algn="ctr"/>
            <a:r>
              <a:rPr lang="hu-HU" b="1">
                <a:solidFill>
                  <a:schemeClr val="bg1"/>
                </a:solidFill>
              </a:rPr>
              <a:t>motivációs</a:t>
            </a:r>
          </a:p>
          <a:p>
            <a:pPr algn="ctr"/>
            <a:r>
              <a:rPr lang="hu-HU" b="1">
                <a:solidFill>
                  <a:schemeClr val="bg1"/>
                </a:solidFill>
              </a:rPr>
              <a:t>stratégiák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A7E9A3-1033-4A11-A8FB-1F8A5C245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605" y="3934729"/>
            <a:ext cx="2087563" cy="576262"/>
          </a:xfrm>
          <a:prstGeom prst="rect">
            <a:avLst/>
          </a:prstGeom>
          <a:solidFill>
            <a:srgbClr val="2E528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b="1">
                <a:solidFill>
                  <a:schemeClr val="bg1"/>
                </a:solidFill>
              </a:rPr>
              <a:t>Teljesítmény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42DB86-2689-409F-95F2-7886B38E7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605" y="5879416"/>
            <a:ext cx="2087563" cy="574675"/>
          </a:xfrm>
          <a:prstGeom prst="rect">
            <a:avLst/>
          </a:prstGeom>
          <a:solidFill>
            <a:srgbClr val="2E528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hu-HU" b="1">
                <a:solidFill>
                  <a:schemeClr val="bg1"/>
                </a:solidFill>
              </a:rPr>
              <a:t>Elégedettség</a:t>
            </a: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156BAB8F-F021-422C-97FE-775991100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418" y="4366529"/>
            <a:ext cx="2873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 b="1">
              <a:solidFill>
                <a:schemeClr val="bg1"/>
              </a:solidFill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C04587D6-1259-4F69-8A5C-A539A96714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418" y="5879416"/>
            <a:ext cx="28733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 b="1">
              <a:solidFill>
                <a:schemeClr val="bg1"/>
              </a:solidFill>
            </a:endParaRP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BB1F57D9-9071-4553-AF39-C0D1D6C829B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755" y="4366529"/>
            <a:ext cx="0" cy="15128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 b="1">
              <a:solidFill>
                <a:schemeClr val="bg1"/>
              </a:solidFill>
            </a:endParaRP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14C01ECF-8A8B-4B00-9AAC-5600CBEA1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755" y="5158691"/>
            <a:ext cx="6492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 b="1">
              <a:solidFill>
                <a:schemeClr val="bg1"/>
              </a:solidFill>
            </a:endParaRPr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BC163B89-F754-4F37-83F4-ABF12F697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3268" y="5158691"/>
            <a:ext cx="10795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hu-HU" b="1">
              <a:solidFill>
                <a:schemeClr val="bg1"/>
              </a:solidFill>
            </a:endParaRPr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AC4B88CB-F722-4CA1-9D6E-5ADF42C31E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72768" y="4510991"/>
            <a:ext cx="0" cy="647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 b="1">
              <a:solidFill>
                <a:schemeClr val="bg1"/>
              </a:solidFill>
            </a:endParaRPr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21E56295-2A59-4DD7-BEA1-4D8B0E9F49B4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2768" y="5158691"/>
            <a:ext cx="0" cy="720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hu-HU" b="1">
              <a:solidFill>
                <a:schemeClr val="bg1"/>
              </a:solidFill>
            </a:endParaRP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7CD5D904-53FD-49C7-A520-77E6A5518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10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Mire alapozhat a vezető?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hu-HU" sz="2400" dirty="0">
                <a:latin typeface="Calibri" pitchFamily="34" charset="0"/>
              </a:rPr>
              <a:t>Minden munkához sokféle képességre, készségre és tudásra van szükség. Ezek egy részét született adottságként hozzuk magunkkal, másokat tanulás útján sajátítunk el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hu-HU" sz="2400" dirty="0">
              <a:latin typeface="Calibri" pitchFamily="34" charset="0"/>
            </a:endParaRPr>
          </a:p>
          <a:p>
            <a:pPr>
              <a:lnSpc>
                <a:spcPct val="80000"/>
              </a:lnSpc>
            </a:pPr>
            <a:r>
              <a:rPr lang="hu-HU" sz="2400" b="1" dirty="0">
                <a:latin typeface="Calibri" pitchFamily="34" charset="0"/>
              </a:rPr>
              <a:t>Képességnek</a:t>
            </a:r>
            <a:r>
              <a:rPr lang="hu-HU" sz="2400" dirty="0">
                <a:latin typeface="Calibri" pitchFamily="34" charset="0"/>
              </a:rPr>
              <a:t> nevezzük a valamely teljesítményre, tevékenységre való testi – lelki adottságot, alkalmasságot, mindazt, amit meg tudunk tenni; egy feladat vagy egy munkakör elvégzésére való rátermettségünket, ügyességünket</a:t>
            </a:r>
          </a:p>
          <a:p>
            <a:pPr>
              <a:lnSpc>
                <a:spcPct val="80000"/>
              </a:lnSpc>
            </a:pPr>
            <a:endParaRPr lang="hu-HU" sz="2400" dirty="0">
              <a:latin typeface="Calibri" pitchFamily="34" charset="0"/>
            </a:endParaRPr>
          </a:p>
          <a:p>
            <a:pPr>
              <a:lnSpc>
                <a:spcPct val="80000"/>
              </a:lnSpc>
            </a:pPr>
            <a:r>
              <a:rPr lang="hu-HU" sz="2400" b="1" dirty="0">
                <a:latin typeface="Calibri" pitchFamily="34" charset="0"/>
              </a:rPr>
              <a:t>Készségnek</a:t>
            </a:r>
            <a:r>
              <a:rPr lang="hu-HU" sz="2400" dirty="0">
                <a:latin typeface="Calibri" pitchFamily="34" charset="0"/>
              </a:rPr>
              <a:t> pedig azokat a speciális képességeket nevezzük, amelyeket gyakorlattal, gyakorlással szerzünk meg</a:t>
            </a:r>
            <a:br>
              <a:rPr lang="hu-HU" b="1" i="1" dirty="0">
                <a:latin typeface="Calibri" pitchFamily="34" charset="0"/>
              </a:rPr>
            </a:b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C17089F-C4A7-4938-AE3B-B034DA7D4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44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10284" cy="1364697"/>
          </a:xfrm>
        </p:spPr>
        <p:txBody>
          <a:bodyPr>
            <a:normAutofit/>
          </a:bodyPr>
          <a:lstStyle/>
          <a:p>
            <a:r>
              <a:rPr lang="hu-HU" dirty="0"/>
              <a:t>Milyen szellemi képességekre van szükség a menedzser feladatok elvégzéséhez?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745" y="2248023"/>
            <a:ext cx="10669608" cy="4473450"/>
          </a:xfrm>
        </p:spPr>
        <p:txBody>
          <a:bodyPr>
            <a:normAutofit/>
          </a:bodyPr>
          <a:lstStyle/>
          <a:p>
            <a:r>
              <a:rPr lang="hu-HU" sz="2400" dirty="0">
                <a:latin typeface="Calibri" pitchFamily="34" charset="0"/>
              </a:rPr>
              <a:t>szóbeli kifejezőkészség, </a:t>
            </a:r>
          </a:p>
          <a:p>
            <a:r>
              <a:rPr lang="hu-HU" sz="2400" dirty="0">
                <a:latin typeface="Calibri" pitchFamily="34" charset="0"/>
              </a:rPr>
              <a:t>verbális megértés,</a:t>
            </a:r>
          </a:p>
          <a:p>
            <a:r>
              <a:rPr lang="hu-HU" sz="2400" dirty="0">
                <a:latin typeface="Calibri" pitchFamily="34" charset="0"/>
              </a:rPr>
              <a:t>számolási képesség, </a:t>
            </a:r>
          </a:p>
          <a:p>
            <a:r>
              <a:rPr lang="hu-HU" sz="2400" dirty="0">
                <a:latin typeface="Calibri" pitchFamily="34" charset="0"/>
              </a:rPr>
              <a:t>térbeli átlátás képesség, </a:t>
            </a:r>
          </a:p>
          <a:p>
            <a:r>
              <a:rPr lang="hu-HU" sz="2400" dirty="0">
                <a:latin typeface="Calibri" pitchFamily="34" charset="0"/>
              </a:rPr>
              <a:t>emlékezet és a vizuális észlelés sebessége,</a:t>
            </a:r>
          </a:p>
          <a:p>
            <a:r>
              <a:rPr lang="hu-HU" sz="2400" dirty="0">
                <a:latin typeface="Calibri" pitchFamily="34" charset="0"/>
              </a:rPr>
              <a:t>következtetési képesség</a:t>
            </a:r>
          </a:p>
          <a:p>
            <a:r>
              <a:rPr lang="hu-HU" sz="2400" dirty="0">
                <a:latin typeface="Calibri" pitchFamily="34" charset="0"/>
              </a:rPr>
              <a:t>….</a:t>
            </a:r>
            <a:br>
              <a:rPr lang="hu-HU" b="1" i="1" dirty="0">
                <a:latin typeface="Calibri" pitchFamily="34" charset="0"/>
              </a:rPr>
            </a:b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12B13AC-A99D-4632-AC71-73030E04A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15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 motivációs elméletek megismerésének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sz="2600" dirty="0">
                <a:latin typeface="Calibri" pitchFamily="34" charset="0"/>
              </a:rPr>
              <a:t>Megértsük a szervezeti egyén magatartásának okait, mozgatórugóit;</a:t>
            </a:r>
          </a:p>
          <a:p>
            <a:r>
              <a:rPr lang="hu-HU" sz="2600" dirty="0">
                <a:latin typeface="Calibri" pitchFamily="34" charset="0"/>
              </a:rPr>
              <a:t>Előre tudjuk jelezni a vezetői lépések várható következményeit;</a:t>
            </a:r>
          </a:p>
          <a:p>
            <a:r>
              <a:rPr lang="hu-HU" sz="2600" dirty="0">
                <a:latin typeface="Calibri" pitchFamily="34" charset="0"/>
              </a:rPr>
              <a:t>Irányítani, terelni tudjuk az egyén viselkedését, hogy mind az egyéni és a szervezeti célok teljesüljenek.</a:t>
            </a:r>
          </a:p>
          <a:p>
            <a:endParaRPr lang="hu-HU" sz="2600" b="1" i="1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sz="2600" b="1" dirty="0">
                <a:latin typeface="Calibri" pitchFamily="34" charset="0"/>
              </a:rPr>
              <a:t>Motivációs elméletek csoportjai</a:t>
            </a:r>
          </a:p>
          <a:p>
            <a:pPr lvl="1"/>
            <a:r>
              <a:rPr lang="hu-HU" sz="2600" b="1" dirty="0">
                <a:solidFill>
                  <a:srgbClr val="FF0000"/>
                </a:solidFill>
                <a:latin typeface="Calibri" pitchFamily="34" charset="0"/>
              </a:rPr>
              <a:t>Korai</a:t>
            </a:r>
            <a:r>
              <a:rPr lang="hu-HU" sz="2600" b="1" dirty="0">
                <a:latin typeface="Calibri" pitchFamily="34" charset="0"/>
              </a:rPr>
              <a:t>:</a:t>
            </a:r>
            <a:r>
              <a:rPr lang="hu-HU" sz="2600" b="1" u="sng" dirty="0">
                <a:latin typeface="Calibri" pitchFamily="34" charset="0"/>
              </a:rPr>
              <a:t> </a:t>
            </a:r>
            <a:r>
              <a:rPr lang="hu-HU" sz="2600" dirty="0">
                <a:latin typeface="Calibri" pitchFamily="34" charset="0"/>
              </a:rPr>
              <a:t>hedonizmus (</a:t>
            </a:r>
            <a:r>
              <a:rPr lang="hu-HU" sz="2600" dirty="0"/>
              <a:t>emberek a kellemes dolgok felé törekszenek)</a:t>
            </a:r>
            <a:br>
              <a:rPr lang="hu-HU" sz="2600" dirty="0">
                <a:latin typeface="Calibri" pitchFamily="34" charset="0"/>
              </a:rPr>
            </a:br>
            <a:r>
              <a:rPr lang="hu-HU" sz="2600" dirty="0">
                <a:latin typeface="Calibri" pitchFamily="34" charset="0"/>
              </a:rPr>
              <a:t>ösztön (</a:t>
            </a:r>
            <a:r>
              <a:rPr lang="hu-HU" sz="2600" dirty="0"/>
              <a:t>viselkedés tudattalan </a:t>
            </a:r>
            <a:r>
              <a:rPr lang="hu-HU" sz="2600" dirty="0" err="1"/>
              <a:t>motivátorai</a:t>
            </a:r>
            <a:r>
              <a:rPr lang="hu-HU" sz="2600" dirty="0">
                <a:latin typeface="Calibri" pitchFamily="34" charset="0"/>
              </a:rPr>
              <a:t>)</a:t>
            </a:r>
            <a:endParaRPr lang="hu-HU" sz="2600" u="sng" dirty="0">
              <a:latin typeface="Calibri" pitchFamily="34" charset="0"/>
            </a:endParaRPr>
          </a:p>
          <a:p>
            <a:pPr lvl="1"/>
            <a:endParaRPr lang="hu-HU" sz="2600" b="1" dirty="0">
              <a:latin typeface="Calibri" pitchFamily="34" charset="0"/>
            </a:endParaRPr>
          </a:p>
          <a:p>
            <a:pPr lvl="1"/>
            <a:r>
              <a:rPr lang="hu-HU" sz="2600" b="1" dirty="0">
                <a:latin typeface="Calibri" pitchFamily="34" charset="0"/>
              </a:rPr>
              <a:t>A </a:t>
            </a:r>
            <a:r>
              <a:rPr lang="hu-HU" sz="2600" b="1" dirty="0">
                <a:solidFill>
                  <a:srgbClr val="FF0000"/>
                </a:solidFill>
                <a:latin typeface="Calibri" pitchFamily="34" charset="0"/>
              </a:rPr>
              <a:t>tartalom elméletek</a:t>
            </a:r>
            <a:r>
              <a:rPr lang="hu-HU" sz="2600" b="1" dirty="0">
                <a:latin typeface="Calibri" pitchFamily="34" charset="0"/>
              </a:rPr>
              <a:t>: </a:t>
            </a:r>
            <a:r>
              <a:rPr lang="hu-HU" sz="2600" dirty="0">
                <a:latin typeface="Calibri" pitchFamily="34" charset="0"/>
              </a:rPr>
              <a:t>mi van az egyénben, vagy a munkakörnyezetében, ami a cselekvéshez energiával látja el az embert és fenntartja a viselkedését</a:t>
            </a:r>
            <a:r>
              <a:rPr lang="hu-HU" sz="2600" b="1" dirty="0">
                <a:latin typeface="Calibri" pitchFamily="34" charset="0"/>
              </a:rPr>
              <a:t>, milyen elemek </a:t>
            </a:r>
            <a:r>
              <a:rPr lang="hu-HU" sz="2600" dirty="0">
                <a:latin typeface="Calibri" pitchFamily="34" charset="0"/>
              </a:rPr>
              <a:t>motiválják az embert.</a:t>
            </a:r>
          </a:p>
          <a:p>
            <a:pPr lvl="1"/>
            <a:endParaRPr lang="hu-HU" sz="2600" b="1" dirty="0">
              <a:latin typeface="Calibri" pitchFamily="34" charset="0"/>
            </a:endParaRPr>
          </a:p>
          <a:p>
            <a:pPr lvl="1"/>
            <a:r>
              <a:rPr lang="hu-HU" sz="2600" b="1" dirty="0">
                <a:latin typeface="Calibri" pitchFamily="34" charset="0"/>
              </a:rPr>
              <a:t>A </a:t>
            </a:r>
            <a:r>
              <a:rPr lang="hu-HU" sz="2600" b="1" dirty="0">
                <a:solidFill>
                  <a:srgbClr val="FF0000"/>
                </a:solidFill>
                <a:latin typeface="Calibri" pitchFamily="34" charset="0"/>
              </a:rPr>
              <a:t>folyamatelméletek</a:t>
            </a:r>
            <a:r>
              <a:rPr lang="hu-HU" sz="2600" b="1" dirty="0">
                <a:latin typeface="Calibri" pitchFamily="34" charset="0"/>
              </a:rPr>
              <a:t>: milyen folyamatok útján</a:t>
            </a:r>
            <a:r>
              <a:rPr lang="hu-HU" sz="2600" dirty="0">
                <a:latin typeface="Calibri" pitchFamily="34" charset="0"/>
              </a:rPr>
              <a:t>, milyen energiát ad a motiváció, hogyan irányítható a viselkedés, </a:t>
            </a:r>
            <a:r>
              <a:rPr lang="hu-HU" sz="2600" b="1" dirty="0">
                <a:latin typeface="Calibri" pitchFamily="34" charset="0"/>
              </a:rPr>
              <a:t>hogyan tartjuk azt fenn</a:t>
            </a:r>
            <a:r>
              <a:rPr lang="hu-HU" sz="2600" dirty="0">
                <a:latin typeface="Calibri" pitchFamily="34" charset="0"/>
              </a:rPr>
              <a:t>, illetve mikor áll le.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645E4F3-488D-4B6D-84F4-FABC0F0790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659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Motivációs elméletek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264148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hu-HU" sz="2800" b="1" u="sng" dirty="0">
                <a:latin typeface="Calibri" pitchFamily="34" charset="0"/>
              </a:rPr>
              <a:t>Tartalom elméletek</a:t>
            </a:r>
            <a:endParaRPr lang="hu-HU" sz="2800" b="1" u="sng" dirty="0">
              <a:solidFill>
                <a:srgbClr val="008000"/>
              </a:solidFill>
              <a:latin typeface="Calibri" pitchFamily="34" charset="0"/>
            </a:endParaRPr>
          </a:p>
          <a:p>
            <a:pPr lvl="1"/>
            <a:r>
              <a:rPr lang="hu-HU" sz="2800" dirty="0" err="1">
                <a:latin typeface="Calibri" pitchFamily="34" charset="0"/>
              </a:rPr>
              <a:t>Maslow</a:t>
            </a:r>
            <a:r>
              <a:rPr lang="hu-HU" sz="2800" dirty="0">
                <a:latin typeface="Calibri" pitchFamily="34" charset="0"/>
              </a:rPr>
              <a:t> – szükséglethierarchia  elmélet</a:t>
            </a:r>
          </a:p>
          <a:p>
            <a:pPr lvl="1"/>
            <a:r>
              <a:rPr lang="hu-HU" sz="2800" dirty="0">
                <a:latin typeface="Calibri" pitchFamily="34" charset="0"/>
              </a:rPr>
              <a:t>Mc </a:t>
            </a:r>
            <a:r>
              <a:rPr lang="hu-HU" sz="2800" dirty="0" err="1">
                <a:latin typeface="Calibri" pitchFamily="34" charset="0"/>
              </a:rPr>
              <a:t>Clelland</a:t>
            </a:r>
            <a:r>
              <a:rPr lang="hu-HU" sz="2800" dirty="0">
                <a:latin typeface="Calibri" pitchFamily="34" charset="0"/>
              </a:rPr>
              <a:t> - teljesítmény – hatalom elmélet</a:t>
            </a:r>
          </a:p>
          <a:p>
            <a:pPr lvl="1"/>
            <a:r>
              <a:rPr lang="hu-HU" sz="2800" dirty="0">
                <a:latin typeface="Calibri" pitchFamily="34" charset="0"/>
              </a:rPr>
              <a:t>Herzberg – féle kéttényezős  </a:t>
            </a:r>
            <a:br>
              <a:rPr lang="hu-HU" sz="2800" dirty="0">
                <a:latin typeface="Calibri" pitchFamily="34" charset="0"/>
              </a:rPr>
            </a:br>
            <a:r>
              <a:rPr lang="hu-HU" sz="2800" dirty="0">
                <a:latin typeface="Calibri" pitchFamily="34" charset="0"/>
              </a:rPr>
              <a:t>(higiéniás) elmélet</a:t>
            </a:r>
          </a:p>
          <a:p>
            <a:pPr lvl="1"/>
            <a:r>
              <a:rPr lang="hu-HU" sz="2800" dirty="0" err="1">
                <a:latin typeface="Calibri" pitchFamily="34" charset="0"/>
              </a:rPr>
              <a:t>Alderfer</a:t>
            </a:r>
            <a:r>
              <a:rPr lang="hu-HU" sz="2800" dirty="0">
                <a:latin typeface="Calibri" pitchFamily="34" charset="0"/>
              </a:rPr>
              <a:t> – szükséglet elmélet</a:t>
            </a:r>
          </a:p>
          <a:p>
            <a:pPr lvl="1"/>
            <a:r>
              <a:rPr lang="hu-HU" sz="2800" dirty="0">
                <a:latin typeface="Calibri" pitchFamily="34" charset="0"/>
              </a:rPr>
              <a:t>Hunt – 6 cél elmélet</a:t>
            </a:r>
          </a:p>
          <a:p>
            <a:pPr marL="457200" indent="-457200">
              <a:buFont typeface="Wingdings" pitchFamily="2" charset="2"/>
              <a:buNone/>
            </a:pPr>
            <a:endParaRPr lang="hu-HU" b="1" dirty="0">
              <a:latin typeface="Calibri" pitchFamily="34" charset="0"/>
            </a:endParaRPr>
          </a:p>
          <a:p>
            <a:pPr marL="457200" indent="-457200">
              <a:buFont typeface="Wingdings" pitchFamily="2" charset="2"/>
              <a:buNone/>
            </a:pPr>
            <a:endParaRPr lang="hu-HU" b="1" dirty="0">
              <a:latin typeface="Calibri" pitchFamily="34" charset="0"/>
            </a:endParaRPr>
          </a:p>
          <a:p>
            <a:pPr marL="457200" indent="-457200">
              <a:buFont typeface="Wingdings" pitchFamily="2" charset="2"/>
              <a:buNone/>
            </a:pPr>
            <a:endParaRPr lang="hu-HU" b="1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sz="2800" b="1" u="sng" dirty="0">
                <a:latin typeface="Calibri" pitchFamily="34" charset="0"/>
              </a:rPr>
              <a:t>Folyamat elméletek</a:t>
            </a:r>
          </a:p>
          <a:p>
            <a:pPr lvl="1"/>
            <a:r>
              <a:rPr lang="hu-HU" sz="2800" dirty="0">
                <a:latin typeface="Calibri" pitchFamily="34" charset="0"/>
              </a:rPr>
              <a:t>Megerősítés elmélet - </a:t>
            </a:r>
            <a:r>
              <a:rPr lang="hu-HU" sz="2800" dirty="0" err="1">
                <a:latin typeface="Calibri" pitchFamily="34" charset="0"/>
              </a:rPr>
              <a:t>Skinner</a:t>
            </a:r>
            <a:r>
              <a:rPr lang="hu-HU" sz="2800" dirty="0">
                <a:latin typeface="Calibri" pitchFamily="34" charset="0"/>
              </a:rPr>
              <a:t> </a:t>
            </a:r>
          </a:p>
          <a:p>
            <a:pPr lvl="1"/>
            <a:r>
              <a:rPr lang="hu-HU" sz="2800" dirty="0">
                <a:latin typeface="Calibri" pitchFamily="34" charset="0"/>
              </a:rPr>
              <a:t>Elvárás elmélet – </a:t>
            </a:r>
            <a:r>
              <a:rPr lang="hu-HU" sz="2800" dirty="0" err="1">
                <a:latin typeface="Calibri" pitchFamily="34" charset="0"/>
              </a:rPr>
              <a:t>Vroom</a:t>
            </a:r>
            <a:endParaRPr lang="hu-HU" sz="2800" dirty="0">
              <a:latin typeface="Calibri" pitchFamily="34" charset="0"/>
            </a:endParaRPr>
          </a:p>
          <a:p>
            <a:pPr lvl="1"/>
            <a:r>
              <a:rPr lang="hu-HU" sz="2800" dirty="0">
                <a:latin typeface="Calibri" pitchFamily="34" charset="0"/>
              </a:rPr>
              <a:t>Célkitűzés elmélet- Locke</a:t>
            </a:r>
          </a:p>
          <a:p>
            <a:pPr lvl="1"/>
            <a:r>
              <a:rPr lang="hu-HU" sz="2800" dirty="0">
                <a:latin typeface="Calibri" pitchFamily="34" charset="0"/>
              </a:rPr>
              <a:t>Méltányosság elmélet - Adams</a:t>
            </a:r>
          </a:p>
          <a:p>
            <a:pPr marL="0" indent="0">
              <a:buNone/>
            </a:pPr>
            <a:endParaRPr lang="hu-HU" sz="2800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FE4EDC8-72DD-45C6-85D8-10E2C1909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036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Maslow</a:t>
            </a:r>
            <a:r>
              <a:rPr lang="hu-HU" dirty="0"/>
              <a:t> – Szükséglethierarchia (1950)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915064"/>
            <a:ext cx="11992670" cy="485816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b="1" dirty="0">
                <a:latin typeface="Calibri" pitchFamily="34" charset="0"/>
              </a:rPr>
              <a:t>Kiindulás: </a:t>
            </a:r>
            <a:r>
              <a:rPr lang="hu-HU" dirty="0">
                <a:latin typeface="Calibri" pitchFamily="34" charset="0"/>
              </a:rPr>
              <a:t>Az ember szükségletekkel rendelkező lény, akinek aktuális szükségletei attól függenek, hogy milyenek a már kielégített szükségletei. Csak a még nem kielégített szükségletek képesek viselkedésének befolyásolására.</a:t>
            </a: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  <a:p>
            <a:pPr lvl="1"/>
            <a:r>
              <a:rPr lang="hu-HU" dirty="0">
                <a:latin typeface="Calibri" pitchFamily="34" charset="0"/>
              </a:rPr>
              <a:t>Az ember szükségletei a fontosság </a:t>
            </a:r>
            <a:r>
              <a:rPr lang="hu-HU" b="1" u="sng" dirty="0">
                <a:latin typeface="Calibri" pitchFamily="34" charset="0"/>
              </a:rPr>
              <a:t>hierarchiájában</a:t>
            </a:r>
            <a:r>
              <a:rPr lang="hu-HU" dirty="0">
                <a:latin typeface="Calibri" pitchFamily="34" charset="0"/>
              </a:rPr>
              <a:t> helyezkednek el. Ha egyszer egy szükségletet kielégítettünk, egy másik kerül előtérbe és szintén kielégítést követel.</a:t>
            </a:r>
          </a:p>
          <a:p>
            <a:pPr lvl="1"/>
            <a:r>
              <a:rPr lang="hu-HU" dirty="0">
                <a:latin typeface="Calibri" pitchFamily="34" charset="0"/>
              </a:rPr>
              <a:t>A vezetőkre vetítve: </a:t>
            </a:r>
            <a:r>
              <a:rPr lang="hu-HU" b="1" dirty="0">
                <a:latin typeface="Calibri" pitchFamily="34" charset="0"/>
              </a:rPr>
              <a:t>Ha a vezetők képesek felismerni</a:t>
            </a:r>
            <a:r>
              <a:rPr lang="hu-HU" dirty="0">
                <a:latin typeface="Calibri" pitchFamily="34" charset="0"/>
              </a:rPr>
              <a:t>, hogy beosztottjaik a szükségletek hierarchiájában milyen szinten állnak, akkor lehetőségük van arra, hogy megtalálják a motiváció legjobb módját. A cél tehát a dolgozók alapvető igényeinek folyamatos biztosítása a munkahelyen a munka hatékonyságának növelésére. Például: Kávé, étel biztosítása, relaxációs szoba, dühöngő. stb. </a:t>
            </a:r>
            <a:r>
              <a:rPr lang="hu-HU" b="1" dirty="0">
                <a:latin typeface="Calibri" pitchFamily="34" charset="0"/>
              </a:rPr>
              <a:t>(Ma is egyre inkább ez történik)</a:t>
            </a:r>
          </a:p>
          <a:p>
            <a:pPr lvl="1"/>
            <a:r>
              <a:rPr lang="hu-HU" dirty="0">
                <a:latin typeface="Calibri" pitchFamily="34" charset="0"/>
              </a:rPr>
              <a:t>Alapgondolata az, hogy az embereket alapvető szükségleteik kielégítése késztetik bizonyos cselekvésekre, és ezek a szükségletek hierarchikus rendbe állíthatók.</a:t>
            </a:r>
          </a:p>
          <a:p>
            <a:pPr marL="457200" indent="-457200"/>
            <a:endParaRPr lang="hu-HU" sz="2800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Tartalom elméletek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D44753C8-7C59-48B1-904F-C937C02B8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0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Maslow</a:t>
            </a:r>
            <a:r>
              <a:rPr lang="hu-HU" dirty="0"/>
              <a:t> – Szükséglethierarchia (1950)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Tartalom elméletek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929DB62-34B4-45DA-BE8B-E931802A555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2317" y="1265463"/>
            <a:ext cx="8031192" cy="5437223"/>
          </a:xfrm>
          <a:prstGeom prst="rect">
            <a:avLst/>
          </a:prstGeom>
          <a:ln w="19050">
            <a:solidFill>
              <a:srgbClr val="2E5289"/>
            </a:solidFill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8248C9DA-8F04-4532-9F0D-708486DB5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09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Maslow</a:t>
            </a:r>
            <a:r>
              <a:rPr lang="hu-HU" dirty="0"/>
              <a:t> – Szükséglethierarchia (1950)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883525"/>
            <a:ext cx="11919859" cy="5155630"/>
          </a:xfrm>
        </p:spPr>
        <p:txBody>
          <a:bodyPr numCol="1">
            <a:normAutofit fontScale="92500" lnSpcReduction="20000"/>
          </a:bodyPr>
          <a:lstStyle/>
          <a:p>
            <a:r>
              <a:rPr lang="hu-HU" b="1" dirty="0">
                <a:latin typeface="Calibri" pitchFamily="34" charset="0"/>
              </a:rPr>
              <a:t>A szükségletnek öt szintje van</a:t>
            </a:r>
          </a:p>
          <a:p>
            <a:pPr lvl="1"/>
            <a:r>
              <a:rPr lang="hu-HU" b="1" dirty="0">
                <a:latin typeface="Calibri" pitchFamily="34" charset="0"/>
              </a:rPr>
              <a:t>Fiziológiai</a:t>
            </a:r>
            <a:r>
              <a:rPr lang="hu-HU" dirty="0">
                <a:latin typeface="Calibri" pitchFamily="34" charset="0"/>
              </a:rPr>
              <a:t>: az emberi test alapvető szükségleteit tartalmazza, ilyenek az élelem, víz, hőmérséklet. Amennyiben ezek kielégítetlenek, szükségképpen dominálnak</a:t>
            </a:r>
          </a:p>
          <a:p>
            <a:pPr lvl="1"/>
            <a:r>
              <a:rPr lang="hu-HU" b="1" dirty="0">
                <a:latin typeface="Calibri" pitchFamily="34" charset="0"/>
              </a:rPr>
              <a:t>Biztonsági</a:t>
            </a:r>
            <a:r>
              <a:rPr lang="hu-HU" dirty="0">
                <a:latin typeface="Calibri" pitchFamily="34" charset="0"/>
              </a:rPr>
              <a:t>: magukba foglalják a fizikai károsodástól való védelmet, valamint a betegség és a váratlan események elleni védelmet. A vezető szempontjából a biztonsági szükségletek abban jelentkeznek, hogy az alkalmazottnak szüksége van arra, hogy az állását biztonságban tudja</a:t>
            </a:r>
          </a:p>
          <a:p>
            <a:pPr lvl="1"/>
            <a:r>
              <a:rPr lang="hu-HU" b="1" dirty="0">
                <a:latin typeface="Calibri" pitchFamily="34" charset="0"/>
              </a:rPr>
              <a:t>Társadalmi</a:t>
            </a:r>
            <a:r>
              <a:rPr lang="hu-HU" dirty="0">
                <a:latin typeface="Calibri" pitchFamily="34" charset="0"/>
              </a:rPr>
              <a:t>: az emberek társas természetének és a társaság iránti igényének a következményei. Ennek a szintnek ki nem elégítése az egyén mentális, értelmi személyiségét is befolyásolhatja</a:t>
            </a:r>
          </a:p>
          <a:p>
            <a:pPr lvl="1"/>
            <a:r>
              <a:rPr lang="hu-HU" b="1" dirty="0">
                <a:latin typeface="Calibri" pitchFamily="34" charset="0"/>
              </a:rPr>
              <a:t>Megbecsülési</a:t>
            </a:r>
            <a:r>
              <a:rPr lang="hu-HU" dirty="0">
                <a:latin typeface="Calibri" pitchFamily="34" charset="0"/>
              </a:rPr>
              <a:t>: ide tartozik az, hogy tudatában legyünk, hogy fontosak vagyunk másoknak (önbecsülés). Ezeknek a szükségleteknek a kielégítése az önbizalom és a tekintély érzéséhez vezet</a:t>
            </a:r>
          </a:p>
          <a:p>
            <a:pPr lvl="1"/>
            <a:r>
              <a:rPr lang="hu-HU" b="1" dirty="0">
                <a:latin typeface="Calibri" pitchFamily="34" charset="0"/>
              </a:rPr>
              <a:t>Önmegvalósítási</a:t>
            </a:r>
            <a:r>
              <a:rPr lang="hu-HU" dirty="0">
                <a:latin typeface="Calibri" pitchFamily="34" charset="0"/>
              </a:rPr>
              <a:t>: az egyén teljes mértékben megvalósítja potenciális tehetségét és képességeit. Természetesen, ahogy az egyén szerepe változik, úgy változnak az önmegvalósítás külső aspektusai is.</a:t>
            </a:r>
          </a:p>
          <a:p>
            <a:r>
              <a:rPr lang="hu-HU" dirty="0" err="1">
                <a:latin typeface="Calibri" pitchFamily="34" charset="0"/>
              </a:rPr>
              <a:t>Maslow</a:t>
            </a:r>
            <a:r>
              <a:rPr lang="hu-HU" dirty="0">
                <a:latin typeface="Calibri" pitchFamily="34" charset="0"/>
              </a:rPr>
              <a:t> ezeket keretbe helyezte, amit a szükségletek hierarchiájának nevezett el, a különböző fontossági szintek miatt. </a:t>
            </a:r>
            <a:r>
              <a:rPr lang="hu-HU" dirty="0" err="1">
                <a:latin typeface="Calibri" pitchFamily="34" charset="0"/>
              </a:rPr>
              <a:t>Maslow</a:t>
            </a:r>
            <a:r>
              <a:rPr lang="hu-HU" dirty="0">
                <a:latin typeface="Calibri" pitchFamily="34" charset="0"/>
              </a:rPr>
              <a:t> a szükségletek között említi a tudás és megismerés szükségletét, de nem építi be a hierarchiába. </a:t>
            </a:r>
          </a:p>
          <a:p>
            <a:r>
              <a:rPr lang="hu-HU" dirty="0">
                <a:latin typeface="Calibri" pitchFamily="34" charset="0"/>
              </a:rPr>
              <a:t>Kritika: Hierarchia?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Tartalom elméletek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F1A0CDB-5C46-4890-BB6F-0F5F3B95F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  <p:pic>
        <p:nvPicPr>
          <p:cNvPr id="7" name="Picture 2" descr="Abraham Maslow Biography – Life of American Psychologist">
            <a:extLst>
              <a:ext uri="{FF2B5EF4-FFF2-40B4-BE49-F238E27FC236}">
                <a16:creationId xmlns:a16="http://schemas.microsoft.com/office/drawing/2014/main" id="{65CD3BEE-2A83-4B90-8E7C-071D52B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4390" y="113168"/>
            <a:ext cx="1104988" cy="1663874"/>
          </a:xfrm>
          <a:prstGeom prst="rect">
            <a:avLst/>
          </a:prstGeom>
          <a:noFill/>
          <a:ln w="28575">
            <a:solidFill>
              <a:srgbClr val="2E528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912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Maslow</a:t>
            </a:r>
            <a:r>
              <a:rPr lang="hu-HU" dirty="0"/>
              <a:t> – Szükséglethierarchia (1950)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19859" cy="5264148"/>
          </a:xfrm>
        </p:spPr>
        <p:txBody>
          <a:bodyPr numCol="2">
            <a:normAutofit fontScale="70000" lnSpcReduction="20000"/>
          </a:bodyPr>
          <a:lstStyle/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hu-HU" sz="3400" b="1" dirty="0">
                <a:latin typeface="Calibri" pitchFamily="34" charset="0"/>
              </a:rPr>
              <a:t>Az önmegvalósító ember tulajdonságai</a:t>
            </a:r>
          </a:p>
          <a:p>
            <a:pPr lvl="1">
              <a:lnSpc>
                <a:spcPct val="100000"/>
              </a:lnSpc>
            </a:pPr>
            <a:r>
              <a:rPr lang="hu-HU" sz="2900" dirty="0" err="1">
                <a:latin typeface="Calibri" pitchFamily="34" charset="0"/>
              </a:rPr>
              <a:t>Maslow</a:t>
            </a:r>
            <a:r>
              <a:rPr lang="hu-HU" sz="2900" dirty="0">
                <a:latin typeface="Calibri" pitchFamily="34" charset="0"/>
              </a:rPr>
              <a:t> az önmegvalósításhoz vezető cselekvéseket is vizsgálta munkássága során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hu-HU" sz="2900" b="1" dirty="0">
              <a:latin typeface="Calibri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buNone/>
            </a:pPr>
            <a:r>
              <a:rPr lang="hu-HU" sz="3400" b="1" dirty="0">
                <a:latin typeface="Calibri" pitchFamily="34" charset="0"/>
              </a:rPr>
              <a:t>Az önmegvalósító viselkedés</a:t>
            </a:r>
          </a:p>
          <a:p>
            <a:pPr lvl="1">
              <a:lnSpc>
                <a:spcPct val="100000"/>
              </a:lnSpc>
            </a:pPr>
            <a:r>
              <a:rPr lang="hu-HU" sz="2900" dirty="0">
                <a:latin typeface="Calibri" pitchFamily="34" charset="0"/>
              </a:rPr>
              <a:t>úgy éld az életet, mint a gyerek, teljes elmélyedéssel és összpontosítással</a:t>
            </a:r>
          </a:p>
          <a:p>
            <a:pPr lvl="1">
              <a:lnSpc>
                <a:spcPct val="100000"/>
              </a:lnSpc>
            </a:pPr>
            <a:r>
              <a:rPr lang="hu-HU" sz="2900" dirty="0">
                <a:latin typeface="Calibri" pitchFamily="34" charset="0"/>
              </a:rPr>
              <a:t>inkább új dolgokat próbálj ki, mintsem ragaszkodj a biztos módszerekhez</a:t>
            </a:r>
          </a:p>
          <a:p>
            <a:pPr lvl="1">
              <a:lnSpc>
                <a:spcPct val="100000"/>
              </a:lnSpc>
            </a:pPr>
            <a:r>
              <a:rPr lang="hu-HU" sz="2900" dirty="0">
                <a:latin typeface="Calibri" pitchFamily="34" charset="0"/>
              </a:rPr>
              <a:t>az érzéseidre hallgass, ne pedig a tekintély vagy a többség hangjára tapasztalataid értékelésében</a:t>
            </a:r>
          </a:p>
          <a:p>
            <a:pPr lvl="1">
              <a:lnSpc>
                <a:spcPct val="100000"/>
              </a:lnSpc>
            </a:pPr>
            <a:r>
              <a:rPr lang="hu-HU" sz="2900" dirty="0">
                <a:latin typeface="Calibri" pitchFamily="34" charset="0"/>
              </a:rPr>
              <a:t>légy őszinte: kerüld a színlelést és a szerepjátszást</a:t>
            </a:r>
          </a:p>
          <a:p>
            <a:pPr lvl="1">
              <a:lnSpc>
                <a:spcPct val="100000"/>
              </a:lnSpc>
            </a:pPr>
            <a:r>
              <a:rPr lang="hu-HU" sz="2900" dirty="0">
                <a:latin typeface="Calibri" pitchFamily="34" charset="0"/>
              </a:rPr>
              <a:t>készülj fel rá, hogy hogy nem leszel népszerű, ha nézetei nem egyeznek meg a többségével</a:t>
            </a:r>
          </a:p>
          <a:p>
            <a:pPr lvl="1">
              <a:lnSpc>
                <a:spcPct val="100000"/>
              </a:lnSpc>
            </a:pPr>
            <a:r>
              <a:rPr lang="hu-HU" sz="2900" dirty="0">
                <a:latin typeface="Calibri" pitchFamily="34" charset="0"/>
              </a:rPr>
              <a:t>vállalj felelősséget</a:t>
            </a:r>
          </a:p>
          <a:p>
            <a:pPr lvl="1">
              <a:lnSpc>
                <a:spcPct val="100000"/>
              </a:lnSpc>
              <a:spcAft>
                <a:spcPts val="800"/>
              </a:spcAft>
            </a:pPr>
            <a:r>
              <a:rPr lang="hu-HU" sz="2900" dirty="0">
                <a:latin typeface="Calibri" pitchFamily="34" charset="0"/>
              </a:rPr>
              <a:t>amit eldöntöttél, hogy megteszel, vidd is véghez</a:t>
            </a:r>
          </a:p>
          <a:p>
            <a:pPr lvl="1">
              <a:lnSpc>
                <a:spcPct val="100000"/>
              </a:lnSpc>
              <a:spcAft>
                <a:spcPts val="800"/>
              </a:spcAft>
            </a:pPr>
            <a:endParaRPr lang="hu-HU" sz="2900" b="1" dirty="0">
              <a:latin typeface="Calibri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500"/>
              </a:spcBef>
              <a:spcAft>
                <a:spcPts val="800"/>
              </a:spcAft>
              <a:buNone/>
            </a:pPr>
            <a:r>
              <a:rPr lang="hu-HU" sz="3400" b="1" dirty="0">
                <a:latin typeface="Calibri" pitchFamily="34" charset="0"/>
              </a:rPr>
              <a:t>Az önmegvalósítás jellemző tulajdonságai</a:t>
            </a:r>
          </a:p>
          <a:p>
            <a:pPr lvl="1">
              <a:lnSpc>
                <a:spcPct val="100000"/>
              </a:lnSpc>
            </a:pPr>
            <a:r>
              <a:rPr lang="hu-HU" sz="2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valóságot gyakorlatiasan észlelik, és jól tűrik a bizonytalanságot</a:t>
            </a:r>
          </a:p>
          <a:p>
            <a:pPr lvl="1">
              <a:lnSpc>
                <a:spcPct val="100000"/>
              </a:lnSpc>
            </a:pPr>
            <a:r>
              <a:rPr lang="hu-HU" sz="2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olyannak fogadják el magukat és másokat, amilyeneknek</a:t>
            </a:r>
          </a:p>
          <a:p>
            <a:pPr lvl="1">
              <a:lnSpc>
                <a:spcPct val="100000"/>
              </a:lnSpc>
            </a:pPr>
            <a:r>
              <a:rPr lang="hu-HU" sz="2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spontán módon gondolkodnak és viselkednek</a:t>
            </a:r>
          </a:p>
          <a:p>
            <a:pPr lvl="1">
              <a:lnSpc>
                <a:spcPct val="100000"/>
              </a:lnSpc>
            </a:pPr>
            <a:r>
              <a:rPr lang="hu-HU" sz="2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jó humorérzékük van</a:t>
            </a:r>
          </a:p>
          <a:p>
            <a:pPr lvl="1">
              <a:lnSpc>
                <a:spcPct val="100000"/>
              </a:lnSpc>
            </a:pPr>
            <a:r>
              <a:rPr lang="hu-HU" sz="2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kreatívak</a:t>
            </a:r>
          </a:p>
          <a:p>
            <a:pPr lvl="1">
              <a:lnSpc>
                <a:spcPct val="100000"/>
              </a:lnSpc>
            </a:pPr>
            <a:r>
              <a:rPr lang="hu-HU" sz="2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törődnek az emberiség jólétével</a:t>
            </a:r>
          </a:p>
          <a:p>
            <a:pPr lvl="1">
              <a:lnSpc>
                <a:spcPct val="100000"/>
              </a:lnSpc>
            </a:pPr>
            <a:r>
              <a:rPr lang="hu-HU" sz="2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mélyen átélik az élet alapélményeit</a:t>
            </a:r>
          </a:p>
          <a:p>
            <a:pPr lvl="1">
              <a:lnSpc>
                <a:spcPct val="100000"/>
              </a:lnSpc>
            </a:pPr>
            <a:r>
              <a:rPr lang="hu-HU" sz="2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inkább kevés, mint sok emberrel erős és jó kapcsolatokat alakítanak ki</a:t>
            </a:r>
          </a:p>
          <a:p>
            <a:pPr lvl="1">
              <a:lnSpc>
                <a:spcPct val="100000"/>
              </a:lnSpc>
              <a:spcAft>
                <a:spcPts val="800"/>
              </a:spcAft>
            </a:pPr>
            <a:r>
              <a:rPr lang="hu-HU" sz="2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objektív nézőpontból képesek az életre tekinteni</a:t>
            </a:r>
            <a:endParaRPr lang="hu-HU" sz="2900" dirty="0"/>
          </a:p>
          <a:p>
            <a:pPr marL="457200" indent="-457200"/>
            <a:endParaRPr lang="hu-HU" sz="2800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Tartalom elméletek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AA21534-24B9-4D87-8D7A-23A237F9DC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89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dirty="0">
                <a:latin typeface="Calibri" pitchFamily="34" charset="0"/>
              </a:rPr>
              <a:t>Mc. </a:t>
            </a:r>
            <a:r>
              <a:rPr lang="hu-HU" sz="4000" dirty="0" err="1">
                <a:latin typeface="Calibri" pitchFamily="34" charset="0"/>
              </a:rPr>
              <a:t>Clelland</a:t>
            </a:r>
            <a:r>
              <a:rPr lang="hu-HU" sz="4000" dirty="0">
                <a:latin typeface="Calibri" pitchFamily="34" charset="0"/>
              </a:rPr>
              <a:t> </a:t>
            </a:r>
            <a:r>
              <a:rPr lang="hu-HU" sz="3600" dirty="0">
                <a:latin typeface="Calibri" pitchFamily="34" charset="0"/>
              </a:rPr>
              <a:t>(1965)</a:t>
            </a:r>
            <a:r>
              <a:rPr lang="hu-HU" dirty="0">
                <a:latin typeface="Calibri" pitchFamily="34" charset="0"/>
              </a:rPr>
              <a:t> </a:t>
            </a:r>
            <a:r>
              <a:rPr lang="hu-HU" sz="4000" dirty="0">
                <a:latin typeface="Calibri" pitchFamily="34" charset="0"/>
              </a:rPr>
              <a:t>teljesítmény – hatalom - </a:t>
            </a:r>
            <a:r>
              <a:rPr lang="hu-HU" sz="4000" dirty="0" err="1">
                <a:latin typeface="Calibri" pitchFamily="34" charset="0"/>
              </a:rPr>
              <a:t>affiliáció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69" y="1301425"/>
            <a:ext cx="11804306" cy="5503412"/>
          </a:xfrm>
        </p:spPr>
        <p:txBody>
          <a:bodyPr numCol="1">
            <a:normAutofit fontScale="92500" lnSpcReduction="20000"/>
          </a:bodyPr>
          <a:lstStyle/>
          <a:p>
            <a:pPr marL="0" indent="0">
              <a:buNone/>
            </a:pPr>
            <a:r>
              <a:rPr lang="hu-HU" sz="2600" b="1" dirty="0">
                <a:latin typeface="Calibri" pitchFamily="34" charset="0"/>
              </a:rPr>
              <a:t>Minden emberben a születésétől fogva öröklötten jelen van:</a:t>
            </a:r>
            <a:br>
              <a:rPr lang="hu-HU" sz="2600" dirty="0">
                <a:latin typeface="Calibri" pitchFamily="34" charset="0"/>
              </a:rPr>
            </a:br>
            <a:endParaRPr lang="hu-HU" sz="2600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sz="2600" b="1" dirty="0">
                <a:latin typeface="Calibri" pitchFamily="34" charset="0"/>
              </a:rPr>
              <a:t>- az emberi kapcsolatokra való igény:</a:t>
            </a:r>
          </a:p>
          <a:p>
            <a:pPr marL="457200" lvl="1" indent="0">
              <a:buNone/>
            </a:pPr>
            <a:r>
              <a:rPr lang="hu-HU" sz="2600" b="1" dirty="0">
                <a:latin typeface="Calibri" pitchFamily="34" charset="0"/>
              </a:rPr>
              <a:t>Affiliációs motívum: mások általi elfogadás </a:t>
            </a:r>
            <a:r>
              <a:rPr lang="hu-HU" sz="2600" dirty="0">
                <a:latin typeface="Calibri" pitchFamily="34" charset="0"/>
              </a:rPr>
              <a:t>fontosságát tükröző hajtóerő </a:t>
            </a:r>
          </a:p>
          <a:p>
            <a:pPr marL="914400" lvl="2" indent="0">
              <a:buNone/>
            </a:pPr>
            <a:r>
              <a:rPr lang="hu-HU" sz="2600" dirty="0"/>
              <a:t>Azokat a munkavállalókat, akiknél a kapcsolati szükséglet a legerősebb, emberközpontú feladatokkal és </a:t>
            </a:r>
            <a:r>
              <a:rPr lang="hu-HU" sz="2600" b="1" dirty="0"/>
              <a:t>folyamatos elismeréssel, dicsérettel </a:t>
            </a:r>
            <a:r>
              <a:rPr lang="hu-HU" sz="2600" dirty="0"/>
              <a:t>lehet motiválni</a:t>
            </a:r>
            <a:r>
              <a:rPr lang="hu-HU" sz="2600" i="1" dirty="0"/>
              <a:t>. </a:t>
            </a:r>
            <a:endParaRPr lang="hu-HU" sz="2600" i="1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sz="2600" b="1" dirty="0">
                <a:latin typeface="Calibri" pitchFamily="34" charset="0"/>
              </a:rPr>
              <a:t>- a teljesítményre irányuló késztetés?</a:t>
            </a:r>
          </a:p>
          <a:p>
            <a:pPr marL="457200" lvl="1" indent="0">
              <a:buNone/>
            </a:pPr>
            <a:r>
              <a:rPr lang="hu-HU" sz="2600" b="1" dirty="0">
                <a:latin typeface="Calibri" pitchFamily="34" charset="0"/>
              </a:rPr>
              <a:t>Teljesítménymotívum:</a:t>
            </a:r>
            <a:r>
              <a:rPr lang="hu-HU" sz="2600" dirty="0">
                <a:latin typeface="Calibri" pitchFamily="34" charset="0"/>
              </a:rPr>
              <a:t> </a:t>
            </a:r>
            <a:r>
              <a:rPr lang="hu-HU" sz="2600" b="1" dirty="0">
                <a:latin typeface="Calibri" pitchFamily="34" charset="0"/>
              </a:rPr>
              <a:t>siker</a:t>
            </a:r>
            <a:r>
              <a:rPr lang="hu-HU" sz="2600" dirty="0">
                <a:latin typeface="Calibri" pitchFamily="34" charset="0"/>
              </a:rPr>
              <a:t> fontosságát tükröző belső hajtóerő</a:t>
            </a:r>
          </a:p>
          <a:p>
            <a:pPr marL="914400" lvl="2" indent="0">
              <a:buNone/>
            </a:pPr>
            <a:r>
              <a:rPr lang="hu-HU" sz="2600" dirty="0"/>
              <a:t>Azon munkavállalókat, akiknél a teljesítmény szükséglet a domináló, a siker és az elégedettség érzése motiválja. Ezek az emberek jutalommal nem motiválhatóak, csakis számukra </a:t>
            </a:r>
            <a:r>
              <a:rPr lang="hu-HU" sz="2600" b="1" dirty="0"/>
              <a:t>megfelelő feladattal</a:t>
            </a:r>
            <a:r>
              <a:rPr lang="hu-HU" sz="2600" dirty="0"/>
              <a:t>, amiben </a:t>
            </a:r>
            <a:r>
              <a:rPr lang="hu-HU" sz="2600" b="1" dirty="0"/>
              <a:t>megmutathatják a képességeiket</a:t>
            </a:r>
            <a:r>
              <a:rPr lang="hu-HU" sz="2600" dirty="0"/>
              <a:t>. A számukra delegált feladat legyen kihívó, azonban megoldható. </a:t>
            </a:r>
            <a:endParaRPr lang="hu-HU" sz="2600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sz="2600" b="1" dirty="0">
                <a:latin typeface="Calibri" pitchFamily="34" charset="0"/>
              </a:rPr>
              <a:t>- a hatalmi motiváció</a:t>
            </a:r>
          </a:p>
          <a:p>
            <a:pPr marL="457200" lvl="1" indent="0">
              <a:buNone/>
            </a:pPr>
            <a:r>
              <a:rPr lang="hu-HU" sz="2600" b="1" dirty="0">
                <a:latin typeface="Calibri" pitchFamily="34" charset="0"/>
              </a:rPr>
              <a:t>Hatalmi motívum:</a:t>
            </a:r>
            <a:r>
              <a:rPr lang="hu-HU" sz="2600" dirty="0">
                <a:latin typeface="Calibri" pitchFamily="34" charset="0"/>
              </a:rPr>
              <a:t> </a:t>
            </a:r>
            <a:r>
              <a:rPr lang="hu-HU" sz="2600" b="1" dirty="0">
                <a:latin typeface="Calibri" pitchFamily="34" charset="0"/>
              </a:rPr>
              <a:t>másokra való hatás </a:t>
            </a:r>
            <a:r>
              <a:rPr lang="hu-HU" sz="2600" dirty="0">
                <a:latin typeface="Calibri" pitchFamily="34" charset="0"/>
              </a:rPr>
              <a:t>fontosságát tükröző belső hajtóerő</a:t>
            </a:r>
          </a:p>
          <a:p>
            <a:pPr marL="914400" lvl="2" indent="0">
              <a:buNone/>
            </a:pPr>
            <a:r>
              <a:rPr lang="hu-HU" sz="2600" dirty="0"/>
              <a:t>A magas hatalom szükséglettel rendelkező munkavállalóknál a legfontosabb a </a:t>
            </a:r>
            <a:r>
              <a:rPr lang="hu-HU" sz="2600" b="1" dirty="0"/>
              <a:t>vezetői pozíció megszerzése</a:t>
            </a:r>
            <a:r>
              <a:rPr lang="hu-HU" sz="2600" dirty="0"/>
              <a:t>. Ezekre az emberekre jellemző a hatalmi vágy, illetve a törekvés arra, hogy másokat irányíthassanak, befolyásolhassanak.</a:t>
            </a: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Tartalom elméletek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AC1E1A4-CE57-44F0-BA16-7147EB061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41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b="1" dirty="0">
                <a:solidFill>
                  <a:schemeClr val="tx1"/>
                </a:solidFill>
                <a:latin typeface="Calibri" pitchFamily="34" charset="0"/>
              </a:rPr>
              <a:t>Herzberg – féle kéttényezős elmélet </a:t>
            </a:r>
            <a:r>
              <a:rPr lang="hu-HU" sz="3600" dirty="0">
                <a:solidFill>
                  <a:schemeClr val="tx1"/>
                </a:solidFill>
                <a:latin typeface="Calibri" pitchFamily="34" charset="0"/>
              </a:rPr>
              <a:t>(1968)</a:t>
            </a:r>
            <a:r>
              <a:rPr lang="hu-HU" sz="4000" dirty="0">
                <a:solidFill>
                  <a:schemeClr val="tx1"/>
                </a:solidFill>
                <a:latin typeface="Calibri" pitchFamily="34" charset="0"/>
              </a:rPr>
              <a:t> 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3329354"/>
            <a:ext cx="11985592" cy="3528646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hu-HU" b="1" u="sng" dirty="0">
                <a:latin typeface="Calibri" pitchFamily="34" charset="0"/>
              </a:rPr>
              <a:t>Higiéniás tényezők </a:t>
            </a:r>
          </a:p>
          <a:p>
            <a:pPr lvl="1"/>
            <a:r>
              <a:rPr lang="hu-HU" dirty="0">
                <a:latin typeface="Calibri" pitchFamily="34" charset="0"/>
              </a:rPr>
              <a:t>A fizetés</a:t>
            </a:r>
          </a:p>
          <a:p>
            <a:pPr lvl="1"/>
            <a:r>
              <a:rPr lang="hu-HU" dirty="0">
                <a:latin typeface="Calibri" pitchFamily="34" charset="0"/>
              </a:rPr>
              <a:t>A munkafeltételek</a:t>
            </a:r>
          </a:p>
          <a:p>
            <a:pPr lvl="1"/>
            <a:r>
              <a:rPr lang="hu-HU" dirty="0">
                <a:latin typeface="Calibri" pitchFamily="34" charset="0"/>
              </a:rPr>
              <a:t>A státusz</a:t>
            </a:r>
          </a:p>
          <a:p>
            <a:pPr lvl="1"/>
            <a:r>
              <a:rPr lang="hu-HU" dirty="0">
                <a:latin typeface="Calibri" pitchFamily="34" charset="0"/>
              </a:rPr>
              <a:t>A munkahely biztonsága</a:t>
            </a:r>
          </a:p>
          <a:p>
            <a:pPr lvl="1"/>
            <a:r>
              <a:rPr lang="hu-HU" dirty="0">
                <a:latin typeface="Calibri" pitchFamily="34" charset="0"/>
              </a:rPr>
              <a:t>A személyes kapcsolatok</a:t>
            </a:r>
            <a:endParaRPr lang="hu-HU" dirty="0">
              <a:latin typeface="Calibri" pitchFamily="34" charset="0"/>
              <a:sym typeface="Symbol" pitchFamily="18" charset="2"/>
            </a:endParaRPr>
          </a:p>
          <a:p>
            <a:pPr marL="0" indent="0">
              <a:buNone/>
            </a:pPr>
            <a:r>
              <a:rPr lang="hu-HU" i="1" dirty="0">
                <a:latin typeface="Calibri" pitchFamily="34" charset="0"/>
                <a:sym typeface="Symbol" pitchFamily="18" charset="2"/>
              </a:rPr>
              <a:t>Hiányuk elégedettlenséghez vezet</a:t>
            </a:r>
            <a:endParaRPr lang="hu-HU" b="1" i="1" dirty="0">
              <a:latin typeface="Calibri" pitchFamily="34" charset="0"/>
            </a:endParaRPr>
          </a:p>
          <a:p>
            <a:endParaRPr lang="hu-HU" b="1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b="1" u="sng" dirty="0">
                <a:latin typeface="Calibri" pitchFamily="34" charset="0"/>
              </a:rPr>
              <a:t>Motivációs tényezők</a:t>
            </a:r>
            <a:r>
              <a:rPr lang="hu-HU" u="sng" dirty="0">
                <a:latin typeface="Calibri" pitchFamily="34" charset="0"/>
              </a:rPr>
              <a:t> </a:t>
            </a:r>
            <a:endParaRPr lang="hu-HU" b="1" u="sng" dirty="0">
              <a:latin typeface="Calibri" pitchFamily="34" charset="0"/>
            </a:endParaRPr>
          </a:p>
          <a:p>
            <a:pPr lvl="1"/>
            <a:r>
              <a:rPr lang="hu-HU" dirty="0">
                <a:latin typeface="Calibri" pitchFamily="34" charset="0"/>
              </a:rPr>
              <a:t>A felelősségvállalás</a:t>
            </a:r>
          </a:p>
          <a:p>
            <a:pPr lvl="1"/>
            <a:r>
              <a:rPr lang="hu-HU" dirty="0">
                <a:latin typeface="Calibri" pitchFamily="34" charset="0"/>
              </a:rPr>
              <a:t>A nagyobb teljesítmény</a:t>
            </a:r>
          </a:p>
          <a:p>
            <a:pPr lvl="1"/>
            <a:r>
              <a:rPr lang="hu-HU" dirty="0">
                <a:latin typeface="Calibri" pitchFamily="34" charset="0"/>
              </a:rPr>
              <a:t>A fejlődés lehetősége</a:t>
            </a:r>
          </a:p>
          <a:p>
            <a:pPr lvl="1"/>
            <a:r>
              <a:rPr lang="hu-HU" dirty="0">
                <a:latin typeface="Calibri" pitchFamily="34" charset="0"/>
              </a:rPr>
              <a:t>A karrier lehetősége</a:t>
            </a:r>
          </a:p>
          <a:p>
            <a:pPr lvl="1"/>
            <a:r>
              <a:rPr lang="hu-HU" dirty="0">
                <a:latin typeface="Calibri" pitchFamily="34" charset="0"/>
                <a:sym typeface="Symbol" pitchFamily="18" charset="2"/>
              </a:rPr>
              <a:t>Az elismerés</a:t>
            </a:r>
            <a:endParaRPr lang="hu-HU" b="1" dirty="0">
              <a:latin typeface="Calibri" pitchFamily="34" charset="0"/>
              <a:sym typeface="Symbol" pitchFamily="18" charset="2"/>
            </a:endParaRPr>
          </a:p>
          <a:p>
            <a:pPr marL="0" indent="0">
              <a:buNone/>
            </a:pPr>
            <a:r>
              <a:rPr lang="hu-HU" i="1" dirty="0">
                <a:latin typeface="Calibri" pitchFamily="34" charset="0"/>
                <a:sym typeface="Symbol" pitchFamily="18" charset="2"/>
              </a:rPr>
              <a:t>Jelenlétük a munka minőségének javulásához vezet</a:t>
            </a:r>
            <a:endParaRPr lang="hu-HU" i="1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hu-HU" sz="2600" dirty="0"/>
              <a:t>Motivációs elméletek – Tartalom elméletek</a:t>
            </a:r>
          </a:p>
          <a:p>
            <a:endParaRPr lang="hu-HU" dirty="0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34FE71B-0588-4538-A4CB-6FD352150C37}"/>
              </a:ext>
            </a:extLst>
          </p:cNvPr>
          <p:cNvSpPr txBox="1"/>
          <p:nvPr/>
        </p:nvSpPr>
        <p:spPr>
          <a:xfrm>
            <a:off x="239151" y="1369255"/>
            <a:ext cx="1147659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2E5289"/>
              </a:buClr>
            </a:pPr>
            <a:r>
              <a:rPr lang="hu-HU" sz="2400" dirty="0">
                <a:latin typeface="Calibri" pitchFamily="34" charset="0"/>
              </a:rPr>
              <a:t>Herzberg elmélete szerint egyes korábban motiváló tényezőként alkalmazott munkahelyi aspektusok csak a dolgozók alapvető feltételeinek kielégítésére szolgálnak, hiányuk elégedetlenséghez vezet, jelenlétük azonban nem vezet hatékonyabb munkához, ezeket </a:t>
            </a:r>
            <a:r>
              <a:rPr lang="hu-HU" sz="2400" b="1" dirty="0">
                <a:latin typeface="Calibri" pitchFamily="34" charset="0"/>
              </a:rPr>
              <a:t>Higiéniás tényezőknek </a:t>
            </a:r>
            <a:r>
              <a:rPr lang="hu-HU" sz="2400" dirty="0">
                <a:latin typeface="Calibri" pitchFamily="34" charset="0"/>
              </a:rPr>
              <a:t>nevezte el. A </a:t>
            </a:r>
            <a:r>
              <a:rPr lang="hu-HU" sz="2400" b="1" dirty="0">
                <a:latin typeface="Calibri" pitchFamily="34" charset="0"/>
              </a:rPr>
              <a:t>Motivációs tényezők </a:t>
            </a:r>
            <a:r>
              <a:rPr lang="hu-HU" sz="2400" dirty="0">
                <a:latin typeface="Calibri" pitchFamily="34" charset="0"/>
              </a:rPr>
              <a:t>azok amelyek jelenlétükkel növelik a dolgozó teljesítményét, elkötelezettségét</a:t>
            </a:r>
          </a:p>
          <a:p>
            <a:endParaRPr lang="hu-HU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577657BC-BDF3-49EC-B89F-0CE682853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38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dirty="0">
                <a:latin typeface="Calibri" pitchFamily="34" charset="0"/>
              </a:rPr>
              <a:t>Herzberg – féle kéttényezős elmélet </a:t>
            </a:r>
            <a:r>
              <a:rPr lang="hu-HU" sz="3600" dirty="0">
                <a:latin typeface="Calibri" pitchFamily="34" charset="0"/>
              </a:rPr>
              <a:t>(1968)</a:t>
            </a:r>
            <a:r>
              <a:rPr lang="hu-HU" dirty="0">
                <a:latin typeface="Calibri" pitchFamily="34" charset="0"/>
              </a:rPr>
              <a:t> 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85592" cy="5264148"/>
          </a:xfrm>
        </p:spPr>
        <p:txBody>
          <a:bodyPr numCol="1">
            <a:normAutofit fontScale="62500" lnSpcReduction="20000"/>
          </a:bodyPr>
          <a:lstStyle/>
          <a:p>
            <a:r>
              <a:rPr lang="hu-HU" sz="3800" dirty="0">
                <a:latin typeface="Calibri" pitchFamily="34" charset="0"/>
              </a:rPr>
              <a:t>Bizonyos </a:t>
            </a:r>
            <a:r>
              <a:rPr lang="hu-HU" sz="3800" b="1" dirty="0">
                <a:latin typeface="Calibri" pitchFamily="34" charset="0"/>
              </a:rPr>
              <a:t>munkahelyi feltételek hiánya </a:t>
            </a:r>
            <a:r>
              <a:rPr lang="hu-HU" sz="3800" dirty="0">
                <a:latin typeface="Calibri" pitchFamily="34" charset="0"/>
              </a:rPr>
              <a:t>elégedetlenséget kelt az alkalmazottakban. A feltételeknek </a:t>
            </a:r>
            <a:r>
              <a:rPr lang="hu-HU" sz="3800" b="1" dirty="0">
                <a:latin typeface="Calibri" pitchFamily="34" charset="0"/>
              </a:rPr>
              <a:t>a megléte nem bizonyul motiváló tényezőnek</a:t>
            </a:r>
            <a:r>
              <a:rPr lang="hu-HU" sz="3800" dirty="0">
                <a:latin typeface="Calibri" pitchFamily="34" charset="0"/>
              </a:rPr>
              <a:t>. </a:t>
            </a:r>
          </a:p>
          <a:p>
            <a:r>
              <a:rPr lang="hu-HU" sz="3800" dirty="0">
                <a:latin typeface="Calibri" pitchFamily="34" charset="0"/>
              </a:rPr>
              <a:t>Ezeket </a:t>
            </a:r>
            <a:r>
              <a:rPr lang="hu-HU" sz="3800" b="1" dirty="0">
                <a:latin typeface="Calibri" pitchFamily="34" charset="0"/>
              </a:rPr>
              <a:t>fenntartó tényezőknek </a:t>
            </a:r>
            <a:r>
              <a:rPr lang="hu-HU" sz="3800" dirty="0">
                <a:latin typeface="Calibri" pitchFamily="34" charset="0"/>
              </a:rPr>
              <a:t>nevezte, mivel szükségesek ahhoz, hogy az </a:t>
            </a:r>
            <a:r>
              <a:rPr lang="hu-HU" sz="3800" b="1" dirty="0">
                <a:latin typeface="Calibri" pitchFamily="34" charset="0"/>
              </a:rPr>
              <a:t>elfogadható szintű elégedettség fennmaradjon.</a:t>
            </a:r>
          </a:p>
          <a:p>
            <a:endParaRPr lang="hu-HU" sz="3800" dirty="0">
              <a:latin typeface="Calibri" pitchFamily="34" charset="0"/>
            </a:endParaRPr>
          </a:p>
          <a:p>
            <a:r>
              <a:rPr lang="hu-HU" sz="3800" dirty="0">
                <a:latin typeface="Calibri" pitchFamily="34" charset="0"/>
              </a:rPr>
              <a:t>Tíz </a:t>
            </a:r>
            <a:r>
              <a:rPr lang="hu-HU" sz="3800" b="1" dirty="0">
                <a:latin typeface="Calibri" pitchFamily="34" charset="0"/>
              </a:rPr>
              <a:t>fenntartó tényező </a:t>
            </a:r>
            <a:r>
              <a:rPr lang="hu-HU" sz="3800" dirty="0">
                <a:latin typeface="Calibri" pitchFamily="34" charset="0"/>
              </a:rPr>
              <a:t>: </a:t>
            </a:r>
          </a:p>
          <a:p>
            <a:pPr lvl="1"/>
            <a:r>
              <a:rPr lang="hu-HU" sz="3800" dirty="0">
                <a:latin typeface="Calibri" pitchFamily="34" charset="0"/>
              </a:rPr>
              <a:t>1. a vállalati politika és vezetés, </a:t>
            </a:r>
          </a:p>
          <a:p>
            <a:pPr lvl="1"/>
            <a:r>
              <a:rPr lang="hu-HU" sz="3800" dirty="0">
                <a:latin typeface="Calibri" pitchFamily="34" charset="0"/>
              </a:rPr>
              <a:t>2. a műszaki vezetés, </a:t>
            </a:r>
          </a:p>
          <a:p>
            <a:pPr lvl="1"/>
            <a:r>
              <a:rPr lang="hu-HU" sz="3800" dirty="0">
                <a:latin typeface="Calibri" pitchFamily="34" charset="0"/>
              </a:rPr>
              <a:t>3. a személyes kapcsolat a vezetővel, </a:t>
            </a:r>
          </a:p>
          <a:p>
            <a:pPr lvl="1"/>
            <a:r>
              <a:rPr lang="hu-HU" sz="3800" dirty="0">
                <a:latin typeface="Calibri" pitchFamily="34" charset="0"/>
              </a:rPr>
              <a:t>4. a személyes kapcsolat az egyenrangúakkal, </a:t>
            </a:r>
          </a:p>
          <a:p>
            <a:pPr lvl="1"/>
            <a:r>
              <a:rPr lang="hu-HU" sz="3800" dirty="0">
                <a:latin typeface="Calibri" pitchFamily="34" charset="0"/>
              </a:rPr>
              <a:t>5. a személyes kapcsolat az alárendeltekkel, </a:t>
            </a:r>
          </a:p>
          <a:p>
            <a:pPr lvl="1"/>
            <a:r>
              <a:rPr lang="hu-HU" sz="3800" dirty="0">
                <a:latin typeface="Calibri" pitchFamily="34" charset="0"/>
              </a:rPr>
              <a:t>6. a fizetés, </a:t>
            </a:r>
          </a:p>
          <a:p>
            <a:pPr lvl="1"/>
            <a:r>
              <a:rPr lang="hu-HU" sz="3800" dirty="0">
                <a:latin typeface="Calibri" pitchFamily="34" charset="0"/>
              </a:rPr>
              <a:t>7. az állásbiztonság, </a:t>
            </a:r>
          </a:p>
          <a:p>
            <a:pPr lvl="1"/>
            <a:r>
              <a:rPr lang="hu-HU" sz="3800" dirty="0">
                <a:latin typeface="Calibri" pitchFamily="34" charset="0"/>
              </a:rPr>
              <a:t>8. a személyes élet, </a:t>
            </a:r>
          </a:p>
          <a:p>
            <a:pPr lvl="1"/>
            <a:r>
              <a:rPr lang="hu-HU" sz="3800" dirty="0">
                <a:latin typeface="Calibri" pitchFamily="34" charset="0"/>
              </a:rPr>
              <a:t>9. a munkafeltételek, </a:t>
            </a:r>
          </a:p>
          <a:p>
            <a:pPr lvl="1"/>
            <a:r>
              <a:rPr lang="hu-HU" sz="3800" dirty="0">
                <a:latin typeface="Calibri" pitchFamily="34" charset="0"/>
              </a:rPr>
              <a:t>10. a rang.</a:t>
            </a: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6070" y="523870"/>
            <a:ext cx="11510284" cy="440645"/>
          </a:xfrm>
        </p:spPr>
        <p:txBody>
          <a:bodyPr>
            <a:normAutofit lnSpcReduction="10000"/>
          </a:bodyPr>
          <a:lstStyle/>
          <a:p>
            <a:r>
              <a:rPr lang="hu-HU" sz="2600" dirty="0"/>
              <a:t>Motivációs elméletek – Tartalom elméletek</a:t>
            </a:r>
          </a:p>
          <a:p>
            <a:endParaRPr lang="hu-HU" dirty="0"/>
          </a:p>
        </p:txBody>
      </p:sp>
      <p:pic>
        <p:nvPicPr>
          <p:cNvPr id="6" name="Picture 2" descr="Herzberg, Gerhard (1904–99)">
            <a:extLst>
              <a:ext uri="{FF2B5EF4-FFF2-40B4-BE49-F238E27FC236}">
                <a16:creationId xmlns:a16="http://schemas.microsoft.com/office/drawing/2014/main" id="{892B9359-653F-4115-BAB3-E99FC86C6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587" y="2766241"/>
            <a:ext cx="2392162" cy="3466902"/>
          </a:xfrm>
          <a:prstGeom prst="rect">
            <a:avLst/>
          </a:prstGeom>
          <a:noFill/>
          <a:ln w="19050">
            <a:solidFill>
              <a:srgbClr val="2E528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C7FDD46-EBEF-4D44-A18D-7AC2AB92A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156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dirty="0">
                <a:latin typeface="Calibri" pitchFamily="34" charset="0"/>
              </a:rPr>
              <a:t>Herzberg – féle kéttényezős elmélet </a:t>
            </a:r>
            <a:r>
              <a:rPr lang="hu-HU" sz="3600" dirty="0">
                <a:latin typeface="Calibri" pitchFamily="34" charset="0"/>
              </a:rPr>
              <a:t>(1968)</a:t>
            </a:r>
            <a:r>
              <a:rPr lang="hu-HU" dirty="0">
                <a:latin typeface="Calibri" pitchFamily="34" charset="0"/>
              </a:rPr>
              <a:t> 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85592" cy="5264148"/>
          </a:xfrm>
        </p:spPr>
        <p:txBody>
          <a:bodyPr numCol="1">
            <a:normAutofit/>
          </a:bodyPr>
          <a:lstStyle/>
          <a:p>
            <a:r>
              <a:rPr lang="hu-HU" dirty="0">
                <a:latin typeface="Calibri" pitchFamily="34" charset="0"/>
              </a:rPr>
              <a:t>Bizonyos munkakörülmények </a:t>
            </a:r>
            <a:r>
              <a:rPr lang="hu-HU" b="1" dirty="0">
                <a:latin typeface="Calibri" pitchFamily="34" charset="0"/>
              </a:rPr>
              <a:t>rendkívül erősen motiválóak</a:t>
            </a:r>
            <a:r>
              <a:rPr lang="hu-HU" dirty="0">
                <a:latin typeface="Calibri" pitchFamily="34" charset="0"/>
              </a:rPr>
              <a:t>. </a:t>
            </a:r>
          </a:p>
          <a:p>
            <a:r>
              <a:rPr lang="hu-HU" dirty="0">
                <a:latin typeface="Calibri" pitchFamily="34" charset="0"/>
              </a:rPr>
              <a:t>Ezek hiánya azonban nem bizonyul erősen elégedettlenséget keltő tényezőnek.</a:t>
            </a:r>
            <a:br>
              <a:rPr lang="hu-HU" dirty="0">
                <a:latin typeface="Calibri" pitchFamily="34" charset="0"/>
              </a:rPr>
            </a:br>
            <a:endParaRPr lang="hu-HU" dirty="0">
              <a:latin typeface="Calibri" pitchFamily="34" charset="0"/>
            </a:endParaRPr>
          </a:p>
          <a:p>
            <a:r>
              <a:rPr lang="hu-HU" b="1" dirty="0">
                <a:latin typeface="Calibri" pitchFamily="34" charset="0"/>
              </a:rPr>
              <a:t>Hat motiváló tényezőt nevez meg: </a:t>
            </a:r>
          </a:p>
          <a:p>
            <a:pPr lvl="1"/>
            <a:r>
              <a:rPr lang="hu-HU" dirty="0">
                <a:latin typeface="Calibri" pitchFamily="34" charset="0"/>
              </a:rPr>
              <a:t>az eredményesség; </a:t>
            </a:r>
          </a:p>
          <a:p>
            <a:pPr lvl="1"/>
            <a:r>
              <a:rPr lang="hu-HU" dirty="0">
                <a:latin typeface="Calibri" pitchFamily="34" charset="0"/>
              </a:rPr>
              <a:t>az elismerés és a megbecsülés; </a:t>
            </a:r>
          </a:p>
          <a:p>
            <a:pPr lvl="1"/>
            <a:r>
              <a:rPr lang="hu-HU" dirty="0">
                <a:latin typeface="Calibri" pitchFamily="34" charset="0"/>
              </a:rPr>
              <a:t>az előléptetés; </a:t>
            </a:r>
          </a:p>
          <a:p>
            <a:pPr lvl="1"/>
            <a:r>
              <a:rPr lang="hu-HU" dirty="0">
                <a:latin typeface="Calibri" pitchFamily="34" charset="0"/>
              </a:rPr>
              <a:t>maga a munka; </a:t>
            </a:r>
          </a:p>
          <a:p>
            <a:pPr lvl="1"/>
            <a:r>
              <a:rPr lang="hu-HU" dirty="0">
                <a:latin typeface="Calibri" pitchFamily="34" charset="0"/>
              </a:rPr>
              <a:t>a személyes fejlődés lehetősége; </a:t>
            </a:r>
          </a:p>
          <a:p>
            <a:pPr lvl="1"/>
            <a:r>
              <a:rPr lang="hu-HU" dirty="0">
                <a:latin typeface="Calibri" pitchFamily="34" charset="0"/>
              </a:rPr>
              <a:t>a felelősség.</a:t>
            </a:r>
          </a:p>
          <a:p>
            <a:pPr>
              <a:buNone/>
            </a:pPr>
            <a:r>
              <a:rPr lang="hu-HU" dirty="0">
                <a:latin typeface="Calibri" pitchFamily="34" charset="0"/>
              </a:rPr>
              <a:t> </a:t>
            </a:r>
          </a:p>
          <a:p>
            <a:pPr>
              <a:buNone/>
            </a:pPr>
            <a:r>
              <a:rPr lang="hu-HU" dirty="0">
                <a:latin typeface="Calibri" pitchFamily="34" charset="0"/>
              </a:rPr>
              <a:t>Kritika: inkább attitűdvizsgálat, nem egyértelmű a motiváció és a teljesítmény közti kapcsolat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19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Tartalom elméletek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BB21DDA-E2A5-4B46-8167-6F3B792CD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80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dirty="0">
                <a:latin typeface="Calibri" pitchFamily="34" charset="0"/>
              </a:rPr>
              <a:t>A munkakör gazdagítás lehetőségei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hu-HU" sz="2600" dirty="0"/>
              <a:t>Motivációs elméletek – Tartalom elméletek</a:t>
            </a:r>
          </a:p>
          <a:p>
            <a:endParaRPr lang="hu-HU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16A0538-A980-4626-BB2C-DCB87DBDA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4785" y="1265463"/>
            <a:ext cx="9773728" cy="5392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0B9DC336-577E-4EAF-B9F7-24A45694C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065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b="1" dirty="0" err="1">
                <a:latin typeface="Calibri" pitchFamily="34" charset="0"/>
              </a:rPr>
              <a:t>Alderfer</a:t>
            </a:r>
            <a:r>
              <a:rPr lang="hu-HU" sz="4000" dirty="0">
                <a:latin typeface="Calibri" pitchFamily="34" charset="0"/>
              </a:rPr>
              <a:t> szükségletelmélete </a:t>
            </a:r>
            <a:r>
              <a:rPr lang="hu-HU" sz="3600" dirty="0">
                <a:latin typeface="Calibri" pitchFamily="34" charset="0"/>
              </a:rPr>
              <a:t>(1969)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70012"/>
            <a:ext cx="11985592" cy="5603993"/>
          </a:xfrm>
        </p:spPr>
        <p:txBody>
          <a:bodyPr numCol="1">
            <a:normAutofit lnSpcReduction="10000"/>
          </a:bodyPr>
          <a:lstStyle/>
          <a:p>
            <a:pPr marL="0" indent="0">
              <a:buNone/>
            </a:pPr>
            <a:r>
              <a:rPr lang="hu-HU" b="1" dirty="0">
                <a:latin typeface="Calibri" pitchFamily="34" charset="0"/>
              </a:rPr>
              <a:t>Három szükséglet kategóriát emel ki: </a:t>
            </a:r>
          </a:p>
          <a:p>
            <a:pPr lvl="1"/>
            <a:r>
              <a:rPr lang="hu-HU" dirty="0">
                <a:latin typeface="Calibri" pitchFamily="34" charset="0"/>
              </a:rPr>
              <a:t>a létezéssel kapcsolatos </a:t>
            </a:r>
          </a:p>
          <a:p>
            <a:pPr lvl="1"/>
            <a:r>
              <a:rPr lang="hu-HU" dirty="0">
                <a:latin typeface="Calibri" pitchFamily="34" charset="0"/>
              </a:rPr>
              <a:t>a szociális kapcsolatok iránti </a:t>
            </a:r>
          </a:p>
          <a:p>
            <a:pPr lvl="1"/>
            <a:r>
              <a:rPr lang="hu-HU" dirty="0">
                <a:latin typeface="Calibri" pitchFamily="34" charset="0"/>
              </a:rPr>
              <a:t>a fejlődéssel kapcsolatos szükségletek.</a:t>
            </a:r>
            <a:br>
              <a:rPr lang="hu-HU" dirty="0">
                <a:latin typeface="Calibri" pitchFamily="34" charset="0"/>
              </a:rPr>
            </a:br>
            <a:endParaRPr lang="hu-HU" dirty="0">
              <a:latin typeface="Calibri" pitchFamily="34" charset="0"/>
            </a:endParaRPr>
          </a:p>
          <a:p>
            <a:pPr lvl="0"/>
            <a:r>
              <a:rPr lang="hu-HU" dirty="0">
                <a:latin typeface="Calibri" pitchFamily="34" charset="0"/>
              </a:rPr>
              <a:t>Létezés: anyagi szükségletek</a:t>
            </a:r>
          </a:p>
          <a:p>
            <a:pPr lvl="0"/>
            <a:r>
              <a:rPr lang="hu-HU" dirty="0">
                <a:latin typeface="Calibri" pitchFamily="34" charset="0"/>
              </a:rPr>
              <a:t>Kapcsolat: társas kapcsolatok iránti vágy</a:t>
            </a:r>
          </a:p>
          <a:p>
            <a:pPr lvl="0"/>
            <a:r>
              <a:rPr lang="hu-HU" dirty="0">
                <a:latin typeface="Calibri" pitchFamily="34" charset="0"/>
              </a:rPr>
              <a:t>Fejlődés: személyes fejlődés, a többihez képest sajátos: kielégítése esetén még inkább fontossá válik, tovább növeli a motivációt</a:t>
            </a:r>
          </a:p>
          <a:p>
            <a:pPr marL="0" lvl="0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Lazább a </a:t>
            </a:r>
            <a:r>
              <a:rPr lang="hu-HU" dirty="0" err="1">
                <a:latin typeface="Calibri" pitchFamily="34" charset="0"/>
              </a:rPr>
              <a:t>maslow</a:t>
            </a:r>
            <a:r>
              <a:rPr lang="hu-HU" dirty="0">
                <a:latin typeface="Calibri" pitchFamily="34" charset="0"/>
              </a:rPr>
              <a:t>-i modellnél, egyidejűleg több szint is befolyásolhatja a motivációt</a:t>
            </a:r>
          </a:p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A környezet határozza meg az igények erősségét</a:t>
            </a:r>
          </a:p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A vezetők feladata, hogy a megfelelő, személyre szabott eszközökkel motiválják a beosztottakat az adott szükségletek felismerésével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Tartalom elméletek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Picture 2" descr="Clayton Alderfer">
            <a:extLst>
              <a:ext uri="{FF2B5EF4-FFF2-40B4-BE49-F238E27FC236}">
                <a16:creationId xmlns:a16="http://schemas.microsoft.com/office/drawing/2014/main" id="{D5AE336F-8B32-452D-8623-A8DC2112B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5264" y="651780"/>
            <a:ext cx="2185704" cy="2787140"/>
          </a:xfrm>
          <a:prstGeom prst="rect">
            <a:avLst/>
          </a:prstGeom>
          <a:noFill/>
          <a:ln w="28575">
            <a:solidFill>
              <a:srgbClr val="2E528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9A76093F-2349-40EB-9724-88FF539E5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781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b="1" dirty="0">
                <a:latin typeface="Calibri" pitchFamily="34" charset="0"/>
              </a:rPr>
              <a:t>Hunt cél – motiváció elmélete </a:t>
            </a:r>
            <a:r>
              <a:rPr lang="hu-HU" sz="3600" dirty="0">
                <a:latin typeface="Calibri" pitchFamily="34" charset="0"/>
              </a:rPr>
              <a:t>(1969)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85592" cy="5264148"/>
          </a:xfrm>
        </p:spPr>
        <p:txBody>
          <a:bodyPr numCol="1">
            <a:normAutofit fontScale="92500"/>
          </a:bodyPr>
          <a:lstStyle/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John Hunt szerint a motiváció az </a:t>
            </a:r>
            <a:r>
              <a:rPr lang="hu-HU" b="1" dirty="0">
                <a:latin typeface="Calibri" pitchFamily="34" charset="0"/>
              </a:rPr>
              <a:t>egyéni célokból érthető meg</a:t>
            </a:r>
            <a:endParaRPr lang="hu-HU" dirty="0">
              <a:latin typeface="Calibri" pitchFamily="34" charset="0"/>
            </a:endParaRPr>
          </a:p>
          <a:p>
            <a:r>
              <a:rPr lang="hu-HU" dirty="0">
                <a:latin typeface="Calibri" pitchFamily="34" charset="0"/>
              </a:rPr>
              <a:t>A célok irányítják munkahelyi magatartásunkat, s életünk folyamán folyamatosan alakulnak ki </a:t>
            </a:r>
          </a:p>
          <a:p>
            <a:r>
              <a:rPr lang="hu-HU" dirty="0">
                <a:latin typeface="Calibri" pitchFamily="34" charset="0"/>
              </a:rPr>
              <a:t>A célok különböznek mind </a:t>
            </a:r>
            <a:r>
              <a:rPr lang="hu-HU" b="1" dirty="0">
                <a:latin typeface="Calibri" pitchFamily="34" charset="0"/>
              </a:rPr>
              <a:t>erősségükben</a:t>
            </a:r>
            <a:r>
              <a:rPr lang="hu-HU" dirty="0">
                <a:latin typeface="Calibri" pitchFamily="34" charset="0"/>
              </a:rPr>
              <a:t> / mennyire képesek motiválni / és </a:t>
            </a:r>
            <a:r>
              <a:rPr lang="hu-HU" b="1" dirty="0">
                <a:latin typeface="Calibri" pitchFamily="34" charset="0"/>
              </a:rPr>
              <a:t>fontosságukban</a:t>
            </a:r>
            <a:r>
              <a:rPr lang="hu-HU" dirty="0">
                <a:latin typeface="Calibri" pitchFamily="34" charset="0"/>
              </a:rPr>
              <a:t> / prioritás egymáshoz képest/</a:t>
            </a:r>
          </a:p>
          <a:p>
            <a:r>
              <a:rPr lang="hu-HU" dirty="0">
                <a:latin typeface="Calibri" pitchFamily="34" charset="0"/>
              </a:rPr>
              <a:t>Visszatükrözik egész hátterünket: </a:t>
            </a:r>
          </a:p>
          <a:p>
            <a:pPr lvl="1"/>
            <a:r>
              <a:rPr lang="hu-HU" dirty="0">
                <a:latin typeface="Calibri" pitchFamily="34" charset="0"/>
              </a:rPr>
              <a:t>értékeinket, hiedelmeinket és tapasztalatainkat</a:t>
            </a: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Az egyéni célok megértésével a vezetők személyre szabott eszközökkel hatékonyabban motiválhatják az alkalmazottakat</a:t>
            </a:r>
          </a:p>
          <a:p>
            <a:pPr lvl="1"/>
            <a:r>
              <a:rPr lang="hu-HU" dirty="0">
                <a:latin typeface="Calibri" pitchFamily="34" charset="0"/>
              </a:rPr>
              <a:t>Az emberek céljait számtalan tényező befolyásolja és ezek a célok folyamatosan változhatnak</a:t>
            </a:r>
          </a:p>
          <a:p>
            <a:pPr lvl="1"/>
            <a:r>
              <a:rPr lang="hu-HU" dirty="0">
                <a:latin typeface="Calibri" pitchFamily="34" charset="0"/>
              </a:rPr>
              <a:t>Az emberek céljainak megértése és nyomon követése nehéz és energiaigényes feladat</a:t>
            </a: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Az embereket adott pillanatban egyszerre több cél is foglalkoztathatja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Tartalom elméletek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1C98DFC1-6C38-45A6-B419-93F4E5D6A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3871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b="1" dirty="0">
                <a:latin typeface="Calibri" pitchFamily="34" charset="0"/>
              </a:rPr>
              <a:t>Hunt cél – motiváció elmélete </a:t>
            </a:r>
            <a:r>
              <a:rPr lang="hu-HU" sz="3600" dirty="0">
                <a:latin typeface="Calibri" pitchFamily="34" charset="0"/>
              </a:rPr>
              <a:t>– 6 féle cél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85592" cy="5264148"/>
          </a:xfrm>
        </p:spPr>
        <p:txBody>
          <a:bodyPr numCol="1">
            <a:normAutofit/>
          </a:bodyPr>
          <a:lstStyle/>
          <a:p>
            <a:pPr lvl="1">
              <a:lnSpc>
                <a:spcPct val="80000"/>
              </a:lnSpc>
            </a:pPr>
            <a:r>
              <a:rPr lang="hu-HU" b="1" dirty="0">
                <a:latin typeface="Calibri" pitchFamily="34" charset="0"/>
              </a:rPr>
              <a:t>Komfort, anyagi jólét: </a:t>
            </a:r>
            <a:r>
              <a:rPr lang="hu-HU" dirty="0">
                <a:latin typeface="Calibri" pitchFamily="34" charset="0"/>
              </a:rPr>
              <a:t>ide sorolhatjuk az életstílusunkat, életszínvonalunkat biztosítani képes anyagiakat (pénzt), és a stresszteli helyzetek kerülését.</a:t>
            </a:r>
            <a:endParaRPr lang="hu-HU" b="1" dirty="0">
              <a:latin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hu-HU" b="1" dirty="0">
                <a:latin typeface="Calibri" pitchFamily="34" charset="0"/>
              </a:rPr>
              <a:t>Strukturáltság:</a:t>
            </a:r>
            <a:r>
              <a:rPr lang="hu-HU" dirty="0">
                <a:latin typeface="Calibri" pitchFamily="34" charset="0"/>
              </a:rPr>
              <a:t> akinek ez a célja, az tisztázott munkakörre, stabilitásra, bizonyosságra törekszik. Szereti egyértelműen látni az elvárásokat, szabályokat.</a:t>
            </a:r>
            <a:endParaRPr lang="hu-HU" b="1" dirty="0">
              <a:latin typeface="Calibri" pitchFamily="34" charset="0"/>
            </a:endParaRPr>
          </a:p>
          <a:p>
            <a:pPr lvl="1">
              <a:lnSpc>
                <a:spcPct val="80000"/>
              </a:lnSpc>
            </a:pPr>
            <a:r>
              <a:rPr lang="hu-HU" b="1" dirty="0">
                <a:latin typeface="Calibri" pitchFamily="34" charset="0"/>
              </a:rPr>
              <a:t>Kapcsolat:</a:t>
            </a:r>
            <a:r>
              <a:rPr lang="hu-HU" dirty="0">
                <a:latin typeface="Calibri" pitchFamily="34" charset="0"/>
              </a:rPr>
              <a:t> kerüli a magára hagyott helyzeteket, az egyedüli munkavégzést, fontosnak tartja a csoporthoz való tartozást, az elfogadottságot, az azonosulást.</a:t>
            </a:r>
          </a:p>
          <a:p>
            <a:pPr lvl="1"/>
            <a:r>
              <a:rPr lang="hu-HU" b="1" dirty="0">
                <a:latin typeface="Calibri" pitchFamily="34" charset="0"/>
              </a:rPr>
              <a:t>Elismertség:</a:t>
            </a:r>
            <a:r>
              <a:rPr lang="hu-HU" dirty="0">
                <a:latin typeface="Calibri" pitchFamily="34" charset="0"/>
              </a:rPr>
              <a:t> a teljesítményünk mások általi elismerése, megbecsülése, ennek megfelelő státusz, visszacsatolás és teljesítménnyel arányos javadalmazás. Pozitív én-kép.</a:t>
            </a:r>
            <a:endParaRPr lang="hu-HU" sz="900" b="1" dirty="0">
              <a:latin typeface="Calibri" pitchFamily="34" charset="0"/>
            </a:endParaRPr>
          </a:p>
          <a:p>
            <a:pPr lvl="1"/>
            <a:r>
              <a:rPr lang="hu-HU" b="1" dirty="0">
                <a:latin typeface="Calibri" pitchFamily="34" charset="0"/>
              </a:rPr>
              <a:t>Hatalom:</a:t>
            </a:r>
            <a:r>
              <a:rPr lang="hu-HU" dirty="0">
                <a:latin typeface="Calibri" pitchFamily="34" charset="0"/>
              </a:rPr>
              <a:t> fölény, mások irányításának, kontrollálásának igénye, dominanciára való törekvés, de csak vezetői hatalom értelemben.</a:t>
            </a:r>
            <a:endParaRPr lang="hu-HU" sz="900" b="1" dirty="0">
              <a:latin typeface="Calibri" pitchFamily="34" charset="0"/>
            </a:endParaRPr>
          </a:p>
          <a:p>
            <a:pPr lvl="1"/>
            <a:r>
              <a:rPr lang="hu-HU" b="1" dirty="0">
                <a:latin typeface="Calibri" pitchFamily="34" charset="0"/>
              </a:rPr>
              <a:t>Autonómia, kreativitás, fejlődés:</a:t>
            </a:r>
            <a:r>
              <a:rPr lang="hu-HU" dirty="0">
                <a:latin typeface="Calibri" pitchFamily="34" charset="0"/>
              </a:rPr>
              <a:t> önmegvalósítás, kihívás, képességek és készségek kihasználása, tanulás, önfejlesztés, a saját munkavégzés szabadsága, függetlensége, kreatív problémamegoldás. A másoktól való megkülönböztethetőség vágya.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endParaRPr lang="hu-HU" sz="2400" b="1" dirty="0">
              <a:latin typeface="Calibri" pitchFamily="34" charset="0"/>
            </a:endParaRPr>
          </a:p>
          <a:p>
            <a:endParaRPr lang="hu-HU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Tartalom elméletek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E1E0F60E-F141-4818-8045-601CDC2A7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67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b="1" dirty="0">
                <a:latin typeface="Calibri" pitchFamily="34" charset="0"/>
              </a:rPr>
              <a:t>Folyamatelméletek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509" y="1992573"/>
            <a:ext cx="10524228" cy="4728900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A folyamatelméletek azt próbálják megmagyarázni, </a:t>
            </a:r>
            <a:r>
              <a:rPr lang="hu-HU" b="1" dirty="0">
                <a:latin typeface="Calibri" pitchFamily="34" charset="0"/>
              </a:rPr>
              <a:t>hogy milyen folyamatok útján</a:t>
            </a:r>
            <a:r>
              <a:rPr lang="hu-HU" dirty="0">
                <a:latin typeface="Calibri" pitchFamily="34" charset="0"/>
              </a:rPr>
              <a:t>, milyen energiát ad a motiváció, </a:t>
            </a:r>
            <a:r>
              <a:rPr lang="hu-HU" b="1" dirty="0">
                <a:latin typeface="Calibri" pitchFamily="34" charset="0"/>
              </a:rPr>
              <a:t>hogyan irányítható a viselkedés</a:t>
            </a:r>
            <a:r>
              <a:rPr lang="hu-HU" dirty="0">
                <a:latin typeface="Calibri" pitchFamily="34" charset="0"/>
              </a:rPr>
              <a:t>, hogy tartjuk azt fenn, illetve mikor áll le</a:t>
            </a:r>
          </a:p>
          <a:p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Arra koncentrálnak, hogyan történik, milyen módon megy végbe a motiváció</a:t>
            </a:r>
            <a:endParaRPr lang="hu-HU" sz="2400" b="1" dirty="0">
              <a:latin typeface="Calibri" pitchFamily="34" charset="0"/>
            </a:endParaRPr>
          </a:p>
          <a:p>
            <a:pPr marL="0" lvl="0" indent="0">
              <a:buNone/>
            </a:pPr>
            <a:endParaRPr lang="hu-HU" dirty="0">
              <a:latin typeface="Calibri" pitchFamily="34" charset="0"/>
            </a:endParaRPr>
          </a:p>
          <a:p>
            <a:endParaRPr lang="hu-HU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Folyamatelméletek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EC9E844-2A1F-45C0-AEB8-6D329BAD5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976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b="1" dirty="0" err="1">
                <a:latin typeface="Calibri" pitchFamily="34" charset="0"/>
              </a:rPr>
              <a:t>Skinner</a:t>
            </a:r>
            <a:r>
              <a:rPr lang="hu-HU" sz="4000" b="1" dirty="0">
                <a:latin typeface="Calibri" pitchFamily="34" charset="0"/>
              </a:rPr>
              <a:t> megerősítés elmélete (1953)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85592" cy="5264148"/>
          </a:xfrm>
        </p:spPr>
        <p:txBody>
          <a:bodyPr numCol="1">
            <a:normAutofit/>
          </a:bodyPr>
          <a:lstStyle/>
          <a:p>
            <a:r>
              <a:rPr lang="hu-HU" dirty="0">
                <a:latin typeface="Calibri" pitchFamily="34" charset="0"/>
              </a:rPr>
              <a:t>Az elmélet a </a:t>
            </a:r>
            <a:r>
              <a:rPr lang="hu-HU" b="1" dirty="0">
                <a:latin typeface="Calibri" pitchFamily="34" charset="0"/>
              </a:rPr>
              <a:t>pozitív és negatív megerősítéseket </a:t>
            </a:r>
            <a:r>
              <a:rPr lang="hu-HU" dirty="0">
                <a:latin typeface="Calibri" pitchFamily="34" charset="0"/>
              </a:rPr>
              <a:t>vizsgálja az egyének motiválásában, vagy egy motivációs környezetben</a:t>
            </a:r>
          </a:p>
          <a:p>
            <a:r>
              <a:rPr lang="hu-HU" dirty="0">
                <a:latin typeface="Calibri" pitchFamily="34" charset="0"/>
              </a:rPr>
              <a:t>A </a:t>
            </a:r>
            <a:r>
              <a:rPr lang="hu-HU" b="1" dirty="0">
                <a:latin typeface="Calibri" pitchFamily="34" charset="0"/>
              </a:rPr>
              <a:t>környezet, és annak az emberre gyakorolt hatását vizsgálja, tehát a viselkedést a visszajelzések irányítják</a:t>
            </a:r>
            <a:endParaRPr lang="hu-HU" b="1" u="sng" dirty="0">
              <a:latin typeface="Calibri" pitchFamily="34" charset="0"/>
            </a:endParaRPr>
          </a:p>
          <a:p>
            <a:r>
              <a:rPr lang="hu-HU" dirty="0">
                <a:latin typeface="Calibri" pitchFamily="34" charset="0"/>
              </a:rPr>
              <a:t>A viselkedést a környezet okozatának tekinti. A motivációnak ez az elmélete nem foglalkozik a szükségletekkel</a:t>
            </a: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Az elmélet abból a pszichológiai törvényszerűségből indul ki, mely szerint:</a:t>
            </a:r>
          </a:p>
          <a:p>
            <a:pPr lvl="1"/>
            <a:r>
              <a:rPr lang="hu-HU" dirty="0">
                <a:latin typeface="Calibri" pitchFamily="34" charset="0"/>
              </a:rPr>
              <a:t>az olyan viselkedést, amely kellemes következményekkel jár, valószínűleg megismétlik;</a:t>
            </a:r>
          </a:p>
          <a:p>
            <a:pPr lvl="1"/>
            <a:r>
              <a:rPr lang="hu-HU" dirty="0">
                <a:latin typeface="Calibri" pitchFamily="34" charset="0"/>
              </a:rPr>
              <a:t>az olyan viselkedést pedig, amelyik kellemetlen következményekkel jár, valószínűleg nem fogják megismételni</a:t>
            </a: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Folyamatelméletek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33C9CA7-7404-4127-824C-43A2C89A9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28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b="1" dirty="0" err="1">
                <a:latin typeface="Calibri" pitchFamily="34" charset="0"/>
              </a:rPr>
              <a:t>Skinner</a:t>
            </a:r>
            <a:r>
              <a:rPr lang="hu-HU" sz="4000" b="1" dirty="0">
                <a:latin typeface="Calibri" pitchFamily="34" charset="0"/>
              </a:rPr>
              <a:t> megerősítés elmélete (1953)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85592" cy="526414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A tevékeny befolyásolás két alapelvre épül: </a:t>
            </a:r>
          </a:p>
          <a:p>
            <a:pPr lvl="1"/>
            <a:r>
              <a:rPr lang="hu-HU" dirty="0">
                <a:latin typeface="Calibri" pitchFamily="34" charset="0"/>
              </a:rPr>
              <a:t>a viselkedés </a:t>
            </a:r>
            <a:r>
              <a:rPr lang="hu-HU" b="1" dirty="0">
                <a:latin typeface="Calibri" pitchFamily="34" charset="0"/>
              </a:rPr>
              <a:t>megismétlődés</a:t>
            </a:r>
            <a:r>
              <a:rPr lang="hu-HU" dirty="0">
                <a:latin typeface="Calibri" pitchFamily="34" charset="0"/>
              </a:rPr>
              <a:t>ének törvényszerűsége; </a:t>
            </a:r>
          </a:p>
          <a:p>
            <a:pPr lvl="1"/>
            <a:r>
              <a:rPr lang="hu-HU" dirty="0">
                <a:latin typeface="Calibri" pitchFamily="34" charset="0"/>
              </a:rPr>
              <a:t>a megfelelően </a:t>
            </a:r>
            <a:r>
              <a:rPr lang="hu-HU" b="1" dirty="0">
                <a:latin typeface="Calibri" pitchFamily="34" charset="0"/>
              </a:rPr>
              <a:t>ütemezett jutalmakkal </a:t>
            </a:r>
            <a:r>
              <a:rPr lang="hu-HU" dirty="0">
                <a:latin typeface="Calibri" pitchFamily="34" charset="0"/>
              </a:rPr>
              <a:t>lehetséges az egyéni viselkedés befolyásolása</a:t>
            </a:r>
          </a:p>
          <a:p>
            <a:pPr marL="457200" lvl="1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A megerősítés típusai:</a:t>
            </a:r>
          </a:p>
          <a:p>
            <a:pPr lvl="1"/>
            <a:r>
              <a:rPr lang="hu-HU" dirty="0">
                <a:latin typeface="Calibri" pitchFamily="34" charset="0"/>
              </a:rPr>
              <a:t>pozitív </a:t>
            </a:r>
            <a:r>
              <a:rPr lang="hu-HU" b="1" dirty="0">
                <a:latin typeface="Calibri" pitchFamily="34" charset="0"/>
              </a:rPr>
              <a:t>megerősítés </a:t>
            </a:r>
          </a:p>
          <a:p>
            <a:pPr lvl="1"/>
            <a:r>
              <a:rPr lang="hu-HU" dirty="0">
                <a:latin typeface="Calibri" pitchFamily="34" charset="0"/>
              </a:rPr>
              <a:t>negatív </a:t>
            </a:r>
            <a:r>
              <a:rPr lang="hu-HU" b="1" dirty="0">
                <a:latin typeface="Calibri" pitchFamily="34" charset="0"/>
              </a:rPr>
              <a:t>megerősítés </a:t>
            </a:r>
            <a:r>
              <a:rPr lang="hu-HU" sz="1800" dirty="0">
                <a:latin typeface="Calibri" pitchFamily="34" charset="0"/>
              </a:rPr>
              <a:t>(következményektől való félelem miatti cselekvés)</a:t>
            </a:r>
          </a:p>
          <a:p>
            <a:pPr lvl="1"/>
            <a:r>
              <a:rPr lang="hu-HU" b="1" dirty="0">
                <a:latin typeface="Calibri" pitchFamily="34" charset="0"/>
              </a:rPr>
              <a:t>büntetés</a:t>
            </a:r>
            <a:endParaRPr lang="hu-HU" dirty="0">
              <a:latin typeface="Calibri" pitchFamily="34" charset="0"/>
            </a:endParaRPr>
          </a:p>
          <a:p>
            <a:pPr lvl="1"/>
            <a:r>
              <a:rPr lang="hu-HU" b="1" dirty="0">
                <a:latin typeface="Calibri" pitchFamily="34" charset="0"/>
              </a:rPr>
              <a:t>kioltás</a:t>
            </a:r>
            <a:r>
              <a:rPr lang="hu-HU" dirty="0">
                <a:latin typeface="Calibri" pitchFamily="34" charset="0"/>
              </a:rPr>
              <a:t> </a:t>
            </a:r>
            <a:r>
              <a:rPr lang="hu-HU" sz="2000" dirty="0">
                <a:latin typeface="Calibri" pitchFamily="34" charset="0"/>
              </a:rPr>
              <a:t>(bármennyire is vágyakozik valaki a jutalomért, amíg le nem szokik a rossz tulajdonságáról, addig nem kapja meg – viselkedés módosítás)</a:t>
            </a:r>
          </a:p>
          <a:p>
            <a:pPr marL="457200" lvl="1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A </a:t>
            </a:r>
            <a:r>
              <a:rPr lang="hu-HU" b="1" dirty="0">
                <a:latin typeface="Calibri" pitchFamily="34" charset="0"/>
              </a:rPr>
              <a:t>pozitív megerősítés</a:t>
            </a:r>
            <a:r>
              <a:rPr lang="hu-HU" dirty="0">
                <a:latin typeface="Calibri" pitchFamily="34" charset="0"/>
              </a:rPr>
              <a:t> használatában a vezetők különféle ütemezést alkalmazhatnak: folyamatost vagy időszakost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Folyamatelméletek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FFF21E8-2248-47EB-8F55-09EBFE455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19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b="1" dirty="0" err="1">
                <a:latin typeface="Calibri" pitchFamily="34" charset="0"/>
              </a:rPr>
              <a:t>Vroom</a:t>
            </a:r>
            <a:r>
              <a:rPr lang="hu-HU" sz="4000" b="1" dirty="0">
                <a:latin typeface="Calibri" pitchFamily="34" charset="0"/>
              </a:rPr>
              <a:t> elvárás elmélete (1964)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85592" cy="526414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A motivációt olyan folyamatnak tekinti, amely az egyén választásait irányítja. </a:t>
            </a:r>
          </a:p>
          <a:p>
            <a:pPr lvl="1"/>
            <a:r>
              <a:rPr lang="hu-HU" b="1" dirty="0">
                <a:latin typeface="Calibri" pitchFamily="34" charset="0"/>
              </a:rPr>
              <a:t>Az egyének a munkában arra motiváltak, hogy válasszanak különféle viselkedések, illetve a munka különféle intenzitásai között</a:t>
            </a:r>
          </a:p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A választást az egyén végzi</a:t>
            </a:r>
          </a:p>
          <a:p>
            <a:pPr lvl="1"/>
            <a:r>
              <a:rPr lang="hu-HU" b="1" dirty="0">
                <a:latin typeface="Calibri" pitchFamily="34" charset="0"/>
              </a:rPr>
              <a:t>A választás </a:t>
            </a:r>
            <a:r>
              <a:rPr lang="hu-HU" dirty="0">
                <a:latin typeface="Calibri" pitchFamily="34" charset="0"/>
              </a:rPr>
              <a:t>azt jelenti, hogy az egyénnek szabadságában áll többféle viselkedési minta közül választani</a:t>
            </a:r>
          </a:p>
          <a:p>
            <a:pPr lvl="1"/>
            <a:r>
              <a:rPr lang="hu-HU" b="1" dirty="0">
                <a:latin typeface="Calibri" pitchFamily="34" charset="0"/>
              </a:rPr>
              <a:t>Az elvárás</a:t>
            </a:r>
            <a:r>
              <a:rPr lang="hu-HU" dirty="0">
                <a:latin typeface="Calibri" pitchFamily="34" charset="0"/>
              </a:rPr>
              <a:t> az a hit, hogy a részéről elhatározott viselkedés sikeres lesz-e vagy sem</a:t>
            </a:r>
          </a:p>
          <a:p>
            <a:pPr lvl="1"/>
            <a:r>
              <a:rPr lang="hu-HU" b="1" dirty="0">
                <a:latin typeface="Calibri" pitchFamily="34" charset="0"/>
              </a:rPr>
              <a:t>A preferencia </a:t>
            </a:r>
            <a:r>
              <a:rPr lang="hu-HU" dirty="0">
                <a:latin typeface="Calibri" pitchFamily="34" charset="0"/>
              </a:rPr>
              <a:t>az az érték, amelyet a személy erőfeszítéseinek különféle következményeihez kapcsol</a:t>
            </a:r>
          </a:p>
          <a:p>
            <a:pPr lvl="1"/>
            <a:r>
              <a:rPr lang="hu-HU" b="1" dirty="0">
                <a:latin typeface="Calibri" pitchFamily="34" charset="0"/>
              </a:rPr>
              <a:t>Az </a:t>
            </a:r>
            <a:r>
              <a:rPr lang="hu-HU" b="1" dirty="0" err="1">
                <a:latin typeface="Calibri" pitchFamily="34" charset="0"/>
              </a:rPr>
              <a:t>instrumentalitás</a:t>
            </a:r>
            <a:r>
              <a:rPr lang="hu-HU" b="1" dirty="0">
                <a:latin typeface="Calibri" pitchFamily="34" charset="0"/>
              </a:rPr>
              <a:t>, </a:t>
            </a:r>
            <a:r>
              <a:rPr lang="hu-HU" dirty="0">
                <a:latin typeface="Calibri" pitchFamily="34" charset="0"/>
              </a:rPr>
              <a:t>szubjektív valószínűség, amit a személy a teljesítménykövetkezmény kapcsolathoz fűz</a:t>
            </a:r>
          </a:p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Ez az a valószínűség, mely szerint egy teljesítmény meghatározott értékű következményekhez vezet.</a:t>
            </a:r>
          </a:p>
          <a:p>
            <a:pPr marL="0" lvl="0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Folyamatelméletek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B23648F2-0AE6-45D3-978E-8B0428F97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196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b="1" dirty="0" err="1">
                <a:latin typeface="Calibri" pitchFamily="34" charset="0"/>
              </a:rPr>
              <a:t>Vroom</a:t>
            </a:r>
            <a:r>
              <a:rPr lang="hu-HU" sz="4000" b="1" dirty="0">
                <a:latin typeface="Calibri" pitchFamily="34" charset="0"/>
              </a:rPr>
              <a:t> elvárás elmélete (1964)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85592" cy="526414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b="1" dirty="0">
                <a:latin typeface="Calibri" pitchFamily="34" charset="0"/>
              </a:rPr>
              <a:t>Várakozás</a:t>
            </a:r>
            <a:r>
              <a:rPr lang="hu-HU" dirty="0">
                <a:latin typeface="Calibri" pitchFamily="34" charset="0"/>
              </a:rPr>
              <a:t> (adott cselekvésnek meghatározott következménye lesz)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>
                <a:latin typeface="Calibri" pitchFamily="34" charset="0"/>
              </a:rPr>
              <a:t>Erőfeszítés-Teljesítmény </a:t>
            </a:r>
          </a:p>
          <a:p>
            <a:pPr marL="914400" lvl="2" indent="0">
              <a:buNone/>
            </a:pPr>
            <a:r>
              <a:rPr lang="hu-HU" dirty="0"/>
              <a:t>ha az egyén megtesz egy erőfeszítést (E), akkor az egy adott teljesítménnyel (T) zárul</a:t>
            </a:r>
            <a:endParaRPr lang="hu-HU" dirty="0">
              <a:latin typeface="Calibri" pitchFamily="34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hu-HU" dirty="0">
                <a:latin typeface="Calibri" pitchFamily="34" charset="0"/>
              </a:rPr>
              <a:t>Teljesítmény-Következmény (jutalom/büntetés)</a:t>
            </a:r>
          </a:p>
          <a:p>
            <a:pPr marL="914400" lvl="2" indent="0">
              <a:buNone/>
            </a:pPr>
            <a:r>
              <a:rPr lang="hu-HU" dirty="0"/>
              <a:t>az egyén által becsült valószínűsége annak, hogy ha eléri az adott teljesítményt (T), akkor annak az eredménye a következmény (K) lesz</a:t>
            </a:r>
            <a:endParaRPr lang="hu-HU" i="1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b="1" i="1" dirty="0">
                <a:latin typeface="Calibri" pitchFamily="34" charset="0"/>
              </a:rPr>
              <a:t>Valencia</a:t>
            </a:r>
            <a:endParaRPr lang="hu-HU" i="1" dirty="0">
              <a:latin typeface="Calibri" pitchFamily="34" charset="0"/>
            </a:endParaRPr>
          </a:p>
          <a:p>
            <a:pPr lvl="1"/>
            <a:r>
              <a:rPr lang="hu-HU" i="1" dirty="0">
                <a:latin typeface="Calibri" pitchFamily="34" charset="0"/>
              </a:rPr>
              <a:t>egy adott teljesítmény következménye mekkora valószínűséggel következik be</a:t>
            </a:r>
          </a:p>
          <a:p>
            <a:pPr marL="0" lvl="0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28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Folyamatelméletek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ED58C70-044B-4A9A-BFED-E6C96D20B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384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b="1" dirty="0">
                <a:solidFill>
                  <a:schemeClr val="tx1"/>
                </a:solidFill>
                <a:latin typeface="Calibri" pitchFamily="34" charset="0"/>
              </a:rPr>
              <a:t>Elvárás – elméleti modell</a:t>
            </a:r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29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hu-HU" sz="2600" dirty="0"/>
              <a:t>Motivációs elméletek – Tartalom elméletek</a:t>
            </a:r>
          </a:p>
          <a:p>
            <a:endParaRPr lang="hu-HU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BFA84D2-19CC-42E5-8C65-D62A8EBB1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134" y="1368836"/>
            <a:ext cx="10985998" cy="5375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B9557732-4C24-4923-95BD-0E299D838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526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b="1" dirty="0">
                <a:latin typeface="Calibri" pitchFamily="34" charset="0"/>
              </a:rPr>
              <a:t>Adams méltányosság elmélete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265463"/>
            <a:ext cx="11985592" cy="5456010"/>
          </a:xfrm>
        </p:spPr>
        <p:txBody>
          <a:bodyPr numCol="1">
            <a:normAutofit lnSpcReduction="10000"/>
          </a:bodyPr>
          <a:lstStyle/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Feltételezi, hogy kényelmetlen helyzet az olyan, amikor egy emberben </a:t>
            </a:r>
            <a:r>
              <a:rPr lang="hu-HU" b="1" dirty="0">
                <a:latin typeface="Calibri" pitchFamily="34" charset="0"/>
              </a:rPr>
              <a:t>két egymással "össze nem férő" vélekedés merül fel</a:t>
            </a:r>
            <a:r>
              <a:rPr lang="hu-HU" dirty="0">
                <a:latin typeface="Calibri" pitchFamily="34" charset="0"/>
              </a:rPr>
              <a:t>. Ez az  embert arra motiválja, hogy kiküszöbölje ezt az összeférhetetlenséget, és  harmóniát hozzon létre</a:t>
            </a: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A dolgozó </a:t>
            </a:r>
            <a:r>
              <a:rPr lang="hu-HU" b="1" dirty="0">
                <a:latin typeface="Calibri" pitchFamily="34" charset="0"/>
              </a:rPr>
              <a:t>a befektetett energia és a valószínű személyes eredmény arányát mérlegeli</a:t>
            </a:r>
            <a:r>
              <a:rPr lang="hu-HU" dirty="0">
                <a:latin typeface="Calibri" pitchFamily="34" charset="0"/>
              </a:rPr>
              <a:t>, méghozzá elsődlegesen úgy, hogy az "általa fontosnak tartott személyek" hasonló arányához viszonyítja</a:t>
            </a:r>
          </a:p>
          <a:p>
            <a:pPr lvl="1"/>
            <a:r>
              <a:rPr lang="hu-HU" dirty="0">
                <a:latin typeface="Calibri" pitchFamily="34" charset="0"/>
              </a:rPr>
              <a:t>Ha úgy találja, hogy  </a:t>
            </a:r>
            <a:r>
              <a:rPr lang="hu-HU" b="1" dirty="0">
                <a:latin typeface="Calibri" pitchFamily="34" charset="0"/>
              </a:rPr>
              <a:t>az ő "aránya" hasonló a többiek „ arányához", akkor méltányosnak érzi a helyzetet,  nem érez feszültséget</a:t>
            </a:r>
          </a:p>
          <a:p>
            <a:pPr lvl="1"/>
            <a:r>
              <a:rPr lang="hu-HU" b="1" dirty="0">
                <a:latin typeface="Calibri" pitchFamily="34" charset="0"/>
              </a:rPr>
              <a:t>Ha lényeges eltérést észlel, feszültséget érez, és motiválva  lesz arra, hogy ezt a feszültséget csökkentse</a:t>
            </a:r>
          </a:p>
          <a:p>
            <a:pPr marL="457200" lvl="1" indent="0">
              <a:buNone/>
            </a:pPr>
            <a:endParaRPr lang="hu-HU" b="1" dirty="0">
              <a:latin typeface="Calibri" pitchFamily="34" charset="0"/>
            </a:endParaRPr>
          </a:p>
          <a:p>
            <a:pPr marL="0" indent="0">
              <a:buNone/>
            </a:pPr>
            <a:r>
              <a:rPr lang="hu-HU" dirty="0">
                <a:latin typeface="Calibri" pitchFamily="34" charset="0"/>
              </a:rPr>
              <a:t>A motiváció eredményessége vagy  eredménytelensége a termelés  legkülönfélébb területein jelentkezik. Bár vannak esetek, amikor a túlzott motiváció gátlón hat a teljesítményre, általánosságban azt mondhatjuk, hogy a teljesítmény a motiváció erősségével arányosan növekszik</a:t>
            </a:r>
          </a:p>
          <a:p>
            <a:pPr marL="0" lvl="0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30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Folyamatelméletek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F5BB57D-51A1-49AD-B994-2EFDB3764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1598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b="1" dirty="0">
                <a:latin typeface="Calibri" pitchFamily="34" charset="0"/>
              </a:rPr>
              <a:t>A feszültség csökkentése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85592" cy="5264148"/>
          </a:xfrm>
        </p:spPr>
        <p:txBody>
          <a:bodyPr numCol="1">
            <a:normAutofit/>
          </a:bodyPr>
          <a:lstStyle/>
          <a:p>
            <a:pPr lvl="0"/>
            <a:r>
              <a:rPr lang="hu-HU" b="1" dirty="0"/>
              <a:t>Inputok csökkentése: </a:t>
            </a:r>
            <a:r>
              <a:rPr lang="hu-HU" dirty="0"/>
              <a:t>nem fordít az egyén annyi időt feladatai elvégzésére, kevesebb erőfeszítéssel dolgozik, mint kellene, ami sokszor a minőség kárára is megy</a:t>
            </a:r>
          </a:p>
          <a:p>
            <a:pPr lvl="0"/>
            <a:r>
              <a:rPr lang="hu-HU" b="1" dirty="0"/>
              <a:t>Outputok változtatása</a:t>
            </a:r>
            <a:r>
              <a:rPr lang="hu-HU" dirty="0"/>
              <a:t>: az egyén ugyanazért a lelkiismeretesen elvégzett munkáért fizetésemelést, jutalmat, adott esetben előléptetést kér</a:t>
            </a:r>
          </a:p>
          <a:p>
            <a:pPr lvl="0"/>
            <a:r>
              <a:rPr lang="hu-HU" b="1" dirty="0"/>
              <a:t>Saját input/output arány átértékelése, </a:t>
            </a:r>
            <a:r>
              <a:rPr lang="hu-HU" dirty="0"/>
              <a:t>pszichológiai torzítások alkalmazása: például alulfizetettség érzés esetén a munkavállaló meggyőzi magát, hogy így is magas minőségben látja el a munkáját, így nem törekszik a jobbra</a:t>
            </a:r>
          </a:p>
          <a:p>
            <a:pPr lvl="0"/>
            <a:r>
              <a:rPr lang="hu-HU" b="1" dirty="0"/>
              <a:t>Referenciaszemély input/output arányának átértékelése</a:t>
            </a:r>
            <a:r>
              <a:rPr lang="hu-HU" dirty="0"/>
              <a:t>: a munkavállaló azt gondolja, hogy a referenciaszemély mégiscsak többet dolgozik, többször marad benn esténként a munkahelyen, vagy az, amit ő többletként kap, az a munkavállaló számára mégsem vonzó, nem is fontos </a:t>
            </a:r>
            <a:endParaRPr lang="hu-HU" b="1" dirty="0"/>
          </a:p>
          <a:p>
            <a:r>
              <a:rPr lang="hu-HU" b="1" dirty="0"/>
              <a:t>Szituáció megváltoztatása</a:t>
            </a:r>
            <a:r>
              <a:rPr lang="hu-HU" dirty="0"/>
              <a:t>: munkahelyről való kilépés, amivel a feszült helyzetből is kilép a munkavállaló</a:t>
            </a:r>
          </a:p>
          <a:p>
            <a:pPr marL="0" lvl="0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31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Folyamatelméletek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6175A6B1-FD0B-4235-AD91-DAFAB7F1D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0320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b="1" dirty="0">
                <a:latin typeface="Calibri" pitchFamily="34" charset="0"/>
              </a:rPr>
              <a:t>Célkitűzés elmélet – Locke (1968)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85592" cy="5264148"/>
          </a:xfrm>
        </p:spPr>
        <p:txBody>
          <a:bodyPr numCol="1">
            <a:normAutofit/>
          </a:bodyPr>
          <a:lstStyle/>
          <a:p>
            <a:pPr>
              <a:lnSpc>
                <a:spcPct val="90000"/>
              </a:lnSpc>
            </a:pPr>
            <a:r>
              <a:rPr lang="hu-HU" altLang="hu-HU" dirty="0"/>
              <a:t>Konkrét célok legyenek!</a:t>
            </a:r>
          </a:p>
          <a:p>
            <a:pPr>
              <a:lnSpc>
                <a:spcPct val="90000"/>
              </a:lnSpc>
            </a:pPr>
            <a:r>
              <a:rPr lang="hu-HU" dirty="0"/>
              <a:t>A vállalat céljai összhangban legyenek az egyén céljaival</a:t>
            </a:r>
            <a:endParaRPr lang="hu-HU" altLang="hu-HU" dirty="0"/>
          </a:p>
          <a:p>
            <a:pPr marL="457200" lvl="1" indent="0">
              <a:buNone/>
            </a:pPr>
            <a:r>
              <a:rPr lang="hu-HU" altLang="hu-HU" dirty="0"/>
              <a:t>cél + teljesítmény = sikerélmény  és megerősítés</a:t>
            </a:r>
          </a:p>
          <a:p>
            <a:pPr marL="457200" lvl="1" indent="0">
              <a:buNone/>
            </a:pPr>
            <a:r>
              <a:rPr lang="hu-HU" altLang="hu-HU" dirty="0"/>
              <a:t>nehéz célok + elkötelezettség = nagyobb teljesítmény</a:t>
            </a:r>
            <a:endParaRPr lang="en-US" altLang="hu-HU" dirty="0"/>
          </a:p>
          <a:p>
            <a:pPr>
              <a:lnSpc>
                <a:spcPct val="90000"/>
              </a:lnSpc>
            </a:pPr>
            <a:r>
              <a:rPr lang="hu-HU" altLang="hu-HU" dirty="0"/>
              <a:t>Önellenőrzés vagy külső ellenőrzés?</a:t>
            </a:r>
          </a:p>
          <a:p>
            <a:pPr>
              <a:lnSpc>
                <a:spcPct val="90000"/>
              </a:lnSpc>
            </a:pPr>
            <a:r>
              <a:rPr lang="hu-HU" altLang="hu-HU" dirty="0"/>
              <a:t>A cél-teljesítmény kapcsolatot befolyásolja</a:t>
            </a:r>
            <a:r>
              <a:rPr lang="en-US" altLang="hu-HU" dirty="0"/>
              <a:t>: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hu-HU" altLang="hu-HU" dirty="0"/>
              <a:t>Elkötelezettség</a:t>
            </a:r>
            <a:endParaRPr lang="en-US" altLang="hu-HU" dirty="0"/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hu-HU" altLang="hu-HU" dirty="0"/>
              <a:t>A feladat jellemzői</a:t>
            </a:r>
            <a:endParaRPr lang="en-US" altLang="hu-HU" dirty="0"/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hu-HU" altLang="hu-HU" dirty="0"/>
              <a:t>A kulturális környezet</a:t>
            </a:r>
            <a:endParaRPr lang="en-US" altLang="hu-HU" dirty="0"/>
          </a:p>
          <a:p>
            <a:pPr marL="0" lvl="0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32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Folyamatelméletek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AFBF67DD-6D7A-4854-B7E8-C6920ACBC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477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b="1" dirty="0">
                <a:latin typeface="Calibri" pitchFamily="34" charset="0"/>
              </a:rPr>
              <a:t>McGregor – X – Y elmélete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85592" cy="5264148"/>
          </a:xfrm>
        </p:spPr>
        <p:txBody>
          <a:bodyPr numCol="1">
            <a:normAutofit fontScale="92500" lnSpcReduction="20000"/>
          </a:bodyPr>
          <a:lstStyle/>
          <a:p>
            <a:r>
              <a:rPr lang="hu-HU" b="1" dirty="0">
                <a:latin typeface="Calibri" pitchFamily="34" charset="0"/>
              </a:rPr>
              <a:t>X-elmélet:</a:t>
            </a:r>
          </a:p>
          <a:p>
            <a:pPr lvl="1"/>
            <a:r>
              <a:rPr lang="hu-HU" dirty="0">
                <a:latin typeface="Calibri" pitchFamily="34" charset="0"/>
              </a:rPr>
              <a:t>az átlagember természeténél fogva hanyag- a lehető legkevesebbet dolgozik</a:t>
            </a:r>
          </a:p>
          <a:p>
            <a:pPr lvl="1"/>
            <a:r>
              <a:rPr lang="hu-HU" dirty="0">
                <a:latin typeface="Calibri" pitchFamily="34" charset="0"/>
              </a:rPr>
              <a:t>híján van az ambíciónak, utálja a felelősséget, jobban szereti, ha irányítják</a:t>
            </a:r>
          </a:p>
          <a:p>
            <a:pPr lvl="1"/>
            <a:r>
              <a:rPr lang="hu-HU" dirty="0">
                <a:latin typeface="Calibri" pitchFamily="34" charset="0"/>
              </a:rPr>
              <a:t>jellemzően egocentrikus</a:t>
            </a:r>
          </a:p>
          <a:p>
            <a:pPr lvl="1"/>
            <a:r>
              <a:rPr lang="hu-HU" dirty="0">
                <a:latin typeface="Calibri" pitchFamily="34" charset="0"/>
              </a:rPr>
              <a:t>természeténél fogva ellenáll minden változásnak</a:t>
            </a:r>
          </a:p>
          <a:p>
            <a:pPr lvl="1"/>
            <a:r>
              <a:rPr lang="hu-HU" dirty="0">
                <a:latin typeface="Calibri" pitchFamily="34" charset="0"/>
              </a:rPr>
              <a:t>becsapható, nem túlságosan éles elméjű</a:t>
            </a:r>
          </a:p>
          <a:p>
            <a:r>
              <a:rPr lang="hu-HU" dirty="0">
                <a:latin typeface="Calibri" pitchFamily="34" charset="0"/>
              </a:rPr>
              <a:t>Ezek alapján a menedzsmentnek kell megszerveznie a dolgozók tevékenységéhez szükséges dolgokat, az embereket irányítaniuk, motiválniuk kell, és értékelni magatartásukat</a:t>
            </a:r>
          </a:p>
          <a:p>
            <a:endParaRPr lang="hu-HU" b="1" dirty="0">
              <a:latin typeface="Calibri" pitchFamily="34" charset="0"/>
            </a:endParaRPr>
          </a:p>
          <a:p>
            <a:r>
              <a:rPr lang="hu-HU" b="1" dirty="0">
                <a:latin typeface="Calibri" pitchFamily="34" charset="0"/>
              </a:rPr>
              <a:t>Y-elmélet:</a:t>
            </a:r>
          </a:p>
          <a:p>
            <a:pPr lvl="1"/>
            <a:r>
              <a:rPr lang="hu-HU" dirty="0">
                <a:latin typeface="Calibri" pitchFamily="34" charset="0"/>
              </a:rPr>
              <a:t>az emberek számára a munkavégzés ugyanolyan természetes mint a játék vagy a pihenés</a:t>
            </a:r>
          </a:p>
          <a:p>
            <a:pPr lvl="1"/>
            <a:r>
              <a:rPr lang="hu-HU" dirty="0">
                <a:latin typeface="Calibri" pitchFamily="34" charset="0"/>
              </a:rPr>
              <a:t>az ellenőrzés és a büntetés nem az egyetlen eszköz a szervezeti célok irányába ható munkavégzés kiváltására</a:t>
            </a:r>
          </a:p>
          <a:p>
            <a:pPr lvl="1"/>
            <a:r>
              <a:rPr lang="hu-HU" dirty="0">
                <a:latin typeface="Calibri" pitchFamily="34" charset="0"/>
              </a:rPr>
              <a:t>a célokhoz kötődés az elérésükkel nyerhető jutalom függvénye</a:t>
            </a:r>
          </a:p>
          <a:p>
            <a:pPr lvl="1"/>
            <a:r>
              <a:rPr lang="hu-HU" dirty="0">
                <a:latin typeface="Calibri" pitchFamily="34" charset="0"/>
              </a:rPr>
              <a:t>az ember megfelelő feltételek között nem csupán vállalja a felelősséget, hanem keresi is azt</a:t>
            </a:r>
          </a:p>
          <a:p>
            <a:r>
              <a:rPr lang="hu-HU" dirty="0">
                <a:latin typeface="Calibri" pitchFamily="34" charset="0"/>
              </a:rPr>
              <a:t>Ebből következően alapvetően más elvárások és követelmények merülnek fel a menedzserrel szemben, mint az X-elmélet esetén. A menedzsernek a munkavégzés feltételeit kell megteremtenie </a:t>
            </a:r>
          </a:p>
          <a:p>
            <a:pPr marL="0" lvl="0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33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További elméletek</a:t>
            </a:r>
          </a:p>
          <a:p>
            <a:endParaRPr lang="hu-HU" dirty="0"/>
          </a:p>
        </p:txBody>
      </p:sp>
      <p:pic>
        <p:nvPicPr>
          <p:cNvPr id="6" name="Picture 2" descr="Douglas-McGregor-Theory-X- ...">
            <a:extLst>
              <a:ext uri="{FF2B5EF4-FFF2-40B4-BE49-F238E27FC236}">
                <a16:creationId xmlns:a16="http://schemas.microsoft.com/office/drawing/2014/main" id="{F10F4D43-6EE5-486B-95B4-F3129F575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1531" y="958201"/>
            <a:ext cx="1545221" cy="2144047"/>
          </a:xfrm>
          <a:prstGeom prst="rect">
            <a:avLst/>
          </a:prstGeom>
          <a:noFill/>
          <a:ln w="28575">
            <a:solidFill>
              <a:srgbClr val="2E528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E1FFF3C6-91EE-42D6-AD8F-078CE65AB7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78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dirty="0">
                <a:latin typeface="Calibri" pitchFamily="34" charset="0"/>
              </a:rPr>
              <a:t>William G. </a:t>
            </a:r>
            <a:r>
              <a:rPr lang="hu-HU" dirty="0" err="1">
                <a:latin typeface="Calibri" pitchFamily="34" charset="0"/>
              </a:rPr>
              <a:t>Ouchi</a:t>
            </a:r>
            <a:r>
              <a:rPr lang="hu-HU" sz="4000" b="1" dirty="0">
                <a:latin typeface="Calibri" pitchFamily="34" charset="0"/>
              </a:rPr>
              <a:t> – Z - elmélet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328468"/>
            <a:ext cx="11985592" cy="5393005"/>
          </a:xfrm>
        </p:spPr>
        <p:txBody>
          <a:bodyPr numCol="1">
            <a:normAutofit fontScale="92500" lnSpcReduction="10000"/>
          </a:bodyPr>
          <a:lstStyle/>
          <a:p>
            <a:pPr marL="0" indent="0">
              <a:buNone/>
            </a:pP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hu-HU" b="1" dirty="0">
                <a:latin typeface="Calibri" panose="020F0502020204030204" pitchFamily="34" charset="0"/>
                <a:cs typeface="Calibri" panose="020F0502020204030204" pitchFamily="34" charset="0"/>
              </a:rPr>
              <a:t>munkakörülmények humanizálása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 megteremti, ill. visszaadja a munkatársaknak az önbecsülést és az emberi méltóságot</a:t>
            </a:r>
          </a:p>
          <a:p>
            <a:pPr marL="0" indent="0">
              <a:buNone/>
            </a:pPr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hu-HU" b="1" dirty="0">
                <a:latin typeface="Calibri" panose="020F0502020204030204" pitchFamily="34" charset="0"/>
                <a:cs typeface="Calibri" panose="020F0502020204030204" pitchFamily="34" charset="0"/>
              </a:rPr>
              <a:t>dolgozók közötti együttműködés 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jobban szolgálja a szervezet hosszú távú sikereit, mint a verseny, és a munkatársak szívesebben és eredményesebben dolgoznak a vállalatnál, ha lehetőségük nyílik tudásuk és tapasztalataik folyamatos gyarapítására. </a:t>
            </a:r>
          </a:p>
          <a:p>
            <a:pPr marL="0" indent="0">
              <a:buNone/>
            </a:pPr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hu-HU" b="1" dirty="0">
                <a:latin typeface="Calibri" panose="020F0502020204030204" pitchFamily="34" charset="0"/>
                <a:cs typeface="Calibri" panose="020F0502020204030204" pitchFamily="34" charset="0"/>
              </a:rPr>
              <a:t>Vezetői magatartás a Z – elméletben:</a:t>
            </a:r>
          </a:p>
          <a:p>
            <a:pPr lvl="1"/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Tartós foglalkoztatás</a:t>
            </a:r>
          </a:p>
          <a:p>
            <a:pPr lvl="1"/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Minősítés-előléptetés</a:t>
            </a:r>
          </a:p>
          <a:p>
            <a:pPr lvl="1"/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Vezető-fejlesztés</a:t>
            </a:r>
          </a:p>
          <a:p>
            <a:pPr lvl="1"/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Döntési rendszer </a:t>
            </a:r>
          </a:p>
          <a:p>
            <a:pPr lvl="1"/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Kölcsönös bizalom</a:t>
            </a:r>
          </a:p>
          <a:p>
            <a:pPr lvl="1"/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Bizalom, együttműködés, összehangoltság</a:t>
            </a:r>
          </a:p>
          <a:p>
            <a:pPr lvl="1"/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„Holisztikus” orientáció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34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További elméletek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B46D2AC-B866-443C-9431-932092FF9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762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sz="4000" dirty="0"/>
              <a:t>Csíkszentmihályi Mihály – flow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85592" cy="5264148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hu-HU" b="1" dirty="0">
                <a:latin typeface="Calibri" panose="020F0502020204030204" pitchFamily="34" charset="0"/>
                <a:cs typeface="Calibri" panose="020F0502020204030204" pitchFamily="34" charset="0"/>
              </a:rPr>
              <a:t>A tökéletes élmény pszichológiája</a:t>
            </a:r>
          </a:p>
          <a:p>
            <a:pPr lvl="1"/>
            <a:r>
              <a:rPr lang="hu-HU" dirty="0"/>
              <a:t>Tengelyek: kihívás/jártasság </a:t>
            </a:r>
          </a:p>
          <a:p>
            <a:pPr lvl="1"/>
            <a:r>
              <a:rPr lang="hu-HU" dirty="0"/>
              <a:t>Fásultság, aggodalom, </a:t>
            </a:r>
            <a:br>
              <a:rPr lang="hu-HU" dirty="0"/>
            </a:br>
            <a:r>
              <a:rPr lang="hu-HU" dirty="0"/>
              <a:t>szorongás</a:t>
            </a:r>
          </a:p>
          <a:p>
            <a:pPr lvl="1"/>
            <a:r>
              <a:rPr lang="hu-HU" dirty="0"/>
              <a:t>Unalom, pihenés</a:t>
            </a:r>
          </a:p>
          <a:p>
            <a:pPr lvl="1"/>
            <a:r>
              <a:rPr lang="hu-HU" dirty="0"/>
              <a:t>Ébredés, kontroll</a:t>
            </a:r>
          </a:p>
          <a:p>
            <a:pPr lvl="1"/>
            <a:r>
              <a:rPr lang="hu-HU" dirty="0"/>
              <a:t>FLOW</a:t>
            </a:r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35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További elméletek</a:t>
            </a:r>
          </a:p>
          <a:p>
            <a:endParaRPr lang="hu-HU" dirty="0"/>
          </a:p>
        </p:txBody>
      </p:sp>
      <p:pic>
        <p:nvPicPr>
          <p:cNvPr id="6" name="Picture 2" descr="RECORRIENDO - WEB: Entrevista a Mihaly Csikszentmihalyi">
            <a:extLst>
              <a:ext uri="{FF2B5EF4-FFF2-40B4-BE49-F238E27FC236}">
                <a16:creationId xmlns:a16="http://schemas.microsoft.com/office/drawing/2014/main" id="{407BD1BB-8D4F-4A7C-B4CC-222FDF07C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030" y="4062122"/>
            <a:ext cx="2304390" cy="2248648"/>
          </a:xfrm>
          <a:prstGeom prst="rect">
            <a:avLst/>
          </a:prstGeom>
          <a:noFill/>
          <a:ln w="28575">
            <a:solidFill>
              <a:srgbClr val="2E528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Techflow és webflow – a tökéletes élmény pszichológiája">
            <a:extLst>
              <a:ext uri="{FF2B5EF4-FFF2-40B4-BE49-F238E27FC236}">
                <a16:creationId xmlns:a16="http://schemas.microsoft.com/office/drawing/2014/main" id="{8369585C-6C6F-4E5A-8455-52E4CEA7A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605" y="1571842"/>
            <a:ext cx="5001224" cy="4784506"/>
          </a:xfrm>
          <a:prstGeom prst="rect">
            <a:avLst/>
          </a:prstGeom>
          <a:noFill/>
          <a:ln w="28575">
            <a:solidFill>
              <a:srgbClr val="2E5289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24908E4E-956A-4651-A70E-129D97FAA8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7046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092146-D627-49A1-95F3-3E4705B89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133" y="547230"/>
            <a:ext cx="11568796" cy="718233"/>
          </a:xfrm>
        </p:spPr>
        <p:txBody>
          <a:bodyPr>
            <a:normAutofit/>
          </a:bodyPr>
          <a:lstStyle/>
          <a:p>
            <a:r>
              <a:rPr lang="hu-HU" dirty="0" err="1">
                <a:latin typeface="Calibri" panose="020F0502020204030204" pitchFamily="34" charset="0"/>
                <a:cs typeface="Calibri" panose="020F0502020204030204" pitchFamily="34" charset="0"/>
              </a:rPr>
              <a:t>Garry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u-HU" dirty="0" err="1">
                <a:latin typeface="Calibri" panose="020F0502020204030204" pitchFamily="34" charset="0"/>
                <a:cs typeface="Calibri" panose="020F0502020204030204" pitchFamily="34" charset="0"/>
              </a:rPr>
              <a:t>Chapman</a:t>
            </a:r>
            <a:r>
              <a:rPr lang="hu-HU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hu-HU" dirty="0"/>
              <a:t>A munkahelyi elismerés – 5 NYELVE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56CCBB-5E5F-443D-AB82-0DF40519E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0" y="1457325"/>
            <a:ext cx="11985592" cy="5264148"/>
          </a:xfrm>
        </p:spPr>
        <p:txBody>
          <a:bodyPr numCol="1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hu-HU" dirty="0"/>
              <a:t>Az elismerő szavak – szóbeli dicséret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Minőségi idő – önálló munkaidő beosztás, szabadnap, közösen végzett </a:t>
            </a:r>
            <a:r>
              <a:rPr lang="hu-HU"/>
              <a:t>tevékyenysgek</a:t>
            </a:r>
            <a:endParaRPr lang="hu-HU" dirty="0"/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Ajándékok – pénz, tárgy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Szívességek – segítségnyújtás, közös munkavégzés, felhatalmazás</a:t>
            </a:r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Elismerő érintés – kisgyerekeknél a fizikai biztonságérzet,  „vállon-veregetés”,  győztes földobálása, vállon hordozás</a:t>
            </a:r>
          </a:p>
          <a:p>
            <a:pPr marL="0" indent="0">
              <a:buNone/>
            </a:pPr>
            <a:endParaRPr lang="hu-HU" dirty="0"/>
          </a:p>
          <a:p>
            <a:pPr>
              <a:buNone/>
            </a:pPr>
            <a:r>
              <a:rPr lang="hu-HU" b="1" dirty="0"/>
              <a:t>Vezetői feladat</a:t>
            </a:r>
            <a:r>
              <a:rPr lang="hu-HU" dirty="0"/>
              <a:t>: felismerni a kollégákhoz vezető eszközt</a:t>
            </a:r>
          </a:p>
          <a:p>
            <a:pPr marL="0" indent="0">
              <a:buNone/>
            </a:pPr>
            <a:r>
              <a:rPr lang="hu-HU" b="1" dirty="0"/>
              <a:t>Eredménye</a:t>
            </a:r>
          </a:p>
          <a:p>
            <a:pPr lvl="1"/>
            <a:r>
              <a:rPr lang="hu-HU" dirty="0"/>
              <a:t>Érzelmi kiegyensúlyozottság</a:t>
            </a:r>
          </a:p>
          <a:p>
            <a:pPr lvl="1"/>
            <a:r>
              <a:rPr lang="hu-HU" dirty="0"/>
              <a:t>Jobb teljesítmény</a:t>
            </a:r>
          </a:p>
          <a:p>
            <a:pPr lvl="1"/>
            <a:r>
              <a:rPr lang="hu-HU" dirty="0"/>
              <a:t>Jobb munkahelyi légkör</a:t>
            </a:r>
          </a:p>
          <a:p>
            <a:endParaRPr lang="hu-HU" dirty="0"/>
          </a:p>
          <a:p>
            <a:endParaRPr lang="hu-H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</a:pPr>
            <a:endParaRPr lang="hu-HU" dirty="0">
              <a:latin typeface="Calibri" pitchFamily="34" charset="0"/>
            </a:endParaRPr>
          </a:p>
          <a:p>
            <a:pPr marL="0" indent="0">
              <a:buNone/>
            </a:pPr>
            <a:endParaRPr lang="hu-HU" dirty="0">
              <a:latin typeface="Calibri" pitchFamily="34" charset="0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64C52B1-5F04-4A28-83C0-5CB40CE9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36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7249FFC-8AF2-469E-A4FD-A2C61F105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hu-HU" sz="2600" dirty="0"/>
              <a:t>Motivációs elméletek – További elméletek</a:t>
            </a:r>
          </a:p>
          <a:p>
            <a:endParaRPr lang="hu-HU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7A93D7B-0212-4D5C-8C90-221D7DB85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31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363845" y="3055305"/>
            <a:ext cx="5033727" cy="20446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4000" dirty="0">
                <a:solidFill>
                  <a:srgbClr val="00B0F0"/>
                </a:solidFill>
              </a:rPr>
              <a:t>Köszönöm a figyelmet!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6C4D8-32F2-4A19-B0E3-4323A7BEC644}" type="slidenum">
              <a:rPr lang="hu-HU" smtClean="0"/>
              <a:pPr/>
              <a:t>37</a:t>
            </a:fld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hu-HU"/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806" y="104652"/>
            <a:ext cx="581630" cy="44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604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4176</TotalTime>
  <Words>3177</Words>
  <Application>Microsoft Office PowerPoint</Application>
  <PresentationFormat>Szélesvásznú</PresentationFormat>
  <Paragraphs>435</Paragraphs>
  <Slides>37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Symbol</vt:lpstr>
      <vt:lpstr>Times New Roman</vt:lpstr>
      <vt:lpstr>Wingdings</vt:lpstr>
      <vt:lpstr>Office-téma</vt:lpstr>
      <vt:lpstr>Motiváció</vt:lpstr>
      <vt:lpstr>Tartalomjegyzék</vt:lpstr>
      <vt:lpstr>Fontossága</vt:lpstr>
      <vt:lpstr>A motiváció</vt:lpstr>
      <vt:lpstr>Folyamata</vt:lpstr>
      <vt:lpstr>A motívumok eredete</vt:lpstr>
      <vt:lpstr>Teljesítmény</vt:lpstr>
      <vt:lpstr>Mire alapozhat a vezető?</vt:lpstr>
      <vt:lpstr>Milyen szellemi képességekre van szükség a menedzser feladatok elvégzéséhez?</vt:lpstr>
      <vt:lpstr>A motivációs elméletek megismerésének célja</vt:lpstr>
      <vt:lpstr>Motivációs elméletek</vt:lpstr>
      <vt:lpstr>Maslow – Szükséglethierarchia (1950)</vt:lpstr>
      <vt:lpstr>Maslow – Szükséglethierarchia (1950)</vt:lpstr>
      <vt:lpstr>Maslow – Szükséglethierarchia (1950)</vt:lpstr>
      <vt:lpstr>Maslow – Szükséglethierarchia (1950)</vt:lpstr>
      <vt:lpstr>Mc. Clelland (1965) teljesítmény – hatalom - affiliáció</vt:lpstr>
      <vt:lpstr>Herzberg – féle kéttényezős elmélet (1968) </vt:lpstr>
      <vt:lpstr>Herzberg – féle kéttényezős elmélet (1968) </vt:lpstr>
      <vt:lpstr>Herzberg – féle kéttényezős elmélet (1968) </vt:lpstr>
      <vt:lpstr>A munkakör gazdagítás lehetőségei</vt:lpstr>
      <vt:lpstr>Alderfer szükségletelmélete (1969)</vt:lpstr>
      <vt:lpstr>Hunt cél – motiváció elmélete (1969)</vt:lpstr>
      <vt:lpstr>Hunt cél – motiváció elmélete – 6 féle cél</vt:lpstr>
      <vt:lpstr>Folyamatelméletek</vt:lpstr>
      <vt:lpstr>Skinner megerősítés elmélete (1953)</vt:lpstr>
      <vt:lpstr>Skinner megerősítés elmélete (1953)</vt:lpstr>
      <vt:lpstr>Vroom elvárás elmélete (1964)</vt:lpstr>
      <vt:lpstr>Vroom elvárás elmélete (1964)</vt:lpstr>
      <vt:lpstr>Elvárás – elméleti modell</vt:lpstr>
      <vt:lpstr>Adams méltányosság elmélete</vt:lpstr>
      <vt:lpstr>A feszültség csökkentése</vt:lpstr>
      <vt:lpstr>Célkitűzés elmélet – Locke (1968)</vt:lpstr>
      <vt:lpstr>McGregor – X – Y elmélete</vt:lpstr>
      <vt:lpstr>William G. Ouchi – Z - elmélet</vt:lpstr>
      <vt:lpstr>Csíkszentmihályi Mihály – flow</vt:lpstr>
      <vt:lpstr>Garry Chapman: A munkahelyi elismerés – 5 NYELVE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Projektmenedzsment</dc:title>
  <dc:creator>MMI</dc:creator>
  <cp:lastModifiedBy>Gombaszögi Ildikó</cp:lastModifiedBy>
  <cp:revision>89</cp:revision>
  <dcterms:created xsi:type="dcterms:W3CDTF">2021-01-18T18:03:07Z</dcterms:created>
  <dcterms:modified xsi:type="dcterms:W3CDTF">2023-08-30T18:57:37Z</dcterms:modified>
</cp:coreProperties>
</file>