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90" r:id="rId4"/>
    <p:sldId id="269" r:id="rId5"/>
    <p:sldId id="258" r:id="rId6"/>
    <p:sldId id="259" r:id="rId7"/>
    <p:sldId id="260" r:id="rId8"/>
    <p:sldId id="291" r:id="rId9"/>
    <p:sldId id="292" r:id="rId10"/>
    <p:sldId id="261" r:id="rId11"/>
    <p:sldId id="266" r:id="rId12"/>
    <p:sldId id="262" r:id="rId13"/>
    <p:sldId id="265" r:id="rId14"/>
    <p:sldId id="263" r:id="rId15"/>
    <p:sldId id="264" r:id="rId16"/>
    <p:sldId id="293" r:id="rId17"/>
    <p:sldId id="267" r:id="rId18"/>
    <p:sldId id="268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1" r:id="rId30"/>
    <p:sldId id="282" r:id="rId31"/>
    <p:sldId id="283" r:id="rId32"/>
    <p:sldId id="284" r:id="rId33"/>
    <p:sldId id="285" r:id="rId34"/>
    <p:sldId id="286" r:id="rId35"/>
    <p:sldId id="288" r:id="rId36"/>
    <p:sldId id="295" r:id="rId37"/>
    <p:sldId id="287" r:id="rId38"/>
    <p:sldId id="289" r:id="rId39"/>
    <p:sldId id="294" r:id="rId4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944D"/>
    <a:srgbClr val="3433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Közepesen sötét stílus 2 – 6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6370" autoAdjust="0"/>
  </p:normalViewPr>
  <p:slideViewPr>
    <p:cSldViewPr snapToGrid="0">
      <p:cViewPr varScale="1">
        <p:scale>
          <a:sx n="56" d="100"/>
          <a:sy n="56" d="100"/>
        </p:scale>
        <p:origin x="90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19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E53D2-A48E-4C9B-B410-1E4D72DE286B}" type="datetimeFigureOut">
              <a:rPr lang="hu-HU" smtClean="0"/>
              <a:t>2023. 08. 29.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F073B-6FBE-4398-99B6-4AAC91B062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963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45930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1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1667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0866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4111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1817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1879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275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90350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9698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2890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77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3536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875693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091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84596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44221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58781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62749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920406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36899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97774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740337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26667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52616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3808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29983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4779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750C139D-3168-4490-BB9C-BC38A0EA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E8B206B0-EEE6-4BFD-858B-14AAFB8C8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5EFD624-2362-4233-AA2E-58D3AB2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A2B3-E014-4A2E-A550-0FC801CC6702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D81589B6-0D22-495A-8AA4-804DAD7F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71DFD03E-3F7E-4EF4-9258-A04E4B2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545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bg>
      <p:bgPr>
        <a:solidFill>
          <a:srgbClr val="8894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xmlns="" id="{DDDEED1F-4A84-460A-8607-0736A80B4660}"/>
              </a:ext>
            </a:extLst>
          </p:cNvPr>
          <p:cNvSpPr/>
          <p:nvPr userDrawn="1"/>
        </p:nvSpPr>
        <p:spPr>
          <a:xfrm>
            <a:off x="5004707" y="113167"/>
            <a:ext cx="7094084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xmlns="" id="{B5A85F78-1FD5-4B49-B583-F7B2D395B8BA}"/>
              </a:ext>
            </a:extLst>
          </p:cNvPr>
          <p:cNvSpPr/>
          <p:nvPr userDrawn="1"/>
        </p:nvSpPr>
        <p:spPr>
          <a:xfrm>
            <a:off x="93209" y="89807"/>
            <a:ext cx="12005582" cy="1152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xmlns="" id="{C2069732-ACEA-44F7-B5CA-BAB2F9787C78}"/>
              </a:ext>
            </a:extLst>
          </p:cNvPr>
          <p:cNvSpPr/>
          <p:nvPr userDrawn="1"/>
        </p:nvSpPr>
        <p:spPr>
          <a:xfrm>
            <a:off x="93209" y="1265463"/>
            <a:ext cx="12005582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FAB37637-9D6E-4D90-B2F1-76E205F9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718233"/>
          </a:xfrm>
        </p:spPr>
        <p:txBody>
          <a:bodyPr>
            <a:norm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B2CBCB6B-387A-4289-A82B-0BFAB4E69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510283" cy="5264148"/>
          </a:xfrm>
        </p:spPr>
        <p:txBody>
          <a:bodyPr/>
          <a:lstStyle>
            <a:lvl1pPr>
              <a:buClr>
                <a:srgbClr val="88944D"/>
              </a:buClr>
              <a:buFont typeface="Wingdings" panose="05000000000000000000" pitchFamily="2" charset="2"/>
              <a:buChar char="§"/>
              <a:defRPr sz="2400"/>
            </a:lvl1pPr>
            <a:lvl2pPr>
              <a:buClr>
                <a:srgbClr val="88944D"/>
              </a:buClr>
              <a:buFont typeface="Wingdings" panose="05000000000000000000" pitchFamily="2" charset="2"/>
              <a:buChar char="§"/>
              <a:defRPr sz="2400"/>
            </a:lvl2pPr>
            <a:lvl3pPr>
              <a:buClr>
                <a:srgbClr val="88944D"/>
              </a:buClr>
              <a:buFont typeface="Wingdings" panose="05000000000000000000" pitchFamily="2" charset="2"/>
              <a:buChar char="§"/>
              <a:defRPr sz="2400"/>
            </a:lvl3pPr>
            <a:lvl4pPr>
              <a:buClr>
                <a:srgbClr val="88944D"/>
              </a:buClr>
              <a:buFont typeface="Wingdings" panose="05000000000000000000" pitchFamily="2" charset="2"/>
              <a:buChar char="§"/>
              <a:defRPr sz="2400"/>
            </a:lvl4pPr>
            <a:lvl5pPr>
              <a:buClr>
                <a:srgbClr val="88944D"/>
              </a:buClr>
              <a:buFont typeface="Wingdings" panose="05000000000000000000" pitchFamily="2" charset="2"/>
              <a:buChar char="§"/>
              <a:defRPr sz="24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xmlns="" id="{ABA2E200-FE90-4F81-A7F7-486CE3F2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729" y="6379708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F906C4D8-32F2-4A19-B0E3-4323A7BEC644}" type="slidenum">
              <a:rPr lang="hu-HU" smtClean="0"/>
              <a:pPr/>
              <a:t>‹#›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xmlns="" id="{CCA7E92E-0678-4CB8-B34A-3CEDD493C7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463" y="211135"/>
            <a:ext cx="11510284" cy="440645"/>
          </a:xfrm>
        </p:spPr>
        <p:txBody>
          <a:bodyPr/>
          <a:lstStyle>
            <a:lvl1pPr>
              <a:buNone/>
              <a:defRPr b="0"/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02234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558E1F47-A20E-4BB9-A350-B0990DE5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A674DF5C-4EEB-42BF-947E-B831FE8D0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80F63501-4CC0-443D-9D68-F329C8C2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EA38-83FC-4782-9732-2A658C756FBF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CBAEB0E0-2A8E-4ED6-A556-F8979733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29D3C6A-29F7-48FE-BCD5-E38A7ED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4100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810067C-BED7-4D0B-A7AE-64B226FE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6989049E-102A-47F6-9DB1-D28194DAE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56670EB4-6095-49EF-BC35-7B589A44C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2B37BD7D-E3E5-45AB-8F04-C3BB6789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02E6-7993-453D-93F9-E6EF1116D18A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E3D45C3-0A0B-4B2E-82E4-EA07495C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B5B50F8E-6620-4235-B0AD-8AA15B30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605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266F4E0-940E-4BAE-B93C-63B7BDFB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0A2959B8-ED8C-4B0B-9977-61BD3846A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1CCDBE15-67FD-4624-AA3C-3954AD9B7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DF322681-B9EB-4202-B82F-62986E7BE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xmlns="" id="{4C904C5F-E076-4D0B-8982-C2E9696E2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xmlns="" id="{DAE73D62-5ABD-42E2-8E4F-A4C9D60C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007-D686-40BA-81B1-73FEF61F594E}" type="datetime1">
              <a:rPr lang="hu-HU" smtClean="0"/>
              <a:t>2023. 08. 29.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xmlns="" id="{12CEA0E5-76DF-4C30-B4E7-9D73172E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xmlns="" id="{E4147FC1-08D6-4073-B160-DA6C7F80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89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DDEF8AF-3DBD-4787-B3C3-E54E37A4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xmlns="" id="{1004E331-98B3-4071-BBC4-B70A9479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9E8F-2C13-44E0-88ED-8DAC965F9F1B}" type="datetime1">
              <a:rPr lang="hu-HU" smtClean="0"/>
              <a:t>2023. 08. 29.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xmlns="" id="{9839F9EC-D9E3-4149-9FDB-26C9C93B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xmlns="" id="{A996AA15-EE1A-41CC-A088-942F69E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183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xmlns="" id="{8232CDB6-02A2-4E33-83D0-705F4C00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2AE6F-9176-4A48-8B31-B40F1CD1CA67}" type="datetime1">
              <a:rPr lang="hu-HU" smtClean="0"/>
              <a:t>2023. 08. 29.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xmlns="" id="{A57E066B-902D-436D-B156-0C745132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3817F04B-AF52-4648-8F6E-228367C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68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BF10A394-C766-410D-A40E-A419FE66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B9AE76C-FECB-4776-9AC6-0CC24C19A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37756CC3-7EE4-4387-9A9B-A6A7EC4EC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5F71D787-FE7E-488E-820D-677DB815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4019-9299-4649-B777-D3FD3F0DF105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F0CBFD6-E08D-4DC4-AD7A-CCFE1899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76DBC206-9A73-416D-8C18-5E85F368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360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1D336558-64C8-4443-A717-0E2F3CB7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xmlns="" id="{7D7D72D5-7457-4552-88D3-03E28DEDD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5D412EE6-6AD6-4C94-9EE3-B679EAFB6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6B45C1E5-6AD4-490D-9144-44476B02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CDC1-49EF-4ED0-A19F-FD7F561FE84C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C044CDEB-6218-40E1-B4BA-41676461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C00ED222-CB4F-44CF-BA9D-2FC17CE6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388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F5A7E4B-F7E4-4AA4-860F-4C6A03C8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AA651D79-3498-4F2E-9F68-953F93D4F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D304470A-ABA4-4D52-8CC9-952139B8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3B1C-99A4-498A-A255-49BFF718273E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5B1CFCD3-7120-46EC-9471-224D39A3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93B51A95-5799-4B77-AC52-43F335DD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597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xmlns="" id="{D373C461-39C7-4606-BCC4-70DADCEF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44A7E9BB-AA6D-4D97-B1A7-18F2CD1C6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1DD3EA0-896E-47E3-A1C0-707ECCCE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5E8A-C486-4894-8349-73C1CA8437D8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FC1DE335-3672-4078-9D66-23423314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0FDC640C-F1ED-46D8-AB88-A36984A7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9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xmlns="" id="{79ED9102-32AA-4BE9-BDE5-05201ADD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463EEA34-9557-4D56-831A-83912F399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AC69EE77-6CC9-4CC9-8D75-64722839D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D1FF1-846C-4DD0-B4AC-8156EDF0B994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699550F0-C374-4C65-91D6-8BCFE575C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606282D-346B-422A-A731-68523C74F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25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uropean Tree of the Year – The Witch Tree - The Netherlands">
            <a:extLst>
              <a:ext uri="{FF2B5EF4-FFF2-40B4-BE49-F238E27FC236}">
                <a16:creationId xmlns:a16="http://schemas.microsoft.com/office/drawing/2014/main" xmlns="" id="{32A68438-6DE3-4A3A-8967-9176A4309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1462" y="-1407853"/>
            <a:ext cx="12554924" cy="836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églalap 9">
            <a:extLst>
              <a:ext uri="{FF2B5EF4-FFF2-40B4-BE49-F238E27FC236}">
                <a16:creationId xmlns:a16="http://schemas.microsoft.com/office/drawing/2014/main" xmlns="" id="{B71DD668-A5C7-4E1D-B55A-AF9BA972D50B}"/>
              </a:ext>
            </a:extLst>
          </p:cNvPr>
          <p:cNvSpPr/>
          <p:nvPr/>
        </p:nvSpPr>
        <p:spPr>
          <a:xfrm>
            <a:off x="-36352" y="84481"/>
            <a:ext cx="11161552" cy="1263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3C939434-E251-4120-898C-686C77FB2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313" y="589969"/>
            <a:ext cx="10795686" cy="715684"/>
          </a:xfrm>
          <a:noFill/>
          <a:ln w="28575"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hu-HU" b="1" dirty="0">
                <a:latin typeface="+mn-lt"/>
              </a:rPr>
              <a:t>Stratégiai tervezés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13CA3651-BAD3-4EDE-AFD0-D06900524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973" y="84481"/>
            <a:ext cx="2930666" cy="632211"/>
          </a:xfrm>
          <a:noFill/>
          <a:ln w="28575"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hu-HU" b="1" dirty="0"/>
              <a:t>Menedzsment alapjai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xmlns="" id="{C6A4C454-9DBE-4802-9EF2-C1214C1FEE2B}"/>
              </a:ext>
            </a:extLst>
          </p:cNvPr>
          <p:cNvSpPr/>
          <p:nvPr/>
        </p:nvSpPr>
        <p:spPr>
          <a:xfrm>
            <a:off x="0" y="84481"/>
            <a:ext cx="1382973" cy="1263413"/>
          </a:xfrm>
          <a:prstGeom prst="rect">
            <a:avLst/>
          </a:prstGeom>
          <a:solidFill>
            <a:srgbClr val="889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xmlns="" id="{D4FF0E0E-6C7A-4088-A4A3-FE1C79555183}"/>
              </a:ext>
            </a:extLst>
          </p:cNvPr>
          <p:cNvSpPr txBox="1"/>
          <p:nvPr/>
        </p:nvSpPr>
        <p:spPr>
          <a:xfrm>
            <a:off x="219891" y="348858"/>
            <a:ext cx="1251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dirty="0" smtClean="0">
                <a:solidFill>
                  <a:schemeClr val="bg1"/>
                </a:solidFill>
              </a:rPr>
              <a:t>7.</a:t>
            </a:r>
            <a:endParaRPr lang="hu-HU" sz="6000" b="1" dirty="0">
              <a:solidFill>
                <a:schemeClr val="bg1"/>
              </a:solidFill>
            </a:endParaRP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776" y="314915"/>
            <a:ext cx="1305107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0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863305"/>
            <a:ext cx="11510283" cy="4858167"/>
          </a:xfrm>
        </p:spPr>
        <p:txBody>
          <a:bodyPr/>
          <a:lstStyle/>
          <a:p>
            <a:r>
              <a:rPr lang="hu-HU" dirty="0"/>
              <a:t>Stratégia tervezés alapjai</a:t>
            </a:r>
          </a:p>
          <a:p>
            <a:r>
              <a:rPr lang="hu-HU" dirty="0"/>
              <a:t>Stratégia tervezés alapfogalmak</a:t>
            </a:r>
          </a:p>
          <a:p>
            <a:r>
              <a:rPr lang="hu-HU" dirty="0"/>
              <a:t>Stratégia tervezés lépései és céljai</a:t>
            </a:r>
          </a:p>
          <a:p>
            <a:r>
              <a:rPr lang="hu-HU" dirty="0"/>
              <a:t>Üzleti etika és társadalmi felelősségvállalás</a:t>
            </a:r>
          </a:p>
          <a:p>
            <a:r>
              <a:rPr lang="hu-HU" dirty="0"/>
              <a:t>A vállalat érintettjei</a:t>
            </a:r>
          </a:p>
          <a:p>
            <a:r>
              <a:rPr lang="hu-HU" dirty="0"/>
              <a:t>Stratégiai, környezeti elemzések</a:t>
            </a:r>
          </a:p>
          <a:p>
            <a:r>
              <a:rPr lang="hu-HU" dirty="0"/>
              <a:t>Alapvető adaptációs és működési stratégiák</a:t>
            </a:r>
          </a:p>
          <a:p>
            <a:r>
              <a:rPr lang="hu-HU" dirty="0"/>
              <a:t>Diverzifikáció</a:t>
            </a:r>
          </a:p>
          <a:p>
            <a:r>
              <a:rPr lang="hu-HU" dirty="0"/>
              <a:t>Nemzetközi stratégia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350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Fontossága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szervezeti stratégia kialakítása a menedzsment és a vállalati siker szempontjából elengedhetetlen </a:t>
            </a:r>
            <a:r>
              <a:rPr lang="hu-HU" dirty="0" smtClean="0"/>
              <a:t>tevékenység</a:t>
            </a:r>
          </a:p>
          <a:p>
            <a:r>
              <a:rPr lang="hu-HU" dirty="0" smtClean="0"/>
              <a:t>A </a:t>
            </a:r>
            <a:r>
              <a:rPr lang="hu-HU" dirty="0"/>
              <a:t>Stratégia tervezés magába foglalja a környezet széleskörű </a:t>
            </a:r>
            <a:r>
              <a:rPr lang="hu-HU" dirty="0" smtClean="0"/>
              <a:t>megismerését, a </a:t>
            </a:r>
            <a:r>
              <a:rPr lang="hu-HU" dirty="0"/>
              <a:t>vállalat saját erőforrásainak és kompetenciáinak </a:t>
            </a:r>
            <a:r>
              <a:rPr lang="hu-HU" dirty="0" smtClean="0"/>
              <a:t>megismerését, valamint a </a:t>
            </a:r>
            <a:r>
              <a:rPr lang="hu-HU" dirty="0"/>
              <a:t>vállalati célok és az ahhoz szükséges tevékenységek meghatározását és </a:t>
            </a:r>
            <a:r>
              <a:rPr lang="hu-HU" dirty="0" smtClean="0"/>
              <a:t>leszögezését.</a:t>
            </a:r>
            <a:endParaRPr lang="hu-HU" dirty="0"/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A </a:t>
            </a:r>
            <a:r>
              <a:rPr lang="hu-HU" dirty="0"/>
              <a:t>Vállalati stratégia segíti a </a:t>
            </a:r>
            <a:r>
              <a:rPr lang="hu-HU" dirty="0" smtClean="0"/>
              <a:t>menedzsmentet</a:t>
            </a:r>
            <a:endParaRPr lang="hu-HU" dirty="0"/>
          </a:p>
          <a:p>
            <a:pPr lvl="1"/>
            <a:r>
              <a:rPr lang="hu-HU" dirty="0"/>
              <a:t>a</a:t>
            </a:r>
            <a:r>
              <a:rPr lang="hu-HU" dirty="0" smtClean="0"/>
              <a:t> céltudatosságban</a:t>
            </a:r>
            <a:endParaRPr lang="hu-HU" dirty="0"/>
          </a:p>
          <a:p>
            <a:pPr lvl="1"/>
            <a:r>
              <a:rPr lang="hu-HU" dirty="0" smtClean="0"/>
              <a:t>az erőforrás </a:t>
            </a:r>
            <a:r>
              <a:rPr lang="hu-HU" dirty="0"/>
              <a:t>igények lehető legpontosabb meghatározásában</a:t>
            </a:r>
          </a:p>
          <a:p>
            <a:pPr lvl="1"/>
            <a:r>
              <a:rPr lang="hu-HU" dirty="0" smtClean="0"/>
              <a:t>az előre </a:t>
            </a:r>
            <a:r>
              <a:rPr lang="hu-HU" dirty="0"/>
              <a:t>haladás mérésében</a:t>
            </a:r>
          </a:p>
          <a:p>
            <a:pPr lvl="1"/>
            <a:r>
              <a:rPr lang="hu-HU" dirty="0" smtClean="0"/>
              <a:t>a helyesbítő </a:t>
            </a:r>
            <a:r>
              <a:rPr lang="hu-HU" dirty="0"/>
              <a:t>lépések megtételében</a:t>
            </a:r>
          </a:p>
          <a:p>
            <a:pPr lvl="1"/>
            <a:r>
              <a:rPr lang="hu-HU" dirty="0"/>
              <a:t>a</a:t>
            </a:r>
            <a:r>
              <a:rPr lang="hu-HU" dirty="0" smtClean="0"/>
              <a:t> </a:t>
            </a:r>
            <a:r>
              <a:rPr lang="hu-HU" dirty="0"/>
              <a:t>folyamatos és transzparens kommunikációban</a:t>
            </a:r>
          </a:p>
          <a:p>
            <a:pPr lvl="1"/>
            <a:r>
              <a:rPr lang="hu-HU" dirty="0"/>
              <a:t>a</a:t>
            </a:r>
            <a:r>
              <a:rPr lang="hu-HU" dirty="0" smtClean="0"/>
              <a:t> </a:t>
            </a:r>
            <a:r>
              <a:rPr lang="hu-HU" dirty="0"/>
              <a:t>vállalati értékek és etikusság </a:t>
            </a:r>
            <a:r>
              <a:rPr lang="hu-HU" dirty="0" smtClean="0"/>
              <a:t>fenntartásában.</a:t>
            </a:r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68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vállalat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Olyan gazdasági szervezeti alapegység, amely </a:t>
            </a:r>
            <a:r>
              <a:rPr lang="hu-HU" b="1" dirty="0"/>
              <a:t>elkülönülten gazdálkodik</a:t>
            </a:r>
            <a:r>
              <a:rPr lang="hu-HU" dirty="0"/>
              <a:t>, a gazdasági élet más szereplőihez a piac közvetítésével kapcsolódik, miközben pénzjövedelem szerzésre, </a:t>
            </a:r>
            <a:r>
              <a:rPr lang="hu-HU" dirty="0" smtClean="0"/>
              <a:t>és annak </a:t>
            </a:r>
            <a:r>
              <a:rPr lang="hu-HU" dirty="0"/>
              <a:t>növelésére törekszik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A vállalatok a társadalom és a gazdaság szempontjából is hasznosak hiszen,</a:t>
            </a:r>
          </a:p>
          <a:p>
            <a:pPr lvl="1"/>
            <a:r>
              <a:rPr lang="hu-HU" dirty="0"/>
              <a:t>s</a:t>
            </a:r>
            <a:r>
              <a:rPr lang="hu-HU" dirty="0" smtClean="0"/>
              <a:t>zolgáltatások </a:t>
            </a:r>
            <a:r>
              <a:rPr lang="hu-HU" dirty="0"/>
              <a:t>nyújtanak, termékeket állítanak elő, ezzel növelik az élet színvonalát</a:t>
            </a:r>
          </a:p>
          <a:p>
            <a:pPr lvl="1"/>
            <a:r>
              <a:rPr lang="hu-HU" dirty="0"/>
              <a:t>s</a:t>
            </a:r>
            <a:r>
              <a:rPr lang="hu-HU" dirty="0" smtClean="0"/>
              <a:t>aját </a:t>
            </a:r>
            <a:r>
              <a:rPr lang="hu-HU" dirty="0"/>
              <a:t>vagyonból, </a:t>
            </a:r>
            <a:r>
              <a:rPr lang="hu-HU" b="1" dirty="0"/>
              <a:t>kockázatot vállalva </a:t>
            </a:r>
            <a:r>
              <a:rPr lang="hu-HU" dirty="0"/>
              <a:t>növelik az adott ország gazdasági működését</a:t>
            </a:r>
          </a:p>
          <a:p>
            <a:pPr lvl="1"/>
            <a:r>
              <a:rPr lang="hu-HU" dirty="0"/>
              <a:t>m</a:t>
            </a:r>
            <a:r>
              <a:rPr lang="hu-HU" dirty="0" smtClean="0"/>
              <a:t>unkahelyet </a:t>
            </a:r>
            <a:r>
              <a:rPr lang="hu-HU" dirty="0"/>
              <a:t>teremtenek</a:t>
            </a:r>
          </a:p>
          <a:p>
            <a:pPr lvl="1"/>
            <a:r>
              <a:rPr lang="hu-HU" dirty="0"/>
              <a:t>a</a:t>
            </a:r>
            <a:r>
              <a:rPr lang="hu-HU" dirty="0" smtClean="0"/>
              <a:t>dóikkal </a:t>
            </a:r>
            <a:r>
              <a:rPr lang="hu-HU" dirty="0"/>
              <a:t>elősegítik az adott ország </a:t>
            </a:r>
            <a:r>
              <a:rPr lang="hu-HU" dirty="0" smtClean="0"/>
              <a:t>működését.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84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894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Elmélete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Klasszikus iskola – 60-as évek</a:t>
            </a:r>
          </a:p>
          <a:p>
            <a:pPr marL="457200" lvl="1" indent="0">
              <a:buNone/>
            </a:pPr>
            <a:r>
              <a:rPr lang="hu-HU" dirty="0"/>
              <a:t>Cél a profit maximalizáció, felűről induló tudatos és világosan meghatározott célok, fix környezetben működés</a:t>
            </a:r>
          </a:p>
          <a:p>
            <a:r>
              <a:rPr lang="hu-HU" b="1" dirty="0"/>
              <a:t>Fejlődési iskola – 70-es évek</a:t>
            </a:r>
          </a:p>
          <a:p>
            <a:pPr marL="457200" lvl="1" indent="0">
              <a:buNone/>
            </a:pPr>
            <a:r>
              <a:rPr lang="hu-HU" dirty="0"/>
              <a:t>A vállalati siker a túlélésen és az alkalmazkodó képességen múlik, a jövőt nem lehet előre kifürkészni. Fontos több vasat tartani a tűzben és több lábon állni</a:t>
            </a:r>
          </a:p>
          <a:p>
            <a:r>
              <a:rPr lang="hu-HU" b="1" dirty="0"/>
              <a:t>Eljárási iskola – 80-as évek</a:t>
            </a:r>
          </a:p>
          <a:p>
            <a:pPr marL="457200" lvl="1" indent="0">
              <a:buNone/>
            </a:pPr>
            <a:r>
              <a:rPr lang="hu-HU" dirty="0"/>
              <a:t>Érzelemmentes és csak racionálisan döntések nem léteznek. Képtelenség a jövőt befolyásoló tényezőket teljesen feltárni, a vezetői döntés végső soron úgy is az érzelmek alapján kerül meghozatalra</a:t>
            </a:r>
          </a:p>
          <a:p>
            <a:r>
              <a:rPr lang="hu-HU" b="1" dirty="0"/>
              <a:t>Rendszerelvű iskola – 90-es évek</a:t>
            </a:r>
          </a:p>
          <a:p>
            <a:pPr marL="457200" lvl="1" indent="0">
              <a:buNone/>
            </a:pPr>
            <a:r>
              <a:rPr lang="hu-HU" dirty="0"/>
              <a:t>Hisz abban, hogy a megfelelő eszközökkel és elemzésekkel a jövő </a:t>
            </a:r>
            <a:r>
              <a:rPr lang="hu-HU" dirty="0" smtClean="0"/>
              <a:t>feltárható </a:t>
            </a:r>
            <a:r>
              <a:rPr lang="hu-HU" dirty="0"/>
              <a:t>és az elemzések hatásos stratégiai kialakítására adnak lehetőséget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21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Fajtái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/>
              <a:t>Racionális megközelítés</a:t>
            </a:r>
          </a:p>
          <a:p>
            <a:pPr lvl="1"/>
            <a:r>
              <a:rPr lang="hu-HU" dirty="0"/>
              <a:t>Analitikus, elemző, logikai alapon érvelő</a:t>
            </a:r>
          </a:p>
          <a:p>
            <a:pPr lvl="1"/>
            <a:r>
              <a:rPr lang="hu-HU" dirty="0"/>
              <a:t>A múlt eseményeit, adatait elemzi</a:t>
            </a:r>
          </a:p>
          <a:p>
            <a:pPr lvl="1"/>
            <a:r>
              <a:rPr lang="hu-HU" dirty="0"/>
              <a:t>Elemzések, becslések és számolások alapján tervez a jövőre nézve</a:t>
            </a:r>
          </a:p>
          <a:p>
            <a:pPr lvl="1"/>
            <a:r>
              <a:rPr lang="hu-HU" dirty="0"/>
              <a:t>A múltból és jelenből indul ki</a:t>
            </a:r>
          </a:p>
          <a:p>
            <a:pPr lvl="1"/>
            <a:r>
              <a:rPr lang="hu-HU" dirty="0"/>
              <a:t>A stratégiaalkotás tudomány</a:t>
            </a:r>
          </a:p>
          <a:p>
            <a:pPr marL="0" indent="0">
              <a:buNone/>
            </a:pPr>
            <a:r>
              <a:rPr lang="hu-HU" b="1" dirty="0"/>
              <a:t>Kreatív megközelítés</a:t>
            </a:r>
          </a:p>
          <a:p>
            <a:pPr lvl="1"/>
            <a:r>
              <a:rPr lang="hu-HU" dirty="0"/>
              <a:t>Intuitív, elképzelhetetlen lehetőségek keresése</a:t>
            </a:r>
          </a:p>
          <a:p>
            <a:pPr lvl="1"/>
            <a:r>
              <a:rPr lang="hu-HU" dirty="0"/>
              <a:t>Elszakadás a múlttól és a jelentől, új lehetőségek keresése</a:t>
            </a:r>
          </a:p>
          <a:p>
            <a:pPr lvl="1"/>
            <a:r>
              <a:rPr lang="hu-HU" dirty="0"/>
              <a:t>A jövőből való kiindulás</a:t>
            </a:r>
          </a:p>
          <a:p>
            <a:pPr lvl="1"/>
            <a:r>
              <a:rPr lang="hu-HU" dirty="0"/>
              <a:t>Folyamatos innováció, változás, „új” alkotására való igény</a:t>
            </a:r>
          </a:p>
          <a:p>
            <a:pPr lvl="1"/>
            <a:r>
              <a:rPr lang="hu-HU" dirty="0"/>
              <a:t>A stratégia alkotás művészet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277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Fajtái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b="1" dirty="0"/>
              <a:t>Aktív stratégia</a:t>
            </a:r>
          </a:p>
          <a:p>
            <a:pPr lvl="1"/>
            <a:r>
              <a:rPr lang="hu-HU" dirty="0"/>
              <a:t>Környezeti tényezők folyamatos elemzése</a:t>
            </a:r>
          </a:p>
          <a:p>
            <a:pPr lvl="1"/>
            <a:r>
              <a:rPr lang="hu-HU" dirty="0"/>
              <a:t>Fejlődésre való nyitottság</a:t>
            </a:r>
          </a:p>
          <a:p>
            <a:pPr lvl="1"/>
            <a:r>
              <a:rPr lang="hu-HU" dirty="0"/>
              <a:t>Vevői igények szemelőt tartása</a:t>
            </a:r>
          </a:p>
          <a:p>
            <a:pPr lvl="1"/>
            <a:r>
              <a:rPr lang="hu-HU" dirty="0"/>
              <a:t>Szervezeti tanulás</a:t>
            </a:r>
          </a:p>
          <a:p>
            <a:pPr lvl="1"/>
            <a:r>
              <a:rPr lang="hu-HU" dirty="0"/>
              <a:t>Folyamatos innováció, megújulás</a:t>
            </a:r>
          </a:p>
          <a:p>
            <a:pPr lvl="1"/>
            <a:r>
              <a:rPr lang="hu-HU" dirty="0"/>
              <a:t>Proaktív stratégia – a környezeti változások kihasználása, a környezet alakítása</a:t>
            </a:r>
          </a:p>
          <a:p>
            <a:pPr marL="0" indent="0">
              <a:buNone/>
            </a:pPr>
            <a:r>
              <a:rPr lang="hu-HU" b="1" dirty="0"/>
              <a:t>Passzív stratégia</a:t>
            </a:r>
          </a:p>
          <a:p>
            <a:pPr lvl="1"/>
            <a:r>
              <a:rPr lang="hu-HU" dirty="0"/>
              <a:t>Folyamatos sodródás az árral</a:t>
            </a:r>
          </a:p>
          <a:p>
            <a:pPr lvl="1"/>
            <a:r>
              <a:rPr lang="hu-HU" dirty="0"/>
              <a:t>Általános lemaradás</a:t>
            </a:r>
          </a:p>
          <a:p>
            <a:pPr lvl="1"/>
            <a:r>
              <a:rPr lang="hu-HU" dirty="0"/>
              <a:t>A fejlődés elutasítása, ragaszkodás a múlthoz</a:t>
            </a:r>
          </a:p>
          <a:p>
            <a:pPr lvl="1"/>
            <a:r>
              <a:rPr lang="hu-HU" dirty="0"/>
              <a:t>Reaktív stratégia – már bekövetkezett eseményekre való késői reakció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41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Vállalati stratégia jellemzői I.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xmlns="" id="{543DC955-4DEB-4C2E-A5CC-EC4C81ACD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49" y="1321061"/>
            <a:ext cx="11217782" cy="52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40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Vállalati stratégia </a:t>
            </a:r>
            <a:r>
              <a:rPr lang="hu-HU" dirty="0" smtClean="0"/>
              <a:t>jellemzői II.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0F84548E-12D7-47D3-BE9D-299EE8801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75" y="1283809"/>
            <a:ext cx="10955010" cy="546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3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Alapfogalmak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Stratégia</a:t>
            </a:r>
          </a:p>
          <a:p>
            <a:pPr marL="457200" lvl="1" indent="0">
              <a:buNone/>
            </a:pPr>
            <a:r>
              <a:rPr lang="hu-HU" dirty="0"/>
              <a:t>Magába foglalja a szervezet jövőjére vonatkozó célok kitűzését, valamint a célok elérését szolgáló eszközök és módszerek meghatározását</a:t>
            </a:r>
          </a:p>
          <a:p>
            <a:r>
              <a:rPr lang="hu-HU" b="1" dirty="0"/>
              <a:t>Stratégiai terv</a:t>
            </a:r>
          </a:p>
          <a:p>
            <a:pPr marL="457200" lvl="1" indent="0">
              <a:buNone/>
            </a:pPr>
            <a:r>
              <a:rPr lang="hu-HU" dirty="0"/>
              <a:t>A stratégiai terv, olyan tudatos lépések sorozatát foglalja magába, amelyekkel a vállalat képes elérni a jövőre vonatkozó célkitűzéseket</a:t>
            </a:r>
          </a:p>
          <a:p>
            <a:r>
              <a:rPr lang="hu-HU" b="1" dirty="0"/>
              <a:t>Stratégiai tervezés</a:t>
            </a:r>
          </a:p>
          <a:p>
            <a:pPr marL="457200" lvl="1" indent="0">
              <a:buNone/>
            </a:pPr>
            <a:r>
              <a:rPr lang="hu-HU" dirty="0"/>
              <a:t>Stratégiai tervezés egy szabályozott kereteken belül zajló elemzési tevékenység amely a stratégiai vezetéshez szükséges tudást és információkat biztosítja</a:t>
            </a:r>
          </a:p>
          <a:p>
            <a:r>
              <a:rPr lang="hu-HU" b="1" dirty="0"/>
              <a:t>Stratégiai vezetés</a:t>
            </a:r>
          </a:p>
          <a:p>
            <a:pPr marL="457200" lvl="1" indent="0">
              <a:buNone/>
            </a:pPr>
            <a:r>
              <a:rPr lang="hu-HU" dirty="0"/>
              <a:t>Az a folyamat, amely során a cég célokat tűz </a:t>
            </a:r>
            <a:r>
              <a:rPr lang="hu-HU" dirty="0" smtClean="0"/>
              <a:t>ki, </a:t>
            </a:r>
            <a:r>
              <a:rPr lang="hu-HU" dirty="0"/>
              <a:t>és olyan akciókat határoz meg, amelyek segítségével adott időtartamon belül a vállalati célok elérhetők. A stratégiai vezetés része a nyomon követés, koordináció és helyesbítő lépések megtétele is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41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Alapfogalmak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18438"/>
            <a:ext cx="11510283" cy="5465134"/>
          </a:xfrm>
        </p:spPr>
        <p:txBody>
          <a:bodyPr>
            <a:norm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hu-HU" b="1" dirty="0"/>
              <a:t>Vállalati filozófia</a:t>
            </a:r>
          </a:p>
          <a:p>
            <a:pPr lvl="1"/>
            <a:r>
              <a:rPr lang="hu-HU" dirty="0"/>
              <a:t>Olyan egyértelműen meghatározott gondolatiság, amely a vállalat valamennyi tevékenységét áthatja</a:t>
            </a:r>
          </a:p>
          <a:p>
            <a:pPr lvl="1"/>
            <a:r>
              <a:rPr lang="hu-HU" dirty="0"/>
              <a:t>Egy eszmerendszer, amely magába foglalja a szervezet elképzeléseit önmagáról az általa betöltött különböző szerepkörökben pl. gazdálkodó szervezet, termelő/szolgáltató, piaci szereplő, versenytárs, munkaadó. </a:t>
            </a:r>
            <a:endParaRPr lang="hu-HU" dirty="0" smtClean="0"/>
          </a:p>
          <a:p>
            <a:pPr lvl="1"/>
            <a:r>
              <a:rPr lang="hu-HU" dirty="0" smtClean="0"/>
              <a:t>A </a:t>
            </a:r>
            <a:r>
              <a:rPr lang="hu-HU" dirty="0"/>
              <a:t>filozófia arra a kérdésre ad választ, hogy hogyan gondolkodik a vállalat a körülötte levő világról, szűkebb és tágabb környezetéről, azok viszonyairól, igényeiről</a:t>
            </a:r>
          </a:p>
          <a:p>
            <a:pPr lvl="1"/>
            <a:endParaRPr lang="hu-HU" dirty="0"/>
          </a:p>
          <a:p>
            <a:pPr lvl="1"/>
            <a:r>
              <a:rPr lang="hu-HU" dirty="0"/>
              <a:t>Miután megfogalmazták a cégfilozófiát, mind a vezetésben, mind az egész kollektívában tudatosítani kell</a:t>
            </a:r>
          </a:p>
          <a:p>
            <a:pPr lvl="1"/>
            <a:r>
              <a:rPr lang="hu-HU" dirty="0"/>
              <a:t>A szervezeti filozófia kialakításának jelentősége, </a:t>
            </a:r>
            <a:r>
              <a:rPr lang="hu-HU" dirty="0" smtClean="0"/>
              <a:t>hogyha </a:t>
            </a:r>
            <a:r>
              <a:rPr lang="hu-HU" dirty="0"/>
              <a:t>mindenki egy bizonyos elv alapján cselekszik, akkor a környezet bármely szereplője bármely munkatárssal bármilyen tevékenység során találkozik, egybehangzó, azonos képet kap a cégről. A dolgozók akár megfelelő, önálló döntéseket is képesek hozni a filozófia ismeretében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64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Alapfogalmak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4"/>
            <a:ext cx="11510283" cy="5326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Vízió (Jövőkép)</a:t>
            </a:r>
          </a:p>
          <a:p>
            <a:pPr lvl="1"/>
            <a:r>
              <a:rPr lang="hu-HU" dirty="0"/>
              <a:t>A jövőkép a szervezet alapvető törekvéseit, a világhoz való viszonyát és a távolabbi jövőben elérendő állapotokat rögzíti</a:t>
            </a:r>
          </a:p>
          <a:p>
            <a:pPr lvl="1"/>
            <a:r>
              <a:rPr lang="hu-HU" dirty="0"/>
              <a:t>A jövőkép a cég jövőjének ma elképzelt, reális, hiteles és vonzó leírása</a:t>
            </a:r>
          </a:p>
          <a:p>
            <a:pPr lvl="1"/>
            <a:endParaRPr lang="hu-HU" dirty="0"/>
          </a:p>
          <a:p>
            <a:pPr lvl="1"/>
            <a:r>
              <a:rPr lang="hu-HU" dirty="0"/>
              <a:t>Egy adott időtáv végére elérendő kívánatos állapotot határoz meg</a:t>
            </a:r>
          </a:p>
          <a:p>
            <a:pPr lvl="1"/>
            <a:r>
              <a:rPr lang="hu-HU" dirty="0"/>
              <a:t>A víziót a vállalati célokhoz vezető út végének </a:t>
            </a:r>
            <a:r>
              <a:rPr lang="hu-HU" dirty="0" smtClean="0"/>
              <a:t>tekintik, </a:t>
            </a:r>
            <a:r>
              <a:rPr lang="hu-HU" dirty="0"/>
              <a:t>és leginkább gazdasági szempontból kerül megközelítésre</a:t>
            </a:r>
          </a:p>
          <a:p>
            <a:pPr lvl="1"/>
            <a:endParaRPr lang="hu-HU" dirty="0"/>
          </a:p>
          <a:p>
            <a:pPr lvl="1"/>
            <a:r>
              <a:rPr lang="hu-HU" dirty="0"/>
              <a:t>A vállalat irányításában hozott döntések mind a vállalati jövőképet kell, hogy szolgálják</a:t>
            </a:r>
          </a:p>
          <a:p>
            <a:pPr lvl="1"/>
            <a:r>
              <a:rPr lang="hu-HU" dirty="0"/>
              <a:t>A vállalati jövőkép motiváló erőként is funkciónál</a:t>
            </a:r>
          </a:p>
          <a:p>
            <a:pPr lvl="1"/>
            <a:r>
              <a:rPr lang="hu-HU" dirty="0"/>
              <a:t>A vállalati jövőkép irányulhat piaci versenyre, elérni kívánt piaci pozícióra, elérni kívánt vállalati kompetenciákra, fejlődésre, növekedésre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4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Alapfogalmak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4"/>
            <a:ext cx="11510283" cy="5326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/>
              <a:t>Misszió (Küldetés)</a:t>
            </a:r>
          </a:p>
          <a:p>
            <a:pPr lvl="1"/>
            <a:r>
              <a:rPr lang="hu-HU" dirty="0"/>
              <a:t>A vállalat nyilatkozata arról, hogy mi a létezésének indoka, kiket és hogyan kíván </a:t>
            </a:r>
            <a:r>
              <a:rPr lang="hu-HU" dirty="0" smtClean="0"/>
              <a:t>szolgálni, </a:t>
            </a:r>
            <a:r>
              <a:rPr lang="hu-HU" dirty="0"/>
              <a:t>és milyen társadalmi értékekben hisz. </a:t>
            </a:r>
          </a:p>
          <a:p>
            <a:pPr lvl="1"/>
            <a:r>
              <a:rPr lang="hu-HU" dirty="0"/>
              <a:t>Tartalmazza a vállalat által betöltendő szereppel, viselkedési normákkal kapcsolatos törekvéseket, a vállalat belső működését valamint a külső környezettel való kapcsolattartást is. </a:t>
            </a:r>
          </a:p>
          <a:p>
            <a:pPr lvl="1"/>
            <a:endParaRPr lang="hu-HU" dirty="0"/>
          </a:p>
          <a:p>
            <a:pPr lvl="1"/>
            <a:r>
              <a:rPr lang="hu-HU" dirty="0"/>
              <a:t>Alapelemei: </a:t>
            </a:r>
            <a:r>
              <a:rPr lang="hu-HU" dirty="0" smtClean="0"/>
              <a:t>cél, </a:t>
            </a:r>
            <a:r>
              <a:rPr lang="hu-HU" dirty="0"/>
              <a:t>magatartási norma, vállalati értékek, minőséghez való hozzáállás.</a:t>
            </a:r>
          </a:p>
          <a:p>
            <a:pPr lvl="1"/>
            <a:endParaRPr lang="hu-HU" dirty="0"/>
          </a:p>
          <a:p>
            <a:pPr lvl="1"/>
            <a:r>
              <a:rPr lang="hu-HU" dirty="0"/>
              <a:t>Kifejezi a szervezet rendeltetését, a világhoz való viszonyát, valamint azt, hogy milyen értékek figyelembe vételével működik a vállalkozás</a:t>
            </a:r>
          </a:p>
          <a:p>
            <a:pPr lvl="1"/>
            <a:r>
              <a:rPr lang="hu-HU" dirty="0"/>
              <a:t>A missziót sokszor a vállalati célokhoz vezető út elejének tekintik</a:t>
            </a:r>
          </a:p>
          <a:p>
            <a:pPr lvl="1"/>
            <a:r>
              <a:rPr lang="hu-HU" dirty="0"/>
              <a:t>A misszió a vállalat céljait és létezésének az okát leginkább társadalmi szempontból vizsgálja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28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Akciók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4"/>
            <a:ext cx="11951022" cy="5326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A stratégiák megvalósítására leginkább elterjedt lehetőségek </a:t>
            </a:r>
            <a:r>
              <a:rPr lang="hu-HU" dirty="0" smtClean="0"/>
              <a:t>napjainkban:</a:t>
            </a:r>
            <a:endParaRPr lang="hu-HU" dirty="0"/>
          </a:p>
          <a:p>
            <a:pPr lvl="1"/>
            <a:r>
              <a:rPr lang="hu-HU" b="1" dirty="0"/>
              <a:t>Üzleti terv </a:t>
            </a:r>
            <a:r>
              <a:rPr lang="hu-HU" dirty="0"/>
              <a:t>– Általában több évre szóló cselekvési terv, amely stratégiai akciók és projekteken keresztül valósul meg</a:t>
            </a:r>
          </a:p>
          <a:p>
            <a:pPr lvl="1"/>
            <a:r>
              <a:rPr lang="hu-HU" b="1" dirty="0"/>
              <a:t>Programok</a:t>
            </a:r>
            <a:r>
              <a:rPr lang="hu-HU" dirty="0"/>
              <a:t> – Általában több projektből felépített több éves, egyértelmű céllal, idő és erőforrás igényekkel rendelkező tevékenységek </a:t>
            </a:r>
            <a:r>
              <a:rPr lang="hu-HU" dirty="0" smtClean="0"/>
              <a:t>sorozata. </a:t>
            </a:r>
            <a:br>
              <a:rPr lang="hu-HU" dirty="0" smtClean="0"/>
            </a:br>
            <a:r>
              <a:rPr lang="hu-HU" dirty="0" smtClean="0"/>
              <a:t>Előnye </a:t>
            </a:r>
            <a:r>
              <a:rPr lang="hu-HU" dirty="0"/>
              <a:t>a célorientáltság, a szervezettség, a tervezés elősegítése és a stratégia megvalósításának nyomon követhetősége</a:t>
            </a:r>
          </a:p>
          <a:p>
            <a:pPr lvl="1"/>
            <a:r>
              <a:rPr lang="hu-HU" b="1" dirty="0"/>
              <a:t>Projektek</a:t>
            </a:r>
            <a:r>
              <a:rPr lang="hu-HU" dirty="0"/>
              <a:t> – Egyedi tevékenység sorozat, pontos céllal, idő és erőforrás igényekkel. 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>A </a:t>
            </a:r>
            <a:r>
              <a:rPr lang="hu-HU" dirty="0"/>
              <a:t>projektek és a projektmenedzsment célja a vállalati változások és fejlődés </a:t>
            </a:r>
            <a:r>
              <a:rPr lang="hu-HU" dirty="0" smtClean="0"/>
              <a:t>lebonyolítása</a:t>
            </a:r>
          </a:p>
          <a:p>
            <a:pPr marL="457200" lvl="1" indent="0">
              <a:buNone/>
            </a:pPr>
            <a:endParaRPr lang="hu-HU" dirty="0"/>
          </a:p>
          <a:p>
            <a:r>
              <a:rPr lang="hu-HU" b="1" dirty="0"/>
              <a:t>Vállalati stratégia </a:t>
            </a:r>
            <a:r>
              <a:rPr lang="hu-HU" dirty="0"/>
              <a:t>– Hosszútávú célok és a célok elérésének módszereit rögzíti</a:t>
            </a:r>
          </a:p>
          <a:p>
            <a:r>
              <a:rPr lang="hu-HU" b="1" dirty="0"/>
              <a:t>Üzleti stratégia </a:t>
            </a:r>
            <a:r>
              <a:rPr lang="hu-HU" dirty="0"/>
              <a:t>– A vállalati versenyt, versenyképességet rögzíti</a:t>
            </a:r>
          </a:p>
          <a:p>
            <a:r>
              <a:rPr lang="hu-HU" b="1" dirty="0"/>
              <a:t>Funkcionális stratégia </a:t>
            </a:r>
            <a:r>
              <a:rPr lang="hu-HU" dirty="0"/>
              <a:t>– Adott funkciókban célokat kell elérni, milyen erőforrásokat igényel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16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Lépései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4"/>
            <a:ext cx="11510283" cy="5326247"/>
          </a:xfrm>
        </p:spPr>
        <p:txBody>
          <a:bodyPr>
            <a:normAutofit/>
          </a:bodyPr>
          <a:lstStyle/>
          <a:p>
            <a:r>
              <a:rPr lang="hu-HU" dirty="0"/>
              <a:t>Hol vagyunk most?, Mit szeretnénk elérni?, Mi kell ezeknek a céloknak az eléréséhez?, Hol vagyunk most?, Mivel lehet a folyamatot gyorsítani?, Elértük a célunkat?</a:t>
            </a:r>
          </a:p>
          <a:p>
            <a:endParaRPr lang="hu-HU" dirty="0"/>
          </a:p>
          <a:p>
            <a:r>
              <a:rPr lang="hu-HU" dirty="0"/>
              <a:t>Stratégiai elemzés, külső környezet és a belső vállalati helyzet széleskörű felmérése</a:t>
            </a:r>
          </a:p>
          <a:p>
            <a:r>
              <a:rPr lang="hu-HU" dirty="0"/>
              <a:t>Üzleti területek kiválasztása, termék portfólió meghatározása (vevői igények)</a:t>
            </a:r>
          </a:p>
          <a:p>
            <a:r>
              <a:rPr lang="hu-HU" dirty="0"/>
              <a:t>Küldetés és vízió megfogalmazása</a:t>
            </a:r>
          </a:p>
          <a:p>
            <a:r>
              <a:rPr lang="hu-HU" dirty="0"/>
              <a:t>Stratégiai célok kialakítása</a:t>
            </a:r>
          </a:p>
          <a:p>
            <a:r>
              <a:rPr lang="hu-HU" dirty="0"/>
              <a:t>A célok megvalósítását szolgáló eszközök és módszerek meghatározása (Akció és operatív tervezés)</a:t>
            </a:r>
          </a:p>
          <a:p>
            <a:endParaRPr lang="hu-HU" dirty="0"/>
          </a:p>
          <a:p>
            <a:r>
              <a:rPr lang="hu-HU" dirty="0"/>
              <a:t>Stratégia megvalósítás, folyamatos nyomon követés, koordináció, kommunikáció, dokumentáció, helyesbítő lépések megtétele, fejlődés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298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Lépései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 smtClean="0"/>
              <a:t>A tervezés</a:t>
            </a:r>
            <a:endParaRPr lang="hu-HU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xmlns="" id="{4CE7CBDA-252F-4C5F-9E29-78BB52DAD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868" y="211135"/>
            <a:ext cx="8962280" cy="6533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709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Célok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265464"/>
            <a:ext cx="11510283" cy="5518108"/>
          </a:xfrm>
        </p:spPr>
        <p:txBody>
          <a:bodyPr>
            <a:normAutofit/>
          </a:bodyPr>
          <a:lstStyle/>
          <a:p>
            <a:r>
              <a:rPr lang="hu-HU" dirty="0"/>
              <a:t>Azok a mérföldkövek, amelyeket a cégnek el kell érnie ahhoz, hogy a jövőképpel leírt állapotba kerülhessen</a:t>
            </a:r>
          </a:p>
          <a:p>
            <a:r>
              <a:rPr lang="hu-HU" dirty="0"/>
              <a:t>Kérdései</a:t>
            </a:r>
          </a:p>
          <a:p>
            <a:pPr lvl="1"/>
            <a:r>
              <a:rPr lang="hu-HU" dirty="0"/>
              <a:t>Hová megyünk?</a:t>
            </a:r>
          </a:p>
          <a:p>
            <a:pPr lvl="1"/>
            <a:r>
              <a:rPr lang="hu-HU" dirty="0"/>
              <a:t>Jó irányba haladunk?</a:t>
            </a:r>
          </a:p>
          <a:p>
            <a:pPr lvl="1"/>
            <a:r>
              <a:rPr lang="hu-HU" dirty="0"/>
              <a:t>Mikor érünk oda?</a:t>
            </a:r>
          </a:p>
          <a:p>
            <a:pPr lvl="1"/>
            <a:r>
              <a:rPr lang="hu-HU" dirty="0"/>
              <a:t>Odaértünk már?</a:t>
            </a:r>
          </a:p>
          <a:p>
            <a:r>
              <a:rPr lang="hu-HU" b="1" dirty="0"/>
              <a:t>A célokhoz mindig pontos időkorlátot, erőforrásokat és felelősöket kell rendelni</a:t>
            </a:r>
          </a:p>
          <a:p>
            <a:r>
              <a:rPr lang="hu-HU" dirty="0"/>
              <a:t>A céloknak mindig meg kell felelniük a vállalati filozófiának és a </a:t>
            </a:r>
            <a:r>
              <a:rPr lang="hu-HU" dirty="0" smtClean="0"/>
              <a:t>víziónak</a:t>
            </a:r>
            <a:br>
              <a:rPr lang="hu-HU" dirty="0" smtClean="0"/>
            </a:br>
            <a:endParaRPr lang="hu-HU" dirty="0"/>
          </a:p>
          <a:p>
            <a:r>
              <a:rPr lang="hu-HU" b="1" dirty="0"/>
              <a:t>Vállalati célok </a:t>
            </a:r>
            <a:r>
              <a:rPr lang="hu-HU" dirty="0"/>
              <a:t>– Elérendő célok meghatározása, szükséges erőforrások biztosítása</a:t>
            </a:r>
          </a:p>
          <a:p>
            <a:r>
              <a:rPr lang="hu-HU" b="1" dirty="0"/>
              <a:t>Üzleti célok </a:t>
            </a:r>
            <a:r>
              <a:rPr lang="hu-HU" dirty="0"/>
              <a:t>– Konkretizált célok, folyamatokra bontás</a:t>
            </a:r>
          </a:p>
          <a:p>
            <a:r>
              <a:rPr lang="hu-HU" b="1" dirty="0"/>
              <a:t>Funkcionális célok </a:t>
            </a:r>
            <a:r>
              <a:rPr lang="hu-HU" dirty="0"/>
              <a:t>– Erőforrás hatékonyság, optimalizálás, minőség, fejlődés, oktatás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35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Üzleti etika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4"/>
            <a:ext cx="11510283" cy="5326247"/>
          </a:xfrm>
        </p:spPr>
        <p:txBody>
          <a:bodyPr>
            <a:normAutofit/>
          </a:bodyPr>
          <a:lstStyle/>
          <a:p>
            <a:r>
              <a:rPr lang="hu-HU" dirty="0">
                <a:effectLst/>
                <a:ea typeface="Calibri" panose="020F0502020204030204" pitchFamily="34" charset="0"/>
              </a:rPr>
              <a:t>Az üzleti etika az etikai értékek, alapelvek és normák üzleti magatartásra történő alkalmazását jelenti</a:t>
            </a:r>
          </a:p>
          <a:p>
            <a:r>
              <a:rPr lang="hu-HU" dirty="0">
                <a:ea typeface="Calibri" panose="020F0502020204030204" pitchFamily="34" charset="0"/>
              </a:rPr>
              <a:t>Az üzleti etika túlmutat a vállalatokkal szemben támasztott jogi követelményeken</a:t>
            </a:r>
          </a:p>
          <a:p>
            <a:pPr lvl="1"/>
            <a:r>
              <a:rPr lang="hu-HU" dirty="0">
                <a:effectLst/>
                <a:ea typeface="Calibri" panose="020F0502020204030204" pitchFamily="34" charset="0"/>
              </a:rPr>
              <a:t>Az etikus működés tehát ezentúl </a:t>
            </a:r>
            <a:r>
              <a:rPr lang="hu-HU" b="1" dirty="0">
                <a:effectLst/>
                <a:ea typeface="Calibri" panose="020F0502020204030204" pitchFamily="34" charset="0"/>
              </a:rPr>
              <a:t>a vállalat egyéni döntésének kell, hogy legyen</a:t>
            </a:r>
            <a:endParaRPr lang="hu-HU" b="1" dirty="0">
              <a:ea typeface="Calibri" panose="020F0502020204030204" pitchFamily="34" charset="0"/>
            </a:endParaRPr>
          </a:p>
          <a:p>
            <a:r>
              <a:rPr lang="hu-HU" dirty="0">
                <a:effectLst/>
                <a:ea typeface="Calibri" panose="020F0502020204030204" pitchFamily="34" charset="0"/>
              </a:rPr>
              <a:t>Az üzleti etika az etikus viselkedés iránti elköteleződésről, etikai értékek, normák egyértelművé és nyilvánossá tételéről, valamint ezek mindennapi gyakorlatba integrálásáról szól</a:t>
            </a:r>
          </a:p>
          <a:p>
            <a:r>
              <a:rPr lang="hu-HU" dirty="0">
                <a:ea typeface="Calibri" panose="020F0502020204030204" pitchFamily="34" charset="0"/>
              </a:rPr>
              <a:t>A cél a vállalat mindennapjaiban a „helyes” döntések meghozatala</a:t>
            </a:r>
          </a:p>
          <a:p>
            <a:pPr lvl="1"/>
            <a:r>
              <a:rPr lang="hu-HU" b="1" dirty="0">
                <a:effectLst/>
                <a:ea typeface="Calibri" panose="020F0502020204030204" pitchFamily="34" charset="0"/>
              </a:rPr>
              <a:t>Társadalmi szinten </a:t>
            </a:r>
            <a:r>
              <a:rPr lang="hu-HU" dirty="0">
                <a:effectLst/>
                <a:ea typeface="Calibri" panose="020F0502020204030204" pitchFamily="34" charset="0"/>
              </a:rPr>
              <a:t>– vállalat társadalomban betöltött szerepe, vállalat és a társadalom kapcsolatának ápolása</a:t>
            </a:r>
          </a:p>
          <a:p>
            <a:pPr lvl="1"/>
            <a:r>
              <a:rPr lang="hu-HU" b="1" dirty="0">
                <a:ea typeface="Calibri" panose="020F0502020204030204" pitchFamily="34" charset="0"/>
              </a:rPr>
              <a:t>Vállalati szinten </a:t>
            </a:r>
            <a:r>
              <a:rPr lang="hu-HU" dirty="0">
                <a:ea typeface="Calibri" panose="020F0502020204030204" pitchFamily="34" charset="0"/>
              </a:rPr>
              <a:t>– vállalati viselkedés, üzleti gyakorlat, társadalmi felelősség vállalás, munkavállalók igényeivel való törődés</a:t>
            </a:r>
          </a:p>
          <a:p>
            <a:pPr lvl="1"/>
            <a:r>
              <a:rPr lang="hu-HU" b="1" dirty="0">
                <a:effectLst/>
                <a:ea typeface="Calibri" panose="020F0502020204030204" pitchFamily="34" charset="0"/>
              </a:rPr>
              <a:t>Egyéni szinten </a:t>
            </a:r>
            <a:r>
              <a:rPr lang="hu-HU" dirty="0">
                <a:effectLst/>
                <a:ea typeface="Calibri" panose="020F0502020204030204" pitchFamily="34" charset="0"/>
              </a:rPr>
              <a:t>– cégvezetők és munkatársak viselkedése, támasztott elvárások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42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Társadalmi </a:t>
            </a:r>
            <a:r>
              <a:rPr lang="hu-HU" dirty="0"/>
              <a:t>felelősség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4"/>
            <a:ext cx="11510283" cy="5326247"/>
          </a:xfrm>
        </p:spPr>
        <p:txBody>
          <a:bodyPr>
            <a:normAutofit/>
          </a:bodyPr>
          <a:lstStyle/>
          <a:p>
            <a:r>
              <a:rPr lang="hu-HU" dirty="0">
                <a:effectLst/>
                <a:ea typeface="Calibri" panose="020F0502020204030204" pitchFamily="34" charset="0"/>
              </a:rPr>
              <a:t>Azt a vállalati magatartást foglalja magába amellyel a vállalat minimalizálni igyekszik a társadalomra gyakorolt negatív hatásokat, és maximalizálni a társdalom számára </a:t>
            </a:r>
            <a:r>
              <a:rPr lang="hu-HU" dirty="0" smtClean="0">
                <a:effectLst/>
                <a:ea typeface="Calibri" panose="020F0502020204030204" pitchFamily="34" charset="0"/>
              </a:rPr>
              <a:t>nyújtott </a:t>
            </a:r>
            <a:r>
              <a:rPr lang="hu-HU" dirty="0">
                <a:effectLst/>
                <a:ea typeface="Calibri" panose="020F0502020204030204" pitchFamily="34" charset="0"/>
              </a:rPr>
              <a:t>szolgáltatásokat és értékeket</a:t>
            </a:r>
          </a:p>
          <a:p>
            <a:r>
              <a:rPr lang="hu-HU" dirty="0">
                <a:ea typeface="Calibri" panose="020F0502020204030204" pitchFamily="34" charset="0"/>
              </a:rPr>
              <a:t>A társadalmi felelősség vállalás tevékenységei közé tartozik,</a:t>
            </a:r>
          </a:p>
          <a:p>
            <a:pPr lvl="1"/>
            <a:r>
              <a:rPr lang="hu-HU" b="1" dirty="0">
                <a:effectLst/>
                <a:ea typeface="Calibri" panose="020F0502020204030204" pitchFamily="34" charset="0"/>
              </a:rPr>
              <a:t>Fogyasztókkal kapcsolatos tevékenységek </a:t>
            </a:r>
            <a:r>
              <a:rPr lang="hu-HU" dirty="0">
                <a:effectLst/>
                <a:ea typeface="Calibri" panose="020F0502020204030204" pitchFamily="34" charset="0"/>
              </a:rPr>
              <a:t>-  jólétük </a:t>
            </a:r>
            <a:r>
              <a:rPr lang="hu-HU" dirty="0">
                <a:ea typeface="Calibri" panose="020F0502020204030204" pitchFamily="34" charset="0"/>
              </a:rPr>
              <a:t>és egészségük szemelőt tartása</a:t>
            </a:r>
          </a:p>
          <a:p>
            <a:pPr lvl="1"/>
            <a:r>
              <a:rPr lang="hu-HU" b="1" dirty="0">
                <a:effectLst/>
                <a:ea typeface="Calibri" panose="020F0502020204030204" pitchFamily="34" charset="0"/>
              </a:rPr>
              <a:t>Munkavállalókkal kapcsolatos tevékenységek </a:t>
            </a:r>
            <a:r>
              <a:rPr lang="hu-HU" dirty="0">
                <a:effectLst/>
                <a:ea typeface="Calibri" panose="020F0502020204030204" pitchFamily="34" charset="0"/>
              </a:rPr>
              <a:t>- pihenési idők, családbarát környezet</a:t>
            </a:r>
          </a:p>
          <a:p>
            <a:pPr lvl="1"/>
            <a:r>
              <a:rPr lang="hu-HU" b="1" dirty="0">
                <a:ea typeface="Calibri" panose="020F0502020204030204" pitchFamily="34" charset="0"/>
              </a:rPr>
              <a:t>Környezettel kapcsolatos tevékenységek </a:t>
            </a:r>
            <a:r>
              <a:rPr lang="hu-HU" dirty="0">
                <a:ea typeface="Calibri" panose="020F0502020204030204" pitchFamily="34" charset="0"/>
              </a:rPr>
              <a:t>- káros anyagok kibocsátása, zaj, terület pusztítás</a:t>
            </a:r>
          </a:p>
          <a:p>
            <a:pPr lvl="1"/>
            <a:r>
              <a:rPr lang="hu-HU" b="1" dirty="0">
                <a:effectLst/>
                <a:ea typeface="Calibri" panose="020F0502020204030204" pitchFamily="34" charset="0"/>
              </a:rPr>
              <a:t>Beszállítókkal kapcsolatos tevékenységek </a:t>
            </a:r>
            <a:r>
              <a:rPr lang="hu-HU" dirty="0">
                <a:effectLst/>
                <a:ea typeface="Calibri" panose="020F0502020204030204" pitchFamily="34" charset="0"/>
              </a:rPr>
              <a:t>– megfelelő, etikus kapcsolatápolás</a:t>
            </a:r>
          </a:p>
          <a:p>
            <a:r>
              <a:rPr lang="hu-HU" dirty="0">
                <a:ea typeface="Calibri" panose="020F0502020204030204" pitchFamily="34" charset="0"/>
              </a:rPr>
              <a:t>Nagyon fontos, hogy a vállalat működésében érintett személyeknek (Stakeholderek) is el kell várniuk az etikus és felelősség teljes </a:t>
            </a:r>
            <a:r>
              <a:rPr lang="hu-HU" dirty="0" smtClean="0">
                <a:ea typeface="Calibri" panose="020F0502020204030204" pitchFamily="34" charset="0"/>
              </a:rPr>
              <a:t>működést</a:t>
            </a:r>
          </a:p>
          <a:p>
            <a:r>
              <a:rPr lang="hu-HU" dirty="0" smtClean="0">
                <a:effectLst/>
                <a:ea typeface="Calibri" panose="020F0502020204030204" pitchFamily="34" charset="0"/>
              </a:rPr>
              <a:t>Amennyiben </a:t>
            </a:r>
            <a:r>
              <a:rPr lang="hu-HU" dirty="0">
                <a:effectLst/>
                <a:ea typeface="Calibri" panose="020F0502020204030204" pitchFamily="34" charset="0"/>
              </a:rPr>
              <a:t>a </a:t>
            </a:r>
            <a:r>
              <a:rPr lang="hu-HU" dirty="0">
                <a:ea typeface="Calibri" panose="020F0502020204030204" pitchFamily="34" charset="0"/>
              </a:rPr>
              <a:t>társadalom és a politikai környezet nem támogatja a vállalatok etikusságát, nyilvánvaló, hogy a vállalat hátrányba kerülhet etikátlan szervezetekkel szemben</a:t>
            </a:r>
            <a:endParaRPr lang="hu-HU" dirty="0">
              <a:effectLst/>
              <a:ea typeface="Calibri" panose="020F0502020204030204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25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vállalat érintettjei (Stakeholderek)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86485"/>
            <a:ext cx="11919859" cy="5665027"/>
          </a:xfrm>
        </p:spPr>
        <p:txBody>
          <a:bodyPr>
            <a:normAutofit/>
          </a:bodyPr>
          <a:lstStyle/>
          <a:p>
            <a:r>
              <a:rPr lang="hu-HU" dirty="0">
                <a:effectLst/>
                <a:ea typeface="Calibri" panose="020F0502020204030204" pitchFamily="34" charset="0"/>
              </a:rPr>
              <a:t>A Stakeholderek azok az egyének vagy csoportok, akik illetve amelyek saját céljaik elérése érdekében kapcsolódnak a vállalathoz, és akik, illetve amelyek számára fontos, hogy a vállalkozás jól működjön. </a:t>
            </a:r>
            <a:r>
              <a:rPr lang="hu-HU" dirty="0">
                <a:ea typeface="Calibri" panose="020F0502020204030204" pitchFamily="34" charset="0"/>
              </a:rPr>
              <a:t>A Stakeholderek sokszor kisebb vagy nagyobb hatással bírnak a vállalat működésére, így befolyásolni tudják azt negatív vagy pozitív irányban</a:t>
            </a:r>
          </a:p>
          <a:p>
            <a:endParaRPr lang="hu-HU" sz="2200" dirty="0">
              <a:ea typeface="Calibri" panose="020F0502020204030204" pitchFamily="34" charset="0"/>
            </a:endParaRPr>
          </a:p>
          <a:p>
            <a:r>
              <a:rPr lang="hu-HU" sz="2200" b="1" dirty="0">
                <a:ea typeface="Calibri" panose="020F0502020204030204" pitchFamily="34" charset="0"/>
              </a:rPr>
              <a:t>Tulajdonos</a:t>
            </a:r>
            <a:r>
              <a:rPr lang="hu-HU" sz="2200" dirty="0">
                <a:ea typeface="Calibri" panose="020F0502020204030204" pitchFamily="34" charset="0"/>
              </a:rPr>
              <a:t> – Tőkéjét a vállalkozásba fekteti, legfőbb érdeke a sikeres </a:t>
            </a:r>
            <a:r>
              <a:rPr lang="hu-HU" sz="2200" dirty="0" smtClean="0">
                <a:ea typeface="Calibri" panose="020F0502020204030204" pitchFamily="34" charset="0"/>
              </a:rPr>
              <a:t>működés, </a:t>
            </a:r>
            <a:r>
              <a:rPr lang="hu-HU" sz="2200" dirty="0">
                <a:ea typeface="Calibri" panose="020F0502020204030204" pitchFamily="34" charset="0"/>
              </a:rPr>
              <a:t>és ennek érdekében nagy hatalommal is rendelkezik</a:t>
            </a:r>
          </a:p>
          <a:p>
            <a:r>
              <a:rPr lang="hu-HU" sz="2200" b="1" dirty="0">
                <a:ea typeface="Calibri" panose="020F0502020204030204" pitchFamily="34" charset="0"/>
              </a:rPr>
              <a:t>Vezetők, menedzserek </a:t>
            </a:r>
            <a:r>
              <a:rPr lang="hu-HU" sz="2200" dirty="0">
                <a:ea typeface="Calibri" panose="020F0502020204030204" pitchFamily="34" charset="0"/>
              </a:rPr>
              <a:t>– Érdekük a vállalat sikeres </a:t>
            </a:r>
            <a:r>
              <a:rPr lang="hu-HU" sz="2200" dirty="0" smtClean="0">
                <a:ea typeface="Calibri" panose="020F0502020204030204" pitchFamily="34" charset="0"/>
              </a:rPr>
              <a:t>működése, </a:t>
            </a:r>
            <a:r>
              <a:rPr lang="hu-HU" sz="2200" dirty="0">
                <a:ea typeface="Calibri" panose="020F0502020204030204" pitchFamily="34" charset="0"/>
              </a:rPr>
              <a:t>és nagy hatalommal rendelkeznek</a:t>
            </a:r>
          </a:p>
          <a:p>
            <a:r>
              <a:rPr lang="hu-HU" sz="2200" b="1" dirty="0">
                <a:ea typeface="Calibri" panose="020F0502020204030204" pitchFamily="34" charset="0"/>
              </a:rPr>
              <a:t>Alkalmazottak, beszállítók </a:t>
            </a:r>
            <a:r>
              <a:rPr lang="hu-HU" sz="2200" dirty="0">
                <a:ea typeface="Calibri" panose="020F0502020204030204" pitchFamily="34" charset="0"/>
              </a:rPr>
              <a:t>– Érdekük a vállalat sikeres </a:t>
            </a:r>
            <a:r>
              <a:rPr lang="hu-HU" sz="2200" dirty="0" smtClean="0">
                <a:ea typeface="Calibri" panose="020F0502020204030204" pitchFamily="34" charset="0"/>
              </a:rPr>
              <a:t>működése, </a:t>
            </a:r>
            <a:r>
              <a:rPr lang="hu-HU" sz="2200" dirty="0">
                <a:ea typeface="Calibri" panose="020F0502020204030204" pitchFamily="34" charset="0"/>
              </a:rPr>
              <a:t>azonban sokszor nincs lehetőségük befolyásolni a vállalati stratégiát</a:t>
            </a:r>
          </a:p>
          <a:p>
            <a:r>
              <a:rPr lang="hu-HU" sz="2200" b="1" dirty="0">
                <a:ea typeface="Calibri" panose="020F0502020204030204" pitchFamily="34" charset="0"/>
              </a:rPr>
              <a:t>Környező társadalom, </a:t>
            </a:r>
            <a:r>
              <a:rPr lang="hu-HU" sz="2200" b="1" dirty="0" smtClean="0">
                <a:ea typeface="Calibri" panose="020F0502020204030204" pitchFamily="34" charset="0"/>
              </a:rPr>
              <a:t>intézmények, sajtó </a:t>
            </a:r>
            <a:r>
              <a:rPr lang="hu-HU" sz="2200" dirty="0">
                <a:ea typeface="Calibri" panose="020F0502020204030204" pitchFamily="34" charset="0"/>
              </a:rPr>
              <a:t>– Érdekük a vállalat </a:t>
            </a:r>
            <a:r>
              <a:rPr lang="hu-HU" sz="2200" dirty="0" smtClean="0">
                <a:ea typeface="Calibri" panose="020F0502020204030204" pitchFamily="34" charset="0"/>
              </a:rPr>
              <a:t>fenntartható stratégiája, </a:t>
            </a:r>
            <a:r>
              <a:rPr lang="hu-HU" sz="2200" dirty="0">
                <a:ea typeface="Calibri" panose="020F0502020204030204" pitchFamily="34" charset="0"/>
              </a:rPr>
              <a:t>azonban sokszor nincs lehetőségük befolyásolni a működést</a:t>
            </a:r>
          </a:p>
          <a:p>
            <a:r>
              <a:rPr lang="hu-HU" sz="2200" b="1" dirty="0">
                <a:ea typeface="Calibri" panose="020F0502020204030204" pitchFamily="34" charset="0"/>
              </a:rPr>
              <a:t>Politikai vezetők </a:t>
            </a:r>
            <a:r>
              <a:rPr lang="hu-HU" sz="2200" dirty="0">
                <a:ea typeface="Calibri" panose="020F0502020204030204" pitchFamily="34" charset="0"/>
              </a:rPr>
              <a:t>– Nem feltétlenül érdekük a vállalat sikeres működése, azonban van lehetőségük jogszabályokkal befolyásolni azt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79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Stratégiai elemzés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265463"/>
            <a:ext cx="11919859" cy="56650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200" b="1" u="sng" dirty="0">
                <a:ea typeface="Calibri" panose="020F0502020204030204" pitchFamily="34" charset="0"/>
              </a:rPr>
              <a:t>A vállalati környezet szintjei és az elemzésükre szolgáló </a:t>
            </a:r>
            <a:r>
              <a:rPr lang="hu-HU" sz="2200" b="1" u="sng" dirty="0" smtClean="0">
                <a:ea typeface="Calibri" panose="020F0502020204030204" pitchFamily="34" charset="0"/>
              </a:rPr>
              <a:t>lehetőségek:</a:t>
            </a:r>
            <a:endParaRPr lang="hu-HU" sz="2200" b="1" u="sng" dirty="0">
              <a:ea typeface="Calibri" panose="020F0502020204030204" pitchFamily="34" charset="0"/>
            </a:endParaRPr>
          </a:p>
          <a:p>
            <a:pPr lvl="1"/>
            <a:r>
              <a:rPr lang="hu-HU" sz="2200" b="1" dirty="0">
                <a:ea typeface="Calibri" panose="020F0502020204030204" pitchFamily="34" charset="0"/>
              </a:rPr>
              <a:t>Makrókörnyezet</a:t>
            </a:r>
          </a:p>
          <a:p>
            <a:pPr lvl="2"/>
            <a:r>
              <a:rPr lang="hu-HU" sz="2200" dirty="0">
                <a:ea typeface="Calibri" panose="020F0502020204030204" pitchFamily="34" charset="0"/>
              </a:rPr>
              <a:t>PESTEL elemzés</a:t>
            </a:r>
          </a:p>
          <a:p>
            <a:pPr lvl="2"/>
            <a:r>
              <a:rPr lang="hu-HU" sz="2200" dirty="0">
                <a:ea typeface="Calibri" panose="020F0502020204030204" pitchFamily="34" charset="0"/>
              </a:rPr>
              <a:t>Gyémánt </a:t>
            </a:r>
            <a:r>
              <a:rPr lang="hu-HU" sz="2200" dirty="0" smtClean="0">
                <a:ea typeface="Calibri" panose="020F0502020204030204" pitchFamily="34" charset="0"/>
              </a:rPr>
              <a:t>modell (</a:t>
            </a:r>
            <a:r>
              <a:rPr lang="hu-HU" sz="2200" dirty="0" err="1" smtClean="0">
                <a:ea typeface="Calibri" panose="020F0502020204030204" pitchFamily="34" charset="0"/>
              </a:rPr>
              <a:t>Porter</a:t>
            </a:r>
            <a:r>
              <a:rPr lang="hu-HU" sz="2200" dirty="0" smtClean="0">
                <a:ea typeface="Calibri" panose="020F0502020204030204" pitchFamily="34" charset="0"/>
              </a:rPr>
              <a:t>)</a:t>
            </a:r>
            <a:endParaRPr lang="hu-HU" sz="2200" dirty="0">
              <a:ea typeface="Calibri" panose="020F0502020204030204" pitchFamily="34" charset="0"/>
            </a:endParaRPr>
          </a:p>
          <a:p>
            <a:pPr lvl="1"/>
            <a:r>
              <a:rPr lang="hu-HU" sz="2200" b="1" dirty="0">
                <a:ea typeface="Calibri" panose="020F0502020204030204" pitchFamily="34" charset="0"/>
              </a:rPr>
              <a:t>Iparági környezet</a:t>
            </a:r>
          </a:p>
          <a:p>
            <a:pPr lvl="2"/>
            <a:r>
              <a:rPr lang="hu-HU" sz="2200" dirty="0">
                <a:ea typeface="Calibri" panose="020F0502020204030204" pitchFamily="34" charset="0"/>
              </a:rPr>
              <a:t>PORTER 5 tényezős modell</a:t>
            </a:r>
          </a:p>
          <a:p>
            <a:pPr lvl="2"/>
            <a:r>
              <a:rPr lang="hu-HU" sz="2200" dirty="0">
                <a:ea typeface="Calibri" panose="020F0502020204030204" pitchFamily="34" charset="0"/>
              </a:rPr>
              <a:t>Iparági életciklus-modell</a:t>
            </a:r>
          </a:p>
          <a:p>
            <a:pPr lvl="1"/>
            <a:r>
              <a:rPr lang="hu-HU" sz="2200" b="1" dirty="0">
                <a:ea typeface="Calibri" panose="020F0502020204030204" pitchFamily="34" charset="0"/>
              </a:rPr>
              <a:t>Közvetlen versenykörnyezet</a:t>
            </a:r>
          </a:p>
          <a:p>
            <a:pPr lvl="2"/>
            <a:r>
              <a:rPr lang="hu-HU" sz="2200" dirty="0">
                <a:ea typeface="Calibri" panose="020F0502020204030204" pitchFamily="34" charset="0"/>
              </a:rPr>
              <a:t>Stratégiai csoport elemzés</a:t>
            </a:r>
          </a:p>
          <a:p>
            <a:pPr lvl="2"/>
            <a:r>
              <a:rPr lang="hu-HU" sz="2200" dirty="0">
                <a:ea typeface="Calibri" panose="020F0502020204030204" pitchFamily="34" charset="0"/>
              </a:rPr>
              <a:t>Versenytárs elemzés</a:t>
            </a:r>
          </a:p>
          <a:p>
            <a:pPr lvl="1"/>
            <a:r>
              <a:rPr lang="hu-HU" sz="2200" b="1" dirty="0">
                <a:ea typeface="Calibri" panose="020F0502020204030204" pitchFamily="34" charset="0"/>
              </a:rPr>
              <a:t>Belső, szervezeti környezet</a:t>
            </a:r>
          </a:p>
          <a:p>
            <a:pPr lvl="2"/>
            <a:r>
              <a:rPr lang="hu-HU" sz="2200" dirty="0">
                <a:ea typeface="Calibri" panose="020F0502020204030204" pitchFamily="34" charset="0"/>
              </a:rPr>
              <a:t>7S modell</a:t>
            </a:r>
          </a:p>
          <a:p>
            <a:pPr lvl="2"/>
            <a:r>
              <a:rPr lang="hu-HU" sz="2200" dirty="0">
                <a:ea typeface="Calibri" panose="020F0502020204030204" pitchFamily="34" charset="0"/>
              </a:rPr>
              <a:t>SWOT analízis</a:t>
            </a:r>
          </a:p>
          <a:p>
            <a:pPr lvl="2"/>
            <a:r>
              <a:rPr lang="hu-HU" sz="2200" dirty="0">
                <a:ea typeface="Calibri" panose="020F0502020204030204" pitchFamily="34" charset="0"/>
              </a:rPr>
              <a:t>BCG mátrix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489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PESTEL elemzés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86485"/>
            <a:ext cx="11919859" cy="56650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200" dirty="0">
                <a:ea typeface="Calibri" panose="020F0502020204030204" pitchFamily="34" charset="0"/>
              </a:rPr>
              <a:t>A </a:t>
            </a:r>
            <a:r>
              <a:rPr lang="hu-HU" sz="2200" b="1" dirty="0">
                <a:ea typeface="Calibri" panose="020F0502020204030204" pitchFamily="34" charset="0"/>
              </a:rPr>
              <a:t>makrókörnyezet elemeit hat különböző szegmensre bontja</a:t>
            </a:r>
            <a:r>
              <a:rPr lang="hu-HU" sz="2200" dirty="0">
                <a:ea typeface="Calibri" panose="020F0502020204030204" pitchFamily="34" charset="0"/>
              </a:rPr>
              <a:t>, mely szegmenseken belül további elemeket lehet azonosítani</a:t>
            </a:r>
          </a:p>
          <a:p>
            <a:pPr lvl="1"/>
            <a:endParaRPr lang="hu-HU" sz="2200" dirty="0"/>
          </a:p>
          <a:p>
            <a:pPr marL="457200" lvl="1" indent="0">
              <a:buNone/>
            </a:pPr>
            <a:r>
              <a:rPr lang="hu-HU" sz="2200" dirty="0"/>
              <a:t>1. A vállalat számára leginkább releváns általános környezeti szegmensek meghatározás., </a:t>
            </a:r>
          </a:p>
          <a:p>
            <a:pPr marL="457200" lvl="1" indent="0">
              <a:buNone/>
            </a:pPr>
            <a:r>
              <a:rPr lang="hu-HU" sz="2200" dirty="0"/>
              <a:t>2. A környezeti szegmenseken belül azon tényezők kiválasztása, melyek legnagyobb mértékben hatnak a vállalati működésre. </a:t>
            </a:r>
          </a:p>
          <a:p>
            <a:pPr marL="457200" lvl="1" indent="0">
              <a:buNone/>
            </a:pPr>
            <a:r>
              <a:rPr lang="hu-HU" sz="2200" dirty="0"/>
              <a:t>3. Környezeti tényezők jelenlegi hatásainak és a befolyásoló tényezők közötti összefüggések elemzése. </a:t>
            </a:r>
          </a:p>
          <a:p>
            <a:pPr marL="457200" lvl="1" indent="0">
              <a:buNone/>
            </a:pPr>
            <a:r>
              <a:rPr lang="hu-HU" sz="2200" dirty="0"/>
              <a:t>4. A környezeti tényezők várható változási tendenciáinak elemzése a stratégiai időhorizonton. </a:t>
            </a:r>
          </a:p>
          <a:p>
            <a:endParaRPr lang="hu-HU" sz="2200" dirty="0"/>
          </a:p>
          <a:p>
            <a:pPr marL="0" indent="0">
              <a:buNone/>
            </a:pPr>
            <a:r>
              <a:rPr lang="hu-HU" sz="2200" dirty="0"/>
              <a:t>Az elemzés lényege, hogy feltárja azokat a változásokat, amelyek a </a:t>
            </a:r>
            <a:r>
              <a:rPr lang="hu-HU" sz="2200" dirty="0" smtClean="0"/>
              <a:t>makro-környezet </a:t>
            </a:r>
            <a:r>
              <a:rPr lang="hu-HU" sz="2200" dirty="0"/>
              <a:t>jelenlegi és jövőbeni állapota között várhatók. Amennyiben a változásoknak többféle kimenetele is lehetséges, ajánlatos a </a:t>
            </a:r>
            <a:r>
              <a:rPr lang="hu-HU" sz="2200" b="1" dirty="0"/>
              <a:t>különböző hatásokról forgatókönyveket készíteni (optimista, pesszimista, </a:t>
            </a:r>
            <a:r>
              <a:rPr lang="hu-HU" sz="2200" b="1" dirty="0" smtClean="0"/>
              <a:t>realista</a:t>
            </a:r>
            <a:r>
              <a:rPr lang="hu-HU" sz="2200" dirty="0" smtClean="0"/>
              <a:t>).</a:t>
            </a:r>
            <a:endParaRPr lang="hu-HU" sz="22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elemzés - Makrókörnyezet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75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PESTEL elemzés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86485"/>
            <a:ext cx="11919859" cy="5665027"/>
          </a:xfrm>
        </p:spPr>
        <p:txBody>
          <a:bodyPr>
            <a:normAutofit/>
          </a:bodyPr>
          <a:lstStyle/>
          <a:p>
            <a:r>
              <a:rPr lang="hu-HU" b="1" dirty="0"/>
              <a:t>Politikai (</a:t>
            </a:r>
            <a:r>
              <a:rPr lang="hu-HU" b="1" dirty="0" err="1"/>
              <a:t>Political</a:t>
            </a:r>
            <a:r>
              <a:rPr lang="hu-HU" b="1" dirty="0"/>
              <a:t>) </a:t>
            </a:r>
            <a:r>
              <a:rPr lang="hu-HU" dirty="0"/>
              <a:t>– politikai környezet stabilitása, adózási politika, kereskedelmi egyezmények, külkereskedelmi szabályozások, szociálpolitika</a:t>
            </a:r>
          </a:p>
          <a:p>
            <a:r>
              <a:rPr lang="hu-HU" b="1" dirty="0"/>
              <a:t>Gazdasági (</a:t>
            </a:r>
            <a:r>
              <a:rPr lang="hu-HU" b="1" dirty="0" err="1"/>
              <a:t>Economic</a:t>
            </a:r>
            <a:r>
              <a:rPr lang="hu-HU" b="1" dirty="0"/>
              <a:t>) </a:t>
            </a:r>
            <a:r>
              <a:rPr lang="hu-HU" dirty="0"/>
              <a:t>– gazdasági növekedés üteme, infláció, kamatláb, GDP alakulása, árfolyampolitika, munkanélküliség, rendelkezésre álló jövedelem</a:t>
            </a:r>
          </a:p>
          <a:p>
            <a:r>
              <a:rPr lang="hu-HU" b="1" dirty="0"/>
              <a:t>Társadalmi (</a:t>
            </a:r>
            <a:r>
              <a:rPr lang="hu-HU" b="1" dirty="0" err="1"/>
              <a:t>Social</a:t>
            </a:r>
            <a:r>
              <a:rPr lang="hu-HU" b="1" dirty="0"/>
              <a:t>) </a:t>
            </a:r>
            <a:r>
              <a:rPr lang="hu-HU" dirty="0"/>
              <a:t>– életmód változás, jövedelemelosztás, demográfiai folyamatok, társadalmi mobilitás, fogyasztási szokások, képzettségi szint, munka-magánélet aránya</a:t>
            </a:r>
          </a:p>
          <a:p>
            <a:r>
              <a:rPr lang="hu-HU" sz="2400" b="1" dirty="0"/>
              <a:t>Technológiai (</a:t>
            </a:r>
            <a:r>
              <a:rPr lang="hu-HU" sz="2400" b="1" dirty="0" err="1"/>
              <a:t>Technological</a:t>
            </a:r>
            <a:r>
              <a:rPr lang="hu-HU" sz="2400" b="1" dirty="0"/>
              <a:t>) </a:t>
            </a:r>
            <a:r>
              <a:rPr lang="hu-HU" sz="2400" dirty="0"/>
              <a:t>– technológia jelentősége az iparágban, </a:t>
            </a:r>
            <a:r>
              <a:rPr lang="hu-HU" sz="2400" dirty="0" smtClean="0"/>
              <a:t>helyi és kormányzati </a:t>
            </a:r>
            <a:r>
              <a:rPr lang="hu-HU" sz="2400" dirty="0"/>
              <a:t>szinten, technológiai fejlettség szintje, fejlesztési támogatások mértéke, innovációk/fejlesztések, technológia-transzfer sebessége, elavulási sebesség</a:t>
            </a:r>
          </a:p>
          <a:p>
            <a:r>
              <a:rPr lang="hu-HU" sz="2400" b="1" dirty="0"/>
              <a:t>Természeti (</a:t>
            </a:r>
            <a:r>
              <a:rPr lang="hu-HU" sz="2400" b="1" dirty="0" err="1"/>
              <a:t>Environmental</a:t>
            </a:r>
            <a:r>
              <a:rPr lang="hu-HU" sz="2400" b="1" dirty="0"/>
              <a:t>) </a:t>
            </a:r>
            <a:r>
              <a:rPr lang="hu-HU" sz="2400" dirty="0"/>
              <a:t>– </a:t>
            </a:r>
            <a:r>
              <a:rPr lang="hu-HU" sz="2400" dirty="0" smtClean="0"/>
              <a:t>környezettudatosság, </a:t>
            </a:r>
            <a:r>
              <a:rPr lang="hu-HU" sz="2400" dirty="0"/>
              <a:t>hulladékeltávolítással és energia-fogyasztással kapcsolatos </a:t>
            </a:r>
            <a:r>
              <a:rPr lang="hu-HU" sz="2400" dirty="0" smtClean="0"/>
              <a:t>szokások és kockázatok, </a:t>
            </a:r>
            <a:r>
              <a:rPr lang="hu-HU" sz="2400" dirty="0"/>
              <a:t>környezetvédelmi szervezetek (pl. Greenpeace) </a:t>
            </a:r>
            <a:r>
              <a:rPr lang="hu-HU" sz="2400" dirty="0" smtClean="0"/>
              <a:t>tevékenysége, természeti környezet állapota</a:t>
            </a:r>
            <a:endParaRPr lang="hu-HU" sz="2400" dirty="0"/>
          </a:p>
          <a:p>
            <a:r>
              <a:rPr lang="hu-HU" sz="2400" b="1" dirty="0"/>
              <a:t>Jogi (</a:t>
            </a:r>
            <a:r>
              <a:rPr lang="hu-HU" sz="2400" b="1" dirty="0" err="1"/>
              <a:t>Legal</a:t>
            </a:r>
            <a:r>
              <a:rPr lang="hu-HU" sz="2400" b="1" dirty="0"/>
              <a:t>) </a:t>
            </a:r>
            <a:r>
              <a:rPr lang="hu-HU" sz="2400" dirty="0"/>
              <a:t>– versenyjogi törvények, tulajdon jogi törvények, fogyasztóvédelmi előírások, foglalkoztatási törvények, biztonsági törvények</a:t>
            </a:r>
            <a:endParaRPr lang="hu-HU" sz="32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elemzés - Makrókörnyezet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15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PORTER – Gyémánt modell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86485"/>
            <a:ext cx="12055930" cy="5665027"/>
          </a:xfrm>
        </p:spPr>
        <p:txBody>
          <a:bodyPr>
            <a:normAutofit/>
          </a:bodyPr>
          <a:lstStyle/>
          <a:p>
            <a:r>
              <a:rPr lang="hu-HU" dirty="0" err="1"/>
              <a:t>Porter</a:t>
            </a:r>
            <a:r>
              <a:rPr lang="hu-HU" dirty="0"/>
              <a:t> szerint a stabil gazdasági, politikai, jogi környezet szükséges, de nem elégséges feltétele a versenyképességnek. Egy ország/régió/iparág/vállalat versenyképességét a makrókörnyezeti tényezőkön kívül olyan mikrokörnyezeti tényezők is meghatározzák, mint a ott működő vállalatok stratégiáinak kifinomultsága, vagy a versengés terét képező iparág strukturális feltételei. </a:t>
            </a:r>
          </a:p>
          <a:p>
            <a:r>
              <a:rPr lang="hu-HU" dirty="0"/>
              <a:t>A gyémánt modell a nemzetgazdasági környezetet négy tényező szerint csoportosítja: </a:t>
            </a:r>
          </a:p>
          <a:p>
            <a:pPr marL="457200" lvl="1" indent="0">
              <a:buNone/>
            </a:pPr>
            <a:r>
              <a:rPr lang="hu-HU" b="1" dirty="0" smtClean="0"/>
              <a:t>- Termelési tényezők (</a:t>
            </a:r>
            <a:r>
              <a:rPr lang="hu-HU" b="1" dirty="0"/>
              <a:t>inputtényezők) minősége</a:t>
            </a:r>
            <a:r>
              <a:rPr lang="hu-HU" dirty="0"/>
              <a:t>, </a:t>
            </a:r>
          </a:p>
          <a:p>
            <a:pPr marL="457200" lvl="1" indent="0">
              <a:buNone/>
            </a:pPr>
            <a:r>
              <a:rPr lang="hu-HU" b="1" dirty="0" smtClean="0"/>
              <a:t>- Vállalati </a:t>
            </a:r>
            <a:r>
              <a:rPr lang="hu-HU" b="1" dirty="0"/>
              <a:t>stratégia és versenyképesség kontextusa</a:t>
            </a:r>
            <a:r>
              <a:rPr lang="hu-HU" dirty="0"/>
              <a:t>, </a:t>
            </a:r>
          </a:p>
          <a:p>
            <a:pPr marL="457200" lvl="1" indent="0">
              <a:buNone/>
            </a:pPr>
            <a:r>
              <a:rPr lang="hu-HU" b="1" dirty="0" smtClean="0"/>
              <a:t>- Helyi </a:t>
            </a:r>
            <a:r>
              <a:rPr lang="hu-HU" b="1" dirty="0"/>
              <a:t>keresleti tényezők </a:t>
            </a:r>
            <a:r>
              <a:rPr lang="hu-HU" b="1" dirty="0" smtClean="0"/>
              <a:t>minősége </a:t>
            </a:r>
            <a:r>
              <a:rPr lang="hu-HU" dirty="0" smtClean="0"/>
              <a:t>(kereslet </a:t>
            </a:r>
            <a:r>
              <a:rPr lang="hu-HU" dirty="0"/>
              <a:t>összetétele és karaktere), </a:t>
            </a:r>
          </a:p>
          <a:p>
            <a:pPr marL="457200" lvl="1" indent="0">
              <a:buNone/>
            </a:pPr>
            <a:r>
              <a:rPr lang="hu-HU" b="1" dirty="0" smtClean="0"/>
              <a:t>- Kapcsolódó </a:t>
            </a:r>
            <a:r>
              <a:rPr lang="hu-HU" b="1" dirty="0"/>
              <a:t>és támogató iparágak létezése </a:t>
            </a:r>
            <a:r>
              <a:rPr lang="hu-HU" dirty="0"/>
              <a:t>(vállalatok, iparági klaszterek, helyi beszállítók) </a:t>
            </a:r>
            <a:r>
              <a:rPr lang="hu-HU" dirty="0" smtClean="0"/>
              <a:t/>
            </a:r>
            <a:br>
              <a:rPr lang="hu-HU" dirty="0" smtClean="0"/>
            </a:br>
            <a:endParaRPr lang="hu-HU" dirty="0"/>
          </a:p>
          <a:p>
            <a:r>
              <a:rPr lang="hu-HU" b="1" dirty="0"/>
              <a:t>Klaszternek </a:t>
            </a:r>
            <a:r>
              <a:rPr lang="hu-HU" dirty="0"/>
              <a:t>nevezzük a földrajzilag egymáshoz közel álló, hasonló vagy kiegészítő tevékenységük révén összekapcsolódó vállalatokat, beszállítókat, szolgáltatókat és intézményeket. (</a:t>
            </a:r>
            <a:r>
              <a:rPr lang="hu-HU" dirty="0" err="1"/>
              <a:t>Porter</a:t>
            </a:r>
            <a:r>
              <a:rPr lang="hu-HU" dirty="0"/>
              <a:t>, 2004)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elemzés - Makrókörnyezet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65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Iparági környezet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86485"/>
            <a:ext cx="11919859" cy="5665027"/>
          </a:xfrm>
        </p:spPr>
        <p:txBody>
          <a:bodyPr>
            <a:normAutofit/>
          </a:bodyPr>
          <a:lstStyle/>
          <a:p>
            <a:r>
              <a:rPr lang="hu-HU" dirty="0"/>
              <a:t>Iparágnak nevezzük az azonos vagy egymással közvetlenül helyettesíthető termékeket/szolgáltatásokat előállító vállalatok csoportját</a:t>
            </a:r>
          </a:p>
          <a:p>
            <a:r>
              <a:rPr lang="hu-HU" dirty="0"/>
              <a:t>Az egyes iparágakat általában több vállalat együttesen alkotja, de lehetséges, hogy egy vállalat képviseli az iparágat. (pl. energiaszolgáltatás)</a:t>
            </a:r>
          </a:p>
          <a:p>
            <a:r>
              <a:rPr lang="hu-HU" dirty="0"/>
              <a:t>Iparág-elemzés lépései: </a:t>
            </a:r>
          </a:p>
          <a:p>
            <a:pPr marL="457200" lvl="1" indent="0">
              <a:buNone/>
            </a:pPr>
            <a:r>
              <a:rPr lang="hu-HU" dirty="0" smtClean="0"/>
              <a:t>- A </a:t>
            </a:r>
            <a:r>
              <a:rPr lang="hu-HU" dirty="0"/>
              <a:t>vállalat számára releváns iparág határainak </a:t>
            </a:r>
            <a:r>
              <a:rPr lang="hu-HU" dirty="0" smtClean="0"/>
              <a:t>feltérképezése, </a:t>
            </a:r>
            <a:endParaRPr lang="hu-HU" dirty="0"/>
          </a:p>
          <a:p>
            <a:pPr marL="457200" lvl="1" indent="0">
              <a:buNone/>
            </a:pPr>
            <a:r>
              <a:rPr lang="hu-HU" dirty="0" smtClean="0"/>
              <a:t>- Iparág </a:t>
            </a:r>
            <a:r>
              <a:rPr lang="hu-HU" dirty="0"/>
              <a:t>struktúrájának elemzése, </a:t>
            </a:r>
          </a:p>
          <a:p>
            <a:pPr marL="457200" lvl="1" indent="0">
              <a:buNone/>
            </a:pPr>
            <a:r>
              <a:rPr lang="hu-HU" dirty="0" smtClean="0"/>
              <a:t>- Közvetlen </a:t>
            </a:r>
            <a:r>
              <a:rPr lang="hu-HU" dirty="0"/>
              <a:t>versenykörnyezet elemzése (strukturális elemzés az iparágon belül</a:t>
            </a:r>
            <a:r>
              <a:rPr lang="hu-HU" dirty="0" smtClean="0"/>
              <a:t>).</a:t>
            </a:r>
            <a:endParaRPr lang="hu-HU" dirty="0"/>
          </a:p>
          <a:p>
            <a:endParaRPr lang="hu-HU" b="1" dirty="0"/>
          </a:p>
          <a:p>
            <a:r>
              <a:rPr lang="hu-HU" b="1" dirty="0"/>
              <a:t>Iparági konvergenciának </a:t>
            </a:r>
            <a:r>
              <a:rPr lang="hu-HU" dirty="0"/>
              <a:t>nevezzük azt a folyamatot, amikor a korábban különálló iparágak egyre több, nagyobb átfedést mutatnak az alkalmazott technológiák, tevékenységek, termékek és vevők viszonylatában </a:t>
            </a:r>
            <a:r>
              <a:rPr lang="hu-HU" sz="1800" dirty="0"/>
              <a:t>(</a:t>
            </a:r>
            <a:r>
              <a:rPr lang="hu-HU" sz="1800" dirty="0" err="1"/>
              <a:t>Johnsons-Scholes-Wittington</a:t>
            </a:r>
            <a:r>
              <a:rPr lang="hu-HU" sz="1800" dirty="0"/>
              <a:t>, 2006)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elemzés – Iparági környezet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32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Porter</a:t>
            </a:r>
            <a:r>
              <a:rPr lang="hu-HU" dirty="0"/>
              <a:t> </a:t>
            </a:r>
            <a:r>
              <a:rPr lang="hu-HU" dirty="0" smtClean="0"/>
              <a:t>- 5 </a:t>
            </a:r>
            <a:r>
              <a:rPr lang="hu-HU" dirty="0"/>
              <a:t>erő modell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86485"/>
            <a:ext cx="11919859" cy="5665027"/>
          </a:xfrm>
        </p:spPr>
        <p:txBody>
          <a:bodyPr>
            <a:normAutofit/>
          </a:bodyPr>
          <a:lstStyle/>
          <a:p>
            <a:r>
              <a:rPr lang="hu-HU" dirty="0"/>
              <a:t>Minden szereplő fenyegető erőként hat az adott vállalatra, azonban az </a:t>
            </a:r>
            <a:r>
              <a:rPr lang="hu-HU" b="1" dirty="0"/>
              <a:t>iparágon belüli pozíció pontos megfogalmazása </a:t>
            </a:r>
            <a:r>
              <a:rPr lang="hu-HU" dirty="0"/>
              <a:t>segíti a vállalkozás működését</a:t>
            </a:r>
          </a:p>
          <a:p>
            <a:r>
              <a:rPr lang="hu-HU" sz="2800" u="sng" dirty="0"/>
              <a:t>5 </a:t>
            </a:r>
            <a:r>
              <a:rPr lang="hu-HU" sz="2800" u="sng" dirty="0" smtClean="0"/>
              <a:t>fenyegetettség: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- </a:t>
            </a:r>
            <a:r>
              <a:rPr lang="hu-HU" b="1" dirty="0"/>
              <a:t>új belépők</a:t>
            </a:r>
            <a:br>
              <a:rPr lang="hu-HU" b="1" dirty="0"/>
            </a:br>
            <a:r>
              <a:rPr lang="hu-HU" b="1" dirty="0"/>
              <a:t>- helyettesítő termékek és szolgáltatások</a:t>
            </a:r>
            <a:br>
              <a:rPr lang="hu-HU" b="1" dirty="0"/>
            </a:br>
            <a:r>
              <a:rPr lang="hu-HU" b="1" dirty="0"/>
              <a:t>- vásárlók alkuereje</a:t>
            </a:r>
            <a:br>
              <a:rPr lang="hu-HU" b="1" dirty="0"/>
            </a:br>
            <a:r>
              <a:rPr lang="hu-HU" b="1" dirty="0"/>
              <a:t>- beszállítók alkuereje</a:t>
            </a:r>
            <a:br>
              <a:rPr lang="hu-HU" b="1" dirty="0"/>
            </a:br>
            <a:r>
              <a:rPr lang="hu-HU" b="1" dirty="0"/>
              <a:t>- iparági verseny intenzitása</a:t>
            </a:r>
          </a:p>
          <a:p>
            <a:r>
              <a:rPr lang="hu-HU" dirty="0"/>
              <a:t>Az </a:t>
            </a:r>
            <a:r>
              <a:rPr lang="hu-HU" b="1" dirty="0"/>
              <a:t>iparágat jellemző </a:t>
            </a:r>
            <a:r>
              <a:rPr lang="hu-HU" dirty="0"/>
              <a:t>további fontos tényezők: </a:t>
            </a:r>
          </a:p>
          <a:p>
            <a:pPr marL="457200" lvl="1" indent="0">
              <a:buNone/>
            </a:pPr>
            <a:r>
              <a:rPr lang="hu-HU" dirty="0" smtClean="0"/>
              <a:t>- koncentráció </a:t>
            </a:r>
            <a:r>
              <a:rPr lang="hu-HU" dirty="0"/>
              <a:t>(hány vállalat uralja a piacot), </a:t>
            </a:r>
          </a:p>
          <a:p>
            <a:pPr marL="457200" lvl="1" indent="0">
              <a:buNone/>
            </a:pPr>
            <a:r>
              <a:rPr lang="hu-HU" dirty="0" smtClean="0"/>
              <a:t>- </a:t>
            </a:r>
            <a:r>
              <a:rPr lang="hu-HU" dirty="0" err="1" smtClean="0"/>
              <a:t>economic</a:t>
            </a:r>
            <a:r>
              <a:rPr lang="hu-HU" dirty="0" smtClean="0"/>
              <a:t> </a:t>
            </a:r>
            <a:r>
              <a:rPr lang="hu-HU" dirty="0"/>
              <a:t>of </a:t>
            </a:r>
            <a:r>
              <a:rPr lang="hu-HU" dirty="0" err="1"/>
              <a:t>scale</a:t>
            </a:r>
            <a:r>
              <a:rPr lang="hu-HU" dirty="0"/>
              <a:t> (mennyire meghatározó a termelés méretéből fakadó előnyök), </a:t>
            </a:r>
          </a:p>
          <a:p>
            <a:pPr marL="457200" lvl="1" indent="0">
              <a:buNone/>
            </a:pPr>
            <a:r>
              <a:rPr lang="hu-HU" dirty="0" smtClean="0"/>
              <a:t>- a </a:t>
            </a:r>
            <a:r>
              <a:rPr lang="hu-HU" dirty="0"/>
              <a:t>termékek megkülönböztethetősége, </a:t>
            </a:r>
          </a:p>
          <a:p>
            <a:pPr marL="457200" lvl="1" indent="0">
              <a:buNone/>
            </a:pPr>
            <a:r>
              <a:rPr lang="hu-HU" dirty="0" smtClean="0"/>
              <a:t>- a </a:t>
            </a:r>
            <a:r>
              <a:rPr lang="hu-HU" dirty="0"/>
              <a:t>piacra lépés korlátai  </a:t>
            </a:r>
          </a:p>
          <a:p>
            <a:pPr marL="457200" lvl="1" indent="0">
              <a:buNone/>
            </a:pPr>
            <a:r>
              <a:rPr lang="hu-HU" dirty="0" smtClean="0"/>
              <a:t>- a </a:t>
            </a:r>
            <a:r>
              <a:rPr lang="hu-HU" dirty="0"/>
              <a:t>növekedés várható üteme.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elemzés – Iparági környezet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53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Iparági élet-ciklus modell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63" y="1370013"/>
            <a:ext cx="3622258" cy="5665027"/>
          </a:xfrm>
        </p:spPr>
        <p:txBody>
          <a:bodyPr>
            <a:normAutofit/>
          </a:bodyPr>
          <a:lstStyle/>
          <a:p>
            <a:r>
              <a:rPr lang="hu-HU" dirty="0"/>
              <a:t>Az adott iparág termék szakaszainak elemzése</a:t>
            </a:r>
          </a:p>
          <a:p>
            <a:r>
              <a:rPr lang="hu-HU" dirty="0"/>
              <a:t>Az adott szakaszokhoz való alkalmazkodás</a:t>
            </a:r>
          </a:p>
          <a:p>
            <a:r>
              <a:rPr lang="hu-HU" dirty="0"/>
              <a:t>Az adott szakaszokban történő lépések meghatározása a vállalati stratégia alapján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elemzés – Iparági környezet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xmlns="" id="{3C061847-9B1C-4C37-A6BA-B79C54172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474" y="1265463"/>
            <a:ext cx="7505164" cy="5358866"/>
          </a:xfrm>
          <a:prstGeom prst="rect">
            <a:avLst/>
          </a:prstGeom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536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Stratégiai csoport-elemzés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4534"/>
            <a:ext cx="11919859" cy="5290299"/>
          </a:xfrm>
        </p:spPr>
        <p:txBody>
          <a:bodyPr>
            <a:normAutofit lnSpcReduction="10000"/>
          </a:bodyPr>
          <a:lstStyle/>
          <a:p>
            <a:r>
              <a:rPr lang="hu-HU" dirty="0"/>
              <a:t>Stratégiai csoport az iparág vállalatainak azon köre, amelynek tagjai hasonló vagy azonos stratégiát követnek, azonos piaci szegmensek kiszolgálásával és közel azonos források, illetve eszközök felhasználásával, hasonló módon reagálnak a piaci lehetőségekre és veszélyekre </a:t>
            </a:r>
            <a:r>
              <a:rPr lang="hu-HU" sz="1800" dirty="0"/>
              <a:t>(</a:t>
            </a:r>
            <a:r>
              <a:rPr lang="hu-HU" sz="1800" dirty="0" err="1"/>
              <a:t>Porter</a:t>
            </a:r>
            <a:r>
              <a:rPr lang="hu-HU" sz="1800" dirty="0"/>
              <a:t>, 1980)</a:t>
            </a:r>
          </a:p>
          <a:p>
            <a:r>
              <a:rPr lang="hu-HU" dirty="0"/>
              <a:t>Meg kell vizsgálni, hogy a vállalatok </a:t>
            </a:r>
            <a:r>
              <a:rPr lang="hu-HU" b="1" dirty="0"/>
              <a:t>milyen iparági sikertényezőkre helyeznek hangsúlyt</a:t>
            </a:r>
            <a:r>
              <a:rPr lang="hu-HU" dirty="0"/>
              <a:t>. A hasonlóságok és eltérések elemzésével csoportosíthatóak az iparági szereplők, így képezhetőek stratégiai csoportok</a:t>
            </a:r>
          </a:p>
          <a:p>
            <a:r>
              <a:rPr lang="hu-HU" b="1" dirty="0"/>
              <a:t>Versenytárs-elemzés</a:t>
            </a:r>
            <a:r>
              <a:rPr lang="hu-HU" dirty="0"/>
              <a:t> a következő lépés a stratégiai csoport-elemzés után, mely legfontosabb kérdései:</a:t>
            </a:r>
          </a:p>
          <a:p>
            <a:pPr marL="457200" lvl="1" indent="0">
              <a:buNone/>
            </a:pPr>
            <a:r>
              <a:rPr lang="hu-HU" dirty="0" smtClean="0"/>
              <a:t>- Melyek </a:t>
            </a:r>
            <a:r>
              <a:rPr lang="hu-HU" dirty="0"/>
              <a:t>a versenytársak konkrét célkitűzései?</a:t>
            </a:r>
          </a:p>
          <a:p>
            <a:pPr marL="457200" lvl="1" indent="0">
              <a:buNone/>
            </a:pPr>
            <a:r>
              <a:rPr lang="hu-HU" dirty="0" smtClean="0"/>
              <a:t>- Milyen </a:t>
            </a:r>
            <a:r>
              <a:rPr lang="hu-HU" dirty="0"/>
              <a:t>stratégiát követnek jelenleg a versenytársak?</a:t>
            </a:r>
          </a:p>
          <a:p>
            <a:pPr marL="457200" lvl="1" indent="0">
              <a:buNone/>
            </a:pPr>
            <a:r>
              <a:rPr lang="hu-HU" dirty="0" smtClean="0"/>
              <a:t>- Milyen </a:t>
            </a:r>
            <a:r>
              <a:rPr lang="hu-HU" dirty="0"/>
              <a:t>feltevésekkel élnek a versenytársak az iparággal és saját magunkkal kapcsolatban? </a:t>
            </a:r>
          </a:p>
          <a:p>
            <a:pPr marL="457200" lvl="1" indent="0">
              <a:buNone/>
            </a:pPr>
            <a:r>
              <a:rPr lang="hu-HU" dirty="0" smtClean="0"/>
              <a:t>- Melyek </a:t>
            </a:r>
            <a:r>
              <a:rPr lang="hu-HU" dirty="0"/>
              <a:t>a versenytársaink legfontosabb erősségei és gyengeségei? </a:t>
            </a:r>
          </a:p>
          <a:p>
            <a:r>
              <a:rPr lang="hu-HU" dirty="0"/>
              <a:t>A versenytárs-elemzés során meg kell vizsgálni, hogy a versenytársak milyen erőforrásokat és képességeket birtokolnak, melyek az erősségeik és gyengeségeik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elemzés – Közvetlen versenykörnyezet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147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SWOT analízis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4534"/>
            <a:ext cx="3759881" cy="5290299"/>
          </a:xfrm>
        </p:spPr>
        <p:txBody>
          <a:bodyPr>
            <a:normAutofit lnSpcReduction="10000"/>
          </a:bodyPr>
          <a:lstStyle/>
          <a:p>
            <a:r>
              <a:rPr lang="hu-HU" dirty="0" smtClean="0"/>
              <a:t>A külső adottságok és a belső tényezők szétválasztása</a:t>
            </a:r>
          </a:p>
          <a:p>
            <a:r>
              <a:rPr lang="hu-HU" dirty="0" smtClean="0"/>
              <a:t>A </a:t>
            </a:r>
            <a:r>
              <a:rPr lang="hu-HU" dirty="0"/>
              <a:t>vállalat belső erősségeit, gyengeségeit és a külső lehetőségeket és fenyegetéseket vizsgálja</a:t>
            </a:r>
          </a:p>
          <a:p>
            <a:r>
              <a:rPr lang="hu-HU" dirty="0"/>
              <a:t>Célja, hogy a vállalat vezetése pontos képet kapjon a vállalat helyzetéről, képességeiről, lehetőségeiről</a:t>
            </a:r>
          </a:p>
          <a:p>
            <a:r>
              <a:rPr lang="hu-HU" dirty="0"/>
              <a:t>A stratégiai tervezés alapja a saját kompetenciáink és lehetőségeink, tökéletes ismerete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elemzés – Közvetlen versenykörnyezet</a:t>
            </a:r>
          </a:p>
        </p:txBody>
      </p:sp>
      <p:pic>
        <p:nvPicPr>
          <p:cNvPr id="3074" name="Picture 2" descr="SWOT elemzés. Mi a SWOT analízis és hogy hogyan alkalmazd">
            <a:extLst>
              <a:ext uri="{FF2B5EF4-FFF2-40B4-BE49-F238E27FC236}">
                <a16:creationId xmlns:a16="http://schemas.microsoft.com/office/drawing/2014/main" xmlns="" id="{CAE37282-6938-4AB7-AB56-067D29DC8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298" y="800449"/>
            <a:ext cx="8408789" cy="620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479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Vállalati kompetenciák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4534"/>
            <a:ext cx="11919859" cy="5290299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A vállalatok egyedi erőforrásokkal és képességekkel rendelkeznek, s ezek nehezen transzferálhatóak. Így a vállalatok a belső erőforrásaikra, képességeikre építő lehetőségeket keresik, és az alapvető képességeik alapján dolgozzák ki stratégiájukat, melynek célja a hosszú távon fenntartható versenyelőny kialakítása.</a:t>
            </a:r>
          </a:p>
          <a:p>
            <a:r>
              <a:rPr lang="hu-HU" dirty="0"/>
              <a:t>A rövid távú versenyelőny fenntartható versenyelőnnyé átalakításának garanciája az, hogy az erőforrások </a:t>
            </a:r>
            <a:r>
              <a:rPr lang="hu-HU" b="1" dirty="0"/>
              <a:t>heterogének</a:t>
            </a:r>
            <a:r>
              <a:rPr lang="hu-HU" dirty="0"/>
              <a:t>, és </a:t>
            </a:r>
            <a:r>
              <a:rPr lang="hu-HU" b="1" dirty="0"/>
              <a:t>nehezen másolhatók </a:t>
            </a:r>
            <a:r>
              <a:rPr lang="hu-HU" dirty="0"/>
              <a:t>legyenek. </a:t>
            </a:r>
          </a:p>
          <a:p>
            <a:r>
              <a:rPr lang="hu-HU" dirty="0"/>
              <a:t>A sikeres vállalatok esetében meghatározhatóak olyan alapképességek vagy kompetenciák, amelyekre építve a vállalat megelőzi versenytársait. </a:t>
            </a:r>
          </a:p>
          <a:p>
            <a:r>
              <a:rPr lang="hu-HU" dirty="0"/>
              <a:t>Az erőforrások és képességek tehát </a:t>
            </a:r>
            <a:r>
              <a:rPr lang="hu-HU" b="1" dirty="0"/>
              <a:t>szorosan összefűződnek</a:t>
            </a:r>
          </a:p>
          <a:p>
            <a:r>
              <a:rPr lang="hu-HU" b="1" dirty="0"/>
              <a:t>A képességek, h</a:t>
            </a:r>
            <a:r>
              <a:rPr lang="hu-HU" b="1" dirty="0" smtClean="0"/>
              <a:t>ozzáférést </a:t>
            </a:r>
            <a:r>
              <a:rPr lang="hu-HU" b="1" dirty="0"/>
              <a:t>biztosítanak a különböző piacokhoz,</a:t>
            </a:r>
          </a:p>
          <a:p>
            <a:pPr marL="457200" lvl="1" indent="0">
              <a:buNone/>
            </a:pPr>
            <a:r>
              <a:rPr lang="hu-HU" dirty="0" smtClean="0"/>
              <a:t>- Jelentősen </a:t>
            </a:r>
            <a:r>
              <a:rPr lang="hu-HU" dirty="0"/>
              <a:t>hozzájárulnak a fogyasztóknak nyújtott értékhez,</a:t>
            </a:r>
          </a:p>
          <a:p>
            <a:pPr marL="457200" lvl="1" indent="0">
              <a:buNone/>
            </a:pPr>
            <a:r>
              <a:rPr lang="hu-HU" dirty="0" smtClean="0"/>
              <a:t>- Egyediek</a:t>
            </a:r>
            <a:r>
              <a:rPr lang="hu-HU" dirty="0"/>
              <a:t>, nehezen másolhatóak,</a:t>
            </a:r>
          </a:p>
          <a:p>
            <a:pPr marL="457200" lvl="1" indent="0">
              <a:buNone/>
            </a:pPr>
            <a:r>
              <a:rPr lang="hu-HU" dirty="0" smtClean="0"/>
              <a:t>- Egyedi </a:t>
            </a:r>
            <a:r>
              <a:rPr lang="hu-HU" dirty="0"/>
              <a:t>készségek és technológiák,</a:t>
            </a:r>
          </a:p>
          <a:p>
            <a:pPr marL="457200" lvl="1" indent="0">
              <a:buNone/>
            </a:pPr>
            <a:r>
              <a:rPr lang="hu-HU" dirty="0" smtClean="0"/>
              <a:t>- Nem </a:t>
            </a:r>
            <a:r>
              <a:rPr lang="hu-HU" dirty="0"/>
              <a:t>termékspecifikusak (több termékben is alkalmazhatóak), tudást, szakértelmet képviselnek, amelyek idővel fejlődnek,</a:t>
            </a:r>
          </a:p>
          <a:p>
            <a:pPr marL="457200" lvl="1" indent="0">
              <a:buNone/>
            </a:pPr>
            <a:r>
              <a:rPr lang="hu-HU" dirty="0" smtClean="0"/>
              <a:t>- Megteremtik </a:t>
            </a:r>
            <a:r>
              <a:rPr lang="hu-HU" dirty="0"/>
              <a:t>a változásra és fejlődésre való nyitottságot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elemzés – Belső környezet elemzése 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318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Termék életgörbe </a:t>
            </a:r>
            <a:r>
              <a:rPr lang="hu-HU" dirty="0"/>
              <a:t>elemzés – BCG mátrix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elemzés – Belső környezet elemzése 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xmlns="" id="{8860C3AE-F4DE-4BB8-9DAF-482B7A817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7566154" cy="5287508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A modell segítségével eldönthetjük, hogy milyen üzletágakat vegyünk a portfóliónkba, és hogy milyen stratégiát kövessünk a különböző üzletágakkal kapcsolatban. </a:t>
            </a:r>
          </a:p>
          <a:p>
            <a:r>
              <a:rPr lang="hu-HU" dirty="0"/>
              <a:t>A BCG mátrix a vállalati portfóliót </a:t>
            </a:r>
            <a:r>
              <a:rPr lang="hu-HU" b="1" u="sng" dirty="0"/>
              <a:t>az üzletágak növekedési potenciálja és piaci részesedése alapján </a:t>
            </a:r>
            <a:r>
              <a:rPr lang="hu-HU" dirty="0"/>
              <a:t>értékeli. Alapfeltevése, hogy a piaci részesedés növelésére akkor van lehetőség, ha a piac növekszik, továbbá, hogy a domináns pozíció eléréséhez folyamatosan növelni kell a befektetéseket. </a:t>
            </a:r>
          </a:p>
          <a:p>
            <a:r>
              <a:rPr lang="hu-HU" dirty="0"/>
              <a:t>A két dimenzió mentén jellemezhető üzletágakat </a:t>
            </a:r>
            <a:r>
              <a:rPr lang="hu-HU" b="1" dirty="0"/>
              <a:t>a sztárok, fejőstehenek, kutyák, kérdőjelek,</a:t>
            </a:r>
            <a:r>
              <a:rPr lang="hu-HU" dirty="0"/>
              <a:t> fogalmakkal jelölik, és az egyes típusokhoz kapcsolódóan a kiépítés, fenntartás, szüretelés, kivonulás stratégiák közül választhatunk. </a:t>
            </a:r>
          </a:p>
          <a:p>
            <a:endParaRPr lang="hu-HU" dirty="0"/>
          </a:p>
          <a:p>
            <a:r>
              <a:rPr lang="hu-HU" dirty="0"/>
              <a:t>A leegyszerűsítés a BCG mátrix egyik legfőbb </a:t>
            </a:r>
            <a:r>
              <a:rPr lang="hu-HU" dirty="0" smtClean="0"/>
              <a:t>hibája. </a:t>
            </a:r>
            <a:r>
              <a:rPr lang="hu-HU" dirty="0"/>
              <a:t>A piacnak csak a </a:t>
            </a:r>
            <a:r>
              <a:rPr lang="hu-HU" dirty="0" smtClean="0"/>
              <a:t>jelenlegi </a:t>
            </a:r>
            <a:r>
              <a:rPr lang="hu-HU" dirty="0"/>
              <a:t>helyzetét mutatja, és csupán a két tengely mentén vizsgálja a termékeket, nem vesz figyelembe más tényezőket</a:t>
            </a:r>
          </a:p>
        </p:txBody>
      </p:sp>
      <p:pic>
        <p:nvPicPr>
          <p:cNvPr id="4100" name="Picture 4" descr="BCG Matrix EXPLAINED with EXAMPLES | B2U | Business-to-you.com">
            <a:extLst>
              <a:ext uri="{FF2B5EF4-FFF2-40B4-BE49-F238E27FC236}">
                <a16:creationId xmlns:a16="http://schemas.microsoft.com/office/drawing/2014/main" xmlns="" id="{C8E169C6-7336-49F1-B07E-9A413B160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705" y="1341330"/>
            <a:ext cx="4456224" cy="428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7627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Életgörbe elemzés – BCG mátrix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elemzés – Belső környezet elemzése 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xmlns="" id="{8860C3AE-F4DE-4BB8-9DAF-482B7A817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6988061" cy="5264148"/>
          </a:xfrm>
        </p:spPr>
        <p:txBody>
          <a:bodyPr>
            <a:normAutofit fontScale="92500" lnSpcReduction="10000"/>
          </a:bodyPr>
          <a:lstStyle/>
          <a:p>
            <a:r>
              <a:rPr lang="hu-HU" b="1" dirty="0"/>
              <a:t>Kérdőjelek</a:t>
            </a:r>
          </a:p>
          <a:p>
            <a:pPr marL="457200" lvl="1" indent="0">
              <a:buNone/>
            </a:pPr>
            <a:r>
              <a:rPr lang="hu-HU" dirty="0"/>
              <a:t>Alacsony piaci részesedés, azonban gyors növekedés. A megfelelő vállalati lépésekkel a termék sztárrá válhat</a:t>
            </a:r>
          </a:p>
          <a:p>
            <a:r>
              <a:rPr lang="hu-HU" b="1" dirty="0"/>
              <a:t>Sztárok</a:t>
            </a:r>
          </a:p>
          <a:p>
            <a:pPr marL="457200" lvl="1" indent="0">
              <a:buNone/>
            </a:pPr>
            <a:r>
              <a:rPr lang="hu-HU" dirty="0"/>
              <a:t>Magas piaci részesedés, gyors növekedés. Ez a legjobb pozíció, legtöbb esetben a sztárok határozzák meg a vállalati profil magját. A vállalat a szinten tartást vagy a tovább növekedést is választhatja</a:t>
            </a:r>
          </a:p>
          <a:p>
            <a:r>
              <a:rPr lang="hu-HU" b="1" dirty="0"/>
              <a:t>Fejőstehenek</a:t>
            </a:r>
          </a:p>
          <a:p>
            <a:pPr marL="457200" lvl="1" indent="0">
              <a:buNone/>
            </a:pPr>
            <a:r>
              <a:rPr lang="hu-HU" dirty="0"/>
              <a:t>Magas piaci részesedés, alacsony növekedés. Korábbi sztárokból jön létre. A vállalat a további értékesítést vagy a piacról való korai visszavonulást is választhatja</a:t>
            </a:r>
          </a:p>
          <a:p>
            <a:r>
              <a:rPr lang="hu-HU" b="1" dirty="0"/>
              <a:t>Döglött kutyák</a:t>
            </a:r>
          </a:p>
          <a:p>
            <a:pPr marL="457200" lvl="1" indent="0">
              <a:buNone/>
            </a:pPr>
            <a:r>
              <a:rPr lang="hu-HU" dirty="0"/>
              <a:t>Alacsony részesedés, alacsony növekedés. Kedvezőtlen pozíció. A termék piacról való kivonása történik általában</a:t>
            </a: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131" y="1601558"/>
            <a:ext cx="4873286" cy="4376161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315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Alapvető adaptációs stratégiák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xmlns="" id="{8860C3AE-F4DE-4BB8-9DAF-482B7A817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69" y="1457325"/>
            <a:ext cx="11579677" cy="5264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Miles és </a:t>
            </a:r>
            <a:r>
              <a:rPr lang="hu-HU" dirty="0" err="1"/>
              <a:t>Snow</a:t>
            </a:r>
            <a:r>
              <a:rPr lang="hu-HU" dirty="0"/>
              <a:t> (1978) kutatásai alapján a következőképpen osztályozhatjuk az adaptációs stratégiákat:</a:t>
            </a:r>
          </a:p>
          <a:p>
            <a:pPr lvl="1"/>
            <a:r>
              <a:rPr lang="hu-HU" b="1" dirty="0"/>
              <a:t>Kutató</a:t>
            </a:r>
            <a:r>
              <a:rPr lang="hu-HU" dirty="0"/>
              <a:t> (innováció) – folyamatosan új megoldásokat keresnek, szakadatlanul </a:t>
            </a:r>
            <a:r>
              <a:rPr lang="hu-HU" dirty="0" err="1"/>
              <a:t>innoválnak</a:t>
            </a:r>
            <a:r>
              <a:rPr lang="hu-HU" dirty="0"/>
              <a:t>, párhuzamos technológiai fejlesztéseket folytatnak. Kialakuló vagy felfutó iparágakban működnek</a:t>
            </a:r>
          </a:p>
          <a:p>
            <a:pPr lvl="1"/>
            <a:r>
              <a:rPr lang="hu-HU" b="1" dirty="0"/>
              <a:t>Védő </a:t>
            </a:r>
            <a:r>
              <a:rPr lang="hu-HU" dirty="0"/>
              <a:t>(konszolidáció) – egyetlen központi technológiát alkalmaznak, mely technológia hatékonysága jelenti a sikeresség alapját</a:t>
            </a:r>
          </a:p>
          <a:p>
            <a:pPr lvl="1"/>
            <a:r>
              <a:rPr lang="hu-HU" b="1" dirty="0"/>
              <a:t>Elemző</a:t>
            </a:r>
            <a:r>
              <a:rPr lang="hu-HU" dirty="0"/>
              <a:t> (kivárás) – kutató és védő pozíciók között egyensúlyoznak, néhány technológiát használva, de egyik mellett sem véglegesen elköteleződve</a:t>
            </a:r>
          </a:p>
          <a:p>
            <a:pPr lvl="1"/>
            <a:r>
              <a:rPr lang="hu-HU" b="1" dirty="0"/>
              <a:t>Reagáló</a:t>
            </a:r>
            <a:r>
              <a:rPr lang="hu-HU" dirty="0"/>
              <a:t> (sodródás) – a sodródó vállalatokra a késői reagálás, a trendek kései követése jellemző. Jól bejáratott (bázis) technológiákat alkalmaznak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3848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Általános verseny stratégiák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xmlns="" id="{8860C3AE-F4DE-4BB8-9DAF-482B7A817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69" y="1457325"/>
            <a:ext cx="11579677" cy="52641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dirty="0"/>
              <a:t>Lehetőséget teremtenek a konkurensek lekörözésére az ipari versenyben. Általában csak egy álláspontot képviselnek a siker érdekében. A vállalatok akár több stratégiát is integrálhatnak a siker érdekében</a:t>
            </a:r>
          </a:p>
          <a:p>
            <a:r>
              <a:rPr lang="hu-HU" b="1" dirty="0"/>
              <a:t>Költségdiktáló</a:t>
            </a:r>
          </a:p>
          <a:p>
            <a:pPr marL="457200" lvl="1" indent="0">
              <a:buNone/>
            </a:pPr>
            <a:r>
              <a:rPr lang="hu-HU" dirty="0"/>
              <a:t>Tömegszerű termeléssel, optimalizálással és a veszteségek csökkentésével törekszik arra, hogy a lehető legalacsonyabb árat kínálja a piacon, ezzel előnyre szert téve és ellehetetlenítve az új belépőket. Hátránya a magas fix költségek és, hogy sok vevő az olcsóság és a minőségtelenség között egyértelmű párhuzamot von</a:t>
            </a:r>
          </a:p>
          <a:p>
            <a:r>
              <a:rPr lang="hu-HU" b="1" dirty="0"/>
              <a:t>Megkülönböztető</a:t>
            </a:r>
          </a:p>
          <a:p>
            <a:pPr marL="457200" lvl="1" indent="0">
              <a:buNone/>
            </a:pPr>
            <a:r>
              <a:rPr lang="hu-HU" dirty="0"/>
              <a:t>A megfelelő marketinggel és vevői hűség kiépítésével a vállalat teljesen elkülöníti termékét a piacon található többi opciótól. Ezáltal egy fajta monopol helyzetbe kerül amelyben szabadabban határozhatja meg az árakat</a:t>
            </a:r>
          </a:p>
          <a:p>
            <a:r>
              <a:rPr lang="hu-HU" b="1" dirty="0"/>
              <a:t>Összpontosító</a:t>
            </a:r>
          </a:p>
          <a:p>
            <a:pPr marL="457200" lvl="1" indent="0">
              <a:buNone/>
            </a:pPr>
            <a:r>
              <a:rPr lang="hu-HU" dirty="0"/>
              <a:t>Egy konkrét, nagy vállalatok által kevésbé kihasznált szegmensre fókuszál. Ezáltal személyre szabottabb termékekkel tehet szert a vállalat vevőkre. Hátránya a nehéz terjeszkedés és a kérdésesen realizálható profit a felvevő piac csupán egy adott szegmensének kiszolgálásából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31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Diverzifikáció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xmlns="" id="{8860C3AE-F4DE-4BB8-9DAF-482B7A817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265463"/>
            <a:ext cx="7319480" cy="4055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Az </a:t>
            </a:r>
            <a:r>
              <a:rPr lang="hu-HU" dirty="0" err="1"/>
              <a:t>Ansoff</a:t>
            </a:r>
            <a:r>
              <a:rPr lang="hu-HU" dirty="0"/>
              <a:t>-mátrix alapján egy vállalat 4 féleképpen terjeszkedhet,</a:t>
            </a:r>
          </a:p>
          <a:p>
            <a:pPr lvl="1"/>
            <a:r>
              <a:rPr lang="hu-HU" b="1" dirty="0"/>
              <a:t>Piackiaknázás</a:t>
            </a:r>
            <a:r>
              <a:rPr lang="hu-HU" dirty="0"/>
              <a:t> </a:t>
            </a:r>
            <a:r>
              <a:rPr lang="hu-HU" i="1" dirty="0"/>
              <a:t>– Meglévő piac, meglévő termék</a:t>
            </a:r>
          </a:p>
          <a:p>
            <a:pPr marL="914400" lvl="2" indent="0">
              <a:buNone/>
            </a:pPr>
            <a:r>
              <a:rPr lang="hu-HU" dirty="0" smtClean="0"/>
              <a:t>- Piaci </a:t>
            </a:r>
            <a:r>
              <a:rPr lang="hu-HU" dirty="0"/>
              <a:t>részesedés növekedése</a:t>
            </a:r>
          </a:p>
          <a:p>
            <a:pPr marL="914400" lvl="2" indent="0">
              <a:buNone/>
            </a:pPr>
            <a:r>
              <a:rPr lang="hu-HU" dirty="0" smtClean="0"/>
              <a:t>- A </a:t>
            </a:r>
            <a:r>
              <a:rPr lang="hu-HU" dirty="0"/>
              <a:t>felvevő piac természetes növekedése</a:t>
            </a:r>
          </a:p>
          <a:p>
            <a:pPr lvl="1"/>
            <a:r>
              <a:rPr lang="hu-HU" b="1" dirty="0"/>
              <a:t>Termék fejlesztés </a:t>
            </a:r>
            <a:r>
              <a:rPr lang="hu-HU" dirty="0"/>
              <a:t>– </a:t>
            </a:r>
            <a:r>
              <a:rPr lang="hu-HU" i="1" dirty="0"/>
              <a:t>Meglévő piac, új termék</a:t>
            </a:r>
          </a:p>
          <a:p>
            <a:pPr marL="914400" lvl="2" indent="0">
              <a:buNone/>
            </a:pPr>
            <a:r>
              <a:rPr lang="hu-HU" dirty="0" smtClean="0"/>
              <a:t>- Már </a:t>
            </a:r>
            <a:r>
              <a:rPr lang="hu-HU" dirty="0"/>
              <a:t>meglévő vevők számára új termék kínálása</a:t>
            </a:r>
          </a:p>
          <a:p>
            <a:pPr lvl="1"/>
            <a:r>
              <a:rPr lang="hu-HU" b="1" dirty="0"/>
              <a:t>Piac fejlesztés </a:t>
            </a:r>
            <a:r>
              <a:rPr lang="hu-HU" dirty="0"/>
              <a:t>– </a:t>
            </a:r>
            <a:r>
              <a:rPr lang="hu-HU" i="1" dirty="0"/>
              <a:t>Új piac, meglévő termék</a:t>
            </a:r>
          </a:p>
          <a:p>
            <a:pPr marL="914400" lvl="2" indent="0">
              <a:buNone/>
            </a:pPr>
            <a:r>
              <a:rPr lang="hu-HU" dirty="0" smtClean="0"/>
              <a:t>- Akár </a:t>
            </a:r>
            <a:r>
              <a:rPr lang="hu-HU" dirty="0"/>
              <a:t>nemzetközi terjeszkedés</a:t>
            </a:r>
          </a:p>
        </p:txBody>
      </p:sp>
      <p:sp>
        <p:nvSpPr>
          <p:cNvPr id="8" name="Tartalom helye 5">
            <a:extLst>
              <a:ext uri="{FF2B5EF4-FFF2-40B4-BE49-F238E27FC236}">
                <a16:creationId xmlns:a16="http://schemas.microsoft.com/office/drawing/2014/main" xmlns="" id="{7D4F7364-6BEF-46AF-9EA8-29685CDB0DFD}"/>
              </a:ext>
            </a:extLst>
          </p:cNvPr>
          <p:cNvSpPr txBox="1">
            <a:spLocks/>
          </p:cNvSpPr>
          <p:nvPr/>
        </p:nvSpPr>
        <p:spPr>
          <a:xfrm>
            <a:off x="63060" y="5501060"/>
            <a:ext cx="11607236" cy="1356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88944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8944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8944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8944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8944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u-HU" dirty="0"/>
          </a:p>
        </p:txBody>
      </p:sp>
      <p:sp>
        <p:nvSpPr>
          <p:cNvPr id="9" name="Tartalom helye 5">
            <a:extLst>
              <a:ext uri="{FF2B5EF4-FFF2-40B4-BE49-F238E27FC236}">
                <a16:creationId xmlns:a16="http://schemas.microsoft.com/office/drawing/2014/main" xmlns="" id="{3FCDD3B2-16F8-4514-AA1F-1893E002D95C}"/>
              </a:ext>
            </a:extLst>
          </p:cNvPr>
          <p:cNvSpPr txBox="1">
            <a:spLocks/>
          </p:cNvSpPr>
          <p:nvPr/>
        </p:nvSpPr>
        <p:spPr>
          <a:xfrm>
            <a:off x="63060" y="4688710"/>
            <a:ext cx="11709307" cy="216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88944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8944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8944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8944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8944D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b="1" dirty="0"/>
              <a:t>Diverzifikáció</a:t>
            </a:r>
            <a:r>
              <a:rPr lang="hu-HU" dirty="0"/>
              <a:t> – </a:t>
            </a:r>
            <a:r>
              <a:rPr lang="hu-HU" i="1" dirty="0"/>
              <a:t>Új piac, új termék</a:t>
            </a:r>
          </a:p>
          <a:p>
            <a:pPr marL="457200" lvl="1" indent="0">
              <a:buNone/>
            </a:pPr>
            <a:r>
              <a:rPr lang="hu-HU" dirty="0" smtClean="0"/>
              <a:t>- Horizontális</a:t>
            </a:r>
            <a:r>
              <a:rPr lang="hu-HU" sz="2000" dirty="0" smtClean="0"/>
              <a:t> </a:t>
            </a:r>
            <a:r>
              <a:rPr lang="hu-HU" sz="2000" dirty="0"/>
              <a:t>- </a:t>
            </a:r>
            <a:r>
              <a:rPr lang="hu-HU" sz="2000" b="0" i="0" dirty="0">
                <a:solidFill>
                  <a:srgbClr val="111115"/>
                </a:solidFill>
                <a:effectLst/>
              </a:rPr>
              <a:t>régi tevékenységi körhöz az új </a:t>
            </a:r>
            <a:r>
              <a:rPr lang="hu-HU" sz="2000" b="0" i="0" dirty="0" smtClean="0">
                <a:solidFill>
                  <a:srgbClr val="111115"/>
                </a:solidFill>
                <a:effectLst/>
              </a:rPr>
              <a:t>tevékenység </a:t>
            </a:r>
            <a:r>
              <a:rPr lang="hu-HU" sz="2000" b="0" i="0" dirty="0">
                <a:solidFill>
                  <a:srgbClr val="111115"/>
                </a:solidFill>
                <a:effectLst/>
              </a:rPr>
              <a:t>piaci és/vagy technológiai szempontból kapcsolódik</a:t>
            </a:r>
            <a:endParaRPr lang="hu-HU" sz="2000" dirty="0"/>
          </a:p>
          <a:p>
            <a:pPr marL="457200" lvl="1" indent="0">
              <a:buNone/>
            </a:pPr>
            <a:r>
              <a:rPr lang="hu-HU" sz="2000" dirty="0" smtClean="0"/>
              <a:t>- V</a:t>
            </a:r>
            <a:r>
              <a:rPr lang="hu-HU" dirty="0" smtClean="0"/>
              <a:t>ertikális</a:t>
            </a:r>
            <a:r>
              <a:rPr lang="hu-HU" sz="2000" dirty="0" smtClean="0"/>
              <a:t> </a:t>
            </a:r>
            <a:r>
              <a:rPr lang="hu-HU" sz="2000" dirty="0"/>
              <a:t>– a vállalat </a:t>
            </a:r>
            <a:r>
              <a:rPr lang="hu-HU" sz="2000" b="0" i="0" dirty="0">
                <a:solidFill>
                  <a:srgbClr val="111115"/>
                </a:solidFill>
                <a:effectLst/>
              </a:rPr>
              <a:t>eredeti tevékenységi körét </a:t>
            </a:r>
            <a:r>
              <a:rPr lang="hu-HU" sz="2000" b="0" i="0" dirty="0" smtClean="0">
                <a:solidFill>
                  <a:srgbClr val="111115"/>
                </a:solidFill>
                <a:effectLst/>
              </a:rPr>
              <a:t>a </a:t>
            </a:r>
            <a:r>
              <a:rPr lang="hu-HU" sz="2000" b="0" i="0" dirty="0">
                <a:solidFill>
                  <a:srgbClr val="111115"/>
                </a:solidFill>
                <a:effectLst/>
              </a:rPr>
              <a:t>termelés vagy szolgáltatás megelőző vagy követő fázisaival egészíti ki</a:t>
            </a:r>
            <a:endParaRPr lang="hu-HU" sz="2000" dirty="0"/>
          </a:p>
          <a:p>
            <a:pPr marL="457200" lvl="1" indent="0">
              <a:buNone/>
            </a:pPr>
            <a:r>
              <a:rPr lang="hu-HU" sz="2000" dirty="0" smtClean="0"/>
              <a:t>- </a:t>
            </a:r>
            <a:r>
              <a:rPr lang="hu-HU" dirty="0" smtClean="0"/>
              <a:t>Laterális</a:t>
            </a:r>
            <a:r>
              <a:rPr lang="hu-HU" sz="2000" dirty="0" smtClean="0"/>
              <a:t> </a:t>
            </a:r>
            <a:r>
              <a:rPr lang="hu-HU" sz="2000" dirty="0"/>
              <a:t>- </a:t>
            </a:r>
            <a:r>
              <a:rPr lang="pt-BR" sz="2000" b="0" i="0" dirty="0">
                <a:solidFill>
                  <a:srgbClr val="111115"/>
                </a:solidFill>
                <a:effectLst/>
              </a:rPr>
              <a:t>sem a piacok, sem a technológia oldaláról nem kapcsolódik</a:t>
            </a:r>
            <a:endParaRPr lang="hu-HU" sz="2000" dirty="0"/>
          </a:p>
        </p:txBody>
      </p:sp>
      <p:pic>
        <p:nvPicPr>
          <p:cNvPr id="10" name="Kép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110" y="84526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9946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87133" y="211136"/>
            <a:ext cx="11510284" cy="534587"/>
          </a:xfrm>
        </p:spPr>
        <p:txBody>
          <a:bodyPr>
            <a:normAutofit fontScale="90000"/>
          </a:bodyPr>
          <a:lstStyle/>
          <a:p>
            <a:r>
              <a:rPr lang="hu-HU" dirty="0"/>
              <a:t>Az </a:t>
            </a:r>
            <a:r>
              <a:rPr lang="hu-HU" dirty="0" err="1"/>
              <a:t>Ansoff-mátrix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>
          <a:xfrm flipV="1">
            <a:off x="205463" y="156410"/>
            <a:ext cx="11510284" cy="54726"/>
          </a:xfrm>
        </p:spPr>
        <p:txBody>
          <a:bodyPr>
            <a:normAutofit fontScale="25000" lnSpcReduction="20000"/>
          </a:bodyPr>
          <a:lstStyle/>
          <a:p>
            <a:endParaRPr lang="hu-HU" dirty="0"/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xmlns="" id="{620BC5E4-0A57-4D22-ABDE-2ABFAE7D9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664" y="800449"/>
            <a:ext cx="10144664" cy="5944385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1003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Nemzetközi stratégiák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xmlns="" id="{8860C3AE-F4DE-4BB8-9DAF-482B7A817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69" y="1457325"/>
            <a:ext cx="11579677" cy="5264148"/>
          </a:xfrm>
        </p:spPr>
        <p:txBody>
          <a:bodyPr>
            <a:normAutofit/>
          </a:bodyPr>
          <a:lstStyle/>
          <a:p>
            <a:r>
              <a:rPr lang="hu-HU" dirty="0"/>
              <a:t>A vállalatok dönthetnek úgy, hogy tevékenységükkel </a:t>
            </a:r>
            <a:r>
              <a:rPr lang="hu-HU" dirty="0" smtClean="0"/>
              <a:t>kilépnek </a:t>
            </a:r>
            <a:r>
              <a:rPr lang="hu-HU" dirty="0"/>
              <a:t>a külföldi piacra</a:t>
            </a:r>
          </a:p>
          <a:p>
            <a:r>
              <a:rPr lang="hu-HU" dirty="0"/>
              <a:t>A nemzetközi piacra lépés alapfeltétele a széleskörű elemzések elvégzése és a részletes terjeszkedési stratégia létrehozása. „A nemzetközi piac nem csak </a:t>
            </a:r>
            <a:r>
              <a:rPr lang="hu-HU" dirty="0" smtClean="0"/>
              <a:t>földrajzilag, </a:t>
            </a:r>
            <a:r>
              <a:rPr lang="hu-HU" dirty="0"/>
              <a:t>de a kultúra terén is távol eshet a vállalattól</a:t>
            </a:r>
            <a:r>
              <a:rPr lang="hu-HU" dirty="0" smtClean="0"/>
              <a:t>.”</a:t>
            </a:r>
          </a:p>
          <a:p>
            <a:r>
              <a:rPr lang="hu-HU" dirty="0" smtClean="0"/>
              <a:t>A </a:t>
            </a:r>
            <a:r>
              <a:rPr lang="hu-HU" dirty="0"/>
              <a:t>vállalatnak egy teljesen új környezetben, teljesen új szabályok között, új piaci versenyben, eltérő felvevő piac számára szolgáltatásokat nyújtva kell sikeresen működnie (Teljes környezeti elemzés elvégzése</a:t>
            </a:r>
            <a:r>
              <a:rPr lang="hu-HU" dirty="0" smtClean="0"/>
              <a:t>)</a:t>
            </a:r>
            <a:br>
              <a:rPr lang="hu-HU" dirty="0" smtClean="0"/>
            </a:br>
            <a:endParaRPr lang="hu-HU" dirty="0"/>
          </a:p>
          <a:p>
            <a:r>
              <a:rPr lang="hu-HU" dirty="0"/>
              <a:t>A nemzetközi piacra lépésnek az indokai lehetnek,</a:t>
            </a:r>
          </a:p>
          <a:p>
            <a:pPr marL="457200" lvl="1" indent="0">
              <a:buNone/>
            </a:pPr>
            <a:r>
              <a:rPr lang="hu-HU" b="1" dirty="0" smtClean="0"/>
              <a:t>- Piacszerzés</a:t>
            </a:r>
            <a:r>
              <a:rPr lang="hu-HU" dirty="0" smtClean="0"/>
              <a:t> </a:t>
            </a:r>
            <a:r>
              <a:rPr lang="hu-HU" dirty="0"/>
              <a:t>- Terjeszkedés</a:t>
            </a:r>
          </a:p>
          <a:p>
            <a:pPr marL="457200" lvl="1" indent="0">
              <a:buNone/>
            </a:pPr>
            <a:r>
              <a:rPr lang="hu-HU" b="1" dirty="0" smtClean="0"/>
              <a:t>- Erőforrás-szerzés</a:t>
            </a:r>
            <a:r>
              <a:rPr lang="hu-HU" dirty="0" smtClean="0"/>
              <a:t> </a:t>
            </a:r>
            <a:r>
              <a:rPr lang="hu-HU" dirty="0"/>
              <a:t>– Erőforrások elérhetőségének, felhasználásának optimalizálása</a:t>
            </a:r>
          </a:p>
          <a:p>
            <a:pPr marL="457200" lvl="1" indent="0">
              <a:buNone/>
            </a:pPr>
            <a:r>
              <a:rPr lang="hu-HU" b="1" dirty="0" smtClean="0"/>
              <a:t>- Hatékonyság </a:t>
            </a:r>
            <a:r>
              <a:rPr lang="hu-HU" b="1" dirty="0"/>
              <a:t>növelés </a:t>
            </a:r>
            <a:r>
              <a:rPr lang="hu-HU" dirty="0"/>
              <a:t>– Olcsóbb, precízebb, képzettebb munkaerő alkalmazása</a:t>
            </a:r>
          </a:p>
          <a:p>
            <a:pPr marL="457200" lvl="1" indent="0">
              <a:buNone/>
            </a:pPr>
            <a:r>
              <a:rPr lang="hu-HU" b="1" dirty="0" smtClean="0"/>
              <a:t>- Stratégiai </a:t>
            </a:r>
            <a:r>
              <a:rPr lang="hu-HU" b="1" dirty="0"/>
              <a:t>motiváció </a:t>
            </a:r>
            <a:r>
              <a:rPr lang="hu-HU" dirty="0"/>
              <a:t>– Vevők globálissá válása és versenytársak követése érdekében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31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Nemzetközi piacra lépés módjai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Stratégiai tervezés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xmlns="" id="{8860C3AE-F4DE-4BB8-9DAF-482B7A817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69" y="1457325"/>
            <a:ext cx="11823432" cy="5264148"/>
          </a:xfrm>
        </p:spPr>
        <p:txBody>
          <a:bodyPr>
            <a:normAutofit/>
          </a:bodyPr>
          <a:lstStyle/>
          <a:p>
            <a:r>
              <a:rPr lang="hu-HU" b="1" dirty="0"/>
              <a:t>Export</a:t>
            </a:r>
          </a:p>
          <a:p>
            <a:pPr marL="457200" lvl="1" indent="0">
              <a:buNone/>
            </a:pPr>
            <a:r>
              <a:rPr lang="hu-HU" dirty="0"/>
              <a:t>Nincs külföldi befektetés csak termék szállítás vagy Franchise</a:t>
            </a:r>
          </a:p>
          <a:p>
            <a:r>
              <a:rPr lang="hu-HU" b="1" dirty="0"/>
              <a:t>Stratégiai szövetség</a:t>
            </a:r>
          </a:p>
          <a:p>
            <a:pPr marL="457200" lvl="1" indent="0">
              <a:buNone/>
            </a:pPr>
            <a:r>
              <a:rPr lang="hu-HU" dirty="0"/>
              <a:t>Már meglévő vállalat megbízása a termeléssel</a:t>
            </a:r>
          </a:p>
          <a:p>
            <a:r>
              <a:rPr lang="hu-HU" b="1" dirty="0"/>
              <a:t>Saját leányvállalat alapítása</a:t>
            </a:r>
          </a:p>
          <a:p>
            <a:pPr marL="457200" lvl="1" indent="0">
              <a:buNone/>
            </a:pPr>
            <a:r>
              <a:rPr lang="hu-HU" dirty="0"/>
              <a:t>Közvetlen külföldi tőkebefektetés</a:t>
            </a:r>
          </a:p>
          <a:p>
            <a:r>
              <a:rPr lang="hu-HU" b="1" dirty="0"/>
              <a:t>Stratégia típusok</a:t>
            </a:r>
          </a:p>
          <a:p>
            <a:pPr marL="457200" lvl="1" indent="0">
              <a:buNone/>
            </a:pPr>
            <a:r>
              <a:rPr lang="hu-HU" dirty="0" smtClean="0"/>
              <a:t>- </a:t>
            </a:r>
            <a:r>
              <a:rPr lang="hu-HU" i="1" dirty="0" smtClean="0"/>
              <a:t>Internacionális</a:t>
            </a:r>
            <a:r>
              <a:rPr lang="hu-HU" dirty="0" smtClean="0"/>
              <a:t> </a:t>
            </a:r>
            <a:r>
              <a:rPr lang="hu-HU" dirty="0"/>
              <a:t>stratégia – hazai kompetenciák kiterjesztése, export, franchise</a:t>
            </a:r>
          </a:p>
          <a:p>
            <a:pPr marL="457200" lvl="1" indent="0">
              <a:buNone/>
            </a:pPr>
            <a:r>
              <a:rPr lang="hu-HU" dirty="0" smtClean="0"/>
              <a:t>- </a:t>
            </a:r>
            <a:r>
              <a:rPr lang="hu-HU" i="1" dirty="0" smtClean="0"/>
              <a:t>Multilokális</a:t>
            </a:r>
            <a:r>
              <a:rPr lang="hu-HU" dirty="0" smtClean="0"/>
              <a:t> </a:t>
            </a:r>
            <a:r>
              <a:rPr lang="hu-HU" dirty="0"/>
              <a:t>stratégia – minden piacot, „hazai” piacként kezel, területre szabott termelés</a:t>
            </a:r>
          </a:p>
          <a:p>
            <a:pPr marL="457200" lvl="1" indent="0">
              <a:buNone/>
            </a:pPr>
            <a:r>
              <a:rPr lang="hu-HU" dirty="0" smtClean="0"/>
              <a:t>- </a:t>
            </a:r>
            <a:r>
              <a:rPr lang="hu-HU" i="1" dirty="0" smtClean="0"/>
              <a:t>Globális</a:t>
            </a:r>
            <a:r>
              <a:rPr lang="hu-HU" dirty="0" smtClean="0"/>
              <a:t> </a:t>
            </a:r>
            <a:r>
              <a:rPr lang="hu-HU" dirty="0"/>
              <a:t>stratégia – méretgazdaságosságra, globális hatékonyságra fókuszál</a:t>
            </a:r>
          </a:p>
          <a:p>
            <a:pPr marL="457200" lvl="1" indent="0">
              <a:buNone/>
            </a:pPr>
            <a:r>
              <a:rPr lang="hu-HU" dirty="0" smtClean="0"/>
              <a:t>- </a:t>
            </a:r>
            <a:r>
              <a:rPr lang="hu-HU" i="1" dirty="0" smtClean="0"/>
              <a:t>Transznacionális</a:t>
            </a:r>
            <a:r>
              <a:rPr lang="hu-HU" dirty="0" smtClean="0"/>
              <a:t> </a:t>
            </a:r>
            <a:r>
              <a:rPr lang="hu-HU" dirty="0"/>
              <a:t>stratégia – </a:t>
            </a:r>
            <a:r>
              <a:rPr lang="hu-HU" dirty="0" err="1"/>
              <a:t>multilokális</a:t>
            </a:r>
            <a:r>
              <a:rPr lang="hu-HU" dirty="0"/>
              <a:t> és globális stratégia előnyeinek ötvözésén dolgozik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531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63845" y="3055305"/>
            <a:ext cx="5033727" cy="2044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4000" dirty="0" smtClean="0">
                <a:solidFill>
                  <a:srgbClr val="00B0F0"/>
                </a:solidFill>
              </a:rPr>
              <a:t>Köszönöm a figyelmet!</a:t>
            </a:r>
            <a:endParaRPr lang="hu-HU" sz="4000" dirty="0">
              <a:solidFill>
                <a:srgbClr val="00B0F0"/>
              </a:solidFill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516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860</TotalTime>
  <Words>3132</Words>
  <Application>Microsoft Office PowerPoint</Application>
  <PresentationFormat>Szélesvásznú</PresentationFormat>
  <Paragraphs>418</Paragraphs>
  <Slides>39</Slides>
  <Notes>28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Wingdings</vt:lpstr>
      <vt:lpstr>Office-téma</vt:lpstr>
      <vt:lpstr>Stratégiai tervezés</vt:lpstr>
      <vt:lpstr>Tartalomjegyzék</vt:lpstr>
      <vt:lpstr>Fontossága</vt:lpstr>
      <vt:lpstr>A vállalat</vt:lpstr>
      <vt:lpstr>Elmélete</vt:lpstr>
      <vt:lpstr>Fajtái</vt:lpstr>
      <vt:lpstr>Fajtái</vt:lpstr>
      <vt:lpstr>Vállalati stratégia jellemzői I.</vt:lpstr>
      <vt:lpstr>Vállalati stratégia jellemzői II.</vt:lpstr>
      <vt:lpstr>Alapfogalmak</vt:lpstr>
      <vt:lpstr>Alapfogalmak</vt:lpstr>
      <vt:lpstr>Alapfogalmak</vt:lpstr>
      <vt:lpstr>Alapfogalmak</vt:lpstr>
      <vt:lpstr>Akciók</vt:lpstr>
      <vt:lpstr>Lépései</vt:lpstr>
      <vt:lpstr>Lépései</vt:lpstr>
      <vt:lpstr>Célok</vt:lpstr>
      <vt:lpstr>Üzleti etika</vt:lpstr>
      <vt:lpstr>Társadalmi felelősség</vt:lpstr>
      <vt:lpstr>A vállalat érintettjei (Stakeholderek)</vt:lpstr>
      <vt:lpstr>Stratégiai elemzés</vt:lpstr>
      <vt:lpstr>PESTEL elemzés</vt:lpstr>
      <vt:lpstr>PESTEL elemzés</vt:lpstr>
      <vt:lpstr>PORTER – Gyémánt modell</vt:lpstr>
      <vt:lpstr>Iparági környezet</vt:lpstr>
      <vt:lpstr>Porter - 5 erő modell</vt:lpstr>
      <vt:lpstr>Iparági élet-ciklus modell</vt:lpstr>
      <vt:lpstr>Stratégiai csoport-elemzés</vt:lpstr>
      <vt:lpstr>SWOT analízis</vt:lpstr>
      <vt:lpstr>Vállalati kompetenciák</vt:lpstr>
      <vt:lpstr>Termék életgörbe elemzés – BCG mátrix</vt:lpstr>
      <vt:lpstr>Életgörbe elemzés – BCG mátrix</vt:lpstr>
      <vt:lpstr>Alapvető adaptációs stratégiák</vt:lpstr>
      <vt:lpstr>Általános verseny stratégiák</vt:lpstr>
      <vt:lpstr>Diverzifikáció</vt:lpstr>
      <vt:lpstr>Az Ansoff-mátrix</vt:lpstr>
      <vt:lpstr>Nemzetközi stratégiák</vt:lpstr>
      <vt:lpstr>Nemzetközi piacra lépés módjai</vt:lpstr>
      <vt:lpstr>PowerPoint bemutató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stratégiai tervezés</dc:title>
  <dc:creator>MMI</dc:creator>
  <cp:lastModifiedBy>Gombaszögi Ildikó</cp:lastModifiedBy>
  <cp:revision>64</cp:revision>
  <dcterms:created xsi:type="dcterms:W3CDTF">2021-01-18T18:03:07Z</dcterms:created>
  <dcterms:modified xsi:type="dcterms:W3CDTF">2023-08-29T15:17:32Z</dcterms:modified>
</cp:coreProperties>
</file>