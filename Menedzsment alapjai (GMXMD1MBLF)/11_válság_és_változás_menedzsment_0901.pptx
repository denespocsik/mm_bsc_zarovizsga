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7" r:id="rId10"/>
    <p:sldId id="269" r:id="rId11"/>
    <p:sldId id="270" r:id="rId12"/>
    <p:sldId id="271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72" r:id="rId27"/>
    <p:sldId id="297" r:id="rId28"/>
    <p:sldId id="298" r:id="rId29"/>
    <p:sldId id="286" r:id="rId30"/>
    <p:sldId id="287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690"/>
    <a:srgbClr val="5A4252"/>
    <a:srgbClr val="8B5E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6370" autoAdjust="0"/>
  </p:normalViewPr>
  <p:slideViewPr>
    <p:cSldViewPr snapToGrid="0">
      <p:cViewPr varScale="1">
        <p:scale>
          <a:sx n="56" d="100"/>
          <a:sy n="56" d="100"/>
        </p:scale>
        <p:origin x="90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53D2-A48E-4C9B-B410-1E4D72DE286B}" type="datetimeFigureOut">
              <a:rPr lang="hu-HU" smtClean="0"/>
              <a:t>2023. 08. 29.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F073B-6FBE-4398-99B6-4AAC91B062CD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1963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8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16553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39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11446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40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27324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41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27743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42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16173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43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17336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44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71080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45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10131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46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65859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47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04857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48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99262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49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61310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50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15849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51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51182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52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413047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53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504402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54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50145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55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235288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56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553227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57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52668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750C139D-3168-4490-BB9C-BC38A0EA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E8B206B0-EEE6-4BFD-858B-14AAFB8C8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5EFD624-2362-4233-AA2E-58D3AB2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A2B3-E014-4A2E-A550-0FC801CC6702}" type="datetime1">
              <a:rPr lang="hu-HU" smtClean="0"/>
              <a:t>2023. 08. 29.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D81589B6-0D22-495A-8AA4-804DAD7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71DFD03E-3F7E-4EF4-9258-A04E4B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954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rgbClr val="5E86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xmlns="" id="{DDDEED1F-4A84-460A-8607-0736A80B4660}"/>
              </a:ext>
            </a:extLst>
          </p:cNvPr>
          <p:cNvSpPr/>
          <p:nvPr userDrawn="1"/>
        </p:nvSpPr>
        <p:spPr>
          <a:xfrm>
            <a:off x="5004707" y="113167"/>
            <a:ext cx="7094084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xmlns="" id="{B5A85F78-1FD5-4B49-B583-F7B2D395B8BA}"/>
              </a:ext>
            </a:extLst>
          </p:cNvPr>
          <p:cNvSpPr/>
          <p:nvPr userDrawn="1"/>
        </p:nvSpPr>
        <p:spPr>
          <a:xfrm>
            <a:off x="93209" y="89807"/>
            <a:ext cx="12005582" cy="115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xmlns="" id="{C2069732-ACEA-44F7-B5CA-BAB2F9787C78}"/>
              </a:ext>
            </a:extLst>
          </p:cNvPr>
          <p:cNvSpPr/>
          <p:nvPr userDrawn="1"/>
        </p:nvSpPr>
        <p:spPr>
          <a:xfrm>
            <a:off x="93209" y="1265463"/>
            <a:ext cx="12005582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FAB37637-9D6E-4D90-B2F1-76E205F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18233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B2CBCB6B-387A-4289-A82B-0BFAB4E6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5264148"/>
          </a:xfrm>
        </p:spPr>
        <p:txBody>
          <a:bodyPr/>
          <a:lstStyle>
            <a:lvl1pPr>
              <a:buClr>
                <a:srgbClr val="5E8690"/>
              </a:buClr>
              <a:buFont typeface="Wingdings" panose="05000000000000000000" pitchFamily="2" charset="2"/>
              <a:buChar char="§"/>
              <a:defRPr sz="2400"/>
            </a:lvl1pPr>
            <a:lvl2pPr>
              <a:buClr>
                <a:srgbClr val="5E8690"/>
              </a:buClr>
              <a:buFont typeface="Wingdings" panose="05000000000000000000" pitchFamily="2" charset="2"/>
              <a:buChar char="§"/>
              <a:defRPr sz="2400"/>
            </a:lvl2pPr>
            <a:lvl3pPr>
              <a:buClr>
                <a:srgbClr val="5E8690"/>
              </a:buClr>
              <a:buFont typeface="Wingdings" panose="05000000000000000000" pitchFamily="2" charset="2"/>
              <a:buChar char="§"/>
              <a:defRPr sz="2400"/>
            </a:lvl3pPr>
            <a:lvl4pPr>
              <a:buClr>
                <a:srgbClr val="5E8690"/>
              </a:buClr>
              <a:buFont typeface="Wingdings" panose="05000000000000000000" pitchFamily="2" charset="2"/>
              <a:buChar char="§"/>
              <a:defRPr sz="2400"/>
            </a:lvl4pPr>
            <a:lvl5pPr>
              <a:buClr>
                <a:srgbClr val="5E8690"/>
              </a:buClr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xmlns="" id="{ABA2E200-FE90-4F81-A7F7-486CE3F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729" y="6379708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F906C4D8-32F2-4A19-B0E3-4323A7BEC644}" type="slidenum">
              <a:rPr lang="hu-HU" smtClean="0"/>
              <a:pPr/>
              <a:t>‹#›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xmlns="" id="{CCA7E92E-0678-4CB8-B34A-3CEDD493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463" y="211135"/>
            <a:ext cx="11510284" cy="440645"/>
          </a:xfrm>
        </p:spPr>
        <p:txBody>
          <a:bodyPr/>
          <a:lstStyle>
            <a:lvl1pPr>
              <a:buNone/>
              <a:defRPr b="0"/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223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558E1F47-A20E-4BB9-A350-B0990DE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A674DF5C-4EEB-42BF-947E-B831FE8D0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80F63501-4CC0-443D-9D68-F329C8C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EA38-83FC-4782-9732-2A658C756FBF}" type="datetime1">
              <a:rPr lang="hu-HU" smtClean="0"/>
              <a:t>2023. 08. 29.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CBAEB0E0-2A8E-4ED6-A556-F8979733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29D3C6A-29F7-48FE-BCD5-E38A7ED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10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810067C-BED7-4D0B-A7AE-64B226FE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989049E-102A-47F6-9DB1-D28194DA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56670EB4-6095-49EF-BC35-7B589A44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2B37BD7D-E3E5-45AB-8F04-C3BB6789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02E6-7993-453D-93F9-E6EF1116D18A}" type="datetime1">
              <a:rPr lang="hu-HU" smtClean="0"/>
              <a:t>2023. 08. 29.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E3D45C3-0A0B-4B2E-82E4-EA07495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B5B50F8E-6620-4235-B0AD-8AA15B30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6605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266F4E0-940E-4BAE-B93C-63B7BDFB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0A2959B8-ED8C-4B0B-9977-61BD384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1CCDBE15-67FD-4624-AA3C-3954AD9B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DF322681-B9EB-4202-B82F-62986E7BE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4C904C5F-E076-4D0B-8982-C2E9696E2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xmlns="" id="{DAE73D62-5ABD-42E2-8E4F-A4C9D60C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007-D686-40BA-81B1-73FEF61F594E}" type="datetime1">
              <a:rPr lang="hu-HU" smtClean="0"/>
              <a:t>2023. 08. 29.</a:t>
            </a:fld>
            <a:endParaRPr lang="hu-HU" dirty="0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xmlns="" id="{12CEA0E5-76DF-4C30-B4E7-9D73172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xmlns="" id="{E4147FC1-08D6-4073-B160-DA6C7F8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089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DDEF8AF-3DBD-4787-B3C3-E54E37A4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xmlns="" id="{1004E331-98B3-4071-BBC4-B70A9479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9E8F-2C13-44E0-88ED-8DAC965F9F1B}" type="datetime1">
              <a:rPr lang="hu-HU" smtClean="0"/>
              <a:t>2023. 08. 29.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xmlns="" id="{9839F9EC-D9E3-4149-9FDB-26C9C93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xmlns="" id="{A996AA15-EE1A-41CC-A088-942F69E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018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xmlns="" id="{8232CDB6-02A2-4E33-83D0-705F4C00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AE6F-9176-4A48-8B31-B40F1CD1CA67}" type="datetime1">
              <a:rPr lang="hu-HU" smtClean="0"/>
              <a:t>2023. 08. 29.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xmlns="" id="{A57E066B-902D-436D-B156-0C74513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3817F04B-AF52-4648-8F6E-228367C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99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BF10A394-C766-410D-A40E-A419FE66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B9AE76C-FECB-4776-9AC6-0CC24C19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37756CC3-7EE4-4387-9A9B-A6A7EC4E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5F71D787-FE7E-488E-820D-677DB815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4019-9299-4649-B777-D3FD3F0DF105}" type="datetime1">
              <a:rPr lang="hu-HU" smtClean="0"/>
              <a:t>2023. 08. 29.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F0CBFD6-E08D-4DC4-AD7A-CCFE1899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76DBC206-9A73-416D-8C18-5E85F368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1360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D336558-64C8-4443-A717-0E2F3CB7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xmlns="" id="{7D7D72D5-7457-4552-88D3-03E28DEDD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5D412EE6-6AD6-4C94-9EE3-B679EAFB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6B45C1E5-6AD4-490D-9144-44476B02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CDC1-49EF-4ED0-A19F-FD7F561FE84C}" type="datetime1">
              <a:rPr lang="hu-HU" smtClean="0"/>
              <a:t>2023. 08. 29.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C044CDEB-6218-40E1-B4BA-4167646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C00ED222-CB4F-44CF-BA9D-2FC17CE6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03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F5A7E4B-F7E4-4AA4-860F-4C6A03C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AA651D79-3498-4F2E-9F68-953F93D4F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D304470A-ABA4-4D52-8CC9-952139B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3B1C-99A4-498A-A255-49BFF718273E}" type="datetime1">
              <a:rPr lang="hu-HU" smtClean="0"/>
              <a:t>2023. 08. 29.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5B1CFCD3-7120-46EC-9471-224D39A3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93B51A95-5799-4B77-AC52-43F335D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859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xmlns="" id="{D373C461-39C7-4606-BCC4-70DADCEF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44A7E9BB-AA6D-4D97-B1A7-18F2CD1C6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1DD3EA0-896E-47E3-A1C0-707ECCCE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5E8A-C486-4894-8349-73C1CA8437D8}" type="datetime1">
              <a:rPr lang="hu-HU" smtClean="0"/>
              <a:t>2023. 08. 29.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FC1DE335-3672-4078-9D66-23423314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0FDC640C-F1ED-46D8-AB88-A36984A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729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xmlns="" id="{79ED9102-32AA-4BE9-BDE5-05201ADD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463EEA34-9557-4D56-831A-83912F39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AC69EE77-6CC9-4CC9-8D75-64722839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D1FF1-846C-4DD0-B4AC-8156EDF0B994}" type="datetime1">
              <a:rPr lang="hu-HU" smtClean="0"/>
              <a:t>2023. 08. 29.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699550F0-C374-4C65-91D6-8BCFE575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606282D-346B-422A-A731-68523C74F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825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rld Penguin Day Highlights Need for More Southern Ocean Protections | The  Pew Charitable Trusts">
            <a:extLst>
              <a:ext uri="{FF2B5EF4-FFF2-40B4-BE49-F238E27FC236}">
                <a16:creationId xmlns:a16="http://schemas.microsoft.com/office/drawing/2014/main" xmlns="" id="{EC902C0C-505F-4EA7-8036-F7A7896BF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xmlns="" id="{B71DD668-A5C7-4E1D-B55A-AF9BA972D50B}"/>
              </a:ext>
            </a:extLst>
          </p:cNvPr>
          <p:cNvSpPr/>
          <p:nvPr/>
        </p:nvSpPr>
        <p:spPr>
          <a:xfrm>
            <a:off x="-36353" y="84481"/>
            <a:ext cx="12226765" cy="126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3C939434-E251-4120-898C-686C77FB2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13" y="589969"/>
            <a:ext cx="10795686" cy="715684"/>
          </a:xfrm>
          <a:noFill/>
          <a:ln w="28575"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hu-HU" b="1" dirty="0">
                <a:latin typeface="+mn-lt"/>
              </a:rPr>
              <a:t>Válság és változásmenedzsment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13CA3651-BAD3-4EDE-AFD0-D0690052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973" y="84481"/>
            <a:ext cx="2930666" cy="632211"/>
          </a:xfrm>
          <a:noFill/>
          <a:ln w="28575"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hu-HU" b="1" dirty="0"/>
              <a:t>Menedzsment alapjai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xmlns="" id="{C6A4C454-9DBE-4802-9EF2-C1214C1FEE2B}"/>
              </a:ext>
            </a:extLst>
          </p:cNvPr>
          <p:cNvSpPr/>
          <p:nvPr/>
        </p:nvSpPr>
        <p:spPr>
          <a:xfrm>
            <a:off x="0" y="84481"/>
            <a:ext cx="1382973" cy="1263413"/>
          </a:xfrm>
          <a:prstGeom prst="rect">
            <a:avLst/>
          </a:prstGeom>
          <a:solidFill>
            <a:srgbClr val="5E86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xmlns="" id="{D4FF0E0E-6C7A-4088-A4A3-FE1C79555183}"/>
              </a:ext>
            </a:extLst>
          </p:cNvPr>
          <p:cNvSpPr txBox="1"/>
          <p:nvPr/>
        </p:nvSpPr>
        <p:spPr>
          <a:xfrm>
            <a:off x="219891" y="348858"/>
            <a:ext cx="1251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dirty="0" smtClean="0">
                <a:solidFill>
                  <a:schemeClr val="bg1"/>
                </a:solidFill>
              </a:rPr>
              <a:t>11.</a:t>
            </a:r>
            <a:endParaRPr lang="hu-HU" sz="6000" b="1" dirty="0" smtClean="0">
              <a:solidFill>
                <a:schemeClr val="bg1"/>
              </a:solidFill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658" y="94600"/>
            <a:ext cx="1305107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A változásmenedzsment fogalma</a:t>
            </a:r>
          </a:p>
          <a:p>
            <a:r>
              <a:rPr lang="hu-HU" dirty="0"/>
              <a:t>A változásmenedzsment célja</a:t>
            </a:r>
          </a:p>
          <a:p>
            <a:r>
              <a:rPr lang="hu-HU" dirty="0"/>
              <a:t>A változásmenedzsment feladatai</a:t>
            </a:r>
          </a:p>
          <a:p>
            <a:r>
              <a:rPr lang="hu-HU" dirty="0"/>
              <a:t>A változásmenedzsment folyamata</a:t>
            </a:r>
          </a:p>
          <a:p>
            <a:r>
              <a:rPr lang="hu-HU" dirty="0"/>
              <a:t>A változásmenedzsment érintettjei</a:t>
            </a:r>
          </a:p>
          <a:p>
            <a:r>
              <a:rPr lang="hu-HU" dirty="0"/>
              <a:t>Inercia, tettvágy</a:t>
            </a:r>
          </a:p>
          <a:p>
            <a:r>
              <a:rPr lang="hu-HU" dirty="0"/>
              <a:t>Válságmenedzsment fogalma, célja</a:t>
            </a:r>
          </a:p>
          <a:p>
            <a:r>
              <a:rPr lang="hu-HU" dirty="0"/>
              <a:t>Krízisek</a:t>
            </a:r>
          </a:p>
          <a:p>
            <a:r>
              <a:rPr lang="hu-HU" dirty="0"/>
              <a:t>Vállalati stresszhelyzet</a:t>
            </a:r>
          </a:p>
          <a:p>
            <a:r>
              <a:rPr lang="hu-HU" dirty="0"/>
              <a:t>Válság típusok</a:t>
            </a:r>
          </a:p>
          <a:p>
            <a:r>
              <a:rPr lang="hu-HU" dirty="0"/>
              <a:t>Válság prevenció lépései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3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Fontossága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Egyre inkább turbulensen változó vállalati környezet</a:t>
            </a:r>
          </a:p>
          <a:p>
            <a:r>
              <a:rPr lang="hu-HU" dirty="0"/>
              <a:t>A változás a vállalatok életében folyamatosan jelen </a:t>
            </a:r>
            <a:r>
              <a:rPr lang="hu-HU" dirty="0" smtClean="0"/>
              <a:t>van, </a:t>
            </a:r>
            <a:r>
              <a:rPr lang="hu-HU" dirty="0"/>
              <a:t>és kisebb-nagyobb hatást gyakorolnak a szervezet működésére</a:t>
            </a:r>
          </a:p>
          <a:p>
            <a:endParaRPr lang="hu-HU" dirty="0"/>
          </a:p>
          <a:p>
            <a:r>
              <a:rPr lang="hu-HU" dirty="0"/>
              <a:t>A vállalati környezet, a vásárlók igénye, egyre gyorsabban és folyamatosan változik</a:t>
            </a:r>
          </a:p>
          <a:p>
            <a:pPr lvl="1"/>
            <a:r>
              <a:rPr lang="hu-HU" dirty="0"/>
              <a:t>A vállalatok kényszerítve vannak a reagálásra a fenntartható siker érdekében</a:t>
            </a:r>
          </a:p>
          <a:p>
            <a:pPr lvl="1"/>
            <a:r>
              <a:rPr lang="hu-HU" dirty="0"/>
              <a:t>Ezek oka lehet a globalizáció, telekommunikáció, internet, fogyasztói tudatosság</a:t>
            </a:r>
          </a:p>
          <a:p>
            <a:r>
              <a:rPr lang="hu-HU" dirty="0"/>
              <a:t>A vállalatoknak el kell tudniuk dönteni, hogy reaktív (problémára reagáló) vagy proaktív (problémát megelőző, folyamatosan fejlődő) stratégiát kívánnak megvalósítani</a:t>
            </a:r>
          </a:p>
          <a:p>
            <a:r>
              <a:rPr lang="hu-HU" dirty="0"/>
              <a:t>A változások rugalmas kezelése lehetőséget ad a vállalatnak a fejlődésre, verseny előnyre, komplex növekedés sikeres lebonyolítására</a:t>
            </a:r>
          </a:p>
          <a:p>
            <a:r>
              <a:rPr lang="hu-HU" dirty="0"/>
              <a:t>A változás és a fejlődés ma már a gazdaság és a sikeresség egyértelmű hajtómotorja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54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Fogalma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változásmenedzsment az a folyamat, amelynek során a jelenlegi állapotból az elképzelt jövőbeli állapot irányába haladunk</a:t>
            </a:r>
          </a:p>
          <a:p>
            <a:r>
              <a:rPr lang="hu-HU" dirty="0"/>
              <a:t>A változásmenedzsment a változások kezelésére használt folyamatok, eszközök és technikák összessége, annak érdekében, hogy a lehető legjobb eredményt érhessük el (Varga)</a:t>
            </a:r>
          </a:p>
          <a:p>
            <a:endParaRPr lang="hu-HU" dirty="0"/>
          </a:p>
          <a:p>
            <a:r>
              <a:rPr lang="hu-HU" dirty="0"/>
              <a:t>Összetett tudományterület, központja a nagyfokú emberközpontúság és szociális érzékenység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89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változásmenedzsment legfőbb célja a szervezeti képességek megalkotása a változásra</a:t>
            </a:r>
          </a:p>
          <a:p>
            <a:endParaRPr lang="hu-HU" dirty="0"/>
          </a:p>
          <a:p>
            <a:r>
              <a:rPr lang="hu-HU" dirty="0"/>
              <a:t>A változásmenedzsment célja, hogy olyan képességek jöjjenek létre a szervezeten belül, vagy az egyének szintjén, amelyek alkalmasak a változások támogatására és megvalósítására. Ilyen képesség lehet akár egy erőforrás, egy értékteremtő folyamat, egy innovatív megoldás, a tudás, az üzleti modell</a:t>
            </a:r>
          </a:p>
          <a:p>
            <a:endParaRPr lang="hu-HU" dirty="0"/>
          </a:p>
          <a:p>
            <a:r>
              <a:rPr lang="hu-HU" dirty="0"/>
              <a:t>A vállalati képességek teremtik meg a cselekvési lehetőséget és az üzleti potenciált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4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Feladatai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változás szervezeti feltételeinek és eszmerendszerének megteremtése</a:t>
            </a:r>
          </a:p>
          <a:p>
            <a:r>
              <a:rPr lang="hu-HU" dirty="0"/>
              <a:t>Szükséges képességek és rugalmasság megteremtése a változásra, a jobb eredmények és a nehezebb gazdasági időszakok sikeres kezelésének érdekében</a:t>
            </a:r>
          </a:p>
          <a:p>
            <a:r>
              <a:rPr lang="hu-HU" dirty="0"/>
              <a:t>Segítséget nyújt az eredmények szinten tartásában</a:t>
            </a:r>
          </a:p>
          <a:p>
            <a:r>
              <a:rPr lang="hu-HU" dirty="0"/>
              <a:t>Elősegíti a versenyképességet</a:t>
            </a:r>
          </a:p>
          <a:p>
            <a:r>
              <a:rPr lang="hu-HU" dirty="0"/>
              <a:t>Összehangolja a tevékenységeket, megköveteli a rendszeres és transzparens kommunikációt</a:t>
            </a:r>
          </a:p>
          <a:p>
            <a:r>
              <a:rPr lang="hu-HU" dirty="0"/>
              <a:t>Létrehozza a változásra nyitott és motivált szervezeti kultúrát</a:t>
            </a:r>
          </a:p>
          <a:p>
            <a:endParaRPr lang="hu-HU" dirty="0"/>
          </a:p>
          <a:p>
            <a:r>
              <a:rPr lang="hu-HU" dirty="0"/>
              <a:t>A változásmenedzsment alapja az agilitás a tettvágy és az elköteleződés</a:t>
            </a:r>
          </a:p>
          <a:p>
            <a:r>
              <a:rPr lang="hu-HU" dirty="0"/>
              <a:t>Az elutasítók és közömbös személyek bevonása a változási tevékenységbe, emberek megnyerése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564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HPO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03987"/>
            <a:ext cx="11861347" cy="5440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Kiválóan teljesítő szervezet (</a:t>
            </a:r>
            <a:r>
              <a:rPr lang="hu-HU" dirty="0" err="1"/>
              <a:t>High</a:t>
            </a:r>
            <a:r>
              <a:rPr lang="hu-HU" dirty="0"/>
              <a:t> </a:t>
            </a:r>
            <a:r>
              <a:rPr lang="hu-HU" dirty="0" err="1"/>
              <a:t>Performing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)</a:t>
            </a:r>
          </a:p>
          <a:p>
            <a:pPr lvl="1"/>
            <a:r>
              <a:rPr lang="hu-HU" dirty="0"/>
              <a:t>A jól teljesítő szervezet olyan vállalkozás, amely hosszabb idő elteltével is folyamatosan kimagasló eredményeket produkál</a:t>
            </a:r>
          </a:p>
          <a:p>
            <a:pPr marL="0" indent="0">
              <a:buNone/>
            </a:pPr>
            <a:r>
              <a:rPr lang="hu-HU" dirty="0"/>
              <a:t>A vállalatok viselkedését befolyásoló tényezők</a:t>
            </a:r>
          </a:p>
          <a:p>
            <a:pPr lvl="1"/>
            <a:r>
              <a:rPr lang="hu-HU" dirty="0"/>
              <a:t>A vezetés színvonala, minősége, nézetrendszere, kockázattűrő képessége</a:t>
            </a:r>
          </a:p>
          <a:p>
            <a:pPr lvl="1"/>
            <a:r>
              <a:rPr lang="hu-HU" dirty="0"/>
              <a:t>A cégben lévő tudás, képességek, </a:t>
            </a:r>
            <a:r>
              <a:rPr lang="hu-HU" dirty="0" smtClean="0"/>
              <a:t>innovatívitás, </a:t>
            </a:r>
            <a:r>
              <a:rPr lang="hu-HU" dirty="0"/>
              <a:t>rugalmasság</a:t>
            </a:r>
          </a:p>
          <a:p>
            <a:pPr marL="0" indent="0">
              <a:buNone/>
            </a:pPr>
            <a:r>
              <a:rPr lang="hu-HU" dirty="0"/>
              <a:t>A vállalat versenyképességet, alkalmazkodóképessége és kultúrája a dolgozók szokásain alapul</a:t>
            </a:r>
          </a:p>
          <a:p>
            <a:pPr lvl="2"/>
            <a:r>
              <a:rPr lang="hu-HU" dirty="0"/>
              <a:t>A folyamatos és fokozatos fejlődés lépései a vállalati siker </a:t>
            </a:r>
            <a:r>
              <a:rPr lang="hu-HU" dirty="0" smtClean="0"/>
              <a:t>érdekében</a:t>
            </a:r>
          </a:p>
          <a:p>
            <a:pPr lvl="2"/>
            <a:r>
              <a:rPr lang="hu-HU" dirty="0" smtClean="0"/>
              <a:t>Fokozatos </a:t>
            </a:r>
            <a:r>
              <a:rPr lang="hu-HU" dirty="0"/>
              <a:t>apró lépések, folyamatos tanulás és felfedezés</a:t>
            </a:r>
          </a:p>
          <a:p>
            <a:pPr lvl="2"/>
            <a:r>
              <a:rPr lang="hu-HU" dirty="0"/>
              <a:t>Nem csak a műszaki fejlesztésre kell fókuszálni</a:t>
            </a:r>
          </a:p>
          <a:p>
            <a:pPr lvl="2"/>
            <a:r>
              <a:rPr lang="hu-HU" dirty="0"/>
              <a:t>Aktív lépések nélkül hiába várunk </a:t>
            </a:r>
            <a:r>
              <a:rPr lang="hu-HU" dirty="0" smtClean="0"/>
              <a:t>csodát</a:t>
            </a:r>
          </a:p>
          <a:p>
            <a:pPr lvl="2"/>
            <a:r>
              <a:rPr lang="hu-HU" dirty="0" smtClean="0"/>
              <a:t>A </a:t>
            </a:r>
            <a:r>
              <a:rPr lang="hu-HU" dirty="0"/>
              <a:t>versenyképesség általában sok apró mozzanat eredménye</a:t>
            </a:r>
          </a:p>
          <a:p>
            <a:pPr lvl="2"/>
            <a:r>
              <a:rPr lang="hu-HU" dirty="0"/>
              <a:t>A kampányszerű fejlesztés a rendszert terheli és sebezhetővé teszi</a:t>
            </a:r>
          </a:p>
          <a:p>
            <a:pPr lvl="1"/>
            <a:endParaRPr lang="hu-HU" dirty="0"/>
          </a:p>
          <a:p>
            <a:pPr lvl="1"/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xmlns="" id="{EA884443-CDA3-408F-83C5-EA8FBFB1181E}"/>
              </a:ext>
            </a:extLst>
          </p:cNvPr>
          <p:cNvSpPr txBox="1">
            <a:spLocks/>
          </p:cNvSpPr>
          <p:nvPr/>
        </p:nvSpPr>
        <p:spPr>
          <a:xfrm>
            <a:off x="136070" y="4984543"/>
            <a:ext cx="11510283" cy="1721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E869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E869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E869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E869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E869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hu-HU" dirty="0"/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xmlns="" id="{95081662-127B-468C-BF92-D86732B35BD4}"/>
              </a:ext>
            </a:extLst>
          </p:cNvPr>
          <p:cNvSpPr txBox="1">
            <a:spLocks/>
          </p:cNvSpPr>
          <p:nvPr/>
        </p:nvSpPr>
        <p:spPr>
          <a:xfrm>
            <a:off x="-314723" y="4912241"/>
            <a:ext cx="12030470" cy="1832591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E869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E869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E869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E869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E869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hu-HU" dirty="0"/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58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22012"/>
          </a:xfrm>
        </p:spPr>
        <p:txBody>
          <a:bodyPr/>
          <a:lstStyle/>
          <a:p>
            <a:r>
              <a:rPr lang="hu-HU" dirty="0"/>
              <a:t>SCORES modell – Ken </a:t>
            </a:r>
            <a:r>
              <a:rPr lang="hu-HU" dirty="0" err="1"/>
              <a:t>Blanchard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63" y="1856095"/>
            <a:ext cx="11850466" cy="4865377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A modell szerint 6 területen kell folyamatosan változtatni és előre lépni a kiválóság </a:t>
            </a:r>
            <a:r>
              <a:rPr lang="hu-HU" dirty="0" smtClean="0"/>
              <a:t>érdekében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sz="2800" b="1" dirty="0"/>
              <a:t>S</a:t>
            </a:r>
            <a:r>
              <a:rPr lang="hu-HU" dirty="0"/>
              <a:t>: </a:t>
            </a:r>
            <a:r>
              <a:rPr lang="hu-HU" dirty="0" err="1"/>
              <a:t>Shared</a:t>
            </a:r>
            <a:r>
              <a:rPr lang="hu-HU" dirty="0"/>
              <a:t> </a:t>
            </a:r>
            <a:r>
              <a:rPr lang="hu-HU" dirty="0" err="1"/>
              <a:t>information</a:t>
            </a:r>
            <a:r>
              <a:rPr lang="hu-HU" dirty="0"/>
              <a:t> – Információ megosztás és nyílt kommunikáció</a:t>
            </a:r>
          </a:p>
          <a:p>
            <a:pPr marL="0" indent="0">
              <a:buNone/>
            </a:pPr>
            <a:r>
              <a:rPr lang="hu-HU" sz="2800" b="1" dirty="0"/>
              <a:t>C</a:t>
            </a:r>
            <a:r>
              <a:rPr lang="hu-HU" dirty="0"/>
              <a:t>: </a:t>
            </a:r>
            <a:r>
              <a:rPr lang="hu-HU" dirty="0" err="1"/>
              <a:t>Compelling</a:t>
            </a:r>
            <a:r>
              <a:rPr lang="hu-HU" dirty="0"/>
              <a:t> </a:t>
            </a:r>
            <a:r>
              <a:rPr lang="hu-HU" dirty="0" err="1"/>
              <a:t>vision</a:t>
            </a:r>
            <a:r>
              <a:rPr lang="hu-HU" dirty="0"/>
              <a:t> – Vonzó jövőkép</a:t>
            </a:r>
          </a:p>
          <a:p>
            <a:pPr marL="0" indent="0">
              <a:buNone/>
            </a:pPr>
            <a:r>
              <a:rPr lang="hu-HU" sz="2800" b="1" dirty="0"/>
              <a:t>O</a:t>
            </a:r>
            <a:r>
              <a:rPr lang="hu-HU" dirty="0"/>
              <a:t>: </a:t>
            </a:r>
            <a:r>
              <a:rPr lang="hu-HU" dirty="0" err="1"/>
              <a:t>Ongoing</a:t>
            </a:r>
            <a:r>
              <a:rPr lang="hu-HU" dirty="0"/>
              <a:t> </a:t>
            </a:r>
            <a:r>
              <a:rPr lang="hu-HU" dirty="0" err="1"/>
              <a:t>learning</a:t>
            </a:r>
            <a:r>
              <a:rPr lang="hu-HU" dirty="0"/>
              <a:t> – Folyamatos tanulás</a:t>
            </a:r>
          </a:p>
          <a:p>
            <a:pPr marL="0" indent="0">
              <a:buNone/>
            </a:pPr>
            <a:r>
              <a:rPr lang="hu-HU" sz="2800" b="1" dirty="0"/>
              <a:t>R</a:t>
            </a:r>
            <a:r>
              <a:rPr lang="hu-HU" dirty="0"/>
              <a:t>: </a:t>
            </a:r>
            <a:r>
              <a:rPr lang="hu-HU" dirty="0" err="1"/>
              <a:t>Relentless</a:t>
            </a:r>
            <a:r>
              <a:rPr lang="hu-HU" dirty="0"/>
              <a:t> </a:t>
            </a:r>
            <a:r>
              <a:rPr lang="hu-HU" dirty="0" err="1"/>
              <a:t>focus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costumer</a:t>
            </a:r>
            <a:r>
              <a:rPr lang="hu-HU" dirty="0"/>
              <a:t> </a:t>
            </a:r>
            <a:r>
              <a:rPr lang="hu-HU" dirty="0" err="1"/>
              <a:t>results</a:t>
            </a:r>
            <a:r>
              <a:rPr lang="hu-HU" dirty="0"/>
              <a:t> – Vevői eredmények nyomon követese</a:t>
            </a:r>
          </a:p>
          <a:p>
            <a:pPr marL="0" indent="0">
              <a:buNone/>
            </a:pPr>
            <a:r>
              <a:rPr lang="hu-HU" sz="2800" b="1" dirty="0"/>
              <a:t>E</a:t>
            </a:r>
            <a:r>
              <a:rPr lang="hu-HU" dirty="0"/>
              <a:t>: </a:t>
            </a:r>
            <a:r>
              <a:rPr lang="hu-HU" dirty="0" err="1"/>
              <a:t>Energizing</a:t>
            </a:r>
            <a:r>
              <a:rPr lang="hu-HU" dirty="0"/>
              <a:t> </a:t>
            </a:r>
            <a:r>
              <a:rPr lang="hu-HU" dirty="0" err="1"/>
              <a:t>system</a:t>
            </a:r>
            <a:r>
              <a:rPr lang="hu-HU" dirty="0"/>
              <a:t> and </a:t>
            </a:r>
            <a:r>
              <a:rPr lang="hu-HU" dirty="0" err="1"/>
              <a:t>structures</a:t>
            </a:r>
            <a:r>
              <a:rPr lang="hu-HU" dirty="0"/>
              <a:t> – Ösztönző rendszerek és struktúrák</a:t>
            </a:r>
          </a:p>
          <a:p>
            <a:pPr marL="0" indent="0">
              <a:buNone/>
            </a:pPr>
            <a:r>
              <a:rPr lang="hu-HU" sz="2800" b="1" dirty="0"/>
              <a:t>S</a:t>
            </a:r>
            <a:r>
              <a:rPr lang="hu-HU" dirty="0"/>
              <a:t>: </a:t>
            </a:r>
            <a:r>
              <a:rPr lang="hu-HU" dirty="0" err="1"/>
              <a:t>Shared</a:t>
            </a:r>
            <a:r>
              <a:rPr lang="hu-HU" dirty="0"/>
              <a:t> </a:t>
            </a:r>
            <a:r>
              <a:rPr lang="hu-HU" dirty="0" err="1"/>
              <a:t>power</a:t>
            </a:r>
            <a:r>
              <a:rPr lang="hu-HU" dirty="0"/>
              <a:t> and </a:t>
            </a:r>
            <a:r>
              <a:rPr lang="hu-HU" dirty="0" err="1"/>
              <a:t>high</a:t>
            </a:r>
            <a:r>
              <a:rPr lang="hu-HU" dirty="0"/>
              <a:t> </a:t>
            </a:r>
            <a:r>
              <a:rPr lang="hu-HU" dirty="0" err="1"/>
              <a:t>invonvelment</a:t>
            </a:r>
            <a:r>
              <a:rPr lang="hu-HU" dirty="0"/>
              <a:t> – Hatalommegosztás és bevonás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95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sikeres változás 7 pontja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Közös jövőkép </a:t>
            </a:r>
            <a:r>
              <a:rPr lang="hu-HU" dirty="0"/>
              <a:t>– Egyértelmű és mindenki által megértett változási irány, emberek bevonása</a:t>
            </a:r>
          </a:p>
          <a:p>
            <a:r>
              <a:rPr lang="hu-HU" b="1" dirty="0"/>
              <a:t>A szervezet megértése </a:t>
            </a:r>
            <a:r>
              <a:rPr lang="hu-HU" dirty="0"/>
              <a:t>– A szervezet folyamatainak ismerete, különleges figyelem szentelése a problémásabb területekre</a:t>
            </a:r>
          </a:p>
          <a:p>
            <a:r>
              <a:rPr lang="hu-HU" b="1" dirty="0"/>
              <a:t>A kultúra összehangolása </a:t>
            </a:r>
            <a:r>
              <a:rPr lang="hu-HU" dirty="0"/>
              <a:t>– A változás a lehető legjobban hasonlítson a jelenleg alkalmazott folyamatokhoz és illeszkedjen a szervezeti filozófiába</a:t>
            </a:r>
          </a:p>
          <a:p>
            <a:r>
              <a:rPr lang="hu-HU" b="1" dirty="0"/>
              <a:t>Kommunikáció</a:t>
            </a:r>
            <a:r>
              <a:rPr lang="hu-HU" dirty="0"/>
              <a:t> – A környezet azonnali és teljeskörű tájékoztatása, tényeken alapuló döntéshozás</a:t>
            </a:r>
          </a:p>
          <a:p>
            <a:r>
              <a:rPr lang="hu-HU" b="1" dirty="0"/>
              <a:t>Tanácsadók alkalmazása </a:t>
            </a:r>
            <a:r>
              <a:rPr lang="hu-HU" dirty="0"/>
              <a:t>– A változás területét fontos kiválóan ismerni, hogy az elvárt eredményeket érje el a szervezet</a:t>
            </a:r>
          </a:p>
          <a:p>
            <a:r>
              <a:rPr lang="hu-HU" b="1" dirty="0"/>
              <a:t>Erélyes, erős vezetés </a:t>
            </a:r>
            <a:r>
              <a:rPr lang="hu-HU" dirty="0"/>
              <a:t>– A változás melletti elköteleződés és példamutatás</a:t>
            </a:r>
          </a:p>
          <a:p>
            <a:r>
              <a:rPr lang="hu-HU" b="1" dirty="0"/>
              <a:t>Érdekeltség</a:t>
            </a:r>
            <a:r>
              <a:rPr lang="hu-HU" dirty="0"/>
              <a:t> – Fontos megbizonyosodni arról, hogy a változás </a:t>
            </a:r>
            <a:r>
              <a:rPr lang="hu-HU" dirty="0" err="1"/>
              <a:t>stakeholderei</a:t>
            </a:r>
            <a:r>
              <a:rPr lang="hu-HU" dirty="0"/>
              <a:t> érdekeltek-e a változásban, milyen hatással lesz az rájuk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653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hatékony változás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2055930" cy="52641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Az emberek bevonása, szükséges tudás nyújtása, </a:t>
            </a:r>
            <a:r>
              <a:rPr lang="hu-HU" dirty="0" smtClean="0"/>
              <a:t>támogatása „Vigyük </a:t>
            </a:r>
            <a:r>
              <a:rPr lang="hu-HU" dirty="0"/>
              <a:t>magunkkal az </a:t>
            </a:r>
            <a:r>
              <a:rPr lang="hu-HU" dirty="0" smtClean="0"/>
              <a:t>embereket”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 smtClean="0"/>
              <a:t>Tegyük </a:t>
            </a:r>
            <a:r>
              <a:rPr lang="hu-HU" dirty="0"/>
              <a:t>a változást a szervezet mindennapjainak részévé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A változásmenedzsment sikere sokszor a fejben dől </a:t>
            </a:r>
            <a:r>
              <a:rPr lang="hu-HU" dirty="0" smtClean="0"/>
              <a:t>el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 smtClean="0"/>
              <a:t>A </a:t>
            </a:r>
            <a:r>
              <a:rPr lang="hu-HU" dirty="0"/>
              <a:t>hatékony változásmenedzsment alapfeltételei</a:t>
            </a:r>
          </a:p>
          <a:p>
            <a:pPr lvl="2"/>
            <a:r>
              <a:rPr lang="hu-HU" dirty="0"/>
              <a:t>Tudatosság – változás fontosságának belátása, tények megértése, ismert részletek</a:t>
            </a:r>
          </a:p>
          <a:p>
            <a:pPr lvl="2"/>
            <a:r>
              <a:rPr lang="hu-HU" dirty="0"/>
              <a:t>Szándék – részvétel a változásban, elköteleződés a célok elérésének érdekében</a:t>
            </a:r>
          </a:p>
          <a:p>
            <a:pPr lvl="2"/>
            <a:r>
              <a:rPr lang="hu-HU" dirty="0"/>
              <a:t>Képesség – Szükséges lépések megtétele, sikerhez szükséges kompetenciák elsajátítása</a:t>
            </a:r>
          </a:p>
          <a:p>
            <a:pPr lvl="2"/>
            <a:endParaRPr lang="hu-HU" dirty="0"/>
          </a:p>
          <a:p>
            <a:pPr marL="0" indent="0">
              <a:buNone/>
            </a:pPr>
            <a:r>
              <a:rPr lang="hu-HU" dirty="0" err="1"/>
              <a:t>McKinsey</a:t>
            </a:r>
            <a:r>
              <a:rPr lang="hu-HU" dirty="0"/>
              <a:t> 2008-as felmérése alapján a változási folyamatok 70%-a kudarcot vall az emberi tényezők megfelelő kezelésének hiányában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10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változás legfontosabb tényezői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Konkrét, világos küldetés megfogalmazása</a:t>
            </a:r>
          </a:p>
          <a:p>
            <a:r>
              <a:rPr lang="hu-HU" dirty="0"/>
              <a:t>A szervezeti ellenállás sikeres kezelése</a:t>
            </a:r>
          </a:p>
          <a:p>
            <a:r>
              <a:rPr lang="hu-HU" dirty="0"/>
              <a:t>Külső tanácsadók bevonása</a:t>
            </a:r>
          </a:p>
          <a:p>
            <a:r>
              <a:rPr lang="hu-HU" dirty="0"/>
              <a:t>Megfelelő kapcsolatrendszer kialakítása a szervezet, az alkalmazottak és a változtatási folyamat egyes lépései között</a:t>
            </a:r>
          </a:p>
          <a:p>
            <a:r>
              <a:rPr lang="hu-HU" dirty="0"/>
              <a:t>Akár radikális változás</a:t>
            </a:r>
          </a:p>
          <a:p>
            <a:r>
              <a:rPr lang="hu-HU" dirty="0"/>
              <a:t>Válságban a legkönnyebb </a:t>
            </a:r>
            <a:r>
              <a:rPr lang="hu-HU" dirty="0" smtClean="0"/>
              <a:t>a változtatások </a:t>
            </a:r>
            <a:r>
              <a:rPr lang="hu-HU" dirty="0"/>
              <a:t>végrehajtása</a:t>
            </a:r>
          </a:p>
          <a:p>
            <a:r>
              <a:rPr lang="hu-HU" dirty="0"/>
              <a:t>Erőskezű, elkötelezett vezető</a:t>
            </a:r>
          </a:p>
          <a:p>
            <a:r>
              <a:rPr lang="hu-HU" dirty="0"/>
              <a:t>Folyamatos kommunikáció és tényeken alapuló döntéshozás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változás ütemezése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Alapvetően lehet lassú vagy gyors</a:t>
            </a:r>
          </a:p>
          <a:p>
            <a:r>
              <a:rPr lang="hu-HU" dirty="0"/>
              <a:t>Egy szervezeti változás kezdetben jellemzően teljesítménycsökkenéssel jár, és csak ezután emelkedik meg a teljesítmény a változás előtti szint </a:t>
            </a:r>
            <a:r>
              <a:rPr lang="hu-HU" dirty="0" smtClean="0"/>
              <a:t>fölé</a:t>
            </a:r>
          </a:p>
          <a:p>
            <a:r>
              <a:rPr lang="hu-HU" dirty="0" smtClean="0"/>
              <a:t>Kulcsfontosságú </a:t>
            </a:r>
            <a:r>
              <a:rPr lang="hu-HU" dirty="0"/>
              <a:t>az elköteleződés fenntartása, a kitartás és a céltudatosság a változások során</a:t>
            </a:r>
          </a:p>
          <a:p>
            <a:r>
              <a:rPr lang="hu-HU" dirty="0"/>
              <a:t>A teljes és </a:t>
            </a:r>
            <a:r>
              <a:rPr lang="hu-HU" b="1" dirty="0"/>
              <a:t>gyors változás </a:t>
            </a:r>
            <a:r>
              <a:rPr lang="hu-HU" dirty="0"/>
              <a:t>során a teljes előző folyamat egy újra cserélődik le, amelynek kockázata a tesztelés hiánya, azonban előnye lehet a gyors eredmények elérése</a:t>
            </a:r>
          </a:p>
          <a:p>
            <a:r>
              <a:rPr lang="hu-HU" dirty="0"/>
              <a:t>A </a:t>
            </a:r>
            <a:r>
              <a:rPr lang="hu-HU" b="1" dirty="0"/>
              <a:t>lassú</a:t>
            </a:r>
            <a:r>
              <a:rPr lang="hu-HU" dirty="0"/>
              <a:t>, „pilot”-</a:t>
            </a:r>
            <a:r>
              <a:rPr lang="hu-HU" dirty="0" err="1"/>
              <a:t>tal</a:t>
            </a:r>
            <a:r>
              <a:rPr lang="hu-HU" dirty="0"/>
              <a:t> eszközölt </a:t>
            </a:r>
            <a:r>
              <a:rPr lang="hu-HU" b="1" dirty="0"/>
              <a:t>változás</a:t>
            </a:r>
            <a:r>
              <a:rPr lang="hu-HU" dirty="0"/>
              <a:t>, részletekben, először egy kis részlegen kerül bevezetésre. Lassú azonban biztosabb folyamat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85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agilitás és a változás kapcsolata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A változásmenedzsmentet leginkább támogató üzleti modell az úgynevezett agilis üzleti modell. Az üzleti agilitás az alábbi szervezeti tulajdonságokat integrálja magába:</a:t>
            </a:r>
          </a:p>
          <a:p>
            <a:pPr lvl="1"/>
            <a:r>
              <a:rPr lang="hu-HU" b="1" dirty="0"/>
              <a:t>Rugalmasság + változékonyság + gyorsaság</a:t>
            </a:r>
          </a:p>
          <a:p>
            <a:pPr marL="0" indent="0">
              <a:buNone/>
            </a:pPr>
            <a:r>
              <a:rPr lang="hu-HU" dirty="0"/>
              <a:t>Az üzleti agilitás a vállalkozás dinamizmusában, reagáló képességében, változtatási hajlandóságában, és ehhez hasonló tulajdonságok vizsgálatában mutatható ki</a:t>
            </a:r>
          </a:p>
          <a:p>
            <a:pPr marL="0" indent="0">
              <a:buNone/>
            </a:pPr>
            <a:r>
              <a:rPr lang="hu-HU" dirty="0"/>
              <a:t>Az agilis cégek jellemzői:</a:t>
            </a:r>
          </a:p>
          <a:p>
            <a:pPr lvl="1"/>
            <a:r>
              <a:rPr lang="hu-HU" dirty="0"/>
              <a:t>érzékelik a változást,</a:t>
            </a:r>
          </a:p>
          <a:p>
            <a:pPr lvl="1"/>
            <a:r>
              <a:rPr lang="hu-HU" dirty="0"/>
              <a:t>lehetőség szerint befolyásolják azt</a:t>
            </a:r>
          </a:p>
          <a:p>
            <a:pPr lvl="1"/>
            <a:r>
              <a:rPr lang="hu-HU" dirty="0"/>
              <a:t>vagy gyorsan alkalmazkodnak</a:t>
            </a:r>
          </a:p>
          <a:p>
            <a:pPr lvl="1"/>
            <a:r>
              <a:rPr lang="hu-HU" dirty="0"/>
              <a:t>rendkívül rugalmas a szervezeti struktúrájuk</a:t>
            </a:r>
          </a:p>
          <a:p>
            <a:pPr lvl="1"/>
            <a:r>
              <a:rPr lang="hu-HU" dirty="0"/>
              <a:t>alacsony a változtatástól való félelem</a:t>
            </a:r>
          </a:p>
          <a:p>
            <a:pPr lvl="1"/>
            <a:r>
              <a:rPr lang="hu-HU" dirty="0"/>
              <a:t>igen innovatív, gyors reagáló képesség jellemzi őket</a:t>
            </a:r>
          </a:p>
          <a:p>
            <a:pPr lvl="1"/>
            <a:r>
              <a:rPr lang="hu-HU" dirty="0"/>
              <a:t>a vezetés és az alkalmazottak koalíciója rendkívül hatékony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6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Változás – </a:t>
            </a:r>
            <a:r>
              <a:rPr lang="hu-HU" dirty="0" err="1"/>
              <a:t>Checkland</a:t>
            </a:r>
            <a:r>
              <a:rPr lang="hu-HU" dirty="0"/>
              <a:t> modell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xmlns="" id="{909F5DE0-941A-4D33-A3B5-F5155FC41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00" y="1829795"/>
            <a:ext cx="10191205" cy="4211614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641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Változás – Általános folyamat modell (Farkas, 2013)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xmlns="" id="{D28C8E01-B036-4CD1-B08E-BE1139CFB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56" y="1516394"/>
            <a:ext cx="9670297" cy="4993588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88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Gyors győzelmek előnyei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A gyors győzelmek olyan javulást jelentenek, amelyeket minimális befektetéssel, minimális költségekkel, minimális kockázattal is meg lehet valósítani - általában három hónapon belül</a:t>
            </a:r>
          </a:p>
          <a:p>
            <a:r>
              <a:rPr lang="hu-HU" dirty="0"/>
              <a:t>A gyors győzelmek rengeteg haszonnal járnak. Először is még időben megcélozzák az emberek aggályait és semlegesítik azokat</a:t>
            </a:r>
          </a:p>
          <a:p>
            <a:r>
              <a:rPr lang="hu-HU" dirty="0"/>
              <a:t>Másodszor még a változtatás legelején jó hírekkel szolgálnak</a:t>
            </a:r>
          </a:p>
          <a:p>
            <a:r>
              <a:rPr lang="hu-HU" dirty="0"/>
              <a:t>Harmadszor megerősítik a korai elfogadók által tanúsított viselkedésbeli változásokat, míg negyedszer, könnyebb lesz a hezitálókat cselekvésre sarkallni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19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átmenet menedzsmentjének fő lépései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897811"/>
            <a:ext cx="11510283" cy="4823662"/>
          </a:xfrm>
        </p:spPr>
        <p:txBody>
          <a:bodyPr>
            <a:normAutofit/>
          </a:bodyPr>
          <a:lstStyle/>
          <a:p>
            <a:r>
              <a:rPr lang="hu-HU" dirty="0"/>
              <a:t>A változás érzékelése, azonosítása, kommunikálása</a:t>
            </a:r>
          </a:p>
          <a:p>
            <a:r>
              <a:rPr lang="hu-HU" dirty="0"/>
              <a:t>Az új jövőkép és küldetés kidolgozása (revitalizációja) és kommunikációja</a:t>
            </a:r>
          </a:p>
          <a:p>
            <a:r>
              <a:rPr lang="hu-HU" dirty="0"/>
              <a:t>A változási stratégia (közös) kidolgozása</a:t>
            </a:r>
          </a:p>
          <a:p>
            <a:r>
              <a:rPr lang="hu-HU" dirty="0"/>
              <a:t>A változási stratégia végrehajtása és irányítása</a:t>
            </a:r>
          </a:p>
          <a:p>
            <a:r>
              <a:rPr lang="hu-HU" dirty="0"/>
              <a:t>Gyors győzelmek elérése, az átmenet hatékony menedzselése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16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Kurt </a:t>
            </a:r>
            <a:r>
              <a:rPr lang="hu-HU" dirty="0" err="1"/>
              <a:t>Lewin</a:t>
            </a:r>
            <a:r>
              <a:rPr lang="hu-HU" dirty="0"/>
              <a:t> – Klasszikus változás modellje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b="1" dirty="0"/>
              <a:t>Felengedés – </a:t>
            </a:r>
            <a:r>
              <a:rPr lang="hu-HU" b="1" dirty="0" err="1"/>
              <a:t>unfreezing</a:t>
            </a:r>
            <a:endParaRPr lang="hu-HU" b="1" dirty="0"/>
          </a:p>
          <a:p>
            <a:pPr lvl="1"/>
            <a:r>
              <a:rPr lang="hu-HU" dirty="0"/>
              <a:t>A változás feltételeinek megteremtése</a:t>
            </a:r>
          </a:p>
          <a:p>
            <a:pPr lvl="1"/>
            <a:r>
              <a:rPr lang="hu-HU" dirty="0"/>
              <a:t>Kommunikáció, a szükséges kompetenciák, erőforrások megteremtése</a:t>
            </a:r>
          </a:p>
          <a:p>
            <a:pPr lvl="1"/>
            <a:r>
              <a:rPr lang="hu-HU" dirty="0"/>
              <a:t>Az emberek felkészítése a változásra</a:t>
            </a:r>
          </a:p>
          <a:p>
            <a:pPr marL="0" indent="0">
              <a:buNone/>
            </a:pPr>
            <a:r>
              <a:rPr lang="hu-HU" b="1" dirty="0"/>
              <a:t>Változtatás – </a:t>
            </a:r>
            <a:r>
              <a:rPr lang="hu-HU" b="1" dirty="0" err="1"/>
              <a:t>mooving</a:t>
            </a:r>
            <a:endParaRPr lang="hu-HU" b="1" dirty="0"/>
          </a:p>
          <a:p>
            <a:pPr lvl="1"/>
            <a:r>
              <a:rPr lang="hu-HU" dirty="0"/>
              <a:t>A változás nyomon követése</a:t>
            </a:r>
          </a:p>
          <a:p>
            <a:pPr lvl="1"/>
            <a:r>
              <a:rPr lang="hu-HU" dirty="0"/>
              <a:t>Meghonosításhoz szükséges eszközök biztosítása</a:t>
            </a:r>
          </a:p>
          <a:p>
            <a:pPr lvl="1"/>
            <a:r>
              <a:rPr lang="hu-HU" dirty="0"/>
              <a:t>Cél szem előtt tartása</a:t>
            </a:r>
          </a:p>
          <a:p>
            <a:pPr marL="0" indent="0">
              <a:buNone/>
            </a:pPr>
            <a:r>
              <a:rPr lang="hu-HU" b="1" dirty="0"/>
              <a:t>Megszilárdítás – </a:t>
            </a:r>
            <a:r>
              <a:rPr lang="hu-HU" b="1" dirty="0" err="1"/>
              <a:t>freezing</a:t>
            </a:r>
            <a:endParaRPr lang="hu-HU" b="1" dirty="0"/>
          </a:p>
          <a:p>
            <a:pPr lvl="1"/>
            <a:r>
              <a:rPr lang="hu-HU" dirty="0"/>
              <a:t>A szervezeti modellbe rögzítés</a:t>
            </a:r>
          </a:p>
          <a:p>
            <a:pPr lvl="1"/>
            <a:r>
              <a:rPr lang="hu-HU" dirty="0"/>
              <a:t>Egyre nagyobb hatékonyság és természetesség elérése</a:t>
            </a:r>
          </a:p>
          <a:p>
            <a:pPr marL="0" indent="0">
              <a:buNone/>
            </a:pPr>
            <a:r>
              <a:rPr lang="hu-HU" dirty="0"/>
              <a:t>A változásmenedzsment akkor lesz folyamatos egy szervezet életében, ha a felengedés - mozgatás - megszilárdítás körgyűrűt újra és újra el tudja kezdeni, az szinte rendszeres és megszokott rutinná válik a mindennapokban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027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John Kotter – Nyolclépcsős modell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Kotter szerint a változások menedzselésében elsődlegesen a vezetésnek van legmeghatározóbb </a:t>
            </a:r>
            <a:r>
              <a:rPr lang="hu-HU" dirty="0" smtClean="0"/>
              <a:t>felelőssége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Kotter szerint a változtatások sokszor pont azért nem sikeresek, mert hibák adódnak a vezetésben</a:t>
            </a:r>
          </a:p>
          <a:p>
            <a:pPr lvl="1"/>
            <a:r>
              <a:rPr lang="hu-HU" dirty="0"/>
              <a:t>Túlteng az önelégültség, amely a tettvágy visszaesését okozza,</a:t>
            </a:r>
          </a:p>
          <a:p>
            <a:pPr lvl="1"/>
            <a:r>
              <a:rPr lang="hu-HU" dirty="0"/>
              <a:t>Nem ismerik fel, hogy a változtatásra szükség lenne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15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John Kotter – Nyolclépcsős modell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A modell </a:t>
            </a:r>
            <a:r>
              <a:rPr lang="hu-HU" b="1" dirty="0" smtClean="0"/>
              <a:t>lépcsőfokai:</a:t>
            </a:r>
            <a:endParaRPr lang="hu-HU" b="1" dirty="0"/>
          </a:p>
          <a:p>
            <a:pPr marL="457200" lvl="1" indent="0">
              <a:buNone/>
            </a:pPr>
            <a:r>
              <a:rPr lang="hu-HU" dirty="0"/>
              <a:t>1. a változás halaszthatatlanságának érzékeltetése</a:t>
            </a:r>
          </a:p>
          <a:p>
            <a:pPr marL="457200" lvl="1" indent="0">
              <a:buNone/>
            </a:pPr>
            <a:r>
              <a:rPr lang="hu-HU" dirty="0"/>
              <a:t>2. a változást irányító csapat létrehozása</a:t>
            </a:r>
          </a:p>
          <a:p>
            <a:pPr marL="457200" lvl="1" indent="0">
              <a:buNone/>
            </a:pPr>
            <a:r>
              <a:rPr lang="hu-HU" dirty="0"/>
              <a:t>3. jövőkép és stratégia kidolgozása</a:t>
            </a:r>
          </a:p>
          <a:p>
            <a:pPr marL="457200" lvl="1" indent="0">
              <a:buNone/>
            </a:pPr>
            <a:r>
              <a:rPr lang="hu-HU" dirty="0"/>
              <a:t>4. a változtatás jövőképének kommunikálása</a:t>
            </a:r>
          </a:p>
          <a:p>
            <a:pPr marL="457200" lvl="1" indent="0">
              <a:buNone/>
            </a:pPr>
            <a:r>
              <a:rPr lang="hu-HU" dirty="0"/>
              <a:t>5. az alkalmazottak hatalommal való felruházása</a:t>
            </a:r>
          </a:p>
          <a:p>
            <a:pPr marL="457200" lvl="1" indent="0">
              <a:buNone/>
            </a:pPr>
            <a:r>
              <a:rPr lang="hu-HU" dirty="0"/>
              <a:t>6. gyors győzelmek kivívása</a:t>
            </a:r>
          </a:p>
          <a:p>
            <a:pPr marL="457200" lvl="1" indent="0">
              <a:buNone/>
            </a:pPr>
            <a:r>
              <a:rPr lang="hu-HU" dirty="0"/>
              <a:t>7. az eredmények szilárdítása és további változások elérése</a:t>
            </a:r>
          </a:p>
          <a:p>
            <a:pPr marL="457200" lvl="1" indent="0">
              <a:buNone/>
            </a:pPr>
            <a:r>
              <a:rPr lang="hu-HU" dirty="0"/>
              <a:t>8. az új megoldás meggyökereztetése a kultúrában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7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Klasszikus szervezeti változás modell és elemei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xmlns="" id="{9DC56EDC-54F4-4664-80C0-AE28D0D41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5" y="1498196"/>
            <a:ext cx="9906009" cy="4753433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20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változások szereplői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Külső szakértők bevonásának </a:t>
            </a:r>
            <a:r>
              <a:rPr lang="hu-HU" b="1" dirty="0" smtClean="0"/>
              <a:t>előnyei:</a:t>
            </a:r>
            <a:br>
              <a:rPr lang="hu-HU" b="1" dirty="0" smtClean="0"/>
            </a:br>
            <a:endParaRPr lang="hu-HU" b="1" dirty="0"/>
          </a:p>
          <a:p>
            <a:pPr lvl="1"/>
            <a:r>
              <a:rPr lang="hu-HU" dirty="0"/>
              <a:t>beszélik az adott szervezet nyelvét, rálátásuk van és értik a szervezet működését</a:t>
            </a:r>
          </a:p>
          <a:p>
            <a:pPr lvl="1"/>
            <a:r>
              <a:rPr lang="hu-HU" dirty="0"/>
              <a:t>függetlenek a szervezeten belüli hatalmi és politikai viszonyrendszerektől, ám tisztában vannak azok természetével</a:t>
            </a:r>
          </a:p>
          <a:p>
            <a:pPr lvl="1"/>
            <a:r>
              <a:rPr lang="hu-HU" dirty="0"/>
              <a:t>a know-how birtokosai (adott üzleti terület legújabb vívmányai), ismernek olyan menedzsment megoldásokat vagy módszereket, amelyeket a szervezet jelenlegi vezetése nem ismert, vagy nem biztos, hogy alkalmazni tudna</a:t>
            </a:r>
          </a:p>
          <a:p>
            <a:pPr lvl="1"/>
            <a:r>
              <a:rPr lang="hu-HU" dirty="0"/>
              <a:t>csak tanáccsal szolgálhatnak, nem ők veszik át a szervezet vezetését, hanem együttműködnek a valódi döntéshozókkal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5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változások szereplői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880557"/>
            <a:ext cx="11510283" cy="48409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Változást irányító </a:t>
            </a:r>
            <a:r>
              <a:rPr lang="hu-HU" b="1" dirty="0" smtClean="0"/>
              <a:t>csoport:</a:t>
            </a:r>
          </a:p>
          <a:p>
            <a:pPr marL="0" indent="0">
              <a:buNone/>
            </a:pPr>
            <a:endParaRPr lang="hu-HU" b="1" dirty="0"/>
          </a:p>
          <a:p>
            <a:pPr lvl="1"/>
            <a:r>
              <a:rPr lang="hu-HU" dirty="0"/>
              <a:t>magukénak érzik a szervezet és a változtatás céljait, azonosulnak vele és</a:t>
            </a:r>
          </a:p>
          <a:p>
            <a:pPr lvl="1"/>
            <a:r>
              <a:rPr lang="hu-HU" dirty="0"/>
              <a:t>követik a vezetőket (elkötelezettség)</a:t>
            </a:r>
          </a:p>
          <a:p>
            <a:pPr lvl="1"/>
            <a:r>
              <a:rPr lang="hu-HU" dirty="0"/>
              <a:t>megfelelő képességek birtokában vannak (képesség)</a:t>
            </a:r>
          </a:p>
          <a:p>
            <a:pPr lvl="1"/>
            <a:r>
              <a:rPr lang="hu-HU" dirty="0"/>
              <a:t>részt akarnak venni a csapatban és a változtatásban (aspiráció)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603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változások szereplői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2641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b="1" dirty="0"/>
              <a:t>A menedzsment viszonya a </a:t>
            </a:r>
            <a:r>
              <a:rPr lang="hu-HU" b="1" dirty="0" smtClean="0"/>
              <a:t>változáshoz a különböző szervezetekben:</a:t>
            </a:r>
            <a:endParaRPr lang="hu-HU" b="1" dirty="0" smtClean="0"/>
          </a:p>
          <a:p>
            <a:pPr marL="0" indent="0">
              <a:buNone/>
            </a:pPr>
            <a:endParaRPr lang="hu-HU" b="1" dirty="0"/>
          </a:p>
          <a:p>
            <a:pPr lvl="1"/>
            <a:r>
              <a:rPr lang="hu-HU" b="1" dirty="0"/>
              <a:t>Aktív szervezet: </a:t>
            </a:r>
          </a:p>
          <a:p>
            <a:pPr marL="914400" lvl="2" indent="0">
              <a:buNone/>
            </a:pPr>
            <a:r>
              <a:rPr lang="hu-HU" dirty="0"/>
              <a:t>dinamikus menedzsment, a környezet instabil. Ezért mindig egy lépéssel előbb kell járniuk, a változtatás mindennapos számukra.</a:t>
            </a:r>
          </a:p>
          <a:p>
            <a:pPr lvl="1"/>
            <a:r>
              <a:rPr lang="hu-HU" b="1" dirty="0"/>
              <a:t>Passzív szervezet: </a:t>
            </a:r>
          </a:p>
          <a:p>
            <a:pPr marL="914400" lvl="2" indent="0">
              <a:buNone/>
            </a:pPr>
            <a:r>
              <a:rPr lang="hu-HU" dirty="0"/>
              <a:t>csak akkor változtatnak, ha kell - általában a konkurencia hatására – és folyamatosan küzdenek. A változtatást általában rosszul valósítják meg</a:t>
            </a:r>
          </a:p>
          <a:p>
            <a:pPr lvl="1"/>
            <a:r>
              <a:rPr lang="hu-HU" b="1" dirty="0"/>
              <a:t>Átlagos szervezet: </a:t>
            </a:r>
          </a:p>
          <a:p>
            <a:pPr marL="914400" lvl="2" indent="0">
              <a:buNone/>
            </a:pPr>
            <a:r>
              <a:rPr lang="hu-HU" dirty="0"/>
              <a:t>ezek a szervezetek éppen eleget változtatnak, de le vannak maradva a piacvezetők mögött. A változtatás nehéz, de nem lehetetlen, a legtöbb szervezet ebbe a kategóriába sorolható</a:t>
            </a:r>
          </a:p>
          <a:p>
            <a:pPr lvl="1"/>
            <a:r>
              <a:rPr lang="hu-HU" b="1" dirty="0"/>
              <a:t>Statikus szervezet: </a:t>
            </a:r>
          </a:p>
          <a:p>
            <a:pPr marL="914400" lvl="2" indent="0">
              <a:buNone/>
            </a:pPr>
            <a:r>
              <a:rPr lang="hu-HU" dirty="0"/>
              <a:t>nagyon merev és hierarchikus a menedzsment, ami komoly problémát jelenthet. Ha hirtelen megváltoznak a játékszabályok, itt a változtatás roppant nehezen kivitelezhető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04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változások szereplői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A vezetés 5 </a:t>
            </a:r>
            <a:r>
              <a:rPr lang="hu-HU" b="1" dirty="0" smtClean="0"/>
              <a:t>szintje</a:t>
            </a:r>
            <a:br>
              <a:rPr lang="hu-HU" b="1" dirty="0" smtClean="0"/>
            </a:br>
            <a:endParaRPr lang="hu-HU" b="1" dirty="0"/>
          </a:p>
          <a:p>
            <a:pPr lvl="1"/>
            <a:r>
              <a:rPr lang="hu-HU" b="1" dirty="0"/>
              <a:t>A CSÚCS - tisztelet – </a:t>
            </a:r>
            <a:r>
              <a:rPr lang="hu-HU" dirty="0"/>
              <a:t>Az emberek azért követnek, ami vagy, és amit képviselsz</a:t>
            </a:r>
          </a:p>
          <a:p>
            <a:pPr lvl="1"/>
            <a:r>
              <a:rPr lang="hu-HU" b="1" dirty="0"/>
              <a:t>AZ EMBEREK FEJLESZTÉSE - reprodukció – </a:t>
            </a:r>
            <a:r>
              <a:rPr lang="hu-HU" dirty="0"/>
              <a:t>Az emberek azért követnek, amit értük tettél</a:t>
            </a:r>
          </a:p>
          <a:p>
            <a:pPr lvl="1"/>
            <a:r>
              <a:rPr lang="hu-HU" b="1" dirty="0"/>
              <a:t>TELJESÍTMÉNY - eredmények – </a:t>
            </a:r>
            <a:r>
              <a:rPr lang="hu-HU" dirty="0"/>
              <a:t>Az emberek azért követnek, amit a szervezetért tettél</a:t>
            </a:r>
          </a:p>
          <a:p>
            <a:pPr lvl="1"/>
            <a:r>
              <a:rPr lang="hu-HU" b="1" dirty="0"/>
              <a:t>ENGEDÉLY - kapcsolatok – </a:t>
            </a:r>
            <a:r>
              <a:rPr lang="hu-HU" dirty="0"/>
              <a:t>Az emberek azért követnek, mert követni akarnak</a:t>
            </a:r>
          </a:p>
          <a:p>
            <a:pPr lvl="1"/>
            <a:r>
              <a:rPr lang="hu-HU" b="1" dirty="0"/>
              <a:t>POZÍCIÓ - jogok – </a:t>
            </a:r>
            <a:r>
              <a:rPr lang="hu-HU" dirty="0"/>
              <a:t>Az emberek azért követnek, mert követniük </a:t>
            </a:r>
            <a:r>
              <a:rPr lang="hu-HU" dirty="0" smtClean="0"/>
              <a:t>kell</a:t>
            </a:r>
          </a:p>
          <a:p>
            <a:pPr marL="457200" lvl="1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 változást vezetők, </a:t>
            </a:r>
            <a:r>
              <a:rPr lang="hu-HU" dirty="0" smtClean="0"/>
              <a:t>a </a:t>
            </a:r>
            <a:r>
              <a:rPr lang="hu-HU" b="1" dirty="0" smtClean="0"/>
              <a:t>rezonáns vezetők. </a:t>
            </a:r>
            <a:r>
              <a:rPr lang="hu-HU" dirty="0"/>
              <a:t>A döntéshozó egyén érzelmi intelligenciája elég magas ahhoz, hogy bele tudja élni magát a változás folyamataiba. A rezonáns vezető képes a szervezet más tagjainak fejével gondolkodni, és a döntéseket az alárendelt dolgozók szempontjainak figyelembevételével meghozni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472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változás résztvevői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b="1" dirty="0"/>
              <a:t>Támogatók, alkotó gondolkodók</a:t>
            </a:r>
          </a:p>
          <a:p>
            <a:pPr marL="457200" lvl="1" indent="0">
              <a:buNone/>
            </a:pPr>
            <a:r>
              <a:rPr lang="hu-HU" dirty="0"/>
              <a:t>Kedvezően fogadják a változás hírét, elkötelezettek a tanulásban, képesek hosszútávon gondolkodni, jelen és jövő orientáltak, szeretnének közreműködni, reszt venni a változásban</a:t>
            </a:r>
          </a:p>
          <a:p>
            <a:r>
              <a:rPr lang="hu-HU" b="1" dirty="0"/>
              <a:t>Közömbösek</a:t>
            </a:r>
          </a:p>
          <a:p>
            <a:pPr marL="457200" lvl="1" indent="0">
              <a:buNone/>
            </a:pPr>
            <a:r>
              <a:rPr lang="hu-HU" dirty="0"/>
              <a:t>Passzívak a változással kapcsolatban, a változásmenedzsment feladata ezeknek az embereknek a bevonása és elköteleződésük elősegítése</a:t>
            </a:r>
          </a:p>
          <a:p>
            <a:r>
              <a:rPr lang="hu-HU" b="1" dirty="0"/>
              <a:t>Ellenzők</a:t>
            </a:r>
          </a:p>
          <a:p>
            <a:pPr marL="457200" lvl="1" indent="0">
              <a:buNone/>
            </a:pPr>
            <a:r>
              <a:rPr lang="hu-HU" dirty="0"/>
              <a:t>Azonnal ellenáll a változásnak, azonnal ellenérveket keres, fő korlátozó tényezői a változásnak, ragaszkodnak a régi módszerekhez</a:t>
            </a:r>
          </a:p>
          <a:p>
            <a:pPr marL="914400" lvl="2" indent="0">
              <a:buNone/>
            </a:pPr>
            <a:r>
              <a:rPr lang="hu-HU" dirty="0"/>
              <a:t>1. nem értik, miért van szükség a változtatásra</a:t>
            </a:r>
          </a:p>
          <a:p>
            <a:pPr marL="914400" lvl="2" indent="0">
              <a:buNone/>
            </a:pPr>
            <a:r>
              <a:rPr lang="hu-HU" dirty="0"/>
              <a:t>2. túl elfoglaltak</a:t>
            </a:r>
          </a:p>
          <a:p>
            <a:pPr marL="914400" lvl="2" indent="0">
              <a:buNone/>
            </a:pPr>
            <a:r>
              <a:rPr lang="hu-HU" dirty="0"/>
              <a:t>3. úgy érzik, fenyegeti őket a változtatás</a:t>
            </a:r>
          </a:p>
          <a:p>
            <a:pPr marL="914400" lvl="2" indent="0">
              <a:buNone/>
            </a:pPr>
            <a:r>
              <a:rPr lang="hu-HU" dirty="0"/>
              <a:t>4. kulturális problémák adódnak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27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John Kotter - A változás résztvevői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Partnerek </a:t>
            </a:r>
            <a:r>
              <a:rPr lang="hu-HU" dirty="0"/>
              <a:t>- akik támogatják a tervünket</a:t>
            </a:r>
            <a:endParaRPr lang="hu-HU" b="1" dirty="0"/>
          </a:p>
          <a:p>
            <a:r>
              <a:rPr lang="hu-HU" b="1" dirty="0"/>
              <a:t>Szövetségesek </a:t>
            </a:r>
            <a:r>
              <a:rPr lang="hu-HU" dirty="0"/>
              <a:t>- akik megfelelő bátorítás esetén támogatnak minket</a:t>
            </a:r>
            <a:endParaRPr lang="hu-HU" b="1" dirty="0"/>
          </a:p>
          <a:p>
            <a:r>
              <a:rPr lang="hu-HU" b="1" dirty="0"/>
              <a:t>Útitársak</a:t>
            </a:r>
            <a:r>
              <a:rPr lang="hu-HU" dirty="0"/>
              <a:t> - passzív támogatók, akik elkötelezettjei lehetnek a tervnek, de nem a személyünknek, illetve személyesen a csapatnak</a:t>
            </a:r>
            <a:endParaRPr lang="hu-HU" b="1" dirty="0"/>
          </a:p>
          <a:p>
            <a:r>
              <a:rPr lang="hu-HU" b="1" dirty="0"/>
              <a:t>Hálótársak</a:t>
            </a:r>
            <a:r>
              <a:rPr lang="hu-HU" dirty="0"/>
              <a:t> - akik támogatják a tervet, de nem bíznak bennünk, vagy a csapatban</a:t>
            </a:r>
            <a:endParaRPr lang="hu-HU" b="1" dirty="0"/>
          </a:p>
          <a:p>
            <a:r>
              <a:rPr lang="hu-HU" b="1" dirty="0"/>
              <a:t>Semlegesek</a:t>
            </a:r>
            <a:r>
              <a:rPr lang="hu-HU" dirty="0"/>
              <a:t> - a bizonytalanok</a:t>
            </a:r>
            <a:endParaRPr lang="hu-HU" b="1" dirty="0"/>
          </a:p>
          <a:p>
            <a:r>
              <a:rPr lang="hu-HU" b="1" dirty="0"/>
              <a:t>Töltött fegyverek</a:t>
            </a:r>
            <a:r>
              <a:rPr lang="hu-HU" dirty="0"/>
              <a:t> - veszélyesek, mert ott is ellenállást szíthatnak, ahol nincs közvetlen érdekeltségük</a:t>
            </a:r>
            <a:endParaRPr lang="hu-HU" b="1" dirty="0"/>
          </a:p>
          <a:p>
            <a:r>
              <a:rPr lang="hu-HU" b="1" dirty="0"/>
              <a:t>Ellenfelek </a:t>
            </a:r>
            <a:r>
              <a:rPr lang="hu-HU" dirty="0"/>
              <a:t>- akik a terv ellen, de nem személyesen ellenünk, vagy a csapat ellen vannak</a:t>
            </a:r>
            <a:endParaRPr lang="hu-HU" b="1" dirty="0"/>
          </a:p>
          <a:p>
            <a:r>
              <a:rPr lang="hu-HU" b="1" dirty="0"/>
              <a:t>Ellenségek </a:t>
            </a:r>
            <a:r>
              <a:rPr lang="hu-HU" dirty="0"/>
              <a:t>- akik a terv ellen, személyesen ellenünk és a csapat ellen vannak</a:t>
            </a:r>
            <a:endParaRPr lang="hu-HU" b="1" dirty="0"/>
          </a:p>
          <a:p>
            <a:r>
              <a:rPr lang="hu-HU" b="1" dirty="0"/>
              <a:t>Hangtalanok </a:t>
            </a:r>
            <a:r>
              <a:rPr lang="hu-HU" dirty="0"/>
              <a:t>- akiket ugyan érint a változtatás, de nincs elég hatalmuk ellenállni, vagy támogatni, és nincsenek szószólóik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749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John Kotter – Ellenzők azonosítása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Azonosítsuk őket! </a:t>
            </a:r>
          </a:p>
          <a:p>
            <a:pPr marL="0" indent="0">
              <a:buNone/>
            </a:pPr>
            <a:r>
              <a:rPr lang="hu-HU" dirty="0"/>
              <a:t>2. Ne legyünk naivak azzal kapcsolatban, hogy mekkora kárt képesek okozni!</a:t>
            </a:r>
          </a:p>
          <a:p>
            <a:pPr marL="0" indent="0">
              <a:buNone/>
            </a:pPr>
            <a:r>
              <a:rPr lang="hu-HU" dirty="0"/>
              <a:t>3. A valóban hatásos módszerek </a:t>
            </a:r>
            <a:r>
              <a:rPr lang="hu-HU" dirty="0" smtClean="0"/>
              <a:t>valamelyikét, </a:t>
            </a:r>
            <a:r>
              <a:rPr lang="hu-HU" dirty="0"/>
              <a:t>vagy mindegyikét vessük be ellenük, s ne azokat, amelyek többször kudarcba </a:t>
            </a:r>
            <a:r>
              <a:rPr lang="hu-HU" dirty="0" smtClean="0"/>
              <a:t>fulladtak!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4. Folytassuk a munkát, és fáradozzunk tovább a megálmodott, valóban XXI. századi cég létrehozásán, amely a befektetőket, az alkalmazottakat, az ügyfeleket és a társadalmat is elégedettséggel tölti el!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52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Inercia, </a:t>
            </a:r>
            <a:r>
              <a:rPr lang="hu-HU" dirty="0"/>
              <a:t>a változással szembeni félelem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A változástól való félelem kérdései</a:t>
            </a:r>
          </a:p>
          <a:p>
            <a:pPr lvl="1"/>
            <a:r>
              <a:rPr lang="hu-HU" dirty="0"/>
              <a:t>Kiktől várható a változásokkal szembeni ellenállás? </a:t>
            </a:r>
          </a:p>
          <a:p>
            <a:pPr lvl="1"/>
            <a:r>
              <a:rPr lang="hu-HU" dirty="0"/>
              <a:t>Miért pont ezeknél a szereplőknél jelentkezik és milyen mértékű ellenállásra számíthatunk? </a:t>
            </a:r>
          </a:p>
          <a:p>
            <a:pPr lvl="1"/>
            <a:r>
              <a:rPr lang="hu-HU" dirty="0"/>
              <a:t>Kiknek van a változás megtervezéséhez szükséges lényeges információja? </a:t>
            </a:r>
          </a:p>
          <a:p>
            <a:pPr lvl="1"/>
            <a:r>
              <a:rPr lang="hu-HU" dirty="0"/>
              <a:t>Kik lehetnek azok a szereplők, akiktől a legnagyobb ellenállásra számíthatunk, mekkora hatalmuk van és miképpen hathatnak a többi szereplő viselkedésére? </a:t>
            </a:r>
          </a:p>
          <a:p>
            <a:pPr lvl="1"/>
            <a:r>
              <a:rPr lang="hu-HU" dirty="0"/>
              <a:t>Kinek az együttműködése elengedhetetlen a változás megvalósításához?</a:t>
            </a:r>
          </a:p>
          <a:p>
            <a:pPr marL="0" indent="0">
              <a:buNone/>
            </a:pPr>
            <a:r>
              <a:rPr lang="hu-HU" b="1" dirty="0"/>
              <a:t>A változásokkal szembeni félelem és az ebből adódó ellenállás a sikeres változtatások legnagyobb akadályát jelentik</a:t>
            </a:r>
            <a:r>
              <a:rPr lang="hu-HU" dirty="0"/>
              <a:t>. Hiába van meg minden anyagi, vagy tárgyi feltétel egy-egy radikális, vagy inkrementális változtatáshoz, ha az emberek akadályt gördítenek a változtatás útjába. Maguk az alkalmazottak, vagy akár a vezetők is kételkedhetnek az eredményekben, bizonytalanná válhatnak, félthetik jelenlegi helyzetüket stb., így mindent elkövetnek, hogy a változtatás a lehető legkésőbb érje el őket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1293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xmlns="" id="{D39C56FF-73BA-4D41-9631-88C5299B2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445" y="2035834"/>
            <a:ext cx="6855565" cy="4392507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Inercia, </a:t>
            </a:r>
            <a:r>
              <a:rPr lang="hu-HU" dirty="0"/>
              <a:t>a változással szembeni félelem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5077374" cy="526414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u-HU" sz="2600" b="1" dirty="0"/>
              <a:t>A változás útjában álló </a:t>
            </a:r>
            <a:r>
              <a:rPr lang="hu-HU" sz="2600" b="1" dirty="0" smtClean="0"/>
              <a:t>akadályok:</a:t>
            </a:r>
            <a:endParaRPr lang="hu-HU" sz="2600" b="1" dirty="0"/>
          </a:p>
          <a:p>
            <a:pPr marL="457200" lvl="1" indent="0">
              <a:buNone/>
            </a:pPr>
            <a:r>
              <a:rPr lang="hu-HU" dirty="0"/>
              <a:t>1. az alkalmazottak ellenállása (inercia)</a:t>
            </a:r>
          </a:p>
          <a:p>
            <a:pPr marL="457200" lvl="1" indent="0">
              <a:buNone/>
            </a:pPr>
            <a:r>
              <a:rPr lang="hu-HU" dirty="0"/>
              <a:t>2. hiányos nyomon követés 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(</a:t>
            </a:r>
            <a:r>
              <a:rPr lang="hu-HU" dirty="0"/>
              <a:t>a változtatás kontrolljának hiánya)</a:t>
            </a:r>
          </a:p>
          <a:p>
            <a:pPr marL="457200" lvl="1" indent="0">
              <a:buNone/>
            </a:pPr>
            <a:r>
              <a:rPr lang="hu-HU" dirty="0"/>
              <a:t>3. nem megfelelő kultúra (a </a:t>
            </a:r>
            <a:r>
              <a:rPr lang="hu-HU" dirty="0" smtClean="0"/>
              <a:t>szervezeti</a:t>
            </a:r>
            <a:br>
              <a:rPr lang="hu-HU" dirty="0" smtClean="0"/>
            </a:br>
            <a:r>
              <a:rPr lang="hu-HU" dirty="0" smtClean="0"/>
              <a:t> </a:t>
            </a:r>
            <a:r>
              <a:rPr lang="hu-HU" dirty="0"/>
              <a:t>kultúra nem támogatja a változásokat)</a:t>
            </a:r>
          </a:p>
          <a:p>
            <a:pPr marL="457200" lvl="1" indent="0">
              <a:buNone/>
            </a:pPr>
            <a:r>
              <a:rPr lang="hu-HU" dirty="0"/>
              <a:t>4. a menedzsment egyet nem értése 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a stratégiával (a vezetői támogatás hiánya)</a:t>
            </a:r>
          </a:p>
          <a:p>
            <a:pPr marL="457200" lvl="1" indent="0">
              <a:buNone/>
            </a:pPr>
            <a:r>
              <a:rPr lang="hu-HU" dirty="0" smtClean="0"/>
              <a:t>5. a hatékony kommunikáció hiánya </a:t>
            </a:r>
            <a:br>
              <a:rPr lang="hu-HU" dirty="0" smtClean="0"/>
            </a:br>
            <a:r>
              <a:rPr lang="hu-HU" dirty="0" smtClean="0"/>
              <a:t>(a </a:t>
            </a:r>
            <a:r>
              <a:rPr lang="hu-HU" dirty="0" err="1" smtClean="0"/>
              <a:t>peer-to-peer</a:t>
            </a:r>
            <a:r>
              <a:rPr lang="hu-HU" dirty="0" smtClean="0"/>
              <a:t> menedzsment hiánya)</a:t>
            </a:r>
          </a:p>
          <a:p>
            <a:pPr marL="457200" lvl="1" indent="0">
              <a:buNone/>
            </a:pPr>
            <a:r>
              <a:rPr lang="hu-HU" dirty="0" smtClean="0"/>
              <a:t>6</a:t>
            </a:r>
            <a:r>
              <a:rPr lang="hu-HU" dirty="0"/>
              <a:t>. nem elegendő szakértelem 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(</a:t>
            </a:r>
            <a:r>
              <a:rPr lang="hu-HU" dirty="0"/>
              <a:t>a képességek hiánya)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40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változást korlátozó tényezők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656283"/>
            <a:ext cx="11997779" cy="5065190"/>
          </a:xfrm>
        </p:spPr>
        <p:txBody>
          <a:bodyPr>
            <a:normAutofit/>
          </a:bodyPr>
          <a:lstStyle/>
          <a:p>
            <a:r>
              <a:rPr lang="hu-HU" b="1" dirty="0"/>
              <a:t>Kognitív akadály – </a:t>
            </a:r>
            <a:r>
              <a:rPr lang="hu-HU" dirty="0"/>
              <a:t>a változás fontosságának elfogadása, a változás </a:t>
            </a:r>
            <a:r>
              <a:rPr lang="hu-HU" dirty="0" smtClean="0"/>
              <a:t>kommunikálása</a:t>
            </a:r>
          </a:p>
          <a:p>
            <a:pPr marL="0" indent="0">
              <a:buNone/>
            </a:pPr>
            <a:endParaRPr lang="hu-HU" dirty="0" smtClean="0"/>
          </a:p>
          <a:p>
            <a:r>
              <a:rPr lang="hu-HU" b="1" dirty="0" smtClean="0"/>
              <a:t>Korlátozott </a:t>
            </a:r>
            <a:r>
              <a:rPr lang="hu-HU" b="1" dirty="0"/>
              <a:t>erőforrások – </a:t>
            </a:r>
            <a:r>
              <a:rPr lang="hu-HU" dirty="0"/>
              <a:t>a változás igényeinek </a:t>
            </a:r>
            <a:r>
              <a:rPr lang="hu-HU" dirty="0" smtClean="0"/>
              <a:t>előteremtése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b="1" dirty="0"/>
              <a:t>Motiváció – </a:t>
            </a:r>
            <a:r>
              <a:rPr lang="hu-HU" dirty="0"/>
              <a:t>a változás melletti elköteleződés hiánya, útközben „kifáradás</a:t>
            </a:r>
            <a:r>
              <a:rPr lang="hu-HU" dirty="0" smtClean="0"/>
              <a:t>”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b="1" dirty="0"/>
              <a:t>Politika – </a:t>
            </a:r>
            <a:r>
              <a:rPr lang="hu-HU" dirty="0"/>
              <a:t>a változás támogatottságának hiánya, a változáshoz való hozzáállás vállalati szinten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65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változást korlátozó tényezők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457325"/>
            <a:ext cx="11997779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Aggályok a változással </a:t>
            </a:r>
            <a:r>
              <a:rPr lang="hu-HU" b="1" dirty="0" smtClean="0"/>
              <a:t>szemben:</a:t>
            </a:r>
            <a:endParaRPr lang="hu-HU" b="1" dirty="0"/>
          </a:p>
          <a:p>
            <a:pPr lvl="1"/>
            <a:r>
              <a:rPr lang="hu-HU" b="1" dirty="0"/>
              <a:t>Információs aggály </a:t>
            </a:r>
            <a:r>
              <a:rPr lang="hu-HU" dirty="0"/>
              <a:t>– mi változik? miért van erre szükség? mennyit és merre kell a szervezetnek változnia? Megoldása: kommunikáció, tájékoztatás, elemzés</a:t>
            </a:r>
          </a:p>
          <a:p>
            <a:pPr lvl="1"/>
            <a:r>
              <a:rPr lang="hu-HU" b="1" dirty="0"/>
              <a:t>Személyes aggály </a:t>
            </a:r>
            <a:r>
              <a:rPr lang="hu-HU" dirty="0"/>
              <a:t>– Nyerek vagy veszítek? Nekem min kell változtatnom? Új dolgot kell tanulnom? Megoldása: pontos, részletes, személyes kommunikáció, tervezés</a:t>
            </a:r>
          </a:p>
          <a:p>
            <a:pPr lvl="1"/>
            <a:r>
              <a:rPr lang="hu-HU" b="1" dirty="0"/>
              <a:t>Átültetési aggály </a:t>
            </a:r>
            <a:r>
              <a:rPr lang="hu-HU" dirty="0"/>
              <a:t>– Mik a szükséges lépések? Meddig tart? Hogyan fog a változás pontosan lezajlani? Megoldása: érintettek bevonása, részletes tevékenység lebontás</a:t>
            </a:r>
          </a:p>
          <a:p>
            <a:pPr lvl="1"/>
            <a:r>
              <a:rPr lang="hu-HU" b="1" dirty="0"/>
              <a:t>Kihatási aggály </a:t>
            </a:r>
            <a:r>
              <a:rPr lang="hu-HU" dirty="0"/>
              <a:t>– Mi lesz a végeredmény? Megéri mindez a fáradtságot? Valóban előrelépés? Megoldása: pontos mérhetőség, gyors győzelmek realizálása, elkötelezettség</a:t>
            </a:r>
          </a:p>
          <a:p>
            <a:pPr lvl="1"/>
            <a:r>
              <a:rPr lang="hu-HU" b="1" dirty="0"/>
              <a:t>Együttműködési aggály </a:t>
            </a:r>
            <a:r>
              <a:rPr lang="hu-HU" dirty="0"/>
              <a:t>– Kit kell bevonni? Hogy a leghatékonyabb az együttműködés? Hogyan terjesszük az információkat? Megoldása: érintettek, támogatók meghatározása</a:t>
            </a:r>
          </a:p>
          <a:p>
            <a:pPr lvl="1"/>
            <a:r>
              <a:rPr lang="hu-HU" b="1" dirty="0"/>
              <a:t>Finomítási aggály </a:t>
            </a:r>
            <a:r>
              <a:rPr lang="hu-HU" dirty="0"/>
              <a:t>– Hogyan lehetne javítani az eredeti elképzelésen? Hogyan lehetne hatékonyabbá, még jobbá tenni a változást? Megoldása: a jövő vizsgálata, környezet elemzés, a lehető legjobb döntések meghozása</a:t>
            </a:r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132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változást korlátozó tényezők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457325"/>
            <a:ext cx="11997779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Az ellenállás okai</a:t>
            </a:r>
          </a:p>
          <a:p>
            <a:pPr marL="457200" lvl="1" indent="0">
              <a:buNone/>
            </a:pPr>
            <a:r>
              <a:rPr lang="hu-HU" dirty="0"/>
              <a:t>1. az ellenőrzés elvesztése</a:t>
            </a:r>
          </a:p>
          <a:p>
            <a:pPr marL="457200" lvl="1" indent="0">
              <a:buNone/>
            </a:pPr>
            <a:r>
              <a:rPr lang="hu-HU" dirty="0"/>
              <a:t>2. bizonytalanság</a:t>
            </a:r>
          </a:p>
          <a:p>
            <a:pPr marL="457200" lvl="1" indent="0">
              <a:buNone/>
            </a:pPr>
            <a:r>
              <a:rPr lang="hu-HU" dirty="0"/>
              <a:t>3. félreértés és bizalomhiány</a:t>
            </a:r>
          </a:p>
          <a:p>
            <a:pPr marL="457200" lvl="1" indent="0">
              <a:buNone/>
            </a:pPr>
            <a:r>
              <a:rPr lang="hu-HU" dirty="0"/>
              <a:t>4. különböző értékelés</a:t>
            </a:r>
          </a:p>
          <a:p>
            <a:pPr marL="457200" lvl="1" indent="0">
              <a:buNone/>
            </a:pPr>
            <a:r>
              <a:rPr lang="hu-HU" dirty="0"/>
              <a:t>5. a különbségektől való félelem</a:t>
            </a:r>
          </a:p>
          <a:p>
            <a:pPr marL="457200" lvl="1" indent="0">
              <a:buNone/>
            </a:pPr>
            <a:r>
              <a:rPr lang="hu-HU" dirty="0"/>
              <a:t>6. a hatalmi pozíció és a befolyás fenyegetettsége</a:t>
            </a:r>
          </a:p>
          <a:p>
            <a:pPr marL="457200" lvl="1" indent="0">
              <a:buNone/>
            </a:pPr>
            <a:r>
              <a:rPr lang="hu-HU" dirty="0"/>
              <a:t>7. ragaszkodás a hagyományokhoz</a:t>
            </a:r>
          </a:p>
          <a:p>
            <a:pPr marL="457200" lvl="1" indent="0">
              <a:buNone/>
            </a:pPr>
            <a:r>
              <a:rPr lang="hu-HU" dirty="0"/>
              <a:t>8. függőség másoktól</a:t>
            </a:r>
          </a:p>
          <a:p>
            <a:pPr marL="457200" lvl="1" indent="0">
              <a:buNone/>
            </a:pPr>
            <a:r>
              <a:rPr lang="hu-HU" dirty="0"/>
              <a:t>9. esetleges többletmunka</a:t>
            </a:r>
          </a:p>
          <a:p>
            <a:pPr marL="457200" lvl="1" indent="0">
              <a:buNone/>
            </a:pPr>
            <a:r>
              <a:rPr lang="hu-HU" dirty="0"/>
              <a:t>10. félreértések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015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Larry </a:t>
            </a:r>
            <a:r>
              <a:rPr lang="hu-HU" dirty="0" err="1"/>
              <a:t>Hirschorn</a:t>
            </a:r>
            <a:r>
              <a:rPr lang="hu-HU" dirty="0"/>
              <a:t> – Folyamatos változás kampány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378424"/>
            <a:ext cx="11997779" cy="53430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u-HU" dirty="0"/>
              <a:t>A változásra való igényt folyamatosan kell kampányolni, a szervezet mindennapi részévé kell azt tenni</a:t>
            </a:r>
          </a:p>
          <a:p>
            <a:pPr marL="0" indent="0">
              <a:buNone/>
            </a:pPr>
            <a:r>
              <a:rPr lang="hu-HU" dirty="0"/>
              <a:t>A modell az úgynevezett háromkampányos modell néven vált ismertté.</a:t>
            </a:r>
          </a:p>
          <a:p>
            <a:pPr marL="0" indent="0">
              <a:buNone/>
            </a:pPr>
            <a:r>
              <a:rPr lang="hu-HU" dirty="0"/>
              <a:t>A változtatás sikere 3 kampány együttes folytatása mellett érhető el:</a:t>
            </a:r>
          </a:p>
          <a:p>
            <a:pPr marL="457200" lvl="1" indent="0">
              <a:buNone/>
            </a:pPr>
            <a:r>
              <a:rPr lang="hu-HU" b="1" dirty="0"/>
              <a:t>1. politikai kampány</a:t>
            </a:r>
          </a:p>
          <a:p>
            <a:pPr marL="914400" lvl="2" indent="0">
              <a:buNone/>
            </a:pPr>
            <a:r>
              <a:rPr lang="hu-HU" dirty="0" smtClean="0"/>
              <a:t>A célja </a:t>
            </a:r>
            <a:r>
              <a:rPr lang="hu-HU" dirty="0"/>
              <a:t>egy olyan erős koalíció létrehozása, amely hatékonyan támogatja és vezeti a kezdeményezést. Változásmenedzserként meg kell szereznünk a szükséges támogatást! </a:t>
            </a:r>
          </a:p>
          <a:p>
            <a:pPr marL="457200" lvl="1" indent="0">
              <a:buNone/>
            </a:pPr>
            <a:r>
              <a:rPr lang="hu-HU" b="1" dirty="0"/>
              <a:t>2. marketing kampány</a:t>
            </a:r>
          </a:p>
          <a:p>
            <a:pPr marL="914400" lvl="2" indent="0">
              <a:buNone/>
            </a:pPr>
            <a:r>
              <a:rPr lang="hu-HU" dirty="0"/>
              <a:t>1. Hallgassuk meg a munkatársakat, hogy mit mondanak, járjunk nyitott fülekkel</a:t>
            </a:r>
          </a:p>
          <a:p>
            <a:pPr marL="914400" lvl="2" indent="0">
              <a:buNone/>
            </a:pPr>
            <a:r>
              <a:rPr lang="hu-HU" dirty="0"/>
              <a:t>2. Működjünk együtt a „vezető vevőkkel”, vagyis azokkal az alkalmazottakkal, akik leghamarabb vevők a programunkra, és esetleg önként jelentkeznek nálunk a változtatással kapcsolatos ötleteikkel, javaslataikkal. Sokszor ezek a kezdeményezések pozitív irányba befolyásolhatják a változtatási folyamatot</a:t>
            </a:r>
          </a:p>
          <a:p>
            <a:pPr marL="914400" lvl="2" indent="0">
              <a:buNone/>
            </a:pPr>
            <a:r>
              <a:rPr lang="hu-HU" dirty="0"/>
              <a:t>3. Fejlesszünk ki egy olyan tiszta, a vállalat minden szintje számára közérthető kommunikációt, amelyet mindenki könnyen megért, és amelyre tudnak is választ adni</a:t>
            </a:r>
          </a:p>
          <a:p>
            <a:pPr marL="457200" lvl="1" indent="0">
              <a:buNone/>
            </a:pPr>
            <a:r>
              <a:rPr lang="hu-HU" b="1" dirty="0"/>
              <a:t>3. katonai kampány</a:t>
            </a:r>
          </a:p>
          <a:p>
            <a:pPr marL="914400" lvl="2" indent="0">
              <a:buNone/>
            </a:pPr>
            <a:r>
              <a:rPr lang="hu-HU" dirty="0"/>
              <a:t>1. Biztosítsuk be az ellátási vonalakat! Azokra a dolgokra koncentráljunk a változtatási folyamat során, amelyek már megragadták az érintettek figyelmét. Erősítsük meg őket a „hitükben”</a:t>
            </a:r>
          </a:p>
          <a:p>
            <a:pPr marL="914400" lvl="2" indent="0">
              <a:buNone/>
            </a:pPr>
            <a:r>
              <a:rPr lang="hu-HU" dirty="0"/>
              <a:t>2. Válasszunk hídfőállásokat. Hozzunk létre tesztprojekteket, amelyek keretében új ötleteket, módszereket, gyakorlatokat lehet kipróbálni</a:t>
            </a:r>
          </a:p>
          <a:p>
            <a:pPr marL="914400" lvl="2" indent="0">
              <a:buNone/>
            </a:pPr>
            <a:r>
              <a:rPr lang="hu-HU" dirty="0"/>
              <a:t>3. Hozzunk létre háborús szobákat. Ezek olyan irodák, ahol a munkatársak szabadon megvitathatják egymás között a napi szervezeti problémákat, megvívhatják csatáikat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231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John Kotter - Tettvágy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457325"/>
            <a:ext cx="11997779" cy="5264148"/>
          </a:xfrm>
        </p:spPr>
        <p:txBody>
          <a:bodyPr>
            <a:normAutofit/>
          </a:bodyPr>
          <a:lstStyle/>
          <a:p>
            <a:r>
              <a:rPr lang="hu-HU" dirty="0"/>
              <a:t>A tettre kész ember gondolkodása szerint nem igaz, hogy minden rendben, vagy semmi sem működik, ő úgy véli, hogy a világ nagy lehetőségeket, illetve nagy veszélyeket tartogat</a:t>
            </a:r>
          </a:p>
          <a:p>
            <a:r>
              <a:rPr lang="hu-HU" dirty="0"/>
              <a:t>Feladatai elvégzését nem az elégedettség, a szorongás, a frusztráció vagy a harag indítja, hanem az a mély meggyőződés és elhatározás, hogy haladni kell, tenni kell, győzni kell, mégpedig azonnal</a:t>
            </a:r>
          </a:p>
          <a:p>
            <a:pPr lvl="1"/>
            <a:r>
              <a:rPr lang="hu-HU" dirty="0"/>
              <a:t>folyamatosan szemmel tartja a cégen belüli és kívüli környezetet, kutat a siker és a túlélés szempontjából fontos információk után</a:t>
            </a:r>
          </a:p>
          <a:p>
            <a:r>
              <a:rPr lang="hu-HU" dirty="0"/>
              <a:t>A tettvágy és a tettre kész szervezet rendkívül jó hatással van a változási folyamatokra</a:t>
            </a:r>
          </a:p>
          <a:p>
            <a:r>
              <a:rPr lang="hu-HU" dirty="0"/>
              <a:t>Ha csökken a tettvágy, a szervezet cselekvési és reagálási képessége is lassul, amelynek következtében a szervezet lemaradhat a rugalmasabb versenytársaihoz képest</a:t>
            </a:r>
          </a:p>
          <a:p>
            <a:r>
              <a:rPr lang="hu-HU" dirty="0"/>
              <a:t>Az önelégült nyugalom és a tettvágy csak a két szélsőséges esetet jelenti. Közöttük meghúzódik az úgynevezett áltettvágy, amely a változtatások számára szintén nem kedvező jelenség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808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John Kotter - Tettvágy </a:t>
            </a:r>
            <a:r>
              <a:rPr lang="hu-HU" dirty="0" smtClean="0"/>
              <a:t>jellemzői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457325"/>
            <a:ext cx="11997779" cy="526414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hu-HU" b="1" dirty="0"/>
              <a:t>Tettvágy</a:t>
            </a:r>
          </a:p>
          <a:p>
            <a:pPr lvl="1"/>
            <a:r>
              <a:rPr lang="hu-HU" dirty="0" smtClean="0"/>
              <a:t>Ritka</a:t>
            </a:r>
            <a:r>
              <a:rPr lang="hu-HU" dirty="0"/>
              <a:t>, felbecsülhetetlen értékű kincs a gyorsan változó világban </a:t>
            </a:r>
            <a:endParaRPr lang="hu-HU" b="1" dirty="0"/>
          </a:p>
          <a:p>
            <a:pPr lvl="1"/>
            <a:r>
              <a:rPr lang="hu-HU" dirty="0"/>
              <a:t>A vezetés: nemcsak felső vezetők, hanem minden vezető, aki megteremti és szükség esetén újra megteremti a tettvágyat</a:t>
            </a:r>
            <a:endParaRPr lang="hu-HU" b="1" dirty="0"/>
          </a:p>
          <a:p>
            <a:pPr lvl="1"/>
            <a:r>
              <a:rPr lang="hu-HU" dirty="0"/>
              <a:t>„Nagy lehetőségek és veszélyek vesznek körül bennünket!”</a:t>
            </a:r>
            <a:endParaRPr lang="hu-HU" b="1" dirty="0"/>
          </a:p>
          <a:p>
            <a:pPr lvl="1"/>
            <a:r>
              <a:rPr lang="hu-HU" dirty="0"/>
              <a:t>Erős vágy, hogy azonnal tehessenek valamit és sikert érjenek el</a:t>
            </a:r>
          </a:p>
          <a:p>
            <a:pPr lvl="1"/>
            <a:r>
              <a:rPr lang="hu-HU" dirty="0"/>
              <a:t>Tettvággyal áthatott tevekénység: éber, gyors, célirányos, a külvilágból érkező fontos jelekre figyel, hajthatatlan, a lényegtelen tennivalóktól megszabadul, hogy időt teremtsen a fontosak számára, és megelőzze a kiégést</a:t>
            </a:r>
            <a:endParaRPr lang="hu-HU" b="1" dirty="0"/>
          </a:p>
          <a:p>
            <a:pPr marL="0" indent="0">
              <a:buNone/>
            </a:pPr>
            <a:r>
              <a:rPr lang="hu-HU" b="1" dirty="0"/>
              <a:t>Áltettvágy</a:t>
            </a:r>
          </a:p>
          <a:p>
            <a:pPr lvl="1"/>
            <a:r>
              <a:rPr lang="hu-HU" dirty="0" smtClean="0"/>
              <a:t>Szintén </a:t>
            </a:r>
            <a:r>
              <a:rPr lang="hu-HU" dirty="0"/>
              <a:t>elterjedt, alattomos, és gyakran összetévesztik a valódi tettvággyal</a:t>
            </a:r>
          </a:p>
          <a:p>
            <a:pPr lvl="1"/>
            <a:r>
              <a:rPr lang="hu-HU" dirty="0"/>
              <a:t>A hibák: rövid távú következményekkel járó közelmúltbeli gondok, illetve tartós nyereség csökkenés</a:t>
            </a:r>
          </a:p>
          <a:p>
            <a:pPr lvl="1"/>
            <a:r>
              <a:rPr lang="hu-HU" dirty="0"/>
              <a:t>„Jó nagy pácban vagyunk!”</a:t>
            </a:r>
          </a:p>
          <a:p>
            <a:pPr lvl="1"/>
            <a:r>
              <a:rPr lang="hu-HU" dirty="0"/>
              <a:t>Idegesek, dühösek, frusztráltak</a:t>
            </a:r>
          </a:p>
          <a:p>
            <a:pPr lvl="1"/>
            <a:r>
              <a:rPr lang="hu-HU" dirty="0"/>
              <a:t>Nagy sürgésforgás: az értekezletek egymást érik, mindenki jegyzetel, rohan, projektek egymás hegyénhátán, munkacsoportok, PowerPoint kifulladásig, mindez igen kimerítő és nagy stresszel jár</a:t>
            </a:r>
            <a:endParaRPr lang="hu-HU" b="1" dirty="0"/>
          </a:p>
          <a:p>
            <a:pPr marL="0" indent="0">
              <a:buNone/>
            </a:pPr>
            <a:r>
              <a:rPr lang="hu-HU" b="1" dirty="0"/>
              <a:t>Önelégült nyugalom</a:t>
            </a:r>
          </a:p>
          <a:p>
            <a:pPr lvl="1"/>
            <a:r>
              <a:rPr lang="hu-HU" dirty="0" smtClean="0"/>
              <a:t>Elterjedtebb</a:t>
            </a:r>
            <a:r>
              <a:rPr lang="hu-HU" dirty="0"/>
              <a:t>, mint gondolnánk, alattomos, az érintettek nem veszik észre</a:t>
            </a:r>
          </a:p>
          <a:p>
            <a:pPr lvl="1"/>
            <a:r>
              <a:rPr lang="hu-HU" dirty="0"/>
              <a:t>A siker, az elmúlt időszak valós vagy vélt győzelmei</a:t>
            </a:r>
          </a:p>
          <a:p>
            <a:pPr lvl="1"/>
            <a:r>
              <a:rPr lang="pl-PL" dirty="0"/>
              <a:t>„Tudjuk, mi a dolgunk, és azt is tesszük”</a:t>
            </a:r>
          </a:p>
          <a:p>
            <a:pPr lvl="1"/>
            <a:r>
              <a:rPr lang="hu-HU" dirty="0"/>
              <a:t>Elégedettek a status </a:t>
            </a:r>
            <a:r>
              <a:rPr lang="hu-HU" dirty="0" err="1"/>
              <a:t>qou-val</a:t>
            </a:r>
            <a:r>
              <a:rPr lang="hu-HU" dirty="0"/>
              <a:t> (és olykor félnek az ismeretlentől)</a:t>
            </a:r>
          </a:p>
          <a:p>
            <a:pPr lvl="1"/>
            <a:r>
              <a:rPr lang="hu-HU" dirty="0"/>
              <a:t>Változatlan, a cég nem veszi figyelembe az új lehetőségeket és veszélyeket, befelé figyel, igyekszik tartani a múltbéli normákat</a:t>
            </a:r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355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John Kotter - Tettvágy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457325"/>
            <a:ext cx="11997779" cy="52641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b="1" dirty="0"/>
              <a:t>Tettvágy</a:t>
            </a:r>
          </a:p>
          <a:p>
            <a:pPr marL="457200" lvl="1" indent="0">
              <a:buNone/>
            </a:pPr>
            <a:r>
              <a:rPr lang="hu-HU" dirty="0"/>
              <a:t>1. nyissunk jobban a külvilág felé! </a:t>
            </a:r>
          </a:p>
          <a:p>
            <a:pPr marL="457200" lvl="1" indent="0">
              <a:buNone/>
            </a:pPr>
            <a:r>
              <a:rPr lang="hu-HU" dirty="0"/>
              <a:t>2. új, szokatlan módon fejezzük ki, hogy a feladatot sürgetőnek érezzük! </a:t>
            </a:r>
          </a:p>
          <a:p>
            <a:pPr marL="457200" lvl="1" indent="0">
              <a:buNone/>
            </a:pPr>
            <a:r>
              <a:rPr lang="hu-HU" dirty="0"/>
              <a:t>3. használjuk ki (vagy idézzünk elő) egy új krízist! </a:t>
            </a:r>
          </a:p>
          <a:p>
            <a:pPr marL="457200" lvl="1" indent="0">
              <a:buNone/>
            </a:pPr>
            <a:r>
              <a:rPr lang="hu-HU" dirty="0"/>
              <a:t>4. semlegesítsük azokat a szereplőket, akik a változás ellen vannak! </a:t>
            </a:r>
          </a:p>
          <a:p>
            <a:pPr marL="457200" lvl="1" indent="0">
              <a:buNone/>
            </a:pPr>
            <a:r>
              <a:rPr lang="hu-HU" dirty="0"/>
              <a:t>5. mindenekelőtt igyekezzünk beágyazni a kultúrába a tettvágyat! (Kotter, 2009)</a:t>
            </a:r>
          </a:p>
          <a:p>
            <a:pPr marL="0" indent="0">
              <a:buNone/>
            </a:pPr>
            <a:r>
              <a:rPr lang="hu-HU" b="1" dirty="0"/>
              <a:t>Az ellenállás csökkentésének (leküzdésének) további lehetséges módjai: </a:t>
            </a:r>
          </a:p>
          <a:p>
            <a:pPr marL="457200" lvl="1" indent="0">
              <a:buNone/>
            </a:pPr>
            <a:r>
              <a:rPr lang="hu-HU" dirty="0"/>
              <a:t>1. bevonjuk az embereket </a:t>
            </a:r>
          </a:p>
          <a:p>
            <a:pPr marL="457200" lvl="1" indent="0">
              <a:buNone/>
            </a:pPr>
            <a:r>
              <a:rPr lang="hu-HU" dirty="0"/>
              <a:t>2. képezzük őket</a:t>
            </a:r>
          </a:p>
          <a:p>
            <a:pPr marL="457200" lvl="1" indent="0">
              <a:buNone/>
            </a:pPr>
            <a:r>
              <a:rPr lang="hu-HU" dirty="0"/>
              <a:t>3. érthetően magyarázzuk el a változtatást </a:t>
            </a:r>
          </a:p>
          <a:p>
            <a:pPr marL="457200" lvl="1" indent="0">
              <a:buNone/>
            </a:pPr>
            <a:r>
              <a:rPr lang="hu-HU" dirty="0"/>
              <a:t>4. kialakítunk egy közös jövőképet, és mindenkit érdekeltté teszünk </a:t>
            </a:r>
          </a:p>
          <a:p>
            <a:pPr marL="457200" lvl="1" indent="0">
              <a:buNone/>
            </a:pPr>
            <a:r>
              <a:rPr lang="hu-HU" dirty="0"/>
              <a:t>5. megmagyarázzuk az okokat </a:t>
            </a:r>
          </a:p>
          <a:p>
            <a:pPr marL="457200" lvl="1" indent="0">
              <a:buNone/>
            </a:pPr>
            <a:r>
              <a:rPr lang="hu-HU" dirty="0"/>
              <a:t>6. figyelembe vesszük az érintettek/érdekeltek aggodalmait, kételyeit </a:t>
            </a:r>
          </a:p>
          <a:p>
            <a:pPr marL="457200" lvl="1" indent="0">
              <a:buNone/>
            </a:pPr>
            <a:r>
              <a:rPr lang="hu-HU" dirty="0"/>
              <a:t>7. és mindenekelőtt tájékoztatunk, kommunikálunk </a:t>
            </a:r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6701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változás kommunikálása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457325"/>
            <a:ext cx="11997779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Ismertessük a változási folyamatot! </a:t>
            </a:r>
          </a:p>
          <a:p>
            <a:pPr marL="0" indent="0">
              <a:buNone/>
            </a:pPr>
            <a:r>
              <a:rPr lang="hu-HU" dirty="0"/>
              <a:t>2. Mutatószámokkal is érzékeltessük a várható eredményeket! </a:t>
            </a:r>
          </a:p>
          <a:p>
            <a:pPr marL="0" indent="0">
              <a:buNone/>
            </a:pPr>
            <a:r>
              <a:rPr lang="hu-HU" dirty="0"/>
              <a:t>3. Adjunk választ a miértekre! </a:t>
            </a:r>
          </a:p>
          <a:p>
            <a:pPr marL="0" indent="0">
              <a:buNone/>
            </a:pPr>
            <a:r>
              <a:rPr lang="hu-HU" dirty="0"/>
              <a:t>4. Legyen </a:t>
            </a:r>
            <a:r>
              <a:rPr lang="hu-HU" dirty="0" err="1"/>
              <a:t>kétirányú</a:t>
            </a:r>
            <a:r>
              <a:rPr lang="hu-HU" dirty="0"/>
              <a:t> az alkalmazott kommunikáció! </a:t>
            </a:r>
          </a:p>
          <a:p>
            <a:pPr marL="0" indent="0">
              <a:buNone/>
            </a:pPr>
            <a:r>
              <a:rPr lang="hu-HU" dirty="0"/>
              <a:t>5. Állítsuk a változás mellé a középvezetőket! </a:t>
            </a:r>
          </a:p>
          <a:p>
            <a:pPr marL="0" indent="0">
              <a:buNone/>
            </a:pPr>
            <a:r>
              <a:rPr lang="hu-HU" dirty="0"/>
              <a:t>6. Hangsúlyozzuk a részeredményeket! </a:t>
            </a:r>
          </a:p>
          <a:p>
            <a:pPr marL="0" indent="0">
              <a:buNone/>
            </a:pPr>
            <a:r>
              <a:rPr lang="hu-HU" dirty="0"/>
              <a:t>7. Tréningek alkalmazása a változási folyamatban! </a:t>
            </a:r>
          </a:p>
          <a:p>
            <a:pPr marL="0" indent="0">
              <a:buNone/>
            </a:pPr>
            <a:r>
              <a:rPr lang="hu-HU" dirty="0"/>
              <a:t>8. Változatos kommunikációs eszközök alkalmazása! </a:t>
            </a:r>
          </a:p>
          <a:p>
            <a:pPr marL="0" indent="0">
              <a:buNone/>
            </a:pPr>
            <a:r>
              <a:rPr lang="hu-HU" dirty="0"/>
              <a:t>9. Mutassunk példát! </a:t>
            </a:r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76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10 jel, hogy nyitottak vagyunk a változásra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457325"/>
            <a:ext cx="11997779" cy="52641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u-HU" dirty="0"/>
              <a:t>1. felbosszant és tetterővel tölt fel bennünket, ha versenytársunk új projektjéről értesülünk </a:t>
            </a:r>
          </a:p>
          <a:p>
            <a:pPr marL="0" indent="0">
              <a:buNone/>
            </a:pPr>
            <a:r>
              <a:rPr lang="hu-HU" dirty="0"/>
              <a:t>2. kihívásnak érezzük, ha egy biztos út járhatatlanná vált, s azonnal keressük a nyerő megoldásokat </a:t>
            </a:r>
          </a:p>
          <a:p>
            <a:pPr marL="0" indent="0">
              <a:buNone/>
            </a:pPr>
            <a:r>
              <a:rPr lang="hu-HU" dirty="0"/>
              <a:t>3. ha látjuk, hogy munkatársaink rutinból dolgoznak, és az „így szoktuk csinálni” érvet sűrűn halljuk, azonnal pánikba esünk és átszervezésbe kezdünk </a:t>
            </a:r>
          </a:p>
          <a:p>
            <a:pPr marL="0" indent="0">
              <a:buNone/>
            </a:pPr>
            <a:r>
              <a:rPr lang="hu-HU" dirty="0"/>
              <a:t>4. nem tölt el biztonsággal a pillanatnyi siker, folyamatosan számítunk a múlandóságra, ezért több megoldást tartunk a kezünkben </a:t>
            </a:r>
          </a:p>
          <a:p>
            <a:pPr marL="0" indent="0">
              <a:buNone/>
            </a:pPr>
            <a:r>
              <a:rPr lang="hu-HU" dirty="0"/>
              <a:t>5. feltöltődünk munkatársaink kreativitásától, felvillanyoznak az ötleteik </a:t>
            </a:r>
          </a:p>
          <a:p>
            <a:pPr marL="0" indent="0">
              <a:buNone/>
            </a:pPr>
            <a:r>
              <a:rPr lang="hu-HU" dirty="0"/>
              <a:t>6. képben vagyunk a szakterületünk helyzetét illetően, s magunk is befolyásolni tudjuk azok irányát </a:t>
            </a:r>
          </a:p>
          <a:p>
            <a:pPr marL="0" indent="0">
              <a:buNone/>
            </a:pPr>
            <a:r>
              <a:rPr lang="hu-HU" dirty="0"/>
              <a:t>7. a gazdasági környezet változásaira azonnal reagálunk, nem várjuk meg, amíg látszanak eredményeinken a bajok </a:t>
            </a:r>
          </a:p>
          <a:p>
            <a:pPr marL="0" indent="0">
              <a:buNone/>
            </a:pPr>
            <a:r>
              <a:rPr lang="hu-HU" dirty="0"/>
              <a:t>8. a problémákra a megoldások azonnali keresésével és megtalálásával válaszolunk, nem önsajnálattal, elkeseredéssel </a:t>
            </a:r>
          </a:p>
          <a:p>
            <a:pPr marL="0" indent="0">
              <a:buNone/>
            </a:pPr>
            <a:r>
              <a:rPr lang="hu-HU" dirty="0"/>
              <a:t>9. a megbeszéléséken mindig a meglévő értékekre alapozva építkezünk, nem a hiányosságokból indulva keressük a jövő útjait </a:t>
            </a:r>
          </a:p>
          <a:p>
            <a:pPr marL="0" indent="0">
              <a:buNone/>
            </a:pPr>
            <a:r>
              <a:rPr lang="hu-HU" dirty="0"/>
              <a:t>10. őszintén bevalljuk, szeretjük a változásokat, s meghalnánk, ha rutinból, megszokásból mindennap ugyanazt és ugyanúgy kellene csinálnunk. </a:t>
            </a:r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145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10 jel, hogy nem vagyunk nyitottak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457325"/>
            <a:ext cx="11997779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úgy érezzük, hogy nincs máshoz tehetségünk, mint amit eddig csináltunk </a:t>
            </a:r>
          </a:p>
          <a:p>
            <a:pPr marL="0" indent="0">
              <a:buNone/>
            </a:pPr>
            <a:r>
              <a:rPr lang="hu-HU" dirty="0"/>
              <a:t>2. egyre többet indulunk ki saját szervezetünk </a:t>
            </a:r>
            <a:r>
              <a:rPr lang="hu-HU" dirty="0" err="1"/>
              <a:t>korlátaiból</a:t>
            </a:r>
            <a:r>
              <a:rPr lang="hu-HU" dirty="0"/>
              <a:t>, </a:t>
            </a:r>
            <a:r>
              <a:rPr lang="hu-HU" dirty="0" err="1"/>
              <a:t>eredménytelenségéből</a:t>
            </a:r>
            <a:r>
              <a:rPr lang="hu-HU" dirty="0"/>
              <a:t> </a:t>
            </a:r>
          </a:p>
          <a:p>
            <a:pPr marL="0" indent="0">
              <a:buNone/>
            </a:pPr>
            <a:r>
              <a:rPr lang="hu-HU" dirty="0"/>
              <a:t>3. nem jutnak eszükbe saját és a szervezetünk érdekei </a:t>
            </a:r>
          </a:p>
          <a:p>
            <a:pPr marL="0" indent="0">
              <a:buNone/>
            </a:pPr>
            <a:r>
              <a:rPr lang="hu-HU" dirty="0"/>
              <a:t>4. nem látjuk, hogy a megteremtett értékekből megvalósíthatjuk az új projektet </a:t>
            </a:r>
          </a:p>
          <a:p>
            <a:pPr marL="0" indent="0">
              <a:buNone/>
            </a:pPr>
            <a:r>
              <a:rPr lang="hu-HU" dirty="0"/>
              <a:t>5. megbeszéléseken egyre többen - és mi magunk is - „nem” szóval kezdjük a mondatokat </a:t>
            </a:r>
          </a:p>
          <a:p>
            <a:pPr marL="0" indent="0">
              <a:buNone/>
            </a:pPr>
            <a:r>
              <a:rPr lang="hu-HU" dirty="0"/>
              <a:t>6. munkatársaink és magunk is az érvelések során csak arra keressük a választ, mit miért nem lehet megcsinálni </a:t>
            </a:r>
          </a:p>
          <a:p>
            <a:pPr marL="0" indent="0">
              <a:buNone/>
            </a:pPr>
            <a:r>
              <a:rPr lang="hu-HU" dirty="0"/>
              <a:t>7. kollégáink innovatív javaslatait azonnal elvetjük </a:t>
            </a:r>
          </a:p>
          <a:p>
            <a:pPr marL="0" indent="0">
              <a:buNone/>
            </a:pPr>
            <a:r>
              <a:rPr lang="hu-HU" dirty="0"/>
              <a:t>8. arra várunk, hogy végre legyen vége a rossz időknek, legyen minden megint olyan, mint régen volt </a:t>
            </a:r>
          </a:p>
          <a:p>
            <a:pPr marL="0" indent="0">
              <a:buNone/>
            </a:pPr>
            <a:r>
              <a:rPr lang="hu-HU" dirty="0"/>
              <a:t>9. sajnáltatjuk magunkat az ügyfelekkel, panaszkodunk a negatív trendek miatt </a:t>
            </a:r>
          </a:p>
          <a:p>
            <a:pPr marL="0" indent="0">
              <a:buNone/>
            </a:pPr>
            <a:r>
              <a:rPr lang="hu-HU" dirty="0"/>
              <a:t>10. menekülnénk, amikor új technikai vagy innovatív megoldásról hallunk </a:t>
            </a:r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Változásmenedzsment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32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Válságmenedzsment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457325"/>
            <a:ext cx="11966616" cy="5364524"/>
          </a:xfrm>
        </p:spPr>
        <p:txBody>
          <a:bodyPr>
            <a:normAutofit lnSpcReduction="10000"/>
          </a:bodyPr>
          <a:lstStyle/>
          <a:p>
            <a:r>
              <a:rPr lang="hu-HU" dirty="0"/>
              <a:t>A válsághelyzet olyan állapot, amelyben a szervezet működőképessége hosszabb távon megszakad, képtelenné válik alapvető funkciói betöltésére, az alapítók által meghatározott küldetés teljesítése ellehetetlenül, és a szervezet léte veszélybe kerül</a:t>
            </a:r>
          </a:p>
          <a:p>
            <a:r>
              <a:rPr lang="hu-HU" dirty="0"/>
              <a:t>A válság a vállalat működésében bekövetkezett átmeneti vagy tartós zavar, amely külső és belső okokra vezethetők vissza</a:t>
            </a:r>
          </a:p>
          <a:p>
            <a:r>
              <a:rPr lang="hu-HU" dirty="0"/>
              <a:t>A válság tehát olyan állapot, amelynél alapvető veszélybe kerül a cég jövőképe, vagy küldetése. Igen lényeges az utóbbi megállapítás, amely a jövőkép, vagy a küldetés veszélybe kerülésére vonatkozik</a:t>
            </a:r>
          </a:p>
          <a:p>
            <a:pPr marL="457200" lvl="1" indent="0">
              <a:buNone/>
            </a:pPr>
            <a:r>
              <a:rPr lang="hu-HU" b="1" dirty="0" smtClean="0"/>
              <a:t>- A </a:t>
            </a:r>
            <a:r>
              <a:rPr lang="hu-HU" b="1" dirty="0"/>
              <a:t>válság </a:t>
            </a:r>
            <a:r>
              <a:rPr lang="hu-HU" dirty="0"/>
              <a:t>a szervezet rövid/hosszú távú versenyképességét fenyegető külső/belső változások lévén fellépő szituáció, amelyre a szervezetnek válságmenedzselési lépésekkel reagálnia kell</a:t>
            </a:r>
          </a:p>
          <a:p>
            <a:pPr marL="457200" lvl="1" indent="0">
              <a:buNone/>
            </a:pPr>
            <a:r>
              <a:rPr lang="hu-HU" b="1" dirty="0" smtClean="0"/>
              <a:t>- A </a:t>
            </a:r>
            <a:r>
              <a:rPr lang="hu-HU" b="1" dirty="0"/>
              <a:t>csőd </a:t>
            </a:r>
            <a:r>
              <a:rPr lang="hu-HU" dirty="0"/>
              <a:t>viszont a szervezet eredménytelen válságmenedzselése következtében beálló fizetésképtelenség, amely miatt a szervezet valamely érdekeltje csődeljárást kezdeményez a szervezettel szemben. A csőd nem a szervezet végét jelenti, hanem egy átmeneti állapotot, amelyből még vissza lehet térni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209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Válságot előidéző okok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457325"/>
            <a:ext cx="11966616" cy="53645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gyenge vezetés</a:t>
            </a:r>
          </a:p>
          <a:p>
            <a:pPr marL="0" indent="0">
              <a:buNone/>
            </a:pPr>
            <a:r>
              <a:rPr lang="hu-HU" dirty="0"/>
              <a:t>2. nem megfelelő pénzügyi kontroll</a:t>
            </a:r>
          </a:p>
          <a:p>
            <a:pPr marL="0" indent="0">
              <a:buNone/>
            </a:pPr>
            <a:r>
              <a:rPr lang="hu-HU" dirty="0"/>
              <a:t>3. piaci verseny</a:t>
            </a:r>
          </a:p>
          <a:p>
            <a:pPr marL="0" indent="0">
              <a:buNone/>
            </a:pPr>
            <a:r>
              <a:rPr lang="hu-HU" dirty="0"/>
              <a:t>4. versenyképtelen költséggazdálkodás</a:t>
            </a:r>
          </a:p>
          <a:p>
            <a:pPr marL="0" indent="0">
              <a:buNone/>
            </a:pPr>
            <a:r>
              <a:rPr lang="hu-HU" dirty="0"/>
              <a:t>5. változó piaci igények</a:t>
            </a:r>
          </a:p>
          <a:p>
            <a:pPr marL="0" indent="0">
              <a:buNone/>
            </a:pPr>
            <a:r>
              <a:rPr lang="hu-HU" dirty="0"/>
              <a:t>6. fogyasztói árak emelkedése</a:t>
            </a:r>
          </a:p>
          <a:p>
            <a:pPr marL="0" indent="0">
              <a:buNone/>
            </a:pPr>
            <a:r>
              <a:rPr lang="hu-HU" dirty="0"/>
              <a:t>7. nagy fejlesztési projektek</a:t>
            </a:r>
          </a:p>
          <a:p>
            <a:pPr marL="0" indent="0">
              <a:buNone/>
            </a:pPr>
            <a:r>
              <a:rPr lang="hu-HU" dirty="0"/>
              <a:t>8. vállalatok felvásárlása</a:t>
            </a:r>
          </a:p>
          <a:p>
            <a:pPr marL="0" indent="0">
              <a:buNone/>
            </a:pPr>
            <a:r>
              <a:rPr lang="hu-HU" dirty="0"/>
              <a:t>9. rossz pénzügyi politika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110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Válságot előidéző tényezők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457325"/>
            <a:ext cx="11966616" cy="53645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véletlen katasztrófa-helyzet (tűz, földrengés) </a:t>
            </a:r>
          </a:p>
          <a:p>
            <a:pPr marL="0" indent="0">
              <a:buNone/>
            </a:pPr>
            <a:r>
              <a:rPr lang="hu-HU" dirty="0"/>
              <a:t>2. gazdasági visszaesés, amely szűkíti a piacot </a:t>
            </a:r>
          </a:p>
          <a:p>
            <a:pPr marL="0" indent="0">
              <a:buNone/>
            </a:pPr>
            <a:r>
              <a:rPr lang="hu-HU" dirty="0"/>
              <a:t>3. az iparág ciklikus válsága </a:t>
            </a:r>
          </a:p>
          <a:p>
            <a:pPr marL="0" indent="0">
              <a:buNone/>
            </a:pPr>
            <a:r>
              <a:rPr lang="hu-HU" dirty="0"/>
              <a:t>4. a legfelső vezető hosszabb időre kiesik (pl. betegség) </a:t>
            </a:r>
          </a:p>
          <a:p>
            <a:pPr marL="0" indent="0">
              <a:buNone/>
            </a:pPr>
            <a:r>
              <a:rPr lang="hu-HU" dirty="0"/>
              <a:t>5. a legfontosabb vevők fizetésképtelensége </a:t>
            </a:r>
          </a:p>
          <a:p>
            <a:pPr marL="0" indent="0">
              <a:buNone/>
            </a:pPr>
            <a:r>
              <a:rPr lang="hu-HU" dirty="0"/>
              <a:t>6. kulcsfontosságú beszállítók hirtelen árat emelnek </a:t>
            </a:r>
          </a:p>
          <a:p>
            <a:pPr marL="0" indent="0">
              <a:buNone/>
            </a:pPr>
            <a:r>
              <a:rPr lang="hu-HU" dirty="0"/>
              <a:t>7. a finanszírozó bank válsága, vagy megtagadja a hitelt </a:t>
            </a:r>
          </a:p>
          <a:p>
            <a:pPr marL="0" indent="0">
              <a:buNone/>
            </a:pPr>
            <a:r>
              <a:rPr lang="hu-HU" dirty="0"/>
              <a:t>8. </a:t>
            </a:r>
            <a:r>
              <a:rPr lang="hu-HU" dirty="0" smtClean="0"/>
              <a:t>…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180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Krízisek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457325"/>
            <a:ext cx="11966616" cy="5364524"/>
          </a:xfrm>
        </p:spPr>
        <p:txBody>
          <a:bodyPr>
            <a:normAutofit/>
          </a:bodyPr>
          <a:lstStyle/>
          <a:p>
            <a:r>
              <a:rPr lang="hu-HU" dirty="0"/>
              <a:t>A krízis </a:t>
            </a:r>
            <a:r>
              <a:rPr lang="hu-HU" b="1" dirty="0"/>
              <a:t>váratlanul robban ki</a:t>
            </a:r>
            <a:r>
              <a:rPr lang="hu-HU" dirty="0"/>
              <a:t>, és ez meglepi, sőt megbénítja a vezetést, amely során magas-szintű fenyegetés lép fel és nagyon kevés idő áll rendelkezésre a ellenlépések kigondolására, meghozatalára</a:t>
            </a:r>
          </a:p>
          <a:p>
            <a:r>
              <a:rPr lang="hu-HU" dirty="0"/>
              <a:t>Ilyen esetben </a:t>
            </a:r>
            <a:r>
              <a:rPr lang="hu-HU" b="1" dirty="0"/>
              <a:t>megnövekszik a vezetésre háruló nyomás </a:t>
            </a:r>
            <a:r>
              <a:rPr lang="hu-HU" dirty="0"/>
              <a:t>(és a vezetés figyelme beszűkül), így fokozott szerep jut a szervezet rugalmas viselkedésének, a támogató szervezeti kultúrának vagy a korábbi tapasztalatoknak, szakértelemnek</a:t>
            </a:r>
          </a:p>
          <a:p>
            <a:r>
              <a:rPr lang="hu-HU" dirty="0"/>
              <a:t>Amíg a válságok 70%-a fokozatosan alakul ki, tehát vannak előjelei, addig 30%-</a:t>
            </a:r>
            <a:r>
              <a:rPr lang="hu-HU" dirty="0" err="1"/>
              <a:t>uk</a:t>
            </a:r>
            <a:r>
              <a:rPr lang="hu-HU" dirty="0"/>
              <a:t> gyors lefolyású, vagy hirtelen köszöntenek be, </a:t>
            </a:r>
            <a:r>
              <a:rPr lang="hu-HU" b="1" dirty="0"/>
              <a:t>krízishelyzet formájában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687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Vállalati stresszhelyzet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326943"/>
            <a:ext cx="11966616" cy="549490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u-HU" b="1" dirty="0"/>
              <a:t>1. csőlátás, azaz a figyelem beszűkülése </a:t>
            </a:r>
          </a:p>
          <a:p>
            <a:pPr lvl="1"/>
            <a:r>
              <a:rPr lang="hu-HU" dirty="0"/>
              <a:t>az információk fokozott szelektálása </a:t>
            </a:r>
          </a:p>
          <a:p>
            <a:pPr lvl="1"/>
            <a:r>
              <a:rPr lang="hu-HU" dirty="0"/>
              <a:t>a vészjelek figyelmen kívül hagyása </a:t>
            </a:r>
          </a:p>
          <a:p>
            <a:pPr lvl="1"/>
            <a:r>
              <a:rPr lang="hu-HU" dirty="0"/>
              <a:t>rutin alapú reagálás </a:t>
            </a:r>
          </a:p>
          <a:p>
            <a:pPr lvl="1"/>
            <a:r>
              <a:rPr lang="hu-HU" dirty="0"/>
              <a:t>stratégiai gondolkodásunk felületessé válik </a:t>
            </a:r>
          </a:p>
          <a:p>
            <a:pPr lvl="1"/>
            <a:r>
              <a:rPr lang="hu-HU" dirty="0"/>
              <a:t>a rendszerszemlélet elhanyagolása </a:t>
            </a:r>
          </a:p>
          <a:p>
            <a:pPr lvl="1"/>
            <a:r>
              <a:rPr lang="hu-HU" dirty="0"/>
              <a:t>csak „egy problémára figyelés” a sok közül </a:t>
            </a:r>
          </a:p>
          <a:p>
            <a:pPr lvl="1"/>
            <a:r>
              <a:rPr lang="hu-HU" dirty="0"/>
              <a:t>makacs kitartás a kevésbé jó döntések mellett </a:t>
            </a:r>
          </a:p>
          <a:p>
            <a:pPr marL="0" indent="0">
              <a:buNone/>
            </a:pPr>
            <a:r>
              <a:rPr lang="hu-HU" b="1" dirty="0"/>
              <a:t>2. merevség: csökken az alternatív lehetőségek iránti készségesség </a:t>
            </a:r>
          </a:p>
          <a:p>
            <a:pPr lvl="1"/>
            <a:r>
              <a:rPr lang="hu-HU" dirty="0"/>
              <a:t>türelmetlenség </a:t>
            </a:r>
          </a:p>
          <a:p>
            <a:pPr lvl="1"/>
            <a:r>
              <a:rPr lang="hu-HU" dirty="0"/>
              <a:t>a negatív személyiségjegyek felerősödnek </a:t>
            </a:r>
          </a:p>
          <a:p>
            <a:pPr lvl="1"/>
            <a:r>
              <a:rPr lang="hu-HU" dirty="0"/>
              <a:t>erősödő autokratizmus (diktatórikusabb vezetés) </a:t>
            </a:r>
          </a:p>
          <a:p>
            <a:pPr lvl="1"/>
            <a:r>
              <a:rPr lang="hu-HU" dirty="0"/>
              <a:t>az emberközpontúság háttérbe szorulhat és a célorientáltság fokozódik </a:t>
            </a:r>
          </a:p>
          <a:p>
            <a:pPr lvl="1"/>
            <a:r>
              <a:rPr lang="hu-HU" dirty="0"/>
              <a:t>kapkodás, sürgetés lehet jellemző a vezetésre </a:t>
            </a:r>
          </a:p>
          <a:p>
            <a:pPr marL="0" indent="0">
              <a:buNone/>
            </a:pPr>
            <a:r>
              <a:rPr lang="hu-HU" b="1" dirty="0"/>
              <a:t>3. rövid időtávban gondolkodás </a:t>
            </a:r>
          </a:p>
          <a:p>
            <a:pPr lvl="1"/>
            <a:r>
              <a:rPr lang="hu-HU" dirty="0"/>
              <a:t>komplex problémák a háttérben maradnak </a:t>
            </a:r>
          </a:p>
          <a:p>
            <a:pPr lvl="1"/>
            <a:r>
              <a:rPr lang="hu-HU" dirty="0"/>
              <a:t>túlzott egyszerűsítés konzekvenciákkal nem foglalkoznak </a:t>
            </a:r>
          </a:p>
          <a:p>
            <a:pPr lvl="1"/>
            <a:r>
              <a:rPr lang="hu-HU" dirty="0"/>
              <a:t>nincs idő a modellezésre, tervezésre </a:t>
            </a:r>
          </a:p>
          <a:p>
            <a:pPr lvl="1"/>
            <a:r>
              <a:rPr lang="hu-HU" dirty="0"/>
              <a:t>az érintettek bevonása háttérbe szorul </a:t>
            </a:r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816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válság fázisai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2" y="1326943"/>
            <a:ext cx="12102687" cy="5494906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hu-HU" b="1" dirty="0" smtClean="0"/>
              <a:t>fenyegető </a:t>
            </a:r>
            <a:r>
              <a:rPr lang="hu-HU" b="1" dirty="0"/>
              <a:t>válság: </a:t>
            </a:r>
            <a:r>
              <a:rPr lang="hu-HU" dirty="0"/>
              <a:t>még nem érte el a vállalatot, de jelek már utalnak rá. Módosítani kell a vállalati </a:t>
            </a:r>
            <a:r>
              <a:rPr lang="hu-HU" dirty="0" smtClean="0"/>
              <a:t>stratégiát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2. lappangó válság: </a:t>
            </a:r>
            <a:r>
              <a:rPr lang="hu-HU" dirty="0"/>
              <a:t>elérte a vállalatot, de kézzel fogható jelei még nincsenek. Stratégia módosítása mellett a válság-okok megszüntetése </a:t>
            </a:r>
            <a:r>
              <a:rPr lang="hu-HU" dirty="0" smtClean="0"/>
              <a:t>szükséges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3. konkrét válság: </a:t>
            </a:r>
            <a:r>
              <a:rPr lang="hu-HU" dirty="0"/>
              <a:t>a vállalatnál működési zavarok mutatkoznak. </a:t>
            </a:r>
            <a:r>
              <a:rPr lang="hu-HU" dirty="0" smtClean="0"/>
              <a:t>Be </a:t>
            </a:r>
            <a:r>
              <a:rPr lang="hu-HU" dirty="0"/>
              <a:t>kell avatkozni a vállalati folyamatokba, válságstratégia </a:t>
            </a:r>
            <a:r>
              <a:rPr lang="hu-HU" dirty="0" smtClean="0"/>
              <a:t>szükséges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4. kifejlett válság: </a:t>
            </a:r>
            <a:r>
              <a:rPr lang="hu-HU" dirty="0"/>
              <a:t>a vállalati működésben komoly zavarok vannak. Válságelemzés és azonnali intézkedések </a:t>
            </a:r>
            <a:r>
              <a:rPr lang="hu-HU" dirty="0" smtClean="0"/>
              <a:t>szükségesek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5. akut válság: </a:t>
            </a:r>
            <a:r>
              <a:rPr lang="hu-HU" dirty="0"/>
              <a:t>a vállalat a csőd szélén áll. Azonnali intézkedések kellenek, de még így sem biztos a fennmaradás. A vállalat gyakorlatilag menthetetlen (kivételek természetesen előfordulhatnak)</a:t>
            </a:r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7312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Legjellemzőbb válság típusok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326943"/>
            <a:ext cx="11966616" cy="5494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pénzügyi: likviditási probléma </a:t>
            </a:r>
          </a:p>
          <a:p>
            <a:pPr marL="0" indent="0">
              <a:buNone/>
            </a:pPr>
            <a:r>
              <a:rPr lang="hu-HU" dirty="0"/>
              <a:t>2. szervezeti: átalakítási szükségszerűség </a:t>
            </a:r>
          </a:p>
          <a:p>
            <a:pPr marL="0" indent="0">
              <a:buNone/>
            </a:pPr>
            <a:r>
              <a:rPr lang="hu-HU" dirty="0"/>
              <a:t>3. piaci: versenytársak, konkurens új termék, ágazati válság </a:t>
            </a:r>
          </a:p>
          <a:p>
            <a:pPr marL="0" indent="0">
              <a:buNone/>
            </a:pPr>
            <a:r>
              <a:rPr lang="hu-HU" dirty="0"/>
              <a:t>4. emberi erőforrás: emberveszteség, munkaerőhiány </a:t>
            </a:r>
          </a:p>
          <a:p>
            <a:pPr marL="0" indent="0">
              <a:buNone/>
            </a:pPr>
            <a:r>
              <a:rPr lang="hu-HU" dirty="0"/>
              <a:t>5. baleset: katasztrófa, anyagi kár, felelősség </a:t>
            </a:r>
          </a:p>
          <a:p>
            <a:pPr marL="0" indent="0">
              <a:buNone/>
            </a:pPr>
            <a:r>
              <a:rPr lang="hu-HU" dirty="0"/>
              <a:t>6. morális: erőszak, hozzáállás, lojalitás </a:t>
            </a:r>
          </a:p>
          <a:p>
            <a:pPr marL="0" indent="0">
              <a:buNone/>
            </a:pPr>
            <a:r>
              <a:rPr lang="hu-HU" dirty="0"/>
              <a:t>7. goodwill: hírnév </a:t>
            </a:r>
          </a:p>
          <a:p>
            <a:pPr marL="0" indent="0">
              <a:buNone/>
            </a:pPr>
            <a:r>
              <a:rPr lang="hu-HU" dirty="0"/>
              <a:t>8. egyéb: minden szervezetnek elemeznie kell azokat a lehetséges szituációkat, melyek rá speciálisan jellemzőek lehetnek, mint válsághelyzetek. Ez gyakorlatilag bármilyen formában jelentkezhet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588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Legjellemzőbb válság típusok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326943"/>
            <a:ext cx="11966616" cy="5494906"/>
          </a:xfrm>
        </p:spPr>
        <p:txBody>
          <a:bodyPr>
            <a:normAutofit/>
          </a:bodyPr>
          <a:lstStyle/>
          <a:p>
            <a:r>
              <a:rPr lang="hu-HU" b="1" dirty="0"/>
              <a:t>likviditási válság: </a:t>
            </a:r>
            <a:r>
              <a:rPr lang="hu-HU" dirty="0"/>
              <a:t>a beavatkozások nem tűrnek halasztást, mivel a fizetőképességet is érintik a hatások. A cselekvés egyre inkább a kényszerpályára kényszerül.</a:t>
            </a:r>
          </a:p>
          <a:p>
            <a:r>
              <a:rPr lang="hu-HU" b="1" dirty="0"/>
              <a:t>stratégiai válság: </a:t>
            </a:r>
            <a:r>
              <a:rPr lang="hu-HU" dirty="0"/>
              <a:t>az első válságjelek nem a jelenlegi pozícióval, hanem a jövőbeni pozíciót, kilátásokat fenyegetik. A válság mértéke csekély, a cselekvési tér viszonylag tág, és nincs szó sürgős beavatkozásról.</a:t>
            </a:r>
          </a:p>
          <a:p>
            <a:r>
              <a:rPr lang="hu-HU" b="1" dirty="0"/>
              <a:t>működési válság: </a:t>
            </a:r>
            <a:r>
              <a:rPr lang="hu-HU" dirty="0"/>
              <a:t>idővel mélyül a válság, a jövő mellett a jelent is érintik a válságjelek. Az értékesítési, pénzügyi mutatók kedvezőtlenül alakulnak. Szűkül a mozgástér, erősödik a beavatkozás igénye.</a:t>
            </a:r>
          </a:p>
          <a:p>
            <a:r>
              <a:rPr lang="hu-HU" b="1" dirty="0" err="1"/>
              <a:t>inszolvencia</a:t>
            </a:r>
            <a:r>
              <a:rPr lang="hu-HU" b="1" dirty="0"/>
              <a:t>: </a:t>
            </a:r>
            <a:r>
              <a:rPr lang="hu-HU" dirty="0"/>
              <a:t>fizetésképtelenség, a cég szinte menthetetlen. Az </a:t>
            </a:r>
            <a:r>
              <a:rPr lang="hu-HU" dirty="0" err="1"/>
              <a:t>inszolvencia</a:t>
            </a:r>
            <a:r>
              <a:rPr lang="hu-HU" dirty="0"/>
              <a:t> a hosszú távú fizetésképtelenséget jelenti. Miközben rövid távú fizetésképtelenség esetén likviditási válság lép fel, vagyis csődhelyzet alakul ki, addig az </a:t>
            </a:r>
            <a:r>
              <a:rPr lang="hu-HU" dirty="0" err="1"/>
              <a:t>inszolvencia</a:t>
            </a:r>
            <a:r>
              <a:rPr lang="hu-HU" dirty="0"/>
              <a:t> esetén a cég visszatérésére már nem sok esély kínálkozik. (kivételek azonban mindig vannak, ha például valamilyen csoda folytán </a:t>
            </a:r>
            <a:r>
              <a:rPr lang="hu-HU" dirty="0" err="1"/>
              <a:t>tőkéhez</a:t>
            </a:r>
            <a:r>
              <a:rPr lang="hu-HU" dirty="0"/>
              <a:t> jut a társaság, vagy például az állam megmenti a céget)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644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válság prevenció lépései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326943"/>
            <a:ext cx="11966616" cy="549490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u-HU" b="1" dirty="0"/>
              <a:t>Jövőkutatás</a:t>
            </a:r>
          </a:p>
          <a:p>
            <a:pPr lvl="1"/>
            <a:r>
              <a:rPr lang="hu-HU" dirty="0"/>
              <a:t>A szervezet jövőjét befolyásoló tényezők folyamatos elemzése</a:t>
            </a:r>
          </a:p>
          <a:p>
            <a:pPr lvl="1"/>
            <a:r>
              <a:rPr lang="hu-HU" dirty="0"/>
              <a:t>Potenciális veszélyforrások, kockázatok, bizonytalanságok monitorozása</a:t>
            </a:r>
          </a:p>
          <a:p>
            <a:pPr marL="0" indent="0">
              <a:buNone/>
            </a:pPr>
            <a:r>
              <a:rPr lang="hu-HU" b="1" dirty="0"/>
              <a:t>Futurológia</a:t>
            </a:r>
          </a:p>
          <a:p>
            <a:pPr lvl="1"/>
            <a:r>
              <a:rPr lang="hu-HU" dirty="0"/>
              <a:t>A tevékenység komplex jövőképének előrevetítése</a:t>
            </a:r>
          </a:p>
          <a:p>
            <a:pPr lvl="1"/>
            <a:r>
              <a:rPr lang="hu-HU" dirty="0"/>
              <a:t>A jelenlegi állapotot vetítjük ki a jövőre nézve és elemezzük a lehetséges eseményeket</a:t>
            </a:r>
          </a:p>
          <a:p>
            <a:pPr lvl="1"/>
            <a:r>
              <a:rPr lang="hu-HU" dirty="0"/>
              <a:t>Forgatókönyv írás, pontos terv és stratégia alkotás</a:t>
            </a:r>
          </a:p>
          <a:p>
            <a:pPr lvl="1"/>
            <a:r>
              <a:rPr lang="hu-HU" dirty="0"/>
              <a:t>A célok folyamatos szem előtt tartása</a:t>
            </a:r>
          </a:p>
          <a:p>
            <a:pPr marL="0" indent="0">
              <a:buNone/>
            </a:pPr>
            <a:r>
              <a:rPr lang="hu-HU" b="1" dirty="0"/>
              <a:t>Trendek és prognózisok</a:t>
            </a:r>
          </a:p>
          <a:p>
            <a:pPr lvl="1"/>
            <a:r>
              <a:rPr lang="hu-HU" dirty="0"/>
              <a:t>A működő folyamatok várható változásainak előrejelzése. </a:t>
            </a:r>
          </a:p>
          <a:p>
            <a:pPr lvl="1"/>
            <a:r>
              <a:rPr lang="hu-HU" dirty="0"/>
              <a:t>A jövő és a jelen mellett nagy hangsúlyt kapnak a múltbeli adatok is, trend meghatározásához mindig a múltban tapasztaltak szükségesek, múltbeli adatok alapján becsüli a jövőt</a:t>
            </a:r>
          </a:p>
          <a:p>
            <a:pPr lvl="1"/>
            <a:r>
              <a:rPr lang="hu-HU" dirty="0"/>
              <a:t>Rendkívül fontos, hogy a szervezet jól ismerje a környezeti sajátosságokat, és annak változékonyságát, valamint képes legyen megtalálni és hasznosítani a szükséges információkat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421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Szervezeti reakció a válságokra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" y="1949569"/>
            <a:ext cx="11966616" cy="48722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</a:t>
            </a:r>
            <a:r>
              <a:rPr lang="hu-HU" b="1" dirty="0"/>
              <a:t>Pató Pál szemléletű </a:t>
            </a:r>
            <a:r>
              <a:rPr lang="hu-HU" dirty="0"/>
              <a:t>szervezet nem tud reagálni az őt ért hatásra, döntésképtelenné válik, ezért nem tesz semmit, gondolja, ráérünk arra még</a:t>
            </a:r>
          </a:p>
          <a:p>
            <a:pPr marL="0" indent="0">
              <a:buNone/>
            </a:pPr>
            <a:r>
              <a:rPr lang="hu-HU" dirty="0"/>
              <a:t>2. </a:t>
            </a:r>
            <a:r>
              <a:rPr lang="hu-HU" b="1" dirty="0"/>
              <a:t>Ortodox szemléletű </a:t>
            </a:r>
            <a:r>
              <a:rPr lang="hu-HU" dirty="0"/>
              <a:t>szervezet nem hajlandó felismerni és elismerni a problémákat, makacsul ragaszkodik a megszokott gyakorlathoz</a:t>
            </a:r>
          </a:p>
          <a:p>
            <a:pPr marL="0" indent="0">
              <a:buNone/>
            </a:pPr>
            <a:r>
              <a:rPr lang="hu-HU" dirty="0"/>
              <a:t>3. </a:t>
            </a:r>
            <a:r>
              <a:rPr lang="hu-HU" b="1" dirty="0"/>
              <a:t>Lassú víz, partot mos szemléletű </a:t>
            </a:r>
            <a:r>
              <a:rPr lang="hu-HU" dirty="0"/>
              <a:t>szervezet tudomásul veszi a válság jeleket és lassan felkészül annak leküzdésére. A vezetés keresi a megoldást, de nem elég intenzíven. Általában a változás 3-4 hónapos végrehajtása helyett, években gondolkodnak</a:t>
            </a:r>
          </a:p>
          <a:p>
            <a:pPr marL="0" indent="0">
              <a:buNone/>
            </a:pPr>
            <a:r>
              <a:rPr lang="hu-HU" dirty="0"/>
              <a:t>4. </a:t>
            </a:r>
            <a:r>
              <a:rPr lang="hu-HU" b="1" dirty="0"/>
              <a:t>Tervgazdaság szemléletű </a:t>
            </a:r>
            <a:r>
              <a:rPr lang="hu-HU" dirty="0"/>
              <a:t>információ hiányos szervezet, reagál a válság jelekre, de rossz módszert, vagy rossz döntést hoz, vagy hibás elképzelés miatt újabb válsághelyzetet generál. A hibás elképzelést az információ hiány is okozhatja, amit felsőbb szinten eltitkolnak </a:t>
            </a:r>
          </a:p>
          <a:p>
            <a:pPr marL="0" indent="0">
              <a:buNone/>
            </a:pPr>
            <a:r>
              <a:rPr lang="hu-HU" dirty="0"/>
              <a:t>5. </a:t>
            </a:r>
            <a:r>
              <a:rPr lang="hu-HU" b="1" dirty="0"/>
              <a:t>Tudás alapú, dinamikus </a:t>
            </a:r>
            <a:r>
              <a:rPr lang="hu-HU" dirty="0"/>
              <a:t>szervezet, amely érzékeli a válsághelyzetet, megoldást dolgoz </a:t>
            </a:r>
            <a:r>
              <a:rPr lang="hu-HU" dirty="0" smtClean="0"/>
              <a:t>ki, </a:t>
            </a:r>
            <a:r>
              <a:rPr lang="hu-HU" dirty="0"/>
              <a:t>és sikeresen alkalmaz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22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válságmenedzsment eredményei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63" y="1656283"/>
            <a:ext cx="11850466" cy="5165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a vállalat új növekedési pályára áll, sikerül a válságot jól menedzselni, a szervezet fennmarad, elérheti a korábbi szintet, vagy képes lesz meg is haladni azt</a:t>
            </a:r>
          </a:p>
          <a:p>
            <a:pPr marL="0" indent="0">
              <a:buNone/>
            </a:pPr>
            <a:r>
              <a:rPr lang="hu-HU" dirty="0"/>
              <a:t>2. a vállalat összeolvad egy másik vállalattal, a céget beolvasztják egy másik társaságba és átszervezik. Ilyenkor átvesz más megoldásokat, kulturális jegyeket, és új szerkezetben folytatja tevékenységét</a:t>
            </a:r>
          </a:p>
          <a:p>
            <a:pPr marL="0" indent="0">
              <a:buNone/>
            </a:pPr>
            <a:r>
              <a:rPr lang="hu-HU" dirty="0"/>
              <a:t>3. a vállalat jogutód nélkül megszűnik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17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válságmenedzsment lépései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33" y="1601557"/>
            <a:ext cx="11568796" cy="5220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a válság felismerése </a:t>
            </a:r>
          </a:p>
          <a:p>
            <a:pPr marL="0" indent="0">
              <a:buNone/>
            </a:pPr>
            <a:r>
              <a:rPr lang="hu-HU" dirty="0"/>
              <a:t>2. válságmenedzsment kezdeményezése </a:t>
            </a:r>
          </a:p>
          <a:p>
            <a:pPr marL="0" indent="0">
              <a:buNone/>
            </a:pPr>
            <a:r>
              <a:rPr lang="hu-HU" dirty="0"/>
              <a:t>3. durva elemzés </a:t>
            </a:r>
          </a:p>
          <a:p>
            <a:pPr marL="0" indent="0">
              <a:buNone/>
            </a:pPr>
            <a:r>
              <a:rPr lang="hu-HU" dirty="0"/>
              <a:t>4. azonnali intézkedések </a:t>
            </a:r>
          </a:p>
          <a:p>
            <a:pPr marL="0" indent="0">
              <a:buNone/>
            </a:pPr>
            <a:r>
              <a:rPr lang="hu-HU" dirty="0"/>
              <a:t>5. részletes elemzés </a:t>
            </a:r>
          </a:p>
          <a:p>
            <a:pPr marL="0" indent="0">
              <a:buNone/>
            </a:pPr>
            <a:r>
              <a:rPr lang="hu-HU" dirty="0"/>
              <a:t>6. szanálási (válságkezelési) stratégiák kidolgozása </a:t>
            </a:r>
          </a:p>
          <a:p>
            <a:pPr marL="0" indent="0">
              <a:buNone/>
            </a:pPr>
            <a:r>
              <a:rPr lang="hu-HU" dirty="0"/>
              <a:t>7. szanálási (válságkezelési) stratégia végrehajtása </a:t>
            </a:r>
          </a:p>
          <a:p>
            <a:pPr marL="0" indent="0">
              <a:buNone/>
            </a:pPr>
            <a:r>
              <a:rPr lang="hu-HU" dirty="0"/>
              <a:t>8. a válság sikeres leküzdése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252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válságmenedzsment kérdései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33" y="1601557"/>
            <a:ext cx="11568796" cy="5220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mi történt? (az esemény pontos leírása) </a:t>
            </a:r>
          </a:p>
          <a:p>
            <a:pPr marL="0" indent="0">
              <a:buNone/>
            </a:pPr>
            <a:r>
              <a:rPr lang="hu-HU" dirty="0"/>
              <a:t>2. hol? (amennyire pontosan csak lehet) </a:t>
            </a:r>
          </a:p>
          <a:p>
            <a:pPr marL="0" indent="0">
              <a:buNone/>
            </a:pPr>
            <a:r>
              <a:rPr lang="hu-HU" dirty="0"/>
              <a:t>3. mikor? (óra, perc) </a:t>
            </a:r>
          </a:p>
          <a:p>
            <a:pPr marL="0" indent="0">
              <a:buNone/>
            </a:pPr>
            <a:r>
              <a:rPr lang="hu-HU" dirty="0"/>
              <a:t>4. kiváltó ok? (ha tudható) </a:t>
            </a:r>
          </a:p>
          <a:p>
            <a:pPr marL="0" indent="0">
              <a:buNone/>
            </a:pPr>
            <a:r>
              <a:rPr lang="hu-HU" dirty="0"/>
              <a:t>5. kiket érint? </a:t>
            </a:r>
          </a:p>
          <a:p>
            <a:pPr marL="0" indent="0">
              <a:buNone/>
            </a:pPr>
            <a:r>
              <a:rPr lang="hu-HU" dirty="0"/>
              <a:t>6. kik a szemtanúk? </a:t>
            </a:r>
          </a:p>
          <a:p>
            <a:pPr marL="0" indent="0">
              <a:buNone/>
            </a:pPr>
            <a:r>
              <a:rPr lang="hu-HU" dirty="0"/>
              <a:t>7. kik tudnak, vagy tudhatnak már az esetről? </a:t>
            </a:r>
          </a:p>
          <a:p>
            <a:pPr marL="0" indent="0">
              <a:buNone/>
            </a:pPr>
            <a:r>
              <a:rPr lang="hu-HU" dirty="0"/>
              <a:t>8. jelenlegi helyzet?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367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válságmenedzsment szereplői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45" y="1501253"/>
            <a:ext cx="11728383" cy="5320595"/>
          </a:xfrm>
        </p:spPr>
        <p:txBody>
          <a:bodyPr>
            <a:normAutofit/>
          </a:bodyPr>
          <a:lstStyle/>
          <a:p>
            <a:r>
              <a:rPr lang="hu-HU" dirty="0"/>
              <a:t>válságmenedzser (a válságteam vezetője) </a:t>
            </a:r>
          </a:p>
          <a:p>
            <a:r>
              <a:rPr lang="hu-HU" dirty="0"/>
              <a:t>a team tagjai </a:t>
            </a:r>
          </a:p>
          <a:p>
            <a:r>
              <a:rPr lang="hu-HU" dirty="0"/>
              <a:t>szóvivő </a:t>
            </a:r>
          </a:p>
          <a:p>
            <a:r>
              <a:rPr lang="hu-HU" dirty="0"/>
              <a:t>titkár </a:t>
            </a:r>
          </a:p>
          <a:p>
            <a:r>
              <a:rPr lang="hu-HU" dirty="0"/>
              <a:t>belső kommunikátor </a:t>
            </a:r>
          </a:p>
          <a:p>
            <a:r>
              <a:rPr lang="hu-HU" dirty="0"/>
              <a:t>további szakemberek, szakértők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123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válságmenedzsment alapelvei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63" y="1883391"/>
            <a:ext cx="4022042" cy="4938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Mindig a lehető legrosszabb eshetőséggel kalkuláljunk! </a:t>
            </a:r>
          </a:p>
          <a:p>
            <a:pPr marL="0" indent="0">
              <a:buNone/>
            </a:pPr>
            <a:r>
              <a:rPr lang="hu-HU" dirty="0"/>
              <a:t>2. Legyen válságtervünk! </a:t>
            </a:r>
          </a:p>
          <a:p>
            <a:pPr marL="0" indent="0">
              <a:buNone/>
            </a:pPr>
            <a:r>
              <a:rPr lang="hu-HU" dirty="0"/>
              <a:t>3. Ne vesztegessük az időt! </a:t>
            </a:r>
          </a:p>
          <a:p>
            <a:pPr marL="0" indent="0">
              <a:buNone/>
            </a:pPr>
            <a:r>
              <a:rPr lang="hu-HU" dirty="0"/>
              <a:t>4. Minden esetben az ember legyen az első! </a:t>
            </a:r>
          </a:p>
          <a:p>
            <a:pPr marL="0" indent="0">
              <a:buNone/>
            </a:pPr>
            <a:r>
              <a:rPr lang="hu-HU" dirty="0"/>
              <a:t>5. Reagáljunk villámgyorsan!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xmlns="" id="{5AE2C751-AA3A-4C29-90C3-EB7537A26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185" y="1694962"/>
            <a:ext cx="7762875" cy="3714750"/>
          </a:xfrm>
          <a:prstGeom prst="rect">
            <a:avLst/>
          </a:prstGeom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653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válságmenedzsment kritériumai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33" y="1601557"/>
            <a:ext cx="11568796" cy="5220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1. megfelelő részletességű és tartalmú akcióterv (válságstratégia) készítése </a:t>
            </a:r>
          </a:p>
          <a:p>
            <a:pPr marL="0" indent="0">
              <a:buNone/>
            </a:pPr>
            <a:r>
              <a:rPr lang="hu-HU" dirty="0"/>
              <a:t>2. vezetők/beosztottak motiválása (elkötelezett vezetők és alkalmazottak) </a:t>
            </a:r>
          </a:p>
          <a:p>
            <a:pPr marL="0" indent="0">
              <a:buNone/>
            </a:pPr>
            <a:r>
              <a:rPr lang="hu-HU" dirty="0"/>
              <a:t>3. szervezeti támogatás (megfelelő képességű vezetők és számos követő) </a:t>
            </a:r>
          </a:p>
          <a:p>
            <a:pPr marL="0" indent="0">
              <a:buNone/>
            </a:pPr>
            <a:r>
              <a:rPr lang="hu-HU" dirty="0"/>
              <a:t>4. kommunikáció fontossága (könyörtelen kommunikáció) </a:t>
            </a:r>
          </a:p>
          <a:p>
            <a:pPr marL="0" indent="0">
              <a:buNone/>
            </a:pPr>
            <a:r>
              <a:rPr lang="hu-HU" dirty="0"/>
              <a:t>5. információs rendszer hatékonyabbé tétele (folyamatos tájékoztatás, döntéstámogatás)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058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D15A104-FA7B-47E2-BCB6-44B332B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válságmenedzsment </a:t>
            </a:r>
            <a:r>
              <a:rPr lang="hu-HU" dirty="0" err="1"/>
              <a:t>Up</a:t>
            </a:r>
            <a:r>
              <a:rPr lang="hu-HU" dirty="0"/>
              <a:t> és Down stratégiái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3B90D40-FEE3-45E2-9DF0-15A1D2DC6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169" y="1656283"/>
            <a:ext cx="11020759" cy="5165566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hu-HU" sz="2800" b="1" u="sng" dirty="0"/>
              <a:t>Down stratégia (Le)</a:t>
            </a:r>
          </a:p>
          <a:p>
            <a:pPr lvl="1"/>
            <a:r>
              <a:rPr lang="hu-HU" dirty="0" smtClean="0"/>
              <a:t>lemondás</a:t>
            </a:r>
            <a:endParaRPr lang="hu-HU" dirty="0"/>
          </a:p>
          <a:p>
            <a:pPr lvl="1"/>
            <a:r>
              <a:rPr lang="hu-HU" dirty="0"/>
              <a:t>leépítés </a:t>
            </a:r>
          </a:p>
          <a:p>
            <a:pPr lvl="1"/>
            <a:r>
              <a:rPr lang="hu-HU" dirty="0"/>
              <a:t>lerövidítés </a:t>
            </a:r>
          </a:p>
          <a:p>
            <a:pPr lvl="1"/>
            <a:r>
              <a:rPr lang="hu-HU" dirty="0"/>
              <a:t>lecsökkentés </a:t>
            </a:r>
          </a:p>
          <a:p>
            <a:pPr lvl="1"/>
            <a:r>
              <a:rPr lang="hu-HU" dirty="0"/>
              <a:t>leszűkítés </a:t>
            </a:r>
          </a:p>
          <a:p>
            <a:pPr lvl="1"/>
            <a:r>
              <a:rPr lang="hu-HU" dirty="0"/>
              <a:t>leárazás </a:t>
            </a:r>
          </a:p>
          <a:p>
            <a:pPr lvl="1"/>
            <a:r>
              <a:rPr lang="hu-HU" dirty="0"/>
              <a:t>leváltás </a:t>
            </a:r>
          </a:p>
          <a:p>
            <a:pPr lvl="1"/>
            <a:r>
              <a:rPr lang="hu-HU" dirty="0"/>
              <a:t>lecserélés</a:t>
            </a:r>
            <a:endParaRPr lang="hu-HU" b="1" dirty="0"/>
          </a:p>
          <a:p>
            <a:endParaRPr lang="hu-HU" b="1" dirty="0"/>
          </a:p>
          <a:p>
            <a:endParaRPr lang="hu-HU" b="1" dirty="0"/>
          </a:p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r>
              <a:rPr lang="hu-HU" sz="2800" b="1" u="sng" dirty="0" err="1"/>
              <a:t>Up</a:t>
            </a:r>
            <a:r>
              <a:rPr lang="hu-HU" sz="2800" b="1" u="sng" dirty="0"/>
              <a:t> stratégia (Fel)</a:t>
            </a:r>
          </a:p>
          <a:p>
            <a:pPr lvl="1"/>
            <a:r>
              <a:rPr lang="hu-HU" dirty="0" smtClean="0"/>
              <a:t>felzárkózás </a:t>
            </a:r>
            <a:endParaRPr lang="hu-HU" dirty="0"/>
          </a:p>
          <a:p>
            <a:pPr lvl="1"/>
            <a:r>
              <a:rPr lang="hu-HU" dirty="0"/>
              <a:t>felépítés </a:t>
            </a:r>
          </a:p>
          <a:p>
            <a:pPr lvl="1"/>
            <a:r>
              <a:rPr lang="hu-HU" dirty="0"/>
              <a:t>felvétel </a:t>
            </a:r>
          </a:p>
          <a:p>
            <a:pPr lvl="1"/>
            <a:r>
              <a:rPr lang="hu-HU" dirty="0"/>
              <a:t>felkarolás </a:t>
            </a:r>
          </a:p>
          <a:p>
            <a:pPr lvl="1"/>
            <a:r>
              <a:rPr lang="hu-HU" dirty="0"/>
              <a:t>felvirágzás </a:t>
            </a:r>
          </a:p>
          <a:p>
            <a:pPr lvl="1"/>
            <a:r>
              <a:rPr lang="hu-HU" dirty="0"/>
              <a:t>felülírás </a:t>
            </a:r>
          </a:p>
          <a:p>
            <a:pPr lvl="1"/>
            <a:r>
              <a:rPr lang="hu-HU" dirty="0"/>
              <a:t>felfejlesztés </a:t>
            </a:r>
          </a:p>
          <a:p>
            <a:pPr lvl="1"/>
            <a:r>
              <a:rPr lang="hu-HU" dirty="0"/>
              <a:t>felismerés </a:t>
            </a:r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AFAB7BB-C35A-4E69-9A89-D701C4D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BA18EC-8C67-4722-B1E3-DCA43109B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Válságmenedzsment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337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63845" y="3055305"/>
            <a:ext cx="5033727" cy="204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000" dirty="0" smtClean="0">
                <a:solidFill>
                  <a:srgbClr val="00B0F0"/>
                </a:solidFill>
              </a:rPr>
              <a:t>Köszönöm a figyelmet!</a:t>
            </a:r>
            <a:endParaRPr lang="hu-HU" sz="4000" dirty="0">
              <a:solidFill>
                <a:srgbClr val="00B0F0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42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4958</Words>
  <Application>Microsoft Office PowerPoint</Application>
  <PresentationFormat>Szélesvásznú</PresentationFormat>
  <Paragraphs>638</Paragraphs>
  <Slides>58</Slides>
  <Notes>20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58</vt:i4>
      </vt:variant>
    </vt:vector>
  </HeadingPairs>
  <TitlesOfParts>
    <vt:vector size="63" baseType="lpstr">
      <vt:lpstr>Arial</vt:lpstr>
      <vt:lpstr>Calibri</vt:lpstr>
      <vt:lpstr>Calibri Light</vt:lpstr>
      <vt:lpstr>Wingdings</vt:lpstr>
      <vt:lpstr>Office-téma</vt:lpstr>
      <vt:lpstr>Válság és változásmenedzsment</vt:lpstr>
      <vt:lpstr>Tartalomjegyzék</vt:lpstr>
      <vt:lpstr>Fontossága</vt:lpstr>
      <vt:lpstr>Fogalma</vt:lpstr>
      <vt:lpstr>Célja</vt:lpstr>
      <vt:lpstr>Feladatai</vt:lpstr>
      <vt:lpstr>HPO</vt:lpstr>
      <vt:lpstr>SCORES modell – Ken Blanchard</vt:lpstr>
      <vt:lpstr>A sikeres változás 7 pontja</vt:lpstr>
      <vt:lpstr>A hatékony változás</vt:lpstr>
      <vt:lpstr>A változás legfontosabb tényezői</vt:lpstr>
      <vt:lpstr>A változás ütemezése</vt:lpstr>
      <vt:lpstr>Az agilitás és a változás kapcsolata</vt:lpstr>
      <vt:lpstr>Változás – Checkland modell</vt:lpstr>
      <vt:lpstr>Változás – Általános folyamat modell (Farkas, 2013)</vt:lpstr>
      <vt:lpstr>Gyors győzelmek előnyei</vt:lpstr>
      <vt:lpstr>Az átmenet menedzsmentjének fő lépései</vt:lpstr>
      <vt:lpstr>Kurt Lewin – Klasszikus változás modellje</vt:lpstr>
      <vt:lpstr>John Kotter – Nyolclépcsős modell</vt:lpstr>
      <vt:lpstr>John Kotter – Nyolclépcsős modell</vt:lpstr>
      <vt:lpstr>Klasszikus szervezeti változás modell és elemei</vt:lpstr>
      <vt:lpstr>A változások szereplői</vt:lpstr>
      <vt:lpstr>A változások szereplői</vt:lpstr>
      <vt:lpstr>A változások szereplői</vt:lpstr>
      <vt:lpstr>A változások szereplői</vt:lpstr>
      <vt:lpstr>A változás résztvevői</vt:lpstr>
      <vt:lpstr>John Kotter - A változás résztvevői</vt:lpstr>
      <vt:lpstr>John Kotter – Ellenzők azonosítása</vt:lpstr>
      <vt:lpstr>Inercia, a változással szembeni félelem</vt:lpstr>
      <vt:lpstr>Inercia, a változással szembeni félelem</vt:lpstr>
      <vt:lpstr>A változást korlátozó tényezők</vt:lpstr>
      <vt:lpstr>A változást korlátozó tényezők</vt:lpstr>
      <vt:lpstr>A változást korlátozó tényezők</vt:lpstr>
      <vt:lpstr>Larry Hirschorn – Folyamatos változás kampány</vt:lpstr>
      <vt:lpstr>John Kotter - Tettvágy </vt:lpstr>
      <vt:lpstr>John Kotter - Tettvágy jellemzői</vt:lpstr>
      <vt:lpstr>John Kotter - Tettvágy </vt:lpstr>
      <vt:lpstr>A változás kommunikálása</vt:lpstr>
      <vt:lpstr>10 jel, hogy nyitottak vagyunk a változásra</vt:lpstr>
      <vt:lpstr>10 jel, hogy nem vagyunk nyitottak</vt:lpstr>
      <vt:lpstr>Válságmenedzsment</vt:lpstr>
      <vt:lpstr>Válságot előidéző okok</vt:lpstr>
      <vt:lpstr>Válságot előidéző tényezők</vt:lpstr>
      <vt:lpstr>Krízisek</vt:lpstr>
      <vt:lpstr>Vállalati stresszhelyzet</vt:lpstr>
      <vt:lpstr>A válság fázisai</vt:lpstr>
      <vt:lpstr>Legjellemzőbb válság típusok</vt:lpstr>
      <vt:lpstr>Legjellemzőbb válság típusok</vt:lpstr>
      <vt:lpstr>A válság prevenció lépései</vt:lpstr>
      <vt:lpstr>Szervezeti reakció a válságokra</vt:lpstr>
      <vt:lpstr>A válságmenedzsment eredményei</vt:lpstr>
      <vt:lpstr>A válságmenedzsment lépései</vt:lpstr>
      <vt:lpstr>A válságmenedzsment kérdései</vt:lpstr>
      <vt:lpstr>A válságmenedzsment szereplői</vt:lpstr>
      <vt:lpstr>A válságmenedzsment alapelvei</vt:lpstr>
      <vt:lpstr>A válságmenedzsment kritériumai</vt:lpstr>
      <vt:lpstr>A válságmenedzsment Up és Down stratégiái</vt:lpstr>
      <vt:lpstr>PowerPoint bemutató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Változás és válságmenedzsment</dc:title>
  <dc:creator>MMI</dc:creator>
  <cp:lastModifiedBy>Gombaszögi Ildikó</cp:lastModifiedBy>
  <cp:revision>82</cp:revision>
  <dcterms:created xsi:type="dcterms:W3CDTF">2021-01-18T18:03:07Z</dcterms:created>
  <dcterms:modified xsi:type="dcterms:W3CDTF">2023-08-29T14:38:14Z</dcterms:modified>
</cp:coreProperties>
</file>