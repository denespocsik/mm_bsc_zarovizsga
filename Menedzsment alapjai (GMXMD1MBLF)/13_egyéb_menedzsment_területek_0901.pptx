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80" r:id="rId24"/>
    <p:sldId id="281" r:id="rId25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CD875"/>
    <a:srgbClr val="9A8E8C"/>
    <a:srgbClr val="949C9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9" autoAdjust="0"/>
    <p:restoredTop sz="96370" autoAdjust="0"/>
  </p:normalViewPr>
  <p:slideViewPr>
    <p:cSldViewPr snapToGrid="0">
      <p:cViewPr varScale="1">
        <p:scale>
          <a:sx n="56" d="100"/>
          <a:sy n="56" d="100"/>
        </p:scale>
        <p:origin x="90" y="60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3819" y="45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9E53D2-A48E-4C9B-B410-1E4D72DE286B}" type="datetimeFigureOut">
              <a:rPr lang="hu-HU" smtClean="0"/>
              <a:t>2023. 08. 29.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FF073B-6FBE-4398-99B6-4AAC91B062C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196373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FF073B-6FBE-4398-99B6-4AAC91B062CD}" type="slidenum">
              <a:rPr lang="hu-HU" smtClean="0"/>
              <a:t>5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408357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FF073B-6FBE-4398-99B6-4AAC91B062CD}" type="slidenum">
              <a:rPr lang="hu-HU" smtClean="0"/>
              <a:t>7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405404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FF073B-6FBE-4398-99B6-4AAC91B062CD}" type="slidenum">
              <a:rPr lang="hu-HU" smtClean="0"/>
              <a:t>8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2247607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FF073B-6FBE-4398-99B6-4AAC91B062CD}" type="slidenum">
              <a:rPr lang="hu-HU" smtClean="0"/>
              <a:t>9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431754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FF073B-6FBE-4398-99B6-4AAC91B062CD}" type="slidenum">
              <a:rPr lang="hu-HU" smtClean="0"/>
              <a:t>10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436985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FF073B-6FBE-4398-99B6-4AAC91B062CD}" type="slidenum">
              <a:rPr lang="hu-HU" smtClean="0"/>
              <a:t>11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029399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FF073B-6FBE-4398-99B6-4AAC91B062CD}" type="slidenum">
              <a:rPr lang="hu-HU" smtClean="0"/>
              <a:t>12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260278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FF073B-6FBE-4398-99B6-4AAC91B062CD}" type="slidenum">
              <a:rPr lang="hu-HU" smtClean="0"/>
              <a:t>13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968704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FF073B-6FBE-4398-99B6-4AAC91B062CD}" type="slidenum">
              <a:rPr lang="hu-HU" smtClean="0"/>
              <a:t>14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949405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FF073B-6FBE-4398-99B6-4AAC91B062CD}" type="slidenum">
              <a:rPr lang="hu-HU" smtClean="0"/>
              <a:t>15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1000098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FF073B-6FBE-4398-99B6-4AAC91B062CD}" type="slidenum">
              <a:rPr lang="hu-HU" smtClean="0"/>
              <a:t>16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28249100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FF073B-6FBE-4398-99B6-4AAC91B062CD}" type="slidenum">
              <a:rPr lang="hu-HU" smtClean="0"/>
              <a:t>17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17017797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FF073B-6FBE-4398-99B6-4AAC91B062CD}" type="slidenum">
              <a:rPr lang="hu-HU" smtClean="0"/>
              <a:t>18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8888783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FF073B-6FBE-4398-99B6-4AAC91B062CD}" type="slidenum">
              <a:rPr lang="hu-HU" smtClean="0"/>
              <a:t>19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5417770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FF073B-6FBE-4398-99B6-4AAC91B062CD}" type="slidenum">
              <a:rPr lang="hu-HU" smtClean="0"/>
              <a:t>20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12673531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FF073B-6FBE-4398-99B6-4AAC91B062CD}" type="slidenum">
              <a:rPr lang="hu-HU" smtClean="0"/>
              <a:t>21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5482840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FF073B-6FBE-4398-99B6-4AAC91B062CD}" type="slidenum">
              <a:rPr lang="hu-HU" smtClean="0"/>
              <a:t>22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9957757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FF073B-6FBE-4398-99B6-4AAC91B062CD}" type="slidenum">
              <a:rPr lang="hu-HU" smtClean="0"/>
              <a:t>23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201052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750C139D-3168-4490-BB9C-BC38A0EA8E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xmlns="" id="{E8B206B0-EEE6-4BFD-858B-14AAFB8C86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xmlns="" id="{15EFD624-2362-4233-AA2E-58D3AB2C1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2A2B3-E014-4A2E-A550-0FC801CC6702}" type="datetime1">
              <a:rPr lang="hu-HU" smtClean="0"/>
              <a:t>2023. 08. 29.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xmlns="" id="{D81589B6-0D22-495A-8AA4-804DAD7FDC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xmlns="" id="{71DFD03E-3F7E-4EF4-9258-A04E4B2C7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954588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ím és tartalom">
    <p:bg>
      <p:bgPr>
        <a:solidFill>
          <a:srgbClr val="BCD87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églalap 13">
            <a:extLst>
              <a:ext uri="{FF2B5EF4-FFF2-40B4-BE49-F238E27FC236}">
                <a16:creationId xmlns:a16="http://schemas.microsoft.com/office/drawing/2014/main" xmlns="" id="{DDDEED1F-4A84-460A-8607-0736A80B4660}"/>
              </a:ext>
            </a:extLst>
          </p:cNvPr>
          <p:cNvSpPr/>
          <p:nvPr userDrawn="1"/>
        </p:nvSpPr>
        <p:spPr>
          <a:xfrm>
            <a:off x="5004707" y="113167"/>
            <a:ext cx="7094084" cy="55027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3" name="Téglalap 12">
            <a:extLst>
              <a:ext uri="{FF2B5EF4-FFF2-40B4-BE49-F238E27FC236}">
                <a16:creationId xmlns:a16="http://schemas.microsoft.com/office/drawing/2014/main" xmlns="" id="{B5A85F78-1FD5-4B49-B583-F7B2D395B8BA}"/>
              </a:ext>
            </a:extLst>
          </p:cNvPr>
          <p:cNvSpPr/>
          <p:nvPr userDrawn="1"/>
        </p:nvSpPr>
        <p:spPr>
          <a:xfrm>
            <a:off x="93209" y="89807"/>
            <a:ext cx="12005582" cy="11522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8" name="Téglalap 7">
            <a:extLst>
              <a:ext uri="{FF2B5EF4-FFF2-40B4-BE49-F238E27FC236}">
                <a16:creationId xmlns:a16="http://schemas.microsoft.com/office/drawing/2014/main" xmlns="" id="{C2069732-ACEA-44F7-B5CA-BAB2F9787C78}"/>
              </a:ext>
            </a:extLst>
          </p:cNvPr>
          <p:cNvSpPr/>
          <p:nvPr userDrawn="1"/>
        </p:nvSpPr>
        <p:spPr>
          <a:xfrm>
            <a:off x="93209" y="1265463"/>
            <a:ext cx="12005582" cy="55027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xmlns="" id="{FAB37637-9D6E-4D90-B2F1-76E205F961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133" y="547230"/>
            <a:ext cx="11510284" cy="718233"/>
          </a:xfrm>
        </p:spPr>
        <p:txBody>
          <a:bodyPr>
            <a:normAutofit/>
          </a:bodyPr>
          <a:lstStyle>
            <a:lvl1pPr>
              <a:defRPr sz="4000" b="1">
                <a:latin typeface="+mn-lt"/>
              </a:defRPr>
            </a:lvl1pPr>
          </a:lstStyle>
          <a:p>
            <a:r>
              <a:rPr lang="hu-HU" dirty="0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B2CBCB6B-387A-4289-A82B-0BFAB4E69E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0" y="1457325"/>
            <a:ext cx="11510283" cy="5264148"/>
          </a:xfrm>
        </p:spPr>
        <p:txBody>
          <a:bodyPr/>
          <a:lstStyle>
            <a:lvl1pPr>
              <a:buClr>
                <a:srgbClr val="BCD875"/>
              </a:buClr>
              <a:buFont typeface="Wingdings" panose="05000000000000000000" pitchFamily="2" charset="2"/>
              <a:buChar char="§"/>
              <a:defRPr sz="2400"/>
            </a:lvl1pPr>
            <a:lvl2pPr>
              <a:buClr>
                <a:srgbClr val="BCD875"/>
              </a:buClr>
              <a:buFont typeface="Wingdings" panose="05000000000000000000" pitchFamily="2" charset="2"/>
              <a:buChar char="§"/>
              <a:defRPr sz="2400"/>
            </a:lvl2pPr>
            <a:lvl3pPr>
              <a:buClr>
                <a:srgbClr val="BCD875"/>
              </a:buClr>
              <a:buFont typeface="Wingdings" panose="05000000000000000000" pitchFamily="2" charset="2"/>
              <a:buChar char="§"/>
              <a:defRPr sz="2400"/>
            </a:lvl3pPr>
            <a:lvl4pPr>
              <a:buClr>
                <a:srgbClr val="BCD875"/>
              </a:buClr>
              <a:buFont typeface="Wingdings" panose="05000000000000000000" pitchFamily="2" charset="2"/>
              <a:buChar char="§"/>
              <a:defRPr sz="2400"/>
            </a:lvl4pPr>
            <a:lvl5pPr>
              <a:buClr>
                <a:srgbClr val="BCD875"/>
              </a:buClr>
              <a:buFont typeface="Wingdings" panose="05000000000000000000" pitchFamily="2" charset="2"/>
              <a:buChar char="§"/>
              <a:defRPr sz="2400"/>
            </a:lvl5pPr>
          </a:lstStyle>
          <a:p>
            <a:pPr lvl="0"/>
            <a:r>
              <a:rPr lang="hu-HU" dirty="0"/>
              <a:t>Mintaszöveg szerkesztése</a:t>
            </a:r>
          </a:p>
          <a:p>
            <a:pPr lvl="1"/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  <a:p>
            <a:pPr lvl="3"/>
            <a:r>
              <a:rPr lang="hu-HU" dirty="0"/>
              <a:t>Negyedik szint</a:t>
            </a:r>
          </a:p>
          <a:p>
            <a:pPr lvl="4"/>
            <a:r>
              <a:rPr lang="hu-HU" dirty="0"/>
              <a:t>Ötödik szint</a:t>
            </a:r>
          </a:p>
        </p:txBody>
      </p:sp>
      <p:sp>
        <p:nvSpPr>
          <p:cNvPr id="7" name="Dia számának helye 5">
            <a:extLst>
              <a:ext uri="{FF2B5EF4-FFF2-40B4-BE49-F238E27FC236}">
                <a16:creationId xmlns:a16="http://schemas.microsoft.com/office/drawing/2014/main" xmlns="" id="{ABA2E200-FE90-4F81-A7F7-486CE3F25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2729" y="6379708"/>
            <a:ext cx="2743200" cy="365125"/>
          </a:xfrm>
        </p:spPr>
        <p:txBody>
          <a:bodyPr/>
          <a:lstStyle>
            <a:lvl1pPr>
              <a:defRPr sz="1400" b="1">
                <a:solidFill>
                  <a:schemeClr val="tx1"/>
                </a:solidFill>
              </a:defRPr>
            </a:lvl1pPr>
          </a:lstStyle>
          <a:p>
            <a:fld id="{F906C4D8-32F2-4A19-B0E3-4323A7BEC644}" type="slidenum">
              <a:rPr lang="hu-HU" smtClean="0"/>
              <a:pPr/>
              <a:t>‹#›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11" name="Szöveg helye 10">
            <a:extLst>
              <a:ext uri="{FF2B5EF4-FFF2-40B4-BE49-F238E27FC236}">
                <a16:creationId xmlns:a16="http://schemas.microsoft.com/office/drawing/2014/main" xmlns="" id="{CCA7E92E-0678-4CB8-B34A-3CEDD493C73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05463" y="211135"/>
            <a:ext cx="11510284" cy="440645"/>
          </a:xfrm>
        </p:spPr>
        <p:txBody>
          <a:bodyPr/>
          <a:lstStyle>
            <a:lvl1pPr>
              <a:buNone/>
              <a:defRPr b="0"/>
            </a:lvl1pPr>
          </a:lstStyle>
          <a:p>
            <a:pPr lvl="0"/>
            <a:r>
              <a:rPr lang="hu-HU" dirty="0"/>
              <a:t>Mintaszöveg szerkesztése</a:t>
            </a:r>
          </a:p>
        </p:txBody>
      </p:sp>
    </p:spTree>
    <p:extLst>
      <p:ext uri="{BB962C8B-B14F-4D97-AF65-F5344CB8AC3E}">
        <p14:creationId xmlns:p14="http://schemas.microsoft.com/office/powerpoint/2010/main" val="30223406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558E1F47-A20E-4BB9-A350-B0990DE5E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xmlns="" id="{A674DF5C-4EEB-42BF-947E-B831FE8D0E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xmlns="" id="{80F63501-4CC0-443D-9D68-F329C8C2B1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1EA38-83FC-4782-9732-2A658C756FBF}" type="datetime1">
              <a:rPr lang="hu-HU" smtClean="0"/>
              <a:t>2023. 08. 29.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xmlns="" id="{CBAEB0E0-2A8E-4ED6-A556-F89797330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xmlns="" id="{229D3C6A-29F7-48FE-BCD5-E38A7ED76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1410095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8810067C-BED7-4D0B-A7AE-64B226FE9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6989049E-102A-47F6-9DB1-D28194DAEC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xmlns="" id="{56670EB4-6095-49EF-BC35-7B589A44C7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xmlns="" id="{2B37BD7D-E3E5-45AB-8F04-C3BB67891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702E6-7993-453D-93F9-E6EF1116D18A}" type="datetime1">
              <a:rPr lang="hu-HU" smtClean="0"/>
              <a:t>2023. 08. 29.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xmlns="" id="{3E3D45C3-0A0B-4B2E-82E4-EA07495C0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xmlns="" id="{B5B50F8E-6620-4235-B0AD-8AA15B30E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660569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F266F4E0-940E-4BAE-B93C-63B7BDFB7A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xmlns="" id="{0A2959B8-ED8C-4B0B-9977-61BD3846A4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xmlns="" id="{1CCDBE15-67FD-4624-AA3C-3954AD9B70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DF322681-B9EB-4202-B82F-62986E7BEB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xmlns="" id="{4C904C5F-E076-4D0B-8982-C2E9696E23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xmlns="" id="{DAE73D62-5ABD-42E2-8E4F-A4C9D60C53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D6007-D686-40BA-81B1-73FEF61F594E}" type="datetime1">
              <a:rPr lang="hu-HU" smtClean="0"/>
              <a:t>2023. 08. 29.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xmlns="" id="{12CEA0E5-76DF-4C30-B4E7-9D73172E1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xmlns="" id="{E4147FC1-08D6-4073-B160-DA6C7F806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5089282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FDDEF8AF-3DBD-4787-B3C3-E54E37A4B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xmlns="" id="{1004E331-98B3-4071-BBC4-B70A94793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99E8F-2C13-44E0-88ED-8DAC965F9F1B}" type="datetime1">
              <a:rPr lang="hu-HU" smtClean="0"/>
              <a:t>2023. 08. 29.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xmlns="" id="{9839F9EC-D9E3-4149-9FDB-26C9C93B5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xmlns="" id="{A996AA15-EE1A-41CC-A088-942F69E68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6018340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xmlns="" id="{8232CDB6-02A2-4E33-83D0-705F4C0012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2AE6F-9176-4A48-8B31-B40F1CD1CA67}" type="datetime1">
              <a:rPr lang="hu-HU" smtClean="0"/>
              <a:t>2023. 08. 29.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xmlns="" id="{A57E066B-902D-436D-B156-0C745132A9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3817F04B-AF52-4648-8F6E-228367CF3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996865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BF10A394-C766-410D-A40E-A419FE6635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1B9AE76C-FECB-4776-9AC6-0CC24C19A2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xmlns="" id="{37756CC3-7EE4-4387-9A9B-A6A7EC4EC4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xmlns="" id="{5F71D787-FE7E-488E-820D-677DB815C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64019-9299-4649-B777-D3FD3F0DF105}" type="datetime1">
              <a:rPr lang="hu-HU" smtClean="0"/>
              <a:t>2023. 08. 29.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xmlns="" id="{3F0CBFD6-E08D-4DC4-AD7A-CCFE18994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xmlns="" id="{76DBC206-9A73-416D-8C18-5E85F368E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9136013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1D336558-64C8-4443-A717-0E2F3CB774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xmlns="" id="{7D7D72D5-7457-4552-88D3-03E28DEDD6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xmlns="" id="{5D412EE6-6AD6-4C94-9EE3-B679EAFB6D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xmlns="" id="{6B45C1E5-6AD4-490D-9144-44476B02FA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1CDC1-49EF-4ED0-A19F-FD7F561FE84C}" type="datetime1">
              <a:rPr lang="hu-HU" smtClean="0"/>
              <a:t>2023. 08. 29.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xmlns="" id="{C044CDEB-6218-40E1-B4BA-416764613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xmlns="" id="{C00ED222-CB4F-44CF-BA9D-2FC17CE60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038806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CF5A7E4B-F7E4-4AA4-860F-4C6A03C87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xmlns="" id="{AA651D79-3498-4F2E-9F68-953F93D4F7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xmlns="" id="{D304470A-ABA4-4D52-8CC9-952139B85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93B1C-99A4-498A-A255-49BFF718273E}" type="datetime1">
              <a:rPr lang="hu-HU" smtClean="0"/>
              <a:t>2023. 08. 29.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xmlns="" id="{5B1CFCD3-7120-46EC-9471-224D39A3B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xmlns="" id="{93B51A95-5799-4B77-AC52-43F335DD4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859780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xmlns="" id="{D373C461-39C7-4606-BCC4-70DADCEF46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xmlns="" id="{44A7E9BB-AA6D-4D97-B1A7-18F2CD1C65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xmlns="" id="{11DD3EA0-896E-47E3-A1C0-707ECCCE9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A5E8A-C486-4894-8349-73C1CA8437D8}" type="datetime1">
              <a:rPr lang="hu-HU" smtClean="0"/>
              <a:t>2023. 08. 29.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xmlns="" id="{FC1DE335-3672-4078-9D66-234233146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xmlns="" id="{0FDC640C-F1ED-46D8-AB88-A36984A7B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729126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xmlns="" id="{79ED9102-32AA-4BE9-BDE5-05201ADDA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xmlns="" id="{463EEA34-9557-4D56-831A-83912F399A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xmlns="" id="{AC69EE77-6CC9-4CC9-8D75-64722839DE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2D1FF1-846C-4DD0-B4AC-8156EDF0B994}" type="datetime1">
              <a:rPr lang="hu-HU" smtClean="0"/>
              <a:t>2023. 08. 29.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xmlns="" id="{699550F0-C374-4C65-91D6-8BCFE575C3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xmlns="" id="{2606282D-346B-422A-A731-68523C74F4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06C4D8-32F2-4A19-B0E3-4323A7BEC64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825163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Rocks, Dark, Zen, Meditation, Balance, Wallpaper - Zen 4k - 3840x2400  Wallpaper - teahub.io">
            <a:extLst>
              <a:ext uri="{FF2B5EF4-FFF2-40B4-BE49-F238E27FC236}">
                <a16:creationId xmlns:a16="http://schemas.microsoft.com/office/drawing/2014/main" xmlns="" id="{E4C2B38C-04BB-4E63-8C56-D57B71974D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8176" y="-438061"/>
            <a:ext cx="12228352" cy="7642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églalap 9">
            <a:extLst>
              <a:ext uri="{FF2B5EF4-FFF2-40B4-BE49-F238E27FC236}">
                <a16:creationId xmlns:a16="http://schemas.microsoft.com/office/drawing/2014/main" xmlns="" id="{B71DD668-A5C7-4E1D-B55A-AF9BA972D50B}"/>
              </a:ext>
            </a:extLst>
          </p:cNvPr>
          <p:cNvSpPr/>
          <p:nvPr/>
        </p:nvSpPr>
        <p:spPr>
          <a:xfrm>
            <a:off x="-36353" y="84481"/>
            <a:ext cx="11992563" cy="12634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xmlns="" id="{3C939434-E251-4120-898C-686C77FB2B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96313" y="589969"/>
            <a:ext cx="10795686" cy="715684"/>
          </a:xfrm>
          <a:noFill/>
          <a:ln w="28575">
            <a:noFill/>
          </a:ln>
        </p:spPr>
        <p:txBody>
          <a:bodyPr anchor="ctr">
            <a:normAutofit fontScale="90000"/>
          </a:bodyPr>
          <a:lstStyle/>
          <a:p>
            <a:pPr algn="l"/>
            <a:r>
              <a:rPr lang="hu-HU" b="1" dirty="0">
                <a:latin typeface="+mn-lt"/>
              </a:rPr>
              <a:t>Egyéb menedzsment területek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xmlns="" id="{13CA3651-BAD3-4EDE-AFD0-D069005249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82973" y="84481"/>
            <a:ext cx="2930666" cy="632211"/>
          </a:xfrm>
          <a:noFill/>
          <a:ln w="28575">
            <a:noFill/>
          </a:ln>
        </p:spPr>
        <p:txBody>
          <a:bodyPr anchor="ctr">
            <a:normAutofit/>
          </a:bodyPr>
          <a:lstStyle/>
          <a:p>
            <a:pPr algn="l"/>
            <a:r>
              <a:rPr lang="hu-HU" b="1" dirty="0"/>
              <a:t>Menedzsment alapjai</a:t>
            </a:r>
          </a:p>
        </p:txBody>
      </p:sp>
      <p:sp>
        <p:nvSpPr>
          <p:cNvPr id="4" name="Téglalap 3">
            <a:extLst>
              <a:ext uri="{FF2B5EF4-FFF2-40B4-BE49-F238E27FC236}">
                <a16:creationId xmlns:a16="http://schemas.microsoft.com/office/drawing/2014/main" xmlns="" id="{C6A4C454-9DBE-4802-9EF2-C1214C1FEE2B}"/>
              </a:ext>
            </a:extLst>
          </p:cNvPr>
          <p:cNvSpPr/>
          <p:nvPr/>
        </p:nvSpPr>
        <p:spPr>
          <a:xfrm>
            <a:off x="0" y="84481"/>
            <a:ext cx="1382973" cy="1263413"/>
          </a:xfrm>
          <a:prstGeom prst="rect">
            <a:avLst/>
          </a:prstGeom>
          <a:solidFill>
            <a:srgbClr val="BCD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xmlns="" id="{D4FF0E0E-6C7A-4088-A4A3-FE1C79555183}"/>
              </a:ext>
            </a:extLst>
          </p:cNvPr>
          <p:cNvSpPr txBox="1"/>
          <p:nvPr/>
        </p:nvSpPr>
        <p:spPr>
          <a:xfrm>
            <a:off x="219891" y="348858"/>
            <a:ext cx="125116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6000" b="1" dirty="0" smtClean="0">
                <a:solidFill>
                  <a:schemeClr val="bg1"/>
                </a:solidFill>
              </a:rPr>
              <a:t>13.</a:t>
            </a:r>
            <a:endParaRPr lang="hu-HU" sz="6000" b="1" dirty="0">
              <a:solidFill>
                <a:schemeClr val="bg1"/>
              </a:solidFill>
            </a:endParaRPr>
          </a:p>
        </p:txBody>
      </p:sp>
      <p:pic>
        <p:nvPicPr>
          <p:cNvPr id="8" name="Kép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1103" y="220818"/>
            <a:ext cx="1305107" cy="990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14027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CB505F43-3D91-412E-9722-5437382E2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Tartalomjegyzék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271F1DE5-BF43-4C0B-A4A4-BEB34C77F4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hu-HU" dirty="0"/>
              <a:t>Minőségmenedzsment</a:t>
            </a:r>
          </a:p>
          <a:p>
            <a:pPr lvl="1"/>
            <a:r>
              <a:rPr lang="hu-HU" dirty="0"/>
              <a:t>Célja, funkciói</a:t>
            </a:r>
          </a:p>
          <a:p>
            <a:pPr lvl="1"/>
            <a:r>
              <a:rPr lang="hu-HU" dirty="0"/>
              <a:t>Szabványok, szabványosítás</a:t>
            </a:r>
          </a:p>
          <a:p>
            <a:pPr lvl="1"/>
            <a:r>
              <a:rPr lang="hu-HU" dirty="0"/>
              <a:t>Teljeskörű minőségmenedzsment</a:t>
            </a:r>
          </a:p>
          <a:p>
            <a:pPr marL="0" indent="0">
              <a:buNone/>
            </a:pPr>
            <a:r>
              <a:rPr lang="hu-HU" dirty="0"/>
              <a:t>Benchmarking</a:t>
            </a:r>
          </a:p>
          <a:p>
            <a:pPr lvl="1"/>
            <a:r>
              <a:rPr lang="hu-HU" dirty="0"/>
              <a:t>Célja, funkciói</a:t>
            </a:r>
          </a:p>
          <a:p>
            <a:pPr lvl="1"/>
            <a:r>
              <a:rPr lang="hu-HU" dirty="0"/>
              <a:t>Fajtái</a:t>
            </a:r>
          </a:p>
          <a:p>
            <a:pPr lvl="1"/>
            <a:r>
              <a:rPr lang="hu-HU" dirty="0"/>
              <a:t>Lépései</a:t>
            </a:r>
          </a:p>
          <a:p>
            <a:pPr marL="0" indent="0">
              <a:buNone/>
            </a:pPr>
            <a:r>
              <a:rPr lang="hu-HU" dirty="0"/>
              <a:t>Termelésmenedzsment</a:t>
            </a:r>
          </a:p>
          <a:p>
            <a:pPr lvl="1"/>
            <a:r>
              <a:rPr lang="hu-HU" dirty="0"/>
              <a:t>Célja, funkció</a:t>
            </a:r>
          </a:p>
          <a:p>
            <a:pPr lvl="1"/>
            <a:r>
              <a:rPr lang="hu-HU" dirty="0"/>
              <a:t>Tömegszerűség</a:t>
            </a:r>
          </a:p>
          <a:p>
            <a:pPr lvl="1"/>
            <a:r>
              <a:rPr lang="hu-HU" dirty="0"/>
              <a:t>Kapacitás</a:t>
            </a:r>
          </a:p>
          <a:p>
            <a:pPr lvl="1"/>
            <a:r>
              <a:rPr lang="hu-HU" dirty="0"/>
              <a:t>Erőforrás felhasználás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7ADB85DE-5D70-4A1B-9F2F-2707FFEC9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2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BD92B2EB-B62B-48F3-B55A-A30661629A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Menedzsment területek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07392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4089B0F0-FEAD-4C0A-861B-8E9AC629E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Minőségmenedzsment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2CB725CF-76DA-4E45-AA11-392765DD7C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1" y="1457325"/>
            <a:ext cx="11919858" cy="5264148"/>
          </a:xfrm>
        </p:spPr>
        <p:txBody>
          <a:bodyPr>
            <a:normAutofit/>
          </a:bodyPr>
          <a:lstStyle/>
          <a:p>
            <a:r>
              <a:rPr lang="hu-HU" dirty="0"/>
              <a:t>Vállalati szintű elköteleződés a minőségi termelés és a vevői igények lehető legmagasabb szintű kielégítése mellett a termelés optimalizálásával párhuzamosan</a:t>
            </a:r>
          </a:p>
          <a:p>
            <a:r>
              <a:rPr lang="hu-HU" dirty="0"/>
              <a:t>Az egyre inkább növekvő és gyorsan változó vásárlói elvárásoknak köszönhetően a vállalatoknak törekedniük kell a termékeik minőségi előállítására, emellett pedig az előállítási folyamatok optimalizálására a piaci versenyelőny elérésének érdekében</a:t>
            </a:r>
          </a:p>
          <a:p>
            <a:pPr lvl="1"/>
            <a:r>
              <a:rPr lang="hu-HU" dirty="0"/>
              <a:t>A vásárlók egyre könnyebben jutnak információhoz</a:t>
            </a:r>
          </a:p>
          <a:p>
            <a:pPr lvl="1"/>
            <a:r>
              <a:rPr lang="hu-HU" dirty="0"/>
              <a:t>Egyéni igényeket támasztanak</a:t>
            </a:r>
          </a:p>
          <a:p>
            <a:pPr lvl="1"/>
            <a:r>
              <a:rPr lang="hu-HU" dirty="0"/>
              <a:t>Számtalan opció közül választhatnak</a:t>
            </a:r>
          </a:p>
          <a:p>
            <a:pPr lvl="1"/>
            <a:r>
              <a:rPr lang="hu-HU" dirty="0"/>
              <a:t>Döntésüket sokszor befolyásolja az értékesített termék, szolgáltatás minősége</a:t>
            </a:r>
          </a:p>
          <a:p>
            <a:r>
              <a:rPr lang="hu-HU" b="1" dirty="0"/>
              <a:t>Új értékesítési filozófia</a:t>
            </a:r>
          </a:p>
          <a:p>
            <a:pPr marL="457200" lvl="1" indent="0">
              <a:buNone/>
            </a:pPr>
            <a:r>
              <a:rPr lang="hu-HU" dirty="0"/>
              <a:t>A vállalatok nem csak a vevők ismert igényeinek kielégítésére, hanem a látens igények (a vevők számára is még ismeretlen) kiszolgálására is törekszenek. A vállalati innováció, az újat mutatásra való képesség nagyban befolyásolja a vállalatok fennmaradását</a:t>
            </a:r>
          </a:p>
          <a:p>
            <a:endParaRPr lang="hu-HU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C41DEF00-0517-45C0-A052-A80E7C3A1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3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49BED690-FC48-4FCE-8A77-16BFCEDF2B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Menedzsment területek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27424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4089B0F0-FEAD-4C0A-861B-8E9AC629E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Minőségmenedzsment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2CB725CF-76DA-4E45-AA11-392765DD7C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1" y="1457324"/>
            <a:ext cx="11919858" cy="540067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hu-HU" b="1" dirty="0" err="1" smtClean="0"/>
              <a:t>Minőségcentrikus</a:t>
            </a:r>
            <a:r>
              <a:rPr lang="hu-HU" b="1" dirty="0" smtClean="0"/>
              <a:t> </a:t>
            </a:r>
            <a:r>
              <a:rPr lang="hu-HU" b="1" dirty="0"/>
              <a:t>vezetési filozófia elvei</a:t>
            </a:r>
          </a:p>
          <a:p>
            <a:pPr lvl="1"/>
            <a:r>
              <a:rPr lang="hu-HU" dirty="0"/>
              <a:t>vevőközpontúság (vevő igényeinek kielégítése)</a:t>
            </a:r>
          </a:p>
          <a:p>
            <a:pPr lvl="1"/>
            <a:r>
              <a:rPr lang="hu-HU" dirty="0"/>
              <a:t>folyamatok folyamatos javítása</a:t>
            </a:r>
          </a:p>
          <a:p>
            <a:pPr lvl="1"/>
            <a:r>
              <a:rPr lang="hu-HU" dirty="0"/>
              <a:t>teljes elkötelezettség</a:t>
            </a:r>
          </a:p>
          <a:p>
            <a:pPr lvl="1"/>
            <a:r>
              <a:rPr lang="hu-HU" dirty="0"/>
              <a:t>minőség köré épül fel a vállalat stratégiája, célkitűzése</a:t>
            </a:r>
          </a:p>
          <a:p>
            <a:pPr lvl="1"/>
            <a:r>
              <a:rPr lang="hu-HU" dirty="0"/>
              <a:t>vezetői elkötelezettség: célkitűzések pontos megértése, megvalósításához szükséges tudás és egyéb feltételek</a:t>
            </a:r>
          </a:p>
          <a:p>
            <a:pPr lvl="1"/>
            <a:r>
              <a:rPr lang="hu-HU" dirty="0"/>
              <a:t>felismert érdek, határozott cél: a szervezet minden tagja számára világos a vállalat célkitűzése és stratégiája</a:t>
            </a:r>
          </a:p>
          <a:p>
            <a:pPr lvl="1"/>
            <a:r>
              <a:rPr lang="hu-HU" dirty="0"/>
              <a:t>munkamegosztás: lapos, elnyúló vállalati struktúra, minél kisebb végrehajtói csoport hogy a felelősség nyomon követese és a hatékonyság </a:t>
            </a:r>
            <a:r>
              <a:rPr lang="hu-HU" dirty="0" smtClean="0"/>
              <a:t>optimalizálható </a:t>
            </a:r>
            <a:r>
              <a:rPr lang="hu-HU" dirty="0"/>
              <a:t>legyen</a:t>
            </a:r>
          </a:p>
          <a:p>
            <a:pPr lvl="1"/>
            <a:r>
              <a:rPr lang="hu-HU" dirty="0"/>
              <a:t>kommunikáció, emberi kapcsolatok</a:t>
            </a:r>
          </a:p>
          <a:p>
            <a:pPr lvl="1"/>
            <a:r>
              <a:rPr lang="hu-HU" dirty="0"/>
              <a:t>állandó tervezés</a:t>
            </a:r>
          </a:p>
          <a:p>
            <a:pPr lvl="1"/>
            <a:r>
              <a:rPr lang="hu-HU" dirty="0"/>
              <a:t>folyamatos képzés</a:t>
            </a:r>
          </a:p>
          <a:p>
            <a:pPr lvl="1"/>
            <a:r>
              <a:rPr lang="hu-HU" dirty="0"/>
              <a:t>egyértelmű motiváció: teljesítményértékelési </a:t>
            </a:r>
            <a:r>
              <a:rPr lang="hu-HU" dirty="0" smtClean="0"/>
              <a:t>rendszerek</a:t>
            </a:r>
            <a:endParaRPr lang="hu-HU" dirty="0"/>
          </a:p>
          <a:p>
            <a:endParaRPr lang="hu-HU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C41DEF00-0517-45C0-A052-A80E7C3A1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4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49BED690-FC48-4FCE-8A77-16BFCEDF2B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Menedzsment területek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08683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4089B0F0-FEAD-4C0A-861B-8E9AC629E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Minőségmenedzsment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2CB725CF-76DA-4E45-AA11-392765DD7C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1" y="1265463"/>
            <a:ext cx="11919858" cy="5456010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hu-HU" b="1" dirty="0"/>
              <a:t>Szabvány és szabványosítás</a:t>
            </a:r>
          </a:p>
          <a:p>
            <a:pPr lvl="1"/>
            <a:r>
              <a:rPr lang="hu-HU" b="1" dirty="0"/>
              <a:t>Szabvány: </a:t>
            </a:r>
            <a:r>
              <a:rPr lang="hu-HU" dirty="0"/>
              <a:t>elismert szervezet által alkotott vagy jóváhagyott közmegegyezéssel elfogadott olyan műszaki dokumentum, amely tevékenységre vagy azok eredményeire vonatkozik</a:t>
            </a:r>
          </a:p>
          <a:p>
            <a:pPr lvl="1"/>
            <a:r>
              <a:rPr lang="hu-HU" b="1" dirty="0"/>
              <a:t>Szabványosítás: </a:t>
            </a:r>
            <a:r>
              <a:rPr lang="hu-HU" dirty="0"/>
              <a:t>a minőségbiztosítás egyik legfontosabb eszköze, melynek célja a rendszeresen ismétlődő műszaki-gazdasági feladatok optimális megoldásának elősegítése (kidolgozás, közzététel, alkalmazás)</a:t>
            </a:r>
          </a:p>
          <a:p>
            <a:r>
              <a:rPr lang="hu-HU" dirty="0"/>
              <a:t>A minőséget befolyásoló tevékenységeket </a:t>
            </a:r>
            <a:r>
              <a:rPr lang="hu-HU" b="1" dirty="0"/>
              <a:t>tervezni kell </a:t>
            </a:r>
            <a:r>
              <a:rPr lang="hu-HU" dirty="0"/>
              <a:t>annak érdekében, hogy a célok, jogosítványok és a felelősség köre meghatározott és elérhető legyen</a:t>
            </a:r>
          </a:p>
          <a:p>
            <a:r>
              <a:rPr lang="hu-HU" b="1" dirty="0"/>
              <a:t>Ellenőrizni kell </a:t>
            </a:r>
            <a:r>
              <a:rPr lang="hu-HU" dirty="0"/>
              <a:t>annak érdekében, hogy a speciális elvárások (minden szinten) teljesüljenek, a problémákat megelőzzük és elhárítsuk, és a helyesbítő akciók tervezhetők és kivitelezhetők legyenek</a:t>
            </a:r>
          </a:p>
          <a:p>
            <a:r>
              <a:rPr lang="hu-HU" b="1" dirty="0"/>
              <a:t>Dokumentálni kell</a:t>
            </a:r>
            <a:r>
              <a:rPr lang="hu-HU" dirty="0"/>
              <a:t>, hogy biztosítsuk a minőségi célok és módszerek megértését, zökkenőmentes együttműködést a szervezeten belül, visszacsatolást a tervezési fázisba, és objektív bizonyítékul a minőségügyi rendszer teljesítményére azoknak, akik ezt igénylik (vevők, független tanúsítók)</a:t>
            </a:r>
          </a:p>
          <a:p>
            <a:r>
              <a:rPr lang="hu-HU" b="1" dirty="0"/>
              <a:t>Szabványok: </a:t>
            </a:r>
            <a:r>
              <a:rPr lang="hu-HU" dirty="0"/>
              <a:t>ismételhetőség, konkretizálás, korszerűsítés, optimalizálás, beépíthetőség, mérhetőség </a:t>
            </a:r>
            <a:r>
              <a:rPr lang="hu-HU" dirty="0">
                <a:sym typeface="Wingdings" panose="05000000000000000000" pitchFamily="2" charset="2"/>
              </a:rPr>
              <a:t> a vevői igények szem előtt tartása</a:t>
            </a:r>
            <a:endParaRPr lang="hu-HU" dirty="0"/>
          </a:p>
          <a:p>
            <a:endParaRPr lang="hu-HU" dirty="0"/>
          </a:p>
          <a:p>
            <a:pPr lvl="1"/>
            <a:endParaRPr lang="hu-HU" dirty="0"/>
          </a:p>
          <a:p>
            <a:endParaRPr lang="hu-HU" dirty="0"/>
          </a:p>
          <a:p>
            <a:endParaRPr lang="hu-HU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C41DEF00-0517-45C0-A052-A80E7C3A1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5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49BED690-FC48-4FCE-8A77-16BFCEDF2B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Menedzsment területek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88193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4089B0F0-FEAD-4C0A-861B-8E9AC629E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Minőségirányítás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2CB725CF-76DA-4E45-AA11-392765DD7C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567" y="1457325"/>
            <a:ext cx="12048814" cy="1751701"/>
          </a:xfrm>
        </p:spPr>
        <p:txBody>
          <a:bodyPr>
            <a:normAutofit/>
          </a:bodyPr>
          <a:lstStyle/>
          <a:p>
            <a:r>
              <a:rPr lang="hu-HU" dirty="0"/>
              <a:t>Összehangolt tevékenység, egy szervezet vezetésére és szabályozására a minőség szempontjából</a:t>
            </a:r>
          </a:p>
          <a:p>
            <a:r>
              <a:rPr lang="hu-HU" dirty="0"/>
              <a:t>MSZ EN ISO 9001:2015 –es szabvány </a:t>
            </a:r>
            <a:r>
              <a:rPr lang="hu-HU" dirty="0" smtClean="0"/>
              <a:t>(Minőségirányítási rendszer – Követelmények)</a:t>
            </a:r>
          </a:p>
          <a:p>
            <a:r>
              <a:rPr lang="hu-HU" dirty="0" smtClean="0"/>
              <a:t>Irányelvek</a:t>
            </a:r>
            <a:r>
              <a:rPr lang="hu-HU" dirty="0"/>
              <a:t>, hogy </a:t>
            </a:r>
            <a:r>
              <a:rPr lang="hu-HU" dirty="0" smtClean="0"/>
              <a:t>a szervezet minden folyamata </a:t>
            </a:r>
            <a:r>
              <a:rPr lang="hu-HU" dirty="0" err="1" smtClean="0"/>
              <a:t>nyomonkövethető</a:t>
            </a:r>
            <a:r>
              <a:rPr lang="hu-HU" dirty="0" smtClean="0"/>
              <a:t>  </a:t>
            </a:r>
            <a:r>
              <a:rPr lang="hu-HU" dirty="0" smtClean="0"/>
              <a:t>legyen</a:t>
            </a:r>
            <a:endParaRPr lang="hu-HU" dirty="0"/>
          </a:p>
          <a:p>
            <a:endParaRPr lang="hu-HU" dirty="0"/>
          </a:p>
          <a:p>
            <a:pPr lvl="1"/>
            <a:endParaRPr lang="hu-HU" dirty="0"/>
          </a:p>
          <a:p>
            <a:endParaRPr lang="hu-HU" dirty="0"/>
          </a:p>
          <a:p>
            <a:endParaRPr lang="hu-HU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C41DEF00-0517-45C0-A052-A80E7C3A1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6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49BED690-FC48-4FCE-8A77-16BFCEDF2B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Menedzsment területek</a:t>
            </a:r>
          </a:p>
        </p:txBody>
      </p:sp>
      <p:sp>
        <p:nvSpPr>
          <p:cNvPr id="6" name="Tartalom helye 2">
            <a:extLst>
              <a:ext uri="{FF2B5EF4-FFF2-40B4-BE49-F238E27FC236}">
                <a16:creationId xmlns:a16="http://schemas.microsoft.com/office/drawing/2014/main" xmlns="" id="{B1CE0983-6092-4E1B-A7BA-D6A5C097F7A6}"/>
              </a:ext>
            </a:extLst>
          </p:cNvPr>
          <p:cNvSpPr txBox="1">
            <a:spLocks/>
          </p:cNvSpPr>
          <p:nvPr/>
        </p:nvSpPr>
        <p:spPr>
          <a:xfrm>
            <a:off x="245967" y="3209026"/>
            <a:ext cx="11809962" cy="3664847"/>
          </a:xfrm>
          <a:prstGeom prst="rect">
            <a:avLst/>
          </a:prstGeom>
        </p:spPr>
        <p:txBody>
          <a:bodyPr vert="horz" lIns="91440" tIns="45720" rIns="91440" bIns="45720" numCol="2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CD875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CD875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CD875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CD875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CD875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hu-HU" b="1" dirty="0" smtClean="0"/>
          </a:p>
          <a:p>
            <a:pPr marL="0" indent="0">
              <a:buNone/>
            </a:pPr>
            <a:r>
              <a:rPr lang="hu-HU" b="1" dirty="0" smtClean="0"/>
              <a:t>Minőségirányítási </a:t>
            </a:r>
            <a:r>
              <a:rPr lang="hu-HU" b="1" dirty="0"/>
              <a:t>7 alapelve</a:t>
            </a:r>
          </a:p>
          <a:p>
            <a:pPr lvl="1"/>
            <a:r>
              <a:rPr lang="hu-HU" dirty="0"/>
              <a:t>Vevőközpontúság</a:t>
            </a:r>
          </a:p>
          <a:p>
            <a:pPr lvl="1"/>
            <a:r>
              <a:rPr lang="hu-HU" dirty="0"/>
              <a:t>Vezetői szerepvállalás</a:t>
            </a:r>
          </a:p>
          <a:p>
            <a:pPr lvl="1"/>
            <a:r>
              <a:rPr lang="hu-HU" dirty="0"/>
              <a:t>Munkatársak elköteleződése</a:t>
            </a:r>
          </a:p>
          <a:p>
            <a:pPr lvl="1"/>
            <a:r>
              <a:rPr lang="hu-HU" dirty="0"/>
              <a:t>Folyamatszemléletű megközelítés</a:t>
            </a:r>
          </a:p>
          <a:p>
            <a:pPr lvl="1"/>
            <a:r>
              <a:rPr lang="hu-HU" dirty="0"/>
              <a:t>Fejlesztés</a:t>
            </a:r>
          </a:p>
          <a:p>
            <a:pPr lvl="1"/>
            <a:r>
              <a:rPr lang="hu-HU" dirty="0"/>
              <a:t>Bizonyítékon alapuló döntéshozatal</a:t>
            </a:r>
          </a:p>
          <a:p>
            <a:pPr lvl="1"/>
            <a:r>
              <a:rPr lang="hu-HU" dirty="0"/>
              <a:t>Kapcsolatok kezelése</a:t>
            </a:r>
          </a:p>
          <a:p>
            <a:pPr lvl="1"/>
            <a:endParaRPr lang="hu-HU" b="1" dirty="0" smtClean="0"/>
          </a:p>
          <a:p>
            <a:pPr marL="457200" lvl="1" indent="0">
              <a:buNone/>
            </a:pPr>
            <a:r>
              <a:rPr lang="hu-HU" b="1" dirty="0" smtClean="0"/>
              <a:t>A </a:t>
            </a:r>
            <a:r>
              <a:rPr lang="hu-HU" b="1" dirty="0"/>
              <a:t>minőségirányítás előnyei</a:t>
            </a:r>
          </a:p>
          <a:p>
            <a:pPr lvl="2"/>
            <a:r>
              <a:rPr lang="hu-HU" dirty="0"/>
              <a:t>Versenyelőny</a:t>
            </a:r>
          </a:p>
          <a:p>
            <a:pPr lvl="2"/>
            <a:r>
              <a:rPr lang="hu-HU" dirty="0"/>
              <a:t>Folyamatos fejlődés</a:t>
            </a:r>
          </a:p>
          <a:p>
            <a:pPr lvl="2"/>
            <a:r>
              <a:rPr lang="hu-HU" dirty="0"/>
              <a:t>Hatékony termelés</a:t>
            </a:r>
          </a:p>
          <a:p>
            <a:pPr lvl="2"/>
            <a:r>
              <a:rPr lang="hu-HU" dirty="0"/>
              <a:t>Nyomon követhetőség</a:t>
            </a:r>
          </a:p>
          <a:p>
            <a:pPr lvl="2"/>
            <a:r>
              <a:rPr lang="hu-HU" dirty="0"/>
              <a:t>Alacsonyabb költségek</a:t>
            </a:r>
          </a:p>
          <a:p>
            <a:pPr lvl="2"/>
            <a:r>
              <a:rPr lang="hu-HU" dirty="0"/>
              <a:t>Jobb kapcsolatok</a:t>
            </a:r>
          </a:p>
          <a:p>
            <a:pPr lvl="2"/>
            <a:r>
              <a:rPr lang="hu-HU" dirty="0"/>
              <a:t>Vállalati hírnév, bizalom</a:t>
            </a:r>
          </a:p>
        </p:txBody>
      </p:sp>
      <p:pic>
        <p:nvPicPr>
          <p:cNvPr id="7" name="Kép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19426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4089B0F0-FEAD-4C0A-861B-8E9AC629E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Teljeskörű minőségmenedzsment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2CB725CF-76DA-4E45-AA11-392765DD7C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567" y="1457324"/>
            <a:ext cx="12048814" cy="5400676"/>
          </a:xfrm>
        </p:spPr>
        <p:txBody>
          <a:bodyPr numCol="2">
            <a:normAutofit lnSpcReduction="10000"/>
          </a:bodyPr>
          <a:lstStyle/>
          <a:p>
            <a:r>
              <a:rPr lang="hu-HU" dirty="0"/>
              <a:t>Legjobb dolgozókkal, legjobb erőforrásokkal, legjobb gépekkel, módszerekkel a legjobbat nyújtani</a:t>
            </a:r>
          </a:p>
          <a:p>
            <a:pPr marL="0" indent="0">
              <a:buNone/>
            </a:pPr>
            <a:endParaRPr lang="hu-HU" b="1" dirty="0" smtClean="0"/>
          </a:p>
          <a:p>
            <a:pPr marL="0" indent="0">
              <a:buNone/>
            </a:pPr>
            <a:r>
              <a:rPr lang="hu-HU" b="1" dirty="0" smtClean="0"/>
              <a:t>A </a:t>
            </a:r>
            <a:r>
              <a:rPr lang="hu-HU" b="1" dirty="0"/>
              <a:t>TQM alapelvei</a:t>
            </a:r>
          </a:p>
          <a:p>
            <a:pPr lvl="1"/>
            <a:r>
              <a:rPr lang="hu-HU" b="1" dirty="0" smtClean="0"/>
              <a:t>Vevőközpontúság</a:t>
            </a:r>
          </a:p>
          <a:p>
            <a:pPr lvl="1"/>
            <a:r>
              <a:rPr lang="hu-HU" b="1" dirty="0"/>
              <a:t>Folyamatos </a:t>
            </a:r>
            <a:r>
              <a:rPr lang="hu-HU" b="1" dirty="0" smtClean="0"/>
              <a:t>fejlődés</a:t>
            </a:r>
          </a:p>
          <a:p>
            <a:pPr lvl="1"/>
            <a:r>
              <a:rPr lang="hu-HU" b="1" dirty="0"/>
              <a:t>Dolgozók </a:t>
            </a:r>
            <a:r>
              <a:rPr lang="hu-HU" b="1" dirty="0" smtClean="0"/>
              <a:t>bevonása</a:t>
            </a:r>
            <a:endParaRPr lang="hu-HU" b="1" dirty="0"/>
          </a:p>
          <a:p>
            <a:pPr lvl="1"/>
            <a:r>
              <a:rPr lang="hu-HU" dirty="0"/>
              <a:t>Cél orientáltság</a:t>
            </a:r>
          </a:p>
          <a:p>
            <a:pPr lvl="1"/>
            <a:r>
              <a:rPr lang="hu-HU" dirty="0"/>
              <a:t>Vezetői elkötelezettség</a:t>
            </a:r>
          </a:p>
          <a:p>
            <a:pPr lvl="1"/>
            <a:r>
              <a:rPr lang="hu-HU" dirty="0" smtClean="0"/>
              <a:t>Folyamat </a:t>
            </a:r>
            <a:r>
              <a:rPr lang="hu-HU" dirty="0"/>
              <a:t>alapú döntéshozás</a:t>
            </a:r>
          </a:p>
          <a:p>
            <a:pPr lvl="1"/>
            <a:r>
              <a:rPr lang="hu-HU" dirty="0"/>
              <a:t>Tényeken alapuló döntéshozás</a:t>
            </a:r>
          </a:p>
          <a:p>
            <a:pPr lvl="1"/>
            <a:r>
              <a:rPr lang="hu-HU" dirty="0"/>
              <a:t>Rendszer szemlélet</a:t>
            </a:r>
          </a:p>
          <a:p>
            <a:pPr lvl="1"/>
            <a:r>
              <a:rPr lang="hu-HU" dirty="0"/>
              <a:t>Jó kapcsolat a </a:t>
            </a:r>
            <a:r>
              <a:rPr lang="hu-HU" dirty="0" smtClean="0"/>
              <a:t>beszállítókkal</a:t>
            </a:r>
          </a:p>
          <a:p>
            <a:pPr lvl="1"/>
            <a:endParaRPr lang="hu-HU" dirty="0"/>
          </a:p>
          <a:p>
            <a:pPr lvl="1"/>
            <a:r>
              <a:rPr lang="hu-HU" dirty="0"/>
              <a:t>Társadalmi méretű tanulás amely a szervezet minden területére kiterjed</a:t>
            </a:r>
          </a:p>
          <a:p>
            <a:pPr lvl="1"/>
            <a:r>
              <a:rPr lang="hu-HU" dirty="0"/>
              <a:t>Szervezeti filozófia, amely az elkötelezettségre épül a minőség útján</a:t>
            </a:r>
          </a:p>
          <a:p>
            <a:pPr lvl="1"/>
            <a:r>
              <a:rPr lang="hu-HU" dirty="0"/>
              <a:t>Walter Andrew Stewart – PDCA ciklus alapú körforgás szemlélet</a:t>
            </a:r>
          </a:p>
          <a:p>
            <a:pPr lvl="1"/>
            <a:r>
              <a:rPr lang="hu-HU" dirty="0" err="1"/>
              <a:t>Ishikawa</a:t>
            </a:r>
            <a:r>
              <a:rPr lang="hu-HU" dirty="0"/>
              <a:t> – Ok – Okozat </a:t>
            </a:r>
            <a:r>
              <a:rPr lang="hu-HU" dirty="0" err="1" smtClean="0"/>
              <a:t>digaram</a:t>
            </a:r>
            <a:endParaRPr lang="hu-HU" dirty="0"/>
          </a:p>
          <a:p>
            <a:pPr lvl="1"/>
            <a:r>
              <a:rPr lang="hu-HU" dirty="0" err="1"/>
              <a:t>Shiba</a:t>
            </a:r>
            <a:r>
              <a:rPr lang="hu-HU" dirty="0"/>
              <a:t> professzor – A fejlődés 6 lépése</a:t>
            </a:r>
          </a:p>
          <a:p>
            <a:pPr lvl="2"/>
            <a:r>
              <a:rPr lang="hu-HU" dirty="0"/>
              <a:t>Azonosítás</a:t>
            </a:r>
          </a:p>
          <a:p>
            <a:pPr lvl="2"/>
            <a:r>
              <a:rPr lang="hu-HU" dirty="0"/>
              <a:t>Adat gyűjtés</a:t>
            </a:r>
          </a:p>
          <a:p>
            <a:pPr lvl="2"/>
            <a:r>
              <a:rPr lang="hu-HU" dirty="0"/>
              <a:t>Elemzés</a:t>
            </a:r>
          </a:p>
          <a:p>
            <a:pPr lvl="2"/>
            <a:r>
              <a:rPr lang="hu-HU" dirty="0"/>
              <a:t>Ok-okozat elemzés</a:t>
            </a:r>
          </a:p>
          <a:p>
            <a:pPr lvl="2"/>
            <a:r>
              <a:rPr lang="hu-HU" dirty="0"/>
              <a:t>Megoldás bevezetése</a:t>
            </a:r>
          </a:p>
          <a:p>
            <a:pPr lvl="2"/>
            <a:r>
              <a:rPr lang="hu-HU" dirty="0"/>
              <a:t>Mérés és megszilárdítás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C41DEF00-0517-45C0-A052-A80E7C3A1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7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49BED690-FC48-4FCE-8A77-16BFCEDF2B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Menedzsment területek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98914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4089B0F0-FEAD-4C0A-861B-8E9AC629E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Minőségmenedzsment elvek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2CB725CF-76DA-4E45-AA11-392765DD7C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567" y="1457324"/>
            <a:ext cx="12048814" cy="5400676"/>
          </a:xfrm>
        </p:spPr>
        <p:txBody>
          <a:bodyPr numCol="1">
            <a:normAutofit/>
          </a:bodyPr>
          <a:lstStyle/>
          <a:p>
            <a:pPr marL="0" indent="0">
              <a:buNone/>
            </a:pPr>
            <a:r>
              <a:rPr lang="hu-HU" b="1" dirty="0"/>
              <a:t>Észak Amerika </a:t>
            </a:r>
            <a:r>
              <a:rPr lang="hu-HU" dirty="0"/>
              <a:t>– Vezetői elköteleződés, fentről lefele történő minőségi igény bevezetése</a:t>
            </a:r>
          </a:p>
          <a:p>
            <a:pPr marL="0" indent="0">
              <a:buNone/>
            </a:pPr>
            <a:r>
              <a:rPr lang="hu-HU" b="1" dirty="0"/>
              <a:t>Európa </a:t>
            </a:r>
            <a:r>
              <a:rPr lang="hu-HU" dirty="0"/>
              <a:t>– Szabványosítás, pontos nyomon követés, ellenőrzés, dokumentálás, auditok</a:t>
            </a:r>
          </a:p>
          <a:p>
            <a:pPr marL="0" indent="0">
              <a:buNone/>
            </a:pPr>
            <a:r>
              <a:rPr lang="hu-HU" b="1" dirty="0"/>
              <a:t>Japán </a:t>
            </a:r>
            <a:r>
              <a:rPr lang="hu-HU" dirty="0"/>
              <a:t>–</a:t>
            </a:r>
            <a:r>
              <a:rPr lang="hu-HU" b="1" dirty="0"/>
              <a:t> </a:t>
            </a:r>
            <a:r>
              <a:rPr lang="hu-HU" dirty="0"/>
              <a:t>Japán csoda</a:t>
            </a:r>
          </a:p>
          <a:p>
            <a:pPr lvl="1"/>
            <a:r>
              <a:rPr lang="hu-HU" dirty="0"/>
              <a:t>Társadalmi szintű fejlődés</a:t>
            </a:r>
          </a:p>
          <a:p>
            <a:pPr lvl="1"/>
            <a:r>
              <a:rPr lang="hu-HU" dirty="0"/>
              <a:t>Dolgozók teljeskörű bevonása</a:t>
            </a:r>
          </a:p>
          <a:p>
            <a:pPr lvl="1"/>
            <a:r>
              <a:rPr lang="hu-HU" dirty="0"/>
              <a:t>Elkötelezettség a minőség mellett</a:t>
            </a:r>
          </a:p>
          <a:p>
            <a:pPr lvl="1"/>
            <a:r>
              <a:rPr lang="hu-HU" dirty="0"/>
              <a:t>Egyszerű módszerek alkalmazása</a:t>
            </a:r>
          </a:p>
          <a:p>
            <a:pPr lvl="1"/>
            <a:r>
              <a:rPr lang="hu-HU" dirty="0" smtClean="0"/>
              <a:t>Átképzés, folyamatos oktatások</a:t>
            </a:r>
            <a:endParaRPr lang="hu-HU" dirty="0"/>
          </a:p>
          <a:p>
            <a:pPr lvl="1"/>
            <a:r>
              <a:rPr lang="hu-HU" dirty="0"/>
              <a:t>Család </a:t>
            </a:r>
            <a:r>
              <a:rPr lang="hu-HU" dirty="0" smtClean="0"/>
              <a:t>elvűség</a:t>
            </a:r>
            <a:r>
              <a:rPr lang="hu-HU" dirty="0"/>
              <a:t>, bizalom, hatalommal való </a:t>
            </a:r>
            <a:r>
              <a:rPr lang="hu-HU" dirty="0" smtClean="0"/>
              <a:t>felruházás</a:t>
            </a:r>
          </a:p>
          <a:p>
            <a:pPr lvl="1"/>
            <a:r>
              <a:rPr lang="hu-HU" b="1" dirty="0" smtClean="0"/>
              <a:t>Vevői </a:t>
            </a:r>
            <a:r>
              <a:rPr lang="hu-HU" b="1" dirty="0"/>
              <a:t>igények, </a:t>
            </a:r>
            <a:r>
              <a:rPr lang="hu-HU" b="1" dirty="0" smtClean="0"/>
              <a:t>és a hatékonyság </a:t>
            </a:r>
            <a:r>
              <a:rPr lang="hu-HU" b="1" dirty="0"/>
              <a:t>szem előtt </a:t>
            </a:r>
            <a:r>
              <a:rPr lang="hu-HU" b="1" dirty="0" smtClean="0"/>
              <a:t>tartása:</a:t>
            </a:r>
            <a:endParaRPr lang="hu-HU" b="1" dirty="0"/>
          </a:p>
          <a:p>
            <a:pPr marL="457200" lvl="1" indent="0">
              <a:buNone/>
            </a:pPr>
            <a:r>
              <a:rPr lang="hu-HU" b="1" dirty="0" smtClean="0"/>
              <a:t>Lean </a:t>
            </a:r>
            <a:r>
              <a:rPr lang="hu-HU" b="1" dirty="0"/>
              <a:t>menedzsment </a:t>
            </a:r>
            <a:r>
              <a:rPr lang="hu-HU" dirty="0"/>
              <a:t>– az értéket nem teremtő folyamatok minimalizálása</a:t>
            </a:r>
          </a:p>
          <a:p>
            <a:pPr marL="914400" lvl="2" indent="0">
              <a:buNone/>
            </a:pPr>
            <a:r>
              <a:rPr lang="hu-HU" dirty="0" smtClean="0"/>
              <a:t>- </a:t>
            </a:r>
            <a:r>
              <a:rPr lang="hu-HU" dirty="0" err="1" smtClean="0"/>
              <a:t>Just</a:t>
            </a:r>
            <a:r>
              <a:rPr lang="hu-HU" dirty="0" smtClean="0"/>
              <a:t> </a:t>
            </a:r>
            <a:r>
              <a:rPr lang="hu-HU" dirty="0"/>
              <a:t>in Time termelés – rugalmas termelés, raktár igény csökkentése, igényre </a:t>
            </a:r>
            <a:r>
              <a:rPr lang="hu-HU" dirty="0" smtClean="0"/>
              <a:t>termelés</a:t>
            </a:r>
          </a:p>
          <a:p>
            <a:pPr marL="914400" lvl="2" indent="0">
              <a:buNone/>
            </a:pPr>
            <a:r>
              <a:rPr lang="hu-HU" dirty="0" smtClean="0"/>
              <a:t>- Kanban </a:t>
            </a:r>
            <a:r>
              <a:rPr lang="hu-HU" dirty="0"/>
              <a:t>rendszer – az igény a termelés helyszínén jelenik meg (mikor, mire van szükség)</a:t>
            </a:r>
          </a:p>
          <a:p>
            <a:pPr marL="457200" lvl="1" indent="0">
              <a:buNone/>
            </a:pPr>
            <a:endParaRPr lang="hu-HU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C41DEF00-0517-45C0-A052-A80E7C3A1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8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49BED690-FC48-4FCE-8A77-16BFCEDF2B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Menedzsment területek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57795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4089B0F0-FEAD-4C0A-861B-8E9AC629E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Benchmarking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2CB725CF-76DA-4E45-AA11-392765DD7C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567" y="1457324"/>
            <a:ext cx="12048814" cy="5400676"/>
          </a:xfrm>
        </p:spPr>
        <p:txBody>
          <a:bodyPr numCol="1">
            <a:normAutofit lnSpcReduction="10000"/>
          </a:bodyPr>
          <a:lstStyle/>
          <a:p>
            <a:pPr marL="0" indent="0">
              <a:buNone/>
            </a:pPr>
            <a:r>
              <a:rPr lang="hu-HU" b="1" dirty="0" smtClean="0"/>
              <a:t>Összemérés</a:t>
            </a:r>
            <a:endParaRPr lang="hu-HU" dirty="0"/>
          </a:p>
          <a:p>
            <a:pPr marL="0" indent="0">
              <a:buNone/>
            </a:pPr>
            <a:r>
              <a:rPr lang="hu-HU" dirty="0" smtClean="0"/>
              <a:t>Egy </a:t>
            </a:r>
            <a:r>
              <a:rPr lang="hu-HU" dirty="0"/>
              <a:t>olyan, a szervezetek által folyamatosan művelt tevékenység, amelynek célja a szervezet teljesítményének összemérése osztálya legjobb szervezetével és a keletkezett információk és tapasztalatok felhasználása a szervezet saját céljainak és működésének kialakításánál, fejlesztési lépéseinek </a:t>
            </a:r>
            <a:r>
              <a:rPr lang="hu-HU" dirty="0" smtClean="0"/>
              <a:t>meghatározásánál</a:t>
            </a:r>
          </a:p>
          <a:p>
            <a:pPr marL="0" indent="0">
              <a:buNone/>
            </a:pPr>
            <a:r>
              <a:rPr lang="hu-HU" dirty="0"/>
              <a:t>A</a:t>
            </a:r>
            <a:r>
              <a:rPr lang="hu-HU" dirty="0" smtClean="0"/>
              <a:t> </a:t>
            </a:r>
            <a:r>
              <a:rPr lang="hu-HU" dirty="0"/>
              <a:t>benchmarking során a tevékenységet végző </a:t>
            </a:r>
            <a:r>
              <a:rPr lang="hu-HU" dirty="0" smtClean="0"/>
              <a:t>szervezet</a:t>
            </a:r>
          </a:p>
          <a:p>
            <a:pPr lvl="2"/>
            <a:r>
              <a:rPr lang="hu-HU" dirty="0" smtClean="0"/>
              <a:t> </a:t>
            </a:r>
            <a:r>
              <a:rPr lang="hu-HU" dirty="0"/>
              <a:t>meghatározza az összemérés célját és kiterjedési területét, </a:t>
            </a:r>
          </a:p>
          <a:p>
            <a:pPr lvl="2"/>
            <a:r>
              <a:rPr lang="hu-HU" dirty="0"/>
              <a:t>kiválasztja a lehetséges benchmarking partnereket, </a:t>
            </a:r>
          </a:p>
          <a:p>
            <a:pPr lvl="2"/>
            <a:r>
              <a:rPr lang="hu-HU" dirty="0"/>
              <a:t>adatot gyűjt a saját működéséről és a partnerekről, </a:t>
            </a:r>
          </a:p>
          <a:p>
            <a:pPr lvl="2"/>
            <a:r>
              <a:rPr lang="hu-HU" dirty="0"/>
              <a:t>meghatározza az egyes benchmarking területeken jelentkező teljesítményrést, </a:t>
            </a:r>
          </a:p>
          <a:p>
            <a:pPr lvl="2"/>
            <a:r>
              <a:rPr lang="hu-HU" dirty="0"/>
              <a:t>elemzi az adatokat és kommunikálja az eredményeket,</a:t>
            </a:r>
          </a:p>
          <a:p>
            <a:pPr lvl="2"/>
            <a:r>
              <a:rPr lang="hu-HU" dirty="0"/>
              <a:t>a keletkezett információkat és tapasztalatokat felhasználja a saját céljainak és működési módjainak kialakításában és fejlesztésében </a:t>
            </a:r>
          </a:p>
          <a:p>
            <a:pPr marL="0" indent="0">
              <a:buNone/>
            </a:pPr>
            <a:r>
              <a:rPr lang="hu-HU" dirty="0"/>
              <a:t>A benchmarking a </a:t>
            </a:r>
            <a:r>
              <a:rPr lang="hu-HU" b="1" dirty="0"/>
              <a:t>szervezeti tanulás</a:t>
            </a:r>
            <a:r>
              <a:rPr lang="hu-HU" dirty="0"/>
              <a:t> és a tudás szervezeten belül és szervezetek közötti megosztásának igen hatékony formájának bizonyult az utóbbi időkben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C41DEF00-0517-45C0-A052-A80E7C3A1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9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49BED690-FC48-4FCE-8A77-16BFCEDF2B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Menedzsment területek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23415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4089B0F0-FEAD-4C0A-861B-8E9AC629E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 benchmarking területei, típusai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2CB725CF-76DA-4E45-AA11-392765DD7C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567" y="1457324"/>
            <a:ext cx="12048814" cy="5400676"/>
          </a:xfrm>
        </p:spPr>
        <p:txBody>
          <a:bodyPr numCol="1">
            <a:normAutofit/>
          </a:bodyPr>
          <a:lstStyle/>
          <a:p>
            <a:pPr marL="0" indent="0">
              <a:buNone/>
            </a:pPr>
            <a:r>
              <a:rPr lang="hu-HU" dirty="0"/>
              <a:t>A benchmarking vizsgálat a szervezeti működés különböző területeire irányulhat, ennek megfelelően változik a benchmarking vizsgálat mélysége, kiterjedési területe és potenciális </a:t>
            </a:r>
            <a:r>
              <a:rPr lang="hu-HU" dirty="0" smtClean="0"/>
              <a:t>hatása</a:t>
            </a:r>
          </a:p>
          <a:p>
            <a:pPr marL="0" indent="0">
              <a:buNone/>
            </a:pPr>
            <a:endParaRPr lang="hu-HU" dirty="0"/>
          </a:p>
          <a:p>
            <a:pPr lvl="1"/>
            <a:r>
              <a:rPr lang="hu-HU" b="1" dirty="0"/>
              <a:t>Stratégiai benchmarking </a:t>
            </a:r>
            <a:r>
              <a:rPr lang="hu-HU" dirty="0"/>
              <a:t>- A benchmarking a stratégia elemzésére és kialakítására irányul</a:t>
            </a:r>
          </a:p>
          <a:p>
            <a:pPr lvl="1"/>
            <a:r>
              <a:rPr lang="hu-HU" b="1" dirty="0"/>
              <a:t>Folyamat benchmarking </a:t>
            </a:r>
            <a:r>
              <a:rPr lang="hu-HU" dirty="0"/>
              <a:t>- A benchmarking a folyamatok elemzésére és fejlesztésére irányul</a:t>
            </a:r>
          </a:p>
          <a:p>
            <a:pPr lvl="1"/>
            <a:r>
              <a:rPr lang="hu-HU" b="1" dirty="0"/>
              <a:t>Funkcionális benchmarking </a:t>
            </a:r>
            <a:r>
              <a:rPr lang="hu-HU" dirty="0"/>
              <a:t>- A vállalati szervezet elemzésére és kialakítására irányul</a:t>
            </a:r>
          </a:p>
          <a:p>
            <a:pPr lvl="1"/>
            <a:r>
              <a:rPr lang="hu-HU" b="1" dirty="0"/>
              <a:t>Teljesítmény benchmarking </a:t>
            </a:r>
            <a:r>
              <a:rPr lang="hu-HU" dirty="0"/>
              <a:t>- A teljesítmények, eredmények összemérésére, értékelésére és a teljesítménycélok meghatározására irányul</a:t>
            </a:r>
          </a:p>
          <a:p>
            <a:pPr lvl="1"/>
            <a:endParaRPr lang="hu-HU" sz="1800" dirty="0"/>
          </a:p>
          <a:p>
            <a:pPr lvl="1"/>
            <a:endParaRPr lang="hu-HU" sz="1800" dirty="0"/>
          </a:p>
          <a:p>
            <a:pPr lvl="1"/>
            <a:endParaRPr lang="hu-HU" sz="1800" dirty="0"/>
          </a:p>
          <a:p>
            <a:pPr lvl="1"/>
            <a:endParaRPr lang="hu-HU" sz="1800" dirty="0"/>
          </a:p>
          <a:p>
            <a:pPr marL="457200" lvl="1" indent="0">
              <a:buNone/>
            </a:pPr>
            <a:r>
              <a:rPr lang="hu-HU" sz="1400" dirty="0" smtClean="0"/>
              <a:t>(http</a:t>
            </a:r>
            <a:r>
              <a:rPr lang="hu-HU" sz="1400" dirty="0"/>
              <a:t>://</a:t>
            </a:r>
            <a:r>
              <a:rPr lang="hu-HU" sz="1400" dirty="0" smtClean="0"/>
              <a:t>www.kvalikon.hu/bp/bestpractice/bestpracrice-legjobb-gyakorlat.php)</a:t>
            </a:r>
            <a:endParaRPr lang="hu-HU" sz="1400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C41DEF00-0517-45C0-A052-A80E7C3A1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10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49BED690-FC48-4FCE-8A77-16BFCEDF2B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Menedzsment területek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10863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4089B0F0-FEAD-4C0A-861B-8E9AC629E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 tevékenység lépései a PDCA ciklus mentén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C41DEF00-0517-45C0-A052-A80E7C3A1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11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49BED690-FC48-4FCE-8A77-16BFCEDF2B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Menedzsment területek</a:t>
            </a:r>
          </a:p>
        </p:txBody>
      </p:sp>
      <p:pic>
        <p:nvPicPr>
          <p:cNvPr id="9" name="Kép 8">
            <a:extLst>
              <a:ext uri="{FF2B5EF4-FFF2-40B4-BE49-F238E27FC236}">
                <a16:creationId xmlns:a16="http://schemas.microsoft.com/office/drawing/2014/main" xmlns="" id="{5F6C600B-9CD5-4F03-90B7-A21A90E931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3961" y="1359525"/>
            <a:ext cx="9661585" cy="5287340"/>
          </a:xfrm>
          <a:prstGeom prst="rect">
            <a:avLst/>
          </a:prstGeom>
        </p:spPr>
      </p:pic>
      <p:pic>
        <p:nvPicPr>
          <p:cNvPr id="6" name="Kép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33192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4089B0F0-FEAD-4C0A-861B-8E9AC629E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 benchmarking folyamata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2CB725CF-76DA-4E45-AA11-392765DD7C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567" y="1326943"/>
            <a:ext cx="12048814" cy="5531057"/>
          </a:xfrm>
        </p:spPr>
        <p:txBody>
          <a:bodyPr numCol="1">
            <a:normAutofit/>
          </a:bodyPr>
          <a:lstStyle/>
          <a:p>
            <a:r>
              <a:rPr lang="hu-HU" b="1" dirty="0"/>
              <a:t>Tervezési fázis</a:t>
            </a:r>
          </a:p>
          <a:p>
            <a:pPr marL="457200" lvl="1" indent="0">
              <a:buNone/>
            </a:pPr>
            <a:r>
              <a:rPr lang="hu-HU" dirty="0"/>
              <a:t>Először meg kell tervezni a benchmarking tevékenységet, pontosan meg kell határozni: a benchmarking tárgyát, kiterjedési területét, a benchmarking célját, a benchmarking partnert, az alkalmazott benchmarking formát (teljesítmény, funkcionális, folyamat), a lehetséges benchmarking információforrásokat. Meg kell szervezni a benchmarking teamet (ha szükséges team), adatgyűjtési tervet kell kidolgozni és meg kell becsülni a körülbelüli </a:t>
            </a:r>
            <a:r>
              <a:rPr lang="hu-HU" dirty="0" smtClean="0"/>
              <a:t>erőforrásigényt</a:t>
            </a:r>
          </a:p>
          <a:p>
            <a:pPr marL="457200" lvl="1" indent="0">
              <a:buNone/>
            </a:pPr>
            <a:endParaRPr lang="hu-HU" dirty="0"/>
          </a:p>
          <a:p>
            <a:r>
              <a:rPr lang="hu-HU" b="1" dirty="0"/>
              <a:t>Adatgyűjtési fázis</a:t>
            </a:r>
          </a:p>
          <a:p>
            <a:pPr marL="457200" lvl="1" indent="0">
              <a:buNone/>
            </a:pPr>
            <a:r>
              <a:rPr lang="hu-HU" dirty="0"/>
              <a:t>Az adatgyűjtési fázisban a következő feladatokat kell elvégezni: át kell tekinteni a saját működést, meg kell határozni az adatgyűjtés lehetséges forrásait, meg kell határozni az adatgyűjtés formáját, el kell készíteni kérdőívet, adatgyűjtő lapokat, ütemezni kell az adatgyűjtést, el kell végezni a belső és külső adatgyűjtést, a begyűjtött adatokat ellenőrizni és </a:t>
            </a:r>
            <a:r>
              <a:rPr lang="hu-HU" dirty="0" err="1"/>
              <a:t>validálni</a:t>
            </a:r>
            <a:r>
              <a:rPr lang="hu-HU" dirty="0"/>
              <a:t> </a:t>
            </a:r>
            <a:r>
              <a:rPr lang="hu-HU" dirty="0" smtClean="0"/>
              <a:t>kell, </a:t>
            </a:r>
            <a:r>
              <a:rPr lang="hu-HU" dirty="0"/>
              <a:t>és szükség szerint pontosítani kell a benchmarking partnerrel, az adatokat megfelelő formában strukturálni kell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C41DEF00-0517-45C0-A052-A80E7C3A1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12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49BED690-FC48-4FCE-8A77-16BFCEDF2B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Menedzsment területek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89868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4089B0F0-FEAD-4C0A-861B-8E9AC629E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 benchmarking folyamata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2CB725CF-76DA-4E45-AA11-392765DD7C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567" y="1394992"/>
            <a:ext cx="12048814" cy="5463008"/>
          </a:xfrm>
        </p:spPr>
        <p:txBody>
          <a:bodyPr numCol="1">
            <a:normAutofit lnSpcReduction="10000"/>
          </a:bodyPr>
          <a:lstStyle/>
          <a:p>
            <a:r>
              <a:rPr lang="hu-HU" b="1" dirty="0"/>
              <a:t>Elemzési fázis</a:t>
            </a:r>
          </a:p>
          <a:p>
            <a:pPr marL="457200" lvl="1" indent="0">
              <a:buNone/>
            </a:pPr>
            <a:r>
              <a:rPr lang="hu-HU" dirty="0" smtClean="0"/>
              <a:t>- A </a:t>
            </a:r>
            <a:r>
              <a:rPr lang="hu-HU" dirty="0"/>
              <a:t>benchmarking elemzés során célunk: a benchmark és a saját teljesítményünk illetve gyakorlatunk közötti eltérés azonosítása, az információk és az elemzések eredményeinek strukturált formában történő bemutatása, az eltérések okainak és a lehetséges fejlesztési alternatíváknak a meghatározása.</a:t>
            </a:r>
          </a:p>
          <a:p>
            <a:pPr marL="457200" lvl="1" indent="0">
              <a:buNone/>
            </a:pPr>
            <a:r>
              <a:rPr lang="hu-HU" dirty="0" smtClean="0"/>
              <a:t>- A </a:t>
            </a:r>
            <a:r>
              <a:rPr lang="hu-HU" dirty="0"/>
              <a:t>teljesítményrés elemzése során: elemezni kell a teljesítményrés kialakulásának okait és azt hogy milyen tényezők járultak hozzá a teljesítményrés kialakulásához, azonosítani kell a legjobb gyakorlatokat, végig kell gondolni, hogy min célszerű változtatnunk annak érdekében, hogy a teljesítményrést zárjuk, sőt előnyösebb pozícióba kerüljünk, fejlesztési lehetőségeket kell azonosítani a saját gyakorlatunkban</a:t>
            </a:r>
            <a:endParaRPr lang="hu-HU" b="1" dirty="0"/>
          </a:p>
          <a:p>
            <a:r>
              <a:rPr lang="hu-HU" b="1" dirty="0"/>
              <a:t>Adaptálás fázis</a:t>
            </a:r>
          </a:p>
          <a:p>
            <a:pPr marL="457200" lvl="1" indent="0">
              <a:buNone/>
            </a:pPr>
            <a:r>
              <a:rPr lang="hu-HU" dirty="0"/>
              <a:t>Az adaptálási fázis során a benchmarking kutatás tapasztalatait be kell építeni a saját döntéseinkbe, alkalmaznunk kell saját szervezetünkre vonatkozóan, az eredményeket olyan módon kell kommunikálnunk és prezentálnunk, ami használható formában mutatja be a tanulságokat és a fejlesztési lehetőségeket. Intézkedéseket kell hozni és fejlesztési akciókat kell elindítani a benchmarking vizsgálat eredményeire alapozva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C41DEF00-0517-45C0-A052-A80E7C3A1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13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49BED690-FC48-4FCE-8A77-16BFCEDF2B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Menedzsment területek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6722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4089B0F0-FEAD-4C0A-861B-8E9AC629E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 benchmarking folyamata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2CB725CF-76DA-4E45-AA11-392765DD7C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567" y="1377980"/>
            <a:ext cx="12048814" cy="5480020"/>
          </a:xfrm>
        </p:spPr>
        <p:txBody>
          <a:bodyPr numCol="1">
            <a:normAutofit lnSpcReduction="10000"/>
          </a:bodyPr>
          <a:lstStyle/>
          <a:p>
            <a:r>
              <a:rPr lang="hu-HU" b="1" dirty="0"/>
              <a:t>Implementáció fázis</a:t>
            </a:r>
          </a:p>
          <a:p>
            <a:pPr marL="457200" lvl="1" indent="0">
              <a:buNone/>
            </a:pPr>
            <a:r>
              <a:rPr lang="hu-HU" dirty="0" smtClean="0"/>
              <a:t>- Az </a:t>
            </a:r>
            <a:r>
              <a:rPr lang="hu-HU" dirty="0"/>
              <a:t>implementációs fázis során megvalósítjuk a benchmarking felmérés által megalapozott döntéseket és akciókat. Az implementáció sokszor már nem a </a:t>
            </a:r>
            <a:r>
              <a:rPr lang="hu-HU" dirty="0" err="1"/>
              <a:t>benchmarkingot</a:t>
            </a:r>
            <a:r>
              <a:rPr lang="hu-HU" dirty="0"/>
              <a:t> végző személyek által történik, ezért fontos, hogy az implementáció döntései beépüljenek az egyes területek céljaiba, terveibe, vagy az egyes területeken elindított projektekbe</a:t>
            </a:r>
          </a:p>
          <a:p>
            <a:pPr marL="457200" lvl="1" indent="0">
              <a:buNone/>
            </a:pPr>
            <a:r>
              <a:rPr lang="hu-HU" dirty="0" smtClean="0"/>
              <a:t>- A </a:t>
            </a:r>
            <a:r>
              <a:rPr lang="hu-HU" dirty="0"/>
              <a:t>változtatások eredményeit nyomon kell követni, a megvalósítás során sokszor további benchmarking információkat kell gyűjteni, néha vissza kell térni a korábbi benchmarking fázisokhoz és a megvalósítás során szerzett információkat be kell építeni a döntéseinkbe</a:t>
            </a:r>
          </a:p>
          <a:p>
            <a:r>
              <a:rPr lang="hu-HU" b="1" dirty="0"/>
              <a:t>Lezárás fázis</a:t>
            </a:r>
          </a:p>
          <a:p>
            <a:pPr marL="457200" lvl="1" indent="0">
              <a:buNone/>
            </a:pPr>
            <a:r>
              <a:rPr lang="hu-HU" dirty="0" smtClean="0"/>
              <a:t>- A </a:t>
            </a:r>
            <a:r>
              <a:rPr lang="hu-HU" dirty="0"/>
              <a:t>benchmarking tevékenység eredményessége szempontjából fontos a lezárás, vagyis a benchmarking vizsgálat által kiváltott változások eredményeinek figyelemmel kísérése és a tapasztalatok beépítése a következő benchmarking vizsgálatokba</a:t>
            </a:r>
          </a:p>
          <a:p>
            <a:pPr marL="457200" lvl="1" indent="0">
              <a:buNone/>
            </a:pPr>
            <a:r>
              <a:rPr lang="hu-HU" dirty="0" smtClean="0"/>
              <a:t>- A </a:t>
            </a:r>
            <a:r>
              <a:rPr lang="hu-HU" dirty="0"/>
              <a:t>tapasztalataink alapján a benchmarking és a legjobb gyakorlatok feltárása, megismerése, és adaptálása kiváló módszer a vállalatok működésének fejlesztésére, mind a változások szükségességének tényekkel való alátámasztása terén, mind a fejlesztési lehetőségek és megoldások megismerése és kialakítása terén. 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C41DEF00-0517-45C0-A052-A80E7C3A1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14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49BED690-FC48-4FCE-8A77-16BFCEDF2B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Menedzsment területek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67326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4089B0F0-FEAD-4C0A-861B-8E9AC629E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Termelésmenedzsment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2CB725CF-76DA-4E45-AA11-392765DD7C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567" y="1377980"/>
            <a:ext cx="12048814" cy="5480020"/>
          </a:xfrm>
        </p:spPr>
        <p:txBody>
          <a:bodyPr numCol="1">
            <a:normAutofit/>
          </a:bodyPr>
          <a:lstStyle/>
          <a:p>
            <a:pPr marL="0" indent="0">
              <a:buNone/>
            </a:pPr>
            <a:r>
              <a:rPr lang="hu-HU" dirty="0"/>
              <a:t>Termelő és szolgáltató rendszerek lehető leghatékonyabb </a:t>
            </a:r>
            <a:r>
              <a:rPr lang="hu-HU" dirty="0" smtClean="0"/>
              <a:t>működése</a:t>
            </a:r>
          </a:p>
          <a:p>
            <a:pPr marL="0" indent="0">
              <a:buNone/>
            </a:pPr>
            <a:r>
              <a:rPr lang="hu-HU" dirty="0" smtClean="0"/>
              <a:t>Termékek </a:t>
            </a:r>
            <a:r>
              <a:rPr lang="hu-HU" dirty="0"/>
              <a:t>és szolgáltatások hatékony </a:t>
            </a:r>
            <a:r>
              <a:rPr lang="hu-HU" dirty="0" smtClean="0"/>
              <a:t>előállítása:</a:t>
            </a:r>
            <a:endParaRPr lang="hu-HU" dirty="0"/>
          </a:p>
          <a:p>
            <a:pPr lvl="2"/>
            <a:r>
              <a:rPr lang="hu-HU" dirty="0"/>
              <a:t>Input erőforrások pontos meghatározása</a:t>
            </a:r>
          </a:p>
          <a:p>
            <a:pPr lvl="2"/>
            <a:r>
              <a:rPr lang="hu-HU" dirty="0"/>
              <a:t>Vállalati optimális termelés meghatározása</a:t>
            </a:r>
          </a:p>
          <a:p>
            <a:pPr lvl="3"/>
            <a:r>
              <a:rPr lang="hu-HU" dirty="0"/>
              <a:t>Vállalati kapacitás meghatározása</a:t>
            </a:r>
          </a:p>
          <a:p>
            <a:pPr lvl="2"/>
            <a:r>
              <a:rPr lang="hu-HU" dirty="0"/>
              <a:t>Erőforrás utánpótlás számítása</a:t>
            </a:r>
          </a:p>
          <a:p>
            <a:pPr marL="0" indent="0">
              <a:buNone/>
            </a:pPr>
            <a:r>
              <a:rPr lang="hu-HU" dirty="0"/>
              <a:t>A megfelelően kivitelezett termelésmenedzsment nagyban hozzájárul a vállalati folyamatok hatékonyságának növeléséhez, a termelési idők csökkentéséhez, és a szükséges erőforrások lehető legoptimálisabb felhasználásához</a:t>
            </a:r>
          </a:p>
          <a:p>
            <a:pPr lvl="1"/>
            <a:r>
              <a:rPr lang="hu-HU" dirty="0"/>
              <a:t>Ezáltal növekszik a vállalati termelékenység</a:t>
            </a:r>
          </a:p>
          <a:p>
            <a:pPr lvl="1"/>
            <a:r>
              <a:rPr lang="hu-HU" dirty="0"/>
              <a:t>Csökkennek a raktározási költségek</a:t>
            </a:r>
          </a:p>
          <a:p>
            <a:pPr lvl="1"/>
            <a:r>
              <a:rPr lang="hu-HU" dirty="0"/>
              <a:t>Növekszik a vállalati rugalmasság</a:t>
            </a:r>
          </a:p>
          <a:p>
            <a:pPr lvl="1"/>
            <a:r>
              <a:rPr lang="hu-HU" dirty="0"/>
              <a:t>A vállalati hatékonyság növekedése, kevesebb kiadáshoz, nagyobb profithoz vezet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C41DEF00-0517-45C0-A052-A80E7C3A1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15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49BED690-FC48-4FCE-8A77-16BFCEDF2B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Menedzsment területek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31284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4089B0F0-FEAD-4C0A-861B-8E9AC629E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Tömegszerűség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2CB725CF-76DA-4E45-AA11-392765DD7C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567" y="1377980"/>
            <a:ext cx="12048814" cy="5480020"/>
          </a:xfrm>
        </p:spPr>
        <p:txBody>
          <a:bodyPr numCol="1">
            <a:normAutofit/>
          </a:bodyPr>
          <a:lstStyle/>
          <a:p>
            <a:pPr marL="0" indent="0">
              <a:buNone/>
            </a:pPr>
            <a:r>
              <a:rPr lang="hu-HU" dirty="0"/>
              <a:t>Gyártási feladatok ismétlődése, a vállalati kapacitást milyen mértékben terheli meg egy adott termék előállítása</a:t>
            </a:r>
          </a:p>
          <a:p>
            <a:pPr lvl="1"/>
            <a:r>
              <a:rPr lang="hu-HU" dirty="0"/>
              <a:t>Egyedi gyártás</a:t>
            </a:r>
          </a:p>
          <a:p>
            <a:pPr lvl="1"/>
            <a:r>
              <a:rPr lang="hu-HU" dirty="0"/>
              <a:t>Sorozat gyártás</a:t>
            </a:r>
          </a:p>
          <a:p>
            <a:pPr lvl="1"/>
            <a:r>
              <a:rPr lang="hu-HU" dirty="0"/>
              <a:t>Tömeg gyártás</a:t>
            </a:r>
          </a:p>
          <a:p>
            <a:pPr marL="0" indent="0">
              <a:buNone/>
            </a:pPr>
            <a:r>
              <a:rPr lang="hu-HU" b="1" dirty="0"/>
              <a:t>Termék – folyamat mátrix</a:t>
            </a:r>
          </a:p>
          <a:p>
            <a:pPr lvl="1"/>
            <a:r>
              <a:rPr lang="hu-HU" dirty="0"/>
              <a:t>Meghatározza, hogy a termék élet-görbéjével párhuzamosan, mely tömegszerűségi szintet érdemes választani</a:t>
            </a:r>
          </a:p>
          <a:p>
            <a:pPr lvl="1"/>
            <a:r>
              <a:rPr lang="hu-HU" dirty="0"/>
              <a:t>Egyedi gyártás – alacsony termék igény, rugalmasság, minőség, magas költségek / termék</a:t>
            </a:r>
          </a:p>
          <a:p>
            <a:pPr lvl="1"/>
            <a:r>
              <a:rPr lang="hu-HU" dirty="0"/>
              <a:t>Tömeg gyártás – magas termék igény, stabil piac, hatékonyság, alacsony költségek / termék</a:t>
            </a:r>
          </a:p>
          <a:p>
            <a:pPr marL="0" indent="0">
              <a:buNone/>
            </a:pPr>
            <a:r>
              <a:rPr lang="hu-HU" dirty="0"/>
              <a:t>A </a:t>
            </a:r>
            <a:r>
              <a:rPr lang="hu-HU" dirty="0" smtClean="0"/>
              <a:t>tömegtermelés </a:t>
            </a:r>
            <a:r>
              <a:rPr lang="hu-HU" dirty="0"/>
              <a:t>melletti elköteleződésnek nagyon indokolt döntésnek kell </a:t>
            </a:r>
            <a:r>
              <a:rPr lang="hu-HU" dirty="0" smtClean="0"/>
              <a:t>lennie, feltétele </a:t>
            </a:r>
            <a:r>
              <a:rPr lang="hu-HU" dirty="0"/>
              <a:t>a stabil, lassan változó piaci környezet</a:t>
            </a:r>
          </a:p>
          <a:p>
            <a:pPr marL="0" indent="0">
              <a:buNone/>
            </a:pPr>
            <a:r>
              <a:rPr lang="hu-HU" dirty="0"/>
              <a:t>A vállalat a termelést átruházhatja egy olyan </a:t>
            </a:r>
            <a:r>
              <a:rPr lang="hu-HU" dirty="0" smtClean="0"/>
              <a:t>vállalatra, </a:t>
            </a:r>
            <a:r>
              <a:rPr lang="hu-HU" dirty="0"/>
              <a:t>amelynek profilja mindinkább megfelel a termék életciklusában adott előállítási igényeknek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C41DEF00-0517-45C0-A052-A80E7C3A1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16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49BED690-FC48-4FCE-8A77-16BFCEDF2B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Termelésmenedzsment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2440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4089B0F0-FEAD-4C0A-861B-8E9AC629E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Tömegszerűség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C41DEF00-0517-45C0-A052-A80E7C3A1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17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49BED690-FC48-4FCE-8A77-16BFCEDF2B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Termelésmenedzsment</a:t>
            </a:r>
          </a:p>
        </p:txBody>
      </p:sp>
      <p:pic>
        <p:nvPicPr>
          <p:cNvPr id="2052" name="Picture 4" descr="A termelő és szolgáltató rendszerek fejlesztésének főbb irányai - 3.3. A  termék–folyamat-mátrix - MeRSZ">
            <a:extLst>
              <a:ext uri="{FF2B5EF4-FFF2-40B4-BE49-F238E27FC236}">
                <a16:creationId xmlns:a16="http://schemas.microsoft.com/office/drawing/2014/main" xmlns="" id="{2ECEC8DD-01E5-4DB9-B1C2-7B72E82584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9917" y="858241"/>
            <a:ext cx="6602083" cy="5886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artalom helye 2">
            <a:extLst>
              <a:ext uri="{FF2B5EF4-FFF2-40B4-BE49-F238E27FC236}">
                <a16:creationId xmlns:a16="http://schemas.microsoft.com/office/drawing/2014/main" xmlns="" id="{FBBA9365-823A-4F1B-913D-E2420BC7C7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11" y="1377980"/>
            <a:ext cx="5520906" cy="5480020"/>
          </a:xfrm>
        </p:spPr>
        <p:txBody>
          <a:bodyPr numCol="1">
            <a:normAutofit/>
          </a:bodyPr>
          <a:lstStyle/>
          <a:p>
            <a:pPr marL="0" indent="0">
              <a:buNone/>
            </a:pPr>
            <a:r>
              <a:rPr lang="hu-HU" dirty="0"/>
              <a:t>A termék életciklus – tömegszerűség mátrix főátlóján születik meg a lehető leghatékonyabb termelési </a:t>
            </a:r>
            <a:r>
              <a:rPr lang="hu-HU" dirty="0" smtClean="0"/>
              <a:t>lehetőség</a:t>
            </a:r>
          </a:p>
          <a:p>
            <a:pPr marL="0" indent="0">
              <a:buNone/>
            </a:pPr>
            <a:endParaRPr lang="hu-HU" dirty="0"/>
          </a:p>
          <a:p>
            <a:pPr marL="0" indent="0">
              <a:buNone/>
            </a:pPr>
            <a:r>
              <a:rPr lang="hu-HU" dirty="0"/>
              <a:t>Amennyiben a termelés nem felel meg az igényeknek</a:t>
            </a:r>
          </a:p>
          <a:p>
            <a:pPr lvl="1"/>
            <a:r>
              <a:rPr lang="hu-HU" dirty="0"/>
              <a:t>A vállalat feleslegesen termel</a:t>
            </a:r>
          </a:p>
          <a:p>
            <a:pPr lvl="1"/>
            <a:r>
              <a:rPr lang="hu-HU" dirty="0"/>
              <a:t>A vállalat túl keveset termel, kevésbé hatékonyan</a:t>
            </a:r>
          </a:p>
        </p:txBody>
      </p:sp>
      <p:pic>
        <p:nvPicPr>
          <p:cNvPr id="8" name="Kép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43068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4089B0F0-FEAD-4C0A-861B-8E9AC629E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Termelési előrejelzések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2CB725CF-76DA-4E45-AA11-392765DD7C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567" y="1265463"/>
            <a:ext cx="12048814" cy="5592537"/>
          </a:xfrm>
        </p:spPr>
        <p:txBody>
          <a:bodyPr numCol="1">
            <a:normAutofit lnSpcReduction="10000"/>
          </a:bodyPr>
          <a:lstStyle/>
          <a:p>
            <a:pPr marL="0" indent="0">
              <a:buNone/>
            </a:pPr>
            <a:r>
              <a:rPr lang="hu-HU" b="1" dirty="0"/>
              <a:t>A vállalat sikeres működésének az alapja a jövőbeni felvevő piac lehető legpontosabb meghatározása</a:t>
            </a:r>
          </a:p>
          <a:p>
            <a:pPr lvl="2"/>
            <a:r>
              <a:rPr lang="hu-HU" dirty="0" smtClean="0"/>
              <a:t>Alul </a:t>
            </a:r>
            <a:r>
              <a:rPr lang="hu-HU" dirty="0"/>
              <a:t>becslés – Nyereségtől való elesés</a:t>
            </a:r>
          </a:p>
          <a:p>
            <a:pPr lvl="2"/>
            <a:r>
              <a:rPr lang="hu-HU" dirty="0"/>
              <a:t>Túl termelés – Felesleges termelés, raktározási költségek</a:t>
            </a:r>
          </a:p>
          <a:p>
            <a:pPr marL="0" indent="0">
              <a:buNone/>
            </a:pPr>
            <a:r>
              <a:rPr lang="hu-HU" b="1" dirty="0"/>
              <a:t>Kvalitatív módszerek </a:t>
            </a:r>
            <a:r>
              <a:rPr lang="hu-HU" dirty="0"/>
              <a:t>– nem állnak rendelkezésre megbízható adatok, a becslésnek a jövő befolyásoló tényezői alapján, tapasztalatok nélkül kell, hogy létrejöjjön</a:t>
            </a:r>
          </a:p>
          <a:p>
            <a:pPr marL="0" indent="0">
              <a:buNone/>
            </a:pPr>
            <a:r>
              <a:rPr lang="hu-HU" b="1" dirty="0"/>
              <a:t>Kvantitatív módszerek </a:t>
            </a:r>
            <a:r>
              <a:rPr lang="hu-HU" dirty="0"/>
              <a:t>– már rendelkezésre állnak adatok, amelyekből van lehetőség becsülni</a:t>
            </a:r>
          </a:p>
          <a:p>
            <a:pPr marL="0" indent="0">
              <a:buNone/>
            </a:pPr>
            <a:r>
              <a:rPr lang="hu-HU" b="1" dirty="0"/>
              <a:t>Projektív módszer </a:t>
            </a:r>
            <a:r>
              <a:rPr lang="hu-HU" dirty="0"/>
              <a:t>– a múlt eseményeit, adatait, tapasztalatait vetíti ki a jövőre nézve</a:t>
            </a:r>
          </a:p>
          <a:p>
            <a:pPr marL="0" indent="0">
              <a:buNone/>
            </a:pPr>
            <a:r>
              <a:rPr lang="hu-HU" b="1" dirty="0"/>
              <a:t>Kauzális módszer </a:t>
            </a:r>
            <a:r>
              <a:rPr lang="hu-HU" dirty="0"/>
              <a:t>– az igény alakulásának okát, befolyásoló tényezőket vizsgál</a:t>
            </a:r>
          </a:p>
          <a:p>
            <a:pPr marL="0" indent="0">
              <a:buNone/>
            </a:pPr>
            <a:r>
              <a:rPr lang="hu-HU" b="1" dirty="0"/>
              <a:t>A becslési modell 4 alapvető tényezője </a:t>
            </a:r>
            <a:r>
              <a:rPr lang="hu-HU" b="1" dirty="0" smtClean="0"/>
              <a:t>(állandó </a:t>
            </a:r>
            <a:r>
              <a:rPr lang="hu-HU" b="1" dirty="0"/>
              <a:t>+ trend + szezonalitás + véletlen elem)</a:t>
            </a:r>
          </a:p>
          <a:p>
            <a:pPr lvl="1"/>
            <a:r>
              <a:rPr lang="hu-HU" b="1" dirty="0"/>
              <a:t>Állandó konstans </a:t>
            </a:r>
            <a:r>
              <a:rPr lang="hu-HU" dirty="0"/>
              <a:t>– Az eladások mennyisége naponta minden befolyásoló tényező nélkül</a:t>
            </a:r>
          </a:p>
          <a:p>
            <a:pPr lvl="1"/>
            <a:r>
              <a:rPr lang="hu-HU" b="1" dirty="0"/>
              <a:t>Trend elem </a:t>
            </a:r>
            <a:r>
              <a:rPr lang="hu-HU" dirty="0"/>
              <a:t>– Folyamatosan növekvő vagy csökkenő eladások (pl. egyre több vevő)</a:t>
            </a:r>
          </a:p>
          <a:p>
            <a:pPr lvl="1"/>
            <a:r>
              <a:rPr lang="hu-HU" b="1" dirty="0"/>
              <a:t>Szezonalitás </a:t>
            </a:r>
            <a:r>
              <a:rPr lang="hu-HU" dirty="0"/>
              <a:t>– Időszakosan növekvő vagy csökkenő eladások (pl. korcsolya télen)</a:t>
            </a:r>
          </a:p>
          <a:p>
            <a:pPr lvl="1"/>
            <a:r>
              <a:rPr lang="hu-HU" b="1" dirty="0"/>
              <a:t>Véletlen elem </a:t>
            </a:r>
            <a:r>
              <a:rPr lang="hu-HU" dirty="0"/>
              <a:t>– A vállalat sosem tud pontosan minden befolyásoló tényezőt számításba venni</a:t>
            </a:r>
            <a:endParaRPr lang="hu-HU" b="1" dirty="0"/>
          </a:p>
          <a:p>
            <a:endParaRPr lang="hu-HU" b="1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C41DEF00-0517-45C0-A052-A80E7C3A1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18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49BED690-FC48-4FCE-8A77-16BFCEDF2B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Termelésmenedzsment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30859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4089B0F0-FEAD-4C0A-861B-8E9AC629E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Kapacitás tervezés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2CB725CF-76DA-4E45-AA11-392765DD7C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567" y="1377980"/>
            <a:ext cx="12048814" cy="5480020"/>
          </a:xfrm>
        </p:spPr>
        <p:txBody>
          <a:bodyPr numCol="1">
            <a:normAutofit lnSpcReduction="10000"/>
          </a:bodyPr>
          <a:lstStyle/>
          <a:p>
            <a:pPr marL="0" indent="0">
              <a:buNone/>
            </a:pPr>
            <a:r>
              <a:rPr lang="hu-HU" dirty="0"/>
              <a:t>A meghatározott várható eladások alapján a vállalatnak meg kell határoznia a szükséges kapacitás a termékek előállításának érdekében</a:t>
            </a:r>
          </a:p>
          <a:p>
            <a:pPr lvl="1"/>
            <a:r>
              <a:rPr lang="hu-HU" b="1" dirty="0"/>
              <a:t>Abszolút kapacitás </a:t>
            </a:r>
            <a:r>
              <a:rPr lang="hu-HU" dirty="0"/>
              <a:t>– Teljesen ideális környezetben előállított maximum termelés / év</a:t>
            </a:r>
          </a:p>
          <a:p>
            <a:pPr lvl="1"/>
            <a:r>
              <a:rPr lang="hu-HU" b="1" dirty="0"/>
              <a:t>Effektív kapacitás </a:t>
            </a:r>
            <a:r>
              <a:rPr lang="hu-HU" dirty="0"/>
              <a:t>– Tényleges munkarenddel, váratlan leállásokkal, javításokkal korrigált </a:t>
            </a:r>
            <a:r>
              <a:rPr lang="hu-HU" dirty="0" smtClean="0"/>
              <a:t>termelés</a:t>
            </a:r>
          </a:p>
          <a:p>
            <a:pPr lvl="1"/>
            <a:endParaRPr lang="hu-HU" dirty="0"/>
          </a:p>
          <a:p>
            <a:pPr marL="0" indent="0">
              <a:buNone/>
            </a:pPr>
            <a:r>
              <a:rPr lang="hu-HU" dirty="0"/>
              <a:t>Hatékonyság = Tényleges termelés / Effektív </a:t>
            </a:r>
            <a:r>
              <a:rPr lang="hu-HU" dirty="0" smtClean="0"/>
              <a:t>kapacitás</a:t>
            </a:r>
          </a:p>
          <a:p>
            <a:pPr marL="0" indent="0">
              <a:buNone/>
            </a:pPr>
            <a:endParaRPr lang="hu-HU" dirty="0"/>
          </a:p>
          <a:p>
            <a:pPr marL="0" indent="0">
              <a:buNone/>
            </a:pPr>
            <a:r>
              <a:rPr lang="hu-HU" dirty="0"/>
              <a:t>A vállalatnak a célja, hogy a lehető legoptimálisabb kapacitást határozza meg amely reálisan alátámasztja a szezonális és trend </a:t>
            </a:r>
            <a:r>
              <a:rPr lang="hu-HU" dirty="0" smtClean="0"/>
              <a:t>igényeket.</a:t>
            </a:r>
          </a:p>
          <a:p>
            <a:pPr marL="0" indent="0">
              <a:buNone/>
            </a:pPr>
            <a:endParaRPr lang="hu-HU" dirty="0"/>
          </a:p>
          <a:p>
            <a:pPr marL="0" indent="0">
              <a:buNone/>
            </a:pPr>
            <a:r>
              <a:rPr lang="hu-HU" dirty="0"/>
              <a:t>A vállalat különböző módszerekkel befolyásolhatja az eladásokat az értékesítés és a termelés kiegyensúlyozásának </a:t>
            </a:r>
            <a:r>
              <a:rPr lang="hu-HU" dirty="0" smtClean="0"/>
              <a:t>érdekében:</a:t>
            </a:r>
            <a:endParaRPr lang="hu-HU" dirty="0"/>
          </a:p>
          <a:p>
            <a:pPr marL="457200" lvl="1" indent="0">
              <a:buNone/>
            </a:pPr>
            <a:r>
              <a:rPr lang="hu-HU" dirty="0"/>
              <a:t>Árak változtatása, kedvezmények, termelés raktárra, termelés csak megrendelésre</a:t>
            </a:r>
          </a:p>
          <a:p>
            <a:endParaRPr lang="hu-HU" b="1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C41DEF00-0517-45C0-A052-A80E7C3A1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19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49BED690-FC48-4FCE-8A77-16BFCEDF2B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Termelésmenedzsment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18671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4089B0F0-FEAD-4C0A-861B-8E9AC629E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Erőforrás igény tervezés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2CB725CF-76DA-4E45-AA11-392765DD7C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567" y="1265463"/>
            <a:ext cx="12048814" cy="5946220"/>
          </a:xfrm>
        </p:spPr>
        <p:txBody>
          <a:bodyPr numCol="1">
            <a:normAutofit lnSpcReduction="10000"/>
          </a:bodyPr>
          <a:lstStyle/>
          <a:p>
            <a:pPr marL="0" indent="0">
              <a:buNone/>
            </a:pPr>
            <a:r>
              <a:rPr lang="hu-HU" dirty="0"/>
              <a:t>A vállalatnak feladata, hogy az előállítási folyamatok erőforrás igényeit a lehető legmegfelelőbben </a:t>
            </a:r>
            <a:r>
              <a:rPr lang="hu-HU" dirty="0" smtClean="0"/>
              <a:t>biztosítsa</a:t>
            </a:r>
          </a:p>
          <a:p>
            <a:pPr marL="0" indent="0">
              <a:buNone/>
            </a:pPr>
            <a:endParaRPr lang="hu-HU" dirty="0"/>
          </a:p>
          <a:p>
            <a:pPr marL="0" indent="0">
              <a:buNone/>
            </a:pPr>
            <a:r>
              <a:rPr lang="hu-HU" dirty="0"/>
              <a:t>A vállalatnak leginkább két költség optimalizálásával kell meghatároznia a készletezés gyakoriságát és méretét</a:t>
            </a:r>
          </a:p>
          <a:p>
            <a:pPr lvl="1"/>
            <a:r>
              <a:rPr lang="hu-HU" dirty="0"/>
              <a:t>Beszállítási költségek</a:t>
            </a:r>
          </a:p>
          <a:p>
            <a:pPr lvl="1"/>
            <a:r>
              <a:rPr lang="hu-HU" dirty="0"/>
              <a:t>Raktározási költségek</a:t>
            </a:r>
          </a:p>
          <a:p>
            <a:pPr lvl="1"/>
            <a:r>
              <a:rPr lang="hu-HU" dirty="0"/>
              <a:t>A kettőt összevetve az EOQ modell adja meg a készletezés optimális </a:t>
            </a:r>
            <a:r>
              <a:rPr lang="hu-HU" dirty="0" smtClean="0"/>
              <a:t>volumenét</a:t>
            </a:r>
          </a:p>
          <a:p>
            <a:pPr lvl="1"/>
            <a:endParaRPr lang="hu-HU" dirty="0"/>
          </a:p>
          <a:p>
            <a:pPr marL="0" indent="0">
              <a:buNone/>
            </a:pPr>
            <a:r>
              <a:rPr lang="hu-HU" b="1" dirty="0"/>
              <a:t>A termelés szempontjából fontos készletezési szintek</a:t>
            </a:r>
          </a:p>
          <a:p>
            <a:pPr lvl="1"/>
            <a:r>
              <a:rPr lang="hu-HU" b="1" dirty="0"/>
              <a:t>Minimum készlet </a:t>
            </a:r>
            <a:r>
              <a:rPr lang="hu-HU" dirty="0"/>
              <a:t>– A legalacsonyabb készlet szint pillanatában amikor a rendelés terv szerint beérkezik</a:t>
            </a:r>
          </a:p>
          <a:p>
            <a:pPr lvl="1"/>
            <a:r>
              <a:rPr lang="hu-HU" b="1" dirty="0"/>
              <a:t>Maximum készlet </a:t>
            </a:r>
            <a:r>
              <a:rPr lang="hu-HU" dirty="0"/>
              <a:t>– A rendelési volumennel megnövelt minimum készlet</a:t>
            </a:r>
          </a:p>
          <a:p>
            <a:pPr lvl="1"/>
            <a:r>
              <a:rPr lang="hu-HU" b="1" dirty="0"/>
              <a:t>Biztonsági készlet </a:t>
            </a:r>
            <a:r>
              <a:rPr lang="hu-HU" dirty="0"/>
              <a:t>– Bármilyen befolyásoló tényező áthidalására fenntartott készlet szint</a:t>
            </a:r>
          </a:p>
          <a:p>
            <a:pPr lvl="1"/>
            <a:r>
              <a:rPr lang="hu-HU" b="1" dirty="0"/>
              <a:t>Újra rendelési készlet </a:t>
            </a:r>
            <a:r>
              <a:rPr lang="hu-HU" dirty="0"/>
              <a:t>– Amikor fel kell adni a rendelést - Minimum készlet + (szállítás napjai * napi készlet felhasználás)</a:t>
            </a:r>
          </a:p>
          <a:p>
            <a:endParaRPr lang="hu-HU" b="1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C41DEF00-0517-45C0-A052-A80E7C3A1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20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49BED690-FC48-4FCE-8A77-16BFCEDF2B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Termelésmenedzsment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48659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4089B0F0-FEAD-4C0A-861B-8E9AC629E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Erőforrás igény tervezés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C41DEF00-0517-45C0-A052-A80E7C3A1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21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49BED690-FC48-4FCE-8A77-16BFCEDF2B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Termelésmenedzsment</a:t>
            </a:r>
          </a:p>
        </p:txBody>
      </p:sp>
      <p:pic>
        <p:nvPicPr>
          <p:cNvPr id="7" name="Kép 6">
            <a:extLst>
              <a:ext uri="{FF2B5EF4-FFF2-40B4-BE49-F238E27FC236}">
                <a16:creationId xmlns:a16="http://schemas.microsoft.com/office/drawing/2014/main" xmlns="" id="{35C1889E-152A-461F-BEEC-9D7A21D338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8614" y="1323761"/>
            <a:ext cx="9043982" cy="5385059"/>
          </a:xfrm>
          <a:prstGeom prst="rect">
            <a:avLst/>
          </a:prstGeom>
        </p:spPr>
      </p:pic>
      <p:pic>
        <p:nvPicPr>
          <p:cNvPr id="6" name="Kép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48627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4089B0F0-FEAD-4C0A-861B-8E9AC629E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Erőforrás igény tervezés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2CB725CF-76DA-4E45-AA11-392765DD7C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566" y="1265463"/>
            <a:ext cx="12098433" cy="5773692"/>
          </a:xfrm>
        </p:spPr>
        <p:txBody>
          <a:bodyPr numCol="1">
            <a:normAutofit fontScale="92500" lnSpcReduction="20000"/>
          </a:bodyPr>
          <a:lstStyle/>
          <a:p>
            <a:pPr marL="0" indent="0">
              <a:buNone/>
            </a:pPr>
            <a:r>
              <a:rPr lang="hu-HU" b="1" dirty="0"/>
              <a:t>MRP – </a:t>
            </a:r>
            <a:r>
              <a:rPr lang="hu-HU" b="1" dirty="0" err="1"/>
              <a:t>Push</a:t>
            </a:r>
            <a:r>
              <a:rPr lang="hu-HU" b="1" dirty="0"/>
              <a:t> stratégia</a:t>
            </a:r>
          </a:p>
          <a:p>
            <a:pPr lvl="1"/>
            <a:r>
              <a:rPr lang="hu-HU" dirty="0"/>
              <a:t>Előre, </a:t>
            </a:r>
            <a:r>
              <a:rPr lang="hu-HU" b="1" dirty="0"/>
              <a:t>központilag</a:t>
            </a:r>
            <a:r>
              <a:rPr lang="hu-HU" dirty="0"/>
              <a:t> meghatározott igények</a:t>
            </a:r>
          </a:p>
          <a:p>
            <a:pPr lvl="1"/>
            <a:r>
              <a:rPr lang="hu-HU" dirty="0"/>
              <a:t>Végtermék igényeinek pontos felmérése, meghatározott időben berendelése</a:t>
            </a:r>
          </a:p>
          <a:p>
            <a:pPr lvl="1"/>
            <a:r>
              <a:rPr lang="hu-HU" dirty="0"/>
              <a:t>Rátoljuk az erőforrásokat a </a:t>
            </a:r>
            <a:r>
              <a:rPr lang="hu-HU" dirty="0" smtClean="0"/>
              <a:t>rendszerre</a:t>
            </a:r>
          </a:p>
          <a:p>
            <a:pPr marL="457200" lvl="1" indent="0">
              <a:buNone/>
            </a:pPr>
            <a:endParaRPr lang="hu-HU" dirty="0"/>
          </a:p>
          <a:p>
            <a:pPr marL="0" indent="0">
              <a:buNone/>
            </a:pPr>
            <a:r>
              <a:rPr lang="hu-HU" b="1" dirty="0" err="1"/>
              <a:t>Just</a:t>
            </a:r>
            <a:r>
              <a:rPr lang="hu-HU" b="1" dirty="0"/>
              <a:t> in </a:t>
            </a:r>
            <a:r>
              <a:rPr lang="hu-HU" b="1" dirty="0" err="1"/>
              <a:t>time</a:t>
            </a:r>
            <a:r>
              <a:rPr lang="hu-HU" b="1" dirty="0"/>
              <a:t> – </a:t>
            </a:r>
            <a:r>
              <a:rPr lang="hu-HU" b="1" dirty="0" err="1"/>
              <a:t>Pull</a:t>
            </a:r>
            <a:r>
              <a:rPr lang="hu-HU" b="1" dirty="0"/>
              <a:t> stratégia</a:t>
            </a:r>
          </a:p>
          <a:p>
            <a:pPr lvl="1"/>
            <a:r>
              <a:rPr lang="hu-HU" dirty="0"/>
              <a:t>Kis tételek, éppen a felhasználás időpontjában történő leszállítása</a:t>
            </a:r>
          </a:p>
          <a:p>
            <a:pPr lvl="1"/>
            <a:r>
              <a:rPr lang="hu-HU" dirty="0"/>
              <a:t>Veszteségek megszüntetése, raktározási költségek minimalizálása</a:t>
            </a:r>
          </a:p>
          <a:p>
            <a:pPr lvl="1"/>
            <a:r>
              <a:rPr lang="hu-HU" dirty="0"/>
              <a:t>Pontos ütemidő és anyagáram tervezés</a:t>
            </a:r>
          </a:p>
          <a:p>
            <a:pPr lvl="1"/>
            <a:r>
              <a:rPr lang="hu-HU" dirty="0"/>
              <a:t>Vevői igények szem előtt tartása, kanban rendszer</a:t>
            </a:r>
          </a:p>
          <a:p>
            <a:pPr lvl="1"/>
            <a:r>
              <a:rPr lang="hu-HU" dirty="0"/>
              <a:t>Önjáró működés, </a:t>
            </a:r>
            <a:r>
              <a:rPr lang="hu-HU" b="1" dirty="0"/>
              <a:t>az igények a folyamat helyszínén keletkeznek</a:t>
            </a:r>
          </a:p>
          <a:p>
            <a:pPr lvl="1"/>
            <a:r>
              <a:rPr lang="hu-HU" dirty="0"/>
              <a:t>A rendszer magára húzza az </a:t>
            </a:r>
            <a:r>
              <a:rPr lang="hu-HU" dirty="0" smtClean="0"/>
              <a:t>erőforrásokat</a:t>
            </a:r>
          </a:p>
          <a:p>
            <a:pPr lvl="1"/>
            <a:endParaRPr lang="hu-HU" dirty="0"/>
          </a:p>
          <a:p>
            <a:pPr marL="0" indent="0">
              <a:buNone/>
            </a:pPr>
            <a:r>
              <a:rPr lang="hu-HU" b="1" dirty="0" err="1"/>
              <a:t>Lean</a:t>
            </a:r>
            <a:r>
              <a:rPr lang="hu-HU" b="1" dirty="0"/>
              <a:t> menedzsment</a:t>
            </a:r>
          </a:p>
          <a:p>
            <a:pPr lvl="1"/>
            <a:r>
              <a:rPr lang="hu-HU" dirty="0"/>
              <a:t>Vállalat irányítási elv – veszteségek azonosításával és minimalizálásával növeli a termelés hatékonyságát</a:t>
            </a:r>
          </a:p>
          <a:p>
            <a:pPr lvl="1"/>
            <a:r>
              <a:rPr lang="hu-HU" dirty="0"/>
              <a:t>Mi nem állít elő a vevő számára értéket? </a:t>
            </a:r>
            <a:r>
              <a:rPr lang="hu-HU" dirty="0">
                <a:sym typeface="Wingdings" panose="05000000000000000000" pitchFamily="2" charset="2"/>
              </a:rPr>
              <a:t> csökkentés, megszüntetés</a:t>
            </a:r>
          </a:p>
          <a:p>
            <a:pPr lvl="1"/>
            <a:r>
              <a:rPr lang="hu-HU" dirty="0">
                <a:sym typeface="Wingdings" panose="05000000000000000000" pitchFamily="2" charset="2"/>
              </a:rPr>
              <a:t>Vevői igények szem előtt tartása, értékek azonosítása, folyamatos fejlődés, húzó JIT rendszer, tökéletességre törekvés</a:t>
            </a:r>
            <a:endParaRPr lang="hu-HU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C41DEF00-0517-45C0-A052-A80E7C3A1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22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49BED690-FC48-4FCE-8A77-16BFCEDF2B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Termelésmenedzsment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40479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4089B0F0-FEAD-4C0A-861B-8E9AC629E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Menedzsment </a:t>
            </a:r>
            <a:r>
              <a:rPr lang="hu-HU" dirty="0" smtClean="0"/>
              <a:t>alapok – záró gondolatok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2CB725CF-76DA-4E45-AA11-392765DD7C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2208362"/>
            <a:ext cx="11438626" cy="4649638"/>
          </a:xfrm>
        </p:spPr>
        <p:txBody>
          <a:bodyPr numCol="1">
            <a:normAutofit/>
          </a:bodyPr>
          <a:lstStyle/>
          <a:p>
            <a:r>
              <a:rPr lang="hu-HU" dirty="0"/>
              <a:t>A menedzsment ma már egy hihetetlenül szerteágazó fogalom, amely a vállalati élet minden területén megjelenik </a:t>
            </a:r>
            <a:r>
              <a:rPr lang="hu-HU" dirty="0" smtClean="0"/>
              <a:t>gyakorlatilag</a:t>
            </a:r>
          </a:p>
          <a:p>
            <a:r>
              <a:rPr lang="hu-HU" dirty="0" smtClean="0"/>
              <a:t>A </a:t>
            </a:r>
            <a:r>
              <a:rPr lang="hu-HU" dirty="0"/>
              <a:t>menedzsment alapfunkcióival járó pozitívumokra és célorientáltságra mindenhol szükség </a:t>
            </a:r>
            <a:r>
              <a:rPr lang="hu-HU" dirty="0" smtClean="0"/>
              <a:t>van</a:t>
            </a:r>
            <a:endParaRPr lang="hu-HU" dirty="0"/>
          </a:p>
          <a:p>
            <a:r>
              <a:rPr lang="hu-HU" dirty="0"/>
              <a:t>A tananyag célja az volt, hogy betekintést adjon a menedzsment legfontosabb területeibe és átfogó tudást nyújtson amelyből majd további konkrét specializációk során tovább lehet folytatni a menedzsment ismeretek elsajátítását már biztos alapokra építkezve…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C41DEF00-0517-45C0-A052-A80E7C3A1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23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49BED690-FC48-4FCE-8A77-16BFCEDF2B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Menedzsment alapok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66617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3363845" y="3055305"/>
            <a:ext cx="5033727" cy="204460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u-HU" sz="4000" dirty="0" smtClean="0">
                <a:solidFill>
                  <a:srgbClr val="00B0F0"/>
                </a:solidFill>
              </a:rPr>
              <a:t>Köszönöm a figyelmet!</a:t>
            </a:r>
            <a:endParaRPr lang="hu-HU" sz="4000" dirty="0">
              <a:solidFill>
                <a:srgbClr val="00B0F0"/>
              </a:solidFill>
            </a:endParaRP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24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endParaRPr lang="hu-HU"/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7806" y="156411"/>
            <a:ext cx="581630" cy="441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4177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484</TotalTime>
  <Words>2195</Words>
  <Application>Microsoft Office PowerPoint</Application>
  <PresentationFormat>Szélesvásznú</PresentationFormat>
  <Paragraphs>308</Paragraphs>
  <Slides>24</Slides>
  <Notes>18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24</vt:i4>
      </vt:variant>
    </vt:vector>
  </HeadingPairs>
  <TitlesOfParts>
    <vt:vector size="29" baseType="lpstr">
      <vt:lpstr>Arial</vt:lpstr>
      <vt:lpstr>Calibri</vt:lpstr>
      <vt:lpstr>Calibri Light</vt:lpstr>
      <vt:lpstr>Wingdings</vt:lpstr>
      <vt:lpstr>Office-téma</vt:lpstr>
      <vt:lpstr>Egyéb menedzsment területek</vt:lpstr>
      <vt:lpstr>Tartalomjegyzék</vt:lpstr>
      <vt:lpstr>Minőségmenedzsment</vt:lpstr>
      <vt:lpstr>Minőségmenedzsment</vt:lpstr>
      <vt:lpstr>Minőségmenedzsment</vt:lpstr>
      <vt:lpstr>Minőségirányítás</vt:lpstr>
      <vt:lpstr>Teljeskörű minőségmenedzsment</vt:lpstr>
      <vt:lpstr>Minőségmenedzsment elvek</vt:lpstr>
      <vt:lpstr>Benchmarking</vt:lpstr>
      <vt:lpstr>A benchmarking területei, típusai</vt:lpstr>
      <vt:lpstr>A tevékenység lépései a PDCA ciklus mentén</vt:lpstr>
      <vt:lpstr>A benchmarking folyamata</vt:lpstr>
      <vt:lpstr>A benchmarking folyamata</vt:lpstr>
      <vt:lpstr>A benchmarking folyamata</vt:lpstr>
      <vt:lpstr>Termelésmenedzsment</vt:lpstr>
      <vt:lpstr>Tömegszerűség</vt:lpstr>
      <vt:lpstr>Tömegszerűség</vt:lpstr>
      <vt:lpstr>Termelési előrejelzések</vt:lpstr>
      <vt:lpstr>Kapacitás tervezés</vt:lpstr>
      <vt:lpstr>Erőforrás igény tervezés</vt:lpstr>
      <vt:lpstr>Erőforrás igény tervezés</vt:lpstr>
      <vt:lpstr>Erőforrás igény tervezés</vt:lpstr>
      <vt:lpstr>Menedzsment alapok – záró gondolatok</vt:lpstr>
      <vt:lpstr>PowerPoint bemutató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Funkcionálismenedzsment</dc:title>
  <dc:creator>MMI</dc:creator>
  <cp:lastModifiedBy>Gombaszögi Ildikó</cp:lastModifiedBy>
  <cp:revision>48</cp:revision>
  <dcterms:created xsi:type="dcterms:W3CDTF">2021-01-18T18:03:07Z</dcterms:created>
  <dcterms:modified xsi:type="dcterms:W3CDTF">2023-08-29T15:09:07Z</dcterms:modified>
</cp:coreProperties>
</file>