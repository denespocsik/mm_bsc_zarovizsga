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66" r:id="rId13"/>
    <p:sldId id="267" r:id="rId14"/>
    <p:sldId id="281" r:id="rId15"/>
    <p:sldId id="268" r:id="rId16"/>
    <p:sldId id="269" r:id="rId17"/>
    <p:sldId id="282" r:id="rId18"/>
    <p:sldId id="283" r:id="rId19"/>
    <p:sldId id="270" r:id="rId20"/>
    <p:sldId id="271" r:id="rId21"/>
    <p:sldId id="272" r:id="rId22"/>
    <p:sldId id="284" r:id="rId23"/>
    <p:sldId id="285" r:id="rId24"/>
    <p:sldId id="273" r:id="rId25"/>
    <p:sldId id="274" r:id="rId26"/>
    <p:sldId id="275" r:id="rId27"/>
    <p:sldId id="276" r:id="rId28"/>
    <p:sldId id="277" r:id="rId29"/>
    <p:sldId id="278" r:id="rId30"/>
    <p:sldId id="280" r:id="rId31"/>
    <p:sldId id="286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352F"/>
    <a:srgbClr val="E9CF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0727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254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47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A43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A4352F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A4352F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A4352F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A4352F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A4352F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apoleon Bonaparte Emperor France - Free photo on Pixabay">
            <a:extLst>
              <a:ext uri="{FF2B5EF4-FFF2-40B4-BE49-F238E27FC236}">
                <a16:creationId xmlns:a16="http://schemas.microsoft.com/office/drawing/2014/main" xmlns="" id="{F02BD7C3-CF84-4B26-8348-7BED2F1CA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197" y="-62923"/>
            <a:ext cx="12288197" cy="1441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A vezető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A435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>
                <a:solidFill>
                  <a:schemeClr val="bg1"/>
                </a:solidFill>
              </a:rPr>
              <a:t>4.</a:t>
            </a:r>
          </a:p>
          <a:p>
            <a:pPr algn="ctr"/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xmlns="" id="{27CD16DC-2AB4-4B7A-B6C4-F80ED38C1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825" y="232127"/>
            <a:ext cx="1103310" cy="83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vezetés fogalma, célja és funkciói</a:t>
            </a:r>
          </a:p>
          <a:p>
            <a:r>
              <a:rPr lang="hu-HU" dirty="0"/>
              <a:t>Vezetői stílusok</a:t>
            </a:r>
          </a:p>
          <a:p>
            <a:r>
              <a:rPr lang="hu-HU" dirty="0"/>
              <a:t>A vezetés sikertényezői</a:t>
            </a:r>
          </a:p>
          <a:p>
            <a:r>
              <a:rPr lang="hu-HU" dirty="0"/>
              <a:t>A vezető tulajdonságai</a:t>
            </a:r>
          </a:p>
          <a:p>
            <a:r>
              <a:rPr lang="hu-HU" dirty="0"/>
              <a:t>A vezetés alapfunkciói</a:t>
            </a:r>
          </a:p>
          <a:p>
            <a:r>
              <a:rPr lang="hu-HU" dirty="0"/>
              <a:t>A modern vezetés alapjai</a:t>
            </a:r>
          </a:p>
          <a:p>
            <a:pPr lvl="1"/>
            <a:r>
              <a:rPr lang="hu-HU" dirty="0"/>
              <a:t>Támogató vezetés</a:t>
            </a:r>
          </a:p>
          <a:p>
            <a:pPr lvl="1"/>
            <a:r>
              <a:rPr lang="hu-HU" dirty="0"/>
              <a:t>Rezonáns vezető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DF73E697-4591-442E-A120-DA0ED3098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értelmezése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579676" cy="5264148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vezetés lényege, elérni egy feladat megoldását más emberek segítségével</a:t>
            </a:r>
          </a:p>
          <a:p>
            <a:pPr lvl="1"/>
            <a:r>
              <a:rPr lang="hu-HU" dirty="0"/>
              <a:t>A menedzsment alapjainak egy nagyon fontos sarokköve maga a vezetés</a:t>
            </a:r>
          </a:p>
          <a:p>
            <a:pPr lvl="2"/>
            <a:r>
              <a:rPr lang="hu-HU" dirty="0"/>
              <a:t>Az emberek irányítása, koordinálása a siker érdekében</a:t>
            </a:r>
          </a:p>
          <a:p>
            <a:pPr lvl="2"/>
            <a:r>
              <a:rPr lang="hu-HU" dirty="0"/>
              <a:t>A velük való kommunikáció</a:t>
            </a:r>
          </a:p>
          <a:p>
            <a:pPr lvl="2"/>
            <a:r>
              <a:rPr lang="hu-HU" dirty="0"/>
              <a:t>Ösztönzés és motiváció a munkára</a:t>
            </a:r>
          </a:p>
          <a:p>
            <a:pPr lvl="2"/>
            <a:r>
              <a:rPr lang="hu-HU" dirty="0"/>
              <a:t>A hatékonyság növelése</a:t>
            </a:r>
          </a:p>
          <a:p>
            <a:pPr marL="0" indent="0">
              <a:buNone/>
            </a:pPr>
            <a:r>
              <a:rPr lang="hu-HU" dirty="0"/>
              <a:t>Nem minden vezető menedzser, azonban minden menedzsernek a szerepkörébe tartoznak a vezetés alapfunkciói is, éppen ezért nagyon fontos, hogy a menedzser tudatában legyen annak, hogy</a:t>
            </a:r>
          </a:p>
          <a:p>
            <a:pPr lvl="1"/>
            <a:r>
              <a:rPr lang="hu-HU" dirty="0"/>
              <a:t> az embereket hogyan lehet a lehető leghatékonyabban az adott feladatok elvégzésére motiválni,</a:t>
            </a:r>
          </a:p>
          <a:p>
            <a:pPr lvl="1"/>
            <a:r>
              <a:rPr lang="hu-HU" dirty="0"/>
              <a:t>milyen hatással vannak a döntései,</a:t>
            </a:r>
          </a:p>
          <a:p>
            <a:pPr lvl="1"/>
            <a:r>
              <a:rPr lang="hu-HU" dirty="0"/>
              <a:t>hogyan kommunikálja a döntéseit.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7D15B4F-96A8-4928-A834-0EE05990A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579676" cy="5264148"/>
          </a:xfrm>
        </p:spPr>
        <p:txBody>
          <a:bodyPr/>
          <a:lstStyle/>
          <a:p>
            <a:r>
              <a:rPr lang="hu-HU" b="1" dirty="0"/>
              <a:t>A vezetés lényege, elérni egy feladat megoldását más emberek segítségével. </a:t>
            </a:r>
            <a:r>
              <a:rPr lang="hu-HU" dirty="0"/>
              <a:t>A vezető az az ember, aki képes elérni, hogy csoportjának tagjai: elkötelezetten együttműködjenek vele, egy közös cél érdekében, képességeik, tehetségük, energiáik felhasználásával</a:t>
            </a:r>
          </a:p>
          <a:p>
            <a:r>
              <a:rPr lang="hu-HU" dirty="0"/>
              <a:t>A vezetés olyan tevékenység, amelynek során meghatározzák a célokat és az azok eléréséhez vezető utakat, módszereket.</a:t>
            </a:r>
          </a:p>
          <a:p>
            <a:r>
              <a:rPr lang="hu-HU" dirty="0"/>
              <a:t>A vezetés az emberek befolyásolására irányul, </a:t>
            </a:r>
            <a:r>
              <a:rPr lang="hu-HU" b="1" dirty="0"/>
              <a:t>változtatási tevékenység</a:t>
            </a:r>
            <a:r>
              <a:rPr lang="hu-HU" dirty="0"/>
              <a:t>, a hatalom gyakorlása, a sikergyártás tudománya</a:t>
            </a:r>
          </a:p>
          <a:p>
            <a:r>
              <a:rPr lang="hu-HU" dirty="0"/>
              <a:t>A vezetés olyan tevékenység, amely célokat tűz ki, a céloknak megfelelően meghatározza az eszközök felhasználását, elindítja és működésben tartja a szervezet tevékenységét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E180E2AB-181E-4AB6-AA42-947C15B30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3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vezetői stílus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579676" cy="5264148"/>
          </a:xfrm>
        </p:spPr>
        <p:txBody>
          <a:bodyPr/>
          <a:lstStyle/>
          <a:p>
            <a:r>
              <a:rPr lang="hu-HU" dirty="0"/>
              <a:t>A vezetői stílus a vezető </a:t>
            </a:r>
            <a:r>
              <a:rPr lang="hu-HU" b="1" dirty="0"/>
              <a:t>mások által érzékelt </a:t>
            </a:r>
            <a:r>
              <a:rPr lang="hu-HU" dirty="0"/>
              <a:t>viselkedés-mintája (amely szavakban és tettekben nyilvánul meg)</a:t>
            </a:r>
          </a:p>
          <a:p>
            <a:r>
              <a:rPr lang="hu-HU" dirty="0"/>
              <a:t>Ebből a szempontból tehát nem az számít, hogy a vezető milyennek látja magát, hanem az, hogy milyennek látják azok, akiket befolyásolni akar</a:t>
            </a:r>
          </a:p>
          <a:p>
            <a:r>
              <a:rPr lang="hu-HU" dirty="0"/>
              <a:t>A vezetői stílus-elméletek alapvető feltevése az, hogy a dolgozók bizonyos stílusú vezető irányítása alatt keményebben, hatékonyabban dolgoznak, mint más stílusú vezetők esetében</a:t>
            </a:r>
          </a:p>
          <a:p>
            <a:r>
              <a:rPr lang="hu-HU" b="1" dirty="0"/>
              <a:t>Kurt </a:t>
            </a:r>
            <a:r>
              <a:rPr lang="hu-HU" b="1" dirty="0" err="1"/>
              <a:t>Lewin</a:t>
            </a:r>
            <a:r>
              <a:rPr lang="hu-HU" b="1" dirty="0"/>
              <a:t> - vezetői stílusok</a:t>
            </a:r>
          </a:p>
          <a:p>
            <a:pPr lvl="1"/>
            <a:r>
              <a:rPr lang="hu-HU" dirty="0"/>
              <a:t>Autokrata vezetés</a:t>
            </a:r>
          </a:p>
          <a:p>
            <a:pPr lvl="1"/>
            <a:r>
              <a:rPr lang="hu-HU" dirty="0"/>
              <a:t>Demokratikus vezetés</a:t>
            </a:r>
          </a:p>
          <a:p>
            <a:pPr lvl="1"/>
            <a:r>
              <a:rPr lang="hu-HU" dirty="0" err="1"/>
              <a:t>Laissez</a:t>
            </a:r>
            <a:r>
              <a:rPr lang="hu-HU" dirty="0"/>
              <a:t> fairé vezetés</a:t>
            </a:r>
          </a:p>
          <a:p>
            <a:r>
              <a:rPr lang="hu-HU" b="1" dirty="0" err="1"/>
              <a:t>Tannenbaum</a:t>
            </a:r>
            <a:r>
              <a:rPr lang="hu-HU" b="1" dirty="0"/>
              <a:t> és Schmidt - 1950</a:t>
            </a:r>
          </a:p>
          <a:p>
            <a:pPr lvl="1"/>
            <a:r>
              <a:rPr lang="hu-HU" dirty="0"/>
              <a:t>Hét vezetői fokozat, a döntések megosztása alapján a beosztottakkal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5DDF4B6D-192C-4A4D-BB0B-BA3AB692B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Vezetői stílusok - Autokratikus 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97391"/>
            <a:ext cx="11994969" cy="5347442"/>
          </a:xfrm>
        </p:spPr>
        <p:txBody>
          <a:bodyPr>
            <a:normAutofit lnSpcReduction="10000"/>
          </a:bodyPr>
          <a:lstStyle/>
          <a:p>
            <a:pPr lvl="1"/>
            <a:r>
              <a:rPr lang="hu-HU" b="1" dirty="0"/>
              <a:t>Önállóan döntő, munkatársai véleményét nem veszi figyelembe</a:t>
            </a:r>
          </a:p>
          <a:p>
            <a:pPr lvl="1"/>
            <a:r>
              <a:rPr lang="hu-HU" dirty="0"/>
              <a:t>Visszatartja az információkat, ezzel függőségben tartja a csoport tagjait, mert nem tudni a következő időszak történéseit</a:t>
            </a:r>
          </a:p>
          <a:p>
            <a:pPr lvl="1"/>
            <a:r>
              <a:rPr lang="hu-HU" dirty="0"/>
              <a:t>Önkényesen bíz meg tagokat, rendszertelenül utasít és jelöl ki tagokat a feladatok elvégzésére, és önkényesen értékel </a:t>
            </a:r>
          </a:p>
          <a:p>
            <a:pPr lvl="1"/>
            <a:r>
              <a:rPr lang="hu-HU" dirty="0"/>
              <a:t>Ezzel együtt a csoport teljesítménye a tekintélyelvű vezetőnél a legjobb, viszont a munkatársak itt érzik legkevésbé jól magukat</a:t>
            </a:r>
          </a:p>
          <a:p>
            <a:pPr lvl="1"/>
            <a:r>
              <a:rPr lang="hu-HU" dirty="0"/>
              <a:t>Ez érthető is, hiszen elég agresszív a tekintélyelvű módon vezetett csoport légköre, merevek és korlátozóak a szabályok, ezzel szükségletek kielégülését akadályozza meg a vezető</a:t>
            </a:r>
          </a:p>
          <a:p>
            <a:pPr lvl="1"/>
            <a:r>
              <a:rPr lang="hu-HU" dirty="0"/>
              <a:t>„Birkanyáj”, behódolás, döntésképtelenség a jellemző, ezáltal a vezető még inkább megbizonyosodik arról, hogy az adott döntéseket csak ő képes egyedül meghozni</a:t>
            </a:r>
          </a:p>
          <a:p>
            <a:pPr marL="0" indent="0">
              <a:buNone/>
            </a:pPr>
            <a:r>
              <a:rPr lang="hu-HU" dirty="0"/>
              <a:t>Kurt </a:t>
            </a:r>
            <a:r>
              <a:rPr lang="hu-HU" dirty="0" err="1"/>
              <a:t>Lewin</a:t>
            </a:r>
            <a:r>
              <a:rPr lang="hu-HU" dirty="0"/>
              <a:t> kutatása alapján az Autokratikus vezető érheti el a legmagasabb dolgozói hatékonyságot (70%), ám ez csak akkor valósul meg, amikor ő maga is jelen van a munkavégzés során (a távollétében 25% körüli a teljesítmény)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A2B793F-5C10-44CF-8E61-71BCA5BC8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2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Vezetői stílusok - Demokratikus 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88011"/>
            <a:ext cx="11919858" cy="5333461"/>
          </a:xfrm>
        </p:spPr>
        <p:txBody>
          <a:bodyPr>
            <a:normAutofit lnSpcReduction="10000"/>
          </a:bodyPr>
          <a:lstStyle/>
          <a:p>
            <a:pPr lvl="1"/>
            <a:r>
              <a:rPr lang="hu-HU" dirty="0"/>
              <a:t>A demokratikusan vezetett csapatban a vezető </a:t>
            </a:r>
            <a:r>
              <a:rPr lang="hu-HU" b="1" dirty="0"/>
              <a:t>bevonja a munkatársakat akár a célok meghatározásától a feladat befejezéséig</a:t>
            </a:r>
          </a:p>
          <a:p>
            <a:pPr lvl="1"/>
            <a:r>
              <a:rPr lang="hu-HU" dirty="0"/>
              <a:t>A csoportnak döntési, illetve választási lehetősége van. A vezető dicséretei és bírálatai objektivitásra törekednek, és figyelembe veszik a csoport véleményét is </a:t>
            </a:r>
          </a:p>
          <a:p>
            <a:pPr lvl="1"/>
            <a:r>
              <a:rPr lang="hu-HU" dirty="0"/>
              <a:t>A munkateljesítmény </a:t>
            </a:r>
            <a:r>
              <a:rPr lang="hu-HU" dirty="0" err="1"/>
              <a:t>esetenként</a:t>
            </a:r>
            <a:r>
              <a:rPr lang="hu-HU" dirty="0"/>
              <a:t> rosszabb lehet, de a megoldások gyakran kreatívabbak és a csoporttagok jobban érzik magukat, nagyobb az autonómiájuk, erősebb a biztonságérzetük</a:t>
            </a:r>
          </a:p>
          <a:p>
            <a:pPr lvl="1"/>
            <a:r>
              <a:rPr lang="hu-HU" dirty="0"/>
              <a:t>A munkatársak véleményének figyelembe vétele, a részvétel biztosítása nem jelenti azt, hogy a vezető nem követeli meg a munka elvégzését</a:t>
            </a:r>
          </a:p>
          <a:p>
            <a:pPr lvl="1"/>
            <a:r>
              <a:rPr lang="hu-HU" dirty="0"/>
              <a:t>Gyakori, hogy a demokratikus vezetői magatartás az előkészítésre, tervezésre, a problémamegoldásra, esetleg a döntés-előkészítésre vonatkozik; a megvalósítás, a számonkérés szintén része a következetes vezetői magatartásnak</a:t>
            </a:r>
          </a:p>
          <a:p>
            <a:pPr lvl="1"/>
            <a:r>
              <a:rPr lang="hu-HU" dirty="0"/>
              <a:t>A munka elvégzése a munkatárs felelőssége, a feltételek biztosítása, ellenőrzése, a munkatársak támogatása pedig a csapatvezető felelőssége</a:t>
            </a:r>
          </a:p>
          <a:p>
            <a:pPr marL="0" indent="0">
              <a:buNone/>
            </a:pPr>
            <a:r>
              <a:rPr lang="hu-HU" dirty="0"/>
              <a:t>Kurt </a:t>
            </a:r>
            <a:r>
              <a:rPr lang="hu-HU" dirty="0" err="1"/>
              <a:t>Lewin</a:t>
            </a:r>
            <a:r>
              <a:rPr lang="hu-HU" dirty="0"/>
              <a:t> kutatása alapján a demokratikus vezető stabil, 50%-os hatékonyságot érhet 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61E381B2-1CE8-45DC-A698-5FC472954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4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Vezetői stílusok - </a:t>
            </a:r>
            <a:r>
              <a:rPr lang="hu-HU" dirty="0" err="1"/>
              <a:t>Laissez</a:t>
            </a:r>
            <a:r>
              <a:rPr lang="hu-HU" dirty="0"/>
              <a:t> fairé 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949569"/>
            <a:ext cx="11919858" cy="477190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Gyakorlatilag nem vesz részt a csoport életében, magatartása „ráhagyó” jellegű</a:t>
            </a:r>
          </a:p>
          <a:p>
            <a:pPr lvl="1"/>
            <a:r>
              <a:rPr lang="hu-HU" dirty="0"/>
              <a:t>A vezető ellátja a csoportot a tevékenység elvégzéséhez szükséges anyagokkal, de a szervezéssel nem törődik, a vitát a csoportra hagyja, megerősítést nem ad</a:t>
            </a:r>
          </a:p>
          <a:p>
            <a:pPr lvl="1"/>
            <a:r>
              <a:rPr lang="hu-HU" dirty="0"/>
              <a:t>Ez a vezetési mód, csak speciális helyzetben ajánlható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Kurt </a:t>
            </a:r>
            <a:r>
              <a:rPr lang="hu-HU" dirty="0" err="1"/>
              <a:t>Lewin</a:t>
            </a:r>
            <a:r>
              <a:rPr lang="hu-HU" dirty="0"/>
              <a:t> kutatása alapján ez a stílus 33%-os hatékonyságot érhet 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1B0F0D0B-2D17-4411-A77A-BF1BC3B86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5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Vezetői stílusok - </a:t>
            </a:r>
            <a:r>
              <a:rPr lang="hu-HU" dirty="0" err="1"/>
              <a:t>Tannenbaum</a:t>
            </a:r>
            <a:r>
              <a:rPr lang="hu-HU" dirty="0"/>
              <a:t> és Schmidt felosztása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5667"/>
            <a:ext cx="12055929" cy="4935805"/>
          </a:xfrm>
        </p:spPr>
        <p:txBody>
          <a:bodyPr>
            <a:normAutofit/>
          </a:bodyPr>
          <a:lstStyle/>
          <a:p>
            <a:pPr lvl="1"/>
            <a:r>
              <a:rPr lang="hu-HU" b="1" dirty="0"/>
              <a:t>Autokratikus: </a:t>
            </a:r>
            <a:r>
              <a:rPr lang="hu-HU" dirty="0"/>
              <a:t>a vezető döntést hoz és kihirdeti azt</a:t>
            </a:r>
          </a:p>
          <a:p>
            <a:pPr lvl="1"/>
            <a:r>
              <a:rPr lang="hu-HU" b="1" dirty="0"/>
              <a:t>Patriarchális: </a:t>
            </a:r>
            <a:r>
              <a:rPr lang="hu-HU" dirty="0"/>
              <a:t>a vezető „eladja” döntését, de előtte kérdez (kulturált autokrata)</a:t>
            </a:r>
          </a:p>
          <a:p>
            <a:pPr lvl="1"/>
            <a:r>
              <a:rPr lang="hu-HU" b="1" dirty="0"/>
              <a:t>Szakértői: </a:t>
            </a:r>
            <a:r>
              <a:rPr lang="hu-HU" dirty="0"/>
              <a:t>a vezető ötleteket ad és kérdéseket provokál, a döntés elfogadása párbeszédet igényel</a:t>
            </a:r>
          </a:p>
          <a:p>
            <a:pPr lvl="1"/>
            <a:r>
              <a:rPr lang="hu-HU" b="1" dirty="0"/>
              <a:t>Tanácskozó: </a:t>
            </a:r>
            <a:r>
              <a:rPr lang="hu-HU" dirty="0"/>
              <a:t>a vezető bejelenti a döntését, de úgy, hogy azt még meg lehet változtatni a beosztottak véleménye alapján</a:t>
            </a:r>
          </a:p>
          <a:p>
            <a:pPr lvl="1"/>
            <a:r>
              <a:rPr lang="hu-HU" b="1" dirty="0"/>
              <a:t>Részvételi: </a:t>
            </a:r>
            <a:r>
              <a:rPr lang="hu-HU" dirty="0"/>
              <a:t>a vezető bemutatja a problémát, javaslatokat kér, majd azok alapján dönt</a:t>
            </a:r>
          </a:p>
          <a:p>
            <a:pPr lvl="1"/>
            <a:r>
              <a:rPr lang="hu-HU" b="1" dirty="0"/>
              <a:t>Delegáló: </a:t>
            </a:r>
            <a:r>
              <a:rPr lang="hu-HU" dirty="0"/>
              <a:t>a vezető definiálja a határokat és kéri a csoportot a döntés meghozatalára</a:t>
            </a:r>
          </a:p>
          <a:p>
            <a:pPr lvl="1"/>
            <a:r>
              <a:rPr lang="hu-HU" b="1" dirty="0"/>
              <a:t>Együttműködő: </a:t>
            </a:r>
            <a:r>
              <a:rPr lang="hu-HU" dirty="0"/>
              <a:t>a vezető koordinátorként működve megengedi, hogy a beosztottak az előírt korlátokon belül önállóan működjenek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AD882306-B925-4E31-B77E-5581EC7C9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Vezetői stílusok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10ACF8D5-6133-4DDC-9CAC-8DD915E03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475" y="1265463"/>
            <a:ext cx="10705382" cy="5381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xmlns="" id="{38F320BE-C66E-49AB-93C4-00A5150DA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25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J. </a:t>
            </a:r>
            <a:r>
              <a:rPr lang="hu-HU" dirty="0" err="1"/>
              <a:t>Adar</a:t>
            </a:r>
            <a:r>
              <a:rPr lang="hu-HU" dirty="0"/>
              <a:t> – Vezetői magatartás elemei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939" y="1837425"/>
            <a:ext cx="10899989" cy="4884047"/>
          </a:xfrm>
        </p:spPr>
        <p:txBody>
          <a:bodyPr>
            <a:normAutofit/>
          </a:bodyPr>
          <a:lstStyle/>
          <a:p>
            <a:r>
              <a:rPr lang="hu-HU" dirty="0"/>
              <a:t> Feladat meghatározása,</a:t>
            </a:r>
          </a:p>
          <a:p>
            <a:r>
              <a:rPr lang="hu-HU" dirty="0"/>
              <a:t> Tervezés,</a:t>
            </a:r>
          </a:p>
          <a:p>
            <a:r>
              <a:rPr lang="hu-HU" dirty="0"/>
              <a:t> Eligazítás,</a:t>
            </a:r>
          </a:p>
          <a:p>
            <a:r>
              <a:rPr lang="hu-HU" dirty="0"/>
              <a:t> Ellenőrzés,</a:t>
            </a:r>
          </a:p>
          <a:p>
            <a:r>
              <a:rPr lang="hu-HU" dirty="0"/>
              <a:t> Értékelés,</a:t>
            </a:r>
          </a:p>
          <a:p>
            <a:r>
              <a:rPr lang="hu-HU" dirty="0"/>
              <a:t> Motiválás,</a:t>
            </a:r>
          </a:p>
          <a:p>
            <a:r>
              <a:rPr lang="hu-HU" dirty="0"/>
              <a:t> Példamutatás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C96B9163-5A27-482B-AA27-4324119DA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5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sikertényezői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656281"/>
            <a:ext cx="11919858" cy="5065191"/>
          </a:xfrm>
        </p:spPr>
        <p:txBody>
          <a:bodyPr>
            <a:normAutofit/>
          </a:bodyPr>
          <a:lstStyle/>
          <a:p>
            <a:r>
              <a:rPr lang="hu-HU" dirty="0"/>
              <a:t>Az emberek </a:t>
            </a:r>
            <a:r>
              <a:rPr lang="hu-HU" b="1" dirty="0"/>
              <a:t>múltbeli viselkedésének megértése </a:t>
            </a:r>
            <a:r>
              <a:rPr lang="hu-HU" dirty="0"/>
              <a:t>(miért tették, amit tettek, mi motiválta, gátolta, segítette őket)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jövőbeli viselkedés meghatározása </a:t>
            </a:r>
            <a:r>
              <a:rPr lang="hu-HU" dirty="0"/>
              <a:t>(hogyan fognak viselkedni ugyanolyan körülmények között, vagy a változó környezetben)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viselkedés irányítása</a:t>
            </a:r>
            <a:r>
              <a:rPr lang="hu-HU" dirty="0"/>
              <a:t>, megváltoztatása, ellenőrzése (befolyásolás a célok elérése érdekében)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A megfelelő vezetés gyümölcse a csapat egysége, egyértelmű célok, felelősség és szerepkörök, a csapat támogatja egymást, szükség esetén rendkívüli erőfeszítés. A csapat érdeke a siker, mindenki a számára legalkalmasabb tevékenységet látja 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B05CCD4C-26D4-48F5-951A-80AC52FA1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9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vezető tulajdonságai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759789"/>
            <a:ext cx="11919858" cy="4961684"/>
          </a:xfrm>
        </p:spPr>
        <p:txBody>
          <a:bodyPr>
            <a:normAutofit/>
          </a:bodyPr>
          <a:lstStyle/>
          <a:p>
            <a:r>
              <a:rPr lang="hu-HU" b="1" dirty="0"/>
              <a:t>Fizikai</a:t>
            </a:r>
            <a:r>
              <a:rPr lang="hu-HU" dirty="0"/>
              <a:t> (egészség, életkedv)</a:t>
            </a:r>
          </a:p>
          <a:p>
            <a:r>
              <a:rPr lang="hu-HU" b="1" dirty="0"/>
              <a:t>Értelmi </a:t>
            </a:r>
            <a:r>
              <a:rPr lang="hu-HU" dirty="0"/>
              <a:t>(felfogóképesség, ésszerű gondolkodás, alkalmazkodó képesség, rugalmasság)</a:t>
            </a:r>
          </a:p>
          <a:p>
            <a:r>
              <a:rPr lang="hu-HU" b="1" dirty="0"/>
              <a:t>Erkölcsi</a:t>
            </a:r>
            <a:r>
              <a:rPr lang="hu-HU" dirty="0"/>
              <a:t> (energia, kitartás, felelősségvállalás, kezdeményező készség, lojalitás, tapintat)</a:t>
            </a:r>
          </a:p>
          <a:p>
            <a:r>
              <a:rPr lang="hu-HU" b="1" dirty="0"/>
              <a:t>Műveltség</a:t>
            </a:r>
            <a:r>
              <a:rPr lang="hu-HU" dirty="0"/>
              <a:t> (olyan tudás birtokában van, amely nem tartozik közvetlenül a munkához)</a:t>
            </a:r>
          </a:p>
          <a:p>
            <a:r>
              <a:rPr lang="hu-HU" b="1" dirty="0"/>
              <a:t>Műszaki</a:t>
            </a:r>
            <a:r>
              <a:rPr lang="hu-HU" dirty="0"/>
              <a:t> (azon dolgok ismerete, amelyek tartoznak szorosan a végzett munkához)</a:t>
            </a:r>
          </a:p>
          <a:p>
            <a:r>
              <a:rPr lang="hu-HU" b="1" dirty="0"/>
              <a:t>Tapasztalat</a:t>
            </a:r>
            <a:r>
              <a:rPr lang="hu-HU" dirty="0"/>
              <a:t> (korábbi munkából fakadóan)</a:t>
            </a:r>
          </a:p>
          <a:p>
            <a:endParaRPr lang="hu-HU" dirty="0"/>
          </a:p>
          <a:p>
            <a:r>
              <a:rPr lang="hu-HU" dirty="0"/>
              <a:t>Kommunikációs (meggyőző képesség, cél szem előtt tartása, tudás átadása)</a:t>
            </a:r>
          </a:p>
          <a:p>
            <a:r>
              <a:rPr lang="hu-HU" dirty="0"/>
              <a:t>Konfliktus kezelő (nyugodtság, racionalitás)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2A92A554-90B1-4D26-91AE-961F839E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14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Menedzser és a vezetői különbségek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graphicFrame>
        <p:nvGraphicFramePr>
          <p:cNvPr id="10" name="Táblázat 10">
            <a:extLst>
              <a:ext uri="{FF2B5EF4-FFF2-40B4-BE49-F238E27FC236}">
                <a16:creationId xmlns:a16="http://schemas.microsoft.com/office/drawing/2014/main" xmlns="" id="{0DA3B60F-3FBA-4419-95D6-732DFC728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38803"/>
              </p:ext>
            </p:extLst>
          </p:nvPr>
        </p:nvGraphicFramePr>
        <p:xfrm>
          <a:off x="487134" y="2990765"/>
          <a:ext cx="1024629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432">
                  <a:extLst>
                    <a:ext uri="{9D8B030D-6E8A-4147-A177-3AD203B41FA5}">
                      <a16:colId xmlns:a16="http://schemas.microsoft.com/office/drawing/2014/main" xmlns="" val="759613009"/>
                    </a:ext>
                  </a:extLst>
                </a:gridCol>
                <a:gridCol w="3415432">
                  <a:extLst>
                    <a:ext uri="{9D8B030D-6E8A-4147-A177-3AD203B41FA5}">
                      <a16:colId xmlns:a16="http://schemas.microsoft.com/office/drawing/2014/main" xmlns="" val="2318594218"/>
                    </a:ext>
                  </a:extLst>
                </a:gridCol>
                <a:gridCol w="3415432">
                  <a:extLst>
                    <a:ext uri="{9D8B030D-6E8A-4147-A177-3AD203B41FA5}">
                      <a16:colId xmlns:a16="http://schemas.microsoft.com/office/drawing/2014/main" xmlns="" val="751341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hu-HU" sz="2400" b="1" dirty="0"/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u-HU" sz="2400" b="1" dirty="0">
                          <a:solidFill>
                            <a:schemeClr val="tx1"/>
                          </a:solidFill>
                        </a:rPr>
                        <a:t>Szervezeti kompetencia</a:t>
                      </a:r>
                    </a:p>
                    <a:p>
                      <a:pPr algn="ctr"/>
                      <a:r>
                        <a:rPr lang="hu-HU" sz="2400" b="1" dirty="0">
                          <a:solidFill>
                            <a:schemeClr val="tx1"/>
                          </a:solidFill>
                        </a:rPr>
                        <a:t>Alacsony                      Magas  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1482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Szakértői kompetencia </a:t>
                      </a:r>
                    </a:p>
                    <a:p>
                      <a:pPr algn="ctr"/>
                      <a:r>
                        <a:rPr lang="hu-HU" sz="2400" b="1" dirty="0"/>
                        <a:t>Magas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i="1" dirty="0"/>
                        <a:t>Szakértő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i="1" dirty="0"/>
                        <a:t>Vezető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090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Alacsony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i="1" dirty="0"/>
                        <a:t>Támogató munkatárs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i="1" dirty="0"/>
                        <a:t>Menedzser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4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49599697"/>
                  </a:ext>
                </a:extLst>
              </a:tr>
            </a:tbl>
          </a:graphicData>
        </a:graphic>
      </p:graphicFrame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B884EB4-8459-4BA9-9F2D-F377D19E9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24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Menedzser és a vezetői különbségek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536159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hu-HU" sz="3200" b="1" u="sng" dirty="0"/>
              <a:t>Menedzser</a:t>
            </a:r>
          </a:p>
          <a:p>
            <a:pPr lvl="1"/>
            <a:r>
              <a:rPr lang="hu-HU" dirty="0"/>
              <a:t>célok kitűzése és megvalósítása </a:t>
            </a:r>
          </a:p>
          <a:p>
            <a:pPr lvl="1"/>
            <a:r>
              <a:rPr lang="hu-HU" dirty="0"/>
              <a:t>humán, pénzügyi és anyagi források felhasználása	 </a:t>
            </a:r>
          </a:p>
          <a:p>
            <a:pPr lvl="1"/>
            <a:r>
              <a:rPr lang="hu-HU" dirty="0"/>
              <a:t>működteti a szervezetet, mint rendszert, - a szervezet személyi és tárgyi elemeit egyaránt</a:t>
            </a:r>
          </a:p>
          <a:p>
            <a:pPr lvl="1"/>
            <a:r>
              <a:rPr lang="hu-HU" dirty="0"/>
              <a:t>racionális alapon foglalkozik a szervezeti élet olyan összetett elemeivel, </a:t>
            </a:r>
          </a:p>
          <a:p>
            <a:pPr lvl="1"/>
            <a:r>
              <a:rPr lang="hu-HU" dirty="0"/>
              <a:t>problémamegoldás, költségvetés, </a:t>
            </a:r>
            <a:r>
              <a:rPr lang="hu-HU" dirty="0" err="1"/>
              <a:t>controlling</a:t>
            </a:r>
            <a:r>
              <a:rPr lang="hu-HU" dirty="0"/>
              <a:t>, stb.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sz="3200" b="1" u="sng" dirty="0"/>
              <a:t>Vezető</a:t>
            </a:r>
          </a:p>
          <a:p>
            <a:pPr lvl="1"/>
            <a:r>
              <a:rPr lang="hu-HU" dirty="0"/>
              <a:t>személyek és csoportok befolyásolása a célok meghatározása és megvalósítása érdekében</a:t>
            </a:r>
          </a:p>
          <a:p>
            <a:pPr lvl="1"/>
            <a:r>
              <a:rPr lang="hu-HU" dirty="0"/>
              <a:t>tevékenysége az emberekre irányul</a:t>
            </a:r>
          </a:p>
          <a:p>
            <a:pPr lvl="1"/>
            <a:r>
              <a:rPr lang="hu-HU" dirty="0"/>
              <a:t>az egyént, illetve a csoportot befolyásolja, motiválja a célok érdekében</a:t>
            </a:r>
          </a:p>
          <a:p>
            <a:pPr lvl="1"/>
            <a:r>
              <a:rPr lang="hu-HU" dirty="0"/>
              <a:t>a vezetés a személyes magatartásformákról és viselkedés-mintákról szól.</a:t>
            </a:r>
          </a:p>
          <a:p>
            <a:pPr lvl="1"/>
            <a:r>
              <a:rPr lang="hu-HU" dirty="0"/>
              <a:t>érzelmekre hagyatkozik, embereket egy vízió mögé felsorakoztatni, inspirálni</a:t>
            </a:r>
          </a:p>
          <a:p>
            <a:pPr lvl="1"/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A42044D1-9FD0-4624-A7CF-5572BA9BE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6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Menedzser és a vezetői különbségek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298783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hu-HU" sz="3200" b="1" dirty="0"/>
              <a:t>Menedzser funkciók</a:t>
            </a:r>
          </a:p>
          <a:p>
            <a:pPr lvl="1"/>
            <a:r>
              <a:rPr lang="hu-HU" dirty="0"/>
              <a:t>Tervezés		</a:t>
            </a:r>
          </a:p>
          <a:p>
            <a:pPr lvl="1"/>
            <a:r>
              <a:rPr lang="hu-HU" dirty="0"/>
              <a:t>Szervezés	</a:t>
            </a:r>
          </a:p>
          <a:p>
            <a:pPr lvl="1"/>
            <a:r>
              <a:rPr lang="hu-HU" dirty="0"/>
              <a:t>Személyügyek</a:t>
            </a:r>
          </a:p>
          <a:p>
            <a:pPr lvl="1"/>
            <a:r>
              <a:rPr lang="hu-HU" dirty="0"/>
              <a:t>Irányítás</a:t>
            </a:r>
          </a:p>
          <a:p>
            <a:pPr lvl="1"/>
            <a:r>
              <a:rPr lang="hu-HU" dirty="0"/>
              <a:t>Ellenőrzés 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sz="3200" b="1" dirty="0"/>
              <a:t>Vezetői funkciók</a:t>
            </a:r>
          </a:p>
          <a:p>
            <a:pPr lvl="1"/>
            <a:r>
              <a:rPr lang="hu-HU" dirty="0"/>
              <a:t>Nevelés</a:t>
            </a:r>
          </a:p>
          <a:p>
            <a:pPr lvl="1"/>
            <a:r>
              <a:rPr lang="hu-HU" dirty="0"/>
              <a:t>Tanácsadás</a:t>
            </a:r>
          </a:p>
          <a:p>
            <a:pPr lvl="1"/>
            <a:r>
              <a:rPr lang="hu-HU" dirty="0"/>
              <a:t>Ítéletalkotás</a:t>
            </a:r>
          </a:p>
          <a:p>
            <a:pPr lvl="1"/>
            <a:r>
              <a:rPr lang="hu-HU" dirty="0"/>
              <a:t>Képviselet</a:t>
            </a:r>
          </a:p>
          <a:p>
            <a:pPr lvl="1"/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AD2B719F-5673-4DD6-95C4-DC70DF737E20}"/>
              </a:ext>
            </a:extLst>
          </p:cNvPr>
          <p:cNvSpPr txBox="1">
            <a:spLocks/>
          </p:cNvSpPr>
          <p:nvPr/>
        </p:nvSpPr>
        <p:spPr>
          <a:xfrm>
            <a:off x="136071" y="4787660"/>
            <a:ext cx="11919858" cy="1933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/>
              <a:t>A vezetés a menedzsment csupán egyik funkciója. </a:t>
            </a:r>
            <a:r>
              <a:rPr lang="hu-HU" dirty="0"/>
              <a:t>A menedzsment az a szintetizáló fogalom, amely a szervezetek életben tartását, fejlesztését, a folyamatok emberek által történő mozgásba hozását, az egyéni és szervezeti érdekek összehangolását a különböző specifikus ismeretek integrációival értelmezhetővé és célirányossá teszi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DCA3E4B6-4903-4FE0-A9CE-5EF04AEB4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84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szakértő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53615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Szeretik</a:t>
            </a:r>
          </a:p>
          <a:p>
            <a:pPr lvl="1"/>
            <a:r>
              <a:rPr lang="hu-HU" dirty="0"/>
              <a:t>a komplex problémákat, szakmájuk fejleményeit, ha szabadon kutathatnak a megoldások után</a:t>
            </a:r>
          </a:p>
          <a:p>
            <a:pPr lvl="1"/>
            <a:r>
              <a:rPr lang="hu-HU" dirty="0"/>
              <a:t>a jól felszerelt és pénzzel támogatott „laboratóriumokat”, ha 	eredményeiket elismeri és megbecsüli a közvélemény</a:t>
            </a:r>
          </a:p>
          <a:p>
            <a:pPr marL="0" indent="0">
              <a:buNone/>
            </a:pPr>
            <a:r>
              <a:rPr lang="hu-HU" dirty="0"/>
              <a:t>Idegenkednek</a:t>
            </a:r>
          </a:p>
          <a:p>
            <a:pPr lvl="1"/>
            <a:r>
              <a:rPr lang="hu-HU" dirty="0"/>
              <a:t>a személyes szabadságukat korlátozó szabályoktól, a rutinmunkától és a	bürokráciától (hajlamosak mindenben ezt látni)</a:t>
            </a:r>
          </a:p>
          <a:p>
            <a:pPr marL="0" indent="0">
              <a:buNone/>
            </a:pPr>
            <a:r>
              <a:rPr lang="hu-HU" dirty="0"/>
              <a:t>Nem törődnek</a:t>
            </a:r>
          </a:p>
          <a:p>
            <a:pPr lvl="1"/>
            <a:r>
              <a:rPr lang="hu-HU" dirty="0"/>
              <a:t>az őket alkalmazó szervezettel és azokkal a szakemberekkel, akik nem az ő szakterületükön </a:t>
            </a:r>
            <a:r>
              <a:rPr lang="hu-HU" dirty="0" err="1"/>
              <a:t>jártasak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Ritkán segítenek másoknak</a:t>
            </a:r>
          </a:p>
          <a:p>
            <a:pPr marL="0" indent="0">
              <a:buNone/>
            </a:pPr>
            <a:r>
              <a:rPr lang="hu-HU" dirty="0"/>
              <a:t>Csodálják a náluk nagyobbnak vélt szakértőt</a:t>
            </a:r>
          </a:p>
          <a:p>
            <a:pPr marL="0" indent="0">
              <a:buNone/>
            </a:pPr>
            <a:r>
              <a:rPr lang="hu-HU" dirty="0"/>
              <a:t>Semmibe veszik a hatalom-orientált embereket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BED3CF53-4A04-4729-B2D8-6FC17C392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1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támogató munkatárs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889185"/>
            <a:ext cx="11919858" cy="4832288"/>
          </a:xfrm>
        </p:spPr>
        <p:txBody>
          <a:bodyPr>
            <a:normAutofit/>
          </a:bodyPr>
          <a:lstStyle/>
          <a:p>
            <a:r>
              <a:rPr lang="hu-HU" dirty="0"/>
              <a:t>A szakértők és menedzserek munkájának segítése</a:t>
            </a:r>
          </a:p>
          <a:p>
            <a:r>
              <a:rPr lang="hu-HU" dirty="0"/>
              <a:t>Nincs saját speciális kompetenciájuk, de rendkívül </a:t>
            </a:r>
            <a:r>
              <a:rPr lang="hu-HU" dirty="0" err="1"/>
              <a:t>fontosak</a:t>
            </a:r>
            <a:r>
              <a:rPr lang="hu-HU" dirty="0"/>
              <a:t> a szervezetben</a:t>
            </a:r>
          </a:p>
          <a:p>
            <a:r>
              <a:rPr lang="hu-HU" dirty="0"/>
              <a:t>Egyre inkább menedzserré válnak</a:t>
            </a:r>
          </a:p>
          <a:p>
            <a:r>
              <a:rPr lang="hu-HU" dirty="0"/>
              <a:t>Frusztráció és megbecsülés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5B99C489-7E69-4DBD-AC4B-35500ECE4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24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Vezetői filozófia - Toyota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811547"/>
            <a:ext cx="11919858" cy="4909926"/>
          </a:xfrm>
        </p:spPr>
        <p:txBody>
          <a:bodyPr>
            <a:normAutofit/>
          </a:bodyPr>
          <a:lstStyle/>
          <a:p>
            <a:r>
              <a:rPr lang="hu-HU" dirty="0"/>
              <a:t>Bízz az emberben, bízz rá feladatot</a:t>
            </a:r>
          </a:p>
          <a:p>
            <a:r>
              <a:rPr lang="hu-HU" dirty="0"/>
              <a:t>Ismertesd a célokat az alkotóképesség ösztönzésére</a:t>
            </a:r>
          </a:p>
          <a:p>
            <a:r>
              <a:rPr lang="hu-HU" dirty="0"/>
              <a:t>Képezz ki vezetőket, hogy a csapatmunka teljesítményét növeld!</a:t>
            </a:r>
          </a:p>
          <a:p>
            <a:r>
              <a:rPr lang="hu-HU" dirty="0"/>
              <a:t>Mindenkivel alakíts ki jó viszonyt!</a:t>
            </a:r>
          </a:p>
          <a:p>
            <a:r>
              <a:rPr lang="hu-HU" dirty="0"/>
              <a:t>Értsd meg a dolgozók viselkedését!</a:t>
            </a:r>
          </a:p>
          <a:p>
            <a:r>
              <a:rPr lang="hu-HU" dirty="0"/>
              <a:t>Tudatosítsd a vállalat oktatás és a továbbképzés iránti elkötelezettségedet!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8DC155C-BCF0-4DAF-BA4D-0605214A2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8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alapfunkciói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759789"/>
            <a:ext cx="11919858" cy="4961684"/>
          </a:xfrm>
        </p:spPr>
        <p:txBody>
          <a:bodyPr>
            <a:normAutofit/>
          </a:bodyPr>
          <a:lstStyle/>
          <a:p>
            <a:r>
              <a:rPr lang="hu-HU" b="1" dirty="0"/>
              <a:t>Tervezés</a:t>
            </a:r>
            <a:r>
              <a:rPr lang="hu-HU" dirty="0"/>
              <a:t> – célok meghatározása, tényleges és kívánatos helyzet közötti különbség elemzése, célok elérését segítő, illetve hátráltató tényezők felismerése, kutatása. Tevékenység sor megtervezése. A tervek hierarchiába rendelése és végrehajtása</a:t>
            </a:r>
          </a:p>
          <a:p>
            <a:endParaRPr lang="hu-HU" b="1" dirty="0"/>
          </a:p>
          <a:p>
            <a:r>
              <a:rPr lang="hu-HU" b="1" dirty="0"/>
              <a:t>Szervezés</a:t>
            </a:r>
            <a:r>
              <a:rPr lang="hu-HU" dirty="0"/>
              <a:t> - A szervezeti célok és a megvalósításukat célzó tervek ismeretében a vezetőknek olyan folyamatok és szervezeti felépítés kialakítására és megvalósítására kell törekedniük, amelyek képesek azokat sikeresen végrehajtani. A szervezés olyan struktúra fejlesztő tevékenység, amely valamilyen cél hatékony és eredményes elérése, végrehajtása érdekében konkrét erőforrásokat és tevékenységeket rendel egymáshoz és hangol össze. E struktúrafejlesztő tevékenység irányulhat a szervezetben zajló folyamatokra és szervezet felépítésére is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654D8013-6919-4E03-8D04-3C6130B20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17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alapfunkciói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742535"/>
            <a:ext cx="11919858" cy="4978937"/>
          </a:xfrm>
        </p:spPr>
        <p:txBody>
          <a:bodyPr>
            <a:normAutofit/>
          </a:bodyPr>
          <a:lstStyle/>
          <a:p>
            <a:r>
              <a:rPr lang="hu-HU" b="1" dirty="0"/>
              <a:t>Kommunikáció</a:t>
            </a:r>
            <a:r>
              <a:rPr lang="hu-HU" dirty="0"/>
              <a:t> - Személyes vezetés - </a:t>
            </a:r>
            <a:r>
              <a:rPr lang="hu-HU" dirty="0" err="1"/>
              <a:t>Mintzberg</a:t>
            </a:r>
            <a:r>
              <a:rPr lang="hu-HU" dirty="0"/>
              <a:t> (1973) vizsgálatokra alapozva kimutatta, hogy a vezetők munkájának döntő hányada lényegében kommunikációval, hírek, értesülések és információk közlésével, illetve fogadásával telik. Szóbeli, írott és elektronikus kommunikáció. A kommunikáció és a szervezet között szerves kölcsönhatás érvényesül. A szervezeti kommunikáció soha sem korlátozódik azonban csupán a formális csatornákra; a tényleges kommunikációs hálózat mindig kiegészül informális csatornákkal is. A sikeres kommunikációt számos tényező akadályozza: eltérő értelmezés, bizalomhiány, észlelési -érzékelési korlátok, érzelmek, érdekek, értékek</a:t>
            </a:r>
          </a:p>
          <a:p>
            <a:endParaRPr lang="hu-HU" b="1" dirty="0"/>
          </a:p>
          <a:p>
            <a:r>
              <a:rPr lang="hu-HU" b="1" dirty="0"/>
              <a:t>Személyes vezetés </a:t>
            </a:r>
            <a:r>
              <a:rPr lang="hu-HU" dirty="0"/>
              <a:t>- A célok, tervek ismeretében a térben és időben egymáshoz rendelt erőforrásokat mozgásba kell hozni. A vezetőnek mozgósítani kell a szervezeti erőforrások legkevésbé kiszámítható elemét: az emberi erőforrást. A személyes vezetés további elemekre bontható: a kommunikációra, a megfelelő vezetési stílus megválasztására és a motiválásra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DFEE6C16-B8BB-481F-85CA-469B99AAC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73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irányelvei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802921"/>
            <a:ext cx="11919858" cy="491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A vezetőknek stílusuk van</a:t>
            </a:r>
          </a:p>
          <a:p>
            <a:pPr marL="0" indent="0">
              <a:buNone/>
            </a:pPr>
            <a:r>
              <a:rPr lang="hu-HU" dirty="0"/>
              <a:t>2. A vezetők döntéseiket intuícióra és tényekre alapozzák</a:t>
            </a:r>
          </a:p>
          <a:p>
            <a:pPr marL="0" indent="0">
              <a:buNone/>
            </a:pPr>
            <a:r>
              <a:rPr lang="hu-HU" dirty="0"/>
              <a:t>3. A vezetők: -erőforrás,-edző, -segítő </a:t>
            </a:r>
          </a:p>
          <a:p>
            <a:pPr marL="0" indent="0">
              <a:buNone/>
            </a:pPr>
            <a:r>
              <a:rPr lang="hu-HU" dirty="0"/>
              <a:t>4. A vezetők aktívan bekapcsolódnak a folyamatba</a:t>
            </a:r>
          </a:p>
          <a:p>
            <a:pPr marL="0" indent="0">
              <a:buNone/>
            </a:pPr>
            <a:r>
              <a:rPr lang="hu-HU" dirty="0"/>
              <a:t>5. A vezetők elkötelezettségre nevelnek</a:t>
            </a:r>
          </a:p>
          <a:p>
            <a:pPr marL="0" indent="0">
              <a:buNone/>
            </a:pPr>
            <a:r>
              <a:rPr lang="hu-HU" dirty="0"/>
              <a:t>6. A vezetők bizalom keltőek. Mindenkiből a lehető legjobbat hozzák ki, és személyes fejlődésre buzdítanak</a:t>
            </a:r>
          </a:p>
          <a:p>
            <a:pPr marL="0" indent="0">
              <a:buNone/>
            </a:pPr>
            <a:r>
              <a:rPr lang="hu-HU" dirty="0"/>
              <a:t>7. A vezetők tudnak köszönetet mondani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C4E9FE33-EB06-45F7-8AD7-B9D7FB021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79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vezetés személyiségjegyei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601557"/>
            <a:ext cx="11919858" cy="5119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 Újabb és jobb vezetőket nevel ki maga körül</a:t>
            </a:r>
          </a:p>
          <a:p>
            <a:pPr marL="0" indent="0">
              <a:buNone/>
            </a:pPr>
            <a:r>
              <a:rPr lang="hu-HU" dirty="0"/>
              <a:t>2.  A vevőre összpontosít</a:t>
            </a:r>
          </a:p>
          <a:p>
            <a:pPr marL="0" indent="0">
              <a:buNone/>
            </a:pPr>
            <a:r>
              <a:rPr lang="hu-HU" dirty="0"/>
              <a:t>3.  Tudja, mikor kell tanítani és mikor ítélkezni</a:t>
            </a:r>
          </a:p>
          <a:p>
            <a:pPr marL="0" indent="0">
              <a:buNone/>
            </a:pPr>
            <a:r>
              <a:rPr lang="hu-HU" dirty="0"/>
              <a:t>4. Elhárítja az akadályokat az elől, hogy a munka örömet okozzon</a:t>
            </a:r>
          </a:p>
          <a:p>
            <a:pPr marL="0" indent="0">
              <a:buNone/>
            </a:pPr>
            <a:r>
              <a:rPr lang="hu-HU" dirty="0"/>
              <a:t>5.  Megérti a lehetséges eltéréseket</a:t>
            </a:r>
          </a:p>
          <a:p>
            <a:pPr marL="0" indent="0">
              <a:buNone/>
            </a:pPr>
            <a:r>
              <a:rPr lang="hu-HU" dirty="0"/>
              <a:t>6.  Munkálkodik a különböző rendszerek javításán</a:t>
            </a:r>
          </a:p>
          <a:p>
            <a:pPr marL="0" indent="0">
              <a:buNone/>
            </a:pPr>
            <a:r>
              <a:rPr lang="hu-HU" dirty="0"/>
              <a:t>7.  Bizalmat teremt</a:t>
            </a:r>
          </a:p>
          <a:p>
            <a:pPr marL="0" indent="0">
              <a:buNone/>
            </a:pPr>
            <a:r>
              <a:rPr lang="hu-HU" dirty="0"/>
              <a:t>8.  Megbocsátja a hibákat</a:t>
            </a:r>
          </a:p>
          <a:p>
            <a:pPr marL="0" indent="0">
              <a:buNone/>
            </a:pPr>
            <a:r>
              <a:rPr lang="hu-HU" dirty="0"/>
              <a:t>9.  Odafigyel</a:t>
            </a:r>
          </a:p>
          <a:p>
            <a:pPr marL="0" indent="0">
              <a:buNone/>
            </a:pPr>
            <a:r>
              <a:rPr lang="hu-HU" dirty="0"/>
              <a:t>10.  Szüntelenül gyarapítja a saját műveltségét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5573187B-09C8-4619-807B-51AD354C4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39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modern vezetés kulcsfunkciói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1538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 err="1"/>
              <a:t>McKinsey</a:t>
            </a:r>
            <a:r>
              <a:rPr lang="hu-HU" b="1" dirty="0"/>
              <a:t> intézet felmérése</a:t>
            </a:r>
          </a:p>
          <a:p>
            <a:pPr lvl="1"/>
            <a:r>
              <a:rPr lang="hu-HU" dirty="0"/>
              <a:t>81 vállalat vett részt (7.500 – 300.000 alkalmazott cégenként)</a:t>
            </a:r>
          </a:p>
          <a:p>
            <a:pPr lvl="1"/>
            <a:r>
              <a:rPr lang="hu-HU" dirty="0"/>
              <a:t>20 féle vezetői viselkedés közül kutatták a 4 legfontosabb vezetői tulajdonságot a hatékonyság érdekében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60EFCAFF-2777-4B7B-AD27-CBBFA6056B6B}"/>
              </a:ext>
            </a:extLst>
          </p:cNvPr>
          <p:cNvSpPr txBox="1">
            <a:spLocks/>
          </p:cNvSpPr>
          <p:nvPr/>
        </p:nvSpPr>
        <p:spPr>
          <a:xfrm>
            <a:off x="136071" y="2837008"/>
            <a:ext cx="11919858" cy="3943620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4352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u="sng" dirty="0">
                <a:solidFill>
                  <a:srgbClr val="FF0000"/>
                </a:solidFill>
              </a:rPr>
              <a:t>Légy támogató</a:t>
            </a:r>
          </a:p>
          <a:p>
            <a:r>
              <a:rPr lang="hu-HU" dirty="0"/>
              <a:t>Mutass példát a változással járó nehéz időkben</a:t>
            </a:r>
          </a:p>
          <a:p>
            <a:r>
              <a:rPr lang="hu-HU" dirty="0"/>
              <a:t>Tisztázd a célokat, jutalmakat és következményeket</a:t>
            </a:r>
          </a:p>
          <a:p>
            <a:r>
              <a:rPr lang="hu-HU" dirty="0"/>
              <a:t>Kommunikálj sokat és lelkesen</a:t>
            </a:r>
          </a:p>
          <a:p>
            <a:r>
              <a:rPr lang="hu-HU" dirty="0"/>
              <a:t>Fejlessz másokat</a:t>
            </a:r>
          </a:p>
          <a:p>
            <a:r>
              <a:rPr lang="hu-HU" dirty="0"/>
              <a:t>Fogalmazd meg a csapat küldetését és kommunikáld</a:t>
            </a:r>
          </a:p>
          <a:p>
            <a:r>
              <a:rPr lang="hu-HU" dirty="0"/>
              <a:t>Tégy különbséget a követők között</a:t>
            </a:r>
          </a:p>
          <a:p>
            <a:r>
              <a:rPr lang="hu-HU" dirty="0"/>
              <a:t>Segítsd a csapat együttműködését</a:t>
            </a:r>
          </a:p>
          <a:p>
            <a:r>
              <a:rPr lang="hu-HU" dirty="0"/>
              <a:t>Erősítsd a tagok közötti kölcsönös tiszteletet</a:t>
            </a:r>
          </a:p>
          <a:p>
            <a:r>
              <a:rPr lang="hu-HU" dirty="0"/>
              <a:t>Adj dicséretet</a:t>
            </a:r>
          </a:p>
          <a:p>
            <a:r>
              <a:rPr lang="hu-HU" dirty="0"/>
              <a:t>Érd el, hogy a </a:t>
            </a:r>
            <a:r>
              <a:rPr lang="hu-HU" dirty="0" err="1"/>
              <a:t>csapatod</a:t>
            </a:r>
            <a:r>
              <a:rPr lang="hu-HU" dirty="0"/>
              <a:t> mindig szervezett legyen és a feladatokra fókuszáljon</a:t>
            </a:r>
          </a:p>
          <a:p>
            <a:r>
              <a:rPr lang="hu-HU" dirty="0"/>
              <a:t>Hozz minőségi döntéseket</a:t>
            </a:r>
          </a:p>
          <a:p>
            <a:r>
              <a:rPr lang="hu-HU" dirty="0"/>
              <a:t>Motiválj és hozd ki mindenkiből a legjobbat</a:t>
            </a:r>
          </a:p>
          <a:p>
            <a:r>
              <a:rPr lang="hu-HU" dirty="0"/>
              <a:t>Kínálj fejlesztő szándékú kritikát a tagoknak</a:t>
            </a:r>
          </a:p>
          <a:p>
            <a:r>
              <a:rPr lang="hu-HU" b="1" u="sng" dirty="0">
                <a:solidFill>
                  <a:srgbClr val="FF0000"/>
                </a:solidFill>
              </a:rPr>
              <a:t>Legyen benned erős az eredményorientáltság</a:t>
            </a:r>
          </a:p>
          <a:p>
            <a:r>
              <a:rPr lang="hu-HU" dirty="0"/>
              <a:t>Pozitívan állj fel a kudarcokból</a:t>
            </a:r>
          </a:p>
          <a:p>
            <a:r>
              <a:rPr lang="hu-HU" dirty="0"/>
              <a:t>Bizonytalan körülmények között is maradj magabiztos</a:t>
            </a:r>
          </a:p>
          <a:p>
            <a:r>
              <a:rPr lang="hu-HU" dirty="0"/>
              <a:t>Viselkedésed legyen összhangban a szervezeti értékekkel</a:t>
            </a:r>
          </a:p>
          <a:p>
            <a:r>
              <a:rPr lang="hu-HU" b="1" u="sng" dirty="0">
                <a:solidFill>
                  <a:srgbClr val="FF0000"/>
                </a:solidFill>
              </a:rPr>
              <a:t>Keress különböző nézőpontokat</a:t>
            </a:r>
          </a:p>
          <a:p>
            <a:r>
              <a:rPr lang="hu-HU" b="1" u="sng" dirty="0">
                <a:solidFill>
                  <a:srgbClr val="FF0000"/>
                </a:solidFill>
              </a:rPr>
              <a:t>Légy hatékony a probléma megoldásban</a:t>
            </a:r>
          </a:p>
          <a:p>
            <a:endParaRPr lang="hu-HU" sz="1200" dirty="0"/>
          </a:p>
          <a:p>
            <a:endParaRPr lang="hu-HU" sz="1200" dirty="0"/>
          </a:p>
          <a:p>
            <a:r>
              <a:rPr lang="hu-HU" sz="1200" dirty="0"/>
              <a:t>Forrás: https://forlong.hu/2017/11/vezetoi-hatekonysag/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08FBD904-F0CD-4DE3-B14A-DB185BEC1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61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modern vezetés kulcsfunkciói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53615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Problémamegoldás</a:t>
            </a:r>
          </a:p>
          <a:p>
            <a:pPr lvl="1"/>
            <a:r>
              <a:rPr lang="hu-HU" dirty="0"/>
              <a:t>A frontvonali vezetők mindennapi élete a problémamegoldásról szól. A jó problémamegoldás tanulható, tanulandó. A PDCA gondolkodás (</a:t>
            </a:r>
            <a:r>
              <a:rPr lang="hu-HU" dirty="0" err="1"/>
              <a:t>plan-do-check-act</a:t>
            </a:r>
            <a:r>
              <a:rPr lang="hu-HU" dirty="0"/>
              <a:t>) mellett a vezetőknek ma már </a:t>
            </a:r>
            <a:r>
              <a:rPr lang="hu-HU" b="1" dirty="0"/>
              <a:t>rendszerekben, folyamatokban is kell tudniuk gondolkozni</a:t>
            </a:r>
            <a:r>
              <a:rPr lang="hu-HU" dirty="0"/>
              <a:t>!</a:t>
            </a:r>
          </a:p>
          <a:p>
            <a:pPr lvl="2"/>
            <a:r>
              <a:rPr lang="hu-HU" dirty="0"/>
              <a:t>Tervezés</a:t>
            </a:r>
          </a:p>
          <a:p>
            <a:pPr lvl="2"/>
            <a:r>
              <a:rPr lang="hu-HU" dirty="0"/>
              <a:t>Cselekvés</a:t>
            </a:r>
          </a:p>
          <a:p>
            <a:pPr lvl="2"/>
            <a:r>
              <a:rPr lang="hu-HU" dirty="0"/>
              <a:t>Ellenőrzés</a:t>
            </a:r>
          </a:p>
          <a:p>
            <a:pPr lvl="2"/>
            <a:r>
              <a:rPr lang="hu-HU" dirty="0"/>
              <a:t>Helyesbítő lépések megtétele</a:t>
            </a:r>
          </a:p>
          <a:p>
            <a:pPr marL="0" indent="0">
              <a:buNone/>
            </a:pPr>
            <a:r>
              <a:rPr lang="hu-HU" b="1" dirty="0"/>
              <a:t>Eredményorientáltság</a:t>
            </a:r>
          </a:p>
          <a:p>
            <a:pPr lvl="1"/>
            <a:r>
              <a:rPr lang="hu-HU" dirty="0"/>
              <a:t>Fontos elvárás, hogy a vezetők szeme előtt a szervezet jövőképe lebegjen. A jövőképet kommunikálják a dolgozók felé, azokat napi célokká bontsák le és gondolkodjanak azok végrehajtásáról. Bármely terv csak annyit ér, amennyit megvalósítanak belőle</a:t>
            </a:r>
          </a:p>
          <a:p>
            <a:pPr lvl="1"/>
            <a:r>
              <a:rPr lang="hu-HU" dirty="0"/>
              <a:t>Napjainkban a vállalati siker alapfeltétele a folyamatos fejlődésre való igény, amely a </a:t>
            </a:r>
            <a:r>
              <a:rPr lang="hu-HU" b="1" dirty="0"/>
              <a:t>vezetői elköteleződés</a:t>
            </a:r>
            <a:r>
              <a:rPr lang="hu-HU" dirty="0"/>
              <a:t>sel és </a:t>
            </a:r>
            <a:r>
              <a:rPr lang="hu-HU" b="1" dirty="0"/>
              <a:t>példamutatás</a:t>
            </a:r>
            <a:r>
              <a:rPr lang="hu-HU" dirty="0"/>
              <a:t>sal kezdődik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6858B492-45CD-42D6-ABFC-1A14663AB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19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modern vezetés kulcsfunkciói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7"/>
            <a:ext cx="11919858" cy="5361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b="1" dirty="0"/>
              <a:t>Különböző nézőpontokból való szemlélet</a:t>
            </a:r>
          </a:p>
          <a:p>
            <a:pPr lvl="1"/>
            <a:r>
              <a:rPr lang="hu-HU" dirty="0"/>
              <a:t>A hatékony vezetők több szempontot is figyelembe vesznek, hogy kiváló eredményeket érjenek el. Fontos bevonni a szervezet különböző részein dolgozók meglátásait, javaslatait a hatékonyság fejlesztésébe. Ugyanilyen fontos, hogy a vezetők tisztában legyenek a piaci tendenciákkal is!</a:t>
            </a:r>
          </a:p>
          <a:p>
            <a:pPr lvl="2"/>
            <a:r>
              <a:rPr lang="hu-HU" dirty="0"/>
              <a:t>Folyamatos környezet és a vállalat működését befolyásoló tényezők vizsgálata</a:t>
            </a:r>
          </a:p>
          <a:p>
            <a:pPr lvl="2"/>
            <a:r>
              <a:rPr lang="hu-HU" dirty="0"/>
              <a:t>Nyitott szemmel történő vezetés, a hatékonyság lehetőségeinek kutatása</a:t>
            </a:r>
          </a:p>
          <a:p>
            <a:pPr lvl="2"/>
            <a:r>
              <a:rPr lang="hu-HU" dirty="0"/>
              <a:t>Dolgozók, csapat bevonása a döntéshozásba</a:t>
            </a:r>
          </a:p>
          <a:p>
            <a:pPr lvl="2"/>
            <a:r>
              <a:rPr lang="hu-HU" dirty="0"/>
              <a:t>Szakértők bevonása a döntéshozásba, amennyiben szükséges</a:t>
            </a:r>
          </a:p>
          <a:p>
            <a:pPr lvl="1"/>
            <a:r>
              <a:rPr lang="hu-HU" dirty="0"/>
              <a:t>A mai komplex tevékenységet ellátó vállalatokban a vezetők már nem érthetnek minden területhez tökéletesen, éppen ezért nagyon fontos, hogy a döntéshozás során kikérjék a megfelelő emberek véleményét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B1389E0F-C0D8-46D8-A5F5-930E3102F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04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modern vezetés kulcsfunkciói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656281"/>
            <a:ext cx="11919858" cy="5065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b="1" dirty="0"/>
              <a:t>Támogató hozzáállás, támogató viselkedés</a:t>
            </a:r>
          </a:p>
          <a:p>
            <a:pPr lvl="1"/>
            <a:r>
              <a:rPr lang="hu-HU" dirty="0"/>
              <a:t>A vezetőknek magas fokú érzelmi intelligenciával kell rendelkezniük</a:t>
            </a:r>
          </a:p>
          <a:p>
            <a:pPr lvl="1"/>
            <a:r>
              <a:rPr lang="hu-HU" dirty="0"/>
              <a:t>Őszinte érdeklődést kell mutatniuk a dolgozók aggodalmai, javaslatai iránt, kihívások elé kell őket állítani, hogy a szervezet kiváló eredményeket érjen el, de a dolgozóknak meg legyen a pszichológiai biztonság érzetük</a:t>
            </a:r>
          </a:p>
          <a:p>
            <a:pPr lvl="1"/>
            <a:r>
              <a:rPr lang="hu-HU" dirty="0"/>
              <a:t>A vezető feladata, hogy megteremtse a munkához szükséges környezetet és erőforrásokat</a:t>
            </a:r>
          </a:p>
          <a:p>
            <a:pPr lvl="2"/>
            <a:r>
              <a:rPr lang="hu-HU" dirty="0"/>
              <a:t>Lehetőséget biztosít a csapat tudásának kibontakozására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61956280-4665-489C-81F5-5D3E5CC05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21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Támogató 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6"/>
            <a:ext cx="11919858" cy="5444197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projektek és a menedzsment tevékenységek elterjedésével egyre több területen jelenik meg a támogató vezetők fogalma</a:t>
            </a:r>
          </a:p>
          <a:p>
            <a:pPr lvl="1"/>
            <a:r>
              <a:rPr lang="hu-HU" dirty="0"/>
              <a:t>A vezető nem határoz meg konkrét feladatokat a dolgozók számára</a:t>
            </a:r>
          </a:p>
          <a:p>
            <a:pPr lvl="1"/>
            <a:r>
              <a:rPr lang="hu-HU" dirty="0"/>
              <a:t>A vezető feladata, hogy biztosítson a dolgozok számára minden eszközt, amely a feladatok sikeres elvégzéséhez szükséges</a:t>
            </a:r>
          </a:p>
          <a:p>
            <a:pPr lvl="1"/>
            <a:r>
              <a:rPr lang="hu-HU" dirty="0"/>
              <a:t>A cél a dolgozók tudásának bővítése, a feladatok megoldásán keresztül egészen addig amíg a menedzsernek már nem kell tartania a feladatok hibás elvégzésétől</a:t>
            </a:r>
          </a:p>
          <a:p>
            <a:r>
              <a:rPr lang="hu-HU" dirty="0"/>
              <a:t>A támogató vezetés három alapfunkciója,</a:t>
            </a:r>
          </a:p>
          <a:p>
            <a:pPr lvl="1"/>
            <a:r>
              <a:rPr lang="hu-HU" dirty="0"/>
              <a:t>Érzelmek kezelése</a:t>
            </a:r>
          </a:p>
          <a:p>
            <a:pPr lvl="1"/>
            <a:r>
              <a:rPr lang="hu-HU" dirty="0"/>
              <a:t>Folyamatos fejlődés, oktatás</a:t>
            </a:r>
          </a:p>
          <a:p>
            <a:pPr lvl="1"/>
            <a:r>
              <a:rPr lang="hu-HU" dirty="0"/>
              <a:t>Idő</a:t>
            </a:r>
          </a:p>
          <a:p>
            <a:r>
              <a:rPr lang="hu-HU" dirty="0"/>
              <a:t>A támogató vezető odafigyel a dolgozókra, segít a problémáik megoldásában (akár lelki), konfliktust kezel, magas érzelmi intelligenciával és kommunikációs képességekkel bír</a:t>
            </a:r>
          </a:p>
          <a:p>
            <a:r>
              <a:rPr lang="hu-HU" dirty="0"/>
              <a:t>A támogató vezetés alapja a folyamatos kommunikáció, iteratív (életciklus alapú) munkakörnyezet, a napi beszámolók, rugalmas vállalati környezet, elkötelezettség, a kölcsönös felfogás, hogy mindenkinek érdeke a feladatokkal való precíz előrehaladás, amelyek megoldásában a vezető segít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1F5C889-DEB9-4354-A4C4-8F475FFE0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53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Rezonáns 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59876"/>
            <a:ext cx="11919858" cy="5498124"/>
          </a:xfrm>
        </p:spPr>
        <p:txBody>
          <a:bodyPr>
            <a:normAutofit/>
          </a:bodyPr>
          <a:lstStyle/>
          <a:p>
            <a:r>
              <a:rPr lang="hu-HU" dirty="0"/>
              <a:t>Hasonlóan a támogató vezetőhöz a rezonáns vezető is egyre inkább a napjainkban terjedő fogalom</a:t>
            </a:r>
          </a:p>
          <a:p>
            <a:pPr lvl="1"/>
            <a:r>
              <a:rPr lang="hu-HU" dirty="0"/>
              <a:t>Alapja az egyre inkább emberközpontú és rugalmas vállalati vezetés</a:t>
            </a:r>
          </a:p>
          <a:p>
            <a:pPr lvl="1"/>
            <a:r>
              <a:rPr lang="hu-HU" dirty="0"/>
              <a:t>A dolgozók igényeinek, testi, lelki épségének szem előtt tartása</a:t>
            </a:r>
          </a:p>
          <a:p>
            <a:pPr lvl="1"/>
            <a:r>
              <a:rPr lang="hu-HU" dirty="0"/>
              <a:t>A dolgozók bevonása, változásra, fejlődésre való felkészítése</a:t>
            </a:r>
          </a:p>
          <a:p>
            <a:r>
              <a:rPr lang="hu-HU" dirty="0"/>
              <a:t>A rezonáns vezetőnek lenni egy képesség,</a:t>
            </a:r>
          </a:p>
          <a:p>
            <a:pPr lvl="1"/>
            <a:r>
              <a:rPr lang="hu-HU" dirty="0"/>
              <a:t>A rezonáns vezető döntéseinek meghozatala előtt megvizsgálja a döntésének lehetséges kimeneteleit, nem csak saját, hanem a dolgozók és egyéb érintettek szemszögéből is</a:t>
            </a:r>
          </a:p>
          <a:p>
            <a:pPr lvl="1"/>
            <a:r>
              <a:rPr lang="hu-HU" dirty="0"/>
              <a:t>Célja, hogy mindenki szempontjából a lehető legjobb, legkevesebb kompromisszummal járó döntést hozza</a:t>
            </a:r>
          </a:p>
          <a:p>
            <a:r>
              <a:rPr lang="hu-HU" dirty="0"/>
              <a:t>A rezonáns vezetés alapja a szervezeti környezet és a stakeholderek széleskörű ismerete,</a:t>
            </a:r>
          </a:p>
          <a:p>
            <a:pPr lvl="1"/>
            <a:r>
              <a:rPr lang="hu-HU" dirty="0"/>
              <a:t>A döntés hatásainak vizsgálatára </a:t>
            </a:r>
            <a:r>
              <a:rPr lang="hu-HU"/>
              <a:t>energia ráfordítás</a:t>
            </a:r>
            <a:endParaRPr lang="hu-HU" dirty="0"/>
          </a:p>
          <a:p>
            <a:pPr lvl="1"/>
            <a:r>
              <a:rPr lang="hu-HU" dirty="0"/>
              <a:t>Tényeken alapuló döntéshozás, a döntés szükségességének megfelelő kommunikálása</a:t>
            </a:r>
          </a:p>
          <a:p>
            <a:pPr lvl="1"/>
            <a:r>
              <a:rPr lang="hu-HU" dirty="0"/>
              <a:t>A dolgozók bevonása a döntéshozásba, a lehetőségek mérlegelésébe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8FCE1DEA-D575-4233-B76D-040A15643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3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jövőbeli viselkedés vizsgálata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vezető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490F52D6-CA6A-47CA-A5C8-21B7BD4E4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298" y="1295690"/>
            <a:ext cx="10930455" cy="5449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4290375-66E7-4627-A797-07B8C0B63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4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>
                <a:solidFill>
                  <a:srgbClr val="00B0F0"/>
                </a:solidFill>
              </a:rPr>
              <a:t>Köszönöm a figyelmet!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2436</Words>
  <Application>Microsoft Office PowerPoint</Application>
  <PresentationFormat>Szélesvásznú</PresentationFormat>
  <Paragraphs>323</Paragraphs>
  <Slides>31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Office-téma</vt:lpstr>
      <vt:lpstr>A vezető</vt:lpstr>
      <vt:lpstr>Tartalomjegyzék</vt:lpstr>
      <vt:lpstr>A vezetés értelmezése</vt:lpstr>
      <vt:lpstr>A vezetés célja</vt:lpstr>
      <vt:lpstr>A vezetői stílus</vt:lpstr>
      <vt:lpstr>Vezetői stílusok - Autokratikus vezető</vt:lpstr>
      <vt:lpstr>Vezetői stílusok - Demokratikus vezető</vt:lpstr>
      <vt:lpstr>Vezetői stílusok - Laissez fairé vezető</vt:lpstr>
      <vt:lpstr>Vezetői stílusok - Tannenbaum és Schmidt felosztása</vt:lpstr>
      <vt:lpstr>Vezetői stílusok</vt:lpstr>
      <vt:lpstr>J. Adar – Vezetői magatartás elemei</vt:lpstr>
      <vt:lpstr>A vezetés sikertényezői</vt:lpstr>
      <vt:lpstr>A vezető tulajdonságai</vt:lpstr>
      <vt:lpstr>Menedzser és a vezetői különbségek</vt:lpstr>
      <vt:lpstr>Menedzser és a vezetői különbségek</vt:lpstr>
      <vt:lpstr>Menedzser és a vezetői különbségek</vt:lpstr>
      <vt:lpstr>A szakértő</vt:lpstr>
      <vt:lpstr>A támogató munkatárs</vt:lpstr>
      <vt:lpstr>Vezetői filozófia - Toyota</vt:lpstr>
      <vt:lpstr>A vezetés alapfunkciói</vt:lpstr>
      <vt:lpstr>A vezetés alapfunkciói</vt:lpstr>
      <vt:lpstr>A vezetés irányelvei</vt:lpstr>
      <vt:lpstr>A vezetés személyiségjegyei</vt:lpstr>
      <vt:lpstr>A modern vezetés kulcsfunkciói</vt:lpstr>
      <vt:lpstr>A modern vezetés kulcsfunkciói</vt:lpstr>
      <vt:lpstr>A modern vezetés kulcsfunkciói</vt:lpstr>
      <vt:lpstr>A modern vezetés kulcsfunkciói</vt:lpstr>
      <vt:lpstr>Támogató vezető</vt:lpstr>
      <vt:lpstr>Rezonáns vezető</vt:lpstr>
      <vt:lpstr>A jövőbeli viselkedés vizsgálata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vezető</dc:title>
  <dc:creator>MMI</dc:creator>
  <cp:lastModifiedBy>Gombaszögi Ildikó</cp:lastModifiedBy>
  <cp:revision>50</cp:revision>
  <dcterms:created xsi:type="dcterms:W3CDTF">2021-01-18T18:03:07Z</dcterms:created>
  <dcterms:modified xsi:type="dcterms:W3CDTF">2023-08-29T15:15:14Z</dcterms:modified>
</cp:coreProperties>
</file>