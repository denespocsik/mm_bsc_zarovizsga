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97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98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300" r:id="rId33"/>
    <p:sldId id="296" r:id="rId34"/>
    <p:sldId id="299" r:id="rId35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A360"/>
    <a:srgbClr val="8F8F8F"/>
    <a:srgbClr val="88944D"/>
    <a:srgbClr val="3433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Közepesen sötét stílus 2 – 6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74" autoAdjust="0"/>
    <p:restoredTop sz="96370" autoAdjust="0"/>
  </p:normalViewPr>
  <p:slideViewPr>
    <p:cSldViewPr snapToGrid="0">
      <p:cViewPr varScale="1">
        <p:scale>
          <a:sx n="58" d="100"/>
          <a:sy n="58" d="100"/>
        </p:scale>
        <p:origin x="102" y="5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19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9E53D2-A48E-4C9B-B410-1E4D72DE286B}" type="datetimeFigureOut">
              <a:rPr lang="hu-HU" smtClean="0"/>
              <a:t>2023. 08. 29.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FF073B-6FBE-4398-99B6-4AAC91B062C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19637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750C139D-3168-4490-BB9C-BC38A0EA8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xmlns="" id="{E8B206B0-EEE6-4BFD-858B-14AAFB8C86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15EFD624-2362-4233-AA2E-58D3AB2C1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2A2B3-E014-4A2E-A550-0FC801CC6702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D81589B6-0D22-495A-8AA4-804DAD7FD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71DFD03E-3F7E-4EF4-9258-A04E4B2C7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95458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 és tartalom">
    <p:bg>
      <p:bgPr>
        <a:solidFill>
          <a:srgbClr val="E8A3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églalap 13">
            <a:extLst>
              <a:ext uri="{FF2B5EF4-FFF2-40B4-BE49-F238E27FC236}">
                <a16:creationId xmlns:a16="http://schemas.microsoft.com/office/drawing/2014/main" xmlns="" id="{DDDEED1F-4A84-460A-8607-0736A80B4660}"/>
              </a:ext>
            </a:extLst>
          </p:cNvPr>
          <p:cNvSpPr/>
          <p:nvPr userDrawn="1"/>
        </p:nvSpPr>
        <p:spPr>
          <a:xfrm>
            <a:off x="5004707" y="113167"/>
            <a:ext cx="7094084" cy="5502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xmlns="" id="{B5A85F78-1FD5-4B49-B583-F7B2D395B8BA}"/>
              </a:ext>
            </a:extLst>
          </p:cNvPr>
          <p:cNvSpPr/>
          <p:nvPr userDrawn="1"/>
        </p:nvSpPr>
        <p:spPr>
          <a:xfrm>
            <a:off x="93209" y="89807"/>
            <a:ext cx="12005582" cy="11522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xmlns="" id="{C2069732-ACEA-44F7-B5CA-BAB2F9787C78}"/>
              </a:ext>
            </a:extLst>
          </p:cNvPr>
          <p:cNvSpPr/>
          <p:nvPr userDrawn="1"/>
        </p:nvSpPr>
        <p:spPr>
          <a:xfrm>
            <a:off x="93209" y="1265463"/>
            <a:ext cx="12005582" cy="5502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xmlns="" id="{FAB37637-9D6E-4D90-B2F1-76E205F96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10284" cy="718233"/>
          </a:xfrm>
        </p:spPr>
        <p:txBody>
          <a:bodyPr>
            <a:normAutofit/>
          </a:bodyPr>
          <a:lstStyle>
            <a:lvl1pPr>
              <a:defRPr sz="4000" b="1">
                <a:latin typeface="+mn-lt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B2CBCB6B-387A-4289-A82B-0BFAB4E69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510283" cy="5264148"/>
          </a:xfrm>
        </p:spPr>
        <p:txBody>
          <a:bodyPr/>
          <a:lstStyle>
            <a:lvl1pPr>
              <a:buClr>
                <a:srgbClr val="E8A360"/>
              </a:buClr>
              <a:buFont typeface="Wingdings" panose="05000000000000000000" pitchFamily="2" charset="2"/>
              <a:buChar char="§"/>
              <a:defRPr sz="2400"/>
            </a:lvl1pPr>
            <a:lvl2pPr>
              <a:buClr>
                <a:srgbClr val="E8A360"/>
              </a:buClr>
              <a:buFont typeface="Wingdings" panose="05000000000000000000" pitchFamily="2" charset="2"/>
              <a:buChar char="§"/>
              <a:defRPr sz="2400"/>
            </a:lvl2pPr>
            <a:lvl3pPr>
              <a:buClr>
                <a:srgbClr val="E8A360"/>
              </a:buClr>
              <a:buFont typeface="Wingdings" panose="05000000000000000000" pitchFamily="2" charset="2"/>
              <a:buChar char="§"/>
              <a:defRPr sz="2400"/>
            </a:lvl3pPr>
            <a:lvl4pPr>
              <a:buClr>
                <a:srgbClr val="E8A360"/>
              </a:buClr>
              <a:buFont typeface="Wingdings" panose="05000000000000000000" pitchFamily="2" charset="2"/>
              <a:buChar char="§"/>
              <a:defRPr sz="2400"/>
            </a:lvl4pPr>
            <a:lvl5pPr>
              <a:buClr>
                <a:srgbClr val="E8A360"/>
              </a:buClr>
              <a:buFont typeface="Wingdings" panose="05000000000000000000" pitchFamily="2" charset="2"/>
              <a:buChar char="§"/>
              <a:defRPr sz="2400"/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7" name="Dia számának helye 5">
            <a:extLst>
              <a:ext uri="{FF2B5EF4-FFF2-40B4-BE49-F238E27FC236}">
                <a16:creationId xmlns:a16="http://schemas.microsoft.com/office/drawing/2014/main" xmlns="" id="{ABA2E200-FE90-4F81-A7F7-486CE3F25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2729" y="6379708"/>
            <a:ext cx="2743200" cy="365125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F906C4D8-32F2-4A19-B0E3-4323A7BEC644}" type="slidenum">
              <a:rPr lang="hu-HU" smtClean="0"/>
              <a:pPr/>
              <a:t>‹#›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11" name="Szöveg helye 10">
            <a:extLst>
              <a:ext uri="{FF2B5EF4-FFF2-40B4-BE49-F238E27FC236}">
                <a16:creationId xmlns:a16="http://schemas.microsoft.com/office/drawing/2014/main" xmlns="" id="{CCA7E92E-0678-4CB8-B34A-3CEDD493C7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463" y="211135"/>
            <a:ext cx="11510284" cy="440645"/>
          </a:xfrm>
        </p:spPr>
        <p:txBody>
          <a:bodyPr/>
          <a:lstStyle>
            <a:lvl1pPr>
              <a:buNone/>
              <a:defRPr b="0"/>
            </a:lvl1pPr>
          </a:lstStyle>
          <a:p>
            <a:pPr lvl="0"/>
            <a:r>
              <a:rPr lang="hu-HU" dirty="0"/>
              <a:t>Mintaszöveg szerkesztése</a:t>
            </a:r>
          </a:p>
        </p:txBody>
      </p:sp>
    </p:spTree>
    <p:extLst>
      <p:ext uri="{BB962C8B-B14F-4D97-AF65-F5344CB8AC3E}">
        <p14:creationId xmlns:p14="http://schemas.microsoft.com/office/powerpoint/2010/main" val="3022340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558E1F47-A20E-4BB9-A350-B0990DE5E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xmlns="" id="{A674DF5C-4EEB-42BF-947E-B831FE8D0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80F63501-4CC0-443D-9D68-F329C8C2B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1EA38-83FC-4782-9732-2A658C756FBF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CBAEB0E0-2A8E-4ED6-A556-F89797330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229D3C6A-29F7-48FE-BCD5-E38A7ED7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41009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810067C-BED7-4D0B-A7AE-64B226FE9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6989049E-102A-47F6-9DB1-D28194DAEC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xmlns="" id="{56670EB4-6095-49EF-BC35-7B589A44C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xmlns="" id="{2B37BD7D-E3E5-45AB-8F04-C3BB67891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02E6-7993-453D-93F9-E6EF1116D18A}" type="datetime1">
              <a:rPr lang="hu-HU" smtClean="0"/>
              <a:t>2023. 08. 29.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xmlns="" id="{3E3D45C3-0A0B-4B2E-82E4-EA07495C0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xmlns="" id="{B5B50F8E-6620-4235-B0AD-8AA15B30E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66056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F266F4E0-940E-4BAE-B93C-63B7BDFB7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xmlns="" id="{0A2959B8-ED8C-4B0B-9977-61BD3846A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xmlns="" id="{1CCDBE15-67FD-4624-AA3C-3954AD9B70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DF322681-B9EB-4202-B82F-62986E7BEB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xmlns="" id="{4C904C5F-E076-4D0B-8982-C2E9696E2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xmlns="" id="{DAE73D62-5ABD-42E2-8E4F-A4C9D60C5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6007-D686-40BA-81B1-73FEF61F594E}" type="datetime1">
              <a:rPr lang="hu-HU" smtClean="0"/>
              <a:t>2023. 08. 29.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xmlns="" id="{12CEA0E5-76DF-4C30-B4E7-9D73172E1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xmlns="" id="{E4147FC1-08D6-4073-B160-DA6C7F80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08928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FDDEF8AF-3DBD-4787-B3C3-E54E37A4B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xmlns="" id="{1004E331-98B3-4071-BBC4-B70A94793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99E8F-2C13-44E0-88ED-8DAC965F9F1B}" type="datetime1">
              <a:rPr lang="hu-HU" smtClean="0"/>
              <a:t>2023. 08. 29.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xmlns="" id="{9839F9EC-D9E3-4149-9FDB-26C9C93B5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xmlns="" id="{A996AA15-EE1A-41CC-A088-942F69E6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01834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xmlns="" id="{8232CDB6-02A2-4E33-83D0-705F4C001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2AE6F-9176-4A48-8B31-B40F1CD1CA67}" type="datetime1">
              <a:rPr lang="hu-HU" smtClean="0"/>
              <a:t>2023. 08. 29.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xmlns="" id="{A57E066B-902D-436D-B156-0C745132A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3817F04B-AF52-4648-8F6E-228367CF3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99686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BF10A394-C766-410D-A40E-A419FE663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B9AE76C-FECB-4776-9AC6-0CC24C19A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xmlns="" id="{37756CC3-7EE4-4387-9A9B-A6A7EC4EC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xmlns="" id="{5F71D787-FE7E-488E-820D-677DB815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64019-9299-4649-B777-D3FD3F0DF105}" type="datetime1">
              <a:rPr lang="hu-HU" smtClean="0"/>
              <a:t>2023. 08. 29.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xmlns="" id="{3F0CBFD6-E08D-4DC4-AD7A-CCFE18994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xmlns="" id="{76DBC206-9A73-416D-8C18-5E85F368E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13601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1D336558-64C8-4443-A717-0E2F3CB77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xmlns="" id="{7D7D72D5-7457-4552-88D3-03E28DEDD6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xmlns="" id="{5D412EE6-6AD6-4C94-9EE3-B679EAFB6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xmlns="" id="{6B45C1E5-6AD4-490D-9144-44476B02F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CDC1-49EF-4ED0-A19F-FD7F561FE84C}" type="datetime1">
              <a:rPr lang="hu-HU" smtClean="0"/>
              <a:t>2023. 08. 29.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xmlns="" id="{C044CDEB-6218-40E1-B4BA-416764613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xmlns="" id="{C00ED222-CB4F-44CF-BA9D-2FC17CE60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03880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CF5A7E4B-F7E4-4AA4-860F-4C6A03C87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xmlns="" id="{AA651D79-3498-4F2E-9F68-953F93D4F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D304470A-ABA4-4D52-8CC9-952139B85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3B1C-99A4-498A-A255-49BFF718273E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5B1CFCD3-7120-46EC-9471-224D39A3B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93B51A95-5799-4B77-AC52-43F335DD4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85978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xmlns="" id="{D373C461-39C7-4606-BCC4-70DADCEF46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xmlns="" id="{44A7E9BB-AA6D-4D97-B1A7-18F2CD1C65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11DD3EA0-896E-47E3-A1C0-707ECCCE9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5E8A-C486-4894-8349-73C1CA8437D8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FC1DE335-3672-4078-9D66-234233146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0FDC640C-F1ED-46D8-AB88-A36984A7B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72912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xmlns="" id="{79ED9102-32AA-4BE9-BDE5-05201ADDA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xmlns="" id="{463EEA34-9557-4D56-831A-83912F399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AC69EE77-6CC9-4CC9-8D75-64722839DE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D1FF1-846C-4DD0-B4AC-8156EDF0B994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699550F0-C374-4C65-91D6-8BCFE575C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2606282D-346B-422A-A731-68523C74F4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2516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portal.agr.unideb.hu/media/Szervezeti_kommunkiacio_tananyag_13824.pdf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atarka.hu/koz/ISSN_1788-9979/vol_7_no_1_2012/ISSN_1788-9979_vol_7_no_1_2012_079-089.pdf" TargetMode="External"/><Relationship Id="rId2" Type="http://schemas.openxmlformats.org/officeDocument/2006/relationships/hyperlink" Target="http://ki.oszk.hu/kf/kfarchiv/1992/3/berry_h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miau.gau.hu/levelezo/topdf/Vizkomm2012t.pdf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Wallpaper Good Morning Nice Nature And Sunshine Hd Rocks On Pictures Of Pc  | Hd nature wallpapers, Nature wallpaper, Sunset wallpaper">
            <a:extLst>
              <a:ext uri="{FF2B5EF4-FFF2-40B4-BE49-F238E27FC236}">
                <a16:creationId xmlns:a16="http://schemas.microsoft.com/office/drawing/2014/main" xmlns="" id="{82D7D1C7-2880-4855-8272-97F356BFB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4145" y="-508591"/>
            <a:ext cx="12525153" cy="7828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églalap 9">
            <a:extLst>
              <a:ext uri="{FF2B5EF4-FFF2-40B4-BE49-F238E27FC236}">
                <a16:creationId xmlns:a16="http://schemas.microsoft.com/office/drawing/2014/main" xmlns="" id="{B71DD668-A5C7-4E1D-B55A-AF9BA972D50B}"/>
              </a:ext>
            </a:extLst>
          </p:cNvPr>
          <p:cNvSpPr/>
          <p:nvPr/>
        </p:nvSpPr>
        <p:spPr>
          <a:xfrm>
            <a:off x="-36352" y="84481"/>
            <a:ext cx="11161552" cy="1263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xmlns="" id="{3C939434-E251-4120-898C-686C77FB2B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6313" y="589969"/>
            <a:ext cx="10795686" cy="715684"/>
          </a:xfrm>
          <a:noFill/>
          <a:ln w="28575">
            <a:noFill/>
          </a:ln>
        </p:spPr>
        <p:txBody>
          <a:bodyPr anchor="ctr">
            <a:normAutofit fontScale="90000"/>
          </a:bodyPr>
          <a:lstStyle/>
          <a:p>
            <a:pPr algn="l"/>
            <a:r>
              <a:rPr lang="hu-HU" b="1" dirty="0">
                <a:latin typeface="+mn-lt"/>
              </a:rPr>
              <a:t>Kommunikáció és konfliktus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xmlns="" id="{13CA3651-BAD3-4EDE-AFD0-D06900524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2973" y="84481"/>
            <a:ext cx="2930666" cy="632211"/>
          </a:xfrm>
          <a:noFill/>
          <a:ln w="28575">
            <a:noFill/>
          </a:ln>
        </p:spPr>
        <p:txBody>
          <a:bodyPr anchor="ctr">
            <a:normAutofit/>
          </a:bodyPr>
          <a:lstStyle/>
          <a:p>
            <a:pPr algn="l"/>
            <a:r>
              <a:rPr lang="hu-HU" b="1" dirty="0"/>
              <a:t>Menedzsment alapjai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xmlns="" id="{C6A4C454-9DBE-4802-9EF2-C1214C1FEE2B}"/>
              </a:ext>
            </a:extLst>
          </p:cNvPr>
          <p:cNvSpPr/>
          <p:nvPr/>
        </p:nvSpPr>
        <p:spPr>
          <a:xfrm>
            <a:off x="0" y="84481"/>
            <a:ext cx="1382973" cy="1263413"/>
          </a:xfrm>
          <a:prstGeom prst="rect">
            <a:avLst/>
          </a:prstGeom>
          <a:solidFill>
            <a:srgbClr val="E8A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xmlns="" id="{D4FF0E0E-6C7A-4088-A4A3-FE1C79555183}"/>
              </a:ext>
            </a:extLst>
          </p:cNvPr>
          <p:cNvSpPr txBox="1"/>
          <p:nvPr/>
        </p:nvSpPr>
        <p:spPr>
          <a:xfrm>
            <a:off x="219891" y="348858"/>
            <a:ext cx="12511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6000" b="1" dirty="0" smtClean="0">
                <a:solidFill>
                  <a:schemeClr val="bg1"/>
                </a:solidFill>
              </a:rPr>
              <a:t>9.</a:t>
            </a:r>
            <a:endParaRPr lang="hu-HU" sz="6000" b="1" dirty="0">
              <a:solidFill>
                <a:schemeClr val="bg1"/>
              </a:solidFill>
            </a:endParaRPr>
          </a:p>
        </p:txBody>
      </p:sp>
      <p:pic>
        <p:nvPicPr>
          <p:cNvPr id="8" name="Kép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3433" y="42681"/>
            <a:ext cx="1305107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402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Tartalomjegyzék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kommunikáció fogalma, fajtái, célja</a:t>
            </a:r>
          </a:p>
          <a:p>
            <a:r>
              <a:rPr lang="hu-HU" dirty="0"/>
              <a:t>A kommunikáció alapmodellje</a:t>
            </a:r>
          </a:p>
          <a:p>
            <a:r>
              <a:rPr lang="hu-HU" dirty="0"/>
              <a:t>Üzleti és stratégiai kommunikáció eszközei</a:t>
            </a:r>
          </a:p>
          <a:p>
            <a:r>
              <a:rPr lang="hu-HU" dirty="0"/>
              <a:t>Belső kommunikáció</a:t>
            </a:r>
          </a:p>
          <a:p>
            <a:r>
              <a:rPr lang="hu-HU" dirty="0"/>
              <a:t>Írásos kommunikáció</a:t>
            </a:r>
          </a:p>
          <a:p>
            <a:r>
              <a:rPr lang="hu-HU" dirty="0"/>
              <a:t>Konfliktuskezelés alapjai, folyamata</a:t>
            </a:r>
          </a:p>
          <a:p>
            <a:r>
              <a:rPr lang="hu-HU" dirty="0"/>
              <a:t>A konfliktusok forrásai</a:t>
            </a:r>
          </a:p>
          <a:p>
            <a:r>
              <a:rPr lang="hu-HU" dirty="0"/>
              <a:t>A konfliktuskezelés lépései, tízparancsolata</a:t>
            </a:r>
          </a:p>
          <a:p>
            <a:r>
              <a:rPr lang="hu-HU" dirty="0"/>
              <a:t>A kommunikáció és a konfliktuskezelés kapcsolata</a:t>
            </a:r>
          </a:p>
          <a:p>
            <a:r>
              <a:rPr lang="hu-HU" dirty="0"/>
              <a:t>Hasznos kommunikációs eszközök</a:t>
            </a:r>
          </a:p>
          <a:p>
            <a:r>
              <a:rPr lang="hu-HU" dirty="0"/>
              <a:t>Asszertív kommunikáció</a:t>
            </a:r>
          </a:p>
          <a:p>
            <a:endParaRPr lang="hu-HU" dirty="0"/>
          </a:p>
          <a:p>
            <a:endParaRPr lang="hu-HU" dirty="0"/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Kommunikáció és konfliktuskezelés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350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20092146-D627-49A1-95F3-3E4705B89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Fontossága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A856CCBB-5E5F-443D-AB82-0DF40519E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751130" cy="52641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A kiváló kommunikációs és konfliktus kezelési képességek egy menedzser </a:t>
            </a:r>
            <a:r>
              <a:rPr lang="hu-HU" dirty="0" smtClean="0"/>
              <a:t>alapjellemzői</a:t>
            </a:r>
            <a:endParaRPr lang="hu-HU" dirty="0"/>
          </a:p>
          <a:p>
            <a:pPr lvl="1"/>
            <a:r>
              <a:rPr lang="hu-HU" dirty="0"/>
              <a:t>A menedzserek tevékenységének nagyrészét sok esetben kommunikáció teszi ki</a:t>
            </a:r>
          </a:p>
          <a:p>
            <a:pPr lvl="1"/>
            <a:r>
              <a:rPr lang="hu-HU" dirty="0"/>
              <a:t>A menedzsment egyik alaptevékenysége a megfelelő kommunikációs képességekkel a cél folyamatos szem előtt </a:t>
            </a:r>
            <a:r>
              <a:rPr lang="hu-HU" dirty="0" smtClean="0"/>
              <a:t>tartása, </a:t>
            </a:r>
            <a:r>
              <a:rPr lang="hu-HU" dirty="0"/>
              <a:t>és a dolgozók motiválása a cél elérésének érdekében</a:t>
            </a:r>
          </a:p>
          <a:p>
            <a:endParaRPr lang="hu-HU" dirty="0"/>
          </a:p>
          <a:p>
            <a:pPr marL="0" indent="0">
              <a:buNone/>
            </a:pPr>
            <a:r>
              <a:rPr lang="hu-HU" dirty="0"/>
              <a:t>A vezetők és menedzserek számára rengeteg eszköz és lehetőség áll rendelkezésre annak érdekében, hogy a csapatot a lehető legnagyobb sikerrel </a:t>
            </a:r>
            <a:r>
              <a:rPr lang="hu-HU" dirty="0" smtClean="0"/>
              <a:t>koordinálhassák, </a:t>
            </a:r>
            <a:r>
              <a:rPr lang="hu-HU" dirty="0"/>
              <a:t>és az esetleges konfliktusokat megfelelően tudják kezelni</a:t>
            </a:r>
          </a:p>
          <a:p>
            <a:pPr lvl="1"/>
            <a:r>
              <a:rPr lang="hu-HU" dirty="0"/>
              <a:t>Előre haladás</a:t>
            </a:r>
          </a:p>
          <a:p>
            <a:pPr lvl="1"/>
            <a:r>
              <a:rPr lang="hu-HU" dirty="0"/>
              <a:t>Csapat összehangolása</a:t>
            </a:r>
          </a:p>
          <a:p>
            <a:pPr lvl="1"/>
            <a:r>
              <a:rPr lang="hu-HU" dirty="0"/>
              <a:t>Befolyásolás</a:t>
            </a:r>
          </a:p>
          <a:p>
            <a:pPr lvl="1"/>
            <a:r>
              <a:rPr lang="hu-HU" dirty="0"/>
              <a:t>Konfliktusok elsimítása</a:t>
            </a:r>
          </a:p>
          <a:p>
            <a:pPr lvl="1"/>
            <a:r>
              <a:rPr lang="hu-HU" dirty="0"/>
              <a:t>Motiválás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A64C52B1-5F04-4A28-83C0-5CB40CE9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37249FFC-8AF2-469E-A4FD-A2C61F105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hu-HU" dirty="0"/>
              <a:t>Kommunikáció és konfliktuskezelés</a:t>
            </a:r>
          </a:p>
          <a:p>
            <a:endParaRPr lang="hu-HU" dirty="0"/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735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Fogalma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T</a:t>
            </a:r>
            <a:r>
              <a:rPr lang="hu-HU" sz="2400" dirty="0"/>
              <a:t>ájékoztatást, közlést, valamilyen erre szolgáló eszközzel egy jelrendszer útján információk közlését, vagy cseréjét jelenti</a:t>
            </a:r>
            <a:br>
              <a:rPr lang="hu-HU" sz="2400" dirty="0"/>
            </a:br>
            <a:endParaRPr lang="hu-HU" sz="2400" dirty="0"/>
          </a:p>
          <a:p>
            <a:r>
              <a:rPr lang="hu-HU" dirty="0"/>
              <a:t>I</a:t>
            </a:r>
            <a:r>
              <a:rPr lang="hu-HU" sz="2400" dirty="0"/>
              <a:t>nformációtechnológiai megközelítésben minden olyan folyamat, amelyben információátadás </a:t>
            </a:r>
            <a:r>
              <a:rPr lang="hu-HU" sz="2400" dirty="0" smtClean="0"/>
              <a:t>történik, </a:t>
            </a:r>
            <a:r>
              <a:rPr lang="hu-HU" sz="2400" dirty="0"/>
              <a:t>függetlenül attól, hogy az adott információ milyen jelekben fejeződik ki. </a:t>
            </a:r>
            <a:r>
              <a:rPr lang="hu-HU" sz="1600" dirty="0"/>
              <a:t>(Buda B.1994). </a:t>
            </a:r>
          </a:p>
          <a:p>
            <a:endParaRPr lang="hu-HU" sz="2400" dirty="0"/>
          </a:p>
          <a:p>
            <a:r>
              <a:rPr lang="hu-HU" dirty="0"/>
              <a:t>O</a:t>
            </a:r>
            <a:r>
              <a:rPr lang="hu-HU" sz="2400" dirty="0"/>
              <a:t>lyan információátviteli folyamat, amely tudatban ered és tudatban végződik."</a:t>
            </a:r>
            <a:r>
              <a:rPr lang="hu-HU" dirty="0"/>
              <a:t> </a:t>
            </a:r>
            <a:r>
              <a:rPr lang="hu-HU" sz="1600" dirty="0"/>
              <a:t>(</a:t>
            </a:r>
            <a:r>
              <a:rPr lang="hu-HU" sz="1600" dirty="0" err="1"/>
              <a:t>Toda</a:t>
            </a:r>
            <a:r>
              <a:rPr lang="hu-HU" sz="1600" dirty="0"/>
              <a:t>, </a:t>
            </a:r>
            <a:r>
              <a:rPr lang="hu-HU" sz="1600" dirty="0" err="1"/>
              <a:t>Masanao</a:t>
            </a:r>
            <a:r>
              <a:rPr lang="hu-HU" sz="1600" dirty="0"/>
              <a:t> in. Kommunikáció, Budapest, 1977. 88. old.) 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Kommunikáció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849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Fajtái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V</a:t>
            </a:r>
            <a:r>
              <a:rPr lang="hu-HU" sz="2400" dirty="0"/>
              <a:t>erbális – könnyebb az önszabályozás</a:t>
            </a:r>
          </a:p>
          <a:p>
            <a:r>
              <a:rPr lang="hu-HU" dirty="0"/>
              <a:t>N</a:t>
            </a:r>
            <a:r>
              <a:rPr lang="hu-HU" sz="2400" dirty="0"/>
              <a:t>em verbális kommunikáció (a kiejtés, a mimika, különböző kéz-, fej, lábmozgások - a gesztusok)</a:t>
            </a:r>
          </a:p>
          <a:p>
            <a:pPr marL="0" indent="0">
              <a:buNone/>
            </a:pPr>
            <a:endParaRPr lang="hu-HU" sz="2400" dirty="0"/>
          </a:p>
          <a:p>
            <a:pPr marL="0" indent="0">
              <a:buNone/>
            </a:pPr>
            <a:endParaRPr lang="hu-HU" sz="2400" dirty="0"/>
          </a:p>
          <a:p>
            <a:r>
              <a:rPr lang="hu-HU" dirty="0"/>
              <a:t>K</a:t>
            </a:r>
            <a:r>
              <a:rPr lang="hu-HU" sz="2400" dirty="0"/>
              <a:t>özvetlen, amikor a résztvevők egy időben vannak </a:t>
            </a:r>
            <a:r>
              <a:rPr lang="hu-HU" sz="2400" dirty="0" smtClean="0"/>
              <a:t>jelen, </a:t>
            </a:r>
            <a:r>
              <a:rPr lang="hu-HU" sz="2400" dirty="0"/>
              <a:t>és vesznek részt a folyamatban</a:t>
            </a:r>
          </a:p>
          <a:p>
            <a:r>
              <a:rPr lang="hu-HU" dirty="0"/>
              <a:t>K</a:t>
            </a:r>
            <a:r>
              <a:rPr lang="hu-HU" sz="2400" dirty="0"/>
              <a:t>özvetett kommunikációról pedig akkor beszélünk, ha a befogadó és a közlő különböző helyszínen vannak, és valamilyen technikai eszköz segítségével váltanak üzenetet (telefon, internet, tv, rádió). 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Kommunikáció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531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Fajtái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</a:t>
            </a:r>
            <a:r>
              <a:rPr lang="hu-HU" sz="2400" dirty="0"/>
              <a:t> résztvevők számától függően: interperszonális és multiperszonális kommunikáció</a:t>
            </a:r>
            <a:br>
              <a:rPr lang="hu-HU" sz="2400" dirty="0"/>
            </a:br>
            <a:endParaRPr lang="hu-HU" sz="2400" dirty="0"/>
          </a:p>
          <a:p>
            <a:r>
              <a:rPr lang="hu-HU" dirty="0"/>
              <a:t>I</a:t>
            </a:r>
            <a:r>
              <a:rPr lang="hu-HU" sz="2400" dirty="0"/>
              <a:t>ránya szerint: egyirányú és </a:t>
            </a:r>
            <a:r>
              <a:rPr lang="hu-HU" sz="2400" dirty="0" err="1"/>
              <a:t>kétirányú</a:t>
            </a:r>
            <a:r>
              <a:rPr lang="hu-HU" sz="2400" dirty="0"/>
              <a:t/>
            </a:r>
            <a:br>
              <a:rPr lang="hu-HU" sz="2400" dirty="0"/>
            </a:br>
            <a:endParaRPr lang="hu-HU" sz="2400" dirty="0"/>
          </a:p>
          <a:p>
            <a:r>
              <a:rPr lang="hu-HU" dirty="0"/>
              <a:t>A</a:t>
            </a:r>
            <a:r>
              <a:rPr lang="hu-HU" sz="2400" dirty="0"/>
              <a:t> kommunikáció célja lehet: egyszerű közlés, tájékoztatás, információátadás</a:t>
            </a:r>
          </a:p>
          <a:p>
            <a:endParaRPr lang="hu-HU" sz="2000" i="1" dirty="0"/>
          </a:p>
          <a:p>
            <a:r>
              <a:rPr lang="hu-HU" dirty="0"/>
              <a:t>Közlésünk célja lehet: a hatáskiváltás, befolyásolás, motiváció, manipulálás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Kommunikáció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812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Alapmodell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Shannon-</a:t>
            </a:r>
            <a:r>
              <a:rPr lang="hu-HU" dirty="0" err="1">
                <a:latin typeface="Arial" panose="020B0604020202020204" pitchFamily="34" charset="0"/>
                <a:cs typeface="Arial" panose="020B0604020202020204" pitchFamily="34" charset="0"/>
              </a:rPr>
              <a:t>Weaver</a:t>
            </a: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: a </a:t>
            </a:r>
            <a:r>
              <a:rPr lang="hu-HU" b="1" dirty="0">
                <a:latin typeface="Arial" panose="020B0604020202020204" pitchFamily="34" charset="0"/>
                <a:cs typeface="Arial" panose="020B0604020202020204" pitchFamily="34" charset="0"/>
              </a:rPr>
              <a:t>kommunikáció alapmodelljének </a:t>
            </a: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elemei</a:t>
            </a:r>
            <a:r>
              <a:rPr lang="hu-HU" sz="2400" dirty="0"/>
              <a:t/>
            </a:r>
            <a:br>
              <a:rPr lang="hu-HU" sz="2400" dirty="0"/>
            </a:br>
            <a:endParaRPr lang="hu-HU" sz="2400" dirty="0"/>
          </a:p>
          <a:p>
            <a:r>
              <a:rPr lang="hu-HU" dirty="0"/>
              <a:t>K</a:t>
            </a:r>
            <a:r>
              <a:rPr lang="hu-HU" sz="2400" dirty="0"/>
              <a:t>özlő, </a:t>
            </a:r>
          </a:p>
          <a:p>
            <a:r>
              <a:rPr lang="hu-HU" dirty="0"/>
              <a:t>B</a:t>
            </a:r>
            <a:r>
              <a:rPr lang="hu-HU" sz="2400" dirty="0"/>
              <a:t>efogadó, </a:t>
            </a:r>
          </a:p>
          <a:p>
            <a:r>
              <a:rPr lang="hu-HU" dirty="0"/>
              <a:t>C</a:t>
            </a:r>
            <a:r>
              <a:rPr lang="hu-HU" sz="2400" dirty="0"/>
              <a:t>satorna, </a:t>
            </a:r>
          </a:p>
          <a:p>
            <a:r>
              <a:rPr lang="hu-HU" dirty="0"/>
              <a:t>A</a:t>
            </a:r>
            <a:r>
              <a:rPr lang="hu-HU" sz="2400" dirty="0"/>
              <a:t>dó, </a:t>
            </a:r>
          </a:p>
          <a:p>
            <a:r>
              <a:rPr lang="hu-HU" dirty="0"/>
              <a:t>V</a:t>
            </a:r>
            <a:r>
              <a:rPr lang="hu-HU" sz="2400" dirty="0"/>
              <a:t>evő, </a:t>
            </a:r>
          </a:p>
          <a:p>
            <a:r>
              <a:rPr lang="hu-HU" dirty="0"/>
              <a:t>J</a:t>
            </a:r>
            <a:r>
              <a:rPr lang="hu-HU" sz="2400" dirty="0"/>
              <a:t>el, </a:t>
            </a:r>
          </a:p>
          <a:p>
            <a:r>
              <a:rPr lang="hu-HU" dirty="0"/>
              <a:t>Ü</a:t>
            </a:r>
            <a:r>
              <a:rPr lang="hu-HU" sz="2400" dirty="0"/>
              <a:t>zenet, </a:t>
            </a:r>
          </a:p>
          <a:p>
            <a:r>
              <a:rPr lang="hu-HU" dirty="0"/>
              <a:t>Z</a:t>
            </a:r>
            <a:r>
              <a:rPr lang="hu-HU" sz="2400" dirty="0"/>
              <a:t>aj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Kommunikáció</a:t>
            </a:r>
          </a:p>
        </p:txBody>
      </p:sp>
      <p:pic>
        <p:nvPicPr>
          <p:cNvPr id="2050" name="Picture 2" descr="4.1.5. Shannon és Weaver információelméleti (híradástechnikai) modellje">
            <a:extLst>
              <a:ext uri="{FF2B5EF4-FFF2-40B4-BE49-F238E27FC236}">
                <a16:creationId xmlns:a16="http://schemas.microsoft.com/office/drawing/2014/main" xmlns="" id="{9E155ABF-6792-4C0C-823A-F6FB0B5FE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9748" y="2798736"/>
            <a:ext cx="7914581" cy="3178199"/>
          </a:xfrm>
          <a:prstGeom prst="rect">
            <a:avLst/>
          </a:prstGeom>
          <a:noFill/>
          <a:ln w="19050">
            <a:solidFill>
              <a:srgbClr val="E8A3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154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Üzleti kommunikáció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 smtClean="0"/>
              <a:t>C</a:t>
            </a:r>
            <a:r>
              <a:rPr lang="hu-HU" sz="2400" dirty="0" smtClean="0"/>
              <a:t>élja:</a:t>
            </a:r>
          </a:p>
          <a:p>
            <a:r>
              <a:rPr lang="hu-HU" sz="2400" dirty="0" smtClean="0"/>
              <a:t> A </a:t>
            </a:r>
            <a:r>
              <a:rPr lang="hu-HU" sz="2400" dirty="0"/>
              <a:t>vállalati célok megismertetése és elfogadtatása:</a:t>
            </a:r>
          </a:p>
          <a:p>
            <a:pPr lvl="1"/>
            <a:r>
              <a:rPr lang="hu-HU" dirty="0"/>
              <a:t>A tulajdonosokkal</a:t>
            </a:r>
          </a:p>
          <a:p>
            <a:pPr lvl="1"/>
            <a:r>
              <a:rPr lang="hu-HU" dirty="0"/>
              <a:t>A munkavállalókkal</a:t>
            </a:r>
          </a:p>
          <a:p>
            <a:pPr lvl="1"/>
            <a:r>
              <a:rPr lang="hu-HU" dirty="0"/>
              <a:t>A </a:t>
            </a:r>
            <a:r>
              <a:rPr lang="hu-HU" dirty="0" err="1"/>
              <a:t>Stakeholderekkel</a:t>
            </a:r>
            <a:r>
              <a:rPr lang="hu-HU" dirty="0"/>
              <a:t> </a:t>
            </a:r>
            <a:r>
              <a:rPr lang="hu-HU" dirty="0" smtClean="0"/>
              <a:t>(érintettek</a:t>
            </a:r>
            <a:r>
              <a:rPr lang="hu-HU" dirty="0"/>
              <a:t>)</a:t>
            </a:r>
          </a:p>
          <a:p>
            <a:r>
              <a:rPr lang="hu-HU" dirty="0"/>
              <a:t>E</a:t>
            </a:r>
            <a:r>
              <a:rPr lang="hu-HU" sz="2400" dirty="0"/>
              <a:t>rőforrások optimális felhasználása, </a:t>
            </a:r>
          </a:p>
          <a:p>
            <a:r>
              <a:rPr lang="hu-HU" dirty="0"/>
              <a:t>J</a:t>
            </a:r>
            <a:r>
              <a:rPr lang="hu-HU" sz="2400" dirty="0"/>
              <a:t>övedelmezőség biztosítása és javítása, </a:t>
            </a:r>
          </a:p>
          <a:p>
            <a:r>
              <a:rPr lang="hu-HU" dirty="0"/>
              <a:t>A</a:t>
            </a:r>
            <a:r>
              <a:rPr lang="hu-HU" sz="2400" dirty="0"/>
              <a:t> közösség észrevételeinek, javaslatainak meghallgatása, </a:t>
            </a:r>
          </a:p>
          <a:p>
            <a:r>
              <a:rPr lang="hu-HU" dirty="0"/>
              <a:t>T</a:t>
            </a:r>
            <a:r>
              <a:rPr lang="hu-HU" sz="2400" dirty="0"/>
              <a:t>ervek végrehajtásában közösségi vélemény figyelembe vétele</a:t>
            </a:r>
          </a:p>
          <a:p>
            <a:pPr lvl="1"/>
            <a:r>
              <a:rPr lang="hu-HU" dirty="0"/>
              <a:t>Tájékoztatás</a:t>
            </a:r>
          </a:p>
          <a:p>
            <a:pPr lvl="1"/>
            <a:r>
              <a:rPr lang="hu-HU" dirty="0"/>
              <a:t>Koordinálás</a:t>
            </a:r>
          </a:p>
          <a:p>
            <a:pPr lvl="1"/>
            <a:r>
              <a:rPr lang="hu-HU" dirty="0"/>
              <a:t>Konfliktus kezelés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Kommunikáció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828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Alapvető eszközei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2400" b="1" dirty="0"/>
              <a:t>Tárgyalás: </a:t>
            </a:r>
            <a:r>
              <a:rPr lang="hu-HU" sz="2400" dirty="0"/>
              <a:t>Alapvető ismertetője, hogy két fél, vagy csoport véleménye különbözik és céljuk, hogy egy megegyezés szülessen, mely mindkét fél/csoport számára megfelelő.</a:t>
            </a:r>
          </a:p>
          <a:p>
            <a:pPr marL="0" indent="0">
              <a:buNone/>
            </a:pPr>
            <a:endParaRPr lang="hu-HU" sz="2000" dirty="0"/>
          </a:p>
          <a:p>
            <a:pPr lvl="0"/>
            <a:r>
              <a:rPr lang="hu-HU" b="1" dirty="0"/>
              <a:t>Értekezlet: </a:t>
            </a:r>
            <a:r>
              <a:rPr lang="hu-HU" sz="2400" dirty="0"/>
              <a:t>A tárgyalással hasonló fontosságú, általában a meetinget szokták értekezletnek hívni. Lényege, bizonyos témát érintő információk nyilvánosságra hozatala a kitűzött cél elérése érdekében, egy adott téma részletes kielemzése, közös beszélgetés.</a:t>
            </a:r>
            <a:br>
              <a:rPr lang="hu-HU" sz="2400" dirty="0"/>
            </a:br>
            <a:endParaRPr lang="hu-HU" sz="2000" dirty="0"/>
          </a:p>
          <a:p>
            <a:pPr lvl="0"/>
            <a:r>
              <a:rPr lang="hu-HU" b="1" dirty="0"/>
              <a:t>Prezentáció: </a:t>
            </a:r>
            <a:r>
              <a:rPr lang="hu-HU" sz="2400" dirty="0"/>
              <a:t>Valaminek a részletes bemutatása, lehet az termék, szolgáltatás, eszköz, egység, </a:t>
            </a:r>
            <a:r>
              <a:rPr lang="hu-HU" sz="2400" dirty="0" smtClean="0"/>
              <a:t>melyek </a:t>
            </a:r>
            <a:r>
              <a:rPr lang="hu-HU" sz="2400" dirty="0"/>
              <a:t>célja a meggyőzés.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Üzleti kommunikáció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108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Alapvető eszközei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919859" cy="5342060"/>
          </a:xfrm>
        </p:spPr>
        <p:txBody>
          <a:bodyPr>
            <a:normAutofit fontScale="92500"/>
          </a:bodyPr>
          <a:lstStyle/>
          <a:p>
            <a:r>
              <a:rPr lang="hu-HU" sz="2400" b="1" dirty="0" err="1"/>
              <a:t>Technokratikus</a:t>
            </a:r>
            <a:r>
              <a:rPr lang="hu-HU" sz="2400" b="1" dirty="0"/>
              <a:t> eszközök</a:t>
            </a:r>
          </a:p>
          <a:p>
            <a:pPr lvl="1"/>
            <a:r>
              <a:rPr lang="hu-HU" dirty="0"/>
              <a:t>Írásba foglalt szabványok, eljárások, feladat leírások, írott kommunikáció formájában kiadott utasítások</a:t>
            </a:r>
          </a:p>
          <a:p>
            <a:pPr lvl="1"/>
            <a:r>
              <a:rPr lang="hu-HU" dirty="0"/>
              <a:t>Előnye a nyomon követhetőség, konkretizáltság, ellenőrizhetőség</a:t>
            </a:r>
          </a:p>
          <a:p>
            <a:pPr lvl="1"/>
            <a:r>
              <a:rPr lang="hu-HU" dirty="0"/>
              <a:t>Hátránya, hogy a szervezet tagjai csak konkrét helyzetek megoldására tudják felhasználni az írásos utasításokat és eljárásokat. Nem tudnak önállóan döntést hozni és problémát megoldani</a:t>
            </a:r>
          </a:p>
          <a:p>
            <a:r>
              <a:rPr lang="hu-HU" b="1" dirty="0"/>
              <a:t>Személyorientált eszközök</a:t>
            </a:r>
          </a:p>
          <a:p>
            <a:pPr lvl="1"/>
            <a:r>
              <a:rPr lang="hu-HU" dirty="0"/>
              <a:t>Vezetői kommunikáció, továbbképzések, vállalati vízió és filozófia kommunikálása, közös események</a:t>
            </a:r>
          </a:p>
          <a:p>
            <a:pPr lvl="1"/>
            <a:r>
              <a:rPr lang="hu-HU" dirty="0"/>
              <a:t>A vállalati filozófia meghonosításával, megfelelő transzparens kommunikációval, a szükséges kompetenciák és felelősség biztosításával, a dolgozók egyéni, a vállalati céloknak megfelelő döntések meghozatalára is képesek egyedi helyzetekben</a:t>
            </a:r>
          </a:p>
          <a:p>
            <a:r>
              <a:rPr lang="hu-HU" sz="2400" b="1" dirty="0"/>
              <a:t>Strukturált eszközök</a:t>
            </a:r>
          </a:p>
          <a:p>
            <a:pPr lvl="1"/>
            <a:r>
              <a:rPr lang="hu-HU" dirty="0"/>
              <a:t>Koncentrált kommunikációs körök létrehozása egy adott probléma megoldására vagy cél megvalósítására. Projektcsapatok, </a:t>
            </a:r>
            <a:r>
              <a:rPr lang="hu-HU" dirty="0" smtClean="0"/>
              <a:t>bizottságok.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Stratégiai kommunikáció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575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Funkciói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919859" cy="5342060"/>
          </a:xfrm>
        </p:spPr>
        <p:txBody>
          <a:bodyPr>
            <a:normAutofit/>
          </a:bodyPr>
          <a:lstStyle/>
          <a:p>
            <a:pPr lvl="0"/>
            <a:r>
              <a:rPr lang="hu-HU" sz="2400" b="1" dirty="0"/>
              <a:t>Érzelmi funkció: </a:t>
            </a:r>
            <a:r>
              <a:rPr lang="hu-HU" sz="2400" dirty="0"/>
              <a:t>A cég összes alkalmazottja a kommunikáció segítségével tud reagálni, kifejezni érzelmeit, elégedettségét.</a:t>
            </a:r>
            <a:br>
              <a:rPr lang="hu-HU" sz="2400" dirty="0"/>
            </a:br>
            <a:endParaRPr lang="hu-HU" sz="2400" dirty="0"/>
          </a:p>
          <a:p>
            <a:pPr lvl="0"/>
            <a:r>
              <a:rPr lang="hu-HU" b="1" dirty="0"/>
              <a:t>Motivációs funkció: </a:t>
            </a:r>
            <a:r>
              <a:rPr lang="hu-HU" sz="2400" dirty="0"/>
              <a:t>A vezető ezzel a funkcióval tudja </a:t>
            </a:r>
            <a:r>
              <a:rPr lang="hu-HU" sz="2400" dirty="0" smtClean="0"/>
              <a:t>a beosztottait </a:t>
            </a:r>
            <a:r>
              <a:rPr lang="hu-HU" sz="2400" dirty="0"/>
              <a:t>irányítani a stratégiai, üzleti célok elérése érdekében.</a:t>
            </a:r>
            <a:br>
              <a:rPr lang="hu-HU" sz="2400" dirty="0"/>
            </a:br>
            <a:endParaRPr lang="hu-HU" sz="2400" dirty="0"/>
          </a:p>
          <a:p>
            <a:pPr lvl="0"/>
            <a:r>
              <a:rPr lang="hu-HU" b="1" dirty="0"/>
              <a:t>Információs funkció: </a:t>
            </a:r>
            <a:r>
              <a:rPr lang="hu-HU" sz="2400" dirty="0"/>
              <a:t>A vezetői döntéseket támogatja az információk gyűjtése és azok megfelelő felhasználása.</a:t>
            </a:r>
            <a:br>
              <a:rPr lang="hu-HU" sz="2400" dirty="0"/>
            </a:br>
            <a:endParaRPr lang="hu-HU" sz="2400" dirty="0"/>
          </a:p>
          <a:p>
            <a:pPr lvl="0"/>
            <a:r>
              <a:rPr lang="hu-HU" b="1" dirty="0"/>
              <a:t>Ellenőrzési funkció: </a:t>
            </a:r>
            <a:r>
              <a:rPr lang="hu-HU" sz="2400" dirty="0"/>
              <a:t>visszacsatolást kap arról a vezetőség, hogy miként működik a cég és jó irányba halad-e. Az ellenőrzés által változtathatnak a stratégián, vagy a motivációs eszközön, vagy olyan intézkedéseket vezethetnek be a jövőben, ami elősegíti a hatékonyabb működést.</a:t>
            </a:r>
          </a:p>
          <a:p>
            <a:pPr marL="0" lvl="0" indent="0">
              <a:buNone/>
            </a:pPr>
            <a:r>
              <a:rPr lang="hu-HU" sz="900" dirty="0" err="1"/>
              <a:t>Forrás:</a:t>
            </a:r>
            <a:r>
              <a:rPr lang="hu-HU" sz="900" u="sng" dirty="0" err="1">
                <a:hlinkClick r:id="rId2"/>
              </a:rPr>
              <a:t>http</a:t>
            </a:r>
            <a:r>
              <a:rPr lang="hu-HU" sz="900" u="sng" dirty="0">
                <a:hlinkClick r:id="rId2"/>
              </a:rPr>
              <a:t>://portal.agr.unideb.hu/</a:t>
            </a:r>
            <a:r>
              <a:rPr lang="hu-HU" sz="900" u="sng" dirty="0" err="1">
                <a:hlinkClick r:id="rId2"/>
              </a:rPr>
              <a:t>media</a:t>
            </a:r>
            <a:r>
              <a:rPr lang="hu-HU" sz="900" u="sng" dirty="0">
                <a:hlinkClick r:id="rId2"/>
              </a:rPr>
              <a:t>/Szervezeti_kommunkiacio_tananyag_13824.pdf</a:t>
            </a:r>
            <a:endParaRPr lang="hu-HU" sz="900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Belső kommunikáció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938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Fajtái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919859" cy="5342060"/>
          </a:xfrm>
        </p:spPr>
        <p:txBody>
          <a:bodyPr>
            <a:normAutofit/>
          </a:bodyPr>
          <a:lstStyle/>
          <a:p>
            <a:r>
              <a:rPr lang="hu-HU" b="1" dirty="0"/>
              <a:t>H</a:t>
            </a:r>
            <a:r>
              <a:rPr lang="hu-HU" sz="2400" b="1" dirty="0"/>
              <a:t>ivatalos</a:t>
            </a:r>
            <a:r>
              <a:rPr lang="hu-HU" sz="2400" dirty="0"/>
              <a:t> és </a:t>
            </a:r>
            <a:r>
              <a:rPr lang="hu-HU" sz="2400" b="1" dirty="0"/>
              <a:t>nem hivatalos </a:t>
            </a:r>
            <a:r>
              <a:rPr lang="hu-HU" sz="2400" dirty="0"/>
              <a:t>kommunikáció</a:t>
            </a:r>
          </a:p>
          <a:p>
            <a:r>
              <a:rPr lang="hu-HU" b="1" dirty="0"/>
              <a:t>V</a:t>
            </a:r>
            <a:r>
              <a:rPr lang="hu-HU" sz="2400" b="1" dirty="0"/>
              <a:t>ertikális</a:t>
            </a:r>
            <a:r>
              <a:rPr lang="hu-HU" sz="2400" dirty="0"/>
              <a:t>, (ezen belül fentről lefelé irányuló és alulról felfelé irányuló) és </a:t>
            </a:r>
            <a:r>
              <a:rPr lang="hu-HU" sz="2400" b="1" dirty="0"/>
              <a:t>horizontális</a:t>
            </a:r>
            <a:r>
              <a:rPr lang="hu-HU" sz="2400" dirty="0"/>
              <a:t> </a:t>
            </a:r>
            <a:r>
              <a:rPr lang="hu-HU" sz="2400" dirty="0" smtClean="0"/>
              <a:t>(oldalirányú, az azonos szinten lévők közötti) kommunikáció</a:t>
            </a:r>
            <a:endParaRPr lang="hu-HU" sz="2400" dirty="0"/>
          </a:p>
          <a:p>
            <a:r>
              <a:rPr lang="hu-HU" b="1" dirty="0"/>
              <a:t>E</a:t>
            </a:r>
            <a:r>
              <a:rPr lang="hu-HU" sz="2400" b="1" dirty="0"/>
              <a:t>gyoldalú</a:t>
            </a:r>
            <a:r>
              <a:rPr lang="hu-HU" sz="2400" dirty="0"/>
              <a:t> (pl. utasítás, beszámoló), </a:t>
            </a:r>
            <a:r>
              <a:rPr lang="hu-HU" sz="2400" b="1" dirty="0"/>
              <a:t>kétoldalú</a:t>
            </a:r>
            <a:r>
              <a:rPr lang="hu-HU" sz="2400" dirty="0"/>
              <a:t> (javaslattétel, feladat-megbeszélés), </a:t>
            </a:r>
            <a:r>
              <a:rPr lang="hu-HU" sz="2400" b="1" dirty="0"/>
              <a:t>csoportos</a:t>
            </a:r>
            <a:r>
              <a:rPr lang="hu-HU" sz="2400" dirty="0"/>
              <a:t> (pl. meeting, </a:t>
            </a:r>
            <a:r>
              <a:rPr lang="hu-HU" sz="2400" dirty="0" err="1"/>
              <a:t>brainstorming</a:t>
            </a:r>
            <a:r>
              <a:rPr lang="hu-HU" sz="2400" dirty="0"/>
              <a:t>)</a:t>
            </a:r>
            <a:br>
              <a:rPr lang="hu-HU" sz="2400" dirty="0"/>
            </a:br>
            <a:endParaRPr lang="hu-HU" sz="2400" dirty="0"/>
          </a:p>
          <a:p>
            <a:r>
              <a:rPr lang="hu-HU" sz="2400" dirty="0"/>
              <a:t>Pletyka</a:t>
            </a:r>
          </a:p>
          <a:p>
            <a:r>
              <a:rPr lang="hu-HU" sz="2400" dirty="0"/>
              <a:t>Alapvető eszközök a többoldalú </a:t>
            </a:r>
            <a:r>
              <a:rPr lang="hu-HU" sz="2400" dirty="0" smtClean="0"/>
              <a:t>kommunikációhoz:</a:t>
            </a:r>
            <a:br>
              <a:rPr lang="hu-HU" sz="2400" dirty="0" smtClean="0"/>
            </a:br>
            <a:r>
              <a:rPr lang="hu-HU" sz="2400" dirty="0" smtClean="0"/>
              <a:t>- </a:t>
            </a:r>
            <a:r>
              <a:rPr lang="hu-HU" dirty="0" smtClean="0"/>
              <a:t>E-mailes </a:t>
            </a:r>
            <a:r>
              <a:rPr lang="hu-HU" dirty="0"/>
              <a:t>levelezés Outlook rendszeren keresztül, </a:t>
            </a:r>
            <a:r>
              <a:rPr lang="hu-HU" dirty="0" smtClean="0"/>
              <a:t/>
            </a:r>
            <a:br>
              <a:rPr lang="hu-HU" dirty="0" smtClean="0"/>
            </a:br>
            <a:r>
              <a:rPr lang="hu-HU" dirty="0" smtClean="0"/>
              <a:t>- Online </a:t>
            </a:r>
            <a:r>
              <a:rPr lang="hu-HU" dirty="0"/>
              <a:t>és videó konferenciák, </a:t>
            </a:r>
            <a:r>
              <a:rPr lang="hu-HU" dirty="0" smtClean="0"/>
              <a:t/>
            </a:r>
            <a:br>
              <a:rPr lang="hu-HU" dirty="0" smtClean="0"/>
            </a:br>
            <a:r>
              <a:rPr lang="hu-HU" dirty="0" smtClean="0"/>
              <a:t>- Intranetes </a:t>
            </a:r>
            <a:r>
              <a:rPr lang="hu-HU" dirty="0"/>
              <a:t>felület, </a:t>
            </a:r>
            <a:r>
              <a:rPr lang="hu-HU" dirty="0" smtClean="0"/>
              <a:t/>
            </a:r>
            <a:br>
              <a:rPr lang="hu-HU" dirty="0" smtClean="0"/>
            </a:br>
            <a:r>
              <a:rPr lang="hu-HU" dirty="0" smtClean="0"/>
              <a:t>- Rendezvény</a:t>
            </a:r>
            <a:endParaRPr lang="hu-HU" dirty="0"/>
          </a:p>
          <a:p>
            <a:pPr marL="0" lv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sz="1050" u="sng" dirty="0">
                <a:hlinkClick r:id="rId2"/>
              </a:rPr>
              <a:t>http://ki.oszk.hu/kf/kfarchiv/1992/3/berry_h.html</a:t>
            </a:r>
            <a:r>
              <a:rPr lang="hu-HU" sz="1050" u="sng" dirty="0"/>
              <a:t> </a:t>
            </a:r>
            <a:r>
              <a:rPr lang="hu-HU" sz="1050" dirty="0">
                <a:hlinkClick r:id="rId3"/>
              </a:rPr>
              <a:t>http://www.matarka.hu/koz/ISSN_1788-9979/vol_7_no_1_2012/ISSN_1788-9979_vol_7_no_1_2012_079-089.pdf</a:t>
            </a:r>
            <a:r>
              <a:rPr lang="hu-HU" sz="1050" dirty="0"/>
              <a:t> Dobos Csilla, A pletyka szerepe a belső vállalati 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Belső kommunikáció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227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Grapevine</a:t>
            </a:r>
            <a:r>
              <a:rPr lang="hu-HU" dirty="0"/>
              <a:t> – Szőlőkacs modell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Belső kommunikáció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xmlns="" id="{5A13844C-8FB5-4D60-B65E-127649D63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16" y="1701421"/>
            <a:ext cx="10985167" cy="4387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365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10284" cy="1456364"/>
          </a:xfrm>
        </p:spPr>
        <p:txBody>
          <a:bodyPr>
            <a:normAutofit/>
          </a:bodyPr>
          <a:lstStyle/>
          <a:p>
            <a:r>
              <a:rPr lang="hu-HU" dirty="0"/>
              <a:t>Preferált kommunikációs </a:t>
            </a:r>
            <a:r>
              <a:rPr lang="hu-HU" dirty="0" smtClean="0"/>
              <a:t>csatornák egy konkrét vállalkozás két különböző szervezeti egységében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Belső </a:t>
            </a:r>
            <a:r>
              <a:rPr lang="hu-HU" dirty="0" smtClean="0"/>
              <a:t>kommunikáció – vállalti példa</a:t>
            </a:r>
            <a:endParaRPr lang="hu-HU" dirty="0"/>
          </a:p>
        </p:txBody>
      </p:sp>
      <p:pic>
        <p:nvPicPr>
          <p:cNvPr id="6" name="Kép 83">
            <a:extLst>
              <a:ext uri="{FF2B5EF4-FFF2-40B4-BE49-F238E27FC236}">
                <a16:creationId xmlns:a16="http://schemas.microsoft.com/office/drawing/2014/main" xmlns="" id="{8F153511-0DEE-437A-9A08-0B61F19D2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03068" y="2003594"/>
            <a:ext cx="8278414" cy="4558676"/>
          </a:xfrm>
          <a:prstGeom prst="rect">
            <a:avLst/>
          </a:prstGeom>
          <a:noFill/>
          <a:ln w="19050">
            <a:solidFill>
              <a:srgbClr val="E8A360"/>
            </a:solidFill>
            <a:miter lim="800000"/>
            <a:headEnd/>
            <a:tailEnd/>
          </a:ln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585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Hatékonysága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919859" cy="5342060"/>
          </a:xfrm>
        </p:spPr>
        <p:txBody>
          <a:bodyPr>
            <a:normAutofit/>
          </a:bodyPr>
          <a:lstStyle/>
          <a:p>
            <a:r>
              <a:rPr lang="hu-HU" sz="2400" dirty="0"/>
              <a:t>A kommunikáció akkor hatékony, ha az üzenet eljut a címzetthez, aki azt értelmezi és ugyanazt a jelentést tulajdonítja neki, tehát a feladónak sikerült a gondolatait, eljuttatni és átadni. </a:t>
            </a:r>
            <a:br>
              <a:rPr lang="hu-HU" sz="2400" dirty="0"/>
            </a:br>
            <a:endParaRPr lang="hu-HU" sz="2400" dirty="0"/>
          </a:p>
          <a:p>
            <a:r>
              <a:rPr lang="hu-HU" sz="2400" dirty="0"/>
              <a:t>Befolyásoló tényezők: a mennyiség, minőség, relevancia, és a stílus, a hangulat, az érzelmi gátak, a korábbi tapasztalatok, a szövegértési nehézségek, a szervezet nagysága, a munkahelyi légkör, a helyismeret</a:t>
            </a:r>
            <a:r>
              <a:rPr lang="hu-HU" sz="2800" dirty="0"/>
              <a:t>, … 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Belső kommunikáció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977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Írásos kommunikáció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919859" cy="5342060"/>
          </a:xfrm>
        </p:spPr>
        <p:txBody>
          <a:bodyPr>
            <a:normAutofit/>
          </a:bodyPr>
          <a:lstStyle/>
          <a:p>
            <a:r>
              <a:rPr lang="hu-HU" sz="2400" dirty="0"/>
              <a:t>Írásbeli utasítás</a:t>
            </a:r>
          </a:p>
          <a:p>
            <a:r>
              <a:rPr lang="hu-HU" sz="2400" dirty="0"/>
              <a:t>Körlevél (E-mailek)</a:t>
            </a:r>
          </a:p>
          <a:p>
            <a:r>
              <a:rPr lang="hu-HU" sz="2400" dirty="0"/>
              <a:t>Hírlevél</a:t>
            </a:r>
          </a:p>
          <a:p>
            <a:r>
              <a:rPr lang="hu-HU" sz="2400" dirty="0"/>
              <a:t>Hirdetőtábla</a:t>
            </a:r>
          </a:p>
          <a:p>
            <a:r>
              <a:rPr lang="hu-HU" sz="2400" dirty="0"/>
              <a:t>Intranet hálózat</a:t>
            </a:r>
          </a:p>
          <a:p>
            <a:r>
              <a:rPr lang="hu-HU" sz="2400" dirty="0"/>
              <a:t>Vizualitás (színek, formák, animáció…)</a:t>
            </a:r>
            <a:endParaRPr lang="hu-HU" dirty="0"/>
          </a:p>
          <a:p>
            <a:r>
              <a:rPr lang="hu-HU" sz="1050" u="sng" dirty="0">
                <a:hlinkClick r:id="rId2"/>
              </a:rPr>
              <a:t>http://miau.gau.hu/levelezo/topdf/Vizkomm2012t.pdf</a:t>
            </a:r>
            <a:endParaRPr lang="hu-HU" sz="1050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Kommunikáció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258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10284" cy="1446788"/>
          </a:xfrm>
        </p:spPr>
        <p:txBody>
          <a:bodyPr>
            <a:normAutofit/>
          </a:bodyPr>
          <a:lstStyle/>
          <a:p>
            <a:r>
              <a:rPr lang="hu-HU" dirty="0"/>
              <a:t>Írásos </a:t>
            </a:r>
            <a:r>
              <a:rPr lang="hu-HU" dirty="0" smtClean="0"/>
              <a:t>kommunikáció hatékonyságának megítélése egy konkrét vállalatnál (nemenkénti bontásban)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Belső kommunikáció – vállalti példa</a:t>
            </a:r>
            <a:endParaRPr lang="hu-HU" dirty="0"/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xmlns="" id="{EBE81DF1-1F36-4893-BCAF-F330BACD3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8" name="Diagram 12">
            <a:extLst>
              <a:ext uri="{FF2B5EF4-FFF2-40B4-BE49-F238E27FC236}">
                <a16:creationId xmlns:a16="http://schemas.microsoft.com/office/drawing/2014/main" xmlns="" id="{ACAEA6E7-7F64-4E30-95E9-1BE6F136055B}"/>
              </a:ext>
            </a:extLst>
          </p:cNvPr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10938" y="2210937"/>
            <a:ext cx="7888406" cy="4293617"/>
          </a:xfrm>
          <a:prstGeom prst="rect">
            <a:avLst/>
          </a:prstGeom>
          <a:noFill/>
          <a:ln w="19050">
            <a:solidFill>
              <a:srgbClr val="E8A360"/>
            </a:solidFill>
          </a:ln>
        </p:spPr>
      </p:pic>
      <p:pic>
        <p:nvPicPr>
          <p:cNvPr id="9" name="Kép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40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rossz kommunikáció következményei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919859" cy="5342060"/>
          </a:xfrm>
        </p:spPr>
        <p:txBody>
          <a:bodyPr>
            <a:normAutofit/>
          </a:bodyPr>
          <a:lstStyle/>
          <a:p>
            <a:r>
              <a:rPr lang="hu-HU" dirty="0"/>
              <a:t>A munkatársak </a:t>
            </a:r>
            <a:r>
              <a:rPr lang="hu-HU" b="1" dirty="0"/>
              <a:t>nem lesznek tisztában </a:t>
            </a:r>
            <a:r>
              <a:rPr lang="hu-HU" dirty="0"/>
              <a:t>a problémák okaival, ami számos értékes erőforrás (pl. az idő) elpocsékolásához vezethet</a:t>
            </a:r>
          </a:p>
          <a:p>
            <a:pPr lvl="0"/>
            <a:r>
              <a:rPr lang="hu-HU" dirty="0"/>
              <a:t>Az egymás közötti </a:t>
            </a:r>
            <a:r>
              <a:rPr lang="hu-HU" b="1" dirty="0"/>
              <a:t>félreértések</a:t>
            </a:r>
            <a:r>
              <a:rPr lang="hu-HU" dirty="0"/>
              <a:t>, súrlódások rontják a munkahelyi légkört, és </a:t>
            </a:r>
            <a:r>
              <a:rPr lang="hu-HU" b="1" dirty="0"/>
              <a:t>csökkenő teljesítmény</a:t>
            </a:r>
            <a:r>
              <a:rPr lang="hu-HU" dirty="0"/>
              <a:t>hez vezetnek.</a:t>
            </a:r>
          </a:p>
          <a:p>
            <a:pPr lvl="0"/>
            <a:r>
              <a:rPr lang="hu-HU" dirty="0"/>
              <a:t>Az emberek esetleg </a:t>
            </a:r>
            <a:r>
              <a:rPr lang="hu-HU" b="1" dirty="0"/>
              <a:t>nem mondják el hasznos ötleteiket</a:t>
            </a:r>
            <a:r>
              <a:rPr lang="hu-HU" dirty="0"/>
              <a:t>, jobbító szándékú meglátásaikat a vezetőnek, ami visszafogja a fejlődést és a problémák eredményes megoldását.</a:t>
            </a:r>
          </a:p>
          <a:p>
            <a:pPr lvl="0"/>
            <a:r>
              <a:rPr lang="hu-HU" dirty="0"/>
              <a:t>Ha a munkatársaink nincsenek tisztában a cég céljaival, jövőképével, mert nem kommunikálják azt feléjük, </a:t>
            </a:r>
            <a:r>
              <a:rPr lang="hu-HU" b="1" dirty="0"/>
              <a:t>nem tudják, hogy mit miért csinálnak</a:t>
            </a:r>
            <a:r>
              <a:rPr lang="hu-HU" dirty="0"/>
              <a:t>, ez pedig a motiváció csökkenéséhez vezethet. A csökkenő munkamorál pedig növeli a fluktuációt.</a:t>
            </a:r>
          </a:p>
          <a:p>
            <a:r>
              <a:rPr lang="hu-HU" dirty="0"/>
              <a:t>Az a </a:t>
            </a:r>
            <a:r>
              <a:rPr lang="hu-HU" dirty="0" smtClean="0"/>
              <a:t>cég, </a:t>
            </a:r>
            <a:r>
              <a:rPr lang="hu-HU" dirty="0"/>
              <a:t>amelyik nem kommunikál a környezetével, - azaz ügyfeleivel, beszállítóival, versenytársaival - rugalmatlannak, a változásokra lassan reagálónak tűnik, így hírneve romolhat az ügyfelek körében, ami piacvesztéssel jár.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Kommunikáció</a:t>
            </a:r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390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konfliktus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919859" cy="5342060"/>
          </a:xfrm>
        </p:spPr>
        <p:txBody>
          <a:bodyPr>
            <a:normAutofit/>
          </a:bodyPr>
          <a:lstStyle/>
          <a:p>
            <a:r>
              <a:rPr lang="hu-HU" altLang="hu-HU" b="1" i="1" dirty="0" err="1"/>
              <a:t>Confictus</a:t>
            </a:r>
            <a:r>
              <a:rPr lang="hu-HU" altLang="hu-HU" b="1" dirty="0"/>
              <a:t>: fegyveres összeütközés - a mindennapi szóhasználatban az emberi összeütközés</a:t>
            </a:r>
          </a:p>
          <a:p>
            <a:endParaRPr lang="hu-HU" altLang="hu-HU" sz="2400" dirty="0">
              <a:effectLst/>
            </a:endParaRPr>
          </a:p>
          <a:p>
            <a:r>
              <a:rPr lang="hu-HU" altLang="hu-HU" sz="2400" dirty="0">
                <a:effectLst/>
              </a:rPr>
              <a:t>A konfliktus érdekkülönbségből fakad</a:t>
            </a:r>
          </a:p>
          <a:p>
            <a:r>
              <a:rPr lang="hu-HU" altLang="hu-HU" sz="2400" dirty="0">
                <a:effectLst/>
              </a:rPr>
              <a:t>Egymás ellen irányul, míg a versengés egy cél egymástól független elérésére</a:t>
            </a:r>
          </a:p>
          <a:p>
            <a:r>
              <a:rPr lang="hu-HU" sz="2400" dirty="0"/>
              <a:t>Káros, ha pazarolja az erőforrásokat (időt, energiát)</a:t>
            </a:r>
          </a:p>
          <a:p>
            <a:r>
              <a:rPr lang="hu-HU" sz="2400" dirty="0"/>
              <a:t>Előre vivő, ha közös gondolkodásra, erőforrás-feltárásra sarkall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Konfliktuskezelés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1464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konfliktus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Konfliktuskezelés</a:t>
            </a: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xmlns="" id="{F0B6CAFF-D388-49F4-8CE6-82B20F077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61116" y="1265463"/>
            <a:ext cx="9469767" cy="547937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3148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Folyamata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919859" cy="5342060"/>
          </a:xfrm>
        </p:spPr>
        <p:txBody>
          <a:bodyPr>
            <a:normAutofit/>
          </a:bodyPr>
          <a:lstStyle/>
          <a:p>
            <a:r>
              <a:rPr lang="hu-HU" b="1" dirty="0"/>
              <a:t>1. A kiútkeresés </a:t>
            </a:r>
            <a:r>
              <a:rPr lang="hu-HU" dirty="0"/>
              <a:t/>
            </a:r>
            <a:br>
              <a:rPr lang="hu-HU" dirty="0"/>
            </a:br>
            <a:r>
              <a:rPr lang="hu-HU" dirty="0"/>
              <a:t>(megkeményedés  - vitatkozás-szavak helyett tettek)</a:t>
            </a:r>
            <a:br>
              <a:rPr lang="hu-HU" dirty="0"/>
            </a:br>
            <a:endParaRPr lang="hu-HU" dirty="0"/>
          </a:p>
          <a:p>
            <a:r>
              <a:rPr lang="hu-HU" b="1" dirty="0"/>
              <a:t>2. A megoldások feladása </a:t>
            </a:r>
            <a:r>
              <a:rPr lang="hu-HU" dirty="0"/>
              <a:t/>
            </a:r>
            <a:br>
              <a:rPr lang="hu-HU" dirty="0"/>
            </a:br>
            <a:r>
              <a:rPr lang="hu-HU" dirty="0"/>
              <a:t>(ellenségkép és megszilárduló koalíciók – tekintélyvesztés – fenyegetőzés)</a:t>
            </a:r>
            <a:br>
              <a:rPr lang="hu-HU" dirty="0"/>
            </a:br>
            <a:endParaRPr lang="hu-HU" dirty="0"/>
          </a:p>
          <a:p>
            <a:r>
              <a:rPr lang="hu-HU" b="1" dirty="0"/>
              <a:t>3. „Végjáték” </a:t>
            </a:r>
            <a:r>
              <a:rPr lang="hu-HU" dirty="0"/>
              <a:t/>
            </a:r>
            <a:br>
              <a:rPr lang="hu-HU" dirty="0"/>
            </a:br>
            <a:r>
              <a:rPr lang="hu-HU" dirty="0"/>
              <a:t>(korlátozottan megsemmisítő csapások – az ellenség felmorzsolása – közösen a teljes pusztulásba)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Konfliktuskezelés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659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Konfliktusok forrásai a szervezetben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919859" cy="5342060"/>
          </a:xfrm>
        </p:spPr>
        <p:txBody>
          <a:bodyPr>
            <a:normAutofit/>
          </a:bodyPr>
          <a:lstStyle/>
          <a:p>
            <a:pPr lvl="0"/>
            <a:r>
              <a:rPr lang="hu-HU" dirty="0"/>
              <a:t>H</a:t>
            </a:r>
            <a:r>
              <a:rPr lang="hu-HU" sz="2400" dirty="0"/>
              <a:t>atalmi harcok a magasabb beosztásokért, a jobb pozíciókért</a:t>
            </a:r>
          </a:p>
          <a:p>
            <a:pPr lvl="0"/>
            <a:r>
              <a:rPr lang="hu-HU" dirty="0" smtClean="0"/>
              <a:t>T</a:t>
            </a:r>
            <a:r>
              <a:rPr lang="hu-HU" sz="2400" dirty="0" smtClean="0"/>
              <a:t>úlhajszoltság </a:t>
            </a:r>
            <a:endParaRPr lang="hu-HU" sz="2400" dirty="0"/>
          </a:p>
          <a:p>
            <a:pPr lvl="0"/>
            <a:r>
              <a:rPr lang="hu-HU" dirty="0"/>
              <a:t>Á</a:t>
            </a:r>
            <a:r>
              <a:rPr lang="hu-HU" sz="2400" dirty="0"/>
              <a:t>llandó </a:t>
            </a:r>
            <a:r>
              <a:rPr lang="hu-HU" sz="2400" dirty="0" smtClean="0"/>
              <a:t>teljesítménykényszer</a:t>
            </a:r>
            <a:endParaRPr lang="hu-HU" sz="2400" dirty="0"/>
          </a:p>
          <a:p>
            <a:pPr lvl="0"/>
            <a:r>
              <a:rPr lang="hu-HU" dirty="0"/>
              <a:t>S</a:t>
            </a:r>
            <a:r>
              <a:rPr lang="hu-HU" sz="2400" dirty="0"/>
              <a:t>zerepek, feladatok, felelősségi körök tisztázatlansága</a:t>
            </a:r>
          </a:p>
          <a:p>
            <a:pPr lvl="0"/>
            <a:r>
              <a:rPr lang="hu-HU" dirty="0"/>
              <a:t>B</a:t>
            </a:r>
            <a:r>
              <a:rPr lang="hu-HU" sz="2400" dirty="0"/>
              <a:t>izonytalanság a szervezet </a:t>
            </a:r>
            <a:r>
              <a:rPr lang="hu-HU" sz="2400" dirty="0" smtClean="0"/>
              <a:t>jövőjéről</a:t>
            </a:r>
          </a:p>
          <a:p>
            <a:pPr lvl="0"/>
            <a:r>
              <a:rPr lang="hu-HU" dirty="0" smtClean="0"/>
              <a:t>Egyértelmű </a:t>
            </a:r>
            <a:r>
              <a:rPr lang="hu-HU" dirty="0"/>
              <a:t>célok hiánya</a:t>
            </a:r>
            <a:endParaRPr lang="hu-HU" sz="2400" dirty="0"/>
          </a:p>
          <a:p>
            <a:pPr lvl="0"/>
            <a:r>
              <a:rPr lang="hu-HU" sz="2400" dirty="0"/>
              <a:t>Bizonytalanság a munkahely fennmaradásával kapcsolatosan</a:t>
            </a:r>
          </a:p>
          <a:p>
            <a:pPr lvl="0"/>
            <a:r>
              <a:rPr lang="hu-HU" dirty="0"/>
              <a:t>N</a:t>
            </a:r>
            <a:r>
              <a:rPr lang="hu-HU" sz="2400" dirty="0"/>
              <a:t>agyobb szervezeti átalakítás vagy folyamatos változások</a:t>
            </a:r>
          </a:p>
          <a:p>
            <a:pPr lvl="0"/>
            <a:r>
              <a:rPr lang="hu-HU" dirty="0"/>
              <a:t>F</a:t>
            </a:r>
            <a:r>
              <a:rPr lang="hu-HU" sz="2400" dirty="0"/>
              <a:t>élelem az önálló döntésektől</a:t>
            </a:r>
          </a:p>
          <a:p>
            <a:pPr lvl="0"/>
            <a:r>
              <a:rPr lang="hu-HU" dirty="0"/>
              <a:t>Félelem a változástól és a fejlődéstől</a:t>
            </a:r>
            <a:endParaRPr lang="hu-HU" sz="2400" dirty="0"/>
          </a:p>
          <a:p>
            <a:pPr lvl="0"/>
            <a:r>
              <a:rPr lang="hu-HU" dirty="0"/>
              <a:t>A</a:t>
            </a:r>
            <a:r>
              <a:rPr lang="hu-HU" sz="2400" dirty="0"/>
              <a:t> </a:t>
            </a:r>
            <a:r>
              <a:rPr lang="hu-HU" sz="2400" dirty="0" smtClean="0"/>
              <a:t>team-munkától </a:t>
            </a:r>
            <a:r>
              <a:rPr lang="hu-HU" sz="2400" dirty="0"/>
              <a:t>való idegenkedés</a:t>
            </a: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Konfliktuskezelés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4358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Stílusok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919859" cy="534206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defRPr/>
            </a:pPr>
            <a:r>
              <a:rPr lang="hu-HU" altLang="hu-HU" sz="2400" b="1" dirty="0"/>
              <a:t>Kényszerítő</a:t>
            </a:r>
            <a:r>
              <a:rPr lang="hu-HU" altLang="hu-HU" sz="2400" dirty="0"/>
              <a:t> (vagy versengő, önérvényesítő) „az én utam – én győztem”</a:t>
            </a:r>
            <a:br>
              <a:rPr lang="hu-HU" altLang="hu-HU" sz="2400" dirty="0"/>
            </a:br>
            <a:endParaRPr lang="hu-HU" altLang="hu-HU" sz="2400" dirty="0"/>
          </a:p>
          <a:p>
            <a:pPr>
              <a:lnSpc>
                <a:spcPct val="80000"/>
              </a:lnSpc>
              <a:defRPr/>
            </a:pPr>
            <a:r>
              <a:rPr lang="hu-HU" altLang="hu-HU" b="1" dirty="0"/>
              <a:t>Alkalmazkodó</a:t>
            </a:r>
            <a:r>
              <a:rPr lang="hu-HU" altLang="hu-HU" sz="2400" dirty="0"/>
              <a:t> (önalávető) „a te utad – én vesztettem”</a:t>
            </a:r>
            <a:br>
              <a:rPr lang="hu-HU" altLang="hu-HU" sz="2400" dirty="0"/>
            </a:br>
            <a:endParaRPr lang="hu-HU" altLang="hu-HU" sz="2400" dirty="0"/>
          </a:p>
          <a:p>
            <a:pPr>
              <a:lnSpc>
                <a:spcPct val="80000"/>
              </a:lnSpc>
              <a:defRPr/>
            </a:pPr>
            <a:r>
              <a:rPr lang="hu-HU" altLang="hu-HU" b="1" dirty="0"/>
              <a:t>Elkerülő</a:t>
            </a:r>
            <a:r>
              <a:rPr lang="hu-HU" altLang="hu-HU" sz="2400" dirty="0"/>
              <a:t> „nincs út – nincs győzelem”</a:t>
            </a:r>
            <a:br>
              <a:rPr lang="hu-HU" altLang="hu-HU" sz="2400" dirty="0"/>
            </a:br>
            <a:endParaRPr lang="hu-HU" altLang="hu-HU" sz="2400" dirty="0"/>
          </a:p>
          <a:p>
            <a:pPr>
              <a:lnSpc>
                <a:spcPct val="80000"/>
              </a:lnSpc>
              <a:defRPr/>
            </a:pPr>
            <a:r>
              <a:rPr lang="hu-HU" altLang="hu-HU" b="1" dirty="0"/>
              <a:t>Együttműködő</a:t>
            </a:r>
            <a:r>
              <a:rPr lang="hu-HU" altLang="hu-HU" sz="2400" dirty="0"/>
              <a:t> (problémamegoldó, konstruktív, közös megegyezéssel egyeztetnek érdekeket, szükségleteket, szándékokat) „a mi utunk – mindketten győztünk” </a:t>
            </a:r>
            <a:br>
              <a:rPr lang="hu-HU" altLang="hu-HU" sz="2400" dirty="0"/>
            </a:br>
            <a:endParaRPr lang="hu-HU" altLang="hu-HU" sz="2400" dirty="0"/>
          </a:p>
          <a:p>
            <a:pPr>
              <a:lnSpc>
                <a:spcPct val="80000"/>
              </a:lnSpc>
              <a:defRPr/>
            </a:pPr>
            <a:r>
              <a:rPr lang="hu-HU" altLang="hu-HU" b="1" dirty="0"/>
              <a:t>Kompromisszumkereső</a:t>
            </a:r>
            <a:r>
              <a:rPr lang="hu-HU" altLang="hu-HU" sz="2400" dirty="0"/>
              <a:t> (feltételezi az együttműködést, a kölcsönös bizalmat, az igazságosságot) „fél út – fél győzelem”</a:t>
            </a: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Konfliktuskezelés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6788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Stílusok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Konfliktuskezelés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xmlns="" id="{D0956559-30E9-4780-B0B9-CB71279F9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84969" y="1523885"/>
            <a:ext cx="8422061" cy="459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3321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hatékony konfliktusmegoldás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601557"/>
            <a:ext cx="11919859" cy="5197827"/>
          </a:xfrm>
        </p:spPr>
        <p:txBody>
          <a:bodyPr>
            <a:normAutofit/>
          </a:bodyPr>
          <a:lstStyle/>
          <a:p>
            <a:r>
              <a:rPr lang="hu-HU" sz="2400" b="1" dirty="0"/>
              <a:t>Gordon-módszer (</a:t>
            </a:r>
            <a:r>
              <a:rPr lang="hu-HU" sz="2400" dirty="0"/>
              <a:t>problémagazda meghatározása </a:t>
            </a:r>
            <a:r>
              <a:rPr lang="hu-HU" sz="2400" b="1" dirty="0"/>
              <a:t>)</a:t>
            </a:r>
          </a:p>
          <a:p>
            <a:r>
              <a:rPr lang="hu-HU" sz="2400" dirty="0"/>
              <a:t>Gordon a konfliktusmegoldó kommunikáció során az ún. </a:t>
            </a:r>
            <a:r>
              <a:rPr lang="hu-HU" sz="2400" b="1" dirty="0"/>
              <a:t>én-üzeneteket</a:t>
            </a:r>
            <a:r>
              <a:rPr lang="hu-HU" sz="2400" dirty="0"/>
              <a:t> ajánlja (tényeket és szempontokat közöl ), mivel a </a:t>
            </a:r>
            <a:r>
              <a:rPr lang="hu-HU" sz="2400" b="1" dirty="0"/>
              <a:t>te-közlés</a:t>
            </a:r>
            <a:r>
              <a:rPr lang="hu-HU" sz="2400" dirty="0"/>
              <a:t> mindig minősítő, és lezárja a kommunikációt</a:t>
            </a:r>
          </a:p>
          <a:p>
            <a:r>
              <a:rPr lang="hu-HU" b="1" dirty="0"/>
              <a:t>M</a:t>
            </a:r>
            <a:r>
              <a:rPr lang="hu-HU" sz="2400" b="1" dirty="0"/>
              <a:t>egelőzhető</a:t>
            </a:r>
            <a:r>
              <a:rPr lang="hu-HU" sz="2400" dirty="0"/>
              <a:t>, </a:t>
            </a:r>
            <a:r>
              <a:rPr lang="hu-HU" sz="2400" b="1" dirty="0"/>
              <a:t>hogy a másik fél védekezésre kényszerüljön</a:t>
            </a:r>
          </a:p>
          <a:p>
            <a:r>
              <a:rPr lang="hu-HU" b="1" dirty="0"/>
              <a:t>M</a:t>
            </a:r>
            <a:r>
              <a:rPr lang="hu-HU" sz="2400" b="1" dirty="0"/>
              <a:t>ód van a saját szándék világos, egyértelmű közlésére</a:t>
            </a:r>
          </a:p>
          <a:p>
            <a:r>
              <a:rPr lang="hu-HU" b="1" dirty="0"/>
              <a:t>É</a:t>
            </a:r>
            <a:r>
              <a:rPr lang="hu-HU" sz="2400" b="1" dirty="0"/>
              <a:t>rtő figyelem</a:t>
            </a:r>
            <a:r>
              <a:rPr lang="hu-HU" sz="2400" dirty="0"/>
              <a:t>, vagy aktív hallgatás, ami feltételezi az én-üzenetek adását, mellyel visszajelezzük, mit értettünk meg a másik fél üzenetéből</a:t>
            </a:r>
          </a:p>
          <a:p>
            <a:r>
              <a:rPr lang="hu-HU" b="1" dirty="0"/>
              <a:t>V</a:t>
            </a:r>
            <a:r>
              <a:rPr lang="hu-HU" sz="2400" b="1" dirty="0"/>
              <a:t>ereségmentes konfliktuskezelésnek </a:t>
            </a:r>
            <a:r>
              <a:rPr lang="hu-HU" sz="2400" dirty="0"/>
              <a:t>(győztes-győztes módszer) </a:t>
            </a:r>
            <a:endParaRPr lang="hu-HU" sz="2400" b="1" dirty="0"/>
          </a:p>
          <a:p>
            <a:r>
              <a:rPr lang="hu-HU" sz="900" dirty="0"/>
              <a:t>Gordon, </a:t>
            </a:r>
            <a:r>
              <a:rPr lang="hu-HU" sz="900" dirty="0" err="1"/>
              <a:t>Th</a:t>
            </a:r>
            <a:r>
              <a:rPr lang="hu-HU" sz="900" dirty="0"/>
              <a:t>. (1990): </a:t>
            </a:r>
            <a:r>
              <a:rPr lang="hu-HU" sz="900" i="1" dirty="0"/>
              <a:t>T. E. T. A tanári hatékonyság fejlesztése</a:t>
            </a:r>
            <a:r>
              <a:rPr lang="hu-HU" sz="900" dirty="0"/>
              <a:t>. Gondolat Kiadó, Budapest</a:t>
            </a: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Konfliktuskezelés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2195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konfliktuskezelés tízparancsolata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919859" cy="53420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hu-HU" sz="2400" b="1" dirty="0">
                <a:cs typeface="Arial" panose="020B0604020202020204" pitchFamily="34" charset="0"/>
              </a:rPr>
              <a:t>A konfliktuskezelés tízparancsolata </a:t>
            </a:r>
            <a:r>
              <a:rPr lang="hu-HU" sz="2400" b="1" dirty="0" err="1">
                <a:cs typeface="Arial" panose="020B0604020202020204" pitchFamily="34" charset="0"/>
              </a:rPr>
              <a:t>Morton</a:t>
            </a:r>
            <a:r>
              <a:rPr lang="hu-HU" sz="2400" b="1" dirty="0">
                <a:cs typeface="Arial" panose="020B0604020202020204" pitchFamily="34" charset="0"/>
              </a:rPr>
              <a:t> Deutsch szerint: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 smtClean="0"/>
              <a:t>Határozd </a:t>
            </a:r>
            <a:r>
              <a:rPr lang="hu-HU" dirty="0"/>
              <a:t>meg, milyen konfliktusban vagy!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 smtClean="0"/>
              <a:t>Tiszteld </a:t>
            </a:r>
            <a:r>
              <a:rPr lang="hu-HU" dirty="0"/>
              <a:t>saját és mások szükségleteit!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 smtClean="0"/>
              <a:t>Tégy </a:t>
            </a:r>
            <a:r>
              <a:rPr lang="hu-HU" dirty="0"/>
              <a:t>különbséget az érdekek és az álláspontok között!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 smtClean="0"/>
              <a:t>Ismerd </a:t>
            </a:r>
            <a:r>
              <a:rPr lang="hu-HU" dirty="0"/>
              <a:t>meg mások, és ismertesd meg saját érdekeidet, hogy azonosítani tudjátok a közös és összeegyeztethető érdekeiteket!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 smtClean="0"/>
              <a:t>Határozd </a:t>
            </a:r>
            <a:r>
              <a:rPr lang="hu-HU" dirty="0"/>
              <a:t>meg a saját és a másik (konfliktusban álló) érdekeit, úgy, mint az együttműködés által megoldható problémát!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 smtClean="0"/>
              <a:t>Figyelj </a:t>
            </a:r>
            <a:r>
              <a:rPr lang="hu-HU" dirty="0"/>
              <a:t>oda a kommunikációra, ennek érdekében próbáld meg minél érthetőbben közölni az információkat!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 smtClean="0"/>
              <a:t>Figyeld </a:t>
            </a:r>
            <a:r>
              <a:rPr lang="hu-HU" dirty="0"/>
              <a:t>szubjektivitásodat, elfogultságodat, hamis ítéleteidet, sztereotípiáidat, amelyek a gyorsan kialakuló konfliktusokban gyakran jelen vannak!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 smtClean="0"/>
              <a:t>Fejleszd </a:t>
            </a:r>
            <a:r>
              <a:rPr lang="hu-HU" dirty="0"/>
              <a:t>konfliktuskezelő képességeidet!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 smtClean="0"/>
              <a:t>Ismerd </a:t>
            </a:r>
            <a:r>
              <a:rPr lang="hu-HU" dirty="0"/>
              <a:t>meg önmagad és ismerd meg saját felelősségedet, szerepedet, reakcióidat a konfliktushelyzetekben!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 smtClean="0"/>
              <a:t>Őrizd </a:t>
            </a:r>
            <a:r>
              <a:rPr lang="hu-HU" dirty="0"/>
              <a:t>meg a konfliktuskezelés folyamatában az erkölcsi érzékedet! </a:t>
            </a: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Konfliktuskezelés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012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Lépései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919859" cy="534206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hu-HU" sz="2400" dirty="0" smtClean="0"/>
              <a:t>A </a:t>
            </a:r>
            <a:r>
              <a:rPr lang="hu-HU" sz="2400" dirty="0"/>
              <a:t>konfliktushelyzet értelmezése, a probléma tudatosítása</a:t>
            </a:r>
          </a:p>
          <a:p>
            <a:pPr marL="457200" indent="-457200">
              <a:buFont typeface="+mj-lt"/>
              <a:buAutoNum type="arabicPeriod"/>
            </a:pPr>
            <a:r>
              <a:rPr lang="hu-HU" sz="2400" dirty="0" smtClean="0"/>
              <a:t>A </a:t>
            </a:r>
            <a:r>
              <a:rPr lang="hu-HU" sz="2400" dirty="0"/>
              <a:t>konfliktus érvényességének (relevanciájának) meghatározása (az érintettség megállapítása)</a:t>
            </a:r>
          </a:p>
          <a:p>
            <a:pPr marL="457200" indent="-457200">
              <a:buFont typeface="+mj-lt"/>
              <a:buAutoNum type="arabicPeriod"/>
            </a:pPr>
            <a:r>
              <a:rPr lang="hu-HU" sz="2400" dirty="0" smtClean="0"/>
              <a:t>Az </a:t>
            </a:r>
            <a:r>
              <a:rPr lang="hu-HU" sz="2400" dirty="0"/>
              <a:t>első reakció mérlegelése</a:t>
            </a:r>
          </a:p>
          <a:p>
            <a:pPr marL="457200" indent="-457200">
              <a:buFont typeface="+mj-lt"/>
              <a:buAutoNum type="arabicPeriod"/>
            </a:pPr>
            <a:r>
              <a:rPr lang="hu-HU" sz="2400" dirty="0" smtClean="0"/>
              <a:t>Az </a:t>
            </a:r>
            <a:r>
              <a:rPr lang="hu-HU" sz="2400" dirty="0"/>
              <a:t>okok feltárása, a tapasztalatok összegzése, további információk gyűjtése</a:t>
            </a:r>
          </a:p>
          <a:p>
            <a:pPr marL="457200" indent="-457200">
              <a:buFont typeface="+mj-lt"/>
              <a:buAutoNum type="arabicPeriod"/>
            </a:pPr>
            <a:r>
              <a:rPr lang="hu-HU" sz="2400" dirty="0" smtClean="0"/>
              <a:t>Szempontváltás</a:t>
            </a:r>
            <a:endParaRPr lang="hu-HU" sz="2400" dirty="0"/>
          </a:p>
          <a:p>
            <a:pPr marL="457200" indent="-457200">
              <a:buFont typeface="+mj-lt"/>
              <a:buAutoNum type="arabicPeriod"/>
            </a:pPr>
            <a:r>
              <a:rPr lang="hu-HU" sz="2400" dirty="0" smtClean="0"/>
              <a:t>A </a:t>
            </a:r>
            <a:r>
              <a:rPr lang="hu-HU" sz="2400" dirty="0"/>
              <a:t>megoldási lehetőségek </a:t>
            </a:r>
            <a:r>
              <a:rPr lang="hu-HU" sz="2400" dirty="0" smtClean="0"/>
              <a:t>összegyűjtése</a:t>
            </a:r>
          </a:p>
          <a:p>
            <a:pPr marL="457200" indent="-457200">
              <a:buFont typeface="+mj-lt"/>
              <a:buAutoNum type="arabicPeriod"/>
            </a:pPr>
            <a:r>
              <a:rPr lang="hu-HU" sz="2400" dirty="0" smtClean="0"/>
              <a:t>A </a:t>
            </a:r>
            <a:r>
              <a:rPr lang="hu-HU" sz="2400" dirty="0"/>
              <a:t>megoldási lehetőségek elemzése, az eddigiek értékelése</a:t>
            </a:r>
          </a:p>
          <a:p>
            <a:pPr marL="457200" indent="-457200">
              <a:buFont typeface="+mj-lt"/>
              <a:buAutoNum type="arabicPeriod"/>
            </a:pPr>
            <a:r>
              <a:rPr lang="hu-HU" sz="2400" dirty="0" smtClean="0"/>
              <a:t>A </a:t>
            </a:r>
            <a:r>
              <a:rPr lang="hu-HU" sz="2400" dirty="0"/>
              <a:t>megoldás koncepciójának kialakítása</a:t>
            </a: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Konfliktuskezelés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3933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Kapcsolata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919859" cy="5342060"/>
          </a:xfrm>
        </p:spPr>
        <p:txBody>
          <a:bodyPr>
            <a:normAutofit/>
          </a:bodyPr>
          <a:lstStyle/>
          <a:p>
            <a:r>
              <a:rPr lang="hu-HU" dirty="0"/>
              <a:t>A</a:t>
            </a:r>
            <a:r>
              <a:rPr lang="hu-HU" sz="2400" dirty="0"/>
              <a:t> kommunikáció funkciója a kapcsolat teremtése, fenntartása, ill. az információcsere</a:t>
            </a:r>
          </a:p>
          <a:p>
            <a:r>
              <a:rPr lang="hu-HU" dirty="0"/>
              <a:t>A</a:t>
            </a:r>
            <a:r>
              <a:rPr lang="hu-HU" sz="2400" dirty="0"/>
              <a:t> konfliktus következtében a kapcsolat sérül, és a kommunikáció torzul</a:t>
            </a:r>
            <a:br>
              <a:rPr lang="hu-HU" sz="2400" dirty="0"/>
            </a:br>
            <a:r>
              <a:rPr lang="hu-HU" sz="2400" dirty="0"/>
              <a:t/>
            </a:r>
            <a:br>
              <a:rPr lang="hu-HU" sz="2400" dirty="0"/>
            </a:br>
            <a:endParaRPr lang="hu-HU" sz="2400" dirty="0"/>
          </a:p>
          <a:p>
            <a:r>
              <a:rPr lang="hu-HU" sz="2400" b="1" dirty="0"/>
              <a:t>Meg kell találni a megfelelő kommunikációs eszközöket és a megfelelő kommunikációs stílust a konfliktuskezeléshez</a:t>
            </a:r>
            <a:br>
              <a:rPr lang="hu-HU" sz="2400" b="1" dirty="0"/>
            </a:br>
            <a:endParaRPr lang="hu-HU" sz="2400" b="1" dirty="0"/>
          </a:p>
          <a:p>
            <a:r>
              <a:rPr lang="hu-HU" sz="2400" dirty="0"/>
              <a:t>A kommunikáció eszköz, amelynek segítségével felszínre hozhatjuk a konfliktusok okait, tisztázhatjuk érzelmeinket, szükségleteinket, kidolgozhatunk megoldásokat, terveket és ellenőrizhetjük azok megvalósítását is. </a:t>
            </a: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Kommunikáció és konfliktuskezelés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0063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Hasznos kommunikációs eszközök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919859" cy="5342060"/>
          </a:xfrm>
        </p:spPr>
        <p:txBody>
          <a:bodyPr>
            <a:normAutofit lnSpcReduction="10000"/>
          </a:bodyPr>
          <a:lstStyle/>
          <a:p>
            <a:r>
              <a:rPr lang="hu-HU" dirty="0"/>
              <a:t>Az </a:t>
            </a:r>
            <a:r>
              <a:rPr lang="hu-HU" b="1" dirty="0"/>
              <a:t>aktív hallgatás:</a:t>
            </a:r>
            <a:r>
              <a:rPr lang="hu-HU" dirty="0"/>
              <a:t> a másik félre irányuló fokozott figyelem, az általa elmondott információk aktív feldolgozása, megértése, rövid közbevetések és nonverbális (bólogatás, szemkontaktus) eszközök segítségével</a:t>
            </a:r>
          </a:p>
          <a:p>
            <a:r>
              <a:rPr lang="hu-HU" dirty="0"/>
              <a:t>A </a:t>
            </a:r>
            <a:r>
              <a:rPr lang="hu-HU" b="1" dirty="0"/>
              <a:t>blokkolás</a:t>
            </a:r>
            <a:r>
              <a:rPr lang="hu-HU" dirty="0"/>
              <a:t>: megakadályozza a másikat az adott pillanatban, az adott téma további kifejtésében, lehetőséget adva későbbi időpontban való megbeszélésre. Pl.: Szeretném, ha most visszatérnénk az előző gondolatra, erre a felvetésre később térjünk vissza!</a:t>
            </a:r>
          </a:p>
          <a:p>
            <a:r>
              <a:rPr lang="hu-HU" dirty="0"/>
              <a:t>Az</a:t>
            </a:r>
            <a:r>
              <a:rPr lang="hu-HU" b="1" dirty="0"/>
              <a:t> erősítés</a:t>
            </a:r>
            <a:r>
              <a:rPr lang="hu-HU" dirty="0"/>
              <a:t>: pozitív értékelést jelent a kommunikátor részéről, szólhat az általa felhozott témának, javaslatnak</a:t>
            </a:r>
          </a:p>
          <a:p>
            <a:r>
              <a:rPr lang="hu-HU" dirty="0"/>
              <a:t>Az </a:t>
            </a:r>
            <a:r>
              <a:rPr lang="hu-HU" b="1" dirty="0"/>
              <a:t>érzelem visszatükrözés</a:t>
            </a:r>
            <a:r>
              <a:rPr lang="hu-HU" dirty="0"/>
              <a:t> lényege, hogy a másik érzelmeit, lelkiállapotát szavakba öntjük. A kommunikáció arra irányul, hogy bemutassuk, hogy átérezzük a másik adott témával kapcsolatos érzelmeit, érzéseit</a:t>
            </a:r>
          </a:p>
          <a:p>
            <a:r>
              <a:rPr lang="hu-HU" dirty="0"/>
              <a:t>A</a:t>
            </a:r>
            <a:r>
              <a:rPr lang="hu-HU" b="1" dirty="0"/>
              <a:t> fontosság elismerése</a:t>
            </a:r>
            <a:r>
              <a:rPr lang="hu-HU" dirty="0"/>
              <a:t>: arra irányul, hogy ami a másiknak fontos, jelentős, azt felismerjük, pozitívan értékeljük, s ezt kifejezésre is juttassuk.</a:t>
            </a:r>
          </a:p>
          <a:p>
            <a:r>
              <a:rPr lang="hu-HU" dirty="0"/>
              <a:t>A </a:t>
            </a:r>
            <a:r>
              <a:rPr lang="hu-HU" b="1" dirty="0"/>
              <a:t>kiemelés</a:t>
            </a:r>
            <a:r>
              <a:rPr lang="hu-HU" dirty="0"/>
              <a:t>: a konfliktusban szereplő másik által hozott információkból a releváns elemeket hangsúlyozzuk</a:t>
            </a: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Kommunikáció és konfliktuskezelés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8900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Hasznos kommunikációs eszközök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919859" cy="5342060"/>
          </a:xfrm>
        </p:spPr>
        <p:txBody>
          <a:bodyPr>
            <a:normAutofit fontScale="92500" lnSpcReduction="10000"/>
          </a:bodyPr>
          <a:lstStyle/>
          <a:p>
            <a:r>
              <a:rPr lang="hu-HU" dirty="0"/>
              <a:t>A </a:t>
            </a:r>
            <a:r>
              <a:rPr lang="hu-HU" b="1" dirty="0"/>
              <a:t>konfrontáció</a:t>
            </a:r>
            <a:r>
              <a:rPr lang="hu-HU" dirty="0"/>
              <a:t>: a másik által hozott, egymásnak ellentmondó információkat ütköztetjük</a:t>
            </a:r>
          </a:p>
          <a:p>
            <a:r>
              <a:rPr lang="hu-HU" dirty="0"/>
              <a:t>A </a:t>
            </a:r>
            <a:r>
              <a:rPr lang="hu-HU" b="1" dirty="0"/>
              <a:t>korlátozás</a:t>
            </a:r>
            <a:r>
              <a:rPr lang="hu-HU" dirty="0"/>
              <a:t>: a témát meghatározott irányba tereljük, szűkítjük</a:t>
            </a:r>
          </a:p>
          <a:p>
            <a:r>
              <a:rPr lang="hu-HU" dirty="0"/>
              <a:t>A </a:t>
            </a:r>
            <a:r>
              <a:rPr lang="hu-HU" b="1" dirty="0"/>
              <a:t>nyitott mondat</a:t>
            </a:r>
            <a:r>
              <a:rPr lang="hu-HU" dirty="0"/>
              <a:t>: információkat próbálunk szerezni a másiktól, direkt rákérdezés nélkül, így a másik a témát szabadon fejtheti ki</a:t>
            </a:r>
          </a:p>
          <a:p>
            <a:r>
              <a:rPr lang="hu-HU" b="1" dirty="0"/>
              <a:t>Az önközlés</a:t>
            </a:r>
            <a:r>
              <a:rPr lang="hu-HU" dirty="0"/>
              <a:t>: a másik fél élményéhez kapcsolt saját, azonos irányú érzelem közlése történik, pl.: nekem is voltak kellemetlen perceim, amikor…</a:t>
            </a:r>
          </a:p>
          <a:p>
            <a:r>
              <a:rPr lang="hu-HU" dirty="0"/>
              <a:t>Az </a:t>
            </a:r>
            <a:r>
              <a:rPr lang="hu-HU" b="1" dirty="0"/>
              <a:t>összegzés</a:t>
            </a:r>
            <a:r>
              <a:rPr lang="hu-HU" dirty="0"/>
              <a:t>: egy-egy nagyobb téma után alkalmazunk, a </a:t>
            </a:r>
            <a:r>
              <a:rPr lang="hu-HU" dirty="0" err="1"/>
              <a:t>parafrazált</a:t>
            </a:r>
            <a:r>
              <a:rPr lang="hu-HU" dirty="0"/>
              <a:t> és összekapcsolt elemeket megfelelő összefüggésbe állítva</a:t>
            </a:r>
          </a:p>
          <a:p>
            <a:r>
              <a:rPr lang="hu-HU" dirty="0"/>
              <a:t>Az </a:t>
            </a:r>
            <a:r>
              <a:rPr lang="hu-HU" b="1" dirty="0"/>
              <a:t>összekapcsolás</a:t>
            </a:r>
            <a:r>
              <a:rPr lang="hu-HU" dirty="0"/>
              <a:t>: kiemeljük a lényeges gondolatokat, és összefüggést állítunk fel az előzőleg </a:t>
            </a:r>
            <a:r>
              <a:rPr lang="hu-HU" dirty="0" err="1"/>
              <a:t>parafrazált</a:t>
            </a:r>
            <a:r>
              <a:rPr lang="hu-HU" dirty="0"/>
              <a:t> gondolatok között</a:t>
            </a:r>
          </a:p>
          <a:p>
            <a:r>
              <a:rPr lang="hu-HU" dirty="0"/>
              <a:t>A </a:t>
            </a:r>
            <a:r>
              <a:rPr lang="hu-HU" b="1" dirty="0"/>
              <a:t>parafrázis</a:t>
            </a:r>
            <a:r>
              <a:rPr lang="hu-HU" dirty="0"/>
              <a:t>: az aktuális szituáció lényeges elemeit kiemeljük, a másik fél saját </a:t>
            </a:r>
            <a:r>
              <a:rPr lang="hu-HU" dirty="0" err="1"/>
              <a:t>szavainak</a:t>
            </a:r>
            <a:r>
              <a:rPr lang="hu-HU" dirty="0"/>
              <a:t> ismétlésével</a:t>
            </a:r>
          </a:p>
          <a:p>
            <a:r>
              <a:rPr lang="hu-HU" dirty="0"/>
              <a:t>A </a:t>
            </a:r>
            <a:r>
              <a:rPr lang="hu-HU" b="1" dirty="0"/>
              <a:t>rögtönzés</a:t>
            </a:r>
            <a:r>
              <a:rPr lang="hu-HU" dirty="0"/>
              <a:t>: az adott szituációhoz gyorsan kapcsolódunk, a közlés nem hordoz feltétlenül releváns információt, azonban lehetőleg pozitív érzelmeket hív elő. Pl.: a humor ilyen rögtönzés</a:t>
            </a:r>
          </a:p>
          <a:p>
            <a:r>
              <a:rPr lang="hu-HU" dirty="0"/>
              <a:t>A </a:t>
            </a:r>
            <a:r>
              <a:rPr lang="hu-HU" b="1" dirty="0"/>
              <a:t>támogatás</a:t>
            </a:r>
            <a:r>
              <a:rPr lang="hu-HU" dirty="0"/>
              <a:t>: a másik fél megnyilvánulásait kiemeljük, és azt pozitív töltésűvé fordítjuk</a:t>
            </a:r>
          </a:p>
          <a:p>
            <a:r>
              <a:rPr lang="hu-HU" dirty="0"/>
              <a:t>A </a:t>
            </a:r>
            <a:r>
              <a:rPr lang="hu-HU" b="1" dirty="0"/>
              <a:t>visszacsatolás</a:t>
            </a:r>
            <a:r>
              <a:rPr lang="hu-HU" dirty="0"/>
              <a:t>: a beszélgetés korábbi szakaszában érintett témákra visszatérünk, visszautalunk</a:t>
            </a: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Kommunikáció és konfliktuskezelés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588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Asszertív kommunikáció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919859" cy="5342060"/>
          </a:xfrm>
        </p:spPr>
        <p:txBody>
          <a:bodyPr>
            <a:normAutofit/>
          </a:bodyPr>
          <a:lstStyle/>
          <a:p>
            <a:r>
              <a:rPr lang="hu-HU" b="1" dirty="0"/>
              <a:t>Érvényesíteni tudjuk a saját érdekeinket anélkül, hogy a másiknak kárt, kellemetlenséget okoznánk</a:t>
            </a:r>
            <a:r>
              <a:rPr lang="hu-HU" dirty="0"/>
              <a:t>. </a:t>
            </a:r>
          </a:p>
          <a:p>
            <a:r>
              <a:rPr lang="hu-HU" dirty="0"/>
              <a:t>A konfliktuskezelés nem azt jelenti, hogy a másik érdekeit parttalanul megértjük, hanem azt, hogy a másik érdekei mellett a saját érdekeinket is érvényesítjük.</a:t>
            </a:r>
          </a:p>
          <a:p>
            <a:r>
              <a:rPr lang="hu-HU" dirty="0"/>
              <a:t>A </a:t>
            </a:r>
            <a:r>
              <a:rPr lang="hu-HU" b="1" dirty="0"/>
              <a:t>kellemes érzések kifejezése</a:t>
            </a:r>
            <a:r>
              <a:rPr lang="hu-HU" dirty="0"/>
              <a:t>, </a:t>
            </a:r>
          </a:p>
          <a:p>
            <a:r>
              <a:rPr lang="hu-HU" dirty="0"/>
              <a:t>A </a:t>
            </a:r>
            <a:r>
              <a:rPr lang="hu-HU" b="1" dirty="0"/>
              <a:t>kellemetlen érzések kifejezése</a:t>
            </a:r>
            <a:r>
              <a:rPr lang="hu-HU" dirty="0"/>
              <a:t> </a:t>
            </a:r>
          </a:p>
          <a:p>
            <a:r>
              <a:rPr lang="hu-HU" dirty="0"/>
              <a:t>A </a:t>
            </a:r>
            <a:r>
              <a:rPr lang="hu-HU" b="1" dirty="0"/>
              <a:t>szükségletek kifejezése </a:t>
            </a:r>
          </a:p>
          <a:p>
            <a:r>
              <a:rPr lang="hu-HU" dirty="0"/>
              <a:t>A </a:t>
            </a:r>
            <a:r>
              <a:rPr lang="hu-HU" b="1" dirty="0"/>
              <a:t>pozitív kérés</a:t>
            </a:r>
            <a:r>
              <a:rPr lang="hu-HU" dirty="0"/>
              <a:t>, által azt közöljük, hogy mit szeretnénk, hogy a másik fél pontosan mit tegyen meg. Ezt a kérést összekapcsoljuk azzal, hogy kifejezzük, hogy mit fogunk érezni akkor, ha a másik fél ezt megteszi. Pl.: szeretném, ha ön…, örülnék neki, ha ön…</a:t>
            </a: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Kommunikáció és konfliktuskezelés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2824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Erőszakmentes kommunikáció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36070" y="1265463"/>
            <a:ext cx="11510283" cy="5456010"/>
          </a:xfrm>
        </p:spPr>
        <p:txBody>
          <a:bodyPr>
            <a:normAutofit fontScale="92500" lnSpcReduction="10000"/>
          </a:bodyPr>
          <a:lstStyle/>
          <a:p>
            <a:r>
              <a:rPr lang="hu-HU" u="sng" dirty="0" smtClean="0"/>
              <a:t>Fogalma: </a:t>
            </a:r>
            <a:r>
              <a:rPr lang="hu-HU" dirty="0" smtClean="0"/>
              <a:t/>
            </a:r>
            <a:br>
              <a:rPr lang="hu-HU" dirty="0" smtClean="0"/>
            </a:br>
            <a:r>
              <a:rPr lang="hu-HU" dirty="0" smtClean="0"/>
              <a:t>Az </a:t>
            </a:r>
            <a:r>
              <a:rPr lang="hu-HU" dirty="0"/>
              <a:t>EMK olyan </a:t>
            </a:r>
            <a:r>
              <a:rPr lang="hu-HU" b="1" dirty="0"/>
              <a:t>nyelvi és kommunikációs módszerek összessége</a:t>
            </a:r>
            <a:r>
              <a:rPr lang="hu-HU" dirty="0"/>
              <a:t>, amelynek célja, hogy az emberek nagyobb együttérzéssel és világosabban, kevesebb félreértéssel tudjanak kommunikálni egymással, és lehetőség szerint nyertes-nyertes viszonyt hozzanak létre. </a:t>
            </a:r>
            <a:endParaRPr lang="hu-HU" dirty="0" smtClean="0"/>
          </a:p>
          <a:p>
            <a:r>
              <a:rPr lang="hu-HU" b="1" dirty="0" smtClean="0"/>
              <a:t>A </a:t>
            </a:r>
            <a:r>
              <a:rPr lang="hu-HU" b="1" dirty="0"/>
              <a:t>módszer két kulcsszava: empátia és őszinte önkifejezés</a:t>
            </a:r>
            <a:r>
              <a:rPr lang="hu-HU" b="1" dirty="0" smtClean="0"/>
              <a:t>.</a:t>
            </a:r>
          </a:p>
          <a:p>
            <a:r>
              <a:rPr lang="hu-HU" b="1" dirty="0"/>
              <a:t>4 fő </a:t>
            </a:r>
            <a:r>
              <a:rPr lang="hu-HU" b="1" dirty="0" smtClean="0"/>
              <a:t>alkotóeleme:</a:t>
            </a:r>
            <a:endParaRPr lang="hu-HU" dirty="0"/>
          </a:p>
          <a:p>
            <a:pPr marL="0" indent="0">
              <a:buNone/>
            </a:pPr>
            <a:r>
              <a:rPr lang="hu-HU" b="1" dirty="0" smtClean="0"/>
              <a:t>1</a:t>
            </a:r>
            <a:r>
              <a:rPr lang="hu-HU" b="1" dirty="0"/>
              <a:t>. Megfigyelés</a:t>
            </a:r>
            <a:r>
              <a:rPr lang="hu-HU" dirty="0"/>
              <a:t> – Mi történik éppen? Mit tesz vagy mond a másik?</a:t>
            </a:r>
            <a:br>
              <a:rPr lang="hu-HU" dirty="0"/>
            </a:br>
            <a:r>
              <a:rPr lang="hu-HU" b="1" dirty="0"/>
              <a:t>2. Érzés</a:t>
            </a:r>
            <a:r>
              <a:rPr lang="hu-HU" dirty="0"/>
              <a:t> – Hogyan érzem magam azzal kapcsolatban, ami történik?</a:t>
            </a:r>
            <a:br>
              <a:rPr lang="hu-HU" dirty="0"/>
            </a:br>
            <a:r>
              <a:rPr lang="hu-HU" b="1" dirty="0"/>
              <a:t>3. Szükséglet</a:t>
            </a:r>
            <a:r>
              <a:rPr lang="hu-HU" dirty="0"/>
              <a:t> – Milyen saját szükségletem, vágyam váltotta ki az érzéseimet?</a:t>
            </a:r>
            <a:br>
              <a:rPr lang="hu-HU" dirty="0"/>
            </a:br>
            <a:r>
              <a:rPr lang="hu-HU" b="1" dirty="0"/>
              <a:t>4. Kérés</a:t>
            </a:r>
            <a:r>
              <a:rPr lang="hu-HU" dirty="0"/>
              <a:t> – Mire van szükségem a másik embertől, hogy teljesüljön a szükségletem</a:t>
            </a:r>
            <a:r>
              <a:rPr lang="hu-HU" dirty="0" smtClean="0"/>
              <a:t>?</a:t>
            </a:r>
          </a:p>
          <a:p>
            <a:pPr marL="0" indent="0">
              <a:buNone/>
            </a:pPr>
            <a:endParaRPr lang="hu-HU" dirty="0" smtClean="0"/>
          </a:p>
          <a:p>
            <a:r>
              <a:rPr lang="hu-HU" b="1" dirty="0"/>
              <a:t>Az „életidegen kommunikáció” négy fajtája, melyek blokkolják az empatikus jelenlétet:</a:t>
            </a:r>
            <a:endParaRPr lang="hu-HU" dirty="0"/>
          </a:p>
          <a:p>
            <a:pPr marL="0" indent="0">
              <a:buNone/>
            </a:pPr>
            <a:r>
              <a:rPr lang="hu-HU" b="1" dirty="0"/>
              <a:t>1. Erkölcsi ítéletek</a:t>
            </a:r>
            <a:r>
              <a:rPr lang="hu-HU" dirty="0"/>
              <a:t> – hibáztatás, szemrehányás, kritika, gúny </a:t>
            </a:r>
            <a:r>
              <a:rPr lang="hu-HU" dirty="0" err="1"/>
              <a:t>stb</a:t>
            </a:r>
            <a:r>
              <a:rPr lang="hu-HU" dirty="0"/>
              <a:t>: „Hazudsz!”</a:t>
            </a:r>
            <a:br>
              <a:rPr lang="hu-HU" dirty="0"/>
            </a:br>
            <a:r>
              <a:rPr lang="hu-HU" b="1" dirty="0"/>
              <a:t>2. </a:t>
            </a:r>
            <a:r>
              <a:rPr lang="hu-HU" b="1" dirty="0" err="1"/>
              <a:t>Hasonlítgatások</a:t>
            </a:r>
            <a:r>
              <a:rPr lang="hu-HU" dirty="0"/>
              <a:t>: „Lassabban dolgozik, mint az elődje.”</a:t>
            </a:r>
            <a:br>
              <a:rPr lang="hu-HU" dirty="0"/>
            </a:br>
            <a:r>
              <a:rPr lang="hu-HU" b="1" dirty="0"/>
              <a:t>3.</a:t>
            </a:r>
            <a:r>
              <a:rPr lang="hu-HU" dirty="0"/>
              <a:t> </a:t>
            </a:r>
            <a:r>
              <a:rPr lang="hu-HU" b="1" dirty="0"/>
              <a:t>Felelősség áthárítás</a:t>
            </a:r>
            <a:r>
              <a:rPr lang="hu-HU" dirty="0"/>
              <a:t>: „Én ezt csak azért csináltam, mert te így kérted.”</a:t>
            </a:r>
            <a:br>
              <a:rPr lang="hu-HU" dirty="0"/>
            </a:br>
            <a:r>
              <a:rPr lang="hu-HU" b="1" dirty="0"/>
              <a:t>4.</a:t>
            </a:r>
            <a:r>
              <a:rPr lang="hu-HU" dirty="0"/>
              <a:t> </a:t>
            </a:r>
            <a:r>
              <a:rPr lang="hu-HU" b="1" dirty="0"/>
              <a:t>Felszólítás, utasítás</a:t>
            </a:r>
            <a:r>
              <a:rPr lang="hu-HU" dirty="0"/>
              <a:t>: „Márpedig ezen a héten túlóráznod kell, különben</a:t>
            </a:r>
            <a:r>
              <a:rPr lang="hu-HU" dirty="0" smtClean="0"/>
              <a:t>…”</a:t>
            </a:r>
          </a:p>
          <a:p>
            <a:pPr marL="0" indent="0">
              <a:buNone/>
            </a:pPr>
            <a:r>
              <a:rPr lang="hu-HU" sz="900" dirty="0"/>
              <a:t>https://www.z-press.hu/eroszakmentes-kommunikacio-a-gyakorlatban</a:t>
            </a:r>
            <a:endParaRPr lang="hu-HU" sz="900" dirty="0"/>
          </a:p>
          <a:p>
            <a:pPr marL="0" indent="0">
              <a:buNone/>
            </a:pPr>
            <a:endParaRPr lang="hu-HU" dirty="0"/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hu-HU" dirty="0"/>
              <a:t>Kommunikáció és konfliktuskezelés</a:t>
            </a:r>
          </a:p>
          <a:p>
            <a:endParaRPr lang="hu-HU" dirty="0"/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6847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Megoldás keresése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2310937"/>
            <a:ext cx="11919859" cy="4488447"/>
          </a:xfrm>
        </p:spPr>
        <p:txBody>
          <a:bodyPr>
            <a:normAutofit/>
          </a:bodyPr>
          <a:lstStyle/>
          <a:p>
            <a:r>
              <a:rPr lang="hu-HU" sz="2400" dirty="0"/>
              <a:t>Versengő, avagy a zéró összegű játszmák</a:t>
            </a:r>
            <a:br>
              <a:rPr lang="hu-HU" sz="2400" dirty="0"/>
            </a:br>
            <a:r>
              <a:rPr lang="hu-HU" sz="2400" dirty="0"/>
              <a:t/>
            </a:r>
            <a:br>
              <a:rPr lang="hu-HU" sz="2400" dirty="0"/>
            </a:br>
            <a:endParaRPr lang="hu-HU" sz="2400" dirty="0"/>
          </a:p>
          <a:p>
            <a:r>
              <a:rPr lang="hu-HU" sz="2400" dirty="0"/>
              <a:t>Értékteremtő megoldás keresés,  avagy az elérhető összeredmény növelése</a:t>
            </a: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Kommunikáció és konfliktuskezelés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4905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363845" y="3055305"/>
            <a:ext cx="5033727" cy="20446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4000" dirty="0" smtClean="0">
                <a:solidFill>
                  <a:srgbClr val="00B0F0"/>
                </a:solidFill>
              </a:rPr>
              <a:t>Köszönöm a figyelmet!</a:t>
            </a:r>
            <a:endParaRPr lang="hu-HU" sz="4000" dirty="0">
              <a:solidFill>
                <a:srgbClr val="00B0F0"/>
              </a:solidFill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hu-HU"/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325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748</TotalTime>
  <Words>1774</Words>
  <Application>Microsoft Office PowerPoint</Application>
  <PresentationFormat>Szélesvásznú</PresentationFormat>
  <Paragraphs>285</Paragraphs>
  <Slides>34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34</vt:i4>
      </vt:variant>
    </vt:vector>
  </HeadingPairs>
  <TitlesOfParts>
    <vt:vector size="39" baseType="lpstr">
      <vt:lpstr>Arial</vt:lpstr>
      <vt:lpstr>Calibri</vt:lpstr>
      <vt:lpstr>Calibri Light</vt:lpstr>
      <vt:lpstr>Wingdings</vt:lpstr>
      <vt:lpstr>Office-téma</vt:lpstr>
      <vt:lpstr>Kommunikáció és konfliktus</vt:lpstr>
      <vt:lpstr>Tartalomjegyzék</vt:lpstr>
      <vt:lpstr>Fontossága</vt:lpstr>
      <vt:lpstr>Fogalma</vt:lpstr>
      <vt:lpstr>Fajtái</vt:lpstr>
      <vt:lpstr>Fajtái</vt:lpstr>
      <vt:lpstr>Alapmodell</vt:lpstr>
      <vt:lpstr>Üzleti kommunikáció</vt:lpstr>
      <vt:lpstr>Alapvető eszközei</vt:lpstr>
      <vt:lpstr>Alapvető eszközei</vt:lpstr>
      <vt:lpstr>Funkciói</vt:lpstr>
      <vt:lpstr>Fajtái</vt:lpstr>
      <vt:lpstr>Grapevine – Szőlőkacs modell</vt:lpstr>
      <vt:lpstr>Preferált kommunikációs csatornák egy konkrét vállalkozás két különböző szervezeti egységében</vt:lpstr>
      <vt:lpstr>Hatékonysága</vt:lpstr>
      <vt:lpstr>Írásos kommunikáció</vt:lpstr>
      <vt:lpstr>Írásos kommunikáció hatékonyságának megítélése egy konkrét vállalatnál (nemenkénti bontásban)</vt:lpstr>
      <vt:lpstr>A rossz kommunikáció következményei</vt:lpstr>
      <vt:lpstr>A konfliktus</vt:lpstr>
      <vt:lpstr>A konfliktus</vt:lpstr>
      <vt:lpstr>Folyamata</vt:lpstr>
      <vt:lpstr>Konfliktusok forrásai a szervezetben</vt:lpstr>
      <vt:lpstr>Stílusok</vt:lpstr>
      <vt:lpstr>Stílusok</vt:lpstr>
      <vt:lpstr>A hatékony konfliktusmegoldás</vt:lpstr>
      <vt:lpstr>A konfliktuskezelés tízparancsolata</vt:lpstr>
      <vt:lpstr>Lépései</vt:lpstr>
      <vt:lpstr>Kapcsolata</vt:lpstr>
      <vt:lpstr>Hasznos kommunikációs eszközök</vt:lpstr>
      <vt:lpstr>Hasznos kommunikációs eszközök</vt:lpstr>
      <vt:lpstr>Asszertív kommunikáció</vt:lpstr>
      <vt:lpstr>Erőszakmentes kommunikáció</vt:lpstr>
      <vt:lpstr>Megoldás keresése</vt:lpstr>
      <vt:lpstr>PowerPoint bemutató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kommunikáció és konfliktuskezelés</dc:title>
  <dc:creator>MMI</dc:creator>
  <cp:lastModifiedBy>Gombaszögi Ildikó</cp:lastModifiedBy>
  <cp:revision>63</cp:revision>
  <dcterms:created xsi:type="dcterms:W3CDTF">2021-01-18T18:03:07Z</dcterms:created>
  <dcterms:modified xsi:type="dcterms:W3CDTF">2023-08-29T13:55:07Z</dcterms:modified>
</cp:coreProperties>
</file>