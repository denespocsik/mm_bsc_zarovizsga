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72" r:id="rId5"/>
    <p:sldId id="273" r:id="rId6"/>
    <p:sldId id="277" r:id="rId7"/>
    <p:sldId id="291" r:id="rId8"/>
    <p:sldId id="292" r:id="rId9"/>
    <p:sldId id="276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64" r:id="rId19"/>
    <p:sldId id="271" r:id="rId20"/>
    <p:sldId id="259" r:id="rId21"/>
    <p:sldId id="265" r:id="rId22"/>
    <p:sldId id="267" r:id="rId23"/>
    <p:sldId id="260" r:id="rId24"/>
    <p:sldId id="288" r:id="rId25"/>
    <p:sldId id="261" r:id="rId26"/>
    <p:sldId id="262" r:id="rId27"/>
    <p:sldId id="263" r:id="rId28"/>
    <p:sldId id="266" r:id="rId29"/>
    <p:sldId id="287" r:id="rId30"/>
    <p:sldId id="268" r:id="rId31"/>
    <p:sldId id="269" r:id="rId32"/>
    <p:sldId id="270" r:id="rId33"/>
    <p:sldId id="289" r:id="rId34"/>
    <p:sldId id="293" r:id="rId3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718D"/>
    <a:srgbClr val="F9FD6F"/>
    <a:srgbClr val="C6D849"/>
    <a:srgbClr val="E7D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90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60" d="100"/>
        <a:sy n="160" d="100"/>
      </p:scale>
      <p:origin x="0" y="-16278"/>
    </p:cViewPr>
  </p:sorterViewPr>
  <p:notesViewPr>
    <p:cSldViewPr snapToGrid="0">
      <p:cViewPr varScale="1">
        <p:scale>
          <a:sx n="62" d="100"/>
          <a:sy n="62" d="100"/>
        </p:scale>
        <p:origin x="7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697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1026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9476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8910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3535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1270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412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1690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3591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5594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7870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6864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71675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021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3664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863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8171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xmlns="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xmlns="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xmlns="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81718D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81718D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81718D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81718D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81718D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xmlns="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xmlns="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xmlns="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xmlns="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xmlns="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xmlns="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xmlns="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xmlns="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xmlns="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xmlns="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xmlns="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xmlns="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xmlns="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 descr="A képen épület, kültéri, település, társasház látható&#10;&#10;Automatikusan generált leírás">
            <a:extLst>
              <a:ext uri="{FF2B5EF4-FFF2-40B4-BE49-F238E27FC236}">
                <a16:creationId xmlns:a16="http://schemas.microsoft.com/office/drawing/2014/main" xmlns="" id="{F82BD348-AB2C-4C0C-9813-155F2F323D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xmlns="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Menedzsment alapjai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xmlns="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817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xmlns="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1.</a:t>
            </a:r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0093" y="220818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szervezetek fogalma, céljai, funkciói</a:t>
            </a:r>
          </a:p>
          <a:p>
            <a:r>
              <a:rPr lang="hu-HU" dirty="0"/>
              <a:t>A szervezetek érintettjei</a:t>
            </a:r>
          </a:p>
          <a:p>
            <a:r>
              <a:rPr lang="hu-HU" dirty="0"/>
              <a:t>A szervezetek fajtái, struktúrája</a:t>
            </a:r>
          </a:p>
          <a:p>
            <a:r>
              <a:rPr lang="hu-HU" dirty="0"/>
              <a:t>A szervezeti környezet</a:t>
            </a:r>
          </a:p>
          <a:p>
            <a:r>
              <a:rPr lang="hu-HU" dirty="0"/>
              <a:t>A szervezet irányítása</a:t>
            </a:r>
          </a:p>
          <a:p>
            <a:r>
              <a:rPr lang="hu-HU" dirty="0"/>
              <a:t>Menedzsment és vezetés</a:t>
            </a:r>
          </a:p>
          <a:p>
            <a:r>
              <a:rPr lang="hu-HU" dirty="0"/>
              <a:t>A menedzsment fogalma, céljai, funkciói</a:t>
            </a:r>
          </a:p>
          <a:p>
            <a:r>
              <a:rPr lang="hu-HU" dirty="0"/>
              <a:t>A menedzsment feladatai</a:t>
            </a:r>
          </a:p>
          <a:p>
            <a:r>
              <a:rPr lang="hu-HU" dirty="0"/>
              <a:t>A menedzsment </a:t>
            </a:r>
            <a:r>
              <a:rPr lang="hu-HU" dirty="0" smtClean="0"/>
              <a:t>szerepek</a:t>
            </a:r>
            <a:endParaRPr lang="hu-HU" dirty="0"/>
          </a:p>
          <a:p>
            <a:r>
              <a:rPr lang="hu-HU" dirty="0"/>
              <a:t>A menedzsment alapfunkciói</a:t>
            </a:r>
          </a:p>
          <a:p>
            <a:r>
              <a:rPr lang="hu-HU" dirty="0"/>
              <a:t>Menedzsment területek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3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01425"/>
            <a:ext cx="11861346" cy="5420048"/>
          </a:xfrm>
        </p:spPr>
        <p:txBody>
          <a:bodyPr/>
          <a:lstStyle/>
          <a:p>
            <a:r>
              <a:rPr lang="hu-HU" dirty="0"/>
              <a:t>Napjainkban a vállalati életnek elengedhetetlen </a:t>
            </a:r>
            <a:r>
              <a:rPr lang="hu-HU" dirty="0" smtClean="0"/>
              <a:t>szereplői </a:t>
            </a:r>
            <a:r>
              <a:rPr lang="hu-HU" dirty="0"/>
              <a:t>az elkötelezett menedzserek, </a:t>
            </a:r>
            <a:r>
              <a:rPr lang="hu-HU" dirty="0" smtClean="0"/>
              <a:t>és vezetők</a:t>
            </a:r>
            <a:r>
              <a:rPr lang="hu-HU" dirty="0"/>
              <a:t>, akik </a:t>
            </a:r>
            <a:endParaRPr lang="hu-HU" dirty="0" smtClean="0"/>
          </a:p>
          <a:p>
            <a:pPr lvl="1"/>
            <a:r>
              <a:rPr lang="hu-HU" dirty="0"/>
              <a:t>a</a:t>
            </a:r>
            <a:r>
              <a:rPr lang="hu-HU" dirty="0" smtClean="0"/>
              <a:t> vállalati célok és stratégiák kidolgozásáért,</a:t>
            </a:r>
          </a:p>
          <a:p>
            <a:pPr lvl="1"/>
            <a:r>
              <a:rPr lang="hu-HU" dirty="0" smtClean="0"/>
              <a:t>a </a:t>
            </a:r>
            <a:r>
              <a:rPr lang="hu-HU" dirty="0"/>
              <a:t>szükséges erőforrások optimális felhasználásáért,</a:t>
            </a:r>
          </a:p>
          <a:p>
            <a:pPr lvl="1"/>
            <a:r>
              <a:rPr lang="hu-HU" dirty="0" smtClean="0"/>
              <a:t>az </a:t>
            </a:r>
            <a:r>
              <a:rPr lang="hu-HU" dirty="0"/>
              <a:t>emberek </a:t>
            </a:r>
            <a:r>
              <a:rPr lang="hu-HU" dirty="0" smtClean="0"/>
              <a:t>vezetéséért és </a:t>
            </a:r>
            <a:r>
              <a:rPr lang="hu-HU" dirty="0"/>
              <a:t>motiválásáért,</a:t>
            </a:r>
          </a:p>
          <a:p>
            <a:pPr lvl="1"/>
            <a:r>
              <a:rPr lang="hu-HU" dirty="0" smtClean="0"/>
              <a:t>a </a:t>
            </a:r>
            <a:r>
              <a:rPr lang="hu-HU" dirty="0"/>
              <a:t>változások lebonyolításáért és a szervezet előre </a:t>
            </a:r>
            <a:r>
              <a:rPr lang="hu-HU" dirty="0" smtClean="0"/>
              <a:t>haladásáért felelnek.</a:t>
            </a:r>
            <a:endParaRPr lang="hu-HU" dirty="0"/>
          </a:p>
          <a:p>
            <a:r>
              <a:rPr lang="hu-HU" dirty="0"/>
              <a:t>A menedzsment alapjai kurzus betekintést kínál a menedzsment alapvetői </a:t>
            </a:r>
            <a:r>
              <a:rPr lang="hu-HU" dirty="0" smtClean="0"/>
              <a:t>funkcióiba, </a:t>
            </a:r>
            <a:r>
              <a:rPr lang="hu-HU" dirty="0"/>
              <a:t>és </a:t>
            </a:r>
            <a:r>
              <a:rPr lang="hu-HU" dirty="0" smtClean="0"/>
              <a:t>annak </a:t>
            </a:r>
            <a:r>
              <a:rPr lang="hu-HU" dirty="0"/>
              <a:t>napjainkban továbbra is legkritikusabb területeibe, </a:t>
            </a:r>
            <a:r>
              <a:rPr lang="hu-HU" dirty="0" smtClean="0"/>
              <a:t>valamint ismerteti </a:t>
            </a:r>
            <a:r>
              <a:rPr lang="hu-HU" dirty="0"/>
              <a:t>azon alapvető területeket amelyek ismerete elengedhetetlen a sikeres vezetővé válás </a:t>
            </a:r>
            <a:r>
              <a:rPr lang="hu-HU" dirty="0" smtClean="0"/>
              <a:t>útján, ezen belül: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xmlns="" id="{74B369D0-AFB0-48CB-B429-1D9A83E124C6}"/>
              </a:ext>
            </a:extLst>
          </p:cNvPr>
          <p:cNvSpPr txBox="1">
            <a:spLocks/>
          </p:cNvSpPr>
          <p:nvPr/>
        </p:nvSpPr>
        <p:spPr>
          <a:xfrm>
            <a:off x="29932" y="4716603"/>
            <a:ext cx="11861346" cy="2262608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hu-HU" dirty="0"/>
              <a:t>Menedzsment alapfogalmai</a:t>
            </a:r>
          </a:p>
          <a:p>
            <a:pPr lvl="1"/>
            <a:r>
              <a:rPr lang="hu-HU" dirty="0"/>
              <a:t>Menedzsment iskolák</a:t>
            </a:r>
          </a:p>
          <a:p>
            <a:pPr lvl="1"/>
            <a:r>
              <a:rPr lang="hu-HU" dirty="0" smtClean="0"/>
              <a:t>A </a:t>
            </a:r>
            <a:r>
              <a:rPr lang="hu-HU" dirty="0"/>
              <a:t>szervezeti felépítés és </a:t>
            </a:r>
            <a:r>
              <a:rPr lang="hu-HU" dirty="0" smtClean="0"/>
              <a:t>a csoportok</a:t>
            </a:r>
            <a:endParaRPr lang="hu-HU" dirty="0"/>
          </a:p>
          <a:p>
            <a:pPr lvl="1"/>
            <a:r>
              <a:rPr lang="hu-HU" dirty="0"/>
              <a:t>A vezetői szerepkör</a:t>
            </a:r>
          </a:p>
          <a:p>
            <a:pPr lvl="1"/>
            <a:r>
              <a:rPr lang="hu-HU" dirty="0" smtClean="0"/>
              <a:t>A dolgozók </a:t>
            </a:r>
            <a:r>
              <a:rPr lang="hu-HU" dirty="0"/>
              <a:t>motiválása, </a:t>
            </a:r>
            <a:r>
              <a:rPr lang="hu-HU" dirty="0" smtClean="0"/>
              <a:t>oktatása</a:t>
            </a:r>
          </a:p>
          <a:p>
            <a:pPr lvl="1"/>
            <a:r>
              <a:rPr lang="hu-HU" dirty="0" smtClean="0"/>
              <a:t>Kommunikáció </a:t>
            </a:r>
            <a:r>
              <a:rPr lang="hu-HU" dirty="0"/>
              <a:t>és konfliktus </a:t>
            </a:r>
            <a:r>
              <a:rPr lang="hu-HU" dirty="0" smtClean="0"/>
              <a:t>kezelés</a:t>
            </a:r>
          </a:p>
          <a:p>
            <a:pPr lvl="1"/>
            <a:r>
              <a:rPr lang="hu-HU" dirty="0" smtClean="0"/>
              <a:t>Vállalati </a:t>
            </a:r>
            <a:r>
              <a:rPr lang="hu-HU" dirty="0"/>
              <a:t>stratégia </a:t>
            </a:r>
            <a:r>
              <a:rPr lang="hu-HU" dirty="0" smtClean="0"/>
              <a:t>tervezés</a:t>
            </a:r>
          </a:p>
          <a:p>
            <a:pPr lvl="1"/>
            <a:r>
              <a:rPr lang="hu-HU" dirty="0" smtClean="0"/>
              <a:t>Döntési modellek</a:t>
            </a:r>
          </a:p>
          <a:p>
            <a:pPr lvl="1"/>
            <a:r>
              <a:rPr lang="hu-HU" dirty="0" smtClean="0"/>
              <a:t>Projekt </a:t>
            </a:r>
            <a:r>
              <a:rPr lang="hu-HU" dirty="0"/>
              <a:t>és </a:t>
            </a:r>
            <a:r>
              <a:rPr lang="hu-HU" dirty="0" smtClean="0"/>
              <a:t>kockázatmenedzsment</a:t>
            </a:r>
          </a:p>
          <a:p>
            <a:pPr lvl="1"/>
            <a:r>
              <a:rPr lang="hu-HU" dirty="0" smtClean="0"/>
              <a:t>Válság </a:t>
            </a:r>
            <a:r>
              <a:rPr lang="hu-HU" dirty="0"/>
              <a:t>és változás </a:t>
            </a:r>
            <a:r>
              <a:rPr lang="hu-HU" dirty="0" smtClean="0"/>
              <a:t>kezelés</a:t>
            </a:r>
            <a:endParaRPr lang="hu-HU" dirty="0"/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Szervezetek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01425"/>
            <a:ext cx="11861346" cy="5420048"/>
          </a:xfrm>
        </p:spPr>
        <p:txBody>
          <a:bodyPr/>
          <a:lstStyle/>
          <a:p>
            <a:r>
              <a:rPr lang="hu-HU" dirty="0"/>
              <a:t>A menedzsment területének megismeréséhez fontos a szervezetek felépítésének feltárása annak érdekében, hogy a menedzsment működési környezetének ismerete és ezáltal szükséges funkciói adottak </a:t>
            </a:r>
            <a:r>
              <a:rPr lang="hu-HU" dirty="0" smtClean="0"/>
              <a:t>legyenek.</a:t>
            </a:r>
            <a:endParaRPr lang="hu-HU" dirty="0"/>
          </a:p>
          <a:p>
            <a:endParaRPr lang="hu-HU" dirty="0"/>
          </a:p>
          <a:p>
            <a:r>
              <a:rPr lang="hu-HU" b="1" dirty="0"/>
              <a:t>Szervezet</a:t>
            </a:r>
          </a:p>
          <a:p>
            <a:pPr lvl="1"/>
            <a:r>
              <a:rPr lang="hu-HU" dirty="0"/>
              <a:t>„Két vagy több ember szándékosan összehangolt tevékenységeinek vagy erőinek rendszere" (</a:t>
            </a:r>
            <a:r>
              <a:rPr lang="hu-HU" dirty="0" err="1"/>
              <a:t>Chester</a:t>
            </a:r>
            <a:r>
              <a:rPr lang="hu-HU" dirty="0"/>
              <a:t> </a:t>
            </a:r>
            <a:r>
              <a:rPr lang="hu-HU" dirty="0" err="1"/>
              <a:t>Barnard</a:t>
            </a:r>
            <a:r>
              <a:rPr lang="hu-HU" dirty="0"/>
              <a:t>)</a:t>
            </a:r>
          </a:p>
          <a:p>
            <a:pPr lvl="1"/>
            <a:r>
              <a:rPr lang="hu-HU" dirty="0" smtClean="0"/>
              <a:t>A vállalkozói szervezet célja </a:t>
            </a:r>
            <a:r>
              <a:rPr lang="hu-HU" dirty="0"/>
              <a:t>tőke befektetésével, ezáltal kockázat vállalással, profit elérése</a:t>
            </a:r>
          </a:p>
          <a:p>
            <a:pPr lvl="1"/>
            <a:r>
              <a:rPr lang="hu-HU" dirty="0"/>
              <a:t>A szervezet valamilyen formában értéket teremt, ezáltal növeli az adott </a:t>
            </a:r>
            <a:r>
              <a:rPr lang="hu-HU" dirty="0" smtClean="0"/>
              <a:t>térség </a:t>
            </a:r>
            <a:r>
              <a:rPr lang="hu-HU" dirty="0"/>
              <a:t>életszínvonalát, munkahelyet teremt, adóival közvetlenül támogatja az állam </a:t>
            </a:r>
            <a:r>
              <a:rPr lang="hu-HU" dirty="0" smtClean="0"/>
              <a:t>működését.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9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 jellemzői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924333"/>
            <a:ext cx="11861346" cy="4797139"/>
          </a:xfrm>
        </p:spPr>
        <p:txBody>
          <a:bodyPr/>
          <a:lstStyle/>
          <a:p>
            <a:pPr marL="0" indent="0">
              <a:buNone/>
            </a:pPr>
            <a:endParaRPr lang="hu-HU" b="1" dirty="0"/>
          </a:p>
          <a:p>
            <a:pPr lvl="1"/>
            <a:r>
              <a:rPr lang="hu-HU" dirty="0" smtClean="0"/>
              <a:t>Folyamatosan </a:t>
            </a:r>
            <a:r>
              <a:rPr lang="hu-HU" dirty="0"/>
              <a:t>változó környezetben </a:t>
            </a:r>
            <a:r>
              <a:rPr lang="hu-HU" dirty="0" smtClean="0"/>
              <a:t>működik.</a:t>
            </a:r>
            <a:endParaRPr lang="hu-HU" dirty="0"/>
          </a:p>
          <a:p>
            <a:pPr lvl="1"/>
            <a:r>
              <a:rPr lang="hu-HU" dirty="0"/>
              <a:t>Rugalmasan alkalmazkodnia kell az egyre bonyolultabb </a:t>
            </a:r>
            <a:r>
              <a:rPr lang="hu-HU" dirty="0" smtClean="0"/>
              <a:t>környezethez</a:t>
            </a:r>
            <a:r>
              <a:rPr lang="hu-HU" dirty="0"/>
              <a:t>. </a:t>
            </a:r>
            <a:endParaRPr lang="hu-HU" dirty="0" smtClean="0"/>
          </a:p>
          <a:p>
            <a:pPr lvl="1"/>
            <a:r>
              <a:rPr lang="hu-HU" dirty="0" smtClean="0"/>
              <a:t>Hosszú </a:t>
            </a:r>
            <a:r>
              <a:rPr lang="hu-HU" dirty="0"/>
              <a:t>és rövid távú céljai vannak </a:t>
            </a:r>
          </a:p>
          <a:p>
            <a:pPr lvl="1"/>
            <a:r>
              <a:rPr lang="hu-HU" dirty="0"/>
              <a:t>A célok eléréséért a benne résztvevők együttműködnek.</a:t>
            </a:r>
          </a:p>
          <a:p>
            <a:pPr lvl="1"/>
            <a:r>
              <a:rPr lang="hu-HU" dirty="0"/>
              <a:t>A felelősségi és hatáskörök szétválasztása.</a:t>
            </a:r>
          </a:p>
          <a:p>
            <a:pPr lvl="1"/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6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vállalkozások fogalma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992573"/>
            <a:ext cx="11861346" cy="4728900"/>
          </a:xfrm>
        </p:spPr>
        <p:txBody>
          <a:bodyPr>
            <a:normAutofit/>
          </a:bodyPr>
          <a:lstStyle/>
          <a:p>
            <a:r>
              <a:rPr lang="hu-HU" dirty="0"/>
              <a:t>Önálló gazdasági egység,</a:t>
            </a:r>
          </a:p>
          <a:p>
            <a:r>
              <a:rPr lang="hu-HU" dirty="0" smtClean="0"/>
              <a:t>saját </a:t>
            </a:r>
            <a:r>
              <a:rPr lang="hu-HU" dirty="0"/>
              <a:t>nevében, saját felelősségére üzletszerű tevékenységet folytat, </a:t>
            </a:r>
          </a:p>
          <a:p>
            <a:r>
              <a:rPr lang="hu-HU" dirty="0" smtClean="0"/>
              <a:t>elsődleges </a:t>
            </a:r>
            <a:r>
              <a:rPr lang="hu-HU" dirty="0"/>
              <a:t>célja a profit </a:t>
            </a:r>
            <a:r>
              <a:rPr lang="hu-HU" dirty="0" smtClean="0"/>
              <a:t>szerzés,</a:t>
            </a:r>
            <a:endParaRPr lang="hu-HU" dirty="0"/>
          </a:p>
          <a:p>
            <a:r>
              <a:rPr lang="hu-HU" dirty="0" smtClean="0"/>
              <a:t>kockázatot vállal,</a:t>
            </a:r>
            <a:endParaRPr lang="hu-HU" dirty="0"/>
          </a:p>
          <a:p>
            <a:r>
              <a:rPr lang="hu-HU" dirty="0" smtClean="0"/>
              <a:t>a </a:t>
            </a:r>
            <a:r>
              <a:rPr lang="hu-HU" dirty="0"/>
              <a:t>piaci szereplőktől elkülönül, de kapcsolatrendszert alakít ki </a:t>
            </a:r>
            <a:r>
              <a:rPr lang="hu-HU" dirty="0" smtClean="0"/>
              <a:t>velük.</a:t>
            </a:r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8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szervezetek fekete doboz modellje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6" name="Tartalom helye 2"/>
          <p:cNvSpPr txBox="1">
            <a:spLocks/>
          </p:cNvSpPr>
          <p:nvPr/>
        </p:nvSpPr>
        <p:spPr>
          <a:xfrm>
            <a:off x="876701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800" b="1" u="sng" dirty="0" smtClean="0"/>
              <a:t>INPUTOK: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hu-HU" sz="2800" dirty="0" smtClean="0"/>
          </a:p>
          <a:p>
            <a:pPr>
              <a:buFontTx/>
              <a:buChar char="-"/>
            </a:pPr>
            <a:r>
              <a:rPr lang="hu-HU" sz="2800" dirty="0" smtClean="0"/>
              <a:t>Tőke</a:t>
            </a:r>
          </a:p>
          <a:p>
            <a:pPr>
              <a:buFontTx/>
              <a:buChar char="-"/>
            </a:pPr>
            <a:r>
              <a:rPr lang="hu-HU" sz="2800" dirty="0" smtClean="0"/>
              <a:t>Munkaerő</a:t>
            </a:r>
          </a:p>
          <a:p>
            <a:pPr>
              <a:buFontTx/>
              <a:buChar char="-"/>
            </a:pPr>
            <a:r>
              <a:rPr lang="hu-HU" sz="2800" dirty="0" smtClean="0"/>
              <a:t>Anyag</a:t>
            </a:r>
          </a:p>
          <a:p>
            <a:pPr>
              <a:buFontTx/>
              <a:buChar char="-"/>
            </a:pPr>
            <a:r>
              <a:rPr lang="hu-HU" sz="2800" dirty="0" smtClean="0"/>
              <a:t>Információ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hu-HU" dirty="0"/>
          </a:p>
        </p:txBody>
      </p:sp>
      <p:sp>
        <p:nvSpPr>
          <p:cNvPr id="8" name="Jobbra nyíl 7"/>
          <p:cNvSpPr/>
          <p:nvPr/>
        </p:nvSpPr>
        <p:spPr>
          <a:xfrm>
            <a:off x="7177905" y="3490328"/>
            <a:ext cx="683664" cy="239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Jobbra nyíl 8"/>
          <p:cNvSpPr/>
          <p:nvPr/>
        </p:nvSpPr>
        <p:spPr>
          <a:xfrm>
            <a:off x="3125669" y="3433865"/>
            <a:ext cx="683664" cy="239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3936283" y="3071584"/>
            <a:ext cx="3102123" cy="1076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 smtClean="0"/>
              <a:t>A szervezet</a:t>
            </a:r>
            <a:endParaRPr lang="hu-HU" sz="2800" b="1" dirty="0"/>
          </a:p>
        </p:txBody>
      </p:sp>
      <p:sp>
        <p:nvSpPr>
          <p:cNvPr id="11" name="Tartalom helye 3"/>
          <p:cNvSpPr>
            <a:spLocks noGrp="1"/>
          </p:cNvSpPr>
          <p:nvPr>
            <p:ph sz="half" idx="4294967295"/>
          </p:nvPr>
        </p:nvSpPr>
        <p:spPr>
          <a:xfrm>
            <a:off x="8366333" y="1825625"/>
            <a:ext cx="2987466" cy="43513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hu-HU" b="1" u="sng" dirty="0" smtClean="0"/>
              <a:t>OUTPUTOK:</a:t>
            </a:r>
          </a:p>
          <a:p>
            <a:pPr marL="0" indent="0">
              <a:buNone/>
            </a:pPr>
            <a:endParaRPr lang="hu-HU" sz="2400" dirty="0"/>
          </a:p>
          <a:p>
            <a:pPr>
              <a:buFontTx/>
              <a:buChar char="-"/>
            </a:pPr>
            <a:r>
              <a:rPr lang="hu-HU" dirty="0" smtClean="0"/>
              <a:t>Termékek</a:t>
            </a:r>
          </a:p>
          <a:p>
            <a:pPr>
              <a:buFontTx/>
              <a:buChar char="-"/>
            </a:pPr>
            <a:r>
              <a:rPr lang="hu-HU" dirty="0" smtClean="0"/>
              <a:t>Szolgáltatások</a:t>
            </a:r>
          </a:p>
          <a:p>
            <a:pPr>
              <a:buFontTx/>
              <a:buChar char="-"/>
            </a:pPr>
            <a:r>
              <a:rPr lang="hu-HU" dirty="0" smtClean="0"/>
              <a:t>Profit</a:t>
            </a:r>
          </a:p>
          <a:p>
            <a:pPr>
              <a:buFontTx/>
              <a:buChar char="-"/>
            </a:pPr>
            <a:r>
              <a:rPr lang="hu-HU" dirty="0" smtClean="0"/>
              <a:t>Hulladék</a:t>
            </a:r>
          </a:p>
          <a:p>
            <a:pPr>
              <a:buFontTx/>
              <a:buChar char="-"/>
            </a:pPr>
            <a:r>
              <a:rPr lang="hu-HU" dirty="0" smtClean="0"/>
              <a:t>Információ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12" name="Kép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4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szervezetek fekete doboz modellje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6" name="Tartalom helye 2"/>
          <p:cNvSpPr txBox="1">
            <a:spLocks/>
          </p:cNvSpPr>
          <p:nvPr/>
        </p:nvSpPr>
        <p:spPr>
          <a:xfrm>
            <a:off x="876701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800" b="1" u="sng" dirty="0" smtClean="0"/>
              <a:t>INPUTOK: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hu-HU" sz="2800" dirty="0" smtClean="0"/>
          </a:p>
          <a:p>
            <a:pPr>
              <a:buFontTx/>
              <a:buChar char="-"/>
            </a:pPr>
            <a:r>
              <a:rPr lang="hu-HU" sz="2800" dirty="0" smtClean="0"/>
              <a:t>Tőke</a:t>
            </a:r>
          </a:p>
          <a:p>
            <a:pPr>
              <a:buFontTx/>
              <a:buChar char="-"/>
            </a:pPr>
            <a:r>
              <a:rPr lang="hu-HU" sz="2800" dirty="0" smtClean="0"/>
              <a:t>Munkaerő</a:t>
            </a:r>
          </a:p>
          <a:p>
            <a:pPr>
              <a:buFontTx/>
              <a:buChar char="-"/>
            </a:pPr>
            <a:r>
              <a:rPr lang="hu-HU" sz="2800" dirty="0" smtClean="0"/>
              <a:t>Anyag</a:t>
            </a:r>
          </a:p>
          <a:p>
            <a:pPr>
              <a:buFontTx/>
              <a:buChar char="-"/>
            </a:pPr>
            <a:r>
              <a:rPr lang="hu-HU" sz="2800" dirty="0" smtClean="0"/>
              <a:t>Információ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hu-HU" dirty="0"/>
          </a:p>
        </p:txBody>
      </p:sp>
      <p:sp>
        <p:nvSpPr>
          <p:cNvPr id="8" name="Jobbra nyíl 7"/>
          <p:cNvSpPr/>
          <p:nvPr/>
        </p:nvSpPr>
        <p:spPr>
          <a:xfrm>
            <a:off x="7590889" y="3482426"/>
            <a:ext cx="683664" cy="239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Jobbra nyíl 8"/>
          <p:cNvSpPr/>
          <p:nvPr/>
        </p:nvSpPr>
        <p:spPr>
          <a:xfrm>
            <a:off x="2835974" y="3482427"/>
            <a:ext cx="683664" cy="239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3686476" y="1722922"/>
            <a:ext cx="3724345" cy="407148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 smtClean="0"/>
              <a:t>Határoló alrendszer</a:t>
            </a:r>
          </a:p>
          <a:p>
            <a:pPr algn="ctr"/>
            <a:endParaRPr lang="hu-HU" sz="2800" dirty="0"/>
          </a:p>
          <a:p>
            <a:pPr algn="ctr"/>
            <a:endParaRPr lang="hu-HU" sz="2800" dirty="0" smtClean="0"/>
          </a:p>
          <a:p>
            <a:pPr algn="ctr"/>
            <a:endParaRPr lang="hu-HU" sz="2800" dirty="0"/>
          </a:p>
          <a:p>
            <a:pPr algn="ctr"/>
            <a:endParaRPr lang="hu-HU" sz="2800" dirty="0" smtClean="0"/>
          </a:p>
          <a:p>
            <a:pPr algn="ctr"/>
            <a:endParaRPr lang="hu-HU" sz="2800" dirty="0"/>
          </a:p>
          <a:p>
            <a:pPr algn="ctr"/>
            <a:endParaRPr lang="hu-HU" sz="2800" dirty="0"/>
          </a:p>
        </p:txBody>
      </p:sp>
      <p:sp>
        <p:nvSpPr>
          <p:cNvPr id="11" name="Tartalom helye 3"/>
          <p:cNvSpPr>
            <a:spLocks noGrp="1"/>
          </p:cNvSpPr>
          <p:nvPr>
            <p:ph sz="half" idx="4294967295"/>
          </p:nvPr>
        </p:nvSpPr>
        <p:spPr>
          <a:xfrm>
            <a:off x="8366333" y="1825625"/>
            <a:ext cx="2987466" cy="43513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hu-HU" b="1" u="sng" dirty="0" smtClean="0"/>
              <a:t>OUTPUTOK:</a:t>
            </a:r>
          </a:p>
          <a:p>
            <a:pPr marL="0" indent="0">
              <a:buNone/>
            </a:pPr>
            <a:endParaRPr lang="hu-HU" sz="2400" dirty="0"/>
          </a:p>
          <a:p>
            <a:pPr>
              <a:buFontTx/>
              <a:buChar char="-"/>
            </a:pPr>
            <a:r>
              <a:rPr lang="hu-HU" dirty="0" smtClean="0"/>
              <a:t>Termékek</a:t>
            </a:r>
          </a:p>
          <a:p>
            <a:pPr>
              <a:buFontTx/>
              <a:buChar char="-"/>
            </a:pPr>
            <a:r>
              <a:rPr lang="hu-HU" dirty="0" smtClean="0"/>
              <a:t>Szolgáltatások</a:t>
            </a:r>
          </a:p>
          <a:p>
            <a:pPr>
              <a:buFontTx/>
              <a:buChar char="-"/>
            </a:pPr>
            <a:r>
              <a:rPr lang="hu-HU" dirty="0" smtClean="0"/>
              <a:t>Profit</a:t>
            </a:r>
          </a:p>
          <a:p>
            <a:pPr>
              <a:buFontTx/>
              <a:buChar char="-"/>
            </a:pPr>
            <a:r>
              <a:rPr lang="hu-HU" dirty="0" smtClean="0"/>
              <a:t>Hulladék</a:t>
            </a:r>
          </a:p>
          <a:p>
            <a:pPr>
              <a:buFontTx/>
              <a:buChar char="-"/>
            </a:pPr>
            <a:r>
              <a:rPr lang="hu-HU" dirty="0" smtClean="0"/>
              <a:t>Információ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3" name="Téglalap 2"/>
          <p:cNvSpPr/>
          <p:nvPr/>
        </p:nvSpPr>
        <p:spPr>
          <a:xfrm>
            <a:off x="4208376" y="2914100"/>
            <a:ext cx="2805437" cy="24664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dirty="0" smtClean="0"/>
              <a:t>Menedzsment alrendszer</a:t>
            </a:r>
          </a:p>
          <a:p>
            <a:pPr algn="ctr"/>
            <a:endParaRPr lang="hu-HU" dirty="0"/>
          </a:p>
          <a:p>
            <a:pPr algn="ctr"/>
            <a:endParaRPr lang="hu-HU" dirty="0" smtClean="0"/>
          </a:p>
          <a:p>
            <a:pPr algn="ctr"/>
            <a:endParaRPr lang="hu-HU" dirty="0"/>
          </a:p>
          <a:p>
            <a:pPr algn="ctr"/>
            <a:endParaRPr lang="hu-HU" dirty="0" smtClean="0"/>
          </a:p>
          <a:p>
            <a:pPr algn="ctr"/>
            <a:endParaRPr lang="hu-HU" dirty="0"/>
          </a:p>
        </p:txBody>
      </p:sp>
      <p:sp>
        <p:nvSpPr>
          <p:cNvPr id="7" name="Téglalap 6"/>
          <p:cNvSpPr/>
          <p:nvPr/>
        </p:nvSpPr>
        <p:spPr>
          <a:xfrm>
            <a:off x="4706754" y="3801979"/>
            <a:ext cx="1963553" cy="1241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dirty="0" smtClean="0"/>
              <a:t>Technikai alrendszer</a:t>
            </a:r>
            <a:endParaRPr lang="hu-HU" sz="2400" dirty="0"/>
          </a:p>
        </p:txBody>
      </p:sp>
      <p:pic>
        <p:nvPicPr>
          <p:cNvPr id="12" name="Kép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96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 érintettjei (Stakeholderek)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5018567"/>
            <a:ext cx="11861346" cy="1702906"/>
          </a:xfrm>
        </p:spPr>
        <p:txBody>
          <a:bodyPr>
            <a:normAutofit/>
          </a:bodyPr>
          <a:lstStyle/>
          <a:p>
            <a:r>
              <a:rPr lang="hu-HU" b="1" dirty="0"/>
              <a:t>Külső érintettek</a:t>
            </a:r>
          </a:p>
          <a:p>
            <a:pPr lvl="1"/>
            <a:r>
              <a:rPr lang="hu-HU" dirty="0"/>
              <a:t>Gazdasági, jogi, társadalmi, pénzügyi intézmények</a:t>
            </a:r>
          </a:p>
          <a:p>
            <a:pPr lvl="1"/>
            <a:r>
              <a:rPr lang="hu-HU" dirty="0"/>
              <a:t>Vevők, beszállítók, versenytársak</a:t>
            </a:r>
          </a:p>
        </p:txBody>
      </p:sp>
      <p:graphicFrame>
        <p:nvGraphicFramePr>
          <p:cNvPr id="6" name="Tábláza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17920"/>
              </p:ext>
            </p:extLst>
          </p:nvPr>
        </p:nvGraphicFramePr>
        <p:xfrm>
          <a:off x="838199" y="1898650"/>
          <a:ext cx="10877547" cy="30614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4925"/>
                <a:gridCol w="2747746"/>
                <a:gridCol w="1625960"/>
                <a:gridCol w="1550334"/>
                <a:gridCol w="2848582"/>
              </a:tblGrid>
              <a:tr h="38382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hu-HU" sz="2500" b="1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BELSŐ</a:t>
                      </a:r>
                      <a:r>
                        <a:rPr lang="hu-HU" sz="2500" b="1" u="none" strike="noStrike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hu-HU" sz="2500" b="1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ÉRINTETTEK</a:t>
                      </a:r>
                      <a:endParaRPr lang="hu-HU" sz="2500" b="1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hu-HU" sz="25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STÁTUSZ, FUNKCIÓ</a:t>
                      </a:r>
                      <a:endParaRPr lang="hu-HU" sz="25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hu-HU" sz="2300" b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ÉRDEKELTSÉG</a:t>
                      </a:r>
                      <a:endParaRPr lang="hu-HU" sz="2300" b="1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</a:tr>
              <a:tr h="392964"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3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Időtáv</a:t>
                      </a:r>
                      <a:endParaRPr lang="hu-HU" sz="2300" b="0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3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Jövedelem</a:t>
                      </a:r>
                      <a:endParaRPr lang="hu-HU" sz="2300" b="0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300" u="none" strike="noStrike" dirty="0">
                          <a:solidFill>
                            <a:srgbClr val="7030A0"/>
                          </a:solidFill>
                          <a:effectLst/>
                        </a:rPr>
                        <a:t>Cél</a:t>
                      </a:r>
                      <a:endParaRPr lang="hu-HU" sz="2300" b="0" i="0" u="none" strike="noStrike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</a:tr>
              <a:tr h="859038">
                <a:tc>
                  <a:txBody>
                    <a:bodyPr/>
                    <a:lstStyle/>
                    <a:p>
                      <a:pPr algn="l" fontAlgn="b"/>
                      <a:r>
                        <a:rPr lang="hu-HU" sz="2300" b="1" i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Tulajdonosok</a:t>
                      </a:r>
                      <a:endParaRPr lang="hu-HU" sz="2300" b="1" i="1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 dirty="0">
                          <a:effectLst/>
                        </a:rPr>
                        <a:t>befektető, küldetés és filozófia meghatározása</a:t>
                      </a:r>
                      <a:endParaRPr lang="hu-H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határozatlan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profit vagy kamat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befektetés értékének növelése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</a:tr>
              <a:tr h="712819">
                <a:tc>
                  <a:txBody>
                    <a:bodyPr/>
                    <a:lstStyle/>
                    <a:p>
                      <a:pPr algn="l" fontAlgn="b"/>
                      <a:r>
                        <a:rPr lang="hu-HU" sz="2300" b="1" i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Menedzserek</a:t>
                      </a:r>
                      <a:endParaRPr lang="hu-HU" sz="2300" b="1" i="1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szak-alkalmazott, hatékony működtetés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rövidtáv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munkabér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jövedelemszerzés, szakmai karrier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</a:tr>
              <a:tr h="712819">
                <a:tc>
                  <a:txBody>
                    <a:bodyPr/>
                    <a:lstStyle/>
                    <a:p>
                      <a:pPr algn="l" fontAlgn="b"/>
                      <a:r>
                        <a:rPr lang="hu-HU" sz="2300" b="1" i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Alkalmazottak</a:t>
                      </a:r>
                      <a:endParaRPr lang="hu-HU" sz="2300" b="1" i="1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végrehajtás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rövidtáv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>
                          <a:effectLst/>
                        </a:rPr>
                        <a:t>munkabér</a:t>
                      </a:r>
                      <a:endParaRPr lang="hu-H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u-HU" sz="2100" u="none" strike="noStrike" dirty="0">
                          <a:effectLst/>
                        </a:rPr>
                        <a:t>fogyasztási szükségletek kielégítése</a:t>
                      </a:r>
                      <a:endParaRPr lang="hu-H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39" marR="9139" marT="9139" marB="0" anchor="b"/>
                </a:tc>
              </a:tr>
            </a:tbl>
          </a:graphicData>
        </a:graphic>
      </p:graphicFrame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0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szervezeti rendszer kritériumai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41775"/>
            <a:ext cx="11861346" cy="5279698"/>
          </a:xfrm>
        </p:spPr>
        <p:txBody>
          <a:bodyPr>
            <a:normAutofit/>
          </a:bodyPr>
          <a:lstStyle/>
          <a:p>
            <a:r>
              <a:rPr lang="hu-HU" b="1" dirty="0"/>
              <a:t>Dr. Herczeg </a:t>
            </a:r>
            <a:r>
              <a:rPr lang="hu-HU" b="1" dirty="0" smtClean="0"/>
              <a:t>János szerint </a:t>
            </a:r>
            <a:r>
              <a:rPr lang="hu-HU" b="1" dirty="0"/>
              <a:t>a vállalati </a:t>
            </a:r>
            <a:r>
              <a:rPr lang="hu-HU" b="1" dirty="0" smtClean="0"/>
              <a:t>kritériumok az alábbiak:</a:t>
            </a:r>
            <a:endParaRPr lang="hu-HU" b="1" dirty="0"/>
          </a:p>
          <a:p>
            <a:pPr lvl="1"/>
            <a:r>
              <a:rPr lang="hu-HU" dirty="0"/>
              <a:t>Működő képes egység legyen</a:t>
            </a:r>
          </a:p>
          <a:p>
            <a:pPr lvl="1"/>
            <a:r>
              <a:rPr lang="hu-HU" dirty="0"/>
              <a:t>Legyen célja, feladata, </a:t>
            </a:r>
            <a:r>
              <a:rPr lang="hu-HU" dirty="0" smtClean="0"/>
              <a:t>értelme</a:t>
            </a:r>
            <a:endParaRPr lang="hu-HU" dirty="0"/>
          </a:p>
          <a:p>
            <a:pPr lvl="1"/>
            <a:r>
              <a:rPr lang="hu-HU" dirty="0"/>
              <a:t>Ne csak rendszerelemek egysége legyen, hanem rendszerfolyamatok egysége is (dinamikus egység)</a:t>
            </a:r>
          </a:p>
          <a:p>
            <a:pPr lvl="1"/>
            <a:r>
              <a:rPr lang="hu-HU" dirty="0"/>
              <a:t>Legyen </a:t>
            </a:r>
            <a:r>
              <a:rPr lang="hu-HU" dirty="0" err="1"/>
              <a:t>totalista</a:t>
            </a:r>
            <a:r>
              <a:rPr lang="hu-HU" dirty="0"/>
              <a:t>, egész volta</a:t>
            </a:r>
          </a:p>
          <a:p>
            <a:pPr lvl="1"/>
            <a:r>
              <a:rPr lang="hu-HU" dirty="0"/>
              <a:t>A rendszerelemek egymással kiegészítő, kölcsönhatásban lévő, egymást alakító, fejlődésükben egymáshoz igazodó kapcsolatban legyenek</a:t>
            </a:r>
          </a:p>
          <a:p>
            <a:pPr lvl="1"/>
            <a:r>
              <a:rPr lang="hu-HU" dirty="0"/>
              <a:t>Legyen egy belső tendencia a belső konzisztenciára, arányosságra, harmonizáltságra, cél szerinti rendezettségre</a:t>
            </a:r>
          </a:p>
          <a:p>
            <a:pPr lvl="1"/>
            <a:r>
              <a:rPr lang="hu-HU" dirty="0"/>
              <a:t>Legyen a vállalatnak belső logikája, objektív belső meghatározottsága, belső törvényszerűségei (működési, reagálási, kapcsolódási, szerkezeti törvényei)</a:t>
            </a:r>
          </a:p>
          <a:p>
            <a:pPr lvl="1"/>
            <a:r>
              <a:rPr lang="hu-HU" dirty="0"/>
              <a:t>Legyen relatív elkülönültsége, külső hatásokkal szembeni tűrő és ellenálló képessége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9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Vállalkozások fajtái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978925"/>
            <a:ext cx="11861346" cy="4742548"/>
          </a:xfrm>
        </p:spPr>
        <p:txBody>
          <a:bodyPr>
            <a:normAutofit/>
          </a:bodyPr>
          <a:lstStyle/>
          <a:p>
            <a:r>
              <a:rPr lang="hu-HU" b="1" dirty="0" smtClean="0"/>
              <a:t>Tevékenység és kibocsátott javak szerint</a:t>
            </a:r>
          </a:p>
          <a:p>
            <a:pPr marL="0" indent="0">
              <a:buNone/>
            </a:pPr>
            <a:r>
              <a:rPr lang="hu-HU" b="1" dirty="0" smtClean="0"/>
              <a:t> </a:t>
            </a:r>
            <a:endParaRPr lang="hu-HU" b="1" dirty="0"/>
          </a:p>
          <a:p>
            <a:pPr lvl="1"/>
            <a:r>
              <a:rPr lang="hu-HU" dirty="0" smtClean="0"/>
              <a:t>Termelés – termék (befejezetlen termelés, </a:t>
            </a:r>
            <a:r>
              <a:rPr lang="hu-HU" dirty="0" err="1" smtClean="0"/>
              <a:t>félkésztermék</a:t>
            </a:r>
            <a:r>
              <a:rPr lang="hu-HU" dirty="0" smtClean="0"/>
              <a:t>, késztermék) </a:t>
            </a:r>
          </a:p>
          <a:p>
            <a:pPr marL="457200" lvl="1" indent="0">
              <a:buNone/>
            </a:pPr>
            <a:endParaRPr lang="hu-HU" dirty="0"/>
          </a:p>
          <a:p>
            <a:pPr lvl="1"/>
            <a:r>
              <a:rPr lang="hu-HU" dirty="0" smtClean="0"/>
              <a:t>Kereskedelem – áru (nagykereskedelmi áru, kiskereskedelmi áru, göngyölegek) </a:t>
            </a:r>
          </a:p>
          <a:p>
            <a:pPr marL="457200" lvl="1" indent="0">
              <a:buNone/>
            </a:pPr>
            <a:endParaRPr lang="hu-HU" dirty="0"/>
          </a:p>
          <a:p>
            <a:pPr lvl="1"/>
            <a:r>
              <a:rPr lang="hu-HU" dirty="0" smtClean="0"/>
              <a:t>Szolgáltatás - saját </a:t>
            </a:r>
            <a:r>
              <a:rPr lang="hu-HU" dirty="0"/>
              <a:t>vagy közvetített (alvállalkozók</a:t>
            </a:r>
            <a:r>
              <a:rPr lang="hu-HU" dirty="0" smtClean="0"/>
              <a:t>) szolgáltatások</a:t>
            </a:r>
            <a:endParaRPr lang="hu-HU" dirty="0"/>
          </a:p>
          <a:p>
            <a:pPr lvl="1"/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4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Fajtái – nagyságrend alapján (EU)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41775"/>
            <a:ext cx="11861346" cy="5279698"/>
          </a:xfrm>
        </p:spPr>
        <p:txBody>
          <a:bodyPr>
            <a:normAutofit/>
          </a:bodyPr>
          <a:lstStyle/>
          <a:p>
            <a:r>
              <a:rPr lang="hu-HU" b="1" dirty="0"/>
              <a:t>Méret</a:t>
            </a:r>
          </a:p>
          <a:p>
            <a:pPr lvl="1"/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xmlns="" id="{2778C072-69F4-4E5A-80BB-BE44C327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57" y="1983893"/>
            <a:ext cx="10499296" cy="3922363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xmlns="" id="{F214FCFB-FA3B-4D82-A8ED-253C146F3704}"/>
              </a:ext>
            </a:extLst>
          </p:cNvPr>
          <p:cNvSpPr/>
          <p:nvPr/>
        </p:nvSpPr>
        <p:spPr>
          <a:xfrm>
            <a:off x="846352" y="5312026"/>
            <a:ext cx="2288126" cy="3742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27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Fajtái – magyar jogrendben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639" y="1883391"/>
            <a:ext cx="11014778" cy="4838082"/>
          </a:xfrm>
        </p:spPr>
        <p:txBody>
          <a:bodyPr>
            <a:normAutofit/>
          </a:bodyPr>
          <a:lstStyle/>
          <a:p>
            <a:r>
              <a:rPr lang="hu-HU" b="1" dirty="0"/>
              <a:t>Jogi forma</a:t>
            </a:r>
          </a:p>
          <a:p>
            <a:pPr lvl="1"/>
            <a:r>
              <a:rPr lang="hu-HU" dirty="0"/>
              <a:t>Őstermelő</a:t>
            </a:r>
          </a:p>
          <a:p>
            <a:pPr lvl="1"/>
            <a:r>
              <a:rPr lang="hu-HU" dirty="0"/>
              <a:t>Egyéni vállalkozás</a:t>
            </a:r>
          </a:p>
          <a:p>
            <a:pPr lvl="1"/>
            <a:r>
              <a:rPr lang="hu-HU" dirty="0"/>
              <a:t>Családi gazdálkodás</a:t>
            </a:r>
          </a:p>
          <a:p>
            <a:pPr lvl="1"/>
            <a:r>
              <a:rPr lang="hu-HU" dirty="0"/>
              <a:t>Társas vállalkozások (</a:t>
            </a:r>
            <a:r>
              <a:rPr lang="hu-HU" dirty="0" err="1"/>
              <a:t>kkt</a:t>
            </a:r>
            <a:r>
              <a:rPr lang="hu-HU" dirty="0"/>
              <a:t>., bt., kft., rt., </a:t>
            </a:r>
            <a:r>
              <a:rPr lang="hu-HU" dirty="0" smtClean="0"/>
              <a:t>egyesülés.)</a:t>
            </a:r>
            <a:endParaRPr lang="hu-HU" dirty="0"/>
          </a:p>
          <a:p>
            <a:pPr lvl="1"/>
            <a:r>
              <a:rPr lang="hu-HU" dirty="0"/>
              <a:t>Szövetkezet</a:t>
            </a:r>
          </a:p>
          <a:p>
            <a:pPr lvl="1"/>
            <a:r>
              <a:rPr lang="hu-HU" dirty="0"/>
              <a:t>Közhasznú társaság</a:t>
            </a:r>
          </a:p>
          <a:p>
            <a:pPr lvl="1"/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85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Szervezeti struktúrát meghatározó tényezők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63" y="1856095"/>
            <a:ext cx="11791954" cy="4865377"/>
          </a:xfrm>
        </p:spPr>
        <p:txBody>
          <a:bodyPr>
            <a:normAutofit/>
          </a:bodyPr>
          <a:lstStyle/>
          <a:p>
            <a:r>
              <a:rPr lang="hu-HU" u="sng" dirty="0" smtClean="0"/>
              <a:t>Munkamegosztás</a:t>
            </a:r>
          </a:p>
          <a:p>
            <a:pPr marL="0" indent="0">
              <a:buNone/>
            </a:pPr>
            <a:r>
              <a:rPr lang="hu-HU" dirty="0" smtClean="0"/>
              <a:t>Az egyes feladatok részfeladatokra osztása, szakmák szerinti felosztása (funkcionális, munkaterületek, szakképzettség, munkaelemek szerint)</a:t>
            </a:r>
            <a:endParaRPr lang="hu-HU" dirty="0"/>
          </a:p>
          <a:p>
            <a:r>
              <a:rPr lang="hu-HU" u="sng" dirty="0" smtClean="0"/>
              <a:t>Hatáskörmegosztás</a:t>
            </a:r>
          </a:p>
          <a:p>
            <a:pPr marL="0" indent="0">
              <a:buNone/>
            </a:pPr>
            <a:r>
              <a:rPr lang="hu-HU" dirty="0" smtClean="0"/>
              <a:t>Különböző </a:t>
            </a:r>
            <a:r>
              <a:rPr lang="hu-HU" dirty="0"/>
              <a:t>döntési és utasítási </a:t>
            </a:r>
            <a:r>
              <a:rPr lang="hu-HU" dirty="0" smtClean="0"/>
              <a:t>jogkörökkel ruházza </a:t>
            </a:r>
            <a:r>
              <a:rPr lang="hu-HU" dirty="0"/>
              <a:t>fel a szervezeti egységeket, dolgozókat</a:t>
            </a:r>
          </a:p>
          <a:p>
            <a:r>
              <a:rPr lang="hu-HU" u="sng" dirty="0" smtClean="0"/>
              <a:t>Koordináció</a:t>
            </a:r>
            <a:r>
              <a:rPr lang="hu-HU" dirty="0" smtClean="0"/>
              <a:t> </a:t>
            </a:r>
          </a:p>
          <a:p>
            <a:pPr marL="0" indent="0">
              <a:buNone/>
            </a:pPr>
            <a:r>
              <a:rPr lang="hu-HU" dirty="0" smtClean="0"/>
              <a:t>Különböző </a:t>
            </a:r>
            <a:r>
              <a:rPr lang="hu-HU" dirty="0"/>
              <a:t>szervezeti egységek működésének, tevékenységeinek </a:t>
            </a:r>
            <a:r>
              <a:rPr lang="hu-HU" dirty="0" smtClean="0"/>
              <a:t>összehangolása</a:t>
            </a:r>
          </a:p>
          <a:p>
            <a:r>
              <a:rPr lang="hu-HU" u="sng" dirty="0" smtClean="0"/>
              <a:t>Konfiguráció</a:t>
            </a:r>
          </a:p>
          <a:p>
            <a:pPr marL="0" indent="0">
              <a:buNone/>
            </a:pPr>
            <a:r>
              <a:rPr lang="hu-HU" dirty="0" smtClean="0"/>
              <a:t>Különböző </a:t>
            </a:r>
            <a:r>
              <a:rPr lang="hu-HU" dirty="0"/>
              <a:t>vertikális és horizontális kapcsolatok rendszere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92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xmlns="" id="{F6E112EC-1E78-4F53-BFC0-54C90615C4E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63" y="1735233"/>
            <a:ext cx="9349208" cy="49116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szervezeti környezet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957" y="211135"/>
            <a:ext cx="5570042" cy="6470365"/>
          </a:xfrm>
        </p:spPr>
        <p:txBody>
          <a:bodyPr>
            <a:normAutofit lnSpcReduction="10000"/>
          </a:bodyPr>
          <a:lstStyle/>
          <a:p>
            <a:r>
              <a:rPr lang="hu-HU" sz="2000" dirty="0"/>
              <a:t>A szervezetek egy folyamatosan </a:t>
            </a:r>
            <a:r>
              <a:rPr lang="hu-HU" sz="2000" dirty="0" smtClean="0"/>
              <a:t/>
            </a:r>
            <a:br>
              <a:rPr lang="hu-HU" sz="2000" dirty="0" smtClean="0"/>
            </a:br>
            <a:r>
              <a:rPr lang="hu-HU" sz="2000" dirty="0" smtClean="0"/>
              <a:t>változó </a:t>
            </a:r>
            <a:r>
              <a:rPr lang="hu-HU" sz="2000" dirty="0"/>
              <a:t>környezetben működnek, </a:t>
            </a:r>
            <a:r>
              <a:rPr lang="hu-HU" sz="2000" dirty="0" smtClean="0"/>
              <a:t/>
            </a:r>
            <a:br>
              <a:rPr lang="hu-HU" sz="2000" dirty="0" smtClean="0"/>
            </a:br>
            <a:r>
              <a:rPr lang="hu-HU" sz="2000" dirty="0" smtClean="0"/>
              <a:t>amely </a:t>
            </a:r>
            <a:r>
              <a:rPr lang="hu-HU" sz="2000" dirty="0"/>
              <a:t>nagyban befolyásolja a vállalkozás </a:t>
            </a:r>
            <a:r>
              <a:rPr lang="hu-HU" sz="2000" dirty="0" smtClean="0"/>
              <a:t>előrehaladtát</a:t>
            </a:r>
            <a:endParaRPr lang="hu-HU" sz="2000" dirty="0"/>
          </a:p>
          <a:p>
            <a:pPr lvl="2"/>
            <a:r>
              <a:rPr lang="hu-HU" dirty="0"/>
              <a:t>Nagyon fontos, hogy a szervezet folyamatosan nyomon kövesse a környezeti változásokat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marL="457200" lvl="1" indent="0">
              <a:buNone/>
            </a:pPr>
            <a:endParaRPr lang="hu-HU" dirty="0"/>
          </a:p>
          <a:p>
            <a:pPr lvl="2"/>
            <a:endParaRPr lang="hu-HU" dirty="0" smtClean="0"/>
          </a:p>
          <a:p>
            <a:pPr lvl="2"/>
            <a:r>
              <a:rPr lang="hu-HU" dirty="0" smtClean="0"/>
              <a:t>Kutassa </a:t>
            </a:r>
            <a:r>
              <a:rPr lang="hu-HU" dirty="0"/>
              <a:t>a lehetőségeket, az esetleges veszélyeket</a:t>
            </a:r>
          </a:p>
          <a:p>
            <a:pPr lvl="1"/>
            <a:endParaRPr lang="hu-HU" dirty="0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05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vállalat mint élő szervezet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41775"/>
            <a:ext cx="11861346" cy="5279698"/>
          </a:xfrm>
        </p:spPr>
        <p:txBody>
          <a:bodyPr>
            <a:normAutofit/>
          </a:bodyPr>
          <a:lstStyle/>
          <a:p>
            <a:r>
              <a:rPr lang="hu-HU" b="1" dirty="0"/>
              <a:t>Szív: </a:t>
            </a:r>
            <a:r>
              <a:rPr lang="hu-HU" dirty="0"/>
              <a:t>főfolyamatok (erőforrások megszerzése, átalakítása, értékesítése) működtetése, amely nélkül infarktus áll be, a szervezet leáll, megszűnik</a:t>
            </a:r>
          </a:p>
          <a:p>
            <a:r>
              <a:rPr lang="hu-HU" b="1" dirty="0"/>
              <a:t>Vérellátás: </a:t>
            </a:r>
            <a:r>
              <a:rPr lang="hu-HU" dirty="0"/>
              <a:t>az oxigén szállítás a vezetői utasítások, ötletek hozzák működésbe a rendszert</a:t>
            </a:r>
          </a:p>
          <a:p>
            <a:r>
              <a:rPr lang="hu-HU" b="1" dirty="0"/>
              <a:t>Csontváz: </a:t>
            </a:r>
            <a:r>
              <a:rPr lang="hu-HU" dirty="0"/>
              <a:t>a tartó szerkezet a vállalat felépítése, hierarchiája, az egyes szervezetek támasztó oszlopai, egymásra épülése, mely a szervezet növekedésével folyamatosan bővül</a:t>
            </a:r>
          </a:p>
          <a:p>
            <a:r>
              <a:rPr lang="hu-HU" b="1" dirty="0"/>
              <a:t>Idegrendszer: </a:t>
            </a:r>
            <a:r>
              <a:rPr lang="hu-HU" dirty="0"/>
              <a:t>kommunikációs csatorna, a külső környezet és a belső szervek által közölt információk az agyban összefutnak, amelyre válaszreakciókat ad, módosítja a szervezet működését az új helyzetnek megfelelően</a:t>
            </a:r>
          </a:p>
          <a:p>
            <a:r>
              <a:rPr lang="hu-HU" b="1" dirty="0"/>
              <a:t>Magatartás: </a:t>
            </a:r>
            <a:r>
              <a:rPr lang="hu-HU" dirty="0"/>
              <a:t>keresi a külső környezettel a kapcsolatot, igyekszik növelni a hatalmát, vagy együttműködő szövetségeseket keres</a:t>
            </a:r>
          </a:p>
          <a:p>
            <a:pPr lvl="1"/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90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szervezet irányítása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xmlns="" id="{099FF49A-0DF1-49A5-9D3B-19F84084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41775"/>
            <a:ext cx="11861346" cy="5279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Vezető, vezetés – tulajdonos	</a:t>
            </a:r>
          </a:p>
          <a:p>
            <a:pPr lvl="1"/>
            <a:r>
              <a:rPr lang="hu-HU" dirty="0" smtClean="0"/>
              <a:t>A szervezet </a:t>
            </a:r>
            <a:r>
              <a:rPr lang="hu-HU" dirty="0"/>
              <a:t>méretétől függően egybe eshet, érdekeik különbözőek lehetnek, a vezetőnek szakértelemmel és a tulajdonosnak tőkével kell rendelkezni, a tulajdonos </a:t>
            </a:r>
            <a:r>
              <a:rPr lang="hu-HU" dirty="0" smtClean="0"/>
              <a:t>feladata a vezetői </a:t>
            </a:r>
            <a:r>
              <a:rPr lang="hu-HU" dirty="0"/>
              <a:t>célok összehangolása az érdekeltségi rendszer kiépítésével</a:t>
            </a:r>
          </a:p>
          <a:p>
            <a:pPr marL="0" indent="0">
              <a:buNone/>
            </a:pPr>
            <a:r>
              <a:rPr lang="hu-HU" b="1" dirty="0"/>
              <a:t>Menedzseri és vezetői feladatok</a:t>
            </a:r>
          </a:p>
          <a:p>
            <a:pPr lvl="1"/>
            <a:r>
              <a:rPr lang="hu-HU" dirty="0"/>
              <a:t>A menedzselés olyan folyamat, amelyet </a:t>
            </a:r>
            <a:r>
              <a:rPr lang="hu-HU" dirty="0" smtClean="0"/>
              <a:t>egy vagy </a:t>
            </a:r>
            <a:r>
              <a:rPr lang="hu-HU" dirty="0"/>
              <a:t>több személy végez mások tevékenységének koordinálására, olyan eredmények elérése érdekében, amit egyikük se tudna elérni egyedül </a:t>
            </a:r>
          </a:p>
          <a:p>
            <a:pPr lvl="1"/>
            <a:r>
              <a:rPr lang="hu-HU" dirty="0"/>
              <a:t>A vállalkozások vezetése egyrészt működési (funkcionális), másrészt szervezeti (intézményi) kapcsolatok kiépítését igényli</a:t>
            </a:r>
          </a:p>
          <a:p>
            <a:pPr marL="0" indent="0">
              <a:buNone/>
            </a:pPr>
            <a:r>
              <a:rPr lang="hu-HU" b="1" dirty="0"/>
              <a:t>Menedzselés: </a:t>
            </a:r>
            <a:r>
              <a:rPr lang="hu-HU" dirty="0"/>
              <a:t>eredmények elérése (tervezés, szervezés, döntés, irányítás, összehangolás, </a:t>
            </a:r>
            <a:r>
              <a:rPr lang="hu-HU" dirty="0" smtClean="0"/>
              <a:t>ellenőrzés)</a:t>
            </a:r>
            <a:endParaRPr lang="hu-HU" dirty="0"/>
          </a:p>
          <a:p>
            <a:pPr marL="0" indent="0">
              <a:buNone/>
            </a:pPr>
            <a:r>
              <a:rPr lang="hu-HU" b="1" dirty="0"/>
              <a:t>Vezetés: </a:t>
            </a:r>
            <a:r>
              <a:rPr lang="hu-HU" dirty="0"/>
              <a:t>rendszerek javítása (látomás, megvilágosodás, igazodás, betanítás, hatáskörrel való felruházás, törődés)</a:t>
            </a:r>
          </a:p>
          <a:p>
            <a:pPr lvl="1"/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92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smtClean="0"/>
              <a:t>menedzsment alapfogalmak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31197"/>
            <a:ext cx="11510283" cy="2572064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Eredmények </a:t>
            </a:r>
            <a:r>
              <a:rPr lang="hu-HU" b="1" dirty="0" smtClean="0"/>
              <a:t>elérése - menedzser</a:t>
            </a:r>
            <a:endParaRPr lang="hu-HU" b="1" dirty="0"/>
          </a:p>
          <a:p>
            <a:pPr lvl="1"/>
            <a:r>
              <a:rPr lang="hu-HU" sz="2200" dirty="0"/>
              <a:t>Tervezés, </a:t>
            </a:r>
          </a:p>
          <a:p>
            <a:pPr lvl="1"/>
            <a:r>
              <a:rPr lang="hu-HU" sz="2200" dirty="0"/>
              <a:t>Döntés, </a:t>
            </a:r>
          </a:p>
          <a:p>
            <a:pPr lvl="1"/>
            <a:r>
              <a:rPr lang="hu-HU" sz="2200" dirty="0"/>
              <a:t>Szervezés, </a:t>
            </a:r>
          </a:p>
          <a:p>
            <a:pPr lvl="1"/>
            <a:r>
              <a:rPr lang="hu-HU" sz="2200" dirty="0"/>
              <a:t>Irányítás, </a:t>
            </a:r>
          </a:p>
          <a:p>
            <a:pPr lvl="1"/>
            <a:r>
              <a:rPr lang="hu-HU" sz="2200" dirty="0"/>
              <a:t>Összehangolás, </a:t>
            </a:r>
          </a:p>
          <a:p>
            <a:pPr lvl="1"/>
            <a:r>
              <a:rPr lang="hu-HU" sz="2200" dirty="0"/>
              <a:t>Ellenőrzés</a:t>
            </a:r>
          </a:p>
          <a:p>
            <a:pPr marL="0" indent="0">
              <a:buNone/>
            </a:pPr>
            <a:r>
              <a:rPr lang="hu-HU" sz="2200" b="1" dirty="0"/>
              <a:t>Rendszerek </a:t>
            </a:r>
            <a:r>
              <a:rPr lang="hu-HU" sz="2200" b="1" dirty="0" smtClean="0"/>
              <a:t>javítása - vezető</a:t>
            </a:r>
            <a:endParaRPr lang="hu-HU" sz="2200" b="1" dirty="0"/>
          </a:p>
          <a:p>
            <a:pPr lvl="2"/>
            <a:r>
              <a:rPr lang="hu-HU" sz="2200" dirty="0"/>
              <a:t>Látomás, </a:t>
            </a:r>
          </a:p>
          <a:p>
            <a:pPr lvl="2"/>
            <a:r>
              <a:rPr lang="hu-HU" sz="2200" dirty="0"/>
              <a:t>Megvilágosodás, </a:t>
            </a:r>
          </a:p>
          <a:p>
            <a:pPr lvl="2"/>
            <a:r>
              <a:rPr lang="hu-HU" sz="2200" dirty="0"/>
              <a:t>Igazodás, </a:t>
            </a:r>
          </a:p>
          <a:p>
            <a:pPr lvl="2"/>
            <a:r>
              <a:rPr lang="hu-HU" sz="2200" dirty="0"/>
              <a:t>Hatáskörrel való felruházás, </a:t>
            </a:r>
          </a:p>
          <a:p>
            <a:pPr lvl="2"/>
            <a:r>
              <a:rPr lang="hu-HU" sz="2200" dirty="0"/>
              <a:t>Betanítás, </a:t>
            </a:r>
          </a:p>
          <a:p>
            <a:pPr lvl="2"/>
            <a:r>
              <a:rPr lang="hu-HU" sz="2200" dirty="0"/>
              <a:t>Törődés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xmlns="" id="{6F3AB564-4D59-4798-A824-29C6AA995C53}"/>
              </a:ext>
            </a:extLst>
          </p:cNvPr>
          <p:cNvSpPr txBox="1">
            <a:spLocks/>
          </p:cNvSpPr>
          <p:nvPr/>
        </p:nvSpPr>
        <p:spPr>
          <a:xfrm>
            <a:off x="136070" y="3903262"/>
            <a:ext cx="11919859" cy="2918588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1718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u="sng" dirty="0"/>
              <a:t>A </a:t>
            </a:r>
            <a:r>
              <a:rPr lang="hu-HU" u="sng" dirty="0" smtClean="0"/>
              <a:t>menedzsmenttudomány</a:t>
            </a:r>
            <a:r>
              <a:rPr lang="hu-HU" dirty="0" smtClean="0"/>
              <a:t>:</a:t>
            </a:r>
          </a:p>
          <a:p>
            <a:pPr>
              <a:buFontTx/>
              <a:buChar char="-"/>
            </a:pPr>
            <a:r>
              <a:rPr lang="hu-HU" dirty="0" smtClean="0"/>
              <a:t>eredményes </a:t>
            </a:r>
            <a:r>
              <a:rPr lang="hu-HU" dirty="0"/>
              <a:t>és hatékony csoportos tevékenység, az egyéni és szervezeti működés </a:t>
            </a:r>
            <a:r>
              <a:rPr lang="hu-HU" dirty="0" smtClean="0"/>
              <a:t>tudománya</a:t>
            </a:r>
          </a:p>
          <a:p>
            <a:pPr>
              <a:buFontTx/>
              <a:buChar char="-"/>
            </a:pPr>
            <a:r>
              <a:rPr lang="hu-HU" dirty="0"/>
              <a:t>m</a:t>
            </a:r>
            <a:r>
              <a:rPr lang="hu-HU" dirty="0" smtClean="0"/>
              <a:t>ódszerek</a:t>
            </a:r>
            <a:r>
              <a:rPr lang="hu-HU" dirty="0"/>
              <a:t>, gyakorlati tapasztalatokból leszűrt elméletek, </a:t>
            </a:r>
            <a:endParaRPr lang="hu-HU" dirty="0" smtClean="0"/>
          </a:p>
          <a:p>
            <a:pPr>
              <a:buFontTx/>
              <a:buChar char="-"/>
            </a:pPr>
            <a:r>
              <a:rPr lang="hu-HU" dirty="0" smtClean="0"/>
              <a:t>választ </a:t>
            </a:r>
            <a:r>
              <a:rPr lang="hu-HU" dirty="0"/>
              <a:t>ad arra, hogy egyének csoportban, szervezetben tevékenykedve hogyan érik el a kitűzött célokat a lehető legjobb hatásfokkal</a:t>
            </a:r>
          </a:p>
          <a:p>
            <a:r>
              <a:rPr lang="hu-HU" u="sng" dirty="0" smtClean="0"/>
              <a:t>Menedzsmentfolyamat</a:t>
            </a:r>
            <a:r>
              <a:rPr lang="hu-HU" dirty="0" smtClean="0"/>
              <a:t>: menedzseléshez szükséges feladatok rendszere, a tevékenységek </a:t>
            </a:r>
            <a:r>
              <a:rPr lang="hu-HU" dirty="0"/>
              <a:t>végrehajtásához, a vállalkozási célok eléréséhez</a:t>
            </a:r>
          </a:p>
          <a:p>
            <a:r>
              <a:rPr lang="hu-HU" dirty="0"/>
              <a:t>A </a:t>
            </a:r>
            <a:r>
              <a:rPr lang="hu-HU" u="sng" dirty="0"/>
              <a:t>menedzselés irányulhat </a:t>
            </a:r>
            <a:r>
              <a:rPr lang="hu-HU" dirty="0"/>
              <a:t>személyre, szervezetekre</a:t>
            </a:r>
          </a:p>
          <a:p>
            <a:r>
              <a:rPr lang="hu-HU" dirty="0"/>
              <a:t>Az </a:t>
            </a:r>
            <a:r>
              <a:rPr lang="hu-HU" u="sng" dirty="0"/>
              <a:t>irányítás</a:t>
            </a:r>
            <a:r>
              <a:rPr lang="hu-HU" dirty="0"/>
              <a:t> során a vezető nem közvetlenül, hanem áttételesen hat a vezetettre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05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és a vezetés közötti különbségek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Kotter meghatározza a menedzser és a leaderek fő tevékenységei közötti különbségeket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xmlns="" id="{2DA34664-25F1-4969-8E7F-95B634F38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166240"/>
              </p:ext>
            </p:extLst>
          </p:nvPr>
        </p:nvGraphicFramePr>
        <p:xfrm>
          <a:off x="174374" y="2105248"/>
          <a:ext cx="11823043" cy="432107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472478">
                  <a:extLst>
                    <a:ext uri="{9D8B030D-6E8A-4147-A177-3AD203B41FA5}">
                      <a16:colId xmlns:a16="http://schemas.microsoft.com/office/drawing/2014/main" xmlns="" val="3904719310"/>
                    </a:ext>
                  </a:extLst>
                </a:gridCol>
                <a:gridCol w="4649798">
                  <a:extLst>
                    <a:ext uri="{9D8B030D-6E8A-4147-A177-3AD203B41FA5}">
                      <a16:colId xmlns:a16="http://schemas.microsoft.com/office/drawing/2014/main" xmlns="" val="3631733161"/>
                    </a:ext>
                  </a:extLst>
                </a:gridCol>
                <a:gridCol w="4700767">
                  <a:extLst>
                    <a:ext uri="{9D8B030D-6E8A-4147-A177-3AD203B41FA5}">
                      <a16:colId xmlns:a16="http://schemas.microsoft.com/office/drawing/2014/main" xmlns="" val="17684522"/>
                    </a:ext>
                  </a:extLst>
                </a:gridCol>
              </a:tblGrid>
              <a:tr h="52414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hu-HU" sz="32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solidFill>
                            <a:sysClr val="windowText" lastClr="000000"/>
                          </a:solidFill>
                          <a:effectLst/>
                        </a:rPr>
                        <a:t>Menedzser</a:t>
                      </a:r>
                      <a:endParaRPr lang="hu-HU" sz="32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solidFill>
                            <a:sysClr val="windowText" lastClr="000000"/>
                          </a:solidFill>
                          <a:effectLst/>
                        </a:rPr>
                        <a:t>Leader</a:t>
                      </a:r>
                      <a:endParaRPr lang="hu-HU" sz="32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06985119"/>
                  </a:ext>
                </a:extLst>
              </a:tr>
              <a:tr h="81358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solidFill>
                            <a:sysClr val="windowText" lastClr="000000"/>
                          </a:solidFill>
                          <a:effectLst/>
                        </a:rPr>
                        <a:t>Célkitűzés</a:t>
                      </a:r>
                      <a:endParaRPr lang="hu-HU" sz="32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8171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u-HU" sz="2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Tervezés, költségvetési keretek allokálása</a:t>
                      </a:r>
                      <a:endParaRPr lang="hu-HU" sz="32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8171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u-HU" sz="2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Jövőkép, változási stratégiák</a:t>
                      </a:r>
                      <a:endParaRPr lang="hu-HU" sz="32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41361814"/>
                  </a:ext>
                </a:extLst>
              </a:tr>
              <a:tr h="12295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solidFill>
                            <a:sysClr val="windowText" lastClr="000000"/>
                          </a:solidFill>
                          <a:effectLst/>
                        </a:rPr>
                        <a:t>Feltétel biztosítás</a:t>
                      </a:r>
                      <a:endParaRPr lang="hu-HU" sz="32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8171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u-HU" sz="2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Szervezés, formális rendszerek kialakítása, emberi erőforrás menedzsment</a:t>
                      </a:r>
                      <a:endParaRPr lang="hu-HU" sz="32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8171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u-HU" sz="2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Maga mellé állít, kommunikál, meggyőz, elfogadtat</a:t>
                      </a:r>
                      <a:endParaRPr lang="hu-HU" sz="32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055697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solidFill>
                            <a:sysClr val="windowText" lastClr="000000"/>
                          </a:solidFill>
                          <a:effectLst/>
                        </a:rPr>
                        <a:t>Végrehajtás</a:t>
                      </a:r>
                      <a:endParaRPr lang="hu-HU" sz="32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8171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u-HU" sz="2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Problémamegoldás, kontroll</a:t>
                      </a:r>
                      <a:endParaRPr lang="hu-HU" sz="32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8171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u-HU" sz="2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Motivál, inspirál, megerősít</a:t>
                      </a:r>
                      <a:endParaRPr lang="hu-HU" sz="32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15760512"/>
                  </a:ext>
                </a:extLst>
              </a:tr>
              <a:tr h="12295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solidFill>
                            <a:sysClr val="windowText" lastClr="000000"/>
                          </a:solidFill>
                          <a:effectLst/>
                        </a:rPr>
                        <a:t>Sikerkritérium</a:t>
                      </a:r>
                      <a:endParaRPr lang="hu-HU" sz="32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8171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u-HU" sz="2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Belső hatékonyság, a komplex szervezet zökkenőmentes működési rendszere</a:t>
                      </a:r>
                      <a:endParaRPr lang="hu-HU" sz="32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8171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u-HU" sz="2400" b="0" dirty="0">
                          <a:solidFill>
                            <a:sysClr val="windowText" lastClr="000000"/>
                          </a:solidFill>
                          <a:effectLst/>
                        </a:rPr>
                        <a:t>Eredményesség, a környezet kihívásainak megfelelő sikeres szervezési változás</a:t>
                      </a:r>
                      <a:endParaRPr lang="hu-HU" sz="3200" b="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8171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74326352"/>
                  </a:ext>
                </a:extLst>
              </a:tr>
            </a:tbl>
          </a:graphicData>
        </a:graphic>
      </p:graphicFrame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94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705969"/>
            <a:ext cx="11510283" cy="5015503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Akit arra neveznek ki, hogy a szervezeti egységet adott hatásköri keretekben, meghatározott erőforrásokkal, körülírt célokat érjen el</a:t>
            </a:r>
          </a:p>
          <a:p>
            <a:pPr lvl="1"/>
            <a:r>
              <a:rPr lang="hu-HU" dirty="0"/>
              <a:t>Irányítás, szervezés, ellenőrzés</a:t>
            </a:r>
          </a:p>
          <a:p>
            <a:pPr lvl="1"/>
            <a:r>
              <a:rPr lang="hu-HU" dirty="0"/>
              <a:t>Magas szervezeti kompetencia</a:t>
            </a:r>
          </a:p>
          <a:p>
            <a:pPr lvl="1"/>
            <a:r>
              <a:rPr lang="hu-HU" dirty="0"/>
              <a:t>Különböző embertípusokkal dolgozik</a:t>
            </a:r>
          </a:p>
          <a:p>
            <a:pPr lvl="1"/>
            <a:r>
              <a:rPr lang="hu-HU" dirty="0"/>
              <a:t>Lemond a szakértői karrierről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Menedzsment </a:t>
            </a:r>
            <a:r>
              <a:rPr lang="hu-HU" dirty="0"/>
              <a:t>az a tevékenység, amelyet egy vagy több személy </a:t>
            </a:r>
            <a:r>
              <a:rPr lang="hu-HU" dirty="0" smtClean="0"/>
              <a:t>végez, </a:t>
            </a:r>
            <a:r>
              <a:rPr lang="hu-HU" u="sng" dirty="0"/>
              <a:t>a szervezet tevékenységeinek összehangolása vagy koordinálása </a:t>
            </a:r>
            <a:r>
              <a:rPr lang="hu-HU" dirty="0"/>
              <a:t>céljából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86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kulcskérdései – Dr. Farkas András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219AB16F-E34B-4821-B900-C7441730CC6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762" y="1360226"/>
            <a:ext cx="8382475" cy="5325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49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4 alapfunkciója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A menedzsment 4 funkciójához tartozik, </a:t>
            </a:r>
          </a:p>
          <a:p>
            <a:pPr lvl="1"/>
            <a:r>
              <a:rPr lang="hu-HU" dirty="0"/>
              <a:t>a tervezés, </a:t>
            </a:r>
          </a:p>
          <a:p>
            <a:pPr lvl="1"/>
            <a:r>
              <a:rPr lang="hu-HU" dirty="0"/>
              <a:t>a szervezés, </a:t>
            </a:r>
          </a:p>
          <a:p>
            <a:pPr lvl="1"/>
            <a:r>
              <a:rPr lang="hu-HU" dirty="0"/>
              <a:t>a vezetés és, </a:t>
            </a:r>
          </a:p>
          <a:p>
            <a:pPr lvl="1"/>
            <a:r>
              <a:rPr lang="hu-HU" dirty="0"/>
              <a:t>az irányítás 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Ezek </a:t>
            </a:r>
            <a:r>
              <a:rPr lang="hu-HU" dirty="0"/>
              <a:t>az alapfunkciók segítik elő a menedzsmentet a tervezésben, és a tervek implementálásában, annak érdekében, hogy sikeresen elérjék a vállalkozások célkitűzéseit, létrejöjjenek a megfelelő felelősség és munkakörök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Végül </a:t>
            </a:r>
            <a:r>
              <a:rPr lang="hu-HU" dirty="0"/>
              <a:t>pedig létrejöjjön a tökéletes működéshez szükséges feltételek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55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legfontosabb feladatai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>
                <a:solidFill>
                  <a:srgbClr val="FF0000"/>
                </a:solidFill>
              </a:rPr>
              <a:t>Tervezés</a:t>
            </a:r>
            <a:r>
              <a:rPr lang="hu-HU" dirty="0"/>
              <a:t> </a:t>
            </a:r>
          </a:p>
          <a:p>
            <a:pPr lvl="1"/>
            <a:r>
              <a:rPr lang="hu-HU" b="1" dirty="0"/>
              <a:t>A szervezetek alapproblémája a változó környezethez való sikeres alkalmazkodás</a:t>
            </a:r>
            <a:r>
              <a:rPr lang="hu-HU" dirty="0"/>
              <a:t> </a:t>
            </a:r>
          </a:p>
          <a:p>
            <a:pPr lvl="1"/>
            <a:r>
              <a:rPr lang="hu-HU" dirty="0"/>
              <a:t>A tervezés a problémák "elméleti" megoldásával kijelöli az elérendő szervezeti célokat és az elérésükhöz vezető (fontosabb) tevékenységeket. 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1800" dirty="0"/>
              <a:t>A célok és a célok eléréséhez szükséges tevékenységek meghatározása több szinten történik a szervezet célhierarchiájának megfelelően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1800" dirty="0"/>
              <a:t>A szervezeti környezet és a működést befolyásoló tényezők elemzése és azok ismerete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1800" dirty="0"/>
              <a:t>A szervezeti vízió, hosszútávú célkitűzések ismerete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1800" dirty="0"/>
              <a:t>A tervezés </a:t>
            </a:r>
            <a:r>
              <a:rPr lang="hu-HU" sz="1800" dirty="0" smtClean="0"/>
              <a:t>tudatos, </a:t>
            </a:r>
            <a:r>
              <a:rPr lang="hu-HU" sz="1800" dirty="0"/>
              <a:t>azaz a szervezeti tudást, tapasztalatokat kihasználó alkalmazkodást jelent a környezeti változásokhoz, a kockázatok minimalizálásával</a:t>
            </a:r>
          </a:p>
          <a:p>
            <a:pPr lvl="1"/>
            <a:r>
              <a:rPr lang="hu-HU" dirty="0"/>
              <a:t>Elérendő célok és az ahhoz szükséges folyamatok, kompetenciák, erőforrások sikeres és optimális meghatározása</a:t>
            </a:r>
          </a:p>
          <a:p>
            <a:pPr lvl="1"/>
            <a:r>
              <a:rPr lang="hu-HU" dirty="0"/>
              <a:t>Megfelelő hosszútávú döntések meghozatala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11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menedzsment legfontosabb </a:t>
            </a:r>
            <a:r>
              <a:rPr lang="hu-HU" dirty="0" smtClean="0"/>
              <a:t>feladatai - </a:t>
            </a:r>
            <a:r>
              <a:rPr lang="hu-HU" dirty="0">
                <a:solidFill>
                  <a:srgbClr val="FF0000"/>
                </a:solidFill>
              </a:rPr>
              <a:t>Tervezés</a:t>
            </a:r>
            <a:r>
              <a:rPr lang="hu-HU" dirty="0"/>
              <a:t>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xmlns="" id="{5A945300-CAF1-4BDB-B93C-16AF655DF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268" y="1270325"/>
            <a:ext cx="8224674" cy="5474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03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legfontosabb feladatai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>
                <a:solidFill>
                  <a:srgbClr val="FF0000"/>
                </a:solidFill>
              </a:rPr>
              <a:t>Szabályozás</a:t>
            </a:r>
            <a:r>
              <a:rPr lang="hu-HU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hu-HU" dirty="0"/>
              <a:t>Folyamatos nyomon követés</a:t>
            </a:r>
          </a:p>
          <a:p>
            <a:pPr lvl="1"/>
            <a:r>
              <a:rPr lang="hu-HU" dirty="0"/>
              <a:t>Rendszeres kommunikáció, szakértők véleményének kikérése</a:t>
            </a:r>
          </a:p>
          <a:p>
            <a:pPr lvl="1"/>
            <a:r>
              <a:rPr lang="hu-HU" dirty="0"/>
              <a:t>Kontrolling tevékenység folytatása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2000" dirty="0"/>
              <a:t>Terv – tény összehasonlítása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2000" dirty="0"/>
              <a:t>Az előre haladás mérése, értékelése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2000" dirty="0"/>
              <a:t>Kockázatok elemzése, nyomon követése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2000" dirty="0"/>
              <a:t>Helyesbítő lépések megtétele</a:t>
            </a:r>
          </a:p>
          <a:p>
            <a:pPr lvl="1"/>
            <a:r>
              <a:rPr lang="hu-HU" dirty="0"/>
              <a:t>Folyamat szemléletű gondolkodás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2000" dirty="0"/>
              <a:t>Ellenőrzés, dokumentáció</a:t>
            </a:r>
          </a:p>
          <a:p>
            <a:pPr marL="1371600" lvl="2" indent="-457200">
              <a:buFont typeface="+mj-lt"/>
              <a:buAutoNum type="arabicPeriod"/>
            </a:pPr>
            <a:r>
              <a:rPr lang="hu-HU" sz="2000" dirty="0"/>
              <a:t>Folyamatos fejlődés és hibák forrásainak feltárása</a:t>
            </a:r>
          </a:p>
          <a:p>
            <a:pPr lvl="1"/>
            <a:r>
              <a:rPr lang="hu-HU" dirty="0"/>
              <a:t>PDCA ciklus (</a:t>
            </a:r>
            <a:r>
              <a:rPr lang="hu-HU" dirty="0" err="1"/>
              <a:t>Plan</a:t>
            </a:r>
            <a:r>
              <a:rPr lang="hu-HU" dirty="0"/>
              <a:t>, </a:t>
            </a:r>
            <a:r>
              <a:rPr lang="hu-HU" dirty="0" err="1"/>
              <a:t>Do</a:t>
            </a:r>
            <a:r>
              <a:rPr lang="hu-HU" dirty="0"/>
              <a:t>, </a:t>
            </a:r>
            <a:r>
              <a:rPr lang="hu-HU" dirty="0" err="1"/>
              <a:t>Check</a:t>
            </a:r>
            <a:r>
              <a:rPr lang="hu-HU" dirty="0"/>
              <a:t>, </a:t>
            </a:r>
            <a:r>
              <a:rPr lang="hu-HU" dirty="0" err="1"/>
              <a:t>Act</a:t>
            </a:r>
            <a:r>
              <a:rPr lang="hu-HU" dirty="0" smtClean="0"/>
              <a:t>) – FOLYAMTOS, VÉGET NEM ÉRŐ TEVÉKENYSÉG</a:t>
            </a:r>
            <a:endParaRPr lang="hu-HU" dirty="0"/>
          </a:p>
          <a:p>
            <a:pPr marL="914400" lvl="2" indent="0">
              <a:buNone/>
            </a:pPr>
            <a:r>
              <a:rPr lang="hu-HU" sz="2000" dirty="0"/>
              <a:t>Tervezés </a:t>
            </a:r>
            <a:r>
              <a:rPr lang="hu-HU" sz="2000" dirty="0">
                <a:sym typeface="Wingdings" panose="05000000000000000000" pitchFamily="2" charset="2"/>
              </a:rPr>
              <a:t> Cselekvés  Ellenőrzés  Helyesbítő lépések megtétele </a:t>
            </a:r>
            <a:r>
              <a:rPr lang="hu-HU" sz="2000" dirty="0" smtClean="0">
                <a:sym typeface="Wingdings" panose="05000000000000000000" pitchFamily="2" charset="2"/>
              </a:rPr>
              <a:t></a:t>
            </a:r>
            <a:r>
              <a:rPr lang="hu-HU" sz="2000" dirty="0"/>
              <a:t> Tervezés </a:t>
            </a:r>
            <a:r>
              <a:rPr lang="hu-HU" sz="2000" dirty="0">
                <a:sym typeface="Wingdings" panose="05000000000000000000" pitchFamily="2" charset="2"/>
              </a:rPr>
              <a:t> </a:t>
            </a:r>
            <a:r>
              <a:rPr lang="hu-HU" sz="2000" dirty="0" smtClean="0">
                <a:sym typeface="Wingdings" panose="05000000000000000000" pitchFamily="2" charset="2"/>
              </a:rPr>
              <a:t>Cselekvés</a:t>
            </a:r>
            <a:r>
              <a:rPr lang="hu-HU" sz="2000" dirty="0">
                <a:sym typeface="Wingdings" panose="05000000000000000000" pitchFamily="2" charset="2"/>
              </a:rPr>
              <a:t> </a:t>
            </a:r>
            <a:r>
              <a:rPr lang="hu-HU" sz="2000" dirty="0" smtClean="0">
                <a:sym typeface="Wingdings" panose="05000000000000000000" pitchFamily="2" charset="2"/>
              </a:rPr>
              <a:t>…. </a:t>
            </a:r>
            <a:endParaRPr lang="hu-HU" sz="2000" dirty="0">
              <a:sym typeface="Wingdings" panose="05000000000000000000" pitchFamily="2" charset="2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27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legfontosabb feladatai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>
                <a:solidFill>
                  <a:srgbClr val="FF0000"/>
                </a:solidFill>
              </a:rPr>
              <a:t>Szabályozás</a:t>
            </a:r>
            <a:r>
              <a:rPr lang="hu-HU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hu-HU" dirty="0"/>
              <a:t>A szervezeti erőforrások optimális felhasználásának biztosítása</a:t>
            </a:r>
          </a:p>
          <a:p>
            <a:pPr lvl="1"/>
            <a:r>
              <a:rPr lang="hu-HU" dirty="0"/>
              <a:t>A menedzsment tevékenység nem a cél </a:t>
            </a:r>
            <a:r>
              <a:rPr lang="hu-HU" dirty="0" smtClean="0"/>
              <a:t>elérésénél, </a:t>
            </a:r>
            <a:r>
              <a:rPr lang="hu-HU" dirty="0"/>
              <a:t>hanem a rendelkezésre álló erőforrásokból való maximum kihozatalánál </a:t>
            </a:r>
            <a:r>
              <a:rPr lang="hu-HU" dirty="0" smtClean="0"/>
              <a:t>kezdődik</a:t>
            </a:r>
            <a:endParaRPr lang="hu-HU" dirty="0"/>
          </a:p>
          <a:p>
            <a:pPr lvl="2"/>
            <a:r>
              <a:rPr lang="hu-HU" sz="2000" dirty="0"/>
              <a:t>Példa - Egy nyaralás végén sokszor mondjuk arra, hogy nagyon jó volt, de a kérdés az, hogy vajon hasonló összegből, megfelelő tervezéssel és kutatással, nem lehetett-e volna egy tartalmasabb és még jobb nyaralást szervezni</a:t>
            </a:r>
          </a:p>
          <a:p>
            <a:pPr lvl="1"/>
            <a:r>
              <a:rPr lang="hu-HU" dirty="0"/>
              <a:t>A működéshez szükséges erőforrások megteremtése</a:t>
            </a:r>
          </a:p>
          <a:p>
            <a:pPr lvl="1"/>
            <a:r>
              <a:rPr lang="hu-HU" dirty="0"/>
              <a:t>A működéshez szükséges megfelelő környezet biztosítása</a:t>
            </a:r>
          </a:p>
          <a:p>
            <a:pPr lvl="1"/>
            <a:r>
              <a:rPr lang="hu-HU" dirty="0"/>
              <a:t>A szükséges oktatás, továbbképzés, információ áramlás biztosítása</a:t>
            </a:r>
          </a:p>
          <a:p>
            <a:pPr lvl="1"/>
            <a:r>
              <a:rPr lang="hu-HU" dirty="0"/>
              <a:t>Rugalmasság</a:t>
            </a:r>
          </a:p>
          <a:p>
            <a:pPr lvl="2"/>
            <a:r>
              <a:rPr lang="hu-HU" sz="2000" dirty="0"/>
              <a:t>Hirtelen szükségletek áthidalása</a:t>
            </a:r>
          </a:p>
          <a:p>
            <a:pPr lvl="2"/>
            <a:r>
              <a:rPr lang="hu-HU" sz="2000" dirty="0"/>
              <a:t>Elkötelezettség a hatékonyság és a siker mentén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71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legfontosabb feladatai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793289"/>
            <a:ext cx="11510283" cy="4928184"/>
          </a:xfrm>
        </p:spPr>
        <p:txBody>
          <a:bodyPr/>
          <a:lstStyle/>
          <a:p>
            <a:pPr marL="0" indent="0">
              <a:buNone/>
            </a:pPr>
            <a:r>
              <a:rPr lang="hu-HU" b="1" dirty="0">
                <a:solidFill>
                  <a:srgbClr val="FF0000"/>
                </a:solidFill>
              </a:rPr>
              <a:t>Emberek irányítása</a:t>
            </a:r>
            <a:r>
              <a:rPr lang="hu-HU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hu-HU" dirty="0"/>
              <a:t>A szervezet dolgozóinak irányítása közvetett és közvetlen utasításokkal</a:t>
            </a:r>
          </a:p>
          <a:p>
            <a:pPr lvl="1"/>
            <a:r>
              <a:rPr lang="hu-HU" dirty="0"/>
              <a:t>Szervezeti filozófia meghonosítása</a:t>
            </a:r>
          </a:p>
          <a:p>
            <a:pPr lvl="1"/>
            <a:r>
              <a:rPr lang="hu-HU" dirty="0"/>
              <a:t>Folyamatos kommunikáció</a:t>
            </a:r>
          </a:p>
          <a:p>
            <a:pPr lvl="1"/>
            <a:r>
              <a:rPr lang="hu-HU" dirty="0"/>
              <a:t>Dolgozók bevonása a döntéshozásba</a:t>
            </a:r>
          </a:p>
          <a:p>
            <a:pPr lvl="1"/>
            <a:r>
              <a:rPr lang="hu-HU" dirty="0"/>
              <a:t>Konfliktus kezelés</a:t>
            </a:r>
          </a:p>
          <a:p>
            <a:pPr lvl="1"/>
            <a:r>
              <a:rPr lang="hu-HU" dirty="0"/>
              <a:t>Motiváció</a:t>
            </a:r>
          </a:p>
          <a:p>
            <a:pPr lvl="1"/>
            <a:r>
              <a:rPr lang="hu-HU" dirty="0"/>
              <a:t>Szükséges információk, tudás megosztása</a:t>
            </a:r>
          </a:p>
          <a:p>
            <a:pPr lvl="1"/>
            <a:r>
              <a:rPr lang="hu-HU" dirty="0"/>
              <a:t>Vezetői utánpótlás biztosítása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17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szerepek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Magatartási szerepek</a:t>
            </a:r>
          </a:p>
          <a:p>
            <a:pPr lvl="1"/>
            <a:r>
              <a:rPr lang="hu-HU" dirty="0"/>
              <a:t>formális képviselő</a:t>
            </a:r>
          </a:p>
          <a:p>
            <a:pPr lvl="1"/>
            <a:r>
              <a:rPr lang="hu-HU" dirty="0"/>
              <a:t>kapcsolattartó</a:t>
            </a:r>
          </a:p>
          <a:p>
            <a:pPr lvl="1"/>
            <a:r>
              <a:rPr lang="hu-HU" dirty="0"/>
              <a:t>vezető</a:t>
            </a:r>
          </a:p>
          <a:p>
            <a:pPr marL="0" indent="0">
              <a:buNone/>
            </a:pPr>
            <a:r>
              <a:rPr lang="hu-HU" b="1" dirty="0"/>
              <a:t>Információs szerepek</a:t>
            </a:r>
          </a:p>
          <a:p>
            <a:pPr lvl="1"/>
            <a:r>
              <a:rPr lang="hu-HU" dirty="0"/>
              <a:t>megfigyelő</a:t>
            </a:r>
          </a:p>
          <a:p>
            <a:pPr lvl="1"/>
            <a:r>
              <a:rPr lang="hu-HU" dirty="0"/>
              <a:t>elterjesztő</a:t>
            </a:r>
          </a:p>
          <a:p>
            <a:pPr lvl="1"/>
            <a:r>
              <a:rPr lang="hu-HU" dirty="0"/>
              <a:t>szóvivő</a:t>
            </a:r>
          </a:p>
          <a:p>
            <a:pPr marL="0" indent="0">
              <a:buNone/>
            </a:pPr>
            <a:r>
              <a:rPr lang="hu-HU" b="1" dirty="0"/>
              <a:t>Döntési szerepek</a:t>
            </a:r>
          </a:p>
          <a:p>
            <a:pPr lvl="1"/>
            <a:r>
              <a:rPr lang="hu-HU" dirty="0"/>
              <a:t>vállalkozó</a:t>
            </a:r>
          </a:p>
          <a:p>
            <a:pPr lvl="1"/>
            <a:r>
              <a:rPr lang="hu-HU" dirty="0"/>
              <a:t>zavarkezelő</a:t>
            </a:r>
          </a:p>
          <a:p>
            <a:pPr lvl="1"/>
            <a:r>
              <a:rPr lang="hu-HU" dirty="0"/>
              <a:t>erőforrás elosztó</a:t>
            </a:r>
          </a:p>
          <a:p>
            <a:pPr lvl="1"/>
            <a:r>
              <a:rPr lang="hu-HU" dirty="0"/>
              <a:t>tárgyaló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12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szerepek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8D67F343-074A-40AC-814B-DE9A9F655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759" y="1265463"/>
            <a:ext cx="6714481" cy="535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18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4 </a:t>
            </a:r>
            <a:r>
              <a:rPr lang="hu-HU" dirty="0" smtClean="0"/>
              <a:t>alapfunkciójának időigénye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 descr="alap4">
            <a:extLst>
              <a:ext uri="{FF2B5EF4-FFF2-40B4-BE49-F238E27FC236}">
                <a16:creationId xmlns:a16="http://schemas.microsoft.com/office/drawing/2014/main" xmlns="" id="{F3776834-68D4-4043-9F05-7EB5486D9313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982" y="1407943"/>
            <a:ext cx="11188036" cy="5056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85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szakterületei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A03BFBC6-20C7-4E2D-9B9A-38BFA28B7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307" y="1299140"/>
            <a:ext cx="7760595" cy="5445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63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Menedzsment ismeretek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861347" cy="5264148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hu-HU" sz="2000" i="1" dirty="0"/>
              <a:t>A menedzsment egy komplex, szerteágazó terület amely leginkább a már korábban is létező szervezeti egységek optimalizálására és működésének elősegítésére irányul</a:t>
            </a:r>
          </a:p>
          <a:p>
            <a:endParaRPr lang="hu-HU" b="1" dirty="0"/>
          </a:p>
          <a:p>
            <a:pPr marL="0" indent="0">
              <a:buNone/>
            </a:pPr>
            <a:r>
              <a:rPr lang="hu-HU" b="1" u="sng" dirty="0"/>
              <a:t>Humánismeretek</a:t>
            </a:r>
          </a:p>
          <a:p>
            <a:pPr lvl="1"/>
            <a:r>
              <a:rPr lang="hu-HU" dirty="0"/>
              <a:t>szociálpszichológia</a:t>
            </a:r>
          </a:p>
          <a:p>
            <a:pPr lvl="1"/>
            <a:r>
              <a:rPr lang="hu-HU" dirty="0"/>
              <a:t>általános jogi ismeretek</a:t>
            </a:r>
          </a:p>
          <a:p>
            <a:pPr lvl="1"/>
            <a:r>
              <a:rPr lang="hu-HU" dirty="0"/>
              <a:t>nyelvismeretek</a:t>
            </a:r>
          </a:p>
          <a:p>
            <a:pPr lvl="1"/>
            <a:r>
              <a:rPr lang="hu-HU" dirty="0"/>
              <a:t>kommunikációs ismeretek</a:t>
            </a:r>
          </a:p>
          <a:p>
            <a:pPr lvl="1"/>
            <a:r>
              <a:rPr lang="hu-HU" dirty="0"/>
              <a:t>gazdaságpolitikai ismeretek, stb.</a:t>
            </a:r>
          </a:p>
          <a:p>
            <a:endParaRPr lang="hu-HU" b="1" dirty="0"/>
          </a:p>
          <a:p>
            <a:pPr marL="0" indent="0">
              <a:buNone/>
            </a:pPr>
            <a:endParaRPr lang="hu-HU" b="1" dirty="0" smtClean="0"/>
          </a:p>
          <a:p>
            <a:pPr marL="0" indent="0">
              <a:buNone/>
            </a:pPr>
            <a:endParaRPr lang="hu-HU" b="1" dirty="0" smtClean="0"/>
          </a:p>
          <a:p>
            <a:pPr marL="0" indent="0">
              <a:buNone/>
            </a:pPr>
            <a:endParaRPr lang="hu-HU" b="1" dirty="0"/>
          </a:p>
          <a:p>
            <a:pPr marL="914400" lvl="2" indent="0">
              <a:buNone/>
            </a:pPr>
            <a:r>
              <a:rPr lang="hu-HU" b="1" u="sng" dirty="0"/>
              <a:t>Vezetéselméleti ismeretek</a:t>
            </a:r>
          </a:p>
          <a:p>
            <a:pPr lvl="3"/>
            <a:r>
              <a:rPr lang="hu-HU" dirty="0"/>
              <a:t>döntéselmélet és módszertan</a:t>
            </a:r>
          </a:p>
          <a:p>
            <a:pPr lvl="3"/>
            <a:r>
              <a:rPr lang="hu-HU" dirty="0"/>
              <a:t>stratégia és taktikai tervezés</a:t>
            </a:r>
          </a:p>
          <a:p>
            <a:pPr lvl="3"/>
            <a:r>
              <a:rPr lang="hu-HU" dirty="0"/>
              <a:t>marketing</a:t>
            </a:r>
          </a:p>
          <a:p>
            <a:pPr lvl="3"/>
            <a:r>
              <a:rPr lang="hu-HU" dirty="0"/>
              <a:t>nemzetközi pénzügyek</a:t>
            </a:r>
          </a:p>
          <a:p>
            <a:pPr lvl="3"/>
            <a:r>
              <a:rPr lang="hu-HU" dirty="0"/>
              <a:t>innovációs ismeretek</a:t>
            </a:r>
          </a:p>
          <a:p>
            <a:pPr lvl="3"/>
            <a:r>
              <a:rPr lang="hu-HU" dirty="0"/>
              <a:t>projektmenedzsment</a:t>
            </a:r>
          </a:p>
          <a:p>
            <a:pPr lvl="3"/>
            <a:r>
              <a:rPr lang="hu-HU" dirty="0"/>
              <a:t>irányítási ismeretek, stb.</a:t>
            </a:r>
            <a:endParaRPr lang="hu-HU" b="1" dirty="0"/>
          </a:p>
          <a:p>
            <a:pPr marL="914400" lvl="2" indent="0">
              <a:buNone/>
            </a:pPr>
            <a:endParaRPr lang="hu-HU" b="1" dirty="0"/>
          </a:p>
          <a:p>
            <a:pPr marL="914400" lvl="2" indent="0">
              <a:buNone/>
            </a:pPr>
            <a:r>
              <a:rPr lang="hu-HU" b="1" u="sng" dirty="0"/>
              <a:t>Vezetés- és szervezéstechnikai ismeretek</a:t>
            </a:r>
          </a:p>
          <a:p>
            <a:pPr lvl="3"/>
            <a:r>
              <a:rPr lang="hu-HU" dirty="0"/>
              <a:t>informatikai ismeretek</a:t>
            </a:r>
          </a:p>
          <a:p>
            <a:pPr lvl="3"/>
            <a:r>
              <a:rPr lang="hu-HU" dirty="0"/>
              <a:t>szakértői rendszerek használata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70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menedzsment területétől való téves elvárások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alapjai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E9A9B33E-056F-4873-9C61-4910991C5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463" y="1366895"/>
            <a:ext cx="11631695" cy="506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625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8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</TotalTime>
  <Words>1651</Words>
  <Application>Microsoft Office PowerPoint</Application>
  <PresentationFormat>Szélesvásznú</PresentationFormat>
  <Paragraphs>410</Paragraphs>
  <Slides>34</Slides>
  <Notes>16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Wingdings</vt:lpstr>
      <vt:lpstr>Office-téma</vt:lpstr>
      <vt:lpstr>Menedzsment alapjai</vt:lpstr>
      <vt:lpstr>Tartalomjegyzék</vt:lpstr>
      <vt:lpstr>Fontossága</vt:lpstr>
      <vt:lpstr>Szervezetek</vt:lpstr>
      <vt:lpstr>A szervezet jellemzői</vt:lpstr>
      <vt:lpstr>A vállalkozások fogalma</vt:lpstr>
      <vt:lpstr>A szervezetek fekete doboz modellje</vt:lpstr>
      <vt:lpstr>A szervezetek fekete doboz modellje</vt:lpstr>
      <vt:lpstr>A szervezet érintettjei (Stakeholderek)</vt:lpstr>
      <vt:lpstr>A szervezeti rendszer kritériumai</vt:lpstr>
      <vt:lpstr>Vállalkozások fajtái</vt:lpstr>
      <vt:lpstr>Fajtái – nagyságrend alapján (EU)</vt:lpstr>
      <vt:lpstr>Fajtái – magyar jogrendben</vt:lpstr>
      <vt:lpstr>Szervezeti struktúrát meghatározó tényezők</vt:lpstr>
      <vt:lpstr>A szervezeti környezet</vt:lpstr>
      <vt:lpstr>A vállalat mint élő szervezet</vt:lpstr>
      <vt:lpstr>A szervezet irányítása</vt:lpstr>
      <vt:lpstr>A menedzsment alapfogalmak</vt:lpstr>
      <vt:lpstr>A menedzsment és a vezetés közötti különbségek</vt:lpstr>
      <vt:lpstr>A menedzser</vt:lpstr>
      <vt:lpstr>A menedzsment kulcskérdései – Dr. Farkas András</vt:lpstr>
      <vt:lpstr>A menedzsment 4 alapfunkciója</vt:lpstr>
      <vt:lpstr>A menedzsment legfontosabb feladatai</vt:lpstr>
      <vt:lpstr>A menedzsment legfontosabb feladatai - Tervezés </vt:lpstr>
      <vt:lpstr>A menedzsment legfontosabb feladatai</vt:lpstr>
      <vt:lpstr>A menedzsment legfontosabb feladatai</vt:lpstr>
      <vt:lpstr>A menedzsment legfontosabb feladatai</vt:lpstr>
      <vt:lpstr>A menedzsment szerepek</vt:lpstr>
      <vt:lpstr>A menedzsment szerepek</vt:lpstr>
      <vt:lpstr>A menedzsment 4 alapfunkciójának időigénye</vt:lpstr>
      <vt:lpstr>A menedzsment szakterületei</vt:lpstr>
      <vt:lpstr>Menedzsment ismeretek</vt:lpstr>
      <vt:lpstr>A menedzsment területétől való téves elvárások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Menedzsment alapja1</dc:title>
  <dc:creator>MMI</dc:creator>
  <cp:lastModifiedBy>Gombaszögi Ildikó</cp:lastModifiedBy>
  <cp:revision>61</cp:revision>
  <dcterms:created xsi:type="dcterms:W3CDTF">2021-01-18T18:03:07Z</dcterms:created>
  <dcterms:modified xsi:type="dcterms:W3CDTF">2023-08-29T15:10:32Z</dcterms:modified>
</cp:coreProperties>
</file>