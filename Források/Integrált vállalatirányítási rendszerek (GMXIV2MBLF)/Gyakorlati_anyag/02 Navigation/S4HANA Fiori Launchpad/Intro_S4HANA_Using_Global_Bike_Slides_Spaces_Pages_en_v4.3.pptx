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15"/>
  </p:notesMasterIdLst>
  <p:handoutMasterIdLst>
    <p:handoutMasterId r:id="rId16"/>
  </p:handoutMasterIdLst>
  <p:sldIdLst>
    <p:sldId id="410" r:id="rId2"/>
    <p:sldId id="369" r:id="rId3"/>
    <p:sldId id="363" r:id="rId4"/>
    <p:sldId id="364" r:id="rId5"/>
    <p:sldId id="422" r:id="rId6"/>
    <p:sldId id="426" r:id="rId7"/>
    <p:sldId id="427" r:id="rId8"/>
    <p:sldId id="428" r:id="rId9"/>
    <p:sldId id="429" r:id="rId10"/>
    <p:sldId id="430" r:id="rId11"/>
    <p:sldId id="425" r:id="rId12"/>
    <p:sldId id="423" r:id="rId13"/>
    <p:sldId id="424" r:id="rId14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FCED21F-ED0F-427D-83CD-78607C8B688E}">
          <p14:sldIdLst>
            <p14:sldId id="410"/>
            <p14:sldId id="369"/>
            <p14:sldId id="363"/>
            <p14:sldId id="364"/>
            <p14:sldId id="422"/>
            <p14:sldId id="426"/>
            <p14:sldId id="427"/>
            <p14:sldId id="428"/>
            <p14:sldId id="429"/>
            <p14:sldId id="430"/>
            <p14:sldId id="425"/>
            <p14:sldId id="423"/>
            <p14:sldId id="424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t, Phillip" initials="DP" lastIdx="48" clrIdx="0">
    <p:extLst>
      <p:ext uri="{19B8F6BF-5375-455C-9EA6-DF929625EA0E}">
        <p15:presenceInfo xmlns:p15="http://schemas.microsoft.com/office/powerpoint/2012/main" userId="0c306e22-924d-4d2f-9b38-6bfb0b3c3b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666666"/>
    <a:srgbClr val="B2B2B2"/>
    <a:srgbClr val="003283"/>
    <a:srgbClr val="FF0000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4" autoAdjust="0"/>
    <p:restoredTop sz="77869" autoAdjust="0"/>
  </p:normalViewPr>
  <p:slideViewPr>
    <p:cSldViewPr snapToGrid="0" showGuides="1">
      <p:cViewPr varScale="1">
        <p:scale>
          <a:sx n="85" d="100"/>
          <a:sy n="85" d="100"/>
        </p:scale>
        <p:origin x="90" y="942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127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 dirty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 dirty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 dirty="0"/>
              <a:t>Thank</a:t>
            </a:r>
            <a:r>
              <a:rPr lang="en-US" sz="6000" baseline="0" noProof="0" dirty="0"/>
              <a:t> you</a:t>
            </a:r>
            <a:r>
              <a:rPr lang="en-US" sz="6000" noProof="0" dirty="0"/>
              <a:t>!</a:t>
            </a:r>
            <a:endParaRPr lang="en-US" sz="6000" kern="0" noProof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/>
              <a:t>Contact</a:t>
            </a:r>
          </a:p>
          <a:p>
            <a:pPr lvl="0"/>
            <a:endParaRPr lang="en-US" noProof="0" dirty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&lt;3.1 (</a:t>
            </a:r>
            <a:r>
              <a:rPr lang="de-DE" noProof="0" dirty="0" err="1"/>
              <a:t>July</a:t>
            </a:r>
            <a:r>
              <a:rPr lang="de-DE" noProof="0" dirty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</a:t>
            </a:r>
            <a:r>
              <a:rPr lang="de-DE" noProof="0" dirty="0" err="1"/>
              <a:t>server</a:t>
            </a:r>
            <a:r>
              <a:rPr lang="de-DE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2001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/>
              <a:t>Insert page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&lt;level 1&gt;</a:t>
            </a:r>
          </a:p>
          <a:p>
            <a:pPr lvl="1"/>
            <a:r>
              <a:rPr lang="en-US" noProof="0" dirty="0"/>
              <a:t>&lt;level 2&gt;</a:t>
            </a:r>
          </a:p>
          <a:p>
            <a:pPr lvl="2"/>
            <a:r>
              <a:rPr lang="en-US" noProof="0" dirty="0"/>
              <a:t>&lt;level 3&gt;</a:t>
            </a:r>
          </a:p>
          <a:p>
            <a:pPr lvl="3"/>
            <a:r>
              <a:rPr lang="en-US" noProof="0" dirty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>
                <a:solidFill>
                  <a:srgbClr val="FFFFFF"/>
                </a:solidFill>
              </a:rPr>
              <a:t>© </a:t>
            </a:r>
            <a:r>
              <a:rPr lang="en-US" sz="900" dirty="0" smtClean="0">
                <a:solidFill>
                  <a:srgbClr val="FFFFFF"/>
                </a:solidFill>
              </a:rPr>
              <a:t>2025 </a:t>
            </a:r>
            <a:r>
              <a:rPr lang="en-US" sz="900" dirty="0">
                <a:solidFill>
                  <a:srgbClr val="FFFFFF"/>
                </a:solidFill>
              </a:rPr>
              <a:t>SAP</a:t>
            </a:r>
            <a:r>
              <a:rPr lang="en-US" sz="900" baseline="0" dirty="0">
                <a:solidFill>
                  <a:srgbClr val="FFFFFF"/>
                </a:solidFill>
              </a:rPr>
              <a:t> SE / SAP UCC Magdeburg</a:t>
            </a:r>
            <a:r>
              <a:rPr lang="en-US" sz="900" dirty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z="5000" dirty="0" smtClean="0"/>
              <a:t>Global Bike </a:t>
            </a:r>
            <a:r>
              <a:rPr lang="de-DE" altLang="de-DE" sz="5000" dirty="0" err="1" smtClean="0"/>
              <a:t>Fiori</a:t>
            </a:r>
            <a:r>
              <a:rPr lang="de-DE" altLang="de-DE" sz="5000" dirty="0" smtClean="0"/>
              <a:t> </a:t>
            </a:r>
            <a:r>
              <a:rPr lang="de-DE" altLang="de-DE" sz="5000" dirty="0" err="1" smtClean="0"/>
              <a:t>Launchpad</a:t>
            </a:r>
            <a:endParaRPr lang="de-DE" sz="50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Curriculum: Introduction to </a:t>
            </a:r>
            <a:r>
              <a:rPr lang="en-US" dirty="0" smtClean="0"/>
              <a:t>Fiori Launchpad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1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S/4HANA </a:t>
            </a:r>
            <a:r>
              <a:rPr lang="de-DE" dirty="0" smtClean="0"/>
              <a:t>2023 </a:t>
            </a:r>
            <a:endParaRPr lang="de-DE" dirty="0"/>
          </a:p>
          <a:p>
            <a:r>
              <a:rPr lang="de-DE" dirty="0" err="1"/>
              <a:t>Fiori</a:t>
            </a:r>
            <a:r>
              <a:rPr lang="de-DE" dirty="0"/>
              <a:t> </a:t>
            </a:r>
            <a:r>
              <a:rPr lang="de-DE" dirty="0" smtClean="0"/>
              <a:t>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Prerequisites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endParaRPr lang="de-DE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4.</a:t>
            </a:r>
            <a:r>
              <a:rPr lang="de-DE" dirty="0"/>
              <a:t>3</a:t>
            </a:r>
            <a:r>
              <a:rPr lang="de-DE" dirty="0" smtClean="0"/>
              <a:t> (August 2025)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7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 smtClean="0"/>
              <a:t>Yeganeh</a:t>
            </a:r>
            <a:r>
              <a:rPr lang="de-DE" dirty="0" smtClean="0"/>
              <a:t> </a:t>
            </a:r>
            <a:r>
              <a:rPr lang="de-DE" dirty="0" err="1" smtClean="0"/>
              <a:t>Rashed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Beginner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038856" y="2624439"/>
            <a:ext cx="9830344" cy="1955512"/>
          </a:xfrm>
        </p:spPr>
        <p:txBody>
          <a:bodyPr/>
          <a:lstStyle/>
          <a:p>
            <a:pPr marL="72000" indent="0">
              <a:buNone/>
            </a:pPr>
            <a:r>
              <a:rPr lang="en-US" dirty="0"/>
              <a:t>You are able to</a:t>
            </a:r>
          </a:p>
          <a:p>
            <a:r>
              <a:rPr lang="en-US" dirty="0" smtClean="0"/>
              <a:t>to build up an understanding of SAP Fiori Launchpad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 smtClean="0"/>
              <a:t>Fiori</a:t>
            </a:r>
            <a:r>
              <a:rPr lang="de-DE" altLang="de-DE" dirty="0" smtClean="0"/>
              <a:t> </a:t>
            </a:r>
            <a:r>
              <a:rPr lang="de-DE" altLang="de-DE" dirty="0" err="1" smtClean="0"/>
              <a:t>Launchpad</a:t>
            </a:r>
            <a:r>
              <a:rPr lang="de-DE" altLang="de-DE" dirty="0" smtClean="0"/>
              <a:t>: An </a:t>
            </a:r>
            <a:r>
              <a:rPr lang="de-DE" altLang="de-DE" dirty="0" err="1"/>
              <a:t>O</a:t>
            </a:r>
            <a:r>
              <a:rPr lang="de-DE" altLang="de-DE" dirty="0" err="1" smtClean="0"/>
              <a:t>verview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294967295"/>
          </p:nvPr>
        </p:nvSpPr>
        <p:spPr>
          <a:xfrm>
            <a:off x="324000" y="1691078"/>
            <a:ext cx="5430848" cy="4392043"/>
          </a:xfrm>
        </p:spPr>
        <p:txBody>
          <a:bodyPr/>
          <a:lstStyle/>
          <a:p>
            <a:pPr marL="201600" lvl="1" indent="0">
              <a:buNone/>
            </a:pPr>
            <a:endParaRPr lang="de-DE" dirty="0"/>
          </a:p>
          <a:p>
            <a:r>
              <a:rPr lang="de-DE" b="1" dirty="0"/>
              <a:t>SAP </a:t>
            </a:r>
            <a:r>
              <a:rPr lang="de-DE" b="1" dirty="0" err="1"/>
              <a:t>Fiori</a:t>
            </a:r>
            <a:r>
              <a:rPr lang="de-DE" b="1" dirty="0"/>
              <a:t> </a:t>
            </a:r>
            <a:r>
              <a:rPr lang="de-DE" b="1" dirty="0" err="1"/>
              <a:t>Launchpad</a:t>
            </a:r>
            <a:r>
              <a:rPr lang="de-DE" b="1" dirty="0"/>
              <a:t>:</a:t>
            </a:r>
            <a:endParaRPr lang="de-DE" dirty="0"/>
          </a:p>
          <a:p>
            <a:pPr lvl="1"/>
            <a:r>
              <a:rPr lang="de-DE" dirty="0" smtClean="0"/>
              <a:t>The </a:t>
            </a:r>
            <a:r>
              <a:rPr lang="de-DE" b="1" dirty="0" smtClean="0"/>
              <a:t>modern</a:t>
            </a:r>
            <a:r>
              <a:rPr lang="de-DE" dirty="0" smtClean="0"/>
              <a:t> </a:t>
            </a:r>
            <a:r>
              <a:rPr lang="de-DE" dirty="0" err="1" smtClean="0"/>
              <a:t>user</a:t>
            </a:r>
            <a:r>
              <a:rPr lang="de-DE" dirty="0" smtClean="0"/>
              <a:t> </a:t>
            </a:r>
            <a:r>
              <a:rPr lang="de-DE" dirty="0" err="1" smtClean="0"/>
              <a:t>interface</a:t>
            </a:r>
            <a:endParaRPr lang="de-DE" dirty="0"/>
          </a:p>
          <a:p>
            <a:pPr lvl="1"/>
            <a:endParaRPr lang="de-DE" dirty="0" smtClean="0"/>
          </a:p>
          <a:p>
            <a:pPr lvl="1"/>
            <a:r>
              <a:rPr lang="de-DE" dirty="0" smtClean="0"/>
              <a:t>A </a:t>
            </a:r>
            <a:r>
              <a:rPr lang="de-DE" dirty="0" err="1" smtClean="0"/>
              <a:t>standardized</a:t>
            </a:r>
            <a:r>
              <a:rPr lang="de-DE" dirty="0" smtClean="0"/>
              <a:t>, </a:t>
            </a:r>
            <a:r>
              <a:rPr lang="de-DE" dirty="0" err="1" smtClean="0"/>
              <a:t>role-based</a:t>
            </a:r>
            <a:r>
              <a:rPr lang="de-DE" dirty="0" smtClean="0"/>
              <a:t> </a:t>
            </a:r>
            <a:r>
              <a:rPr lang="de-DE" dirty="0" err="1" smtClean="0"/>
              <a:t>entry</a:t>
            </a:r>
            <a:r>
              <a:rPr lang="de-DE" dirty="0" smtClean="0"/>
              <a:t> </a:t>
            </a:r>
            <a:r>
              <a:rPr lang="de-DE" dirty="0" err="1" smtClean="0"/>
              <a:t>point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applications</a:t>
            </a:r>
            <a:endParaRPr lang="de-DE" dirty="0"/>
          </a:p>
          <a:p>
            <a:pPr lvl="1"/>
            <a:endParaRPr lang="de-DE" dirty="0" smtClean="0"/>
          </a:p>
          <a:p>
            <a:pPr lvl="1"/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based</a:t>
            </a:r>
            <a:r>
              <a:rPr lang="de-DE" dirty="0" smtClean="0"/>
              <a:t> on </a:t>
            </a:r>
            <a:r>
              <a:rPr lang="de-DE" dirty="0" err="1" smtClean="0"/>
              <a:t>tiles</a:t>
            </a:r>
            <a:r>
              <a:rPr lang="de-DE" dirty="0" smtClean="0"/>
              <a:t> </a:t>
            </a:r>
            <a:r>
              <a:rPr lang="de-DE" dirty="0" err="1" smtClean="0"/>
              <a:t>that</a:t>
            </a:r>
            <a:r>
              <a:rPr lang="de-DE" dirty="0" smtClean="0"/>
              <a:t> </a:t>
            </a:r>
            <a:r>
              <a:rPr lang="de-DE" dirty="0" err="1" smtClean="0"/>
              <a:t>represent</a:t>
            </a:r>
            <a:r>
              <a:rPr lang="de-DE" dirty="0" smtClean="0"/>
              <a:t> </a:t>
            </a:r>
            <a:r>
              <a:rPr lang="de-DE" dirty="0" err="1" smtClean="0"/>
              <a:t>apps</a:t>
            </a:r>
            <a:endParaRPr lang="de-DE" dirty="0"/>
          </a:p>
          <a:p>
            <a:pPr lvl="1"/>
            <a:endParaRPr lang="de-DE" dirty="0" smtClean="0"/>
          </a:p>
          <a:p>
            <a:pPr lvl="1"/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designed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an </a:t>
            </a:r>
            <a:r>
              <a:rPr lang="de-DE" dirty="0" err="1" smtClean="0"/>
              <a:t>intuituve</a:t>
            </a:r>
            <a:r>
              <a:rPr lang="de-DE" dirty="0" smtClean="0"/>
              <a:t>, </a:t>
            </a:r>
            <a:r>
              <a:rPr lang="de-DE" dirty="0" err="1" smtClean="0"/>
              <a:t>user</a:t>
            </a:r>
            <a:r>
              <a:rPr lang="de-DE" dirty="0" smtClean="0"/>
              <a:t> </a:t>
            </a:r>
            <a:r>
              <a:rPr lang="de-DE" dirty="0" err="1" smtClean="0"/>
              <a:t>friendly</a:t>
            </a:r>
            <a:r>
              <a:rPr lang="de-DE" dirty="0" smtClean="0"/>
              <a:t> </a:t>
            </a:r>
            <a:r>
              <a:rPr lang="de-DE" dirty="0" err="1" smtClean="0"/>
              <a:t>experience</a:t>
            </a:r>
            <a:r>
              <a:rPr lang="de-DE" dirty="0" smtClean="0"/>
              <a:t> (UX)</a:t>
            </a:r>
            <a:endParaRPr lang="de-DE" dirty="0"/>
          </a:p>
          <a:p>
            <a:pPr lvl="1"/>
            <a:endParaRPr lang="de-DE" altLang="de-DE" dirty="0" smtClean="0"/>
          </a:p>
          <a:p>
            <a:pPr lvl="1"/>
            <a:r>
              <a:rPr lang="de-DE" altLang="de-DE" dirty="0" smtClean="0"/>
              <a:t>The </a:t>
            </a:r>
            <a:r>
              <a:rPr lang="de-DE" altLang="de-DE" dirty="0" err="1" smtClean="0"/>
              <a:t>standard</a:t>
            </a:r>
            <a:r>
              <a:rPr lang="de-DE" altLang="de-DE" dirty="0" smtClean="0"/>
              <a:t> </a:t>
            </a:r>
            <a:r>
              <a:rPr lang="de-DE" altLang="de-DE" dirty="0" err="1" smtClean="0"/>
              <a:t>user</a:t>
            </a:r>
            <a:r>
              <a:rPr lang="de-DE" altLang="de-DE" dirty="0" smtClean="0"/>
              <a:t> </a:t>
            </a:r>
            <a:r>
              <a:rPr lang="de-DE" altLang="de-DE" dirty="0" err="1" smtClean="0"/>
              <a:t>interface</a:t>
            </a:r>
            <a:r>
              <a:rPr lang="de-DE" altLang="de-DE" dirty="0" smtClean="0"/>
              <a:t> in </a:t>
            </a:r>
            <a:r>
              <a:rPr lang="de-DE" altLang="de-DE" dirty="0" err="1" smtClean="0"/>
              <a:t>new</a:t>
            </a:r>
            <a:r>
              <a:rPr lang="de-DE" altLang="de-DE" dirty="0" smtClean="0"/>
              <a:t> SAP </a:t>
            </a:r>
            <a:r>
              <a:rPr lang="de-DE" altLang="de-DE" dirty="0" err="1" smtClean="0"/>
              <a:t>systems</a:t>
            </a:r>
            <a:r>
              <a:rPr lang="de-DE" altLang="de-DE" dirty="0" smtClean="0"/>
              <a:t>, like </a:t>
            </a:r>
            <a:r>
              <a:rPr lang="de-DE" altLang="de-DE" b="1" dirty="0" smtClean="0"/>
              <a:t>SAP S/4HANA</a:t>
            </a:r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6154914" y="1691078"/>
            <a:ext cx="5714286" cy="382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0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5585187" cy="4392042"/>
          </a:xfrm>
        </p:spPr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Fiori</a:t>
            </a:r>
            <a:r>
              <a:rPr lang="de-DE" dirty="0" smtClean="0"/>
              <a:t> </a:t>
            </a:r>
            <a:r>
              <a:rPr lang="de-DE" dirty="0" err="1" smtClean="0"/>
              <a:t>Launchpad</a:t>
            </a:r>
            <a:r>
              <a:rPr lang="de-DE" dirty="0" smtClean="0"/>
              <a:t> </a:t>
            </a:r>
            <a:r>
              <a:rPr lang="de-DE" dirty="0" err="1" smtClean="0"/>
              <a:t>includes</a:t>
            </a:r>
            <a:r>
              <a:rPr lang="de-DE" dirty="0" smtClean="0"/>
              <a:t> a </a:t>
            </a:r>
            <a:r>
              <a:rPr lang="de-DE" dirty="0" err="1" smtClean="0"/>
              <a:t>section</a:t>
            </a:r>
            <a:r>
              <a:rPr lang="de-DE" dirty="0" smtClean="0"/>
              <a:t> </a:t>
            </a:r>
            <a:r>
              <a:rPr lang="de-DE" dirty="0" err="1" smtClean="0"/>
              <a:t>called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„</a:t>
            </a:r>
            <a:r>
              <a:rPr lang="de-DE" dirty="0" err="1" smtClean="0"/>
              <a:t>My</a:t>
            </a:r>
            <a:r>
              <a:rPr lang="de-DE" dirty="0" smtClean="0"/>
              <a:t> Home“.</a:t>
            </a:r>
          </a:p>
          <a:p>
            <a:endParaRPr lang="de-DE" dirty="0" smtClean="0"/>
          </a:p>
          <a:p>
            <a:r>
              <a:rPr lang="de-DE" dirty="0" smtClean="0"/>
              <a:t>This </a:t>
            </a:r>
            <a:r>
              <a:rPr lang="de-DE" dirty="0" err="1" smtClean="0"/>
              <a:t>page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usaually</a:t>
            </a:r>
            <a:r>
              <a:rPr lang="de-DE" dirty="0" smtClean="0"/>
              <a:t> </a:t>
            </a:r>
            <a:r>
              <a:rPr lang="de-DE" dirty="0" err="1" smtClean="0"/>
              <a:t>empty</a:t>
            </a:r>
            <a:r>
              <a:rPr lang="de-DE" dirty="0" smtClean="0"/>
              <a:t> </a:t>
            </a:r>
            <a:r>
              <a:rPr lang="de-DE" dirty="0" err="1" smtClean="0"/>
              <a:t>when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 log in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first</a:t>
            </a:r>
            <a:r>
              <a:rPr lang="de-DE" dirty="0" smtClean="0"/>
              <a:t> time.</a:t>
            </a:r>
          </a:p>
          <a:p>
            <a:endParaRPr lang="de-DE" dirty="0" smtClean="0"/>
          </a:p>
          <a:p>
            <a:r>
              <a:rPr lang="de-DE" dirty="0" smtClean="0"/>
              <a:t>Users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customize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suit</a:t>
            </a:r>
            <a:r>
              <a:rPr lang="de-DE" dirty="0" smtClean="0"/>
              <a:t> </a:t>
            </a:r>
            <a:r>
              <a:rPr lang="de-DE" dirty="0" err="1" smtClean="0"/>
              <a:t>their</a:t>
            </a:r>
            <a:r>
              <a:rPr lang="de-DE" dirty="0" smtClean="0"/>
              <a:t> </a:t>
            </a:r>
            <a:r>
              <a:rPr lang="de-DE" dirty="0" err="1" smtClean="0"/>
              <a:t>needs</a:t>
            </a:r>
            <a:r>
              <a:rPr lang="de-DE" dirty="0" smtClean="0"/>
              <a:t>.</a:t>
            </a:r>
          </a:p>
          <a:p>
            <a:endParaRPr lang="de-DE" dirty="0" smtClean="0"/>
          </a:p>
          <a:p>
            <a:r>
              <a:rPr lang="de-DE" dirty="0" err="1" smtClean="0"/>
              <a:t>Frequently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tiles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applications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added</a:t>
            </a:r>
            <a:r>
              <a:rPr lang="de-DE" dirty="0" smtClean="0"/>
              <a:t>.</a:t>
            </a:r>
          </a:p>
          <a:p>
            <a:endParaRPr lang="de-DE" dirty="0" smtClean="0"/>
          </a:p>
          <a:p>
            <a:r>
              <a:rPr lang="de-DE" dirty="0" smtClean="0"/>
              <a:t>This </a:t>
            </a:r>
            <a:r>
              <a:rPr lang="de-DE" dirty="0" err="1" smtClean="0"/>
              <a:t>creates</a:t>
            </a:r>
            <a:r>
              <a:rPr lang="de-DE" dirty="0" smtClean="0"/>
              <a:t> a </a:t>
            </a:r>
            <a:r>
              <a:rPr lang="de-DE" dirty="0" err="1" smtClean="0"/>
              <a:t>personalized</a:t>
            </a:r>
            <a:r>
              <a:rPr lang="de-DE" dirty="0" smtClean="0"/>
              <a:t> </a:t>
            </a:r>
            <a:r>
              <a:rPr lang="de-DE" dirty="0" err="1" smtClean="0"/>
              <a:t>work</a:t>
            </a:r>
            <a:r>
              <a:rPr lang="de-DE" dirty="0" smtClean="0"/>
              <a:t> </a:t>
            </a:r>
            <a:r>
              <a:rPr lang="de-DE" dirty="0" err="1" smtClean="0"/>
              <a:t>interface</a:t>
            </a:r>
            <a:r>
              <a:rPr lang="de-DE" dirty="0" smtClean="0"/>
              <a:t> </a:t>
            </a:r>
            <a:r>
              <a:rPr lang="de-DE" dirty="0" err="1" smtClean="0"/>
              <a:t>tailored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your</a:t>
            </a:r>
            <a:r>
              <a:rPr lang="de-DE" dirty="0" smtClean="0"/>
              <a:t> </a:t>
            </a:r>
            <a:r>
              <a:rPr lang="de-DE" dirty="0" err="1" smtClean="0"/>
              <a:t>tasks</a:t>
            </a:r>
            <a:r>
              <a:rPr lang="de-DE" dirty="0"/>
              <a:t>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/>
              <a:t>Fiori</a:t>
            </a:r>
            <a:r>
              <a:rPr lang="de-DE" altLang="de-DE" dirty="0"/>
              <a:t> </a:t>
            </a:r>
            <a:r>
              <a:rPr lang="de-DE" altLang="de-DE" dirty="0" err="1"/>
              <a:t>Launchpad</a:t>
            </a:r>
            <a:r>
              <a:rPr lang="de-DE" altLang="de-DE" dirty="0"/>
              <a:t>: An </a:t>
            </a:r>
            <a:r>
              <a:rPr lang="de-DE" altLang="de-DE" dirty="0" err="1"/>
              <a:t>overview</a:t>
            </a:r>
            <a:endParaRPr lang="de-DE" dirty="0"/>
          </a:p>
        </p:txBody>
      </p:sp>
      <p:pic>
        <p:nvPicPr>
          <p:cNvPr id="9" name="Grafik 8"/>
          <p:cNvPicPr/>
          <p:nvPr/>
        </p:nvPicPr>
        <p:blipFill>
          <a:blip r:embed="rId2"/>
          <a:stretch>
            <a:fillRect/>
          </a:stretch>
        </p:blipFill>
        <p:spPr>
          <a:xfrm>
            <a:off x="6368248" y="1691079"/>
            <a:ext cx="5500952" cy="357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3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3999" y="1691079"/>
            <a:ext cx="7002489" cy="4392042"/>
          </a:xfrm>
        </p:spPr>
        <p:txBody>
          <a:bodyPr/>
          <a:lstStyle/>
          <a:p>
            <a:r>
              <a:rPr lang="de-DE" b="1" dirty="0"/>
              <a:t>Space</a:t>
            </a:r>
            <a:r>
              <a:rPr lang="de-DE" dirty="0"/>
              <a:t> </a:t>
            </a:r>
          </a:p>
          <a:p>
            <a:pPr lvl="1"/>
            <a:r>
              <a:rPr lang="en-US" dirty="0"/>
              <a:t>Represents the highest organizational level within the user interface structure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Consolidates </a:t>
            </a:r>
            <a:r>
              <a:rPr lang="en-US" dirty="0"/>
              <a:t>thematically related applications for a specific user role or business area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Each </a:t>
            </a:r>
            <a:r>
              <a:rPr lang="en-US" dirty="0"/>
              <a:t>space is designed for a defined work context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SAP </a:t>
            </a:r>
            <a:r>
              <a:rPr lang="de-DE" dirty="0" err="1"/>
              <a:t>Fiori</a:t>
            </a:r>
            <a:r>
              <a:rPr lang="de-DE" dirty="0"/>
              <a:t> </a:t>
            </a:r>
            <a:r>
              <a:rPr lang="de-DE" dirty="0" err="1"/>
              <a:t>Launchpad</a:t>
            </a:r>
            <a:endParaRPr lang="de-DE" dirty="0"/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65405" y="4740167"/>
            <a:ext cx="7365714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3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6676568" cy="4392042"/>
          </a:xfrm>
        </p:spPr>
        <p:txBody>
          <a:bodyPr/>
          <a:lstStyle/>
          <a:p>
            <a:r>
              <a:rPr lang="de-DE" b="1" dirty="0"/>
              <a:t>Page</a:t>
            </a:r>
            <a:r>
              <a:rPr lang="de-DE" dirty="0"/>
              <a:t> </a:t>
            </a:r>
          </a:p>
          <a:p>
            <a:pPr lvl="1"/>
            <a:r>
              <a:rPr lang="en-US" dirty="0"/>
              <a:t>Each space comprises at least one page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Serves </a:t>
            </a:r>
            <a:r>
              <a:rPr lang="en-US" dirty="0"/>
              <a:t>as the primary workspace where applications and information are presented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Facilitates </a:t>
            </a:r>
            <a:r>
              <a:rPr lang="en-US" dirty="0"/>
              <a:t>the structured presentation of a space’s content</a:t>
            </a:r>
            <a:endParaRPr lang="de-DE" dirty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SAP </a:t>
            </a:r>
            <a:r>
              <a:rPr lang="de-DE" dirty="0" err="1"/>
              <a:t>Fiori</a:t>
            </a:r>
            <a:r>
              <a:rPr lang="de-DE" dirty="0"/>
              <a:t> </a:t>
            </a:r>
            <a:r>
              <a:rPr lang="de-DE" dirty="0" err="1"/>
              <a:t>Launchpad</a:t>
            </a:r>
            <a:endParaRPr lang="de-DE" dirty="0"/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3415689" y="4291469"/>
            <a:ext cx="8160000" cy="161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3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6843716" cy="4392042"/>
          </a:xfrm>
        </p:spPr>
        <p:txBody>
          <a:bodyPr/>
          <a:lstStyle/>
          <a:p>
            <a:r>
              <a:rPr lang="de-DE" b="1" dirty="0" err="1"/>
              <a:t>Section</a:t>
            </a:r>
            <a:r>
              <a:rPr lang="de-DE" dirty="0"/>
              <a:t> </a:t>
            </a:r>
          </a:p>
          <a:p>
            <a:pPr lvl="1"/>
            <a:r>
              <a:rPr lang="en-US" dirty="0"/>
              <a:t>Serves to further subdivide pages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Groups </a:t>
            </a:r>
            <a:r>
              <a:rPr lang="en-US" dirty="0"/>
              <a:t>tiles according to specific tasks or processes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Enables </a:t>
            </a:r>
            <a:r>
              <a:rPr lang="en-US" dirty="0"/>
              <a:t>improved clarity and organization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SAP </a:t>
            </a:r>
            <a:r>
              <a:rPr lang="de-DE" dirty="0" err="1"/>
              <a:t>Fiori</a:t>
            </a:r>
            <a:r>
              <a:rPr lang="de-DE" dirty="0"/>
              <a:t> </a:t>
            </a:r>
            <a:r>
              <a:rPr lang="de-DE" dirty="0" err="1"/>
              <a:t>Launchpad</a:t>
            </a:r>
            <a:endParaRPr lang="de-DE" dirty="0"/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4607295" y="3486156"/>
            <a:ext cx="7261905" cy="28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3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6568413" cy="4392042"/>
          </a:xfrm>
        </p:spPr>
        <p:txBody>
          <a:bodyPr/>
          <a:lstStyle/>
          <a:p>
            <a:r>
              <a:rPr lang="de-DE" b="1" dirty="0" err="1" smtClean="0"/>
              <a:t>Tiles</a:t>
            </a:r>
            <a:r>
              <a:rPr lang="de-DE" dirty="0" smtClean="0"/>
              <a:t> </a:t>
            </a:r>
            <a:endParaRPr lang="de-DE" dirty="0"/>
          </a:p>
          <a:p>
            <a:pPr lvl="1"/>
            <a:r>
              <a:rPr lang="de-DE" dirty="0"/>
              <a:t>The </a:t>
            </a:r>
            <a:r>
              <a:rPr lang="de-DE" dirty="0" err="1"/>
              <a:t>smallest</a:t>
            </a:r>
            <a:r>
              <a:rPr lang="de-DE" dirty="0"/>
              <a:t> </a:t>
            </a:r>
            <a:r>
              <a:rPr lang="de-DE" dirty="0" err="1"/>
              <a:t>interactive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on a </a:t>
            </a:r>
            <a:r>
              <a:rPr lang="de-DE" dirty="0" err="1"/>
              <a:t>page</a:t>
            </a:r>
            <a:endParaRPr lang="de-DE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Provide </a:t>
            </a:r>
            <a:r>
              <a:rPr lang="en-US" dirty="0"/>
              <a:t>direct entry points to applications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SAP </a:t>
            </a:r>
            <a:r>
              <a:rPr lang="de-DE" dirty="0" err="1"/>
              <a:t>Fiori</a:t>
            </a:r>
            <a:r>
              <a:rPr lang="de-DE" dirty="0"/>
              <a:t> </a:t>
            </a:r>
            <a:r>
              <a:rPr lang="de-DE" dirty="0" err="1"/>
              <a:t>Launchpad</a:t>
            </a:r>
            <a:endParaRPr lang="de-DE" dirty="0"/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4831270" y="3116454"/>
            <a:ext cx="6947619" cy="29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4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7702400" cy="4392042"/>
          </a:xfrm>
        </p:spPr>
        <p:txBody>
          <a:bodyPr/>
          <a:lstStyle/>
          <a:p>
            <a:r>
              <a:rPr lang="en-US" b="1" dirty="0"/>
              <a:t>Space:</a:t>
            </a:r>
            <a:r>
              <a:rPr lang="en-US" dirty="0"/>
              <a:t> Selects the overarching area of </a:t>
            </a:r>
            <a:r>
              <a:rPr lang="en-US" dirty="0" smtClean="0"/>
              <a:t>responsibility</a:t>
            </a:r>
          </a:p>
          <a:p>
            <a:r>
              <a:rPr lang="en-US" b="1" dirty="0" smtClean="0"/>
              <a:t>Page</a:t>
            </a:r>
            <a:r>
              <a:rPr lang="en-US" b="1" dirty="0"/>
              <a:t>:</a:t>
            </a:r>
            <a:r>
              <a:rPr lang="en-US" dirty="0"/>
              <a:t> Directs the user to the main </a:t>
            </a:r>
            <a:r>
              <a:rPr lang="en-US" dirty="0" smtClean="0"/>
              <a:t>workspace</a:t>
            </a:r>
          </a:p>
          <a:p>
            <a:r>
              <a:rPr lang="en-US" b="1" dirty="0" smtClean="0"/>
              <a:t>Section</a:t>
            </a:r>
            <a:r>
              <a:rPr lang="en-US" b="1" dirty="0"/>
              <a:t>:</a:t>
            </a:r>
            <a:r>
              <a:rPr lang="en-US" dirty="0"/>
              <a:t> Groups tiles according to specific </a:t>
            </a:r>
            <a:r>
              <a:rPr lang="en-US" dirty="0" smtClean="0"/>
              <a:t>tasks</a:t>
            </a:r>
          </a:p>
          <a:p>
            <a:r>
              <a:rPr lang="en-US" b="1" dirty="0" smtClean="0"/>
              <a:t>Tile</a:t>
            </a:r>
            <a:r>
              <a:rPr lang="en-US" b="1" dirty="0"/>
              <a:t>:</a:t>
            </a:r>
            <a:r>
              <a:rPr lang="en-US" dirty="0"/>
              <a:t> Launches the desired </a:t>
            </a:r>
            <a:r>
              <a:rPr lang="en-US" dirty="0" smtClean="0"/>
              <a:t>application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/>
              <a:t>Spaces</a:t>
            </a:r>
            <a:r>
              <a:rPr lang="en-US" dirty="0"/>
              <a:t> (e.g. </a:t>
            </a:r>
            <a:r>
              <a:rPr lang="en-US" dirty="0" smtClean="0"/>
              <a:t>Financial Accounting)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↳ </a:t>
            </a:r>
            <a:r>
              <a:rPr lang="en-US" b="1" dirty="0"/>
              <a:t>Pages</a:t>
            </a:r>
            <a:r>
              <a:rPr lang="en-US" dirty="0"/>
              <a:t> (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smtClean="0"/>
              <a:t>Accounts Payable)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↳ </a:t>
            </a:r>
            <a:r>
              <a:rPr lang="en-US" b="1" dirty="0"/>
              <a:t>Sections</a:t>
            </a:r>
            <a:r>
              <a:rPr lang="en-US" dirty="0"/>
              <a:t> (e.g. </a:t>
            </a:r>
            <a:r>
              <a:rPr lang="en-US" dirty="0" smtClean="0"/>
              <a:t>AP Accountant)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↳</a:t>
            </a:r>
            <a:r>
              <a:rPr lang="en-US" b="1" dirty="0"/>
              <a:t>Tiles</a:t>
            </a:r>
            <a:r>
              <a:rPr lang="en-US" dirty="0"/>
              <a:t> (e.g. </a:t>
            </a:r>
            <a:r>
              <a:rPr lang="en-US" dirty="0" smtClean="0"/>
              <a:t>Display Supplier Balances)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Navigation Flow Summary</a:t>
            </a:r>
            <a:endParaRPr lang="de-DE" dirty="0"/>
          </a:p>
        </p:txBody>
      </p:sp>
      <p:pic>
        <p:nvPicPr>
          <p:cNvPr id="4" name="Grafik 3"/>
          <p:cNvPicPr/>
          <p:nvPr/>
        </p:nvPicPr>
        <p:blipFill>
          <a:blip r:embed="rId2"/>
          <a:stretch>
            <a:fillRect/>
          </a:stretch>
        </p:blipFill>
        <p:spPr>
          <a:xfrm>
            <a:off x="5756547" y="2122517"/>
            <a:ext cx="6112653" cy="436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36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Roles (Business Roles) </a:t>
            </a:r>
          </a:p>
          <a:p>
            <a:pPr lvl="1"/>
            <a:r>
              <a:rPr lang="en-US" dirty="0"/>
              <a:t>form the foundation of the authorization structure.</a:t>
            </a:r>
          </a:p>
          <a:p>
            <a:pPr lvl="1"/>
            <a:r>
              <a:rPr lang="en-US" dirty="0"/>
              <a:t>define which content a user is allowed to see and use.</a:t>
            </a:r>
          </a:p>
          <a:p>
            <a:pPr lvl="1"/>
            <a:r>
              <a:rPr lang="en-US" dirty="0"/>
              <a:t>Without an assigned role, the user cannot see any areas, pages or tiles</a:t>
            </a:r>
            <a:r>
              <a:rPr lang="en-US" dirty="0" smtClean="0"/>
              <a:t>.</a:t>
            </a:r>
            <a:endParaRPr lang="de-DE" dirty="0"/>
          </a:p>
          <a:p>
            <a:pPr marL="201600" lvl="1" indent="0">
              <a:buNone/>
            </a:pPr>
            <a:endParaRPr lang="de-DE" b="1" dirty="0" smtClean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Roles</a:t>
            </a:r>
            <a:r>
              <a:rPr lang="de-DE" dirty="0" smtClean="0"/>
              <a:t> (Business </a:t>
            </a:r>
            <a:r>
              <a:rPr lang="de-DE" dirty="0" err="1" smtClean="0"/>
              <a:t>Roles</a:t>
            </a:r>
            <a:r>
              <a:rPr lang="de-DE" dirty="0" smtClean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414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5791665" cy="4392042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With one role: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Roles</a:t>
            </a:r>
            <a:r>
              <a:rPr lang="de-DE" dirty="0"/>
              <a:t> (Business </a:t>
            </a:r>
            <a:r>
              <a:rPr lang="de-DE" dirty="0" err="1"/>
              <a:t>Roles</a:t>
            </a:r>
            <a:r>
              <a:rPr lang="de-DE" dirty="0"/>
              <a:t>)</a:t>
            </a:r>
          </a:p>
        </p:txBody>
      </p:sp>
      <p:pic>
        <p:nvPicPr>
          <p:cNvPr id="4" name="Grafik 3"/>
          <p:cNvPicPr/>
          <p:nvPr/>
        </p:nvPicPr>
        <p:blipFill>
          <a:blip r:embed="rId3"/>
          <a:stretch>
            <a:fillRect/>
          </a:stretch>
        </p:blipFill>
        <p:spPr>
          <a:xfrm>
            <a:off x="324000" y="2003787"/>
            <a:ext cx="5747809" cy="2249143"/>
          </a:xfrm>
          <a:prstGeom prst="rect">
            <a:avLst/>
          </a:prstGeom>
        </p:spPr>
      </p:pic>
      <p:sp>
        <p:nvSpPr>
          <p:cNvPr id="5" name="Inhaltsplatzhalter 1"/>
          <p:cNvSpPr txBox="1">
            <a:spLocks/>
          </p:cNvSpPr>
          <p:nvPr/>
        </p:nvSpPr>
        <p:spPr bwMode="gray">
          <a:xfrm>
            <a:off x="6115665" y="1691079"/>
            <a:ext cx="5753535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1600" indent="-201600" algn="l" defTabSz="1088776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7600" indent="-216000" algn="l" defTabSz="1088776" rtl="0" eaLnBrk="1" latinLnBrk="0" hangingPunct="1">
              <a:spcBef>
                <a:spcPts val="338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16000" algn="l" defTabSz="1088776" rtl="0" eaLnBrk="1" latinLnBrk="0" hangingPunct="1">
              <a:spcBef>
                <a:spcPts val="225"/>
              </a:spcBef>
              <a:buClr>
                <a:schemeClr val="accent1"/>
              </a:buClr>
              <a:buSzPct val="75000"/>
              <a:buFont typeface="Symbol" panose="05050102010706020507" pitchFamily="18" charset="2"/>
              <a:buChar char="-"/>
              <a:defRPr sz="1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216000" algn="l" defTabSz="1088776" rtl="0" eaLnBrk="1" latinLnBrk="0" hangingPunct="1">
              <a:spcBef>
                <a:spcPts val="140"/>
              </a:spcBef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1088776" rtl="0" eaLnBrk="1" latinLnBrk="0" hangingPunct="1">
              <a:spcBef>
                <a:spcPts val="250"/>
              </a:spcBef>
              <a:buClr>
                <a:schemeClr val="tx1"/>
              </a:buClr>
              <a:buSzPct val="100000"/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4134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8522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910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7298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With several roles:</a:t>
            </a:r>
          </a:p>
        </p:txBody>
      </p:sp>
      <p:pic>
        <p:nvPicPr>
          <p:cNvPr id="6" name="Grafik 5"/>
          <p:cNvPicPr/>
          <p:nvPr/>
        </p:nvPicPr>
        <p:blipFill>
          <a:blip r:embed="rId4"/>
          <a:stretch>
            <a:fillRect/>
          </a:stretch>
        </p:blipFill>
        <p:spPr>
          <a:xfrm>
            <a:off x="6159521" y="2003787"/>
            <a:ext cx="5703953" cy="339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6922"/>
      </p:ext>
    </p:extLst>
  </p:cSld>
  <p:clrMapOvr>
    <a:masterClrMapping/>
  </p:clrMapOvr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405</Words>
  <Application>Microsoft Office PowerPoint</Application>
  <PresentationFormat>Benutzerdefiniert</PresentationFormat>
  <Paragraphs>76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Angsana New</vt:lpstr>
      <vt:lpstr>Arial</vt:lpstr>
      <vt:lpstr>Arial Unicode MS</vt:lpstr>
      <vt:lpstr>Courier New</vt:lpstr>
      <vt:lpstr>Symbol</vt:lpstr>
      <vt:lpstr>wingdings</vt:lpstr>
      <vt:lpstr>wingdings</vt:lpstr>
      <vt:lpstr>SAP_2016_16x9_white</vt:lpstr>
      <vt:lpstr>Global Bike Fiori Launchpad</vt:lpstr>
      <vt:lpstr>PowerPoint-Präsentation</vt:lpstr>
      <vt:lpstr>PowerPoint-Präsentation</vt:lpstr>
      <vt:lpstr>PowerPoint-Präsentation</vt:lpstr>
      <vt:lpstr>Fiori Launchpad: An Overview</vt:lpstr>
      <vt:lpstr>Fiori Launchpad: An overview</vt:lpstr>
      <vt:lpstr>Structure of the SAP Fiori Launchpad</vt:lpstr>
      <vt:lpstr>Structure of the SAP Fiori Launchpad</vt:lpstr>
      <vt:lpstr>Structure of the SAP Fiori Launchpad</vt:lpstr>
      <vt:lpstr>Structure of the SAP Fiori Launchpad</vt:lpstr>
      <vt:lpstr>Navigation Flow Summary</vt:lpstr>
      <vt:lpstr>Roles (Business Roles)</vt:lpstr>
      <vt:lpstr>Roles (Business Roles)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100</cp:revision>
  <dcterms:created xsi:type="dcterms:W3CDTF">2017-05-28T06:49:20Z</dcterms:created>
  <dcterms:modified xsi:type="dcterms:W3CDTF">2025-08-13T15:16:35Z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