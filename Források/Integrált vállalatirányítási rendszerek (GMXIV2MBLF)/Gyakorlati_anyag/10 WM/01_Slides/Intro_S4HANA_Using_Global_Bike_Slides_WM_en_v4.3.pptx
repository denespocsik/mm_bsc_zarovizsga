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35"/>
  </p:notesMasterIdLst>
  <p:handoutMasterIdLst>
    <p:handoutMasterId r:id="rId36"/>
  </p:handoutMasterIdLst>
  <p:sldIdLst>
    <p:sldId id="393" r:id="rId2"/>
    <p:sldId id="369" r:id="rId3"/>
    <p:sldId id="363" r:id="rId4"/>
    <p:sldId id="364" r:id="rId5"/>
    <p:sldId id="365" r:id="rId6"/>
    <p:sldId id="394" r:id="rId7"/>
    <p:sldId id="397" r:id="rId8"/>
    <p:sldId id="366" r:id="rId9"/>
    <p:sldId id="370" r:id="rId10"/>
    <p:sldId id="371" r:id="rId11"/>
    <p:sldId id="372" r:id="rId12"/>
    <p:sldId id="373" r:id="rId13"/>
    <p:sldId id="374" r:id="rId14"/>
    <p:sldId id="395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96" r:id="rId25"/>
    <p:sldId id="384" r:id="rId26"/>
    <p:sldId id="385" r:id="rId27"/>
    <p:sldId id="386" r:id="rId28"/>
    <p:sldId id="387" r:id="rId29"/>
    <p:sldId id="388" r:id="rId30"/>
    <p:sldId id="389" r:id="rId31"/>
    <p:sldId id="390" r:id="rId32"/>
    <p:sldId id="391" r:id="rId33"/>
    <p:sldId id="392" r:id="rId34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285">
          <p15:clr>
            <a:srgbClr val="A4A3A4"/>
          </p15:clr>
        </p15:guide>
        <p15:guide id="4" orient="horz" pos="779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t, Phillip" initials="DP" lastIdx="19" clrIdx="0">
    <p:extLst>
      <p:ext uri="{19B8F6BF-5375-455C-9EA6-DF929625EA0E}">
        <p15:presenceInfo xmlns:p15="http://schemas.microsoft.com/office/powerpoint/2012/main" userId="0c306e22-924d-4d2f-9b38-6bfb0b3c3b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B2B2B2"/>
    <a:srgbClr val="003283"/>
    <a:srgbClr val="FF0000"/>
    <a:srgbClr val="666666"/>
    <a:srgbClr val="2B3F7B"/>
    <a:srgbClr val="9C277B"/>
    <a:srgbClr val="D4652D"/>
    <a:srgbClr val="9E3039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3" autoAdjust="0"/>
    <p:restoredTop sz="94499" autoAdjust="0"/>
  </p:normalViewPr>
  <p:slideViewPr>
    <p:cSldViewPr snapToGrid="0" showGuides="1">
      <p:cViewPr varScale="1">
        <p:scale>
          <a:sx n="85" d="100"/>
          <a:sy n="85" d="100"/>
        </p:scale>
        <p:origin x="126" y="1548"/>
      </p:cViewPr>
      <p:guideLst>
        <p:guide orient="horz" pos="1285"/>
        <p:guide orient="horz" pos="779"/>
        <p:guide pos="7478"/>
        <p:guide pos="205"/>
        <p:guide pos="3849"/>
        <p:guide pos="4708"/>
        <p:guide pos="4812"/>
        <p:guide pos="2865"/>
        <p:guide pos="29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3528" y="77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BF7D89-C2EF-4197-93BB-86D587A0F5BB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160E676C-46E5-477E-ABD8-CD81531619B2}">
      <dgm:prSet phldrT="[Text]"/>
      <dgm:spPr/>
      <dgm:t>
        <a:bodyPr/>
        <a:lstStyle/>
        <a:p>
          <a:r>
            <a:rPr lang="en-US" noProof="0" dirty="0"/>
            <a:t>Create physical inventory document</a:t>
          </a:r>
        </a:p>
      </dgm:t>
    </dgm:pt>
    <dgm:pt modelId="{A3D22795-263A-471C-AE92-A28E8074902C}" type="parTrans" cxnId="{FA3D9C9E-330C-4627-A771-6874B3CA9258}">
      <dgm:prSet/>
      <dgm:spPr/>
      <dgm:t>
        <a:bodyPr/>
        <a:lstStyle/>
        <a:p>
          <a:endParaRPr lang="de-DE"/>
        </a:p>
      </dgm:t>
    </dgm:pt>
    <dgm:pt modelId="{2F8266F8-AC23-4685-A20B-EB35D4F86037}" type="sibTrans" cxnId="{FA3D9C9E-330C-4627-A771-6874B3CA9258}">
      <dgm:prSet/>
      <dgm:spPr/>
      <dgm:t>
        <a:bodyPr/>
        <a:lstStyle/>
        <a:p>
          <a:endParaRPr lang="de-DE"/>
        </a:p>
      </dgm:t>
    </dgm:pt>
    <dgm:pt modelId="{66612DCF-0AC3-4DD5-B7C9-56CC2B735B33}">
      <dgm:prSet phldrT="[Text]"/>
      <dgm:spPr/>
      <dgm:t>
        <a:bodyPr/>
        <a:lstStyle/>
        <a:p>
          <a:r>
            <a:rPr lang="en-US" noProof="0" dirty="0"/>
            <a:t>Activate physical inventory document</a:t>
          </a:r>
        </a:p>
      </dgm:t>
    </dgm:pt>
    <dgm:pt modelId="{980C4912-AC0C-40B3-B03E-A277EFEFF4F6}" type="parTrans" cxnId="{6596DEAB-96BD-4D22-AC9D-46B03F1FDD59}">
      <dgm:prSet/>
      <dgm:spPr/>
      <dgm:t>
        <a:bodyPr/>
        <a:lstStyle/>
        <a:p>
          <a:endParaRPr lang="de-DE"/>
        </a:p>
      </dgm:t>
    </dgm:pt>
    <dgm:pt modelId="{53754218-EF2B-4FFC-A0A5-F1BFD9922237}" type="sibTrans" cxnId="{6596DEAB-96BD-4D22-AC9D-46B03F1FDD59}">
      <dgm:prSet/>
      <dgm:spPr/>
      <dgm:t>
        <a:bodyPr/>
        <a:lstStyle/>
        <a:p>
          <a:endParaRPr lang="de-DE"/>
        </a:p>
      </dgm:t>
    </dgm:pt>
    <dgm:pt modelId="{077A93C8-69CE-42FB-98A0-066126790FA0}">
      <dgm:prSet phldrT="[Text]"/>
      <dgm:spPr/>
      <dgm:t>
        <a:bodyPr/>
        <a:lstStyle/>
        <a:p>
          <a:r>
            <a:rPr lang="en-US" noProof="0" dirty="0"/>
            <a:t>Print warehouse inventory list</a:t>
          </a:r>
        </a:p>
      </dgm:t>
    </dgm:pt>
    <dgm:pt modelId="{0212C092-806D-4B01-9373-67786544C2C5}" type="parTrans" cxnId="{D71E0998-9267-42E9-92E8-AEDF99498F31}">
      <dgm:prSet/>
      <dgm:spPr/>
      <dgm:t>
        <a:bodyPr/>
        <a:lstStyle/>
        <a:p>
          <a:endParaRPr lang="de-DE"/>
        </a:p>
      </dgm:t>
    </dgm:pt>
    <dgm:pt modelId="{4884E19B-36A0-4940-B738-90F75EDB2F4A}" type="sibTrans" cxnId="{D71E0998-9267-42E9-92E8-AEDF99498F31}">
      <dgm:prSet/>
      <dgm:spPr/>
      <dgm:t>
        <a:bodyPr/>
        <a:lstStyle/>
        <a:p>
          <a:endParaRPr lang="de-DE"/>
        </a:p>
      </dgm:t>
    </dgm:pt>
    <dgm:pt modelId="{43525525-F194-4B08-96E1-5DC903E7E71F}">
      <dgm:prSet phldrT="[Text]"/>
      <dgm:spPr/>
      <dgm:t>
        <a:bodyPr/>
        <a:lstStyle/>
        <a:p>
          <a:r>
            <a:rPr lang="en-US" noProof="0" dirty="0"/>
            <a:t>Enter count results</a:t>
          </a:r>
        </a:p>
      </dgm:t>
    </dgm:pt>
    <dgm:pt modelId="{71B86D44-F0C8-48D7-8EEE-244CB310E2F7}" type="parTrans" cxnId="{DB940EFD-E81F-4A55-B0D6-E2A864C5BDE2}">
      <dgm:prSet/>
      <dgm:spPr/>
      <dgm:t>
        <a:bodyPr/>
        <a:lstStyle/>
        <a:p>
          <a:endParaRPr lang="de-DE"/>
        </a:p>
      </dgm:t>
    </dgm:pt>
    <dgm:pt modelId="{64463684-CC20-4F96-BB67-B49A4779B473}" type="sibTrans" cxnId="{DB940EFD-E81F-4A55-B0D6-E2A864C5BDE2}">
      <dgm:prSet/>
      <dgm:spPr/>
      <dgm:t>
        <a:bodyPr/>
        <a:lstStyle/>
        <a:p>
          <a:endParaRPr lang="de-DE"/>
        </a:p>
      </dgm:t>
    </dgm:pt>
    <dgm:pt modelId="{F0FF7348-4CA8-4997-8E28-C873F11884D3}">
      <dgm:prSet phldrT="[Text]"/>
      <dgm:spPr/>
      <dgm:t>
        <a:bodyPr/>
        <a:lstStyle/>
        <a:p>
          <a:r>
            <a:rPr lang="en-US" noProof="0" dirty="0"/>
            <a:t>Clear differences in the warehouse management</a:t>
          </a:r>
        </a:p>
      </dgm:t>
    </dgm:pt>
    <dgm:pt modelId="{7B9BDF6E-631C-40F6-98F8-C5D08E806EC1}" type="parTrans" cxnId="{35E9A0E2-4F64-49BD-8C06-C1C19DBF7B79}">
      <dgm:prSet/>
      <dgm:spPr/>
      <dgm:t>
        <a:bodyPr/>
        <a:lstStyle/>
        <a:p>
          <a:endParaRPr lang="de-DE"/>
        </a:p>
      </dgm:t>
    </dgm:pt>
    <dgm:pt modelId="{D2524492-EDA9-4E70-B803-2804E383B02E}" type="sibTrans" cxnId="{35E9A0E2-4F64-49BD-8C06-C1C19DBF7B79}">
      <dgm:prSet/>
      <dgm:spPr/>
      <dgm:t>
        <a:bodyPr/>
        <a:lstStyle/>
        <a:p>
          <a:endParaRPr lang="de-DE"/>
        </a:p>
      </dgm:t>
    </dgm:pt>
    <dgm:pt modelId="{4D2CA063-4342-4BD2-B745-ADC99B79DABF}">
      <dgm:prSet phldrT="[Text]"/>
      <dgm:spPr/>
      <dgm:t>
        <a:bodyPr/>
        <a:lstStyle/>
        <a:p>
          <a:r>
            <a:rPr lang="en-US" noProof="0" dirty="0"/>
            <a:t>Clear the differences in the inventory management</a:t>
          </a:r>
        </a:p>
      </dgm:t>
    </dgm:pt>
    <dgm:pt modelId="{E8D8598F-58EF-45C1-90FC-BB031EC4EB30}" type="parTrans" cxnId="{847AF271-7D88-4F77-B2AC-D3854A73BFF9}">
      <dgm:prSet/>
      <dgm:spPr/>
      <dgm:t>
        <a:bodyPr/>
        <a:lstStyle/>
        <a:p>
          <a:endParaRPr lang="de-DE"/>
        </a:p>
      </dgm:t>
    </dgm:pt>
    <dgm:pt modelId="{84CDFC38-4249-4640-AE14-DC16659177BD}" type="sibTrans" cxnId="{847AF271-7D88-4F77-B2AC-D3854A73BFF9}">
      <dgm:prSet/>
      <dgm:spPr/>
      <dgm:t>
        <a:bodyPr/>
        <a:lstStyle/>
        <a:p>
          <a:endParaRPr lang="de-DE"/>
        </a:p>
      </dgm:t>
    </dgm:pt>
    <dgm:pt modelId="{4E7539AE-0D3D-4167-A383-E4BED2A8D7E1}" type="pres">
      <dgm:prSet presAssocID="{AEBF7D89-C2EF-4197-93BB-86D587A0F5BB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29576D06-44E2-4E90-8144-241E2E71A970}" type="pres">
      <dgm:prSet presAssocID="{160E676C-46E5-477E-ABD8-CD81531619B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B9B1F91-3C12-472A-BACD-E77CC551B68A}" type="pres">
      <dgm:prSet presAssocID="{160E676C-46E5-477E-ABD8-CD81531619B2}" presName="spNode" presStyleCnt="0"/>
      <dgm:spPr/>
    </dgm:pt>
    <dgm:pt modelId="{35591B91-ACCF-43DE-91EA-201BB606EA7D}" type="pres">
      <dgm:prSet presAssocID="{2F8266F8-AC23-4685-A20B-EB35D4F86037}" presName="sibTrans" presStyleLbl="sibTrans1D1" presStyleIdx="0" presStyleCnt="6"/>
      <dgm:spPr/>
      <dgm:t>
        <a:bodyPr/>
        <a:lstStyle/>
        <a:p>
          <a:endParaRPr lang="de-DE"/>
        </a:p>
      </dgm:t>
    </dgm:pt>
    <dgm:pt modelId="{3B8A3622-5968-4612-B1F6-B70F0C5F8BBA}" type="pres">
      <dgm:prSet presAssocID="{66612DCF-0AC3-4DD5-B7C9-56CC2B735B3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D702681-1813-4297-BF86-D6834DF100C8}" type="pres">
      <dgm:prSet presAssocID="{66612DCF-0AC3-4DD5-B7C9-56CC2B735B33}" presName="spNode" presStyleCnt="0"/>
      <dgm:spPr/>
    </dgm:pt>
    <dgm:pt modelId="{02529548-5252-4295-8B3C-A65299CD496F}" type="pres">
      <dgm:prSet presAssocID="{53754218-EF2B-4FFC-A0A5-F1BFD9922237}" presName="sibTrans" presStyleLbl="sibTrans1D1" presStyleIdx="1" presStyleCnt="6"/>
      <dgm:spPr/>
      <dgm:t>
        <a:bodyPr/>
        <a:lstStyle/>
        <a:p>
          <a:endParaRPr lang="de-DE"/>
        </a:p>
      </dgm:t>
    </dgm:pt>
    <dgm:pt modelId="{2D6E88F3-1CC1-4F25-9566-1339C43C56E4}" type="pres">
      <dgm:prSet presAssocID="{077A93C8-69CE-42FB-98A0-066126790FA0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BE1EE3EC-BD36-4D5F-8CA1-FC3D4D0EC897}" type="pres">
      <dgm:prSet presAssocID="{077A93C8-69CE-42FB-98A0-066126790FA0}" presName="spNode" presStyleCnt="0"/>
      <dgm:spPr/>
    </dgm:pt>
    <dgm:pt modelId="{9903657C-0649-4654-879A-2C9D0CEBF002}" type="pres">
      <dgm:prSet presAssocID="{4884E19B-36A0-4940-B738-90F75EDB2F4A}" presName="sibTrans" presStyleLbl="sibTrans1D1" presStyleIdx="2" presStyleCnt="6"/>
      <dgm:spPr/>
      <dgm:t>
        <a:bodyPr/>
        <a:lstStyle/>
        <a:p>
          <a:endParaRPr lang="de-DE"/>
        </a:p>
      </dgm:t>
    </dgm:pt>
    <dgm:pt modelId="{3D22EC84-7DF8-4985-8CEA-A9CDD2F10009}" type="pres">
      <dgm:prSet presAssocID="{43525525-F194-4B08-96E1-5DC903E7E71F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2A45C3E-838E-4DA3-AE81-C85DCCD5F480}" type="pres">
      <dgm:prSet presAssocID="{43525525-F194-4B08-96E1-5DC903E7E71F}" presName="spNode" presStyleCnt="0"/>
      <dgm:spPr/>
    </dgm:pt>
    <dgm:pt modelId="{B2FEE70A-6635-431E-8613-B6F98C22477A}" type="pres">
      <dgm:prSet presAssocID="{64463684-CC20-4F96-BB67-B49A4779B473}" presName="sibTrans" presStyleLbl="sibTrans1D1" presStyleIdx="3" presStyleCnt="6"/>
      <dgm:spPr/>
      <dgm:t>
        <a:bodyPr/>
        <a:lstStyle/>
        <a:p>
          <a:endParaRPr lang="de-DE"/>
        </a:p>
      </dgm:t>
    </dgm:pt>
    <dgm:pt modelId="{1EC68671-2E4C-4C3E-A180-8F6E0AF5BAF0}" type="pres">
      <dgm:prSet presAssocID="{F0FF7348-4CA8-4997-8E28-C873F11884D3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912533C-E636-4E78-A496-BB669573C151}" type="pres">
      <dgm:prSet presAssocID="{F0FF7348-4CA8-4997-8E28-C873F11884D3}" presName="spNode" presStyleCnt="0"/>
      <dgm:spPr/>
    </dgm:pt>
    <dgm:pt modelId="{FD49CE36-7442-4845-BCC1-5D6C12927F05}" type="pres">
      <dgm:prSet presAssocID="{D2524492-EDA9-4E70-B803-2804E383B02E}" presName="sibTrans" presStyleLbl="sibTrans1D1" presStyleIdx="4" presStyleCnt="6"/>
      <dgm:spPr/>
      <dgm:t>
        <a:bodyPr/>
        <a:lstStyle/>
        <a:p>
          <a:endParaRPr lang="de-DE"/>
        </a:p>
      </dgm:t>
    </dgm:pt>
    <dgm:pt modelId="{78B203DE-9E03-43FE-A20C-61800E62A783}" type="pres">
      <dgm:prSet presAssocID="{4D2CA063-4342-4BD2-B745-ADC99B79DABF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54DE89F-1023-4F1D-B126-4DED49C7AEC1}" type="pres">
      <dgm:prSet presAssocID="{4D2CA063-4342-4BD2-B745-ADC99B79DABF}" presName="spNode" presStyleCnt="0"/>
      <dgm:spPr/>
    </dgm:pt>
    <dgm:pt modelId="{E29DFE79-7AEF-4BD8-B3C5-7C8671133814}" type="pres">
      <dgm:prSet presAssocID="{84CDFC38-4249-4640-AE14-DC16659177BD}" presName="sibTrans" presStyleLbl="sibTrans1D1" presStyleIdx="5" presStyleCnt="6"/>
      <dgm:spPr/>
      <dgm:t>
        <a:bodyPr/>
        <a:lstStyle/>
        <a:p>
          <a:endParaRPr lang="de-DE"/>
        </a:p>
      </dgm:t>
    </dgm:pt>
  </dgm:ptLst>
  <dgm:cxnLst>
    <dgm:cxn modelId="{FA3D9C9E-330C-4627-A771-6874B3CA9258}" srcId="{AEBF7D89-C2EF-4197-93BB-86D587A0F5BB}" destId="{160E676C-46E5-477E-ABD8-CD81531619B2}" srcOrd="0" destOrd="0" parTransId="{A3D22795-263A-471C-AE92-A28E8074902C}" sibTransId="{2F8266F8-AC23-4685-A20B-EB35D4F86037}"/>
    <dgm:cxn modelId="{1C79D40E-7E38-461E-A75C-C04259CED554}" type="presOf" srcId="{4884E19B-36A0-4940-B738-90F75EDB2F4A}" destId="{9903657C-0649-4654-879A-2C9D0CEBF002}" srcOrd="0" destOrd="0" presId="urn:microsoft.com/office/officeart/2005/8/layout/cycle5"/>
    <dgm:cxn modelId="{AF6246AD-B68F-4C25-B25A-078745F2999B}" type="presOf" srcId="{F0FF7348-4CA8-4997-8E28-C873F11884D3}" destId="{1EC68671-2E4C-4C3E-A180-8F6E0AF5BAF0}" srcOrd="0" destOrd="0" presId="urn:microsoft.com/office/officeart/2005/8/layout/cycle5"/>
    <dgm:cxn modelId="{35E9A0E2-4F64-49BD-8C06-C1C19DBF7B79}" srcId="{AEBF7D89-C2EF-4197-93BB-86D587A0F5BB}" destId="{F0FF7348-4CA8-4997-8E28-C873F11884D3}" srcOrd="4" destOrd="0" parTransId="{7B9BDF6E-631C-40F6-98F8-C5D08E806EC1}" sibTransId="{D2524492-EDA9-4E70-B803-2804E383B02E}"/>
    <dgm:cxn modelId="{9026C6ED-2DA4-4C0C-AEB0-8A363BC6A2A8}" type="presOf" srcId="{53754218-EF2B-4FFC-A0A5-F1BFD9922237}" destId="{02529548-5252-4295-8B3C-A65299CD496F}" srcOrd="0" destOrd="0" presId="urn:microsoft.com/office/officeart/2005/8/layout/cycle5"/>
    <dgm:cxn modelId="{DB940EFD-E81F-4A55-B0D6-E2A864C5BDE2}" srcId="{AEBF7D89-C2EF-4197-93BB-86D587A0F5BB}" destId="{43525525-F194-4B08-96E1-5DC903E7E71F}" srcOrd="3" destOrd="0" parTransId="{71B86D44-F0C8-48D7-8EEE-244CB310E2F7}" sibTransId="{64463684-CC20-4F96-BB67-B49A4779B473}"/>
    <dgm:cxn modelId="{BA4E1289-5BB6-4F0E-8684-E8F1B7F5CBB0}" type="presOf" srcId="{64463684-CC20-4F96-BB67-B49A4779B473}" destId="{B2FEE70A-6635-431E-8613-B6F98C22477A}" srcOrd="0" destOrd="0" presId="urn:microsoft.com/office/officeart/2005/8/layout/cycle5"/>
    <dgm:cxn modelId="{D1B076A7-0EDF-49BF-858E-AE024506C117}" type="presOf" srcId="{2F8266F8-AC23-4685-A20B-EB35D4F86037}" destId="{35591B91-ACCF-43DE-91EA-201BB606EA7D}" srcOrd="0" destOrd="0" presId="urn:microsoft.com/office/officeart/2005/8/layout/cycle5"/>
    <dgm:cxn modelId="{76DA9D6A-7CF3-4820-9520-4F2FC1DD596F}" type="presOf" srcId="{AEBF7D89-C2EF-4197-93BB-86D587A0F5BB}" destId="{4E7539AE-0D3D-4167-A383-E4BED2A8D7E1}" srcOrd="0" destOrd="0" presId="urn:microsoft.com/office/officeart/2005/8/layout/cycle5"/>
    <dgm:cxn modelId="{D54CE6A6-BC16-4A85-A84C-C1857BDCC036}" type="presOf" srcId="{160E676C-46E5-477E-ABD8-CD81531619B2}" destId="{29576D06-44E2-4E90-8144-241E2E71A970}" srcOrd="0" destOrd="0" presId="urn:microsoft.com/office/officeart/2005/8/layout/cycle5"/>
    <dgm:cxn modelId="{C55C3552-56F7-4B7C-B441-492D3152E25B}" type="presOf" srcId="{4D2CA063-4342-4BD2-B745-ADC99B79DABF}" destId="{78B203DE-9E03-43FE-A20C-61800E62A783}" srcOrd="0" destOrd="0" presId="urn:microsoft.com/office/officeart/2005/8/layout/cycle5"/>
    <dgm:cxn modelId="{6596DEAB-96BD-4D22-AC9D-46B03F1FDD59}" srcId="{AEBF7D89-C2EF-4197-93BB-86D587A0F5BB}" destId="{66612DCF-0AC3-4DD5-B7C9-56CC2B735B33}" srcOrd="1" destOrd="0" parTransId="{980C4912-AC0C-40B3-B03E-A277EFEFF4F6}" sibTransId="{53754218-EF2B-4FFC-A0A5-F1BFD9922237}"/>
    <dgm:cxn modelId="{BD66D05A-D958-400C-9FFB-C46E7F0F0257}" type="presOf" srcId="{66612DCF-0AC3-4DD5-B7C9-56CC2B735B33}" destId="{3B8A3622-5968-4612-B1F6-B70F0C5F8BBA}" srcOrd="0" destOrd="0" presId="urn:microsoft.com/office/officeart/2005/8/layout/cycle5"/>
    <dgm:cxn modelId="{9C3B14C4-AF9B-4053-9581-4D631D4A0F7F}" type="presOf" srcId="{84CDFC38-4249-4640-AE14-DC16659177BD}" destId="{E29DFE79-7AEF-4BD8-B3C5-7C8671133814}" srcOrd="0" destOrd="0" presId="urn:microsoft.com/office/officeart/2005/8/layout/cycle5"/>
    <dgm:cxn modelId="{767B5617-EF1E-4363-B751-750EDCF515B2}" type="presOf" srcId="{077A93C8-69CE-42FB-98A0-066126790FA0}" destId="{2D6E88F3-1CC1-4F25-9566-1339C43C56E4}" srcOrd="0" destOrd="0" presId="urn:microsoft.com/office/officeart/2005/8/layout/cycle5"/>
    <dgm:cxn modelId="{66388919-D4DE-4D34-9839-98FABFD09283}" type="presOf" srcId="{D2524492-EDA9-4E70-B803-2804E383B02E}" destId="{FD49CE36-7442-4845-BCC1-5D6C12927F05}" srcOrd="0" destOrd="0" presId="urn:microsoft.com/office/officeart/2005/8/layout/cycle5"/>
    <dgm:cxn modelId="{F5218EEC-BA42-4356-B1B1-16E3B3C4D17D}" type="presOf" srcId="{43525525-F194-4B08-96E1-5DC903E7E71F}" destId="{3D22EC84-7DF8-4985-8CEA-A9CDD2F10009}" srcOrd="0" destOrd="0" presId="urn:microsoft.com/office/officeart/2005/8/layout/cycle5"/>
    <dgm:cxn modelId="{847AF271-7D88-4F77-B2AC-D3854A73BFF9}" srcId="{AEBF7D89-C2EF-4197-93BB-86D587A0F5BB}" destId="{4D2CA063-4342-4BD2-B745-ADC99B79DABF}" srcOrd="5" destOrd="0" parTransId="{E8D8598F-58EF-45C1-90FC-BB031EC4EB30}" sibTransId="{84CDFC38-4249-4640-AE14-DC16659177BD}"/>
    <dgm:cxn modelId="{D71E0998-9267-42E9-92E8-AEDF99498F31}" srcId="{AEBF7D89-C2EF-4197-93BB-86D587A0F5BB}" destId="{077A93C8-69CE-42FB-98A0-066126790FA0}" srcOrd="2" destOrd="0" parTransId="{0212C092-806D-4B01-9373-67786544C2C5}" sibTransId="{4884E19B-36A0-4940-B738-90F75EDB2F4A}"/>
    <dgm:cxn modelId="{62408719-14A6-4883-8D91-B8199A4D588B}" type="presParOf" srcId="{4E7539AE-0D3D-4167-A383-E4BED2A8D7E1}" destId="{29576D06-44E2-4E90-8144-241E2E71A970}" srcOrd="0" destOrd="0" presId="urn:microsoft.com/office/officeart/2005/8/layout/cycle5"/>
    <dgm:cxn modelId="{C9BF6732-0C99-4576-A87B-8449B960B5E5}" type="presParOf" srcId="{4E7539AE-0D3D-4167-A383-E4BED2A8D7E1}" destId="{AB9B1F91-3C12-472A-BACD-E77CC551B68A}" srcOrd="1" destOrd="0" presId="urn:microsoft.com/office/officeart/2005/8/layout/cycle5"/>
    <dgm:cxn modelId="{E4B016A6-BD7A-4EE0-909A-A0C09493547A}" type="presParOf" srcId="{4E7539AE-0D3D-4167-A383-E4BED2A8D7E1}" destId="{35591B91-ACCF-43DE-91EA-201BB606EA7D}" srcOrd="2" destOrd="0" presId="urn:microsoft.com/office/officeart/2005/8/layout/cycle5"/>
    <dgm:cxn modelId="{A9A6705C-748E-4D65-90F9-6DC2663B07D7}" type="presParOf" srcId="{4E7539AE-0D3D-4167-A383-E4BED2A8D7E1}" destId="{3B8A3622-5968-4612-B1F6-B70F0C5F8BBA}" srcOrd="3" destOrd="0" presId="urn:microsoft.com/office/officeart/2005/8/layout/cycle5"/>
    <dgm:cxn modelId="{5487B417-95BE-428A-A9E7-0A1FBE025815}" type="presParOf" srcId="{4E7539AE-0D3D-4167-A383-E4BED2A8D7E1}" destId="{3D702681-1813-4297-BF86-D6834DF100C8}" srcOrd="4" destOrd="0" presId="urn:microsoft.com/office/officeart/2005/8/layout/cycle5"/>
    <dgm:cxn modelId="{FE14BF0F-55DF-4E95-831B-34281EBF383B}" type="presParOf" srcId="{4E7539AE-0D3D-4167-A383-E4BED2A8D7E1}" destId="{02529548-5252-4295-8B3C-A65299CD496F}" srcOrd="5" destOrd="0" presId="urn:microsoft.com/office/officeart/2005/8/layout/cycle5"/>
    <dgm:cxn modelId="{EF431A2A-6F7D-4F0A-8579-B17906EBF539}" type="presParOf" srcId="{4E7539AE-0D3D-4167-A383-E4BED2A8D7E1}" destId="{2D6E88F3-1CC1-4F25-9566-1339C43C56E4}" srcOrd="6" destOrd="0" presId="urn:microsoft.com/office/officeart/2005/8/layout/cycle5"/>
    <dgm:cxn modelId="{51469BA7-C2B2-4367-A892-EFD89922EC4A}" type="presParOf" srcId="{4E7539AE-0D3D-4167-A383-E4BED2A8D7E1}" destId="{BE1EE3EC-BD36-4D5F-8CA1-FC3D4D0EC897}" srcOrd="7" destOrd="0" presId="urn:microsoft.com/office/officeart/2005/8/layout/cycle5"/>
    <dgm:cxn modelId="{2B8AD6AA-CCAE-494D-A29B-E14431E7A8E0}" type="presParOf" srcId="{4E7539AE-0D3D-4167-A383-E4BED2A8D7E1}" destId="{9903657C-0649-4654-879A-2C9D0CEBF002}" srcOrd="8" destOrd="0" presId="urn:microsoft.com/office/officeart/2005/8/layout/cycle5"/>
    <dgm:cxn modelId="{383CC29E-53FC-40E3-B3D8-ECA82E40E9AD}" type="presParOf" srcId="{4E7539AE-0D3D-4167-A383-E4BED2A8D7E1}" destId="{3D22EC84-7DF8-4985-8CEA-A9CDD2F10009}" srcOrd="9" destOrd="0" presId="urn:microsoft.com/office/officeart/2005/8/layout/cycle5"/>
    <dgm:cxn modelId="{5A02284D-38C7-446F-B7BE-789D8FD3BF3A}" type="presParOf" srcId="{4E7539AE-0D3D-4167-A383-E4BED2A8D7E1}" destId="{C2A45C3E-838E-4DA3-AE81-C85DCCD5F480}" srcOrd="10" destOrd="0" presId="urn:microsoft.com/office/officeart/2005/8/layout/cycle5"/>
    <dgm:cxn modelId="{356195D2-A15E-4227-9E7A-6FFCF110567D}" type="presParOf" srcId="{4E7539AE-0D3D-4167-A383-E4BED2A8D7E1}" destId="{B2FEE70A-6635-431E-8613-B6F98C22477A}" srcOrd="11" destOrd="0" presId="urn:microsoft.com/office/officeart/2005/8/layout/cycle5"/>
    <dgm:cxn modelId="{44C123F9-EB03-44CE-9087-0E5E8CF51F7B}" type="presParOf" srcId="{4E7539AE-0D3D-4167-A383-E4BED2A8D7E1}" destId="{1EC68671-2E4C-4C3E-A180-8F6E0AF5BAF0}" srcOrd="12" destOrd="0" presId="urn:microsoft.com/office/officeart/2005/8/layout/cycle5"/>
    <dgm:cxn modelId="{0A5A6893-E965-4A36-A846-ECDA2E4D4F87}" type="presParOf" srcId="{4E7539AE-0D3D-4167-A383-E4BED2A8D7E1}" destId="{8912533C-E636-4E78-A496-BB669573C151}" srcOrd="13" destOrd="0" presId="urn:microsoft.com/office/officeart/2005/8/layout/cycle5"/>
    <dgm:cxn modelId="{3748B210-E71A-488B-92E4-D472F041B570}" type="presParOf" srcId="{4E7539AE-0D3D-4167-A383-E4BED2A8D7E1}" destId="{FD49CE36-7442-4845-BCC1-5D6C12927F05}" srcOrd="14" destOrd="0" presId="urn:microsoft.com/office/officeart/2005/8/layout/cycle5"/>
    <dgm:cxn modelId="{6DE9C3BE-FDF7-4209-84FF-F4C8D5F21BE2}" type="presParOf" srcId="{4E7539AE-0D3D-4167-A383-E4BED2A8D7E1}" destId="{78B203DE-9E03-43FE-A20C-61800E62A783}" srcOrd="15" destOrd="0" presId="urn:microsoft.com/office/officeart/2005/8/layout/cycle5"/>
    <dgm:cxn modelId="{3B4A8A5C-431D-41FC-BC21-D15BE0699A63}" type="presParOf" srcId="{4E7539AE-0D3D-4167-A383-E4BED2A8D7E1}" destId="{854DE89F-1023-4F1D-B126-4DED49C7AEC1}" srcOrd="16" destOrd="0" presId="urn:microsoft.com/office/officeart/2005/8/layout/cycle5"/>
    <dgm:cxn modelId="{9AD99923-FA3F-41F7-AD80-9A29B48CD17C}" type="presParOf" srcId="{4E7539AE-0D3D-4167-A383-E4BED2A8D7E1}" destId="{E29DFE79-7AEF-4BD8-B3C5-7C8671133814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76D06-44E2-4E90-8144-241E2E71A970}">
      <dsp:nvSpPr>
        <dsp:cNvPr id="0" name=""/>
        <dsp:cNvSpPr/>
      </dsp:nvSpPr>
      <dsp:spPr>
        <a:xfrm>
          <a:off x="5180991" y="293"/>
          <a:ext cx="1183904" cy="769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noProof="0" dirty="0"/>
            <a:t>Create physical inventory document</a:t>
          </a:r>
        </a:p>
      </dsp:txBody>
      <dsp:txXfrm>
        <a:off x="5218557" y="37859"/>
        <a:ext cx="1108772" cy="694405"/>
      </dsp:txXfrm>
    </dsp:sp>
    <dsp:sp modelId="{35591B91-ACCF-43DE-91EA-201BB606EA7D}">
      <dsp:nvSpPr>
        <dsp:cNvPr id="0" name=""/>
        <dsp:cNvSpPr/>
      </dsp:nvSpPr>
      <dsp:spPr>
        <a:xfrm>
          <a:off x="3961700" y="385062"/>
          <a:ext cx="3622487" cy="3622487"/>
        </a:xfrm>
        <a:custGeom>
          <a:avLst/>
          <a:gdLst/>
          <a:ahLst/>
          <a:cxnLst/>
          <a:rect l="0" t="0" r="0" b="0"/>
          <a:pathLst>
            <a:path>
              <a:moveTo>
                <a:pt x="2551757" y="158293"/>
              </a:moveTo>
              <a:arcTo wR="1811243" hR="1811243" stAng="17647929" swAng="922702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8A3622-5968-4612-B1F6-B70F0C5F8BBA}">
      <dsp:nvSpPr>
        <dsp:cNvPr id="0" name=""/>
        <dsp:cNvSpPr/>
      </dsp:nvSpPr>
      <dsp:spPr>
        <a:xfrm>
          <a:off x="6749574" y="905915"/>
          <a:ext cx="1183904" cy="769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noProof="0" dirty="0"/>
            <a:t>Activate physical inventory document</a:t>
          </a:r>
        </a:p>
      </dsp:txBody>
      <dsp:txXfrm>
        <a:off x="6787140" y="943481"/>
        <a:ext cx="1108772" cy="694405"/>
      </dsp:txXfrm>
    </dsp:sp>
    <dsp:sp modelId="{02529548-5252-4295-8B3C-A65299CD496F}">
      <dsp:nvSpPr>
        <dsp:cNvPr id="0" name=""/>
        <dsp:cNvSpPr/>
      </dsp:nvSpPr>
      <dsp:spPr>
        <a:xfrm>
          <a:off x="3961700" y="385062"/>
          <a:ext cx="3622487" cy="3622487"/>
        </a:xfrm>
        <a:custGeom>
          <a:avLst/>
          <a:gdLst/>
          <a:ahLst/>
          <a:cxnLst/>
          <a:rect l="0" t="0" r="0" b="0"/>
          <a:pathLst>
            <a:path>
              <a:moveTo>
                <a:pt x="3594298" y="1492934"/>
              </a:moveTo>
              <a:arcTo wR="1811243" hR="1811243" stAng="20992693" swAng="1214614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6E88F3-1CC1-4F25-9566-1339C43C56E4}">
      <dsp:nvSpPr>
        <dsp:cNvPr id="0" name=""/>
        <dsp:cNvSpPr/>
      </dsp:nvSpPr>
      <dsp:spPr>
        <a:xfrm>
          <a:off x="6749574" y="2717158"/>
          <a:ext cx="1183904" cy="769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noProof="0" dirty="0"/>
            <a:t>Print warehouse inventory list</a:t>
          </a:r>
        </a:p>
      </dsp:txBody>
      <dsp:txXfrm>
        <a:off x="6787140" y="2754724"/>
        <a:ext cx="1108772" cy="694405"/>
      </dsp:txXfrm>
    </dsp:sp>
    <dsp:sp modelId="{9903657C-0649-4654-879A-2C9D0CEBF002}">
      <dsp:nvSpPr>
        <dsp:cNvPr id="0" name=""/>
        <dsp:cNvSpPr/>
      </dsp:nvSpPr>
      <dsp:spPr>
        <a:xfrm>
          <a:off x="3961700" y="385062"/>
          <a:ext cx="3622487" cy="3622487"/>
        </a:xfrm>
        <a:custGeom>
          <a:avLst/>
          <a:gdLst/>
          <a:ahLst/>
          <a:cxnLst/>
          <a:rect l="0" t="0" r="0" b="0"/>
          <a:pathLst>
            <a:path>
              <a:moveTo>
                <a:pt x="2963593" y="3208632"/>
              </a:moveTo>
              <a:arcTo wR="1811243" hR="1811243" stAng="3029369" swAng="922702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2EC84-7DF8-4985-8CEA-A9CDD2F10009}">
      <dsp:nvSpPr>
        <dsp:cNvPr id="0" name=""/>
        <dsp:cNvSpPr/>
      </dsp:nvSpPr>
      <dsp:spPr>
        <a:xfrm>
          <a:off x="5180991" y="3622780"/>
          <a:ext cx="1183904" cy="769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noProof="0" dirty="0"/>
            <a:t>Enter count results</a:t>
          </a:r>
        </a:p>
      </dsp:txBody>
      <dsp:txXfrm>
        <a:off x="5218557" y="3660346"/>
        <a:ext cx="1108772" cy="694405"/>
      </dsp:txXfrm>
    </dsp:sp>
    <dsp:sp modelId="{B2FEE70A-6635-431E-8613-B6F98C22477A}">
      <dsp:nvSpPr>
        <dsp:cNvPr id="0" name=""/>
        <dsp:cNvSpPr/>
      </dsp:nvSpPr>
      <dsp:spPr>
        <a:xfrm>
          <a:off x="3961700" y="385062"/>
          <a:ext cx="3622487" cy="3622487"/>
        </a:xfrm>
        <a:custGeom>
          <a:avLst/>
          <a:gdLst/>
          <a:ahLst/>
          <a:cxnLst/>
          <a:rect l="0" t="0" r="0" b="0"/>
          <a:pathLst>
            <a:path>
              <a:moveTo>
                <a:pt x="1070730" y="3464193"/>
              </a:moveTo>
              <a:arcTo wR="1811243" hR="1811243" stAng="6847929" swAng="922702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C68671-2E4C-4C3E-A180-8F6E0AF5BAF0}">
      <dsp:nvSpPr>
        <dsp:cNvPr id="0" name=""/>
        <dsp:cNvSpPr/>
      </dsp:nvSpPr>
      <dsp:spPr>
        <a:xfrm>
          <a:off x="3612408" y="2717158"/>
          <a:ext cx="1183904" cy="769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noProof="0" dirty="0"/>
            <a:t>Clear differences in the warehouse management</a:t>
          </a:r>
        </a:p>
      </dsp:txBody>
      <dsp:txXfrm>
        <a:off x="3649974" y="2754724"/>
        <a:ext cx="1108772" cy="694405"/>
      </dsp:txXfrm>
    </dsp:sp>
    <dsp:sp modelId="{FD49CE36-7442-4845-BCC1-5D6C12927F05}">
      <dsp:nvSpPr>
        <dsp:cNvPr id="0" name=""/>
        <dsp:cNvSpPr/>
      </dsp:nvSpPr>
      <dsp:spPr>
        <a:xfrm>
          <a:off x="3961700" y="385062"/>
          <a:ext cx="3622487" cy="3622487"/>
        </a:xfrm>
        <a:custGeom>
          <a:avLst/>
          <a:gdLst/>
          <a:ahLst/>
          <a:cxnLst/>
          <a:rect l="0" t="0" r="0" b="0"/>
          <a:pathLst>
            <a:path>
              <a:moveTo>
                <a:pt x="28189" y="2129553"/>
              </a:moveTo>
              <a:arcTo wR="1811243" hR="1811243" stAng="10192693" swAng="1214614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B203DE-9E03-43FE-A20C-61800E62A783}">
      <dsp:nvSpPr>
        <dsp:cNvPr id="0" name=""/>
        <dsp:cNvSpPr/>
      </dsp:nvSpPr>
      <dsp:spPr>
        <a:xfrm>
          <a:off x="3612408" y="905915"/>
          <a:ext cx="1183904" cy="769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noProof="0" dirty="0"/>
            <a:t>Clear the differences in the inventory management</a:t>
          </a:r>
        </a:p>
      </dsp:txBody>
      <dsp:txXfrm>
        <a:off x="3649974" y="943481"/>
        <a:ext cx="1108772" cy="694405"/>
      </dsp:txXfrm>
    </dsp:sp>
    <dsp:sp modelId="{E29DFE79-7AEF-4BD8-B3C5-7C8671133814}">
      <dsp:nvSpPr>
        <dsp:cNvPr id="0" name=""/>
        <dsp:cNvSpPr/>
      </dsp:nvSpPr>
      <dsp:spPr>
        <a:xfrm>
          <a:off x="3961700" y="385062"/>
          <a:ext cx="3622487" cy="3622487"/>
        </a:xfrm>
        <a:custGeom>
          <a:avLst/>
          <a:gdLst/>
          <a:ahLst/>
          <a:cxnLst/>
          <a:rect l="0" t="0" r="0" b="0"/>
          <a:pathLst>
            <a:path>
              <a:moveTo>
                <a:pt x="658894" y="413855"/>
              </a:moveTo>
              <a:arcTo wR="1811243" hR="1811243" stAng="13829369" swAng="922702"/>
            </a:path>
          </a:pathLst>
        </a:custGeom>
        <a:noFill/>
        <a:ln w="1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dirty="0"/>
              <a:t>Organizational units displayed in grey are not yet implemented, but are already planned </a:t>
            </a:r>
            <a:r>
              <a:rPr lang="en-US" altLang="de-DE"/>
              <a:t>in Global</a:t>
            </a:r>
            <a:r>
              <a:rPr lang="en-US" altLang="de-DE" baseline="0"/>
              <a:t> Bike</a:t>
            </a:r>
            <a:r>
              <a:rPr lang="en-US" altLang="de-DE"/>
              <a:t>.</a:t>
            </a:r>
            <a:endParaRPr lang="de-DE" alt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9806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1615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4502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4350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dirty="0"/>
              <a:t>All of this together makes up the Master Record for a Material.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7971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dirty="0"/>
              <a:t>Cycle-</a:t>
            </a:r>
            <a:r>
              <a:rPr lang="de-DE" altLang="de-DE" dirty="0" err="1"/>
              <a:t>Counting</a:t>
            </a:r>
            <a:r>
              <a:rPr lang="de-DE" altLang="de-DE" dirty="0"/>
              <a:t> </a:t>
            </a:r>
            <a:r>
              <a:rPr lang="de-DE" altLang="de-DE" dirty="0" err="1"/>
              <a:t>is</a:t>
            </a:r>
            <a:r>
              <a:rPr lang="de-DE" altLang="de-DE" dirty="0"/>
              <a:t> </a:t>
            </a:r>
            <a:r>
              <a:rPr lang="de-DE" altLang="de-DE" dirty="0" err="1"/>
              <a:t>based</a:t>
            </a:r>
            <a:r>
              <a:rPr lang="de-DE" altLang="de-DE" dirty="0"/>
              <a:t> on an ABC-Analysis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4790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/>
              <a:t>Create physical inventory document -&gt; Flag storage bins for inventory</a:t>
            </a:r>
          </a:p>
          <a:p>
            <a:r>
              <a:rPr lang="en-US" altLang="de-DE" dirty="0"/>
              <a:t>Activate physical inventory document -&gt; Storage bins are blocked</a:t>
            </a:r>
          </a:p>
          <a:p>
            <a:r>
              <a:rPr lang="en-US" altLang="de-DE" dirty="0"/>
              <a:t>Print warehouse inventory list -&gt; Inventory report RLLI0400</a:t>
            </a:r>
          </a:p>
          <a:p>
            <a:r>
              <a:rPr lang="en-US" altLang="de-DE" dirty="0"/>
              <a:t>Enter count results -&gt; Get differences</a:t>
            </a:r>
          </a:p>
          <a:p>
            <a:r>
              <a:rPr lang="en-US" altLang="de-DE" dirty="0"/>
              <a:t>Clear differences in the warehouse management -&gt; Release storage bins</a:t>
            </a:r>
          </a:p>
          <a:p>
            <a:r>
              <a:rPr lang="en-US" altLang="de-DE" dirty="0"/>
              <a:t>Clear the differences in the inventory management -&gt; Create material document and accounting document</a:t>
            </a:r>
          </a:p>
          <a:p>
            <a:endParaRPr lang="en-US" altLang="de-DE" dirty="0"/>
          </a:p>
          <a:p>
            <a:endParaRPr lang="de-DE" alt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33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8197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93"/>
          <a:stretch/>
        </p:blipFill>
        <p:spPr>
          <a:xfrm>
            <a:off x="14229" y="-20537"/>
            <a:ext cx="12180946" cy="6906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40520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grpSp>
        <p:nvGrpSpPr>
          <p:cNvPr id="9" name="Gruppieren 8"/>
          <p:cNvGrpSpPr/>
          <p:nvPr userDrawn="1"/>
        </p:nvGrpSpPr>
        <p:grpSpPr>
          <a:xfrm>
            <a:off x="10518759" y="6066338"/>
            <a:ext cx="1352566" cy="470987"/>
            <a:chOff x="10518759" y="6066338"/>
            <a:chExt cx="1352566" cy="470987"/>
          </a:xfrm>
        </p:grpSpPr>
        <p:sp>
          <p:nvSpPr>
            <p:cNvPr id="10" name="Rectangle 15"/>
            <p:cNvSpPr/>
            <p:nvPr/>
          </p:nvSpPr>
          <p:spPr bwMode="gray">
            <a:xfrm>
              <a:off x="10518759" y="6088062"/>
              <a:ext cx="1352566" cy="449263"/>
            </a:xfrm>
            <a:prstGeom prst="rect">
              <a:avLst/>
            </a:prstGeom>
            <a:solidFill>
              <a:schemeClr val="bg1"/>
            </a:solidFill>
            <a:ln w="12700" cmpd="sng" algn="ctr">
              <a:noFill/>
              <a:prstDash val="dash"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8759" y="6066338"/>
              <a:ext cx="1288232" cy="470987"/>
            </a:xfrm>
            <a:prstGeom prst="rect">
              <a:avLst/>
            </a:prstGeom>
          </p:spPr>
        </p:pic>
      </p:grpSp>
      <p:pic>
        <p:nvPicPr>
          <p:cNvPr id="12" name="Picture 8" descr="M:\Dokumente\UCC_Partner\Logos\SAP UA Logo\SAP_University_Alliances_Logo_2013_Februar\RGB\SAP_UniversityAlliances_scrn_R_pos_stac3.png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0" y="6184900"/>
            <a:ext cx="647700" cy="352425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429330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two line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b" anchorCtr="0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7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 rot="21360000">
            <a:off x="4212456" y="3628659"/>
            <a:ext cx="37702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defTabSz="914400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kern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Use this title slide only with an</a:t>
            </a:r>
            <a:r>
              <a:rPr lang="en-US" sz="1800" kern="0" baseline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 image</a:t>
            </a:r>
            <a:endParaRPr lang="en-US" sz="1800" kern="0" dirty="0">
              <a:solidFill>
                <a:schemeClr val="tx1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0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sho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3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70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two li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23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00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Curriculum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&lt;Curriculum version + last update&gt;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Curriculum </a:t>
              </a:r>
              <a:r>
                <a:rPr lang="en-US" sz="1800" b="1" baseline="0" noProof="0" dirty="0">
                  <a:solidFill>
                    <a:schemeClr val="tx1"/>
                  </a:solidFill>
                  <a:latin typeface="+mj-lt"/>
                </a:rPr>
                <a:t>Version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4533142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Prerequisites</a:t>
            </a: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4845892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408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2" name="Gruppieren 21"/>
          <p:cNvGrpSpPr/>
          <p:nvPr userDrawn="1"/>
        </p:nvGrpSpPr>
        <p:grpSpPr>
          <a:xfrm>
            <a:off x="324000" y="1499007"/>
            <a:ext cx="1299600" cy="1299600"/>
            <a:chOff x="214040" y="1152039"/>
            <a:chExt cx="765542" cy="765543"/>
          </a:xfrm>
        </p:grpSpPr>
        <p:grpSp>
          <p:nvGrpSpPr>
            <p:cNvPr id="23" name="Gruppieren 22"/>
            <p:cNvGrpSpPr/>
            <p:nvPr userDrawn="1"/>
          </p:nvGrpSpPr>
          <p:grpSpPr>
            <a:xfrm>
              <a:off x="361780" y="1456593"/>
              <a:ext cx="464587" cy="191753"/>
              <a:chOff x="1642324" y="4884196"/>
              <a:chExt cx="660745" cy="294992"/>
            </a:xfrm>
          </p:grpSpPr>
          <p:sp>
            <p:nvSpPr>
              <p:cNvPr id="25" name="Richtungspfeil 24"/>
              <p:cNvSpPr/>
              <p:nvPr userDrawn="1"/>
            </p:nvSpPr>
            <p:spPr bwMode="gray">
              <a:xfrm rot="8100000">
                <a:off x="1767471" y="4884196"/>
                <a:ext cx="535598" cy="221844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26" name="Rechteck 25"/>
              <p:cNvSpPr/>
              <p:nvPr/>
            </p:nvSpPr>
            <p:spPr bwMode="gray">
              <a:xfrm rot="8100000">
                <a:off x="1920613" y="4887121"/>
                <a:ext cx="305780" cy="129124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27" name="Gerade Verbindung 25"/>
              <p:cNvCxnSpPr/>
              <p:nvPr userDrawn="1"/>
            </p:nvCxnSpPr>
            <p:spPr>
              <a:xfrm>
                <a:off x="1642324" y="5179188"/>
                <a:ext cx="140109" cy="0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8" name="Gruppieren 27"/>
          <p:cNvGrpSpPr/>
          <p:nvPr userDrawn="1"/>
        </p:nvGrpSpPr>
        <p:grpSpPr>
          <a:xfrm>
            <a:off x="324000" y="3809388"/>
            <a:ext cx="1299600" cy="1299600"/>
            <a:chOff x="216000" y="2969382"/>
            <a:chExt cx="765542" cy="765543"/>
          </a:xfrm>
        </p:grpSpPr>
        <p:pic>
          <p:nvPicPr>
            <p:cNvPr id="29" name="Picture 2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14" y="3133080"/>
              <a:ext cx="361950" cy="438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Donut 11"/>
            <p:cNvSpPr/>
            <p:nvPr userDrawn="1"/>
          </p:nvSpPr>
          <p:spPr bwMode="gray">
            <a:xfrm>
              <a:off x="216000" y="2969382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32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Authors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3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</p:txBody>
      </p:sp>
      <p:grpSp>
        <p:nvGrpSpPr>
          <p:cNvPr id="35" name="Gruppieren 34"/>
          <p:cNvGrpSpPr/>
          <p:nvPr userDrawn="1"/>
        </p:nvGrpSpPr>
        <p:grpSpPr>
          <a:xfrm>
            <a:off x="1957853" y="4230977"/>
            <a:ext cx="9911347" cy="500901"/>
            <a:chOff x="1108399" y="1396713"/>
            <a:chExt cx="7030682" cy="404566"/>
          </a:xfrm>
        </p:grpSpPr>
        <p:sp>
          <p:nvSpPr>
            <p:cNvPr id="36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Target Audience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7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044953" y="4927509"/>
            <a:ext cx="9824247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</p:txBody>
      </p:sp>
    </p:spTree>
    <p:extLst>
      <p:ext uri="{BB962C8B-B14F-4D97-AF65-F5344CB8AC3E}">
        <p14:creationId xmlns:p14="http://schemas.microsoft.com/office/powerpoint/2010/main" val="273884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324000" y="1503256"/>
            <a:ext cx="1299600" cy="1299600"/>
            <a:chOff x="214040" y="1152039"/>
            <a:chExt cx="765542" cy="765543"/>
          </a:xfrm>
        </p:grpSpPr>
        <p:sp>
          <p:nvSpPr>
            <p:cNvPr id="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6" name="Picture 4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487" y="1313261"/>
              <a:ext cx="3524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4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Learning Objectives</a:t>
              </a: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</p:txBody>
      </p:sp>
    </p:spTree>
    <p:extLst>
      <p:ext uri="{BB962C8B-B14F-4D97-AF65-F5344CB8AC3E}">
        <p14:creationId xmlns:p14="http://schemas.microsoft.com/office/powerpoint/2010/main" val="101486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&lt;Agenda&gt;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68060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2"/>
          </p:nvPr>
        </p:nvSpPr>
        <p:spPr bwMode="gray">
          <a:xfrm>
            <a:off x="6208016" y="1691079"/>
            <a:ext cx="5661184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7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4"/>
          </p:nvPr>
        </p:nvSpPr>
        <p:spPr bwMode="gray">
          <a:xfrm>
            <a:off x="8133316" y="1691079"/>
            <a:ext cx="3735883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3"/>
          </p:nvPr>
        </p:nvSpPr>
        <p:spPr bwMode="gray">
          <a:xfrm>
            <a:off x="4228658" y="1691079"/>
            <a:ext cx="37404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3740399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000" y="324075"/>
            <a:ext cx="11545200" cy="756175"/>
          </a:xfrm>
        </p:spPr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77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714995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7639050" y="1691079"/>
            <a:ext cx="4232275" cy="4392042"/>
          </a:xfrm>
          <a:solidFill>
            <a:schemeClr val="bg1">
              <a:lumMod val="95000"/>
            </a:schemeClr>
          </a:solidFill>
        </p:spPr>
        <p:txBody>
          <a:bodyPr tIns="1543147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96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6208016" y="1692392"/>
            <a:ext cx="5662800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79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4224188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4706938" y="1692392"/>
            <a:ext cx="7164387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8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7"/>
          </p:nvPr>
        </p:nvSpPr>
        <p:spPr bwMode="gray">
          <a:xfrm>
            <a:off x="6208016" y="1691079"/>
            <a:ext cx="5661184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/>
          </p:nvPr>
        </p:nvSpPr>
        <p:spPr bwMode="gray">
          <a:xfrm>
            <a:off x="324000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/>
          </p:nvPr>
        </p:nvSpPr>
        <p:spPr bwMode="gray">
          <a:xfrm>
            <a:off x="6208016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93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/ Thank You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" y="478741"/>
            <a:ext cx="1833518" cy="9072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324000" y="2061275"/>
            <a:ext cx="115452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6000" noProof="0" dirty="0"/>
              <a:t>Thank</a:t>
            </a:r>
            <a:r>
              <a:rPr lang="en-US" sz="6000" baseline="0" noProof="0" dirty="0"/>
              <a:t> you</a:t>
            </a:r>
            <a:r>
              <a:rPr lang="en-US" sz="6000" noProof="0" dirty="0"/>
              <a:t>!</a:t>
            </a:r>
            <a:endParaRPr lang="en-US" sz="6000" kern="0" noProof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25792" y="3659939"/>
            <a:ext cx="4341615" cy="2141713"/>
          </a:xfrm>
          <a:noFill/>
          <a:ln>
            <a:solidFill>
              <a:schemeClr val="accent1"/>
            </a:solidFill>
          </a:ln>
        </p:spPr>
        <p:txBody>
          <a:bodyPr lIns="108000" tIns="108000" rIns="108000" bIns="108000"/>
          <a:lstStyle>
            <a:lvl1pPr marL="0" indent="0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None/>
              <a:defRPr sz="2400" b="1" baseline="0">
                <a:solidFill>
                  <a:schemeClr val="tx1"/>
                </a:solidFill>
              </a:defRPr>
            </a:lvl1pPr>
            <a:lvl2pPr marL="201600" indent="0">
              <a:buNone/>
              <a:defRPr/>
            </a:lvl2pPr>
            <a:lvl3pPr marL="324000" indent="0">
              <a:buNone/>
              <a:defRPr/>
            </a:lvl3pPr>
            <a:lvl4pPr marL="504000" indent="0">
              <a:buNone/>
              <a:defRPr/>
            </a:lvl4pPr>
            <a:lvl5pPr marL="361338" indent="0">
              <a:buNone/>
              <a:defRPr/>
            </a:lvl5pPr>
          </a:lstStyle>
          <a:p>
            <a:pPr lvl="0"/>
            <a:r>
              <a:rPr lang="en-US" noProof="0" dirty="0"/>
              <a:t>Contact</a:t>
            </a:r>
          </a:p>
          <a:p>
            <a:pPr lvl="0"/>
            <a:endParaRPr lang="en-US" noProof="0" dirty="0"/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noProof="0" dirty="0">
                <a:ea typeface="Arial Unicode MS" pitchFamily="34" charset="-128"/>
                <a:cs typeface="Arial Unicode MS" pitchFamily="34" charset="-128"/>
              </a:rPr>
              <a:t> &lt;First name&gt; &lt;Last name&gt;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&lt;Position, Organization&gt;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&lt;Contact information&gt;</a:t>
            </a:r>
            <a:endParaRPr lang="en-US" sz="1800" kern="0" noProof="0" dirty="0">
              <a:ea typeface="Arial Unicode MS" pitchFamily="34" charset="-128"/>
              <a:cs typeface="Arial Unicode MS" pitchFamily="34" charset="-128"/>
            </a:endParaRP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47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h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Authors</a:t>
            </a:r>
          </a:p>
        </p:txBody>
      </p:sp>
    </p:spTree>
    <p:extLst>
      <p:ext uri="{BB962C8B-B14F-4D97-AF65-F5344CB8AC3E}">
        <p14:creationId xmlns:p14="http://schemas.microsoft.com/office/powerpoint/2010/main" val="1787256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&lt;level 1&gt;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879883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Teaching material - Information</a:t>
            </a: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&lt;3.1 (</a:t>
            </a:r>
            <a:r>
              <a:rPr lang="de-DE" noProof="0" dirty="0" err="1"/>
              <a:t>July</a:t>
            </a:r>
            <a:r>
              <a:rPr lang="de-DE" noProof="0" dirty="0"/>
              <a:t> 2017)&gt;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Teaching</a:t>
              </a:r>
              <a:r>
                <a:rPr lang="en-US" sz="1800" b="1" kern="1200" baseline="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 </a:t>
              </a:r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material </a:t>
              </a:r>
              <a:r>
                <a:rPr lang="en-US" sz="1800" b="1" kern="1200" baseline="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- Version</a:t>
              </a:r>
              <a:endParaRPr lang="en-US" sz="1200" b="1" kern="1200" noProof="0" dirty="0">
                <a:solidFill>
                  <a:schemeClr val="tx1"/>
                </a:solidFill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5176323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Prerequisites</a:t>
            </a:r>
            <a:endParaRPr lang="de-DE" sz="1800" b="0" kern="120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5489073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  <p:sp>
        <p:nvSpPr>
          <p:cNvPr id="22" name="Textfeld 21"/>
          <p:cNvSpPr txBox="1"/>
          <p:nvPr userDrawn="1"/>
        </p:nvSpPr>
        <p:spPr>
          <a:xfrm>
            <a:off x="2046605" y="4184140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de-DE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</a:p>
        </p:txBody>
      </p:sp>
      <p:sp>
        <p:nvSpPr>
          <p:cNvPr id="23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83195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</a:t>
            </a:r>
            <a:r>
              <a:rPr lang="de-DE" noProof="0" dirty="0" err="1"/>
              <a:t>server</a:t>
            </a:r>
            <a:r>
              <a:rPr lang="de-DE" noProof="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19586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24000" y="324075"/>
            <a:ext cx="11545200" cy="7561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noProof="0" dirty="0"/>
              <a:t>Insert page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&lt;level 1&gt;</a:t>
            </a:r>
          </a:p>
          <a:p>
            <a:pPr lvl="1"/>
            <a:r>
              <a:rPr lang="en-US" noProof="0" dirty="0"/>
              <a:t>&lt;level 2&gt;</a:t>
            </a:r>
          </a:p>
          <a:p>
            <a:pPr lvl="2"/>
            <a:r>
              <a:rPr lang="en-US" noProof="0" dirty="0"/>
              <a:t>&lt;level 3&gt;</a:t>
            </a:r>
          </a:p>
          <a:p>
            <a:pPr lvl="3"/>
            <a:r>
              <a:rPr lang="en-US" noProof="0" dirty="0"/>
              <a:t>&lt;level 4&gt;</a:t>
            </a:r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4000" y="1231485"/>
            <a:ext cx="115452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 userDrawn="1"/>
        </p:nvSpPr>
        <p:spPr bwMode="white">
          <a:xfrm>
            <a:off x="324000" y="6537251"/>
            <a:ext cx="11545200" cy="324075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324000" y="6630039"/>
            <a:ext cx="3153112" cy="138499"/>
          </a:xfrm>
          <a:prstGeom prst="rect">
            <a:avLst/>
          </a:prstGeom>
          <a:noFill/>
        </p:spPr>
        <p:txBody>
          <a:bodyPr wrap="none" lIns="85730" tIns="0" rIns="0" bIns="0" rtlCol="0">
            <a:spAutoFit/>
          </a:bodyPr>
          <a:lstStyle/>
          <a:p>
            <a:pPr marL="0" indent="0" algn="l" defTabSz="816226">
              <a:buClr>
                <a:srgbClr val="000000"/>
              </a:buClr>
              <a:buFont typeface="Arial" pitchFamily="34" charset="0"/>
              <a:buNone/>
            </a:pPr>
            <a:r>
              <a:rPr lang="en-US" sz="900" dirty="0">
                <a:solidFill>
                  <a:srgbClr val="FFFFFF"/>
                </a:solidFill>
              </a:rPr>
              <a:t>© </a:t>
            </a:r>
            <a:r>
              <a:rPr lang="en-US" sz="900" dirty="0" smtClean="0">
                <a:solidFill>
                  <a:srgbClr val="FFFFFF"/>
                </a:solidFill>
              </a:rPr>
              <a:t>20</a:t>
            </a:r>
            <a:r>
              <a:rPr lang="en-DE" sz="900" dirty="0" smtClean="0">
                <a:solidFill>
                  <a:srgbClr val="FFFFFF"/>
                </a:solidFill>
              </a:rPr>
              <a:t>2</a:t>
            </a:r>
            <a:r>
              <a:rPr lang="de-DE" sz="900" dirty="0" smtClean="0">
                <a:solidFill>
                  <a:srgbClr val="FFFFFF"/>
                </a:solidFill>
              </a:rPr>
              <a:t>5</a:t>
            </a:r>
            <a:r>
              <a:rPr lang="en-US" sz="900" dirty="0" smtClean="0">
                <a:solidFill>
                  <a:srgbClr val="FFFFFF"/>
                </a:solidFill>
              </a:rPr>
              <a:t> </a:t>
            </a:r>
            <a:r>
              <a:rPr lang="en-US" sz="900" dirty="0">
                <a:solidFill>
                  <a:srgbClr val="FFFFFF"/>
                </a:solidFill>
              </a:rPr>
              <a:t>SAP</a:t>
            </a:r>
            <a:r>
              <a:rPr lang="en-US" sz="900" baseline="0" dirty="0">
                <a:solidFill>
                  <a:srgbClr val="FFFFFF"/>
                </a:solidFill>
              </a:rPr>
              <a:t> SE / SAP UCC Magdeburg</a:t>
            </a:r>
            <a:r>
              <a:rPr lang="en-US" sz="900" dirty="0">
                <a:solidFill>
                  <a:srgbClr val="FFFFFF"/>
                </a:solidFill>
              </a:rPr>
              <a:t>. All rights reserved.</a:t>
            </a:r>
          </a:p>
        </p:txBody>
      </p:sp>
      <p:sp>
        <p:nvSpPr>
          <p:cNvPr id="34" name="TextBox 33"/>
          <p:cNvSpPr txBox="1"/>
          <p:nvPr userDrawn="1"/>
        </p:nvSpPr>
        <p:spPr bwMode="black">
          <a:xfrm>
            <a:off x="11640519" y="6630039"/>
            <a:ext cx="227631" cy="138499"/>
          </a:xfrm>
          <a:prstGeom prst="rect">
            <a:avLst/>
          </a:prstGeom>
          <a:noFill/>
        </p:spPr>
        <p:txBody>
          <a:bodyPr wrap="non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9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‹Nr.›</a:t>
            </a:fld>
            <a:endParaRPr lang="en-US" sz="9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40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56" r:id="rId5"/>
    <p:sldLayoutId id="2147483759" r:id="rId6"/>
    <p:sldLayoutId id="2147483760" r:id="rId7"/>
    <p:sldLayoutId id="2147483746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45" r:id="rId16"/>
    <p:sldLayoutId id="2147483757" r:id="rId17"/>
    <p:sldLayoutId id="2147483758" r:id="rId18"/>
    <p:sldLayoutId id="2147483762" r:id="rId19"/>
  </p:sldLayoutIdLst>
  <p:hf hdr="0" ftr="0" dt="0"/>
  <p:txStyles>
    <p:titleStyle>
      <a:lvl1pPr algn="l" defTabSz="1088776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01600" indent="-201600" algn="l" defTabSz="1088776" rtl="0" eaLnBrk="1" latinLnBrk="0" hangingPunct="1">
        <a:spcBef>
          <a:spcPts val="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17600" indent="-216000" algn="l" defTabSz="1088776" rtl="0" eaLnBrk="1" latinLnBrk="0" hangingPunct="1">
        <a:spcBef>
          <a:spcPts val="338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16000" algn="l" defTabSz="1088776" rtl="0" eaLnBrk="1" latinLnBrk="0" hangingPunct="1">
        <a:spcBef>
          <a:spcPts val="225"/>
        </a:spcBef>
        <a:buClr>
          <a:schemeClr val="accent1"/>
        </a:buClr>
        <a:buSzPct val="75000"/>
        <a:buFont typeface="Symbol" panose="05050102010706020507" pitchFamily="18" charset="2"/>
        <a:buChar char="-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216000" algn="l" defTabSz="1088776" rtl="0" eaLnBrk="1" latinLnBrk="0" hangingPunct="1">
        <a:spcBef>
          <a:spcPts val="140"/>
        </a:spcBef>
        <a:buClr>
          <a:schemeClr val="accent1"/>
        </a:buClr>
        <a:buSzPct val="75000"/>
        <a:buFont typeface="Courier New" panose="02070309020205020404" pitchFamily="49" charset="0"/>
        <a:buChar char="o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1088776" rtl="0" eaLnBrk="1" latinLnBrk="0" hangingPunct="1">
        <a:spcBef>
          <a:spcPts val="250"/>
        </a:spcBef>
        <a:buClr>
          <a:schemeClr val="tx1"/>
        </a:buClr>
        <a:buSzPct val="100000"/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994134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8522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910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7298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8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77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16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552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94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632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71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510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z="5000" dirty="0">
                <a:latin typeface="Arial" panose="020B0604020202020204" pitchFamily="34" charset="0"/>
              </a:rPr>
              <a:t>Warehouse Management (WM)</a:t>
            </a:r>
            <a:endParaRPr lang="de-DE" sz="50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Curriculum: Introduction to S/4HANA using Global Bike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829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2327108" y="3568361"/>
            <a:ext cx="9542092" cy="530990"/>
          </a:xfrm>
        </p:spPr>
        <p:txBody>
          <a:bodyPr/>
          <a:lstStyle/>
          <a:p>
            <a:r>
              <a:rPr lang="de-DE" dirty="0"/>
              <a:t>SAP S/4HANA </a:t>
            </a:r>
            <a:r>
              <a:rPr lang="en-DE" dirty="0" smtClean="0"/>
              <a:t>202</a:t>
            </a:r>
            <a:r>
              <a:rPr lang="de-DE" dirty="0"/>
              <a:t>3</a:t>
            </a:r>
            <a:endParaRPr lang="en-DE" dirty="0" smtClean="0"/>
          </a:p>
          <a:p>
            <a:r>
              <a:rPr lang="en-DE" dirty="0" smtClean="0"/>
              <a:t>Fiori 3.0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Prerequisites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endParaRPr lang="de-DE" dirty="0"/>
          </a:p>
        </p:txBody>
      </p:sp>
      <p:sp>
        <p:nvSpPr>
          <p:cNvPr id="5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20696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dirty="0"/>
              <a:t>Global Bike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DE" dirty="0" smtClean="0"/>
              <a:t>4.</a:t>
            </a:r>
            <a:r>
              <a:rPr lang="de-DE" dirty="0"/>
              <a:t>3</a:t>
            </a:r>
            <a:r>
              <a:rPr lang="de-DE" dirty="0" smtClean="0"/>
              <a:t> (</a:t>
            </a:r>
            <a:r>
              <a:rPr lang="de-DE" dirty="0" err="1" smtClean="0"/>
              <a:t>July</a:t>
            </a:r>
            <a:r>
              <a:rPr lang="de-DE" dirty="0" smtClean="0"/>
              <a:t> 2025)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0" y="3240000"/>
            <a:ext cx="485833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80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Chris Bernhardt</a:t>
            </a:r>
          </a:p>
          <a:p>
            <a:r>
              <a:rPr lang="de-DE" dirty="0"/>
              <a:t>Babett Ruß</a:t>
            </a:r>
          </a:p>
          <a:p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Beginner</a:t>
            </a:r>
          </a:p>
        </p:txBody>
      </p:sp>
    </p:spTree>
    <p:extLst>
      <p:ext uri="{BB962C8B-B14F-4D97-AF65-F5344CB8AC3E}">
        <p14:creationId xmlns:p14="http://schemas.microsoft.com/office/powerpoint/2010/main" val="188111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>
          <a:xfrm>
            <a:off x="2038856" y="2624439"/>
            <a:ext cx="9830344" cy="1780584"/>
          </a:xfrm>
        </p:spPr>
        <p:txBody>
          <a:bodyPr/>
          <a:lstStyle/>
          <a:p>
            <a:pPr marL="72000" indent="0">
              <a:buNone/>
            </a:pPr>
            <a:r>
              <a:rPr lang="en-US" dirty="0"/>
              <a:t>You are able to</a:t>
            </a:r>
          </a:p>
          <a:p>
            <a:r>
              <a:rPr lang="en-US" dirty="0"/>
              <a:t>name some functionalities of the WM module.</a:t>
            </a:r>
          </a:p>
          <a:p>
            <a:r>
              <a:rPr lang="en-US" dirty="0"/>
              <a:t>define the central organizational structures of the WM module.</a:t>
            </a:r>
          </a:p>
          <a:p>
            <a:r>
              <a:rPr lang="en-US" dirty="0"/>
              <a:t>summarize the master data which is most important for the WM module.</a:t>
            </a:r>
          </a:p>
          <a:p>
            <a:r>
              <a:rPr lang="en-US" dirty="0"/>
              <a:t>explain standard Warehouse Management processes.</a:t>
            </a:r>
          </a:p>
        </p:txBody>
      </p:sp>
    </p:spTree>
    <p:extLst>
      <p:ext uri="{BB962C8B-B14F-4D97-AF65-F5344CB8AC3E}">
        <p14:creationId xmlns:p14="http://schemas.microsoft.com/office/powerpoint/2010/main" val="176007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Functionality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294967295"/>
          </p:nvPr>
        </p:nvSpPr>
        <p:spPr>
          <a:xfrm>
            <a:off x="324000" y="1692392"/>
            <a:ext cx="11545200" cy="3832705"/>
          </a:xfrm>
        </p:spPr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Goods </a:t>
            </a:r>
            <a:r>
              <a:rPr lang="en-US" altLang="de-DE" dirty="0" smtClean="0">
                <a:latin typeface="Arial" panose="020B0604020202020204" pitchFamily="34" charset="0"/>
              </a:rPr>
              <a:t>Receipt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Goods </a:t>
            </a:r>
            <a:r>
              <a:rPr lang="en-US" altLang="de-DE" dirty="0" smtClean="0">
                <a:latin typeface="Arial" panose="020B0604020202020204" pitchFamily="34" charset="0"/>
              </a:rPr>
              <a:t>Issue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Picking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Packing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Shipping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Physical Inventory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6319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WM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WM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WM Process Management and Control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0079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WM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  <a:latin typeface="Arial" panose="020B0604020202020204" pitchFamily="34" charset="0"/>
              </a:rPr>
              <a:t>WM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  <a:latin typeface="Arial" panose="020B0604020202020204" pitchFamily="34" charset="0"/>
              </a:rPr>
              <a:t>WM Process Management and Control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2543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WM Organizational Structure</a:t>
            </a:r>
            <a:endParaRPr lang="de-DE" dirty="0"/>
          </a:p>
        </p:txBody>
      </p:sp>
      <p:grpSp>
        <p:nvGrpSpPr>
          <p:cNvPr id="54" name="Gruppieren 53"/>
          <p:cNvGrpSpPr/>
          <p:nvPr/>
        </p:nvGrpSpPr>
        <p:grpSpPr>
          <a:xfrm>
            <a:off x="2200081" y="2104336"/>
            <a:ext cx="7793037" cy="3565525"/>
            <a:chOff x="693738" y="1628775"/>
            <a:chExt cx="7793037" cy="3565525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white">
            <a:xfrm>
              <a:off x="3114675" y="1628775"/>
              <a:ext cx="1312863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</a:t>
              </a:r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white">
            <a:xfrm flipH="1">
              <a:off x="3776663" y="1978025"/>
              <a:ext cx="0" cy="180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white">
            <a:xfrm>
              <a:off x="2746375" y="2159000"/>
              <a:ext cx="2065338" cy="33972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Inc. US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white">
            <a:xfrm>
              <a:off x="3767138" y="2508250"/>
              <a:ext cx="3175" cy="196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white">
            <a:xfrm>
              <a:off x="1006475" y="2743200"/>
              <a:ext cx="792163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Dallas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white">
            <a:xfrm>
              <a:off x="3182938" y="2706688"/>
              <a:ext cx="1185862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San Diego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white">
            <a:xfrm>
              <a:off x="3767138" y="4632325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white">
            <a:xfrm>
              <a:off x="3783013" y="2055813"/>
              <a:ext cx="22320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white">
            <a:xfrm>
              <a:off x="6015038" y="2055813"/>
              <a:ext cx="0" cy="123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white">
            <a:xfrm>
              <a:off x="5656263" y="2743200"/>
              <a:ext cx="771525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Miami</a:t>
              </a:r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white">
            <a:xfrm>
              <a:off x="7913688" y="1666875"/>
              <a:ext cx="573087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Client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white">
            <a:xfrm>
              <a:off x="7240588" y="2189163"/>
              <a:ext cx="1246187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Company Code</a:t>
              </a:r>
            </a:p>
          </p:txBody>
        </p:sp>
        <p:sp>
          <p:nvSpPr>
            <p:cNvPr id="16" name="Rectangle 5"/>
            <p:cNvSpPr>
              <a:spLocks noChangeArrowheads="1"/>
            </p:cNvSpPr>
            <p:nvPr/>
          </p:nvSpPr>
          <p:spPr bwMode="white">
            <a:xfrm>
              <a:off x="7954963" y="2743200"/>
              <a:ext cx="531812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Plant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white">
            <a:xfrm>
              <a:off x="7478713" y="3286125"/>
              <a:ext cx="100806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Storage </a:t>
              </a:r>
              <a:b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Location</a:t>
              </a:r>
            </a:p>
          </p:txBody>
        </p:sp>
        <p:sp>
          <p:nvSpPr>
            <p:cNvPr id="18" name="Rectangle 5"/>
            <p:cNvSpPr>
              <a:spLocks noChangeArrowheads="1"/>
            </p:cNvSpPr>
            <p:nvPr/>
          </p:nvSpPr>
          <p:spPr bwMode="white">
            <a:xfrm>
              <a:off x="3273425" y="4930775"/>
              <a:ext cx="985838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Total Section</a:t>
              </a:r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white">
            <a:xfrm>
              <a:off x="1936750" y="3389313"/>
              <a:ext cx="1093788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Trading Goods</a:t>
              </a:r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white">
            <a:xfrm>
              <a:off x="3201988" y="3387725"/>
              <a:ext cx="1149350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Finished Goods</a:t>
              </a:r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white">
            <a:xfrm>
              <a:off x="3001963" y="3981450"/>
              <a:ext cx="1530350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 dirty="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San Diego Warehouse</a:t>
              </a:r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white">
            <a:xfrm>
              <a:off x="1403350" y="2613025"/>
              <a:ext cx="46386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3" name="Line 8"/>
            <p:cNvSpPr>
              <a:spLocks noChangeShapeType="1"/>
            </p:cNvSpPr>
            <p:nvPr/>
          </p:nvSpPr>
          <p:spPr bwMode="white">
            <a:xfrm>
              <a:off x="6040438" y="2613025"/>
              <a:ext cx="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white">
            <a:xfrm>
              <a:off x="1403350" y="2613025"/>
              <a:ext cx="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grpSp>
          <p:nvGrpSpPr>
            <p:cNvPr id="25" name="Gruppieren 2"/>
            <p:cNvGrpSpPr>
              <a:grpSpLocks/>
            </p:cNvGrpSpPr>
            <p:nvPr/>
          </p:nvGrpSpPr>
          <p:grpSpPr bwMode="auto">
            <a:xfrm>
              <a:off x="2481263" y="3617913"/>
              <a:ext cx="2576512" cy="363537"/>
              <a:chOff x="2481262" y="3617974"/>
              <a:chExt cx="2575768" cy="363475"/>
            </a:xfrm>
            <a:solidFill>
              <a:schemeClr val="tx2"/>
            </a:solidFill>
          </p:grpSpPr>
          <p:sp>
            <p:nvSpPr>
              <p:cNvPr id="26" name="Line 8"/>
              <p:cNvSpPr>
                <a:spLocks noChangeShapeType="1"/>
              </p:cNvSpPr>
              <p:nvPr/>
            </p:nvSpPr>
            <p:spPr bwMode="white">
              <a:xfrm rot="10800000" flipH="1">
                <a:off x="5054600" y="3617974"/>
                <a:ext cx="2430" cy="21709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27" name="Line 8"/>
              <p:cNvSpPr>
                <a:spLocks noChangeShapeType="1"/>
              </p:cNvSpPr>
              <p:nvPr/>
            </p:nvSpPr>
            <p:spPr bwMode="white">
              <a:xfrm rot="10800000">
                <a:off x="3767138" y="3835071"/>
                <a:ext cx="0" cy="146378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28" name="Line 10"/>
              <p:cNvSpPr>
                <a:spLocks noChangeShapeType="1"/>
              </p:cNvSpPr>
              <p:nvPr/>
            </p:nvSpPr>
            <p:spPr bwMode="white">
              <a:xfrm rot="10800000">
                <a:off x="2481263" y="3835843"/>
                <a:ext cx="2572444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29" name="Line 8"/>
              <p:cNvSpPr>
                <a:spLocks noChangeShapeType="1"/>
              </p:cNvSpPr>
              <p:nvPr/>
            </p:nvSpPr>
            <p:spPr bwMode="white">
              <a:xfrm rot="10800000" flipH="1">
                <a:off x="2481262" y="3645148"/>
                <a:ext cx="2505" cy="190695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0" name="Line 8"/>
              <p:cNvSpPr>
                <a:spLocks noChangeShapeType="1"/>
              </p:cNvSpPr>
              <p:nvPr/>
            </p:nvSpPr>
            <p:spPr bwMode="white">
              <a:xfrm rot="10800000">
                <a:off x="3767138" y="3645024"/>
                <a:ext cx="496" cy="190819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sp>
          <p:nvSpPr>
            <p:cNvPr id="31" name="Rectangle 5"/>
            <p:cNvSpPr>
              <a:spLocks noChangeArrowheads="1"/>
            </p:cNvSpPr>
            <p:nvPr/>
          </p:nvSpPr>
          <p:spPr bwMode="white">
            <a:xfrm>
              <a:off x="7513638" y="3943350"/>
              <a:ext cx="973137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 dirty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Warehouse</a:t>
              </a:r>
              <a:br>
                <a:rPr lang="en-US" altLang="de-DE" b="0" dirty="0"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en-US" altLang="de-DE" b="0" dirty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Number</a:t>
              </a: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white">
            <a:xfrm>
              <a:off x="4954588" y="2159000"/>
              <a:ext cx="2065337" cy="33972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Inc. DE</a:t>
              </a:r>
            </a:p>
          </p:txBody>
        </p:sp>
        <p:grpSp>
          <p:nvGrpSpPr>
            <p:cNvPr id="33" name="Gruppieren 1"/>
            <p:cNvGrpSpPr>
              <a:grpSpLocks/>
            </p:cNvGrpSpPr>
            <p:nvPr/>
          </p:nvGrpSpPr>
          <p:grpSpPr bwMode="auto">
            <a:xfrm>
              <a:off x="2490788" y="3063875"/>
              <a:ext cx="2571750" cy="328613"/>
              <a:chOff x="2490788" y="3063875"/>
              <a:chExt cx="2571750" cy="329101"/>
            </a:xfrm>
            <a:solidFill>
              <a:schemeClr val="tx2"/>
            </a:solidFill>
          </p:grpSpPr>
          <p:sp>
            <p:nvSpPr>
              <p:cNvPr id="34" name="Line 8"/>
              <p:cNvSpPr>
                <a:spLocks noChangeShapeType="1"/>
              </p:cNvSpPr>
              <p:nvPr/>
            </p:nvSpPr>
            <p:spPr bwMode="white">
              <a:xfrm>
                <a:off x="3771106" y="3063875"/>
                <a:ext cx="0" cy="14910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5" name="Line 10"/>
              <p:cNvSpPr>
                <a:spLocks noChangeShapeType="1"/>
              </p:cNvSpPr>
              <p:nvPr/>
            </p:nvSpPr>
            <p:spPr bwMode="white">
              <a:xfrm>
                <a:off x="2491681" y="3208775"/>
                <a:ext cx="2570857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6" name="Line 8"/>
              <p:cNvSpPr>
                <a:spLocks noChangeShapeType="1"/>
              </p:cNvSpPr>
              <p:nvPr/>
            </p:nvSpPr>
            <p:spPr bwMode="white">
              <a:xfrm>
                <a:off x="5062538" y="3208775"/>
                <a:ext cx="0" cy="17977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7" name="Line 8"/>
              <p:cNvSpPr>
                <a:spLocks noChangeShapeType="1"/>
              </p:cNvSpPr>
              <p:nvPr/>
            </p:nvSpPr>
            <p:spPr bwMode="white">
              <a:xfrm>
                <a:off x="2490788" y="3209542"/>
                <a:ext cx="0" cy="17977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8" name="Line 8"/>
              <p:cNvSpPr>
                <a:spLocks noChangeShapeType="1"/>
              </p:cNvSpPr>
              <p:nvPr/>
            </p:nvSpPr>
            <p:spPr bwMode="white">
              <a:xfrm flipH="1">
                <a:off x="3768692" y="3212976"/>
                <a:ext cx="0" cy="18000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sp>
          <p:nvSpPr>
            <p:cNvPr id="39" name="Rectangle 5"/>
            <p:cNvSpPr>
              <a:spLocks noChangeArrowheads="1"/>
            </p:cNvSpPr>
            <p:nvPr/>
          </p:nvSpPr>
          <p:spPr bwMode="white">
            <a:xfrm>
              <a:off x="693738" y="4379913"/>
              <a:ext cx="1114425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Shelf Storage</a:t>
              </a:r>
            </a:p>
          </p:txBody>
        </p:sp>
        <p:sp>
          <p:nvSpPr>
            <p:cNvPr id="40" name="Rectangle 5"/>
            <p:cNvSpPr>
              <a:spLocks noChangeArrowheads="1"/>
            </p:cNvSpPr>
            <p:nvPr/>
          </p:nvSpPr>
          <p:spPr bwMode="white">
            <a:xfrm>
              <a:off x="3240088" y="4379913"/>
              <a:ext cx="1033462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Pallet Storage</a:t>
              </a:r>
            </a:p>
          </p:txBody>
        </p:sp>
        <p:sp>
          <p:nvSpPr>
            <p:cNvPr id="41" name="Rectangle 5"/>
            <p:cNvSpPr>
              <a:spLocks noChangeArrowheads="1"/>
            </p:cNvSpPr>
            <p:nvPr/>
          </p:nvSpPr>
          <p:spPr bwMode="white">
            <a:xfrm>
              <a:off x="1982788" y="4379913"/>
              <a:ext cx="1057275" cy="401637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GR Area Ext. </a:t>
              </a:r>
            </a:p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Receipts</a:t>
              </a:r>
            </a:p>
          </p:txBody>
        </p:sp>
        <p:sp>
          <p:nvSpPr>
            <p:cNvPr id="42" name="Rectangle 5"/>
            <p:cNvSpPr>
              <a:spLocks noChangeArrowheads="1"/>
            </p:cNvSpPr>
            <p:nvPr/>
          </p:nvSpPr>
          <p:spPr bwMode="white">
            <a:xfrm>
              <a:off x="5791200" y="4383088"/>
              <a:ext cx="1182688" cy="401637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Stock Transfers </a:t>
              </a:r>
            </a:p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(Plant)</a:t>
              </a:r>
            </a:p>
          </p:txBody>
        </p:sp>
        <p:sp>
          <p:nvSpPr>
            <p:cNvPr id="43" name="Rectangle 5"/>
            <p:cNvSpPr>
              <a:spLocks noChangeArrowheads="1"/>
            </p:cNvSpPr>
            <p:nvPr/>
          </p:nvSpPr>
          <p:spPr bwMode="white">
            <a:xfrm>
              <a:off x="4518025" y="4379913"/>
              <a:ext cx="1039813" cy="401637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Shipping area</a:t>
              </a:r>
            </a:p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Deliveries</a:t>
              </a:r>
            </a:p>
          </p:txBody>
        </p:sp>
        <p:grpSp>
          <p:nvGrpSpPr>
            <p:cNvPr id="44" name="Gruppieren 43"/>
            <p:cNvGrpSpPr>
              <a:grpSpLocks/>
            </p:cNvGrpSpPr>
            <p:nvPr/>
          </p:nvGrpSpPr>
          <p:grpSpPr bwMode="auto">
            <a:xfrm>
              <a:off x="1222375" y="4224338"/>
              <a:ext cx="5160963" cy="155575"/>
              <a:chOff x="1222375" y="4223893"/>
              <a:chExt cx="5160169" cy="156020"/>
            </a:xfrm>
            <a:solidFill>
              <a:schemeClr val="tx2"/>
            </a:solidFill>
          </p:grpSpPr>
          <p:sp>
            <p:nvSpPr>
              <p:cNvPr id="45" name="Line 8"/>
              <p:cNvSpPr>
                <a:spLocks noChangeShapeType="1"/>
              </p:cNvSpPr>
              <p:nvPr/>
            </p:nvSpPr>
            <p:spPr bwMode="white">
              <a:xfrm>
                <a:off x="3763118" y="4223893"/>
                <a:ext cx="0" cy="15120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46" name="Line 8"/>
              <p:cNvSpPr>
                <a:spLocks noChangeShapeType="1"/>
              </p:cNvSpPr>
              <p:nvPr/>
            </p:nvSpPr>
            <p:spPr bwMode="white">
              <a:xfrm flipH="1">
                <a:off x="6381750" y="4293732"/>
                <a:ext cx="0" cy="8120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47" name="Line 8"/>
              <p:cNvSpPr>
                <a:spLocks noChangeShapeType="1"/>
              </p:cNvSpPr>
              <p:nvPr/>
            </p:nvSpPr>
            <p:spPr bwMode="white">
              <a:xfrm>
                <a:off x="1225550" y="4296460"/>
                <a:ext cx="1" cy="7847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48" name="Line 10"/>
              <p:cNvSpPr>
                <a:spLocks noChangeShapeType="1"/>
              </p:cNvSpPr>
              <p:nvPr/>
            </p:nvSpPr>
            <p:spPr bwMode="white">
              <a:xfrm flipV="1">
                <a:off x="1222375" y="4298711"/>
                <a:ext cx="5160169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49" name="Line 8"/>
              <p:cNvSpPr>
                <a:spLocks noChangeShapeType="1"/>
              </p:cNvSpPr>
              <p:nvPr/>
            </p:nvSpPr>
            <p:spPr bwMode="white">
              <a:xfrm>
                <a:off x="2500808" y="4298712"/>
                <a:ext cx="1" cy="7847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50" name="Line 8"/>
              <p:cNvSpPr>
                <a:spLocks noChangeShapeType="1"/>
              </p:cNvSpPr>
              <p:nvPr/>
            </p:nvSpPr>
            <p:spPr bwMode="white">
              <a:xfrm flipH="1">
                <a:off x="5051323" y="4298712"/>
                <a:ext cx="0" cy="8120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sp>
          <p:nvSpPr>
            <p:cNvPr id="51" name="Rectangle 5"/>
            <p:cNvSpPr>
              <a:spLocks noChangeArrowheads="1"/>
            </p:cNvSpPr>
            <p:nvPr/>
          </p:nvSpPr>
          <p:spPr bwMode="white">
            <a:xfrm>
              <a:off x="7394575" y="4364038"/>
              <a:ext cx="1092200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Storage Type</a:t>
              </a:r>
            </a:p>
          </p:txBody>
        </p:sp>
        <p:sp>
          <p:nvSpPr>
            <p:cNvPr id="52" name="Rectangle 5"/>
            <p:cNvSpPr>
              <a:spLocks noChangeArrowheads="1"/>
            </p:cNvSpPr>
            <p:nvPr/>
          </p:nvSpPr>
          <p:spPr bwMode="white">
            <a:xfrm>
              <a:off x="7213600" y="4914900"/>
              <a:ext cx="127317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Storage Section</a:t>
              </a:r>
            </a:p>
          </p:txBody>
        </p:sp>
        <p:sp>
          <p:nvSpPr>
            <p:cNvPr id="53" name="Rectangle 5"/>
            <p:cNvSpPr>
              <a:spLocks noChangeArrowheads="1"/>
            </p:cNvSpPr>
            <p:nvPr/>
          </p:nvSpPr>
          <p:spPr bwMode="white">
            <a:xfrm>
              <a:off x="4530725" y="3387725"/>
              <a:ext cx="1052513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Miscellaneous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6349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  <a:defRPr/>
            </a:pPr>
            <a:r>
              <a:rPr lang="en-US" dirty="0"/>
              <a:t>Client</a:t>
            </a:r>
          </a:p>
          <a:p>
            <a:pPr lvl="1">
              <a:tabLst>
                <a:tab pos="1971675" algn="l"/>
              </a:tabLst>
              <a:defRPr/>
            </a:pPr>
            <a:r>
              <a:rPr lang="en-US" dirty="0"/>
              <a:t>An independent environment in the system</a:t>
            </a:r>
          </a:p>
          <a:p>
            <a:pPr lvl="1">
              <a:tabLst>
                <a:tab pos="1971675" algn="l"/>
              </a:tabLst>
              <a:defRPr/>
            </a:pPr>
            <a:endParaRPr lang="en-US" dirty="0"/>
          </a:p>
          <a:p>
            <a:pPr>
              <a:tabLst>
                <a:tab pos="1971675" algn="l"/>
              </a:tabLst>
              <a:defRPr/>
            </a:pPr>
            <a:r>
              <a:rPr lang="en-US" dirty="0"/>
              <a:t>Company Code</a:t>
            </a:r>
          </a:p>
          <a:p>
            <a:pPr lvl="1">
              <a:tabLst>
                <a:tab pos="1971675" algn="l"/>
              </a:tabLst>
              <a:defRPr/>
            </a:pPr>
            <a:r>
              <a:rPr lang="en-US" dirty="0"/>
              <a:t>Smallest </a:t>
            </a:r>
            <a:r>
              <a:rPr lang="en-US" dirty="0" err="1" smtClean="0"/>
              <a:t>organisational</a:t>
            </a:r>
            <a:r>
              <a:rPr lang="en-US" dirty="0" smtClean="0"/>
              <a:t> </a:t>
            </a:r>
            <a:r>
              <a:rPr lang="en-US" dirty="0"/>
              <a:t>unit for which you can maintain a legal set of books</a:t>
            </a:r>
          </a:p>
          <a:p>
            <a:pPr lvl="1">
              <a:tabLst>
                <a:tab pos="1971675" algn="l"/>
              </a:tabLst>
              <a:defRPr/>
            </a:pPr>
            <a:endParaRPr lang="en-US" dirty="0"/>
          </a:p>
          <a:p>
            <a:pPr>
              <a:tabLst>
                <a:tab pos="1971675" algn="l"/>
              </a:tabLst>
              <a:defRPr/>
            </a:pPr>
            <a:r>
              <a:rPr lang="en-US" dirty="0"/>
              <a:t>Plant</a:t>
            </a:r>
          </a:p>
          <a:p>
            <a:pPr lvl="1">
              <a:tabLst>
                <a:tab pos="1971675" algn="l"/>
              </a:tabLst>
              <a:defRPr/>
            </a:pPr>
            <a:r>
              <a:rPr lang="en-US" dirty="0"/>
              <a:t>Operating area or branch within a company</a:t>
            </a:r>
          </a:p>
          <a:p>
            <a:pPr lvl="2">
              <a:buFont typeface="Arial" charset="0"/>
              <a:buChar char="•"/>
              <a:tabLst>
                <a:tab pos="1971675" algn="l"/>
              </a:tabLst>
              <a:defRPr/>
            </a:pPr>
            <a:r>
              <a:rPr lang="en-US" dirty="0"/>
              <a:t>Manufacturing, distribution, purchasing or maintenance facility</a:t>
            </a:r>
          </a:p>
          <a:p>
            <a:pPr lvl="2">
              <a:buFont typeface="Arial" charset="0"/>
              <a:buChar char="•"/>
              <a:tabLst>
                <a:tab pos="1971675" algn="l"/>
              </a:tabLst>
              <a:defRPr/>
            </a:pPr>
            <a:endParaRPr lang="en-US" dirty="0"/>
          </a:p>
          <a:p>
            <a:pPr>
              <a:tabLst>
                <a:tab pos="1971675" algn="l"/>
              </a:tabLst>
              <a:defRPr/>
            </a:pPr>
            <a:r>
              <a:rPr lang="en-US" dirty="0"/>
              <a:t>Storage Location</a:t>
            </a:r>
          </a:p>
          <a:p>
            <a:pPr lvl="1">
              <a:tabLst>
                <a:tab pos="1971675" algn="l"/>
              </a:tabLst>
              <a:defRPr/>
            </a:pPr>
            <a:r>
              <a:rPr lang="en-US" dirty="0"/>
              <a:t>An organizational unit allowing differentiation between the various stocks of a material in a plant</a:t>
            </a:r>
          </a:p>
          <a:p>
            <a:pPr marL="0" indent="0">
              <a:buNone/>
              <a:tabLst>
                <a:tab pos="1971675" algn="l"/>
              </a:tabLst>
              <a:defRPr/>
            </a:pP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WM Organizational 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7101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Warehouse Number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Number that identifies a complex, physical warehouse structure within the warehouse management system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Storage Type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Subdivision of a complex, physical warehouse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Is identified by its warehousing technique, form of organization, or its function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Storage Section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Logical or physical subdivision of a storage type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Groups together a series of similar storage bins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Picking Area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Groups storage bins together from the standpoint of picking strategies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WM Organizational 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892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Warehouse door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Marks the point where the means of transport changes to an internal transportation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Allocation Zone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Temporary storage of goods, which have just arrived or will be shipped soon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Shipping Point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Is the part of the company responsible for the type of shipping, the necessary shipping materials and the means of transport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Storage Bin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Smallest addressable unit in a warehouse, which identifies the exact location in the warehouse where goods can be stored</a:t>
            </a:r>
          </a:p>
          <a:p>
            <a:pPr lvl="1">
              <a:buFontTx/>
              <a:buNone/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  <a:sym typeface="Wingdings" panose="05000000000000000000" pitchFamily="2" charset="2"/>
              </a:rPr>
              <a:t> Master Data</a:t>
            </a:r>
            <a:endParaRPr lang="en-US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WM Organizational 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8235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Global Bike Structure for Warehouse Management</a:t>
            </a:r>
            <a:endParaRPr lang="de-DE" dirty="0"/>
          </a:p>
        </p:txBody>
      </p:sp>
      <p:grpSp>
        <p:nvGrpSpPr>
          <p:cNvPr id="65" name="Gruppieren 64"/>
          <p:cNvGrpSpPr/>
          <p:nvPr/>
        </p:nvGrpSpPr>
        <p:grpSpPr>
          <a:xfrm>
            <a:off x="2200081" y="1813031"/>
            <a:ext cx="7793037" cy="4148138"/>
            <a:chOff x="693738" y="1628775"/>
            <a:chExt cx="7793037" cy="4148138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white">
            <a:xfrm>
              <a:off x="3114675" y="1628775"/>
              <a:ext cx="1312863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</a:t>
              </a:r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white">
            <a:xfrm flipH="1">
              <a:off x="3776663" y="1978025"/>
              <a:ext cx="0" cy="180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white">
            <a:xfrm>
              <a:off x="2746375" y="2159000"/>
              <a:ext cx="2065338" cy="33972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Inc. US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white">
            <a:xfrm>
              <a:off x="3767138" y="2508250"/>
              <a:ext cx="3175" cy="196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white">
            <a:xfrm>
              <a:off x="1006475" y="2743200"/>
              <a:ext cx="792163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Dallas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white">
            <a:xfrm>
              <a:off x="3182938" y="2706688"/>
              <a:ext cx="1185862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San Diego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white">
            <a:xfrm>
              <a:off x="3767138" y="4632325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white">
            <a:xfrm>
              <a:off x="3783013" y="2055813"/>
              <a:ext cx="22320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white">
            <a:xfrm>
              <a:off x="6015038" y="2055813"/>
              <a:ext cx="0" cy="123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white">
            <a:xfrm>
              <a:off x="5656263" y="2743200"/>
              <a:ext cx="771525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Miami</a:t>
              </a:r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white">
            <a:xfrm>
              <a:off x="7913688" y="1666875"/>
              <a:ext cx="573087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Client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white">
            <a:xfrm>
              <a:off x="7240588" y="2189163"/>
              <a:ext cx="1246187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Company Code</a:t>
              </a:r>
            </a:p>
          </p:txBody>
        </p:sp>
        <p:sp>
          <p:nvSpPr>
            <p:cNvPr id="16" name="Rectangle 5"/>
            <p:cNvSpPr>
              <a:spLocks noChangeArrowheads="1"/>
            </p:cNvSpPr>
            <p:nvPr/>
          </p:nvSpPr>
          <p:spPr bwMode="white">
            <a:xfrm>
              <a:off x="7954963" y="2743200"/>
              <a:ext cx="531812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Plant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white">
            <a:xfrm>
              <a:off x="7478713" y="3286125"/>
              <a:ext cx="100806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Storage </a:t>
              </a:r>
              <a:b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Location</a:t>
              </a:r>
            </a:p>
          </p:txBody>
        </p:sp>
        <p:sp>
          <p:nvSpPr>
            <p:cNvPr id="18" name="Rectangle 5"/>
            <p:cNvSpPr>
              <a:spLocks noChangeArrowheads="1"/>
            </p:cNvSpPr>
            <p:nvPr/>
          </p:nvSpPr>
          <p:spPr bwMode="white">
            <a:xfrm>
              <a:off x="3273425" y="4930775"/>
              <a:ext cx="985838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Total Section</a:t>
              </a:r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white">
            <a:xfrm>
              <a:off x="773113" y="5508625"/>
              <a:ext cx="900112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STBN-2-000</a:t>
              </a:r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white">
            <a:xfrm>
              <a:off x="1936750" y="3389313"/>
              <a:ext cx="1093788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Trading Goods</a:t>
              </a:r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white">
            <a:xfrm>
              <a:off x="3201988" y="3387725"/>
              <a:ext cx="1149350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Finished Goods</a:t>
              </a: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white">
            <a:xfrm>
              <a:off x="3001963" y="3981450"/>
              <a:ext cx="1530350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San Diego Warehouse</a:t>
              </a:r>
            </a:p>
          </p:txBody>
        </p:sp>
        <p:sp>
          <p:nvSpPr>
            <p:cNvPr id="23" name="Line 10"/>
            <p:cNvSpPr>
              <a:spLocks noChangeShapeType="1"/>
            </p:cNvSpPr>
            <p:nvPr/>
          </p:nvSpPr>
          <p:spPr bwMode="white">
            <a:xfrm flipV="1">
              <a:off x="6040438" y="5330825"/>
              <a:ext cx="3873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4" name="Line 10"/>
            <p:cNvSpPr>
              <a:spLocks noChangeShapeType="1"/>
            </p:cNvSpPr>
            <p:nvPr/>
          </p:nvSpPr>
          <p:spPr bwMode="white">
            <a:xfrm>
              <a:off x="1403350" y="2613025"/>
              <a:ext cx="46386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5" name="Line 8"/>
            <p:cNvSpPr>
              <a:spLocks noChangeShapeType="1"/>
            </p:cNvSpPr>
            <p:nvPr/>
          </p:nvSpPr>
          <p:spPr bwMode="white">
            <a:xfrm>
              <a:off x="6040438" y="2613025"/>
              <a:ext cx="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6" name="Line 8"/>
            <p:cNvSpPr>
              <a:spLocks noChangeShapeType="1"/>
            </p:cNvSpPr>
            <p:nvPr/>
          </p:nvSpPr>
          <p:spPr bwMode="white">
            <a:xfrm>
              <a:off x="1403350" y="2613025"/>
              <a:ext cx="0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grpSp>
          <p:nvGrpSpPr>
            <p:cNvPr id="27" name="Gruppieren 2"/>
            <p:cNvGrpSpPr>
              <a:grpSpLocks/>
            </p:cNvGrpSpPr>
            <p:nvPr/>
          </p:nvGrpSpPr>
          <p:grpSpPr bwMode="auto">
            <a:xfrm>
              <a:off x="2481263" y="3617913"/>
              <a:ext cx="2576512" cy="363537"/>
              <a:chOff x="2481262" y="3617974"/>
              <a:chExt cx="2575768" cy="363475"/>
            </a:xfrm>
            <a:solidFill>
              <a:schemeClr val="tx2"/>
            </a:solidFill>
          </p:grpSpPr>
          <p:sp>
            <p:nvSpPr>
              <p:cNvPr id="28" name="Line 8"/>
              <p:cNvSpPr>
                <a:spLocks noChangeShapeType="1"/>
              </p:cNvSpPr>
              <p:nvPr/>
            </p:nvSpPr>
            <p:spPr bwMode="white">
              <a:xfrm rot="10800000" flipH="1">
                <a:off x="5054600" y="3617974"/>
                <a:ext cx="2430" cy="21709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29" name="Line 8"/>
              <p:cNvSpPr>
                <a:spLocks noChangeShapeType="1"/>
              </p:cNvSpPr>
              <p:nvPr/>
            </p:nvSpPr>
            <p:spPr bwMode="white">
              <a:xfrm rot="10800000">
                <a:off x="3767138" y="3835071"/>
                <a:ext cx="0" cy="146378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0" name="Line 10"/>
              <p:cNvSpPr>
                <a:spLocks noChangeShapeType="1"/>
              </p:cNvSpPr>
              <p:nvPr/>
            </p:nvSpPr>
            <p:spPr bwMode="white">
              <a:xfrm rot="10800000">
                <a:off x="2481263" y="3835843"/>
                <a:ext cx="2572444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1" name="Line 8"/>
              <p:cNvSpPr>
                <a:spLocks noChangeShapeType="1"/>
              </p:cNvSpPr>
              <p:nvPr/>
            </p:nvSpPr>
            <p:spPr bwMode="white">
              <a:xfrm rot="10800000" flipH="1">
                <a:off x="2481262" y="3645148"/>
                <a:ext cx="2505" cy="190695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2" name="Line 8"/>
              <p:cNvSpPr>
                <a:spLocks noChangeShapeType="1"/>
              </p:cNvSpPr>
              <p:nvPr/>
            </p:nvSpPr>
            <p:spPr bwMode="white">
              <a:xfrm rot="10800000">
                <a:off x="3767138" y="3645024"/>
                <a:ext cx="496" cy="190819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sp>
          <p:nvSpPr>
            <p:cNvPr id="33" name="Rectangle 5"/>
            <p:cNvSpPr>
              <a:spLocks noChangeArrowheads="1"/>
            </p:cNvSpPr>
            <p:nvPr/>
          </p:nvSpPr>
          <p:spPr bwMode="white">
            <a:xfrm>
              <a:off x="7513638" y="3943350"/>
              <a:ext cx="973137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Warehouse</a:t>
              </a:r>
              <a:b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Number</a:t>
              </a: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white">
            <a:xfrm>
              <a:off x="4954588" y="2159000"/>
              <a:ext cx="2065337" cy="33972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Inc. DE</a:t>
              </a:r>
            </a:p>
          </p:txBody>
        </p:sp>
        <p:grpSp>
          <p:nvGrpSpPr>
            <p:cNvPr id="35" name="Gruppieren 1"/>
            <p:cNvGrpSpPr>
              <a:grpSpLocks/>
            </p:cNvGrpSpPr>
            <p:nvPr/>
          </p:nvGrpSpPr>
          <p:grpSpPr bwMode="auto">
            <a:xfrm>
              <a:off x="2490788" y="3063875"/>
              <a:ext cx="2571750" cy="328613"/>
              <a:chOff x="2490788" y="3063875"/>
              <a:chExt cx="2571750" cy="329101"/>
            </a:xfrm>
            <a:solidFill>
              <a:schemeClr val="tx2"/>
            </a:solidFill>
          </p:grpSpPr>
          <p:sp>
            <p:nvSpPr>
              <p:cNvPr id="36" name="Line 8"/>
              <p:cNvSpPr>
                <a:spLocks noChangeShapeType="1"/>
              </p:cNvSpPr>
              <p:nvPr/>
            </p:nvSpPr>
            <p:spPr bwMode="white">
              <a:xfrm>
                <a:off x="3771106" y="3063875"/>
                <a:ext cx="0" cy="14910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7" name="Line 10"/>
              <p:cNvSpPr>
                <a:spLocks noChangeShapeType="1"/>
              </p:cNvSpPr>
              <p:nvPr/>
            </p:nvSpPr>
            <p:spPr bwMode="white">
              <a:xfrm>
                <a:off x="2491681" y="3208775"/>
                <a:ext cx="2570857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8" name="Line 8"/>
              <p:cNvSpPr>
                <a:spLocks noChangeShapeType="1"/>
              </p:cNvSpPr>
              <p:nvPr/>
            </p:nvSpPr>
            <p:spPr bwMode="white">
              <a:xfrm>
                <a:off x="5062538" y="3208775"/>
                <a:ext cx="0" cy="17977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39" name="Line 8"/>
              <p:cNvSpPr>
                <a:spLocks noChangeShapeType="1"/>
              </p:cNvSpPr>
              <p:nvPr/>
            </p:nvSpPr>
            <p:spPr bwMode="white">
              <a:xfrm>
                <a:off x="2490788" y="3209542"/>
                <a:ext cx="0" cy="17977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40" name="Line 8"/>
              <p:cNvSpPr>
                <a:spLocks noChangeShapeType="1"/>
              </p:cNvSpPr>
              <p:nvPr/>
            </p:nvSpPr>
            <p:spPr bwMode="white">
              <a:xfrm flipH="1">
                <a:off x="3768692" y="3212976"/>
                <a:ext cx="0" cy="18000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sp>
          <p:nvSpPr>
            <p:cNvPr id="41" name="Rectangle 5"/>
            <p:cNvSpPr>
              <a:spLocks noChangeArrowheads="1"/>
            </p:cNvSpPr>
            <p:nvPr/>
          </p:nvSpPr>
          <p:spPr bwMode="white">
            <a:xfrm>
              <a:off x="693738" y="4379913"/>
              <a:ext cx="1114425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Shelf Storage</a:t>
              </a:r>
            </a:p>
          </p:txBody>
        </p:sp>
        <p:sp>
          <p:nvSpPr>
            <p:cNvPr id="42" name="Rectangle 5"/>
            <p:cNvSpPr>
              <a:spLocks noChangeArrowheads="1"/>
            </p:cNvSpPr>
            <p:nvPr/>
          </p:nvSpPr>
          <p:spPr bwMode="white">
            <a:xfrm>
              <a:off x="3240088" y="4379913"/>
              <a:ext cx="1033462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Pallet Storage</a:t>
              </a:r>
            </a:p>
          </p:txBody>
        </p:sp>
        <p:sp>
          <p:nvSpPr>
            <p:cNvPr id="43" name="Rectangle 5"/>
            <p:cNvSpPr>
              <a:spLocks noChangeArrowheads="1"/>
            </p:cNvSpPr>
            <p:nvPr/>
          </p:nvSpPr>
          <p:spPr bwMode="white">
            <a:xfrm>
              <a:off x="1982788" y="4379913"/>
              <a:ext cx="1057275" cy="401637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GR Area Ext. </a:t>
              </a:r>
            </a:p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Receipts</a:t>
              </a:r>
            </a:p>
          </p:txBody>
        </p:sp>
        <p:sp>
          <p:nvSpPr>
            <p:cNvPr id="44" name="Rectangle 5"/>
            <p:cNvSpPr>
              <a:spLocks noChangeArrowheads="1"/>
            </p:cNvSpPr>
            <p:nvPr/>
          </p:nvSpPr>
          <p:spPr bwMode="white">
            <a:xfrm>
              <a:off x="5791200" y="4383088"/>
              <a:ext cx="1182688" cy="401637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Stock Transfers </a:t>
              </a:r>
            </a:p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(Plant)</a:t>
              </a:r>
            </a:p>
          </p:txBody>
        </p:sp>
        <p:sp>
          <p:nvSpPr>
            <p:cNvPr id="45" name="Rectangle 5"/>
            <p:cNvSpPr>
              <a:spLocks noChangeArrowheads="1"/>
            </p:cNvSpPr>
            <p:nvPr/>
          </p:nvSpPr>
          <p:spPr bwMode="white">
            <a:xfrm>
              <a:off x="4518025" y="4379913"/>
              <a:ext cx="1039813" cy="401637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Shipping area</a:t>
              </a:r>
            </a:p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Deliveries</a:t>
              </a:r>
            </a:p>
          </p:txBody>
        </p:sp>
        <p:grpSp>
          <p:nvGrpSpPr>
            <p:cNvPr id="46" name="Gruppieren 45"/>
            <p:cNvGrpSpPr>
              <a:grpSpLocks/>
            </p:cNvGrpSpPr>
            <p:nvPr/>
          </p:nvGrpSpPr>
          <p:grpSpPr bwMode="auto">
            <a:xfrm>
              <a:off x="1222375" y="4224338"/>
              <a:ext cx="5160963" cy="155575"/>
              <a:chOff x="1222375" y="4223893"/>
              <a:chExt cx="5160169" cy="156020"/>
            </a:xfrm>
            <a:solidFill>
              <a:schemeClr val="tx2"/>
            </a:solidFill>
          </p:grpSpPr>
          <p:sp>
            <p:nvSpPr>
              <p:cNvPr id="47" name="Line 8"/>
              <p:cNvSpPr>
                <a:spLocks noChangeShapeType="1"/>
              </p:cNvSpPr>
              <p:nvPr/>
            </p:nvSpPr>
            <p:spPr bwMode="white">
              <a:xfrm>
                <a:off x="3763118" y="4223893"/>
                <a:ext cx="0" cy="15120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48" name="Line 8"/>
              <p:cNvSpPr>
                <a:spLocks noChangeShapeType="1"/>
              </p:cNvSpPr>
              <p:nvPr/>
            </p:nvSpPr>
            <p:spPr bwMode="white">
              <a:xfrm flipH="1">
                <a:off x="6381750" y="4293732"/>
                <a:ext cx="0" cy="8120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49" name="Line 8"/>
              <p:cNvSpPr>
                <a:spLocks noChangeShapeType="1"/>
              </p:cNvSpPr>
              <p:nvPr/>
            </p:nvSpPr>
            <p:spPr bwMode="white">
              <a:xfrm>
                <a:off x="1225550" y="4296460"/>
                <a:ext cx="1" cy="7847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50" name="Line 10"/>
              <p:cNvSpPr>
                <a:spLocks noChangeShapeType="1"/>
              </p:cNvSpPr>
              <p:nvPr/>
            </p:nvSpPr>
            <p:spPr bwMode="white">
              <a:xfrm flipV="1">
                <a:off x="1222375" y="4298711"/>
                <a:ext cx="5160169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51" name="Line 8"/>
              <p:cNvSpPr>
                <a:spLocks noChangeShapeType="1"/>
              </p:cNvSpPr>
              <p:nvPr/>
            </p:nvSpPr>
            <p:spPr bwMode="white">
              <a:xfrm>
                <a:off x="2500808" y="4298712"/>
                <a:ext cx="1" cy="7847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52" name="Line 8"/>
              <p:cNvSpPr>
                <a:spLocks noChangeShapeType="1"/>
              </p:cNvSpPr>
              <p:nvPr/>
            </p:nvSpPr>
            <p:spPr bwMode="white">
              <a:xfrm flipH="1">
                <a:off x="5051323" y="4298712"/>
                <a:ext cx="0" cy="8120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de-DE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cxnSp>
          <p:nvCxnSpPr>
            <p:cNvPr id="53" name="Gerade Verbindung 8"/>
            <p:cNvCxnSpPr>
              <a:cxnSpLocks noChangeShapeType="1"/>
              <a:stCxn id="55" idx="1"/>
              <a:endCxn id="23" idx="0"/>
            </p:cNvCxnSpPr>
            <p:nvPr/>
          </p:nvCxnSpPr>
          <p:spPr bwMode="auto">
            <a:xfrm>
              <a:off x="5038725" y="5330825"/>
              <a:ext cx="1001713" cy="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4" name="Line 8"/>
            <p:cNvSpPr>
              <a:spLocks noChangeShapeType="1"/>
            </p:cNvSpPr>
            <p:nvPr/>
          </p:nvSpPr>
          <p:spPr bwMode="white">
            <a:xfrm>
              <a:off x="3763963" y="5180013"/>
              <a:ext cx="3175" cy="149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5" name="Line 10"/>
            <p:cNvSpPr>
              <a:spLocks noChangeShapeType="1"/>
            </p:cNvSpPr>
            <p:nvPr/>
          </p:nvSpPr>
          <p:spPr bwMode="white">
            <a:xfrm>
              <a:off x="1223963" y="5329238"/>
              <a:ext cx="3814762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6" name="Line 8"/>
            <p:cNvSpPr>
              <a:spLocks noChangeShapeType="1"/>
            </p:cNvSpPr>
            <p:nvPr/>
          </p:nvSpPr>
          <p:spPr bwMode="white">
            <a:xfrm>
              <a:off x="6432550" y="5334000"/>
              <a:ext cx="0" cy="180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7" name="Line 8"/>
            <p:cNvSpPr>
              <a:spLocks noChangeShapeType="1"/>
            </p:cNvSpPr>
            <p:nvPr/>
          </p:nvSpPr>
          <p:spPr bwMode="white">
            <a:xfrm>
              <a:off x="1222375" y="5330825"/>
              <a:ext cx="0" cy="179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8" name="Line 8"/>
            <p:cNvSpPr>
              <a:spLocks noChangeShapeType="1"/>
            </p:cNvSpPr>
            <p:nvPr/>
          </p:nvSpPr>
          <p:spPr bwMode="white">
            <a:xfrm>
              <a:off x="3059113" y="5329238"/>
              <a:ext cx="0" cy="180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9" name="Rectangle 5"/>
            <p:cNvSpPr>
              <a:spLocks noChangeArrowheads="1"/>
            </p:cNvSpPr>
            <p:nvPr/>
          </p:nvSpPr>
          <p:spPr bwMode="white">
            <a:xfrm>
              <a:off x="2608263" y="5513388"/>
              <a:ext cx="900112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STBN-2-001</a:t>
              </a:r>
            </a:p>
          </p:txBody>
        </p:sp>
        <p:sp>
          <p:nvSpPr>
            <p:cNvPr id="60" name="Rectangle 5"/>
            <p:cNvSpPr>
              <a:spLocks noChangeArrowheads="1"/>
            </p:cNvSpPr>
            <p:nvPr/>
          </p:nvSpPr>
          <p:spPr bwMode="white">
            <a:xfrm>
              <a:off x="5976938" y="5513388"/>
              <a:ext cx="898525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STBN-2-999</a:t>
              </a:r>
            </a:p>
          </p:txBody>
        </p:sp>
        <p:sp>
          <p:nvSpPr>
            <p:cNvPr id="61" name="Rectangle 5"/>
            <p:cNvSpPr>
              <a:spLocks noChangeArrowheads="1"/>
            </p:cNvSpPr>
            <p:nvPr/>
          </p:nvSpPr>
          <p:spPr bwMode="white">
            <a:xfrm>
              <a:off x="7394575" y="4364038"/>
              <a:ext cx="1092200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Storage Type</a:t>
              </a:r>
            </a:p>
          </p:txBody>
        </p:sp>
        <p:sp>
          <p:nvSpPr>
            <p:cNvPr id="62" name="Rectangle 5"/>
            <p:cNvSpPr>
              <a:spLocks noChangeArrowheads="1"/>
            </p:cNvSpPr>
            <p:nvPr/>
          </p:nvSpPr>
          <p:spPr bwMode="white">
            <a:xfrm>
              <a:off x="7213600" y="4914900"/>
              <a:ext cx="127317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Storage Section</a:t>
              </a:r>
            </a:p>
          </p:txBody>
        </p:sp>
        <p:sp>
          <p:nvSpPr>
            <p:cNvPr id="63" name="Rectangle 5"/>
            <p:cNvSpPr>
              <a:spLocks noChangeArrowheads="1"/>
            </p:cNvSpPr>
            <p:nvPr/>
          </p:nvSpPr>
          <p:spPr bwMode="white">
            <a:xfrm>
              <a:off x="7504113" y="5497513"/>
              <a:ext cx="982662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Storage Bin</a:t>
              </a:r>
            </a:p>
          </p:txBody>
        </p:sp>
        <p:sp>
          <p:nvSpPr>
            <p:cNvPr id="64" name="Rectangle 5"/>
            <p:cNvSpPr>
              <a:spLocks noChangeArrowheads="1"/>
            </p:cNvSpPr>
            <p:nvPr/>
          </p:nvSpPr>
          <p:spPr bwMode="white">
            <a:xfrm>
              <a:off x="4530725" y="3387725"/>
              <a:ext cx="1052513" cy="2476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Miscellaneous</a:t>
              </a:r>
            </a:p>
          </p:txBody>
        </p:sp>
      </p:grpSp>
      <p:cxnSp>
        <p:nvCxnSpPr>
          <p:cNvPr id="66" name="Gerade Verbindung 64"/>
          <p:cNvCxnSpPr>
            <a:cxnSpLocks noChangeShapeType="1"/>
          </p:cNvCxnSpPr>
          <p:nvPr/>
        </p:nvCxnSpPr>
        <p:spPr bwMode="auto">
          <a:xfrm>
            <a:off x="1408935" y="5437521"/>
            <a:ext cx="8207375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463616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Global Bike Enterprise Structure in SAP ERP (Logistics)</a:t>
            </a:r>
            <a:endParaRPr lang="de-DE" dirty="0"/>
          </a:p>
        </p:txBody>
      </p:sp>
      <p:grpSp>
        <p:nvGrpSpPr>
          <p:cNvPr id="78" name="Gruppieren 77"/>
          <p:cNvGrpSpPr/>
          <p:nvPr/>
        </p:nvGrpSpPr>
        <p:grpSpPr>
          <a:xfrm>
            <a:off x="1638900" y="1399487"/>
            <a:ext cx="8915400" cy="4979410"/>
            <a:chOff x="76200" y="1219200"/>
            <a:chExt cx="8915400" cy="4979410"/>
          </a:xfrm>
        </p:grpSpPr>
        <p:sp>
          <p:nvSpPr>
            <p:cNvPr id="4" name="AutoShape 16"/>
            <p:cNvSpPr>
              <a:spLocks noChangeArrowheads="1"/>
            </p:cNvSpPr>
            <p:nvPr/>
          </p:nvSpPr>
          <p:spPr bwMode="auto">
            <a:xfrm>
              <a:off x="76200" y="1219200"/>
              <a:ext cx="8915400" cy="4953000"/>
            </a:xfrm>
            <a:prstGeom prst="parallelogram">
              <a:avLst>
                <a:gd name="adj" fmla="val 45000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5" name="Text Box 17"/>
            <p:cNvSpPr txBox="1">
              <a:spLocks noChangeArrowheads="1"/>
            </p:cNvSpPr>
            <p:nvPr/>
          </p:nvSpPr>
          <p:spPr bwMode="auto">
            <a:xfrm>
              <a:off x="179388" y="5857875"/>
              <a:ext cx="2090738" cy="340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 dirty="0"/>
                <a:t>Client Global Bike</a:t>
              </a:r>
            </a:p>
          </p:txBody>
        </p:sp>
        <p:sp>
          <p:nvSpPr>
            <p:cNvPr id="6" name="AutoShape 19"/>
            <p:cNvSpPr>
              <a:spLocks noChangeArrowheads="1"/>
            </p:cNvSpPr>
            <p:nvPr/>
          </p:nvSpPr>
          <p:spPr bwMode="auto">
            <a:xfrm>
              <a:off x="304800" y="1268413"/>
              <a:ext cx="4267200" cy="4572000"/>
            </a:xfrm>
            <a:prstGeom prst="parallelogram">
              <a:avLst>
                <a:gd name="adj" fmla="val 47731"/>
              </a:avLst>
            </a:prstGeom>
            <a:gradFill rotWithShape="1">
              <a:gsLst>
                <a:gs pos="0">
                  <a:srgbClr val="99FF66">
                    <a:alpha val="89998"/>
                  </a:srgbClr>
                </a:gs>
                <a:gs pos="100000">
                  <a:srgbClr val="47762F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9FF66"/>
              </a:extrusionClr>
              <a:contourClr>
                <a:srgbClr val="99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293688" y="5557838"/>
              <a:ext cx="1254125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 CC US00</a:t>
              </a:r>
            </a:p>
          </p:txBody>
        </p:sp>
        <p:sp>
          <p:nvSpPr>
            <p:cNvPr id="8" name="AutoShape 21"/>
            <p:cNvSpPr>
              <a:spLocks noChangeArrowheads="1"/>
            </p:cNvSpPr>
            <p:nvPr/>
          </p:nvSpPr>
          <p:spPr bwMode="auto">
            <a:xfrm>
              <a:off x="523875" y="1341438"/>
              <a:ext cx="2454275" cy="4206875"/>
            </a:xfrm>
            <a:prstGeom prst="parallelogram">
              <a:avLst>
                <a:gd name="adj" fmla="val 75681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9" name="AutoShape 22"/>
            <p:cNvSpPr>
              <a:spLocks noChangeArrowheads="1"/>
            </p:cNvSpPr>
            <p:nvPr/>
          </p:nvSpPr>
          <p:spPr bwMode="auto">
            <a:xfrm>
              <a:off x="2700338" y="1268413"/>
              <a:ext cx="2808287" cy="4572000"/>
            </a:xfrm>
            <a:prstGeom prst="parallelogram">
              <a:avLst>
                <a:gd name="adj" fmla="val 71847"/>
              </a:avLst>
            </a:prstGeom>
            <a:gradFill rotWithShape="1">
              <a:gsLst>
                <a:gs pos="0">
                  <a:srgbClr val="969696">
                    <a:alpha val="89998"/>
                  </a:srgbClr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10" name="AutoShape 23"/>
            <p:cNvSpPr>
              <a:spLocks noChangeArrowheads="1"/>
            </p:cNvSpPr>
            <p:nvPr/>
          </p:nvSpPr>
          <p:spPr bwMode="auto">
            <a:xfrm>
              <a:off x="3995738" y="1296988"/>
              <a:ext cx="3600450" cy="4572000"/>
            </a:xfrm>
            <a:prstGeom prst="parallelogram">
              <a:avLst>
                <a:gd name="adj" fmla="val 57056"/>
              </a:avLst>
            </a:prstGeom>
            <a:gradFill rotWithShape="1">
              <a:gsLst>
                <a:gs pos="0">
                  <a:srgbClr val="99FF66">
                    <a:alpha val="89998"/>
                  </a:srgbClr>
                </a:gs>
                <a:gs pos="100000">
                  <a:srgbClr val="47762F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9FF66"/>
              </a:extrusionClr>
              <a:contourClr>
                <a:srgbClr val="99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11" name="AutoShape 24"/>
            <p:cNvSpPr>
              <a:spLocks noChangeArrowheads="1"/>
            </p:cNvSpPr>
            <p:nvPr/>
          </p:nvSpPr>
          <p:spPr bwMode="auto">
            <a:xfrm>
              <a:off x="4233863" y="1341438"/>
              <a:ext cx="2454275" cy="4206875"/>
            </a:xfrm>
            <a:prstGeom prst="parallelogram">
              <a:avLst>
                <a:gd name="adj" fmla="val 75292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2" name="AutoShape 25"/>
            <p:cNvSpPr>
              <a:spLocks noChangeArrowheads="1"/>
            </p:cNvSpPr>
            <p:nvPr/>
          </p:nvSpPr>
          <p:spPr bwMode="auto">
            <a:xfrm>
              <a:off x="4945063" y="1341438"/>
              <a:ext cx="2454275" cy="4206875"/>
            </a:xfrm>
            <a:prstGeom prst="parallelogram">
              <a:avLst>
                <a:gd name="adj" fmla="val 75292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3" name="AutoShape 26"/>
            <p:cNvSpPr>
              <a:spLocks noChangeArrowheads="1"/>
            </p:cNvSpPr>
            <p:nvPr/>
          </p:nvSpPr>
          <p:spPr bwMode="auto">
            <a:xfrm>
              <a:off x="1258888" y="1341438"/>
              <a:ext cx="2454275" cy="4206875"/>
            </a:xfrm>
            <a:prstGeom prst="parallelogram">
              <a:avLst>
                <a:gd name="adj" fmla="val 75681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4" name="AutoShape 27"/>
            <p:cNvSpPr>
              <a:spLocks noChangeArrowheads="1"/>
            </p:cNvSpPr>
            <p:nvPr/>
          </p:nvSpPr>
          <p:spPr bwMode="auto">
            <a:xfrm>
              <a:off x="1979613" y="1341438"/>
              <a:ext cx="2454275" cy="4206875"/>
            </a:xfrm>
            <a:prstGeom prst="parallelogram">
              <a:avLst>
                <a:gd name="adj" fmla="val 75681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5" name="Text Box 28"/>
            <p:cNvSpPr txBox="1">
              <a:spLocks noChangeArrowheads="1"/>
            </p:cNvSpPr>
            <p:nvPr/>
          </p:nvSpPr>
          <p:spPr bwMode="auto">
            <a:xfrm>
              <a:off x="538163" y="5084763"/>
              <a:ext cx="865187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 </a:t>
              </a:r>
              <a:r>
                <a:rPr lang="en-US" altLang="de-DE">
                  <a:cs typeface="Times New Roman" panose="02020603050405020304" pitchFamily="18" charset="0"/>
                </a:rPr>
                <a:t>Dallas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DL00</a:t>
              </a:r>
            </a:p>
          </p:txBody>
        </p:sp>
        <p:sp>
          <p:nvSpPr>
            <p:cNvPr id="16" name="Text Box 29"/>
            <p:cNvSpPr txBox="1">
              <a:spLocks noChangeArrowheads="1"/>
            </p:cNvSpPr>
            <p:nvPr/>
          </p:nvSpPr>
          <p:spPr bwMode="auto">
            <a:xfrm>
              <a:off x="1258888" y="5084763"/>
              <a:ext cx="865187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 </a:t>
              </a:r>
              <a:r>
                <a:rPr lang="en-US" altLang="de-DE">
                  <a:cs typeface="Times New Roman" panose="02020603050405020304" pitchFamily="18" charset="0"/>
                </a:rPr>
                <a:t>Miami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MI00</a:t>
              </a: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1978025" y="5084763"/>
              <a:ext cx="86518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</a:t>
              </a:r>
              <a:r>
                <a:rPr lang="en-US" altLang="de-DE">
                  <a:cs typeface="Times New Roman" panose="02020603050405020304" pitchFamily="18" charset="0"/>
                </a:rPr>
                <a:t>S. Diego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SD00</a:t>
              </a:r>
            </a:p>
          </p:txBody>
        </p:sp>
        <p:sp>
          <p:nvSpPr>
            <p:cNvPr id="18" name="Text Box 31"/>
            <p:cNvSpPr txBox="1">
              <a:spLocks noChangeArrowheads="1"/>
            </p:cNvSpPr>
            <p:nvPr/>
          </p:nvSpPr>
          <p:spPr bwMode="auto">
            <a:xfrm>
              <a:off x="2670175" y="5557838"/>
              <a:ext cx="1254125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EAEAEA"/>
                  </a:solidFill>
                  <a:cs typeface="Times New Roman" panose="02020603050405020304" pitchFamily="18" charset="0"/>
                </a:rPr>
                <a:t> CA00</a:t>
              </a:r>
            </a:p>
          </p:txBody>
        </p:sp>
        <p:sp>
          <p:nvSpPr>
            <p:cNvPr id="19" name="AutoShape 32"/>
            <p:cNvSpPr>
              <a:spLocks noChangeArrowheads="1"/>
            </p:cNvSpPr>
            <p:nvPr/>
          </p:nvSpPr>
          <p:spPr bwMode="auto">
            <a:xfrm>
              <a:off x="2916238" y="1341438"/>
              <a:ext cx="2454275" cy="4206875"/>
            </a:xfrm>
            <a:prstGeom prst="parallelogram">
              <a:avLst>
                <a:gd name="adj" fmla="val 7529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0" name="Text Box 33"/>
            <p:cNvSpPr txBox="1">
              <a:spLocks noChangeArrowheads="1"/>
            </p:cNvSpPr>
            <p:nvPr/>
          </p:nvSpPr>
          <p:spPr bwMode="auto">
            <a:xfrm>
              <a:off x="2930525" y="5084763"/>
              <a:ext cx="86518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solidFill>
                    <a:srgbClr val="EAEAEA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de-DE">
                  <a:solidFill>
                    <a:srgbClr val="EAEAEA"/>
                  </a:solidFill>
                  <a:cs typeface="Times New Roman" panose="02020603050405020304" pitchFamily="18" charset="0"/>
                </a:rPr>
                <a:t>Toronto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solidFill>
                    <a:srgbClr val="EAEAEA"/>
                  </a:solidFill>
                  <a:cs typeface="Times New Roman" panose="02020603050405020304" pitchFamily="18" charset="0"/>
                </a:rPr>
                <a:t>TO00</a:t>
              </a:r>
            </a:p>
          </p:txBody>
        </p:sp>
        <p:sp>
          <p:nvSpPr>
            <p:cNvPr id="21" name="Text Box 34"/>
            <p:cNvSpPr txBox="1">
              <a:spLocks noChangeArrowheads="1"/>
            </p:cNvSpPr>
            <p:nvPr/>
          </p:nvSpPr>
          <p:spPr bwMode="auto">
            <a:xfrm>
              <a:off x="539750" y="1341438"/>
              <a:ext cx="14478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Shipping Point</a:t>
              </a:r>
            </a:p>
          </p:txBody>
        </p:sp>
        <p:sp>
          <p:nvSpPr>
            <p:cNvPr id="22" name="AutoShape 35"/>
            <p:cNvSpPr>
              <a:spLocks noChangeArrowheads="1"/>
            </p:cNvSpPr>
            <p:nvPr/>
          </p:nvSpPr>
          <p:spPr bwMode="auto">
            <a:xfrm>
              <a:off x="2278063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DL00</a:t>
              </a:r>
            </a:p>
          </p:txBody>
        </p:sp>
        <p:sp>
          <p:nvSpPr>
            <p:cNvPr id="23" name="Text Box 36"/>
            <p:cNvSpPr txBox="1">
              <a:spLocks noChangeArrowheads="1"/>
            </p:cNvSpPr>
            <p:nvPr/>
          </p:nvSpPr>
          <p:spPr bwMode="auto">
            <a:xfrm>
              <a:off x="539750" y="2066925"/>
              <a:ext cx="8175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Storage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Location</a:t>
              </a:r>
            </a:p>
          </p:txBody>
        </p:sp>
        <p:sp>
          <p:nvSpPr>
            <p:cNvPr id="24" name="AutoShape 37"/>
            <p:cNvSpPr>
              <a:spLocks noChangeArrowheads="1"/>
            </p:cNvSpPr>
            <p:nvPr/>
          </p:nvSpPr>
          <p:spPr bwMode="auto">
            <a:xfrm>
              <a:off x="2097088" y="1844675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RM00</a:t>
              </a:r>
            </a:p>
          </p:txBody>
        </p:sp>
        <p:sp>
          <p:nvSpPr>
            <p:cNvPr id="25" name="AutoShape 38"/>
            <p:cNvSpPr>
              <a:spLocks noChangeArrowheads="1"/>
            </p:cNvSpPr>
            <p:nvPr/>
          </p:nvSpPr>
          <p:spPr bwMode="auto">
            <a:xfrm>
              <a:off x="2987675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26" name="AutoShape 39"/>
            <p:cNvSpPr>
              <a:spLocks noChangeArrowheads="1"/>
            </p:cNvSpPr>
            <p:nvPr/>
          </p:nvSpPr>
          <p:spPr bwMode="auto">
            <a:xfrm>
              <a:off x="3708400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SD00</a:t>
              </a:r>
            </a:p>
          </p:txBody>
        </p:sp>
        <p:sp>
          <p:nvSpPr>
            <p:cNvPr id="27" name="AutoShape 40"/>
            <p:cNvSpPr>
              <a:spLocks noChangeArrowheads="1"/>
            </p:cNvSpPr>
            <p:nvPr/>
          </p:nvSpPr>
          <p:spPr bwMode="auto">
            <a:xfrm>
              <a:off x="5973763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HD00</a:t>
              </a:r>
            </a:p>
          </p:txBody>
        </p:sp>
        <p:sp>
          <p:nvSpPr>
            <p:cNvPr id="28" name="AutoShape 41"/>
            <p:cNvSpPr>
              <a:spLocks noChangeArrowheads="1"/>
            </p:cNvSpPr>
            <p:nvPr/>
          </p:nvSpPr>
          <p:spPr bwMode="auto">
            <a:xfrm>
              <a:off x="6689725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HH00</a:t>
              </a:r>
            </a:p>
          </p:txBody>
        </p:sp>
        <p:sp>
          <p:nvSpPr>
            <p:cNvPr id="29" name="AutoShape 42"/>
            <p:cNvSpPr>
              <a:spLocks noChangeArrowheads="1"/>
            </p:cNvSpPr>
            <p:nvPr/>
          </p:nvSpPr>
          <p:spPr bwMode="auto">
            <a:xfrm>
              <a:off x="6042025" y="1271588"/>
              <a:ext cx="2808288" cy="4572000"/>
            </a:xfrm>
            <a:prstGeom prst="parallelogram">
              <a:avLst>
                <a:gd name="adj" fmla="val 71847"/>
              </a:avLst>
            </a:prstGeom>
            <a:gradFill rotWithShape="1">
              <a:gsLst>
                <a:gs pos="0">
                  <a:srgbClr val="969696">
                    <a:alpha val="89998"/>
                  </a:srgbClr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30" name="Text Box 43"/>
            <p:cNvSpPr txBox="1">
              <a:spLocks noChangeArrowheads="1"/>
            </p:cNvSpPr>
            <p:nvPr/>
          </p:nvSpPr>
          <p:spPr bwMode="auto">
            <a:xfrm>
              <a:off x="6011863" y="5589588"/>
              <a:ext cx="1254125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EAEAEA"/>
                  </a:solidFill>
                  <a:cs typeface="Times New Roman" panose="02020603050405020304" pitchFamily="18" charset="0"/>
                </a:rPr>
                <a:t> AU00</a:t>
              </a:r>
            </a:p>
          </p:txBody>
        </p:sp>
        <p:sp>
          <p:nvSpPr>
            <p:cNvPr id="31" name="AutoShape 44"/>
            <p:cNvSpPr>
              <a:spLocks noChangeArrowheads="1"/>
            </p:cNvSpPr>
            <p:nvPr/>
          </p:nvSpPr>
          <p:spPr bwMode="auto">
            <a:xfrm>
              <a:off x="6257925" y="1344613"/>
              <a:ext cx="2454275" cy="4206875"/>
            </a:xfrm>
            <a:prstGeom prst="parallelogram">
              <a:avLst>
                <a:gd name="adj" fmla="val 7529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2" name="Text Box 45"/>
            <p:cNvSpPr txBox="1">
              <a:spLocks noChangeArrowheads="1"/>
            </p:cNvSpPr>
            <p:nvPr/>
          </p:nvSpPr>
          <p:spPr bwMode="auto">
            <a:xfrm>
              <a:off x="6272213" y="5087938"/>
              <a:ext cx="865187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solidFill>
                    <a:srgbClr val="EAEAEA"/>
                  </a:solidFill>
                  <a:cs typeface="Times New Roman" panose="02020603050405020304" pitchFamily="18" charset="0"/>
                </a:rPr>
                <a:t>  </a:t>
              </a:r>
              <a:r>
                <a:rPr lang="en-US" altLang="de-DE">
                  <a:solidFill>
                    <a:srgbClr val="EAEAEA"/>
                  </a:solidFill>
                  <a:cs typeface="Times New Roman" panose="02020603050405020304" pitchFamily="18" charset="0"/>
                </a:rPr>
                <a:t>Perth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solidFill>
                    <a:srgbClr val="EAEAEA"/>
                  </a:solidFill>
                  <a:cs typeface="Times New Roman" panose="02020603050405020304" pitchFamily="18" charset="0"/>
                </a:rPr>
                <a:t>PE00</a:t>
              </a:r>
            </a:p>
          </p:txBody>
        </p:sp>
        <p:sp>
          <p:nvSpPr>
            <p:cNvPr id="33" name="AutoShape 46"/>
            <p:cNvSpPr>
              <a:spLocks noChangeArrowheads="1"/>
            </p:cNvSpPr>
            <p:nvPr/>
          </p:nvSpPr>
          <p:spPr bwMode="auto">
            <a:xfrm>
              <a:off x="495300" y="3068638"/>
              <a:ext cx="7964488" cy="1579562"/>
            </a:xfrm>
            <a:prstGeom prst="parallelogram">
              <a:avLst>
                <a:gd name="adj" fmla="val 46524"/>
              </a:avLst>
            </a:prstGeom>
            <a:gradFill rotWithShape="0">
              <a:gsLst>
                <a:gs pos="0">
                  <a:srgbClr val="1F8AFF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1F8AFF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4" name="Text Box 47"/>
            <p:cNvSpPr txBox="1">
              <a:spLocks noChangeArrowheads="1"/>
            </p:cNvSpPr>
            <p:nvPr/>
          </p:nvSpPr>
          <p:spPr bwMode="auto">
            <a:xfrm>
              <a:off x="2411413" y="3068638"/>
              <a:ext cx="4883150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/>
                <a:t>Central Purchasing Organization (global) GL00</a:t>
              </a:r>
              <a:endParaRPr lang="en-US" altLang="de-DE" sz="1600">
                <a:cs typeface="Times New Roman" panose="02020603050405020304" pitchFamily="18" charset="0"/>
              </a:endParaRPr>
            </a:p>
          </p:txBody>
        </p:sp>
        <p:sp>
          <p:nvSpPr>
            <p:cNvPr id="35" name="AutoShape 48"/>
            <p:cNvSpPr>
              <a:spLocks noChangeArrowheads="1"/>
            </p:cNvSpPr>
            <p:nvPr/>
          </p:nvSpPr>
          <p:spPr bwMode="auto">
            <a:xfrm>
              <a:off x="900113" y="3429000"/>
              <a:ext cx="2663825" cy="1143000"/>
            </a:xfrm>
            <a:prstGeom prst="parallelogram">
              <a:avLst>
                <a:gd name="adj" fmla="val 46665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6" name="Text Box 49"/>
            <p:cNvSpPr txBox="1">
              <a:spLocks noChangeArrowheads="1"/>
            </p:cNvSpPr>
            <p:nvPr/>
          </p:nvSpPr>
          <p:spPr bwMode="auto">
            <a:xfrm>
              <a:off x="1392238" y="3429000"/>
              <a:ext cx="281940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Purchasing Org. US00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37" name="AutoShape 50"/>
            <p:cNvSpPr>
              <a:spLocks noChangeArrowheads="1"/>
            </p:cNvSpPr>
            <p:nvPr/>
          </p:nvSpPr>
          <p:spPr bwMode="auto">
            <a:xfrm>
              <a:off x="4572000" y="3429000"/>
              <a:ext cx="2016125" cy="1143000"/>
            </a:xfrm>
            <a:prstGeom prst="parallelogram">
              <a:avLst>
                <a:gd name="adj" fmla="val 45975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8" name="Text Box 51"/>
            <p:cNvSpPr txBox="1">
              <a:spLocks noChangeArrowheads="1"/>
            </p:cNvSpPr>
            <p:nvPr/>
          </p:nvSpPr>
          <p:spPr bwMode="auto">
            <a:xfrm>
              <a:off x="3995738" y="5589588"/>
              <a:ext cx="1254125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 CC DE00</a:t>
              </a:r>
            </a:p>
          </p:txBody>
        </p:sp>
        <p:sp>
          <p:nvSpPr>
            <p:cNvPr id="39" name="Text Box 52"/>
            <p:cNvSpPr txBox="1">
              <a:spLocks noChangeArrowheads="1"/>
            </p:cNvSpPr>
            <p:nvPr/>
          </p:nvSpPr>
          <p:spPr bwMode="auto">
            <a:xfrm>
              <a:off x="4211638" y="5084763"/>
              <a:ext cx="865187" cy="427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 </a:t>
              </a:r>
              <a:r>
                <a:rPr lang="en-US" altLang="de-DE" sz="1100">
                  <a:cs typeface="Times New Roman" panose="02020603050405020304" pitchFamily="18" charset="0"/>
                </a:rPr>
                <a:t>Heidelb.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HD00</a:t>
              </a:r>
            </a:p>
          </p:txBody>
        </p:sp>
        <p:sp>
          <p:nvSpPr>
            <p:cNvPr id="40" name="Text Box 53"/>
            <p:cNvSpPr txBox="1">
              <a:spLocks noChangeArrowheads="1"/>
            </p:cNvSpPr>
            <p:nvPr/>
          </p:nvSpPr>
          <p:spPr bwMode="auto">
            <a:xfrm>
              <a:off x="4932363" y="5084763"/>
              <a:ext cx="865187" cy="427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</a:t>
              </a:r>
              <a:r>
                <a:rPr lang="en-US" altLang="de-DE" sz="1100">
                  <a:cs typeface="Times New Roman" panose="02020603050405020304" pitchFamily="18" charset="0"/>
                </a:rPr>
                <a:t>Hamburg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HH00</a:t>
              </a:r>
            </a:p>
          </p:txBody>
        </p:sp>
        <p:sp>
          <p:nvSpPr>
            <p:cNvPr id="41" name="AutoShape 54"/>
            <p:cNvSpPr>
              <a:spLocks noChangeArrowheads="1"/>
            </p:cNvSpPr>
            <p:nvPr/>
          </p:nvSpPr>
          <p:spPr bwMode="auto">
            <a:xfrm>
              <a:off x="1971675" y="213360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SF00</a:t>
              </a:r>
            </a:p>
          </p:txBody>
        </p:sp>
        <p:sp>
          <p:nvSpPr>
            <p:cNvPr id="42" name="AutoShape 55"/>
            <p:cNvSpPr>
              <a:spLocks noChangeArrowheads="1"/>
            </p:cNvSpPr>
            <p:nvPr/>
          </p:nvSpPr>
          <p:spPr bwMode="auto">
            <a:xfrm>
              <a:off x="1844675" y="242093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43" name="AutoShape 56"/>
            <p:cNvSpPr>
              <a:spLocks noChangeArrowheads="1"/>
            </p:cNvSpPr>
            <p:nvPr/>
          </p:nvSpPr>
          <p:spPr bwMode="auto">
            <a:xfrm>
              <a:off x="1716088" y="2708275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44" name="AutoShape 57"/>
            <p:cNvSpPr>
              <a:spLocks noChangeArrowheads="1"/>
            </p:cNvSpPr>
            <p:nvPr/>
          </p:nvSpPr>
          <p:spPr bwMode="auto">
            <a:xfrm>
              <a:off x="2835275" y="1846263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TG00</a:t>
              </a:r>
            </a:p>
          </p:txBody>
        </p:sp>
        <p:sp>
          <p:nvSpPr>
            <p:cNvPr id="45" name="AutoShape 58"/>
            <p:cNvSpPr>
              <a:spLocks noChangeArrowheads="1"/>
            </p:cNvSpPr>
            <p:nvPr/>
          </p:nvSpPr>
          <p:spPr bwMode="auto">
            <a:xfrm>
              <a:off x="2708275" y="213360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46" name="AutoShape 59"/>
            <p:cNvSpPr>
              <a:spLocks noChangeArrowheads="1"/>
            </p:cNvSpPr>
            <p:nvPr/>
          </p:nvSpPr>
          <p:spPr bwMode="auto">
            <a:xfrm>
              <a:off x="2579688" y="242093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47" name="AutoShape 60"/>
            <p:cNvSpPr>
              <a:spLocks noChangeArrowheads="1"/>
            </p:cNvSpPr>
            <p:nvPr/>
          </p:nvSpPr>
          <p:spPr bwMode="auto">
            <a:xfrm>
              <a:off x="3554413" y="1844675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TG00</a:t>
              </a:r>
            </a:p>
          </p:txBody>
        </p:sp>
        <p:sp>
          <p:nvSpPr>
            <p:cNvPr id="48" name="AutoShape 61"/>
            <p:cNvSpPr>
              <a:spLocks noChangeArrowheads="1"/>
            </p:cNvSpPr>
            <p:nvPr/>
          </p:nvSpPr>
          <p:spPr bwMode="auto">
            <a:xfrm>
              <a:off x="3427413" y="2132013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49" name="AutoShape 62"/>
            <p:cNvSpPr>
              <a:spLocks noChangeArrowheads="1"/>
            </p:cNvSpPr>
            <p:nvPr/>
          </p:nvSpPr>
          <p:spPr bwMode="auto">
            <a:xfrm>
              <a:off x="3298825" y="241935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50" name="AutoShape 63"/>
            <p:cNvSpPr>
              <a:spLocks noChangeArrowheads="1"/>
            </p:cNvSpPr>
            <p:nvPr/>
          </p:nvSpPr>
          <p:spPr bwMode="auto">
            <a:xfrm>
              <a:off x="4495800" y="1844675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TG00</a:t>
              </a:r>
            </a:p>
          </p:txBody>
        </p:sp>
        <p:sp>
          <p:nvSpPr>
            <p:cNvPr id="51" name="AutoShape 64"/>
            <p:cNvSpPr>
              <a:spLocks noChangeArrowheads="1"/>
            </p:cNvSpPr>
            <p:nvPr/>
          </p:nvSpPr>
          <p:spPr bwMode="auto">
            <a:xfrm>
              <a:off x="4368800" y="2132013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FG00</a:t>
              </a:r>
            </a:p>
          </p:txBody>
        </p:sp>
        <p:sp>
          <p:nvSpPr>
            <p:cNvPr id="52" name="AutoShape 65"/>
            <p:cNvSpPr>
              <a:spLocks noChangeArrowheads="1"/>
            </p:cNvSpPr>
            <p:nvPr/>
          </p:nvSpPr>
          <p:spPr bwMode="auto">
            <a:xfrm>
              <a:off x="4240213" y="2419350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MI00</a:t>
              </a:r>
            </a:p>
          </p:txBody>
        </p:sp>
        <p:sp>
          <p:nvSpPr>
            <p:cNvPr id="53" name="AutoShape 66"/>
            <p:cNvSpPr>
              <a:spLocks noChangeArrowheads="1"/>
            </p:cNvSpPr>
            <p:nvPr/>
          </p:nvSpPr>
          <p:spPr bwMode="auto">
            <a:xfrm>
              <a:off x="5807075" y="184308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RM00</a:t>
              </a:r>
            </a:p>
          </p:txBody>
        </p:sp>
        <p:sp>
          <p:nvSpPr>
            <p:cNvPr id="54" name="AutoShape 67"/>
            <p:cNvSpPr>
              <a:spLocks noChangeArrowheads="1"/>
            </p:cNvSpPr>
            <p:nvPr/>
          </p:nvSpPr>
          <p:spPr bwMode="auto">
            <a:xfrm>
              <a:off x="5681663" y="2132013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SF00</a:t>
              </a:r>
            </a:p>
          </p:txBody>
        </p:sp>
        <p:sp>
          <p:nvSpPr>
            <p:cNvPr id="55" name="AutoShape 68"/>
            <p:cNvSpPr>
              <a:spLocks noChangeArrowheads="1"/>
            </p:cNvSpPr>
            <p:nvPr/>
          </p:nvSpPr>
          <p:spPr bwMode="auto">
            <a:xfrm>
              <a:off x="5554663" y="241935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56" name="AutoShape 69"/>
            <p:cNvSpPr>
              <a:spLocks noChangeArrowheads="1"/>
            </p:cNvSpPr>
            <p:nvPr/>
          </p:nvSpPr>
          <p:spPr bwMode="auto">
            <a:xfrm>
              <a:off x="5426075" y="270668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57" name="AutoShape 70"/>
            <p:cNvSpPr>
              <a:spLocks noChangeArrowheads="1"/>
            </p:cNvSpPr>
            <p:nvPr/>
          </p:nvSpPr>
          <p:spPr bwMode="auto">
            <a:xfrm>
              <a:off x="6516688" y="1844675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TG00</a:t>
              </a:r>
            </a:p>
          </p:txBody>
        </p:sp>
        <p:sp>
          <p:nvSpPr>
            <p:cNvPr id="58" name="AutoShape 71"/>
            <p:cNvSpPr>
              <a:spLocks noChangeArrowheads="1"/>
            </p:cNvSpPr>
            <p:nvPr/>
          </p:nvSpPr>
          <p:spPr bwMode="auto">
            <a:xfrm>
              <a:off x="6389688" y="2132013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59" name="AutoShape 72"/>
            <p:cNvSpPr>
              <a:spLocks noChangeArrowheads="1"/>
            </p:cNvSpPr>
            <p:nvPr/>
          </p:nvSpPr>
          <p:spPr bwMode="auto">
            <a:xfrm>
              <a:off x="6261100" y="241935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60" name="AutoShape 73"/>
            <p:cNvSpPr>
              <a:spLocks noChangeArrowheads="1"/>
            </p:cNvSpPr>
            <p:nvPr/>
          </p:nvSpPr>
          <p:spPr bwMode="auto">
            <a:xfrm>
              <a:off x="4667250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TO00</a:t>
              </a:r>
            </a:p>
          </p:txBody>
        </p:sp>
        <p:sp>
          <p:nvSpPr>
            <p:cNvPr id="61" name="AutoShape 74"/>
            <p:cNvSpPr>
              <a:spLocks noChangeArrowheads="1"/>
            </p:cNvSpPr>
            <p:nvPr/>
          </p:nvSpPr>
          <p:spPr bwMode="auto">
            <a:xfrm>
              <a:off x="7832725" y="1846263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TG00</a:t>
              </a:r>
            </a:p>
          </p:txBody>
        </p:sp>
        <p:sp>
          <p:nvSpPr>
            <p:cNvPr id="62" name="AutoShape 75"/>
            <p:cNvSpPr>
              <a:spLocks noChangeArrowheads="1"/>
            </p:cNvSpPr>
            <p:nvPr/>
          </p:nvSpPr>
          <p:spPr bwMode="auto">
            <a:xfrm>
              <a:off x="7705725" y="2133600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FG00</a:t>
              </a:r>
            </a:p>
          </p:txBody>
        </p:sp>
        <p:sp>
          <p:nvSpPr>
            <p:cNvPr id="63" name="AutoShape 76"/>
            <p:cNvSpPr>
              <a:spLocks noChangeArrowheads="1"/>
            </p:cNvSpPr>
            <p:nvPr/>
          </p:nvSpPr>
          <p:spPr bwMode="auto">
            <a:xfrm>
              <a:off x="7577138" y="2420938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MI00</a:t>
              </a:r>
            </a:p>
          </p:txBody>
        </p:sp>
        <p:sp>
          <p:nvSpPr>
            <p:cNvPr id="64" name="AutoShape 77"/>
            <p:cNvSpPr>
              <a:spLocks noChangeArrowheads="1"/>
            </p:cNvSpPr>
            <p:nvPr/>
          </p:nvSpPr>
          <p:spPr bwMode="auto">
            <a:xfrm>
              <a:off x="8004175" y="1414463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PE00</a:t>
              </a:r>
            </a:p>
          </p:txBody>
        </p:sp>
        <p:sp>
          <p:nvSpPr>
            <p:cNvPr id="65" name="AutoShape 78"/>
            <p:cNvSpPr>
              <a:spLocks noChangeArrowheads="1"/>
            </p:cNvSpPr>
            <p:nvPr/>
          </p:nvSpPr>
          <p:spPr bwMode="auto">
            <a:xfrm>
              <a:off x="3276600" y="3429000"/>
              <a:ext cx="1223963" cy="1143000"/>
            </a:xfrm>
            <a:prstGeom prst="parallelogram">
              <a:avLst>
                <a:gd name="adj" fmla="val 46527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66" name="Text Box 79"/>
            <p:cNvSpPr txBox="1">
              <a:spLocks noChangeArrowheads="1"/>
            </p:cNvSpPr>
            <p:nvPr/>
          </p:nvSpPr>
          <p:spPr bwMode="auto">
            <a:xfrm>
              <a:off x="3708400" y="3429000"/>
              <a:ext cx="86360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CA00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7" name="AutoShape 80"/>
            <p:cNvSpPr>
              <a:spLocks noChangeArrowheads="1"/>
            </p:cNvSpPr>
            <p:nvPr/>
          </p:nvSpPr>
          <p:spPr bwMode="auto">
            <a:xfrm>
              <a:off x="1096963" y="3789363"/>
              <a:ext cx="3095625" cy="609600"/>
            </a:xfrm>
            <a:prstGeom prst="parallelogram">
              <a:avLst>
                <a:gd name="adj" fmla="val 45303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68" name="Text Box 81"/>
            <p:cNvSpPr txBox="1">
              <a:spLocks noChangeArrowheads="1"/>
            </p:cNvSpPr>
            <p:nvPr/>
          </p:nvSpPr>
          <p:spPr bwMode="auto">
            <a:xfrm>
              <a:off x="1187450" y="3860800"/>
              <a:ext cx="3097213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Purchasing Group North America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                       N00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69" name="Text Box 82"/>
            <p:cNvSpPr txBox="1">
              <a:spLocks noChangeArrowheads="1"/>
            </p:cNvSpPr>
            <p:nvPr/>
          </p:nvSpPr>
          <p:spPr bwMode="auto">
            <a:xfrm>
              <a:off x="5292725" y="3429000"/>
              <a:ext cx="1008063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PO DE00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70" name="AutoShape 83"/>
            <p:cNvSpPr>
              <a:spLocks noChangeArrowheads="1"/>
            </p:cNvSpPr>
            <p:nvPr/>
          </p:nvSpPr>
          <p:spPr bwMode="auto">
            <a:xfrm>
              <a:off x="4716463" y="3789363"/>
              <a:ext cx="1584325" cy="609600"/>
            </a:xfrm>
            <a:prstGeom prst="parallelogram">
              <a:avLst>
                <a:gd name="adj" fmla="val 47094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71" name="Text Box 84"/>
            <p:cNvSpPr txBox="1">
              <a:spLocks noChangeArrowheads="1"/>
            </p:cNvSpPr>
            <p:nvPr/>
          </p:nvSpPr>
          <p:spPr bwMode="auto">
            <a:xfrm>
              <a:off x="4716463" y="3860800"/>
              <a:ext cx="1511300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     PGr Europe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        E00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72" name="AutoShape 85"/>
            <p:cNvSpPr>
              <a:spLocks noChangeArrowheads="1"/>
            </p:cNvSpPr>
            <p:nvPr/>
          </p:nvSpPr>
          <p:spPr bwMode="auto">
            <a:xfrm>
              <a:off x="6588125" y="3429000"/>
              <a:ext cx="1223963" cy="1143000"/>
            </a:xfrm>
            <a:prstGeom prst="parallelogram">
              <a:avLst>
                <a:gd name="adj" fmla="val 46527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73" name="Text Box 86"/>
            <p:cNvSpPr txBox="1">
              <a:spLocks noChangeArrowheads="1"/>
            </p:cNvSpPr>
            <p:nvPr/>
          </p:nvSpPr>
          <p:spPr bwMode="auto">
            <a:xfrm>
              <a:off x="7019925" y="3429000"/>
              <a:ext cx="86360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 AU00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4" name="AutoShape 87"/>
            <p:cNvSpPr>
              <a:spLocks noChangeArrowheads="1"/>
            </p:cNvSpPr>
            <p:nvPr/>
          </p:nvSpPr>
          <p:spPr bwMode="auto">
            <a:xfrm>
              <a:off x="6732588" y="3860800"/>
              <a:ext cx="792162" cy="609600"/>
            </a:xfrm>
            <a:prstGeom prst="parallelogram">
              <a:avLst>
                <a:gd name="adj" fmla="val 45313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75" name="Text Box 88"/>
            <p:cNvSpPr txBox="1">
              <a:spLocks noChangeArrowheads="1"/>
            </p:cNvSpPr>
            <p:nvPr/>
          </p:nvSpPr>
          <p:spPr bwMode="auto">
            <a:xfrm>
              <a:off x="6805613" y="3860800"/>
              <a:ext cx="719137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  Asia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A00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" name="Text Box 89"/>
            <p:cNvSpPr txBox="1">
              <a:spLocks noChangeArrowheads="1"/>
            </p:cNvSpPr>
            <p:nvPr/>
          </p:nvSpPr>
          <p:spPr bwMode="auto">
            <a:xfrm>
              <a:off x="8050213" y="5084763"/>
              <a:ext cx="5540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Plant</a:t>
              </a:r>
            </a:p>
          </p:txBody>
        </p:sp>
        <p:sp>
          <p:nvSpPr>
            <p:cNvPr id="77" name="Text Box 90"/>
            <p:cNvSpPr txBox="1">
              <a:spLocks noChangeArrowheads="1"/>
            </p:cNvSpPr>
            <p:nvPr/>
          </p:nvSpPr>
          <p:spPr bwMode="auto">
            <a:xfrm>
              <a:off x="7305675" y="5589588"/>
              <a:ext cx="1298575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Company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2764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  <a:latin typeface="Arial" panose="020B0604020202020204" pitchFamily="34" charset="0"/>
              </a:rPr>
              <a:t>WM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WM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  <a:latin typeface="Arial" panose="020B0604020202020204" pitchFamily="34" charset="0"/>
              </a:rPr>
              <a:t>WM Process Management and Control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3731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WM Master Data</a:t>
            </a:r>
            <a:endParaRPr lang="de-DE" dirty="0"/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7214993" y="2148787"/>
            <a:ext cx="2743200" cy="533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de-DE" altLang="de-DE" sz="1800" b="1" dirty="0">
                <a:latin typeface="Arial" panose="020B0604020202020204" pitchFamily="34" charset="0"/>
              </a:rPr>
              <a:t>Storage Bin Master Data</a:t>
            </a: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7214993" y="2910787"/>
            <a:ext cx="2743200" cy="533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de-DE" altLang="de-DE" sz="1800" b="1">
                <a:latin typeface="Arial" panose="020B0604020202020204" pitchFamily="34" charset="0"/>
              </a:rPr>
              <a:t>Material Master Data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7214993" y="3672787"/>
            <a:ext cx="2743200" cy="533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de-DE" sz="1800" b="1">
                <a:latin typeface="Arial" panose="020B0604020202020204" pitchFamily="34" charset="0"/>
              </a:rPr>
              <a:t>Hazard</a:t>
            </a:r>
            <a:r>
              <a:rPr lang="de-DE" altLang="de-DE" sz="1800" b="1">
                <a:latin typeface="Arial" panose="020B0604020202020204" pitchFamily="34" charset="0"/>
              </a:rPr>
              <a:t> Master Data</a:t>
            </a:r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auto">
          <a:xfrm>
            <a:off x="7214993" y="4434787"/>
            <a:ext cx="2743200" cy="533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de-DE" altLang="de-DE" sz="1800" b="1" dirty="0">
                <a:latin typeface="Arial" panose="020B0604020202020204" pitchFamily="34" charset="0"/>
              </a:rPr>
              <a:t>Batch Master Data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922" y="1341748"/>
            <a:ext cx="4805241" cy="507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85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Storage Bin Master </a:t>
            </a:r>
            <a:r>
              <a:rPr lang="de-DE" altLang="de-DE" dirty="0" smtClean="0">
                <a:latin typeface="Arial" panose="020B0604020202020204" pitchFamily="34" charset="0"/>
              </a:rPr>
              <a:t>Data</a:t>
            </a:r>
          </a:p>
          <a:p>
            <a:pPr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Two different organizational levels</a:t>
            </a:r>
          </a:p>
          <a:p>
            <a:pPr lvl="2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Warehouse Level:</a:t>
            </a:r>
            <a:br>
              <a:rPr lang="en-US" altLang="de-DE" dirty="0">
                <a:latin typeface="Arial" panose="020B0604020202020204" pitchFamily="34" charset="0"/>
              </a:rPr>
            </a:br>
            <a:r>
              <a:rPr lang="en-US" altLang="de-DE" dirty="0">
                <a:latin typeface="Arial" panose="020B0604020202020204" pitchFamily="34" charset="0"/>
              </a:rPr>
              <a:t>All indicators and fields which are valid for the whole warehouse</a:t>
            </a:r>
          </a:p>
          <a:p>
            <a:pPr lvl="2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Storage Type Level: </a:t>
            </a:r>
            <a:r>
              <a:rPr lang="de-DE" altLang="de-DE" dirty="0">
                <a:latin typeface="Arial" panose="020B0604020202020204" pitchFamily="34" charset="0"/>
              </a:rPr>
              <a:t/>
            </a:r>
            <a:br>
              <a:rPr lang="de-DE" altLang="de-DE" dirty="0">
                <a:latin typeface="Arial" panose="020B0604020202020204" pitchFamily="34" charset="0"/>
              </a:rPr>
            </a:br>
            <a:r>
              <a:rPr lang="de-DE" altLang="de-DE" dirty="0">
                <a:latin typeface="Arial" panose="020B0604020202020204" pitchFamily="34" charset="0"/>
              </a:rPr>
              <a:t>All </a:t>
            </a:r>
            <a:r>
              <a:rPr lang="en-US" altLang="de-DE" dirty="0">
                <a:latin typeface="Arial" panose="020B0604020202020204" pitchFamily="34" charset="0"/>
              </a:rPr>
              <a:t>indicators which are only valid for specific storage </a:t>
            </a:r>
            <a:r>
              <a:rPr lang="en-US" altLang="de-DE" dirty="0" smtClean="0">
                <a:latin typeface="Arial" panose="020B0604020202020204" pitchFamily="34" charset="0"/>
              </a:rPr>
              <a:t>types</a:t>
            </a:r>
          </a:p>
          <a:p>
            <a:pPr lvl="2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Also includes Storage Bins and Quants</a:t>
            </a:r>
            <a:endParaRPr lang="de-DE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Storage Bin Master Data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358" y="1362182"/>
            <a:ext cx="3986644" cy="502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68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239120"/>
            <a:ext cx="11545200" cy="4392042"/>
          </a:xfrm>
        </p:spPr>
        <p:txBody>
          <a:bodyPr/>
          <a:lstStyle/>
          <a:p>
            <a:pPr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Storage </a:t>
            </a:r>
            <a:r>
              <a:rPr lang="de-DE" altLang="de-DE" dirty="0" smtClean="0">
                <a:latin typeface="Arial" panose="020B0604020202020204" pitchFamily="34" charset="0"/>
              </a:rPr>
              <a:t>Bin: </a:t>
            </a:r>
            <a:r>
              <a:rPr lang="en-US" altLang="de-DE" dirty="0" smtClean="0">
                <a:latin typeface="Arial" panose="020B0604020202020204" pitchFamily="34" charset="0"/>
              </a:rPr>
              <a:t>Smallest </a:t>
            </a:r>
            <a:r>
              <a:rPr lang="en-US" altLang="de-DE" dirty="0">
                <a:latin typeface="Arial" panose="020B0604020202020204" pitchFamily="34" charset="0"/>
              </a:rPr>
              <a:t>addressable unit in a warehouse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General Data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Warehouse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Storage type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Storage bin number</a:t>
            </a:r>
          </a:p>
          <a:p>
            <a:pPr lvl="2">
              <a:tabLst>
                <a:tab pos="1971675" algn="l"/>
              </a:tabLst>
            </a:pPr>
            <a:endParaRPr lang="en-US" altLang="de-DE" sz="1500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Storage Bin Data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Storage section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Picking area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Fire-containment section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Bin type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Max. </a:t>
            </a:r>
            <a:r>
              <a:rPr lang="en-US" altLang="de-DE" sz="1500" dirty="0" smtClean="0">
                <a:latin typeface="Arial" panose="020B0604020202020204" pitchFamily="34" charset="0"/>
              </a:rPr>
              <a:t>weight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 smtClean="0">
                <a:latin typeface="Arial" panose="020B0604020202020204" pitchFamily="34" charset="0"/>
              </a:rPr>
              <a:t>Total capacity</a:t>
            </a:r>
            <a:endParaRPr lang="en-US" altLang="de-DE" sz="1500" dirty="0">
              <a:latin typeface="Arial" panose="020B0604020202020204" pitchFamily="34" charset="0"/>
            </a:endParaRPr>
          </a:p>
          <a:p>
            <a:pPr lvl="2">
              <a:tabLst>
                <a:tab pos="1971675" algn="l"/>
              </a:tabLst>
            </a:pPr>
            <a:endParaRPr lang="en-US" altLang="de-DE" sz="1500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Status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Blocked for </a:t>
            </a:r>
            <a:r>
              <a:rPr lang="en-US" altLang="de-DE" sz="1500" dirty="0" err="1">
                <a:latin typeface="Arial" panose="020B0604020202020204" pitchFamily="34" charset="0"/>
              </a:rPr>
              <a:t>putaway</a:t>
            </a:r>
            <a:endParaRPr lang="en-US" altLang="de-DE" sz="1500" dirty="0">
              <a:latin typeface="Arial" panose="020B0604020202020204" pitchFamily="34" charset="0"/>
            </a:endParaRP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Stock removal block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Blocking reason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Storage Bin Master Data</a:t>
            </a:r>
            <a:endParaRPr lang="de-DE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7770570" y="2354562"/>
            <a:ext cx="2743200" cy="1066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de-DE" altLang="de-DE" sz="2400" b="0" dirty="0">
                <a:solidFill>
                  <a:srgbClr val="000000"/>
                </a:solidFill>
              </a:rPr>
              <a:t>General Data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389570" y="3726162"/>
            <a:ext cx="3505200" cy="10668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de-DE" altLang="de-DE" sz="2400" b="0">
                <a:solidFill>
                  <a:schemeClr val="bg1"/>
                </a:solidFill>
              </a:rPr>
              <a:t>Storage Bin Data (WM)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7389570" y="5097762"/>
            <a:ext cx="3505200" cy="1066800"/>
          </a:xfrm>
          <a:prstGeom prst="roundRect">
            <a:avLst>
              <a:gd name="adj" fmla="val 16667"/>
            </a:avLst>
          </a:prstGeom>
          <a:solidFill>
            <a:srgbClr val="DBB40D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48B00"/>
              </a:buClr>
              <a:buFont typeface="Wingdings" panose="05000000000000000000" pitchFamily="2" charset="2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de-DE" altLang="de-DE" sz="2400" b="0" dirty="0">
                <a:solidFill>
                  <a:srgbClr val="000000"/>
                </a:solidFill>
              </a:rPr>
              <a:t>Status (MM)</a:t>
            </a:r>
          </a:p>
        </p:txBody>
      </p:sp>
    </p:spTree>
    <p:extLst>
      <p:ext uri="{BB962C8B-B14F-4D97-AF65-F5344CB8AC3E}">
        <p14:creationId xmlns:p14="http://schemas.microsoft.com/office/powerpoint/2010/main" val="3576339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450447"/>
            <a:ext cx="11545200" cy="4392042"/>
          </a:xfrm>
        </p:spPr>
        <p:txBody>
          <a:bodyPr/>
          <a:lstStyle/>
          <a:p>
            <a:pPr>
              <a:tabLst>
                <a:tab pos="1971675" algn="l"/>
              </a:tabLst>
            </a:pPr>
            <a:r>
              <a:rPr lang="de-DE" altLang="de-DE" dirty="0" smtClean="0">
                <a:latin typeface="Arial" panose="020B0604020202020204" pitchFamily="34" charset="0"/>
              </a:rPr>
              <a:t>Quant: </a:t>
            </a:r>
            <a:r>
              <a:rPr lang="en-US" altLang="de-DE" dirty="0" smtClean="0">
                <a:latin typeface="Arial" panose="020B0604020202020204" pitchFamily="34" charset="0"/>
              </a:rPr>
              <a:t>Smallest </a:t>
            </a:r>
            <a:r>
              <a:rPr lang="en-US" altLang="de-DE" dirty="0">
                <a:latin typeface="Arial" panose="020B0604020202020204" pitchFamily="34" charset="0"/>
              </a:rPr>
              <a:t>addressable unit of measure for a material in SAP </a:t>
            </a:r>
            <a:r>
              <a:rPr lang="en-US" altLang="de-DE" dirty="0" smtClean="0">
                <a:latin typeface="Arial" panose="020B0604020202020204" pitchFamily="34" charset="0"/>
              </a:rPr>
              <a:t>S/4HANA</a:t>
            </a:r>
            <a:endParaRPr lang="en-US" altLang="de-DE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General Data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Material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Plant / Storage location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Batch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Warehouse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Storage type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Storage bin</a:t>
            </a:r>
          </a:p>
          <a:p>
            <a:pPr lvl="2">
              <a:tabLst>
                <a:tab pos="1971675" algn="l"/>
              </a:tabLst>
            </a:pPr>
            <a:endParaRPr lang="en-US" altLang="de-DE" sz="1500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Stock Data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Total stock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Available stock</a:t>
            </a:r>
          </a:p>
          <a:p>
            <a:pPr lvl="2">
              <a:tabLst>
                <a:tab pos="1971675" algn="l"/>
              </a:tabLst>
            </a:pPr>
            <a:endParaRPr lang="en-US" altLang="de-DE" sz="1500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Block Indicator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>
                <a:latin typeface="Arial" panose="020B0604020202020204" pitchFamily="34" charset="0"/>
              </a:rPr>
              <a:t>Block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500" dirty="0" err="1">
                <a:latin typeface="Arial" panose="020B0604020202020204" pitchFamily="34" charset="0"/>
              </a:rPr>
              <a:t>Putaway</a:t>
            </a:r>
            <a:r>
              <a:rPr lang="en-US" altLang="de-DE" sz="1500" dirty="0">
                <a:latin typeface="Arial" panose="020B0604020202020204" pitchFamily="34" charset="0"/>
              </a:rPr>
              <a:t>/removal status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Storage Bin Master Data</a:t>
            </a:r>
            <a:endParaRPr lang="de-DE" dirty="0"/>
          </a:p>
        </p:txBody>
      </p:sp>
      <p:grpSp>
        <p:nvGrpSpPr>
          <p:cNvPr id="7" name="Gruppieren 6"/>
          <p:cNvGrpSpPr/>
          <p:nvPr/>
        </p:nvGrpSpPr>
        <p:grpSpPr>
          <a:xfrm>
            <a:off x="7529752" y="2286571"/>
            <a:ext cx="3505200" cy="3810000"/>
            <a:chOff x="4843463" y="1700213"/>
            <a:chExt cx="3505200" cy="3810000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5148263" y="1700213"/>
              <a:ext cx="2743200" cy="10668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12700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2400" b="0" dirty="0">
                  <a:solidFill>
                    <a:srgbClr val="000000"/>
                  </a:solidFill>
                </a:rPr>
                <a:t>General Data</a:t>
              </a:r>
            </a:p>
          </p:txBody>
        </p:sp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4843463" y="3071813"/>
              <a:ext cx="3505200" cy="1066800"/>
            </a:xfrm>
            <a:prstGeom prst="roundRect">
              <a:avLst>
                <a:gd name="adj" fmla="val 16667"/>
              </a:avLst>
            </a:prstGeom>
            <a:solidFill>
              <a:srgbClr val="DBB40D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2400" b="0">
                  <a:solidFill>
                    <a:srgbClr val="000000"/>
                  </a:solidFill>
                </a:rPr>
                <a:t>Stock Data (MM)</a:t>
              </a:r>
            </a:p>
          </p:txBody>
        </p:sp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4843463" y="4443413"/>
              <a:ext cx="3505200" cy="1066800"/>
            </a:xfrm>
            <a:prstGeom prst="roundRect">
              <a:avLst>
                <a:gd name="adj" fmla="val 16667"/>
              </a:avLst>
            </a:prstGeom>
            <a:solidFill>
              <a:srgbClr val="DBB40D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2400" b="0">
                  <a:solidFill>
                    <a:srgbClr val="000000"/>
                  </a:solidFill>
                </a:rPr>
                <a:t>Blocking Indicator (MM</a:t>
              </a:r>
              <a:r>
                <a:rPr lang="de-DE" altLang="de-DE" sz="2400" b="0">
                  <a:solidFill>
                    <a:srgbClr val="000000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2262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Material Master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Contains all the information a company needs to manage </a:t>
            </a:r>
            <a:r>
              <a:rPr lang="en-US" altLang="de-DE" dirty="0" smtClean="0">
                <a:latin typeface="Arial" panose="020B0604020202020204" pitchFamily="34" charset="0"/>
              </a:rPr>
              <a:t>a </a:t>
            </a:r>
            <a:r>
              <a:rPr lang="en-US" altLang="de-DE" dirty="0">
                <a:latin typeface="Arial" panose="020B0604020202020204" pitchFamily="34" charset="0"/>
              </a:rPr>
              <a:t>material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It is used by most components within the SAP system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Sales and Distribution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Materials Management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Production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Plant Maintenance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Accounting/Controlling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Quality Management</a:t>
            </a:r>
          </a:p>
          <a:p>
            <a:pPr lvl="2">
              <a:tabLst>
                <a:tab pos="1971675" algn="l"/>
              </a:tabLst>
            </a:pPr>
            <a:endParaRPr lang="en-US" altLang="de-DE" sz="1400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Material master data is stored in functional segments called Views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Material Master Data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635" y="1510090"/>
            <a:ext cx="4319222" cy="457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54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Material Master Views</a:t>
            </a:r>
            <a:endParaRPr lang="de-DE" dirty="0"/>
          </a:p>
        </p:txBody>
      </p:sp>
      <p:grpSp>
        <p:nvGrpSpPr>
          <p:cNvPr id="14" name="Gruppieren 13"/>
          <p:cNvGrpSpPr/>
          <p:nvPr/>
        </p:nvGrpSpPr>
        <p:grpSpPr>
          <a:xfrm>
            <a:off x="2629500" y="2094018"/>
            <a:ext cx="6934200" cy="3586163"/>
            <a:chOff x="1435100" y="1968500"/>
            <a:chExt cx="6934200" cy="3586163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2959100" y="311150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chemeClr val="tx2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chemeClr val="bg1"/>
                  </a:solidFill>
                </a:rPr>
                <a:t>Material Master</a:t>
              </a:r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435100" y="2501900"/>
              <a:ext cx="2057400" cy="385763"/>
            </a:xfrm>
            <a:prstGeom prst="rect">
              <a:avLst/>
            </a:prstGeom>
            <a:noFill/>
            <a:ln w="19050" algn="ctr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Basic Data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340100" y="19685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Sales Data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511300" y="46355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Controlling Data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6311900" y="35687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Forecasting Data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5092700" y="2501900"/>
              <a:ext cx="2057400" cy="369888"/>
            </a:xfrm>
            <a:prstGeom prst="rect">
              <a:avLst/>
            </a:prstGeom>
            <a:noFill/>
            <a:ln w="19050" algn="ctr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Warehouse Mgmt.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5778500" y="30353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Mat. Plan. Data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3340100" y="5168900"/>
              <a:ext cx="2057400" cy="385763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Accounting Data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5854700" y="4102100"/>
              <a:ext cx="2057400" cy="385763"/>
            </a:xfrm>
            <a:prstGeom prst="rect">
              <a:avLst/>
            </a:prstGeom>
            <a:noFill/>
            <a:ln w="19050" algn="ctr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Storage Data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5168900" y="46355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Quality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4104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Material Master</a:t>
            </a:r>
            <a:endParaRPr lang="de-DE" dirty="0"/>
          </a:p>
        </p:txBody>
      </p:sp>
      <p:grpSp>
        <p:nvGrpSpPr>
          <p:cNvPr id="12" name="Gruppieren 11"/>
          <p:cNvGrpSpPr/>
          <p:nvPr/>
        </p:nvGrpSpPr>
        <p:grpSpPr>
          <a:xfrm>
            <a:off x="1367351" y="1609974"/>
            <a:ext cx="9458497" cy="4425950"/>
            <a:chOff x="292100" y="1739900"/>
            <a:chExt cx="9458497" cy="4425950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1052513" y="4027488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DBB40D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>
                  <a:solidFill>
                    <a:srgbClr val="000000"/>
                  </a:solidFill>
                </a:rPr>
                <a:t>Sales Org. UW00</a:t>
              </a:r>
            </a:p>
          </p:txBody>
        </p:sp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617663" y="487045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DBB40D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>
                  <a:solidFill>
                    <a:srgbClr val="000000"/>
                  </a:solidFill>
                </a:rPr>
                <a:t>Sales Org. UE00</a:t>
              </a:r>
            </a:p>
          </p:txBody>
        </p:sp>
        <p:sp>
          <p:nvSpPr>
            <p:cNvPr id="6" name="AutoShape 7"/>
            <p:cNvSpPr>
              <a:spLocks noChangeArrowheads="1"/>
            </p:cNvSpPr>
            <p:nvPr/>
          </p:nvSpPr>
          <p:spPr bwMode="auto">
            <a:xfrm>
              <a:off x="3111500" y="204470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 b="0"/>
                <a:t>Client XXX</a:t>
              </a:r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2484438" y="1739900"/>
              <a:ext cx="5334000" cy="1176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400"/>
                <a:t>General Information</a:t>
              </a:r>
              <a:r>
                <a:rPr lang="en-US" altLang="de-DE" sz="1400" b="0"/>
                <a:t> relevant for the entire organization:</a:t>
              </a:r>
              <a:br>
                <a:rPr lang="en-US" altLang="de-DE" sz="1400" b="0"/>
              </a:br>
              <a:r>
                <a:rPr lang="en-US" altLang="de-DE" sz="1400" b="0"/>
                <a:t>			 </a:t>
              </a:r>
            </a:p>
            <a:p>
              <a:pPr eaLnBrk="1" hangingPunct="1">
                <a:spcBef>
                  <a:spcPct val="10000"/>
                </a:spcBef>
                <a:buClrTx/>
                <a:buFontTx/>
                <a:buNone/>
              </a:pPr>
              <a:r>
                <a:rPr lang="en-US" altLang="de-DE" sz="1400" b="0"/>
                <a:t>			           Name</a:t>
              </a:r>
              <a:br>
                <a:rPr lang="en-US" altLang="de-DE" sz="1400" b="0"/>
              </a:br>
              <a:r>
                <a:rPr lang="en-US" altLang="de-DE" sz="1400" b="0"/>
                <a:t>  			           Weight</a:t>
              </a:r>
              <a:br>
                <a:rPr lang="en-US" altLang="de-DE" sz="1400" b="0"/>
              </a:br>
              <a:r>
                <a:rPr lang="en-US" altLang="de-DE" sz="1400" b="0"/>
                <a:t>			           Unit of Measure</a:t>
              </a: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292100" y="3675673"/>
              <a:ext cx="5486400" cy="1196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400" dirty="0"/>
                <a:t>Sales specific information</a:t>
              </a:r>
              <a:r>
                <a:rPr lang="en-US" altLang="de-DE" sz="1400" b="0" dirty="0"/>
                <a:t>: </a:t>
              </a:r>
            </a:p>
            <a:p>
              <a:pPr eaLnBrk="1" hangingPunct="1">
                <a:spcBef>
                  <a:spcPct val="10000"/>
                </a:spcBef>
                <a:buClrTx/>
                <a:buFontTx/>
                <a:buNone/>
              </a:pPr>
              <a:endParaRPr lang="en-US" altLang="de-DE" sz="1400" b="0" dirty="0"/>
            </a:p>
            <a:p>
              <a:pPr eaLnBrk="1" hangingPunct="1">
                <a:spcBef>
                  <a:spcPct val="10000"/>
                </a:spcBef>
                <a:buClrTx/>
                <a:buFontTx/>
                <a:buNone/>
              </a:pPr>
              <a:r>
                <a:rPr lang="en-US" altLang="de-DE" sz="1400" b="0" dirty="0"/>
                <a:t>			   Delivering Plant</a:t>
              </a:r>
              <a:br>
                <a:rPr lang="en-US" altLang="de-DE" sz="1400" b="0" dirty="0"/>
              </a:br>
              <a:r>
                <a:rPr lang="en-US" altLang="de-DE" sz="1400" b="0" dirty="0"/>
                <a:t>			   Loading Grp</a:t>
              </a:r>
              <a:br>
                <a:rPr lang="en-US" altLang="de-DE" sz="1400" b="0" dirty="0"/>
              </a:br>
              <a:r>
                <a:rPr lang="en-US" altLang="de-DE" sz="1400" b="0" dirty="0"/>
                <a:t>			            </a:t>
              </a: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4787900" y="3757613"/>
              <a:ext cx="4962697" cy="760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400" dirty="0"/>
                <a:t>Storage Location specific information</a:t>
              </a:r>
              <a:r>
                <a:rPr lang="en-US" altLang="de-DE" sz="1400" b="0" dirty="0"/>
                <a:t>:</a:t>
              </a:r>
              <a:br>
                <a:rPr lang="en-US" altLang="de-DE" sz="1400" b="0" dirty="0"/>
              </a:br>
              <a:r>
                <a:rPr lang="en-US" altLang="de-DE" sz="1400" b="0" dirty="0"/>
                <a:t>		                	     </a:t>
              </a:r>
            </a:p>
            <a:p>
              <a:pPr eaLnBrk="1" hangingPunct="1">
                <a:spcBef>
                  <a:spcPct val="10000"/>
                </a:spcBef>
                <a:buClrTx/>
                <a:buFontTx/>
                <a:buNone/>
              </a:pPr>
              <a:r>
                <a:rPr lang="en-US" altLang="de-DE" sz="1400" b="0" dirty="0"/>
                <a:t>			Stock </a:t>
              </a:r>
              <a:r>
                <a:rPr lang="en-US" altLang="de-DE" sz="1400" b="0" dirty="0" err="1"/>
                <a:t>Qty</a:t>
              </a:r>
              <a:endParaRPr lang="en-US" altLang="de-DE" sz="1400" b="0" dirty="0"/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5165725" y="403225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chemeClr val="tx2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chemeClr val="bg1"/>
                  </a:solidFill>
                </a:rPr>
                <a:t>Storage Loc. FG00</a:t>
              </a:r>
            </a:p>
          </p:txBody>
        </p:sp>
        <p:sp>
          <p:nvSpPr>
            <p:cNvPr id="11" name="AutoShape 9"/>
            <p:cNvSpPr>
              <a:spLocks noChangeArrowheads="1"/>
            </p:cNvSpPr>
            <p:nvPr/>
          </p:nvSpPr>
          <p:spPr bwMode="auto">
            <a:xfrm>
              <a:off x="5721350" y="487045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chemeClr val="tx2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chemeClr val="bg1"/>
                  </a:solidFill>
                </a:rPr>
                <a:t>Storage Loc. TG00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4068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Storage area for hazardous materials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Flammable liquids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Toxic materials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Radioactive materials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General Data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Storage class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Water pollution class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Flash point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Aggregate state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Hazardous material warning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Hazardous substance number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Hazard</a:t>
            </a:r>
            <a:r>
              <a:rPr lang="de-DE" altLang="de-DE" dirty="0">
                <a:latin typeface="Arial" panose="020B0604020202020204" pitchFamily="34" charset="0"/>
              </a:rPr>
              <a:t> Master Data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842" y="1501881"/>
            <a:ext cx="4152381" cy="4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48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Subset of Material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homogeneous series of unreproducible units with </a:t>
            </a:r>
            <a:r>
              <a:rPr lang="en-US" altLang="de-DE" dirty="0" smtClean="0">
                <a:latin typeface="Arial" panose="020B0604020202020204" pitchFamily="34" charset="0"/>
              </a:rPr>
              <a:t>a </a:t>
            </a:r>
            <a:r>
              <a:rPr lang="en-US" altLang="de-DE" dirty="0">
                <a:latin typeface="Arial" panose="020B0604020202020204" pitchFamily="34" charset="0"/>
              </a:rPr>
              <a:t>unique </a:t>
            </a:r>
            <a:br>
              <a:rPr lang="en-US" altLang="de-DE" dirty="0">
                <a:latin typeface="Arial" panose="020B0604020202020204" pitchFamily="34" charset="0"/>
              </a:rPr>
            </a:br>
            <a:r>
              <a:rPr lang="en-US" altLang="de-DE" dirty="0">
                <a:latin typeface="Arial" panose="020B0604020202020204" pitchFamily="34" charset="0"/>
              </a:rPr>
              <a:t>specification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Basic Data 1 &amp; 2</a:t>
            </a:r>
          </a:p>
          <a:p>
            <a:pPr lvl="1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Expiration date</a:t>
            </a:r>
          </a:p>
          <a:p>
            <a:pPr lvl="1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Inspection date</a:t>
            </a:r>
          </a:p>
          <a:p>
            <a:pPr lvl="1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Trading data</a:t>
            </a:r>
          </a:p>
          <a:p>
            <a:pPr lvl="1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Administration data</a:t>
            </a:r>
          </a:p>
          <a:p>
            <a:pPr lvl="1">
              <a:tabLst>
                <a:tab pos="1971675" algn="l"/>
              </a:tabLst>
            </a:pPr>
            <a:r>
              <a:rPr lang="en-US" altLang="de-DE" sz="1400" dirty="0">
                <a:latin typeface="Arial" panose="020B0604020202020204" pitchFamily="34" charset="0"/>
              </a:rPr>
              <a:t>Text data</a:t>
            </a:r>
          </a:p>
          <a:p>
            <a:pPr lvl="1">
              <a:tabLst>
                <a:tab pos="1971675" algn="l"/>
              </a:tabLst>
            </a:pPr>
            <a:endParaRPr lang="en-US" altLang="de-DE" sz="1400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sz="1600" dirty="0">
                <a:latin typeface="Arial" panose="020B0604020202020204" pitchFamily="34" charset="0"/>
              </a:rPr>
              <a:t>Classification of Batch</a:t>
            </a:r>
          </a:p>
          <a:p>
            <a:pPr>
              <a:tabLst>
                <a:tab pos="1971675" algn="l"/>
              </a:tabLst>
            </a:pPr>
            <a:endParaRPr lang="en-US" altLang="de-DE" sz="1600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sz="1600" dirty="0">
                <a:latin typeface="Arial" panose="020B0604020202020204" pitchFamily="34" charset="0"/>
              </a:rPr>
              <a:t>Material data</a:t>
            </a:r>
            <a:endParaRPr lang="en-US" altLang="de-DE" sz="1400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Batch Master Data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0" y="1515000"/>
            <a:ext cx="5748964" cy="41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13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  <a:latin typeface="Arial" panose="020B0604020202020204" pitchFamily="34" charset="0"/>
              </a:rPr>
              <a:t>WM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  <a:latin typeface="Arial" panose="020B0604020202020204" pitchFamily="34" charset="0"/>
              </a:rPr>
              <a:t>WM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WM Process Management and Control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9150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WM Types of goods movements</a:t>
            </a:r>
            <a:endParaRPr lang="de-DE" dirty="0"/>
          </a:p>
        </p:txBody>
      </p:sp>
      <p:grpSp>
        <p:nvGrpSpPr>
          <p:cNvPr id="23" name="Gruppieren 22"/>
          <p:cNvGrpSpPr/>
          <p:nvPr/>
        </p:nvGrpSpPr>
        <p:grpSpPr>
          <a:xfrm>
            <a:off x="2100069" y="1691079"/>
            <a:ext cx="7993062" cy="4392612"/>
            <a:chOff x="611188" y="1557338"/>
            <a:chExt cx="7993062" cy="4392612"/>
          </a:xfrm>
        </p:grpSpPr>
        <p:sp>
          <p:nvSpPr>
            <p:cNvPr id="4" name="Rechteck 3"/>
            <p:cNvSpPr>
              <a:spLocks noChangeArrowheads="1"/>
            </p:cNvSpPr>
            <p:nvPr/>
          </p:nvSpPr>
          <p:spPr bwMode="auto">
            <a:xfrm>
              <a:off x="2339975" y="1557338"/>
              <a:ext cx="2016125" cy="4392612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7200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800">
                  <a:solidFill>
                    <a:schemeClr val="bg1"/>
                  </a:solidFill>
                </a:rPr>
                <a:t>Plant 1</a:t>
              </a:r>
            </a:p>
          </p:txBody>
        </p:sp>
        <p:sp>
          <p:nvSpPr>
            <p:cNvPr id="5" name="Rechteck 4"/>
            <p:cNvSpPr/>
            <p:nvPr/>
          </p:nvSpPr>
          <p:spPr bwMode="auto">
            <a:xfrm>
              <a:off x="2484438" y="2205038"/>
              <a:ext cx="1727200" cy="35274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72000" rIns="0" bIns="0"/>
            <a:lstStyle/>
            <a:p>
              <a:pPr algn="ctr">
                <a:defRPr/>
              </a:pPr>
              <a:r>
                <a:rPr lang="en-US" sz="1800" dirty="0">
                  <a:latin typeface="Arial" charset="0"/>
                </a:rPr>
                <a:t>Storage Loc. 1</a:t>
              </a:r>
            </a:p>
          </p:txBody>
        </p:sp>
        <p:sp>
          <p:nvSpPr>
            <p:cNvPr id="6" name="Rechteck 5"/>
            <p:cNvSpPr/>
            <p:nvPr/>
          </p:nvSpPr>
          <p:spPr bwMode="auto">
            <a:xfrm>
              <a:off x="2627313" y="2781300"/>
              <a:ext cx="1439862" cy="5762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Unrestricted-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use stock</a:t>
              </a:r>
            </a:p>
          </p:txBody>
        </p:sp>
        <p:sp>
          <p:nvSpPr>
            <p:cNvPr id="7" name="Rechteck 7"/>
            <p:cNvSpPr>
              <a:spLocks noChangeArrowheads="1"/>
            </p:cNvSpPr>
            <p:nvPr/>
          </p:nvSpPr>
          <p:spPr bwMode="auto">
            <a:xfrm>
              <a:off x="4787900" y="1557338"/>
              <a:ext cx="2016125" cy="4392612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7200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800">
                  <a:solidFill>
                    <a:schemeClr val="bg1"/>
                  </a:solidFill>
                </a:rPr>
                <a:t>Plant 2</a:t>
              </a:r>
            </a:p>
          </p:txBody>
        </p:sp>
        <p:sp>
          <p:nvSpPr>
            <p:cNvPr id="8" name="Rechteck 7"/>
            <p:cNvSpPr/>
            <p:nvPr/>
          </p:nvSpPr>
          <p:spPr bwMode="auto">
            <a:xfrm>
              <a:off x="4932363" y="2205038"/>
              <a:ext cx="1727200" cy="158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2400" dirty="0">
                  <a:latin typeface="Arial" charset="0"/>
                </a:rPr>
                <a:t>Storage </a:t>
              </a:r>
              <a:br>
                <a:rPr lang="en-US" sz="2400" dirty="0">
                  <a:latin typeface="Arial" charset="0"/>
                </a:rPr>
              </a:br>
              <a:r>
                <a:rPr lang="en-US" sz="2400" dirty="0">
                  <a:latin typeface="Arial" charset="0"/>
                </a:rPr>
                <a:t>location 2</a:t>
              </a:r>
            </a:p>
          </p:txBody>
        </p:sp>
        <p:sp>
          <p:nvSpPr>
            <p:cNvPr id="9" name="Rechteck 8"/>
            <p:cNvSpPr/>
            <p:nvPr/>
          </p:nvSpPr>
          <p:spPr bwMode="auto">
            <a:xfrm>
              <a:off x="4932363" y="4076700"/>
              <a:ext cx="1727200" cy="158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2400" dirty="0">
                  <a:latin typeface="Arial" charset="0"/>
                </a:rPr>
                <a:t>Storage </a:t>
              </a:r>
              <a:br>
                <a:rPr lang="en-US" sz="2400" dirty="0">
                  <a:latin typeface="Arial" charset="0"/>
                </a:rPr>
              </a:br>
              <a:r>
                <a:rPr lang="en-US" sz="2400" dirty="0">
                  <a:latin typeface="Arial" charset="0"/>
                </a:rPr>
                <a:t>location 3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627313" y="3789363"/>
              <a:ext cx="1439862" cy="57626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Stock in quality inspection</a:t>
              </a:r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2627313" y="4797425"/>
              <a:ext cx="1439862" cy="5762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Blocked stock</a:t>
              </a:r>
            </a:p>
          </p:txBody>
        </p:sp>
        <p:sp>
          <p:nvSpPr>
            <p:cNvPr id="12" name="Rechteck 12"/>
            <p:cNvSpPr>
              <a:spLocks noChangeArrowheads="1"/>
            </p:cNvSpPr>
            <p:nvPr/>
          </p:nvSpPr>
          <p:spPr bwMode="auto">
            <a:xfrm>
              <a:off x="611188" y="2636838"/>
              <a:ext cx="1512887" cy="647700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000">
                  <a:solidFill>
                    <a:schemeClr val="bg1"/>
                  </a:solidFill>
                </a:rPr>
                <a:t>Vendor</a:t>
              </a:r>
            </a:p>
          </p:txBody>
        </p:sp>
        <p:sp>
          <p:nvSpPr>
            <p:cNvPr id="13" name="Rechteck 13"/>
            <p:cNvSpPr>
              <a:spLocks noChangeArrowheads="1"/>
            </p:cNvSpPr>
            <p:nvPr/>
          </p:nvSpPr>
          <p:spPr bwMode="auto">
            <a:xfrm>
              <a:off x="611188" y="4508500"/>
              <a:ext cx="1512887" cy="649288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000">
                  <a:solidFill>
                    <a:schemeClr val="bg1"/>
                  </a:solidFill>
                </a:rPr>
                <a:t>Production</a:t>
              </a:r>
            </a:p>
          </p:txBody>
        </p:sp>
        <p:sp>
          <p:nvSpPr>
            <p:cNvPr id="14" name="Rechteck 14"/>
            <p:cNvSpPr>
              <a:spLocks noChangeArrowheads="1"/>
            </p:cNvSpPr>
            <p:nvPr/>
          </p:nvSpPr>
          <p:spPr bwMode="auto">
            <a:xfrm>
              <a:off x="7092950" y="2636838"/>
              <a:ext cx="1511300" cy="647700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000">
                  <a:solidFill>
                    <a:schemeClr val="bg1"/>
                  </a:solidFill>
                </a:rPr>
                <a:t>Production</a:t>
              </a:r>
            </a:p>
          </p:txBody>
        </p:sp>
        <p:sp>
          <p:nvSpPr>
            <p:cNvPr id="15" name="Rechteck 15"/>
            <p:cNvSpPr>
              <a:spLocks noChangeArrowheads="1"/>
            </p:cNvSpPr>
            <p:nvPr/>
          </p:nvSpPr>
          <p:spPr bwMode="auto">
            <a:xfrm>
              <a:off x="7092950" y="4508500"/>
              <a:ext cx="1511300" cy="649288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000">
                  <a:solidFill>
                    <a:schemeClr val="bg1"/>
                  </a:solidFill>
                </a:rPr>
                <a:t>Customer</a:t>
              </a:r>
            </a:p>
          </p:txBody>
        </p:sp>
        <p:sp>
          <p:nvSpPr>
            <p:cNvPr id="16" name="Pfeil nach rechts 16"/>
            <p:cNvSpPr>
              <a:spLocks noChangeArrowheads="1"/>
            </p:cNvSpPr>
            <p:nvPr/>
          </p:nvSpPr>
          <p:spPr bwMode="auto">
            <a:xfrm>
              <a:off x="1692275" y="3789363"/>
              <a:ext cx="863600" cy="287337"/>
            </a:xfrm>
            <a:prstGeom prst="rightArrow">
              <a:avLst>
                <a:gd name="adj1" fmla="val 50000"/>
                <a:gd name="adj2" fmla="val 50092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2800"/>
            </a:p>
          </p:txBody>
        </p:sp>
        <p:sp>
          <p:nvSpPr>
            <p:cNvPr id="17" name="Pfeil nach rechts 17"/>
            <p:cNvSpPr>
              <a:spLocks noChangeArrowheads="1"/>
            </p:cNvSpPr>
            <p:nvPr/>
          </p:nvSpPr>
          <p:spPr bwMode="auto">
            <a:xfrm>
              <a:off x="4140200" y="2852738"/>
              <a:ext cx="863600" cy="288925"/>
            </a:xfrm>
            <a:prstGeom prst="rightArrow">
              <a:avLst>
                <a:gd name="adj1" fmla="val 50000"/>
                <a:gd name="adj2" fmla="val 49817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2800"/>
            </a:p>
          </p:txBody>
        </p:sp>
        <p:sp>
          <p:nvSpPr>
            <p:cNvPr id="18" name="Pfeil nach rechts 18"/>
            <p:cNvSpPr>
              <a:spLocks noChangeArrowheads="1"/>
            </p:cNvSpPr>
            <p:nvPr/>
          </p:nvSpPr>
          <p:spPr bwMode="auto">
            <a:xfrm>
              <a:off x="6659563" y="2852738"/>
              <a:ext cx="360362" cy="288925"/>
            </a:xfrm>
            <a:prstGeom prst="rightArrow">
              <a:avLst>
                <a:gd name="adj1" fmla="val 50000"/>
                <a:gd name="adj2" fmla="val 49890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2800"/>
            </a:p>
          </p:txBody>
        </p:sp>
        <p:sp>
          <p:nvSpPr>
            <p:cNvPr id="19" name="Pfeil nach rechts 19"/>
            <p:cNvSpPr>
              <a:spLocks noChangeArrowheads="1"/>
            </p:cNvSpPr>
            <p:nvPr/>
          </p:nvSpPr>
          <p:spPr bwMode="auto">
            <a:xfrm>
              <a:off x="6659563" y="4724400"/>
              <a:ext cx="360362" cy="288925"/>
            </a:xfrm>
            <a:prstGeom prst="rightArrow">
              <a:avLst>
                <a:gd name="adj1" fmla="val 50000"/>
                <a:gd name="adj2" fmla="val 49890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2800"/>
            </a:p>
          </p:txBody>
        </p:sp>
        <p:sp>
          <p:nvSpPr>
            <p:cNvPr id="20" name="Pfeil nach oben und unten 20"/>
            <p:cNvSpPr>
              <a:spLocks noChangeArrowheads="1"/>
            </p:cNvSpPr>
            <p:nvPr/>
          </p:nvSpPr>
          <p:spPr bwMode="auto">
            <a:xfrm>
              <a:off x="3203575" y="3357563"/>
              <a:ext cx="288925" cy="431800"/>
            </a:xfrm>
            <a:prstGeom prst="upDownArrow">
              <a:avLst>
                <a:gd name="adj1" fmla="val 50000"/>
                <a:gd name="adj2" fmla="val 49817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2800"/>
            </a:p>
          </p:txBody>
        </p:sp>
        <p:sp>
          <p:nvSpPr>
            <p:cNvPr id="21" name="Pfeil nach oben und unten 21"/>
            <p:cNvSpPr>
              <a:spLocks noChangeArrowheads="1"/>
            </p:cNvSpPr>
            <p:nvPr/>
          </p:nvSpPr>
          <p:spPr bwMode="auto">
            <a:xfrm>
              <a:off x="3203575" y="4365625"/>
              <a:ext cx="288925" cy="431800"/>
            </a:xfrm>
            <a:prstGeom prst="upDownArrow">
              <a:avLst>
                <a:gd name="adj1" fmla="val 50000"/>
                <a:gd name="adj2" fmla="val 49817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2800"/>
            </a:p>
          </p:txBody>
        </p:sp>
        <p:sp>
          <p:nvSpPr>
            <p:cNvPr id="22" name="Pfeil nach unten 22"/>
            <p:cNvSpPr>
              <a:spLocks noChangeArrowheads="1"/>
            </p:cNvSpPr>
            <p:nvPr/>
          </p:nvSpPr>
          <p:spPr bwMode="auto">
            <a:xfrm>
              <a:off x="5651500" y="3573463"/>
              <a:ext cx="288925" cy="719137"/>
            </a:xfrm>
            <a:prstGeom prst="downArrow">
              <a:avLst>
                <a:gd name="adj1" fmla="val 50000"/>
                <a:gd name="adj2" fmla="val 49780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2800"/>
            </a:p>
          </p:txBody>
        </p:sp>
      </p:grpSp>
    </p:spTree>
    <p:extLst>
      <p:ext uri="{BB962C8B-B14F-4D97-AF65-F5344CB8AC3E}">
        <p14:creationId xmlns:p14="http://schemas.microsoft.com/office/powerpoint/2010/main" val="428610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Transfer posting and stock transfer</a:t>
            </a:r>
            <a:endParaRPr lang="de-DE" dirty="0"/>
          </a:p>
        </p:txBody>
      </p:sp>
      <p:grpSp>
        <p:nvGrpSpPr>
          <p:cNvPr id="18" name="Gruppieren 17"/>
          <p:cNvGrpSpPr/>
          <p:nvPr/>
        </p:nvGrpSpPr>
        <p:grpSpPr>
          <a:xfrm>
            <a:off x="2208018" y="1618562"/>
            <a:ext cx="7777163" cy="4537075"/>
            <a:chOff x="755650" y="1484313"/>
            <a:chExt cx="7777163" cy="4537075"/>
          </a:xfrm>
        </p:grpSpPr>
        <p:sp>
          <p:nvSpPr>
            <p:cNvPr id="4" name="Rechteck 3"/>
            <p:cNvSpPr/>
            <p:nvPr/>
          </p:nvSpPr>
          <p:spPr bwMode="auto">
            <a:xfrm>
              <a:off x="755650" y="1484313"/>
              <a:ext cx="3240088" cy="20891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72000" tIns="36000" rIns="0" bIns="0"/>
            <a:lstStyle/>
            <a:p>
              <a:pPr>
                <a:defRPr/>
              </a:pPr>
              <a:r>
                <a:rPr lang="en-US" sz="2000" dirty="0">
                  <a:latin typeface="Arial" charset="0"/>
                </a:rPr>
                <a:t>Transfer posting</a:t>
              </a:r>
            </a:p>
            <a:p>
              <a:pPr>
                <a:buClrTx/>
                <a:buFont typeface="Arial" pitchFamily="34" charset="0"/>
                <a:buChar char="•"/>
                <a:defRPr/>
              </a:pPr>
              <a:r>
                <a:rPr lang="en-US" sz="1800" dirty="0">
                  <a:latin typeface="Arial" charset="0"/>
                </a:rPr>
                <a:t> Change to stock type,</a:t>
              </a:r>
              <a:br>
                <a:rPr lang="en-US" sz="1800" dirty="0">
                  <a:latin typeface="Arial" charset="0"/>
                </a:rPr>
              </a:br>
              <a:r>
                <a:rPr lang="en-US" sz="1800" dirty="0">
                  <a:latin typeface="Arial" charset="0"/>
                </a:rPr>
                <a:t>  material number or batch</a:t>
              </a:r>
            </a:p>
            <a:p>
              <a:pPr>
                <a:buClrTx/>
                <a:defRPr/>
              </a:pPr>
              <a:r>
                <a:rPr lang="en-US" sz="1800" dirty="0">
                  <a:latin typeface="Arial" charset="0"/>
                </a:rPr>
                <a:t>  number</a:t>
              </a:r>
            </a:p>
            <a:p>
              <a:pPr>
                <a:buClrTx/>
                <a:buFont typeface="Arial" pitchFamily="34" charset="0"/>
                <a:buChar char="•"/>
                <a:defRPr/>
              </a:pPr>
              <a:r>
                <a:rPr lang="en-US" sz="1800" dirty="0">
                  <a:latin typeface="Arial" charset="0"/>
                </a:rPr>
                <a:t> Additional physical material</a:t>
              </a:r>
            </a:p>
            <a:p>
              <a:pPr>
                <a:buClrTx/>
                <a:defRPr/>
              </a:pPr>
              <a:r>
                <a:rPr lang="en-US" sz="1800" dirty="0">
                  <a:latin typeface="Arial" charset="0"/>
                </a:rPr>
                <a:t>  movement possible</a:t>
              </a:r>
            </a:p>
          </p:txBody>
        </p:sp>
        <p:sp>
          <p:nvSpPr>
            <p:cNvPr id="5" name="Rechteck 4"/>
            <p:cNvSpPr/>
            <p:nvPr/>
          </p:nvSpPr>
          <p:spPr bwMode="auto">
            <a:xfrm>
              <a:off x="755650" y="3933825"/>
              <a:ext cx="3240088" cy="20875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72000" tIns="36000" rIns="0" bIns="0"/>
            <a:lstStyle/>
            <a:p>
              <a:pPr>
                <a:defRPr/>
              </a:pPr>
              <a:r>
                <a:rPr lang="en-US" sz="2000" dirty="0">
                  <a:latin typeface="Arial" charset="0"/>
                </a:rPr>
                <a:t>Stock transfer</a:t>
              </a:r>
            </a:p>
            <a:p>
              <a:pPr>
                <a:buClrTx/>
                <a:buFont typeface="Arial" pitchFamily="34" charset="0"/>
                <a:buChar char="•"/>
                <a:defRPr/>
              </a:pPr>
              <a:r>
                <a:rPr lang="en-US" sz="1800" dirty="0">
                  <a:latin typeface="Arial" charset="0"/>
                </a:rPr>
                <a:t> Physical material</a:t>
              </a:r>
            </a:p>
            <a:p>
              <a:pPr>
                <a:buClrTx/>
                <a:defRPr/>
              </a:pPr>
              <a:r>
                <a:rPr lang="en-US" sz="1800" dirty="0">
                  <a:latin typeface="Arial" charset="0"/>
                </a:rPr>
                <a:t>  movement</a:t>
              </a:r>
            </a:p>
            <a:p>
              <a:pPr>
                <a:buClrTx/>
                <a:buFont typeface="Arial" pitchFamily="34" charset="0"/>
                <a:buChar char="•"/>
                <a:defRPr/>
              </a:pPr>
              <a:r>
                <a:rPr lang="en-US" sz="1800" dirty="0">
                  <a:latin typeface="Arial" charset="0"/>
                </a:rPr>
                <a:t> Once- and two-step</a:t>
              </a:r>
            </a:p>
            <a:p>
              <a:pPr>
                <a:buClrTx/>
                <a:defRPr/>
              </a:pPr>
              <a:r>
                <a:rPr lang="en-US" sz="1800" dirty="0">
                  <a:latin typeface="Arial" charset="0"/>
                </a:rPr>
                <a:t>  procedures possible</a:t>
              </a:r>
            </a:p>
          </p:txBody>
        </p:sp>
        <p:sp>
          <p:nvSpPr>
            <p:cNvPr id="6" name="Ellipse 5"/>
            <p:cNvSpPr/>
            <p:nvPr/>
          </p:nvSpPr>
          <p:spPr bwMode="auto">
            <a:xfrm>
              <a:off x="4643438" y="5373688"/>
              <a:ext cx="3889375" cy="6477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800" dirty="0">
                  <a:latin typeface="Arial" charset="0"/>
                </a:rPr>
                <a:t>Company code to company code</a:t>
              </a:r>
            </a:p>
          </p:txBody>
        </p:sp>
        <p:sp>
          <p:nvSpPr>
            <p:cNvPr id="7" name="Ellipse 6"/>
            <p:cNvSpPr/>
            <p:nvPr/>
          </p:nvSpPr>
          <p:spPr bwMode="auto">
            <a:xfrm>
              <a:off x="4643438" y="4652963"/>
              <a:ext cx="3889375" cy="6477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800" dirty="0">
                  <a:latin typeface="Arial" charset="0"/>
                </a:rPr>
                <a:t>Plant to plant</a:t>
              </a:r>
            </a:p>
          </p:txBody>
        </p:sp>
        <p:sp>
          <p:nvSpPr>
            <p:cNvPr id="8" name="Ellipse 7"/>
            <p:cNvSpPr/>
            <p:nvPr/>
          </p:nvSpPr>
          <p:spPr bwMode="auto">
            <a:xfrm>
              <a:off x="4643438" y="3933825"/>
              <a:ext cx="3889375" cy="6477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800" dirty="0" err="1">
                  <a:latin typeface="Arial" charset="0"/>
                </a:rPr>
                <a:t>Stor</a:t>
              </a:r>
              <a:r>
                <a:rPr lang="en-US" sz="1800" dirty="0">
                  <a:latin typeface="Arial" charset="0"/>
                </a:rPr>
                <a:t>. loc to </a:t>
              </a:r>
              <a:r>
                <a:rPr lang="en-US" sz="1800" dirty="0" err="1">
                  <a:latin typeface="Arial" charset="0"/>
                </a:rPr>
                <a:t>stor</a:t>
              </a:r>
              <a:r>
                <a:rPr lang="en-US" sz="1800" dirty="0">
                  <a:latin typeface="Arial" charset="0"/>
                </a:rPr>
                <a:t>. loc</a:t>
              </a:r>
            </a:p>
          </p:txBody>
        </p:sp>
        <p:sp>
          <p:nvSpPr>
            <p:cNvPr id="9" name="Ellipse 8"/>
            <p:cNvSpPr/>
            <p:nvPr/>
          </p:nvSpPr>
          <p:spPr bwMode="auto">
            <a:xfrm>
              <a:off x="4643438" y="2924175"/>
              <a:ext cx="3889375" cy="64928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800" dirty="0">
                  <a:latin typeface="Arial" charset="0"/>
                </a:rPr>
                <a:t>Consignment to warehouse</a:t>
              </a:r>
            </a:p>
          </p:txBody>
        </p:sp>
        <p:sp>
          <p:nvSpPr>
            <p:cNvPr id="10" name="Ellipse 9"/>
            <p:cNvSpPr/>
            <p:nvPr/>
          </p:nvSpPr>
          <p:spPr bwMode="auto">
            <a:xfrm>
              <a:off x="4643438" y="2205038"/>
              <a:ext cx="3889375" cy="6477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800" dirty="0">
                  <a:latin typeface="Arial" charset="0"/>
                </a:rPr>
                <a:t>Material to material</a:t>
              </a:r>
            </a:p>
          </p:txBody>
        </p:sp>
        <p:sp>
          <p:nvSpPr>
            <p:cNvPr id="11" name="Ellipse 10"/>
            <p:cNvSpPr/>
            <p:nvPr/>
          </p:nvSpPr>
          <p:spPr bwMode="auto">
            <a:xfrm>
              <a:off x="4643438" y="1484313"/>
              <a:ext cx="3889375" cy="6492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800" dirty="0">
                  <a:latin typeface="Arial" charset="0"/>
                </a:rPr>
                <a:t>Stock to stock</a:t>
              </a:r>
            </a:p>
          </p:txBody>
        </p:sp>
        <p:cxnSp>
          <p:nvCxnSpPr>
            <p:cNvPr id="12" name="Gerade Verbindung mit Pfeil 12"/>
            <p:cNvCxnSpPr>
              <a:cxnSpLocks noChangeShapeType="1"/>
              <a:stCxn id="4" idx="3"/>
              <a:endCxn id="11" idx="2"/>
            </p:cNvCxnSpPr>
            <p:nvPr/>
          </p:nvCxnSpPr>
          <p:spPr bwMode="auto">
            <a:xfrm flipV="1">
              <a:off x="3995738" y="1808163"/>
              <a:ext cx="647700" cy="720725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Gerade Verbindung mit Pfeil 14"/>
            <p:cNvCxnSpPr>
              <a:cxnSpLocks noChangeShapeType="1"/>
              <a:stCxn id="4" idx="3"/>
              <a:endCxn id="10" idx="2"/>
            </p:cNvCxnSpPr>
            <p:nvPr/>
          </p:nvCxnSpPr>
          <p:spPr bwMode="auto">
            <a:xfrm>
              <a:off x="3995738" y="2528888"/>
              <a:ext cx="647700" cy="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Gerade Verbindung mit Pfeil 16"/>
            <p:cNvCxnSpPr>
              <a:cxnSpLocks noChangeShapeType="1"/>
              <a:stCxn id="4" idx="3"/>
              <a:endCxn id="9" idx="2"/>
            </p:cNvCxnSpPr>
            <p:nvPr/>
          </p:nvCxnSpPr>
          <p:spPr bwMode="auto">
            <a:xfrm>
              <a:off x="3995738" y="2528888"/>
              <a:ext cx="647700" cy="720725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Gerade Verbindung mit Pfeil 18"/>
            <p:cNvCxnSpPr>
              <a:cxnSpLocks noChangeShapeType="1"/>
              <a:stCxn id="5" idx="3"/>
              <a:endCxn id="8" idx="2"/>
            </p:cNvCxnSpPr>
            <p:nvPr/>
          </p:nvCxnSpPr>
          <p:spPr bwMode="auto">
            <a:xfrm flipV="1">
              <a:off x="3995738" y="4257675"/>
              <a:ext cx="647700" cy="719138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Gerade Verbindung mit Pfeil 20"/>
            <p:cNvCxnSpPr>
              <a:cxnSpLocks noChangeShapeType="1"/>
              <a:stCxn id="5" idx="3"/>
              <a:endCxn id="7" idx="2"/>
            </p:cNvCxnSpPr>
            <p:nvPr/>
          </p:nvCxnSpPr>
          <p:spPr bwMode="auto">
            <a:xfrm>
              <a:off x="3995738" y="4976813"/>
              <a:ext cx="647700" cy="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Gerade Verbindung mit Pfeil 22"/>
            <p:cNvCxnSpPr>
              <a:cxnSpLocks noChangeShapeType="1"/>
              <a:stCxn id="5" idx="3"/>
              <a:endCxn id="6" idx="2"/>
            </p:cNvCxnSpPr>
            <p:nvPr/>
          </p:nvCxnSpPr>
          <p:spPr bwMode="auto">
            <a:xfrm>
              <a:off x="3995738" y="4976813"/>
              <a:ext cx="647700" cy="720725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787168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One-Step/Two-Step Procedures</a:t>
            </a:r>
            <a:endParaRPr lang="de-DE" dirty="0"/>
          </a:p>
        </p:txBody>
      </p:sp>
      <p:grpSp>
        <p:nvGrpSpPr>
          <p:cNvPr id="12" name="Gruppieren 11"/>
          <p:cNvGrpSpPr/>
          <p:nvPr/>
        </p:nvGrpSpPr>
        <p:grpSpPr>
          <a:xfrm>
            <a:off x="2388200" y="1691079"/>
            <a:ext cx="7416800" cy="4392612"/>
            <a:chOff x="827088" y="1557338"/>
            <a:chExt cx="7416800" cy="4392612"/>
          </a:xfrm>
        </p:grpSpPr>
        <p:sp>
          <p:nvSpPr>
            <p:cNvPr id="4" name="Rechteck 3"/>
            <p:cNvSpPr>
              <a:spLocks noChangeArrowheads="1"/>
            </p:cNvSpPr>
            <p:nvPr/>
          </p:nvSpPr>
          <p:spPr bwMode="auto">
            <a:xfrm>
              <a:off x="827088" y="1557338"/>
              <a:ext cx="2592387" cy="4392612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7200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000">
                  <a:solidFill>
                    <a:schemeClr val="bg1"/>
                  </a:solidFill>
                </a:rPr>
                <a:t>Issuing organizational level</a:t>
              </a:r>
            </a:p>
          </p:txBody>
        </p:sp>
        <p:sp>
          <p:nvSpPr>
            <p:cNvPr id="5" name="Rechteck 4"/>
            <p:cNvSpPr/>
            <p:nvPr/>
          </p:nvSpPr>
          <p:spPr bwMode="auto">
            <a:xfrm>
              <a:off x="971550" y="2420938"/>
              <a:ext cx="2305050" cy="33845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2000" dirty="0">
                  <a:latin typeface="Arial" charset="0"/>
                </a:rPr>
                <a:t>Stock</a:t>
              </a:r>
            </a:p>
          </p:txBody>
        </p:sp>
        <p:sp>
          <p:nvSpPr>
            <p:cNvPr id="6" name="Rechteck 5"/>
            <p:cNvSpPr>
              <a:spLocks noChangeArrowheads="1"/>
            </p:cNvSpPr>
            <p:nvPr/>
          </p:nvSpPr>
          <p:spPr bwMode="auto">
            <a:xfrm>
              <a:off x="5651500" y="1557338"/>
              <a:ext cx="2592388" cy="4392612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7200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000">
                  <a:solidFill>
                    <a:schemeClr val="bg1"/>
                  </a:solidFill>
                </a:rPr>
                <a:t>Receiving organisational level</a:t>
              </a:r>
            </a:p>
          </p:txBody>
        </p:sp>
        <p:sp>
          <p:nvSpPr>
            <p:cNvPr id="7" name="Rechteck 6"/>
            <p:cNvSpPr/>
            <p:nvPr/>
          </p:nvSpPr>
          <p:spPr bwMode="auto">
            <a:xfrm>
              <a:off x="5795963" y="2420938"/>
              <a:ext cx="2305050" cy="13684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2000" dirty="0">
                  <a:latin typeface="Arial" charset="0"/>
                </a:rPr>
                <a:t>Stock in </a:t>
              </a:r>
            </a:p>
            <a:p>
              <a:pPr algn="ctr">
                <a:defRPr/>
              </a:pPr>
              <a:r>
                <a:rPr lang="en-US" sz="2000" dirty="0">
                  <a:latin typeface="Arial" charset="0"/>
                </a:rPr>
                <a:t>transfer</a:t>
              </a:r>
            </a:p>
          </p:txBody>
        </p:sp>
        <p:sp>
          <p:nvSpPr>
            <p:cNvPr id="8" name="Rechteck 7"/>
            <p:cNvSpPr/>
            <p:nvPr/>
          </p:nvSpPr>
          <p:spPr bwMode="auto">
            <a:xfrm>
              <a:off x="5795963" y="4437063"/>
              <a:ext cx="2305050" cy="13684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2000" dirty="0">
                  <a:latin typeface="Arial" charset="0"/>
                </a:rPr>
                <a:t>Stock</a:t>
              </a:r>
            </a:p>
          </p:txBody>
        </p:sp>
        <p:sp>
          <p:nvSpPr>
            <p:cNvPr id="9" name="Pfeil nach rechts 8"/>
            <p:cNvSpPr>
              <a:spLocks noChangeArrowheads="1"/>
            </p:cNvSpPr>
            <p:nvPr/>
          </p:nvSpPr>
          <p:spPr bwMode="auto">
            <a:xfrm>
              <a:off x="2987675" y="2565400"/>
              <a:ext cx="2952750" cy="1150938"/>
            </a:xfrm>
            <a:prstGeom prst="rightArrow">
              <a:avLst>
                <a:gd name="adj1" fmla="val 50000"/>
                <a:gd name="adj2" fmla="val 61976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de-DE" sz="1400">
                  <a:solidFill>
                    <a:schemeClr val="bg1"/>
                  </a:solidFill>
                </a:rPr>
                <a:t>   Step 1: Remove fr. storage</a:t>
              </a:r>
            </a:p>
          </p:txBody>
        </p:sp>
        <p:sp>
          <p:nvSpPr>
            <p:cNvPr id="10" name="Pfeil nach rechts 9"/>
            <p:cNvSpPr>
              <a:spLocks noChangeArrowheads="1"/>
            </p:cNvSpPr>
            <p:nvPr/>
          </p:nvSpPr>
          <p:spPr bwMode="auto">
            <a:xfrm>
              <a:off x="2987675" y="4437063"/>
              <a:ext cx="2952750" cy="1439862"/>
            </a:xfrm>
            <a:prstGeom prst="rightArrow">
              <a:avLst>
                <a:gd name="adj1" fmla="val 56352"/>
                <a:gd name="adj2" fmla="val 48961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de-DE" sz="1400">
                  <a:solidFill>
                    <a:schemeClr val="bg1"/>
                  </a:solidFill>
                </a:rPr>
                <a:t>   Step 1: Remove fr. storage</a:t>
              </a:r>
            </a:p>
            <a:p>
              <a:pPr eaLnBrk="1" hangingPunct="1"/>
              <a:r>
                <a:rPr lang="en-US" altLang="de-DE" sz="1400">
                  <a:solidFill>
                    <a:schemeClr val="bg1"/>
                  </a:solidFill>
                </a:rPr>
                <a:t>                     +</a:t>
              </a:r>
            </a:p>
            <a:p>
              <a:pPr eaLnBrk="1" hangingPunct="1"/>
              <a:r>
                <a:rPr lang="en-US" altLang="de-DE" sz="1400">
                  <a:solidFill>
                    <a:schemeClr val="bg1"/>
                  </a:solidFill>
                </a:rPr>
                <a:t>   Step 2: Place in storage</a:t>
              </a:r>
            </a:p>
          </p:txBody>
        </p:sp>
        <p:sp>
          <p:nvSpPr>
            <p:cNvPr id="11" name="Pfeil nach unten 10"/>
            <p:cNvSpPr>
              <a:spLocks noChangeArrowheads="1"/>
            </p:cNvSpPr>
            <p:nvPr/>
          </p:nvSpPr>
          <p:spPr bwMode="auto">
            <a:xfrm>
              <a:off x="6011863" y="3429000"/>
              <a:ext cx="1800225" cy="1439863"/>
            </a:xfrm>
            <a:prstGeom prst="downArrow">
              <a:avLst>
                <a:gd name="adj1" fmla="val 73704"/>
                <a:gd name="adj2" fmla="val 50000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18000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1400">
                  <a:solidFill>
                    <a:schemeClr val="bg1"/>
                  </a:solidFill>
                </a:rPr>
                <a:t>   Step 2: Place in storage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3277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1"/>
          <p:cNvSpPr>
            <a:spLocks noGrp="1"/>
          </p:cNvSpPr>
          <p:nvPr>
            <p:ph idx="1"/>
          </p:nvPr>
        </p:nvSpPr>
        <p:spPr>
          <a:xfrm>
            <a:off x="323999" y="1691079"/>
            <a:ext cx="3474079" cy="4392042"/>
          </a:xfrm>
        </p:spPr>
        <p:txBody>
          <a:bodyPr/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kern="0" dirty="0">
                <a:ea typeface="Arial Unicode MS" pitchFamily="34" charset="-128"/>
                <a:cs typeface="Arial Unicode MS" pitchFamily="34" charset="-128"/>
              </a:rPr>
              <a:t>A Stock Transport Order (STO) is a purchase order used to request or instruct a plant to transport material from one plant to another </a:t>
            </a:r>
            <a:r>
              <a:rPr lang="en-US" kern="0" dirty="0" smtClean="0"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kern="0" dirty="0">
                <a:ea typeface="Arial Unicode MS" pitchFamily="34" charset="-128"/>
                <a:cs typeface="Arial Unicode MS" pitchFamily="34" charset="-128"/>
              </a:rPr>
              <a:t>that is, to effect a long distance physical stock transfer) within the same corporate enterprise.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kern="0" dirty="0"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kern="0" dirty="0">
                <a:ea typeface="Arial Unicode MS" pitchFamily="34" charset="-128"/>
                <a:cs typeface="Arial Unicode MS" pitchFamily="34" charset="-128"/>
              </a:rPr>
              <a:t>The stock transport order allows delivery costs incurred as a result of the stock transfer to be charged to the material transported.</a:t>
            </a:r>
            <a:endParaRPr lang="de-DE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Stock transport order</a:t>
            </a:r>
            <a:endParaRPr lang="de-DE" dirty="0"/>
          </a:p>
        </p:txBody>
      </p:sp>
      <p:grpSp>
        <p:nvGrpSpPr>
          <p:cNvPr id="23" name="Gruppieren 22"/>
          <p:cNvGrpSpPr/>
          <p:nvPr/>
        </p:nvGrpSpPr>
        <p:grpSpPr>
          <a:xfrm>
            <a:off x="4157912" y="1691079"/>
            <a:ext cx="7489825" cy="4392612"/>
            <a:chOff x="827088" y="1557338"/>
            <a:chExt cx="7489825" cy="4392612"/>
          </a:xfrm>
        </p:grpSpPr>
        <p:sp>
          <p:nvSpPr>
            <p:cNvPr id="4" name="Rechteck 3"/>
            <p:cNvSpPr>
              <a:spLocks noChangeArrowheads="1"/>
            </p:cNvSpPr>
            <p:nvPr/>
          </p:nvSpPr>
          <p:spPr bwMode="auto">
            <a:xfrm>
              <a:off x="827088" y="1557338"/>
              <a:ext cx="2592387" cy="4392612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7200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000">
                  <a:solidFill>
                    <a:schemeClr val="bg1"/>
                  </a:solidFill>
                </a:rPr>
                <a:t>Issuing plant</a:t>
              </a:r>
            </a:p>
          </p:txBody>
        </p:sp>
        <p:sp>
          <p:nvSpPr>
            <p:cNvPr id="5" name="Rechteck 4"/>
            <p:cNvSpPr>
              <a:spLocks noChangeArrowheads="1"/>
            </p:cNvSpPr>
            <p:nvPr/>
          </p:nvSpPr>
          <p:spPr bwMode="auto">
            <a:xfrm>
              <a:off x="4932363" y="1557338"/>
              <a:ext cx="3384550" cy="4392612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7200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000">
                  <a:solidFill>
                    <a:schemeClr val="bg1"/>
                  </a:solidFill>
                </a:rPr>
                <a:t>Receiving plant</a:t>
              </a:r>
            </a:p>
          </p:txBody>
        </p:sp>
        <p:grpSp>
          <p:nvGrpSpPr>
            <p:cNvPr id="6" name="Gruppieren 10"/>
            <p:cNvGrpSpPr>
              <a:grpSpLocks/>
            </p:cNvGrpSpPr>
            <p:nvPr/>
          </p:nvGrpSpPr>
          <p:grpSpPr bwMode="auto">
            <a:xfrm>
              <a:off x="5076825" y="2349500"/>
              <a:ext cx="1295400" cy="1511300"/>
              <a:chOff x="5940152" y="2348880"/>
              <a:chExt cx="1296144" cy="1512168"/>
            </a:xfrm>
          </p:grpSpPr>
          <p:sp>
            <p:nvSpPr>
              <p:cNvPr id="7" name="Gefaltete Ecke 5"/>
              <p:cNvSpPr>
                <a:spLocks noChangeArrowheads="1"/>
              </p:cNvSpPr>
              <p:nvPr/>
            </p:nvSpPr>
            <p:spPr bwMode="auto">
              <a:xfrm>
                <a:off x="5940152" y="2348880"/>
                <a:ext cx="1296144" cy="1512168"/>
              </a:xfrm>
              <a:prstGeom prst="foldedCorner">
                <a:avLst>
                  <a:gd name="adj" fmla="val 16667"/>
                </a:avLst>
              </a:prstGeom>
              <a:solidFill>
                <a:schemeClr val="bg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36000" tIns="108000" rIns="0" bIns="0"/>
              <a:lstStyle>
                <a:lvl1pPr eaLnBrk="0" hangingPunct="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de-DE" sz="1400"/>
                  <a:t> Stock transp.  </a:t>
                </a:r>
              </a:p>
              <a:p>
                <a:pPr eaLnBrk="1" hangingPunct="1"/>
                <a:r>
                  <a:rPr lang="en-US" altLang="de-DE" sz="1400"/>
                  <a:t> order</a:t>
                </a:r>
              </a:p>
            </p:txBody>
          </p:sp>
          <p:cxnSp>
            <p:nvCxnSpPr>
              <p:cNvPr id="8" name="Gerade Verbindung 7"/>
              <p:cNvCxnSpPr>
                <a:cxnSpLocks noChangeShapeType="1"/>
              </p:cNvCxnSpPr>
              <p:nvPr/>
            </p:nvCxnSpPr>
            <p:spPr bwMode="auto">
              <a:xfrm>
                <a:off x="6228184" y="3212976"/>
                <a:ext cx="648072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" name="Gerade Verbindung 8"/>
              <p:cNvCxnSpPr>
                <a:cxnSpLocks noChangeShapeType="1"/>
              </p:cNvCxnSpPr>
              <p:nvPr/>
            </p:nvCxnSpPr>
            <p:spPr bwMode="auto">
              <a:xfrm>
                <a:off x="6228184" y="3356992"/>
                <a:ext cx="648072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" name="Gerade Verbindung 9"/>
              <p:cNvCxnSpPr>
                <a:cxnSpLocks noChangeShapeType="1"/>
              </p:cNvCxnSpPr>
              <p:nvPr/>
            </p:nvCxnSpPr>
            <p:spPr bwMode="auto">
              <a:xfrm>
                <a:off x="6228184" y="3501008"/>
                <a:ext cx="648072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" name="Rechteck 10"/>
            <p:cNvSpPr/>
            <p:nvPr/>
          </p:nvSpPr>
          <p:spPr bwMode="auto">
            <a:xfrm>
              <a:off x="971550" y="2420938"/>
              <a:ext cx="2305050" cy="33845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72000" rIns="0" bIns="0"/>
            <a:lstStyle/>
            <a:p>
              <a:pPr algn="ctr">
                <a:defRPr/>
              </a:pPr>
              <a:r>
                <a:rPr lang="en-US" sz="2000" dirty="0">
                  <a:latin typeface="Arial" charset="0"/>
                </a:rPr>
                <a:t>Storage location</a:t>
              </a:r>
            </a:p>
          </p:txBody>
        </p:sp>
        <p:sp>
          <p:nvSpPr>
            <p:cNvPr id="12" name="Rechteck 11"/>
            <p:cNvSpPr/>
            <p:nvPr/>
          </p:nvSpPr>
          <p:spPr bwMode="auto">
            <a:xfrm>
              <a:off x="1258888" y="2924175"/>
              <a:ext cx="1728787" cy="26654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Unrestricted-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use stock</a:t>
              </a:r>
            </a:p>
          </p:txBody>
        </p:sp>
        <p:sp>
          <p:nvSpPr>
            <p:cNvPr id="13" name="Rechteck 12"/>
            <p:cNvSpPr/>
            <p:nvPr/>
          </p:nvSpPr>
          <p:spPr bwMode="auto">
            <a:xfrm>
              <a:off x="5076825" y="4149725"/>
              <a:ext cx="1223963" cy="11509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Stock in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transit</a:t>
              </a:r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6588125" y="3284538"/>
              <a:ext cx="1584325" cy="25209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72000" rIns="0" bIns="0"/>
            <a:lstStyle/>
            <a:p>
              <a:pPr algn="ctr">
                <a:defRPr/>
              </a:pPr>
              <a:r>
                <a:rPr lang="de-DE" sz="2000" dirty="0">
                  <a:latin typeface="Arial" charset="0"/>
                </a:rPr>
                <a:t>Storage </a:t>
              </a:r>
              <a:r>
                <a:rPr lang="de-DE" sz="2000" dirty="0" err="1">
                  <a:latin typeface="Arial" charset="0"/>
                </a:rPr>
                <a:t>Loc</a:t>
              </a:r>
              <a:endParaRPr lang="de-DE" sz="2000" dirty="0">
                <a:latin typeface="Arial" charset="0"/>
              </a:endParaRPr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732588" y="3789363"/>
              <a:ext cx="1295400" cy="57626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 err="1">
                  <a:latin typeface="Arial" charset="0"/>
                </a:rPr>
                <a:t>Unrestr</a:t>
              </a:r>
              <a:r>
                <a:rPr lang="en-US" sz="1600" dirty="0">
                  <a:latin typeface="Arial" charset="0"/>
                </a:rPr>
                <a:t>.-use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stock</a:t>
              </a:r>
            </a:p>
          </p:txBody>
        </p:sp>
        <p:sp>
          <p:nvSpPr>
            <p:cNvPr id="16" name="Rechteck 15"/>
            <p:cNvSpPr/>
            <p:nvPr/>
          </p:nvSpPr>
          <p:spPr bwMode="auto">
            <a:xfrm>
              <a:off x="6732588" y="4437063"/>
              <a:ext cx="1295400" cy="57626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Stock in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quality insp.</a:t>
              </a:r>
            </a:p>
          </p:txBody>
        </p:sp>
        <p:sp>
          <p:nvSpPr>
            <p:cNvPr id="17" name="Rechteck 16"/>
            <p:cNvSpPr/>
            <p:nvPr/>
          </p:nvSpPr>
          <p:spPr bwMode="auto">
            <a:xfrm>
              <a:off x="6732588" y="5084763"/>
              <a:ext cx="1295400" cy="57626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Blocked 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stock</a:t>
              </a:r>
            </a:p>
          </p:txBody>
        </p:sp>
        <p:sp>
          <p:nvSpPr>
            <p:cNvPr id="18" name="Pfeil nach links 18"/>
            <p:cNvSpPr>
              <a:spLocks noChangeArrowheads="1"/>
            </p:cNvSpPr>
            <p:nvPr/>
          </p:nvSpPr>
          <p:spPr bwMode="auto">
            <a:xfrm>
              <a:off x="3348038" y="2997200"/>
              <a:ext cx="1655762" cy="287338"/>
            </a:xfrm>
            <a:prstGeom prst="leftArrow">
              <a:avLst>
                <a:gd name="adj1" fmla="val 50000"/>
                <a:gd name="adj2" fmla="val 50101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2800"/>
            </a:p>
          </p:txBody>
        </p:sp>
        <p:sp>
          <p:nvSpPr>
            <p:cNvPr id="19" name="Pfeil nach rechts 19"/>
            <p:cNvSpPr>
              <a:spLocks noChangeArrowheads="1"/>
            </p:cNvSpPr>
            <p:nvPr/>
          </p:nvSpPr>
          <p:spPr bwMode="auto">
            <a:xfrm>
              <a:off x="2843213" y="4581525"/>
              <a:ext cx="2449512" cy="287338"/>
            </a:xfrm>
            <a:prstGeom prst="rightArrow">
              <a:avLst>
                <a:gd name="adj1" fmla="val 50000"/>
                <a:gd name="adj2" fmla="val 50162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2800"/>
            </a:p>
          </p:txBody>
        </p:sp>
        <p:cxnSp>
          <p:nvCxnSpPr>
            <p:cNvPr id="20" name="Gerade Verbindung mit Pfeil 23"/>
            <p:cNvCxnSpPr>
              <a:cxnSpLocks noChangeShapeType="1"/>
              <a:stCxn id="13" idx="3"/>
              <a:endCxn id="15" idx="1"/>
            </p:cNvCxnSpPr>
            <p:nvPr/>
          </p:nvCxnSpPr>
          <p:spPr bwMode="auto">
            <a:xfrm flipV="1">
              <a:off x="6300788" y="4076700"/>
              <a:ext cx="431800" cy="647700"/>
            </a:xfrm>
            <a:prstGeom prst="straightConnector1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Gerade Verbindung mit Pfeil 25"/>
            <p:cNvCxnSpPr>
              <a:cxnSpLocks noChangeShapeType="1"/>
              <a:stCxn id="13" idx="3"/>
              <a:endCxn id="16" idx="1"/>
            </p:cNvCxnSpPr>
            <p:nvPr/>
          </p:nvCxnSpPr>
          <p:spPr bwMode="auto">
            <a:xfrm>
              <a:off x="6300788" y="4724400"/>
              <a:ext cx="431800" cy="0"/>
            </a:xfrm>
            <a:prstGeom prst="straightConnector1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Gerade Verbindung mit Pfeil 27"/>
            <p:cNvCxnSpPr>
              <a:cxnSpLocks noChangeShapeType="1"/>
              <a:stCxn id="13" idx="3"/>
              <a:endCxn id="17" idx="1"/>
            </p:cNvCxnSpPr>
            <p:nvPr/>
          </p:nvCxnSpPr>
          <p:spPr bwMode="auto">
            <a:xfrm>
              <a:off x="6300788" y="4724400"/>
              <a:ext cx="431800" cy="649288"/>
            </a:xfrm>
            <a:prstGeom prst="straightConnector1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74680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WM </a:t>
            </a:r>
            <a:r>
              <a:rPr lang="en-US" altLang="de-DE" dirty="0" smtClean="0">
                <a:latin typeface="Arial" panose="020B0604020202020204" pitchFamily="34" charset="0"/>
              </a:rPr>
              <a:t>Processes</a:t>
            </a:r>
            <a:endParaRPr lang="de-DE" dirty="0"/>
          </a:p>
        </p:txBody>
      </p:sp>
      <p:grpSp>
        <p:nvGrpSpPr>
          <p:cNvPr id="19" name="Gruppieren 18"/>
          <p:cNvGrpSpPr/>
          <p:nvPr/>
        </p:nvGrpSpPr>
        <p:grpSpPr>
          <a:xfrm>
            <a:off x="2460431" y="1691079"/>
            <a:ext cx="7272338" cy="4391025"/>
            <a:chOff x="971550" y="1341438"/>
            <a:chExt cx="7272338" cy="4391025"/>
          </a:xfrm>
        </p:grpSpPr>
        <p:cxnSp>
          <p:nvCxnSpPr>
            <p:cNvPr id="4" name="Gerade Verbindung 21"/>
            <p:cNvCxnSpPr>
              <a:cxnSpLocks noChangeShapeType="1"/>
            </p:cNvCxnSpPr>
            <p:nvPr/>
          </p:nvCxnSpPr>
          <p:spPr bwMode="auto">
            <a:xfrm>
              <a:off x="2195513" y="1989138"/>
              <a:ext cx="0" cy="316706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" name="Gerade Verbindung 22"/>
            <p:cNvCxnSpPr>
              <a:cxnSpLocks noChangeShapeType="1"/>
            </p:cNvCxnSpPr>
            <p:nvPr/>
          </p:nvCxnSpPr>
          <p:spPr bwMode="auto">
            <a:xfrm>
              <a:off x="7019925" y="1989138"/>
              <a:ext cx="0" cy="316706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" name="Rechteck 3"/>
            <p:cNvSpPr>
              <a:spLocks noChangeArrowheads="1"/>
            </p:cNvSpPr>
            <p:nvPr/>
          </p:nvSpPr>
          <p:spPr bwMode="auto">
            <a:xfrm>
              <a:off x="3348038" y="1341438"/>
              <a:ext cx="2519362" cy="57467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de-DE" sz="2000">
                  <a:solidFill>
                    <a:schemeClr val="bg1"/>
                  </a:solidFill>
                </a:rPr>
                <a:t>Logistics Execution</a:t>
              </a:r>
            </a:p>
          </p:txBody>
        </p:sp>
        <p:sp>
          <p:nvSpPr>
            <p:cNvPr id="7" name="Rechteck 6"/>
            <p:cNvSpPr/>
            <p:nvPr/>
          </p:nvSpPr>
          <p:spPr bwMode="auto">
            <a:xfrm>
              <a:off x="971550" y="2205038"/>
              <a:ext cx="2520950" cy="57626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2000" dirty="0">
                  <a:latin typeface="Arial" charset="0"/>
                </a:rPr>
                <a:t>Goods receipt</a:t>
              </a:r>
            </a:p>
          </p:txBody>
        </p:sp>
        <p:sp>
          <p:nvSpPr>
            <p:cNvPr id="8" name="Rechteck 7"/>
            <p:cNvSpPr/>
            <p:nvPr/>
          </p:nvSpPr>
          <p:spPr bwMode="auto">
            <a:xfrm>
              <a:off x="5724525" y="2205038"/>
              <a:ext cx="2519363" cy="57626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2000" dirty="0">
                  <a:latin typeface="Arial" charset="0"/>
                </a:rPr>
                <a:t>Goods issue</a:t>
              </a:r>
            </a:p>
          </p:txBody>
        </p:sp>
        <p:sp>
          <p:nvSpPr>
            <p:cNvPr id="9" name="Rechteck 8"/>
            <p:cNvSpPr/>
            <p:nvPr/>
          </p:nvSpPr>
          <p:spPr bwMode="auto">
            <a:xfrm>
              <a:off x="971550" y="2997200"/>
              <a:ext cx="2520950" cy="5762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Goods receipt posting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971550" y="3716338"/>
              <a:ext cx="2520950" cy="57626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Transfer requirement</a:t>
              </a:r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971550" y="4437063"/>
              <a:ext cx="2520950" cy="57626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Putaway with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transfer order</a:t>
              </a:r>
            </a:p>
          </p:txBody>
        </p:sp>
        <p:sp>
          <p:nvSpPr>
            <p:cNvPr id="12" name="Rechteck 11"/>
            <p:cNvSpPr/>
            <p:nvPr/>
          </p:nvSpPr>
          <p:spPr bwMode="auto">
            <a:xfrm>
              <a:off x="971550" y="5157788"/>
              <a:ext cx="2520950" cy="5746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Confirm transfer order</a:t>
              </a:r>
            </a:p>
          </p:txBody>
        </p:sp>
        <p:sp>
          <p:nvSpPr>
            <p:cNvPr id="13" name="Rechteck 12"/>
            <p:cNvSpPr/>
            <p:nvPr/>
          </p:nvSpPr>
          <p:spPr bwMode="auto">
            <a:xfrm>
              <a:off x="5724525" y="2997200"/>
              <a:ext cx="2519363" cy="5762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Goods issue posting</a:t>
              </a:r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5724525" y="3716338"/>
              <a:ext cx="2519363" cy="57626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Transfer requirement</a:t>
              </a:r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5724525" y="4437063"/>
              <a:ext cx="2519363" cy="57626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Picking with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transfer order</a:t>
              </a:r>
            </a:p>
          </p:txBody>
        </p:sp>
        <p:sp>
          <p:nvSpPr>
            <p:cNvPr id="16" name="Rechteck 15"/>
            <p:cNvSpPr/>
            <p:nvPr/>
          </p:nvSpPr>
          <p:spPr bwMode="auto">
            <a:xfrm>
              <a:off x="5724525" y="5157788"/>
              <a:ext cx="2519363" cy="5746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en-US" sz="1600" dirty="0">
                  <a:latin typeface="Arial" charset="0"/>
                </a:rPr>
                <a:t>Confirm transfer order</a:t>
              </a:r>
            </a:p>
          </p:txBody>
        </p:sp>
        <p:cxnSp>
          <p:nvCxnSpPr>
            <p:cNvPr id="17" name="Gerade Verbindung 16"/>
            <p:cNvCxnSpPr>
              <a:cxnSpLocks noChangeShapeType="1"/>
            </p:cNvCxnSpPr>
            <p:nvPr/>
          </p:nvCxnSpPr>
          <p:spPr bwMode="auto">
            <a:xfrm>
              <a:off x="2195513" y="1989138"/>
              <a:ext cx="4824412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Gerade Verbindung 20"/>
            <p:cNvCxnSpPr>
              <a:cxnSpLocks noChangeShapeType="1"/>
            </p:cNvCxnSpPr>
            <p:nvPr/>
          </p:nvCxnSpPr>
          <p:spPr bwMode="auto">
            <a:xfrm>
              <a:off x="4572000" y="1916113"/>
              <a:ext cx="0" cy="7302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918977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Posting change notice (PCN)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Generated by posting change processes in WM-administrated stocks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Functionality similar to transfer requests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Not necessarily combined with a physical goods movement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Transfer requirement (TR)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A request to transfer materials at a particular time from a source storage bin to a destination storage bin in a warehouse complex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Represents the expected and scheduled goods movements in WM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 smtClean="0">
                <a:latin typeface="Arial" panose="020B0604020202020204" pitchFamily="34" charset="0"/>
              </a:rPr>
              <a:t>Normally generated </a:t>
            </a:r>
            <a:r>
              <a:rPr lang="en-US" altLang="de-DE" dirty="0">
                <a:latin typeface="Arial" panose="020B0604020202020204" pitchFamily="34" charset="0"/>
              </a:rPr>
              <a:t>by postings in the inventory management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Consists of transfer request header and line items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Transfer order (TO)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Central documents for WM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Every material movement requires a transfer order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No difference between real and logical movement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WM Process Management and Control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1278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Creation of transfer order depends on preceding document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Transfer request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Posting change notice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Outbound delivery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Inbound delivery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Types of Transfer Order Creation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Manual (TR, PCN, material document)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Direct TO-Creation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Automatic TO-Creation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Manual (Delivery Monitor)</a:t>
            </a:r>
          </a:p>
          <a:p>
            <a:pPr lvl="1"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Transfer Order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467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Periodic inventory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Continuous inventory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Inventory on </a:t>
            </a:r>
            <a:r>
              <a:rPr lang="en-US" altLang="de-DE" dirty="0" err="1">
                <a:latin typeface="Arial" panose="020B0604020202020204" pitchFamily="34" charset="0"/>
              </a:rPr>
              <a:t>putaway</a:t>
            </a: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Zero stock check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Sample-based physical inventory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Cycle-Counting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Inventory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7329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23850" y="352650"/>
            <a:ext cx="11545200" cy="756175"/>
          </a:xfrm>
        </p:spPr>
        <p:txBody>
          <a:bodyPr/>
          <a:lstStyle/>
          <a:p>
            <a:r>
              <a:rPr lang="en-US" altLang="de-DE" dirty="0" smtClean="0">
                <a:latin typeface="Arial" panose="020B0604020202020204" pitchFamily="34" charset="0"/>
              </a:rPr>
              <a:t>Physical inventory </a:t>
            </a:r>
            <a:r>
              <a:rPr lang="en-US" altLang="de-DE" dirty="0">
                <a:latin typeface="Arial" panose="020B0604020202020204" pitchFamily="34" charset="0"/>
              </a:rPr>
              <a:t>process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323850" y="1690688"/>
          <a:ext cx="11545888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8456500"/>
      </p:ext>
    </p:extLst>
  </p:cSld>
  <p:clrMapOvr>
    <a:masterClrMapping/>
  </p:clrMapOvr>
</p:sld>
</file>

<file path=ppt/theme/theme1.xml><?xml version="1.0" encoding="utf-8"?>
<a:theme xmlns:a="http://schemas.openxmlformats.org/drawingml/2006/main" name="SAP_2016_16x9_white">
  <a:themeElements>
    <a:clrScheme name="SAP_colors_white_template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 w="6350" algn="ctr">
          <a:noFill/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ts val="6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2696891-6260-4D8D-AB31-F1C204081A38}" vid="{B72584D7-7D1F-4BD9-9F01-A4F5E0412201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SAP_Template_169_en</Template>
  <TotalTime>0</TotalTime>
  <Words>1576</Words>
  <Application>Microsoft Office PowerPoint</Application>
  <PresentationFormat>Benutzerdefiniert</PresentationFormat>
  <Paragraphs>479</Paragraphs>
  <Slides>33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42" baseType="lpstr">
      <vt:lpstr>Angsana New</vt:lpstr>
      <vt:lpstr>Arial</vt:lpstr>
      <vt:lpstr>Arial Unicode MS</vt:lpstr>
      <vt:lpstr>Courier New</vt:lpstr>
      <vt:lpstr>Symbol</vt:lpstr>
      <vt:lpstr>Times New Roman</vt:lpstr>
      <vt:lpstr>wingdings</vt:lpstr>
      <vt:lpstr>wingdings</vt:lpstr>
      <vt:lpstr>SAP_2016_16x9_white</vt:lpstr>
      <vt:lpstr>Warehouse Management (WM)</vt:lpstr>
      <vt:lpstr>PowerPoint-Präsentation</vt:lpstr>
      <vt:lpstr>PowerPoint-Präsentation</vt:lpstr>
      <vt:lpstr>PowerPoint-Präsentation</vt:lpstr>
      <vt:lpstr>Functionality</vt:lpstr>
      <vt:lpstr>Agenda</vt:lpstr>
      <vt:lpstr>Agenda</vt:lpstr>
      <vt:lpstr>WM Organizational Structure</vt:lpstr>
      <vt:lpstr>WM Organizational Structure</vt:lpstr>
      <vt:lpstr>WM Organizational Structure</vt:lpstr>
      <vt:lpstr>WM Organizational Structure</vt:lpstr>
      <vt:lpstr>Global Bike Structure for Warehouse Management</vt:lpstr>
      <vt:lpstr>Global Bike Enterprise Structure in SAP ERP (Logistics)</vt:lpstr>
      <vt:lpstr>Agenda</vt:lpstr>
      <vt:lpstr>WM Master Data</vt:lpstr>
      <vt:lpstr>Storage Bin Master Data</vt:lpstr>
      <vt:lpstr>Storage Bin Master Data</vt:lpstr>
      <vt:lpstr>Storage Bin Master Data</vt:lpstr>
      <vt:lpstr>Material Master Data</vt:lpstr>
      <vt:lpstr>Material Master Views</vt:lpstr>
      <vt:lpstr>Material Master</vt:lpstr>
      <vt:lpstr>Hazard Master Data</vt:lpstr>
      <vt:lpstr>Batch Master Data</vt:lpstr>
      <vt:lpstr>Agenda</vt:lpstr>
      <vt:lpstr>WM Types of goods movements</vt:lpstr>
      <vt:lpstr>Transfer posting and stock transfer</vt:lpstr>
      <vt:lpstr>One-Step/Two-Step Procedures</vt:lpstr>
      <vt:lpstr>Stock transport order</vt:lpstr>
      <vt:lpstr>WM Processes</vt:lpstr>
      <vt:lpstr>WM Process Management and Control</vt:lpstr>
      <vt:lpstr>Transfer Order</vt:lpstr>
      <vt:lpstr>Inventory</vt:lpstr>
      <vt:lpstr>Physical inventory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SAP UCC Magdeburg</dc:creator>
  <cp:keywords>2016/16:9/white</cp:keywords>
  <cp:lastModifiedBy>Robert Häusler</cp:lastModifiedBy>
  <cp:revision>64</cp:revision>
  <dcterms:created xsi:type="dcterms:W3CDTF">2017-05-28T06:50:47Z</dcterms:created>
  <dcterms:modified xsi:type="dcterms:W3CDTF">2025-08-08T09:51:02Z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-1173631419</vt:i4>
  </property>
  <property fmtid="{D5CDD505-2E9C-101B-9397-08002B2CF9AE}" pid="3" name="_NewReviewCycle">
    <vt:lpwstr/>
  </property>
  <property fmtid="{D5CDD505-2E9C-101B-9397-08002B2CF9AE}" pid="4" name="_EmailSubject">
    <vt:lpwstr> UA Master Slides Diskussion</vt:lpwstr>
  </property>
  <property fmtid="{D5CDD505-2E9C-101B-9397-08002B2CF9AE}" pid="5" name="_AuthorEmail">
    <vt:lpwstr>kristof.schneider@sap.com</vt:lpwstr>
  </property>
  <property fmtid="{D5CDD505-2E9C-101B-9397-08002B2CF9AE}" pid="6" name="_AuthorEmailDisplayName">
    <vt:lpwstr>Schneider, Kristof</vt:lpwstr>
  </property>
  <property fmtid="{D5CDD505-2E9C-101B-9397-08002B2CF9AE}" pid="7" name="_PreviousAdHocReviewCycleID">
    <vt:i4>1357826825</vt:i4>
  </property>
</Properties>
</file>