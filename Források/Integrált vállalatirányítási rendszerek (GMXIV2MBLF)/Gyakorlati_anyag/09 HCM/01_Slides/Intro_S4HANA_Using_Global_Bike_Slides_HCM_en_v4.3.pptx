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8" r:id="rId1"/>
  </p:sldMasterIdLst>
  <p:notesMasterIdLst>
    <p:notesMasterId r:id="rId27"/>
  </p:notesMasterIdLst>
  <p:handoutMasterIdLst>
    <p:handoutMasterId r:id="rId28"/>
  </p:handoutMasterIdLst>
  <p:sldIdLst>
    <p:sldId id="410" r:id="rId2"/>
    <p:sldId id="369" r:id="rId3"/>
    <p:sldId id="363" r:id="rId4"/>
    <p:sldId id="364" r:id="rId5"/>
    <p:sldId id="414" r:id="rId6"/>
    <p:sldId id="365" r:id="rId7"/>
    <p:sldId id="366" r:id="rId8"/>
    <p:sldId id="370" r:id="rId9"/>
    <p:sldId id="371" r:id="rId10"/>
    <p:sldId id="372" r:id="rId11"/>
    <p:sldId id="426" r:id="rId12"/>
    <p:sldId id="373" r:id="rId13"/>
    <p:sldId id="374" r:id="rId14"/>
    <p:sldId id="375" r:id="rId15"/>
    <p:sldId id="376" r:id="rId16"/>
    <p:sldId id="412" r:id="rId17"/>
    <p:sldId id="377" r:id="rId18"/>
    <p:sldId id="379" r:id="rId19"/>
    <p:sldId id="380" r:id="rId20"/>
    <p:sldId id="381" r:id="rId21"/>
    <p:sldId id="413" r:id="rId22"/>
    <p:sldId id="383" r:id="rId23"/>
    <p:sldId id="384" r:id="rId24"/>
    <p:sldId id="408" r:id="rId25"/>
    <p:sldId id="425" r:id="rId26"/>
  </p:sldIdLst>
  <p:sldSz cx="12195175" cy="6859588"/>
  <p:notesSz cx="6797675" cy="9874250"/>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1285">
          <p15:clr>
            <a:srgbClr val="A4A3A4"/>
          </p15:clr>
        </p15:guide>
        <p15:guide id="4" orient="horz" pos="779">
          <p15:clr>
            <a:srgbClr val="A4A3A4"/>
          </p15:clr>
        </p15:guide>
        <p15:guide id="5" pos="7478">
          <p15:clr>
            <a:srgbClr val="A4A3A4"/>
          </p15:clr>
        </p15:guide>
        <p15:guide id="6" pos="205">
          <p15:clr>
            <a:srgbClr val="A4A3A4"/>
          </p15:clr>
        </p15:guide>
        <p15:guide id="7" pos="3849">
          <p15:clr>
            <a:srgbClr val="A4A3A4"/>
          </p15:clr>
        </p15:guide>
        <p15:guide id="8" pos="4708">
          <p15:clr>
            <a:srgbClr val="A4A3A4"/>
          </p15:clr>
        </p15:guide>
        <p15:guide id="9" pos="4812">
          <p15:clr>
            <a:srgbClr val="A4A3A4"/>
          </p15:clr>
        </p15:guide>
        <p15:guide id="10" pos="2865">
          <p15:clr>
            <a:srgbClr val="A4A3A4"/>
          </p15:clr>
        </p15:guide>
        <p15:guide id="11" pos="2956" userDrawn="1">
          <p15:clr>
            <a:srgbClr val="A4A3A4"/>
          </p15:clr>
        </p15:guide>
      </p15:sldGuideLst>
    </p:ext>
    <p:ext uri="{2D200454-40CA-4A62-9FC3-DE9A4176ACB9}">
      <p15:notesGuideLst xmlns:p15="http://schemas.microsoft.com/office/powerpoint/2012/main">
        <p15:guide id="1" orient="horz" pos="3110">
          <p15:clr>
            <a:srgbClr val="A4A3A4"/>
          </p15:clr>
        </p15:guide>
        <p15:guide id="2" pos="351">
          <p15:clr>
            <a:srgbClr val="A4A3A4"/>
          </p15:clr>
        </p15:guide>
        <p15:guide id="3" pos="395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nt, Phillip" initials="DP" lastIdx="48" clrIdx="0">
    <p:extLst>
      <p:ext uri="{19B8F6BF-5375-455C-9EA6-DF929625EA0E}">
        <p15:presenceInfo xmlns:p15="http://schemas.microsoft.com/office/powerpoint/2012/main" userId="0c306e22-924d-4d2f-9b38-6bfb0b3c3bb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666666"/>
    <a:srgbClr val="B2B2B2"/>
    <a:srgbClr val="003283"/>
    <a:srgbClr val="FF0000"/>
    <a:srgbClr val="2B3F7B"/>
    <a:srgbClr val="9C277B"/>
    <a:srgbClr val="D4652D"/>
    <a:srgbClr val="9E3039"/>
    <a:srgbClr val="99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344" autoAdjust="0"/>
    <p:restoredTop sz="77869" autoAdjust="0"/>
  </p:normalViewPr>
  <p:slideViewPr>
    <p:cSldViewPr snapToGrid="0" showGuides="1">
      <p:cViewPr varScale="1">
        <p:scale>
          <a:sx n="85" d="100"/>
          <a:sy n="85" d="100"/>
        </p:scale>
        <p:origin x="90" y="942"/>
      </p:cViewPr>
      <p:guideLst>
        <p:guide orient="horz" pos="1285"/>
        <p:guide orient="horz" pos="779"/>
        <p:guide pos="7478"/>
        <p:guide pos="205"/>
        <p:guide pos="3849"/>
        <p:guide pos="4708"/>
        <p:guide pos="4812"/>
        <p:guide pos="2865"/>
        <p:guide pos="2956"/>
      </p:guideLst>
    </p:cSldViewPr>
  </p:slideViewPr>
  <p:notesTextViewPr>
    <p:cViewPr>
      <p:scale>
        <a:sx n="100" d="100"/>
        <a:sy n="100" d="100"/>
      </p:scale>
      <p:origin x="0" y="0"/>
    </p:cViewPr>
  </p:notesTextViewPr>
  <p:sorterViewPr>
    <p:cViewPr varScale="1">
      <p:scale>
        <a:sx n="100" d="100"/>
        <a:sy n="100" d="100"/>
      </p:scale>
      <p:origin x="0" y="0"/>
    </p:cViewPr>
  </p:sorterViewPr>
  <p:notesViewPr>
    <p:cSldViewPr snapToGrid="0" showGuides="1">
      <p:cViewPr varScale="1">
        <p:scale>
          <a:sx n="85" d="100"/>
          <a:sy n="85" d="100"/>
        </p:scale>
        <p:origin x="-4200" y="-82"/>
      </p:cViewPr>
      <p:guideLst>
        <p:guide orient="horz" pos="3110"/>
        <p:guide pos="351"/>
        <p:guide pos="395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26008" y="9378824"/>
            <a:ext cx="2945659" cy="493713"/>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‹Nr.›</a:t>
            </a:fld>
            <a:endParaRPr lang="de-DE" sz="1000" dirty="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57213" y="661988"/>
            <a:ext cx="5715000" cy="3214687"/>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544171" y="4548205"/>
            <a:ext cx="5709333" cy="4696698"/>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31497" y="9627396"/>
            <a:ext cx="934681" cy="221758"/>
          </a:xfrm>
          <a:prstGeom prst="rect">
            <a:avLst/>
          </a:prstGeom>
        </p:spPr>
        <p:txBody>
          <a:bodyPr vert="horz" lIns="91440" tIns="45720" rIns="91440" bIns="45720" rtlCol="0" anchor="b"/>
          <a:lstStyle>
            <a:lvl1pPr algn="ctr">
              <a:defRPr sz="1000"/>
            </a:lvl1pPr>
          </a:lstStyle>
          <a:p>
            <a:fld id="{7D8C2C35-2B8A-446E-BEC0-FD36716C29AC}" type="slidenum">
              <a:rPr lang="de-DE" smtClean="0"/>
              <a:pPr/>
              <a:t>‹Nr.›</a:t>
            </a:fld>
            <a:endParaRPr lang="de-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975" indent="-180975" algn="l" defTabSz="1088776" rtl="0" eaLnBrk="1" latinLnBrk="0" hangingPunct="1">
      <a:buClr>
        <a:schemeClr val="accent1"/>
      </a:buClr>
      <a:buSzPct val="100000"/>
      <a:buFont typeface="Wingdings" pitchFamily="2" charset="2"/>
      <a:buChar char=""/>
      <a:defRPr sz="1200" kern="1200">
        <a:solidFill>
          <a:schemeClr val="tx1"/>
        </a:solidFill>
        <a:latin typeface="+mn-lt"/>
        <a:ea typeface="+mn-ea"/>
        <a:cs typeface="+mn-cs"/>
      </a:defRPr>
    </a:lvl2pPr>
    <a:lvl3pPr marL="357188" indent="-176213"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1088776" rtl="0" eaLnBrk="1" fontAlgn="auto" latinLnBrk="0" hangingPunct="1">
              <a:lnSpc>
                <a:spcPct val="100000"/>
              </a:lnSpc>
              <a:spcBef>
                <a:spcPts val="0"/>
              </a:spcBef>
              <a:spcAft>
                <a:spcPts val="0"/>
              </a:spcAft>
              <a:buClrTx/>
              <a:buSzTx/>
              <a:buFontTx/>
              <a:buNone/>
              <a:tabLst/>
              <a:defRPr/>
            </a:pPr>
            <a:r>
              <a:rPr lang="en-US" altLang="de-DE" dirty="0"/>
              <a:t>Organizational units displayed in grey are not yet implemented, but are already planned in Global</a:t>
            </a:r>
            <a:r>
              <a:rPr lang="en-US" altLang="de-DE" baseline="0" dirty="0"/>
              <a:t> Bike</a:t>
            </a:r>
            <a:r>
              <a:rPr lang="en-US" altLang="de-DE" dirty="0"/>
              <a:t>.</a:t>
            </a:r>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14</a:t>
            </a:fld>
            <a:endParaRPr lang="de-DE" dirty="0"/>
          </a:p>
        </p:txBody>
      </p:sp>
    </p:spTree>
    <p:extLst>
      <p:ext uri="{BB962C8B-B14F-4D97-AF65-F5344CB8AC3E}">
        <p14:creationId xmlns:p14="http://schemas.microsoft.com/office/powerpoint/2010/main" val="9583545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15</a:t>
            </a:fld>
            <a:endParaRPr lang="de-DE" dirty="0"/>
          </a:p>
        </p:txBody>
      </p:sp>
    </p:spTree>
    <p:extLst>
      <p:ext uri="{BB962C8B-B14F-4D97-AF65-F5344CB8AC3E}">
        <p14:creationId xmlns:p14="http://schemas.microsoft.com/office/powerpoint/2010/main" val="38059379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pPr marL="0" indent="0"/>
            <a:r>
              <a:rPr lang="en-US" altLang="de-DE" b="1" dirty="0" smtClean="0">
                <a:latin typeface="Arial" panose="020B0604020202020204" pitchFamily="34" charset="0"/>
                <a:cs typeface="Arial" panose="020B0604020202020204" pitchFamily="34" charset="0"/>
              </a:rPr>
              <a:t>An </a:t>
            </a:r>
            <a:r>
              <a:rPr lang="en-US" altLang="de-DE" b="1" dirty="0">
                <a:latin typeface="Arial" panose="020B0604020202020204" pitchFamily="34" charset="0"/>
                <a:cs typeface="Arial" panose="020B0604020202020204" pitchFamily="34" charset="0"/>
              </a:rPr>
              <a:t>Ad-Hoc Query is an easy and effective tool for the creation of user-defined reports. The title  “Ad-hoc Query“ is exclusively used within the HCM module. Outside the HCM module, this tool is named “InfoSet Query“.</a:t>
            </a:r>
          </a:p>
          <a:p>
            <a:pPr marL="0" indent="0"/>
            <a:endParaRPr lang="en-US" altLang="de-DE" b="1" dirty="0">
              <a:latin typeface="Arial" panose="020B0604020202020204" pitchFamily="34" charset="0"/>
              <a:cs typeface="Arial" panose="020B0604020202020204" pitchFamily="34" charset="0"/>
            </a:endParaRPr>
          </a:p>
          <a:p>
            <a:pPr marL="0" indent="0"/>
            <a:r>
              <a:rPr lang="en-US" altLang="de-DE" b="1" dirty="0">
                <a:latin typeface="Arial" panose="020B0604020202020204" pitchFamily="34" charset="0"/>
                <a:cs typeface="Arial" panose="020B0604020202020204" pitchFamily="34" charset="0"/>
              </a:rPr>
              <a:t>When creating an ad-hoc query, the user can decide which data fields shall be provided as selection criteria for the report. Data fields from the different components of the HCM module can be chosen. In addition, the user can chose the data fields to be displayed in the output of the report as well as the output form of the report. Ad-hoc query's can be saved and do not have to be regenerated when calling the query. In order to limit the number of data field  visible for a user, InfoSets can be generated in customizing. In these InfoSets, data fields that are available for ad-hoc query users. The InfoSets are assigned to a user with the help of a user group.  </a:t>
            </a:r>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24</a:t>
            </a:fld>
            <a:endParaRPr lang="de-DE" dirty="0"/>
          </a:p>
        </p:txBody>
      </p:sp>
    </p:spTree>
    <p:extLst>
      <p:ext uri="{BB962C8B-B14F-4D97-AF65-F5344CB8AC3E}">
        <p14:creationId xmlns:p14="http://schemas.microsoft.com/office/powerpoint/2010/main" val="40744334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25</a:t>
            </a:fld>
            <a:endParaRPr lang="de-DE" dirty="0"/>
          </a:p>
        </p:txBody>
      </p:sp>
    </p:spTree>
    <p:extLst>
      <p:ext uri="{BB962C8B-B14F-4D97-AF65-F5344CB8AC3E}">
        <p14:creationId xmlns:p14="http://schemas.microsoft.com/office/powerpoint/2010/main" val="83664076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 short">
    <p:spTree>
      <p:nvGrpSpPr>
        <p:cNvPr id="1" name=""/>
        <p:cNvGrpSpPr/>
        <p:nvPr/>
      </p:nvGrpSpPr>
      <p:grpSpPr>
        <a:xfrm>
          <a:off x="0" y="0"/>
          <a:ext cx="0" cy="0"/>
          <a:chOff x="0" y="0"/>
          <a:chExt cx="0" cy="0"/>
        </a:xfrm>
      </p:grpSpPr>
      <p:pic>
        <p:nvPicPr>
          <p:cNvPr id="13" name="Picture 3" descr="C:\Users\i061152\Desktop\Images\276365_l_srgb_s_gl.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4207" t="7222" r="3917" b="14891"/>
          <a:stretch/>
        </p:blipFill>
        <p:spPr bwMode="auto">
          <a:xfrm>
            <a:off x="0" y="0"/>
            <a:ext cx="12180864" cy="688323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2" name="Title 1"/>
          <p:cNvSpPr>
            <a:spLocks noGrp="1"/>
          </p:cNvSpPr>
          <p:nvPr>
            <p:ph type="title" hasCustomPrompt="1"/>
          </p:nvPr>
        </p:nvSpPr>
        <p:spPr>
          <a:xfrm>
            <a:off x="467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19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40520"/>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&lt;First Name&gt; &lt;Last name&gt;, &lt;Organization&gt; (delete if not needed)</a:t>
            </a:r>
            <a:br>
              <a:rPr lang="en-US" dirty="0"/>
            </a:br>
            <a:r>
              <a:rPr lang="en-US" dirty="0"/>
              <a:t>&lt;Month&gt; &lt;Day&gt;, &lt;Year&gt;</a:t>
            </a:r>
          </a:p>
        </p:txBody>
      </p:sp>
      <p:grpSp>
        <p:nvGrpSpPr>
          <p:cNvPr id="9" name="Gruppieren 8"/>
          <p:cNvGrpSpPr/>
          <p:nvPr userDrawn="1"/>
        </p:nvGrpSpPr>
        <p:grpSpPr>
          <a:xfrm>
            <a:off x="10518759" y="6066338"/>
            <a:ext cx="1352566" cy="470987"/>
            <a:chOff x="10518759" y="6066338"/>
            <a:chExt cx="1352566" cy="470987"/>
          </a:xfrm>
        </p:grpSpPr>
        <p:sp>
          <p:nvSpPr>
            <p:cNvPr id="10" name="Rectangle 15"/>
            <p:cNvSpPr/>
            <p:nvPr/>
          </p:nvSpPr>
          <p:spPr bwMode="gray">
            <a:xfrm>
              <a:off x="10518759" y="6088062"/>
              <a:ext cx="1352566" cy="449263"/>
            </a:xfrm>
            <a:prstGeom prst="rect">
              <a:avLst/>
            </a:prstGeom>
            <a:solidFill>
              <a:schemeClr val="bg1"/>
            </a:solidFill>
            <a:ln w="12700" cmpd="sng" algn="ctr">
              <a:noFill/>
              <a:prstDash val="dash"/>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400" b="0" i="0" u="none" strike="noStrike" kern="0" cap="none" spc="0" normalizeH="0" baseline="0" noProof="0" dirty="0">
                <a:ln>
                  <a:noFill/>
                </a:ln>
                <a:effectLst/>
                <a:uLnTx/>
                <a:uFillTx/>
                <a:ea typeface="Arial Unicode MS" pitchFamily="34" charset="-128"/>
                <a:cs typeface="Arial Unicode MS" pitchFamily="34" charset="-128"/>
              </a:endParaRPr>
            </a:p>
          </p:txBody>
        </p:sp>
        <p:pic>
          <p:nvPicPr>
            <p:cNvPr id="11" name="Grafik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18759" y="6066338"/>
              <a:ext cx="1288232" cy="470987"/>
            </a:xfrm>
            <a:prstGeom prst="rect">
              <a:avLst/>
            </a:prstGeom>
          </p:spPr>
        </p:pic>
      </p:grpSp>
      <p:pic>
        <p:nvPicPr>
          <p:cNvPr id="12" name="Picture 8" descr="M:\Dokumente\UCC_Partner\Logos\SAP UA Logo\SAP_University_Alliances_Logo_2013_Februar\RGB\SAP_UniversityAlliances_scrn_R_pos_stac3.png"/>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24000" y="6184900"/>
            <a:ext cx="647700" cy="352425"/>
          </a:xfrm>
          <a:prstGeom prst="rect">
            <a:avLst/>
          </a:prstGeom>
          <a:noFill/>
          <a:ln>
            <a:noFill/>
          </a:ln>
          <a:extLst/>
        </p:spPr>
      </p:pic>
    </p:spTree>
    <p:extLst>
      <p:ext uri="{BB962C8B-B14F-4D97-AF65-F5344CB8AC3E}">
        <p14:creationId xmlns:p14="http://schemas.microsoft.com/office/powerpoint/2010/main" val="4293301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with picture - two lines">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Rectangle 6"/>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b" anchorCtr="0"/>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0" name="Rectangle 9"/>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19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&lt;First Name&gt; &lt;Last name&gt;, &lt;Organization&gt; (delete if not needed)</a:t>
            </a:r>
            <a:br>
              <a:rPr lang="en-US" dirty="0"/>
            </a:br>
            <a:r>
              <a:rPr lang="en-US" dirty="0"/>
              <a:t>&lt;Month&gt; &lt;Day&gt;, &lt;Year&gt;</a:t>
            </a:r>
          </a:p>
        </p:txBody>
      </p:sp>
      <p:sp>
        <p:nvSpPr>
          <p:cNvPr id="9" name="Title 1"/>
          <p:cNvSpPr>
            <a:spLocks noGrp="1"/>
          </p:cNvSpPr>
          <p:nvPr>
            <p:ph type="ctrTitle" hasCustomPrompt="1"/>
          </p:nvPr>
        </p:nvSpPr>
        <p:spPr bwMode="gray">
          <a:xfrm>
            <a:off x="467999" y="324075"/>
            <a:ext cx="10620000" cy="1107996"/>
          </a:xfrm>
        </p:spPr>
        <p:txBody>
          <a:bodyPr anchor="t" anchorCtr="0">
            <a:noAutofit/>
          </a:bodyPr>
          <a:lstStyle>
            <a:lvl1pPr>
              <a:defRPr sz="3600">
                <a:solidFill>
                  <a:sysClr val="windowText" lastClr="000000"/>
                </a:solidFill>
                <a:latin typeface="+mj-lt"/>
              </a:defRPr>
            </a:lvl1pPr>
          </a:lstStyle>
          <a:p>
            <a:r>
              <a:rPr lang="en-US" sz="3600" dirty="0"/>
              <a:t>Alternate Presentation Title</a:t>
            </a:r>
            <a:br>
              <a:rPr lang="en-US" sz="3600" dirty="0"/>
            </a:br>
            <a:r>
              <a:rPr lang="en-US" sz="3600" dirty="0"/>
              <a:t>Breaks to Two Lines</a:t>
            </a:r>
            <a:endParaRPr lang="en-US" dirty="0"/>
          </a:p>
        </p:txBody>
      </p:sp>
      <p:sp>
        <p:nvSpPr>
          <p:cNvPr id="12" name="TextBox 11"/>
          <p:cNvSpPr txBox="1"/>
          <p:nvPr/>
        </p:nvSpPr>
        <p:spPr>
          <a:xfrm rot="21360000">
            <a:off x="4212456" y="3628659"/>
            <a:ext cx="3770263" cy="276999"/>
          </a:xfrm>
          <a:prstGeom prst="rect">
            <a:avLst/>
          </a:prstGeom>
          <a:noFill/>
        </p:spPr>
        <p:txBody>
          <a:bodyPr wrap="none" lIns="0" tIns="0" rIns="0" bIns="0" rtlCol="0">
            <a:spAutoFit/>
          </a:bodyPr>
          <a:lstStyle>
            <a:defPPr>
              <a:defRPr lang="de-DE"/>
            </a:defPPr>
            <a:lvl1pPr marL="0" algn="l" defTabSz="914400" rtl="0" eaLnBrk="1" latinLnBrk="0" hangingPunct="1">
              <a:defRPr lang="de-DE" sz="1800" kern="1200">
                <a:solidFill>
                  <a:schemeClr val="tx1"/>
                </a:solidFill>
                <a:latin typeface="Arial"/>
                <a:ea typeface="+mn-ea"/>
                <a:cs typeface="+mn-cs"/>
              </a:defRPr>
            </a:lvl1pPr>
            <a:lvl2pPr marL="457200" algn="l" defTabSz="914400" rtl="0" eaLnBrk="1" latinLnBrk="0" hangingPunct="1">
              <a:buClr>
                <a:srgbClr val="FDB913"/>
              </a:buClr>
              <a:buSzPct val="100000"/>
              <a:buFont typeface="wingdings"/>
              <a:buChar char=""/>
              <a:defRPr lang="de-DE" sz="1800" kern="1200">
                <a:solidFill>
                  <a:schemeClr val="tx1"/>
                </a:solidFill>
                <a:latin typeface="Arial"/>
                <a:ea typeface="+mn-ea"/>
                <a:cs typeface="+mn-cs"/>
              </a:defRPr>
            </a:lvl2pPr>
            <a:lvl3pPr marL="914400" algn="l" defTabSz="914400" rtl="0" eaLnBrk="1" latinLnBrk="0" hangingPunct="1">
              <a:buClr>
                <a:srgbClr val="666666"/>
              </a:buClr>
              <a:buSzPct val="80000"/>
              <a:buFont typeface="Wingdings"/>
              <a:buChar char="n"/>
              <a:defRPr lang="de-DE" sz="1400" kern="1200">
                <a:solidFill>
                  <a:schemeClr val="tx1"/>
                </a:solidFill>
                <a:latin typeface="Arial"/>
                <a:ea typeface="+mn-ea"/>
                <a:cs typeface="+mn-cs"/>
              </a:defRPr>
            </a:lvl3pPr>
            <a:lvl4pPr marL="1371600" algn="l" defTabSz="914400" rtl="0" eaLnBrk="1" latinLnBrk="0" hangingPunct="1">
              <a:buClr>
                <a:srgbClr val="666666"/>
              </a:buClr>
              <a:buSzPct val="80000"/>
              <a:buFont typeface="Arial"/>
              <a:buChar char=""/>
              <a:defRPr lang="de-DE" sz="1200" kern="1200">
                <a:solidFill>
                  <a:schemeClr val="tx1"/>
                </a:solidFill>
                <a:latin typeface="Arial"/>
                <a:ea typeface="+mn-ea"/>
                <a:cs typeface="+mn-cs"/>
              </a:defRPr>
            </a:lvl4pPr>
            <a:lvl5pPr marL="1828800" algn="l" defTabSz="914400" rtl="0" eaLnBrk="1" latinLnBrk="0" hangingPunct="1">
              <a:buClr>
                <a:srgbClr val="666666"/>
              </a:buClr>
              <a:buSzPct val="80000"/>
              <a:buFont typeface="Arial"/>
              <a:buChar char=""/>
              <a:defRPr lang="de-DE" sz="10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50000"/>
              </a:spcBef>
              <a:spcAft>
                <a:spcPct val="0"/>
              </a:spcAft>
              <a:buClr>
                <a:srgbClr val="F0AB00"/>
              </a:buClr>
              <a:buSzPct val="80000"/>
            </a:pPr>
            <a:r>
              <a:rPr lang="en-US" sz="1800" kern="0" dirty="0">
                <a:solidFill>
                  <a:schemeClr val="tx1"/>
                </a:solidFill>
                <a:ea typeface="Arial Unicode MS" pitchFamily="34" charset="-128"/>
                <a:cs typeface="Arial Unicode MS" pitchFamily="34" charset="-128"/>
              </a:rPr>
              <a:t>Use this title slide only with an</a:t>
            </a:r>
            <a:r>
              <a:rPr lang="en-US" sz="1800" kern="0" baseline="0" dirty="0">
                <a:solidFill>
                  <a:schemeClr val="tx1"/>
                </a:solidFill>
                <a:ea typeface="Arial Unicode MS" pitchFamily="34" charset="-128"/>
                <a:cs typeface="Arial Unicode MS" pitchFamily="34" charset="-128"/>
              </a:rPr>
              <a:t> image</a:t>
            </a:r>
            <a:endParaRPr lang="en-US" sz="1800" kern="0" dirty="0">
              <a:solidFill>
                <a:schemeClr val="tx1"/>
              </a:solidFill>
              <a:ea typeface="Arial Unicode MS" pitchFamily="34" charset="-128"/>
              <a:cs typeface="Arial Unicode MS" pitchFamily="34" charset="-128"/>
            </a:endParaRP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1574908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 shor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3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6" name="Subtitle 2"/>
          <p:cNvSpPr>
            <a:spLocks noGrp="1"/>
          </p:cNvSpPr>
          <p:nvPr>
            <p:ph type="subTitle" idx="1" hasCustomPrompt="1"/>
          </p:nvPr>
        </p:nvSpPr>
        <p:spPr bwMode="gray">
          <a:xfrm>
            <a:off x="324000"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&lt;First Name&gt; &lt;Last name&gt;, &lt;Organization&gt; (delete if not needed)</a:t>
            </a:r>
            <a:br>
              <a:rPr lang="en-US" dirty="0"/>
            </a:br>
            <a:r>
              <a:rPr lang="en-US" dirty="0"/>
              <a:t>&lt;Month&gt; &lt;Day&gt;, &lt;Year&gt;</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19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78297063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 two lines">
    <p:bg>
      <p:bgRef idx="1001">
        <a:schemeClr val="bg1"/>
      </p:bgRef>
    </p:bg>
    <p:spTree>
      <p:nvGrpSpPr>
        <p:cNvPr id="1" name=""/>
        <p:cNvGrpSpPr/>
        <p:nvPr/>
      </p:nvGrpSpPr>
      <p:grpSpPr>
        <a:xfrm>
          <a:off x="0" y="0"/>
          <a:ext cx="0" cy="0"/>
          <a:chOff x="0" y="0"/>
          <a:chExt cx="0" cy="0"/>
        </a:xfrm>
      </p:grpSpPr>
      <p:sp>
        <p:nvSpPr>
          <p:cNvPr id="6" name="Subtitle 2"/>
          <p:cNvSpPr>
            <a:spLocks noGrp="1"/>
          </p:cNvSpPr>
          <p:nvPr>
            <p:ph type="subTitle" idx="1" hasCustomPrompt="1"/>
          </p:nvPr>
        </p:nvSpPr>
        <p:spPr bwMode="gray">
          <a:xfrm>
            <a:off x="324000"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&lt;First Name&gt; &lt;Last name&gt;, &lt;Organization&gt; (delete if not needed)</a:t>
            </a:r>
            <a:br>
              <a:rPr lang="en-US" dirty="0"/>
            </a:br>
            <a:r>
              <a:rPr lang="en-US" dirty="0"/>
              <a:t>&lt;Month&gt; &lt;Day&gt;, &lt;Year&gt;</a:t>
            </a:r>
          </a:p>
        </p:txBody>
      </p:sp>
      <p:sp>
        <p:nvSpPr>
          <p:cNvPr id="9" name="Title 1"/>
          <p:cNvSpPr>
            <a:spLocks noGrp="1"/>
          </p:cNvSpPr>
          <p:nvPr>
            <p:ph type="ctrTitle" hasCustomPrompt="1"/>
          </p:nvPr>
        </p:nvSpPr>
        <p:spPr bwMode="gray">
          <a:xfrm>
            <a:off x="323999" y="324075"/>
            <a:ext cx="10620000" cy="1107996"/>
          </a:xfrm>
        </p:spPr>
        <p:txBody>
          <a:bodyPr anchor="t" anchorCtr="0">
            <a:noAutofit/>
          </a:bodyPr>
          <a:lstStyle>
            <a:lvl1pPr>
              <a:defRPr sz="3600">
                <a:solidFill>
                  <a:sysClr val="windowText" lastClr="000000"/>
                </a:solidFill>
                <a:latin typeface="+mj-lt"/>
              </a:defRPr>
            </a:lvl1pPr>
          </a:lstStyle>
          <a:p>
            <a:r>
              <a:rPr lang="en-US" sz="3600" dirty="0"/>
              <a:t>Alternate Presentation Title</a:t>
            </a:r>
            <a:br>
              <a:rPr lang="en-US" sz="3600" dirty="0"/>
            </a:br>
            <a:r>
              <a:rPr lang="en-US" sz="3600" dirty="0"/>
              <a:t>Breaks to Two Lines</a:t>
            </a:r>
            <a:endParaRPr lang="en-US" dirty="0"/>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19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1224200990"/>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rriculum information">
    <p:spTree>
      <p:nvGrpSpPr>
        <p:cNvPr id="1" name=""/>
        <p:cNvGrpSpPr/>
        <p:nvPr/>
      </p:nvGrpSpPr>
      <p:grpSpPr>
        <a:xfrm>
          <a:off x="0" y="0"/>
          <a:ext cx="0" cy="0"/>
          <a:chOff x="0" y="0"/>
          <a:chExt cx="0" cy="0"/>
        </a:xfrm>
      </p:grpSpPr>
      <p:sp>
        <p:nvSpPr>
          <p:cNvPr id="5" name="Textfeld 4"/>
          <p:cNvSpPr txBox="1"/>
          <p:nvPr userDrawn="1"/>
        </p:nvSpPr>
        <p:spPr>
          <a:xfrm>
            <a:off x="324000" y="324000"/>
            <a:ext cx="11545200" cy="759600"/>
          </a:xfrm>
          <a:prstGeom prst="rect">
            <a:avLst/>
          </a:prstGeom>
          <a:noFill/>
        </p:spPr>
        <p:txBody>
          <a:bodyPr wrap="square" lIns="0" tIns="0" rIns="0" bIns="0" rtlCol="0" anchor="ctr" anchorCtr="0">
            <a:noAutofit/>
          </a:bodyPr>
          <a:lstStyle/>
          <a:p>
            <a:pPr fontAlgn="base">
              <a:spcBef>
                <a:spcPts val="600"/>
              </a:spcBef>
              <a:spcAft>
                <a:spcPct val="0"/>
              </a:spcAft>
              <a:buClr>
                <a:srgbClr val="F0AB00"/>
              </a:buClr>
              <a:buSzPct val="80000"/>
            </a:pPr>
            <a:r>
              <a:rPr lang="en-US" sz="2400" b="1" kern="0" noProof="0" dirty="0">
                <a:solidFill>
                  <a:schemeClr val="accent2"/>
                </a:solidFill>
                <a:latin typeface="+mj-lt"/>
                <a:ea typeface="Arial Unicode MS" pitchFamily="34" charset="-128"/>
                <a:cs typeface="Arial Unicode MS" pitchFamily="34" charset="-128"/>
              </a:rPr>
              <a:t>Curriculum</a:t>
            </a:r>
            <a:r>
              <a:rPr lang="en-US" sz="2400" b="1" kern="0" baseline="0" noProof="0" dirty="0">
                <a:solidFill>
                  <a:schemeClr val="accent2"/>
                </a:solidFill>
                <a:latin typeface="+mj-lt"/>
                <a:ea typeface="Arial Unicode MS" pitchFamily="34" charset="-128"/>
                <a:cs typeface="Arial Unicode MS" pitchFamily="34" charset="-128"/>
              </a:rPr>
              <a:t> Information</a:t>
            </a:r>
            <a:endParaRPr lang="en-US" sz="2400" b="1" kern="0" noProof="0" dirty="0">
              <a:solidFill>
                <a:schemeClr val="accent2"/>
              </a:solidFill>
              <a:latin typeface="+mj-lt"/>
              <a:ea typeface="Arial Unicode MS" pitchFamily="34" charset="-128"/>
              <a:cs typeface="Arial Unicode MS" pitchFamily="34" charset="-128"/>
            </a:endParaRPr>
          </a:p>
        </p:txBody>
      </p:sp>
      <p:sp>
        <p:nvSpPr>
          <p:cNvPr id="6" name="Textplatzhalter 21"/>
          <p:cNvSpPr>
            <a:spLocks noGrp="1"/>
          </p:cNvSpPr>
          <p:nvPr>
            <p:ph type="body" sz="quarter" idx="15" hasCustomPrompt="1"/>
          </p:nvPr>
        </p:nvSpPr>
        <p:spPr>
          <a:xfrm>
            <a:off x="2038856" y="2624439"/>
            <a:ext cx="9830344" cy="362391"/>
          </a:xfrm>
          <a:prstGeom prst="rect">
            <a:avLst/>
          </a:prstGeom>
        </p:spPr>
        <p:txBody>
          <a:bodyPr anchor="t" anchorCtr="0"/>
          <a:lstStyle>
            <a:lvl1pPr marL="266400" indent="-194400">
              <a:lnSpc>
                <a:spcPct val="100000"/>
              </a:lnSpc>
              <a:spcBef>
                <a:spcPts val="0"/>
              </a:spcBef>
              <a:spcAft>
                <a:spcPts val="0"/>
              </a:spcAft>
              <a:buClr>
                <a:schemeClr val="bg1">
                  <a:lumMod val="65000"/>
                </a:schemeClr>
              </a:buClr>
              <a:buSzPct val="100000"/>
              <a:buFont typeface="Wingdings" panose="05000000000000000000" pitchFamily="2" charset="2"/>
              <a:buChar char="§"/>
              <a:defRPr sz="18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&lt;Curriculum version + last update&gt;</a:t>
            </a:r>
          </a:p>
        </p:txBody>
      </p:sp>
      <p:grpSp>
        <p:nvGrpSpPr>
          <p:cNvPr id="7" name="Gruppieren 6"/>
          <p:cNvGrpSpPr/>
          <p:nvPr userDrawn="1"/>
        </p:nvGrpSpPr>
        <p:grpSpPr>
          <a:xfrm>
            <a:off x="1951753" y="1927906"/>
            <a:ext cx="9917447" cy="500901"/>
            <a:chOff x="1108399" y="1396713"/>
            <a:chExt cx="7030682" cy="404566"/>
          </a:xfrm>
        </p:grpSpPr>
        <p:sp>
          <p:nvSpPr>
            <p:cNvPr id="8" name="Rectangle 10"/>
            <p:cNvSpPr/>
            <p:nvPr userDrawn="1"/>
          </p:nvSpPr>
          <p:spPr>
            <a:xfrm>
              <a:off x="1108399" y="1396713"/>
              <a:ext cx="3835401" cy="298157"/>
            </a:xfrm>
            <a:prstGeom prst="rect">
              <a:avLst/>
            </a:prstGeom>
          </p:spPr>
          <p:txBody>
            <a:bodyPr wrap="square" lIns="91302" tIns="45630" rIns="91302" bIns="45630">
              <a:spAutoFit/>
            </a:bodyPr>
            <a:lstStyle/>
            <a:p>
              <a:r>
                <a:rPr lang="en-US" sz="1800" b="1" noProof="0" dirty="0">
                  <a:solidFill>
                    <a:schemeClr val="tx1"/>
                  </a:solidFill>
                  <a:latin typeface="+mj-lt"/>
                </a:rPr>
                <a:t>Curriculum </a:t>
              </a:r>
              <a:r>
                <a:rPr lang="en-US" sz="1800" b="1" baseline="0" noProof="0" dirty="0">
                  <a:solidFill>
                    <a:schemeClr val="tx1"/>
                  </a:solidFill>
                  <a:latin typeface="+mj-lt"/>
                </a:rPr>
                <a:t>Version</a:t>
              </a:r>
              <a:endParaRPr lang="en-US" sz="1200" b="1" noProof="0" dirty="0">
                <a:solidFill>
                  <a:schemeClr val="tx1"/>
                </a:solidFill>
                <a:latin typeface="+mj-lt"/>
              </a:endParaRPr>
            </a:p>
          </p:txBody>
        </p:sp>
        <p:cxnSp>
          <p:nvCxnSpPr>
            <p:cNvPr id="9" name="Straight Connector 12"/>
            <p:cNvCxnSpPr/>
            <p:nvPr userDrawn="1"/>
          </p:nvCxnSpPr>
          <p:spPr>
            <a:xfrm flipV="1">
              <a:off x="1197563" y="1776441"/>
              <a:ext cx="6941518" cy="24838"/>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0" name="Gruppieren 9"/>
          <p:cNvGrpSpPr/>
          <p:nvPr userDrawn="1"/>
        </p:nvGrpSpPr>
        <p:grpSpPr>
          <a:xfrm>
            <a:off x="324000" y="1499007"/>
            <a:ext cx="1299974" cy="1299976"/>
            <a:chOff x="352676" y="1326706"/>
            <a:chExt cx="765542" cy="765543"/>
          </a:xfrm>
        </p:grpSpPr>
        <p:sp>
          <p:nvSpPr>
            <p:cNvPr id="11" name="Donut 11"/>
            <p:cNvSpPr/>
            <p:nvPr userDrawn="1"/>
          </p:nvSpPr>
          <p:spPr bwMode="gray">
            <a:xfrm>
              <a:off x="352676" y="1326706"/>
              <a:ext cx="765542" cy="765543"/>
            </a:xfrm>
            <a:prstGeom prst="donut">
              <a:avLst>
                <a:gd name="adj" fmla="val 5979"/>
              </a:avLst>
            </a:prstGeom>
            <a:solidFill>
              <a:schemeClr val="accent1"/>
            </a:solidFill>
            <a:ln w="6350" algn="ctr">
              <a:solidFill>
                <a:schemeClr val="accent1"/>
              </a:solidFill>
              <a:miter lim="800000"/>
              <a:headEnd/>
              <a:tailEnd/>
            </a:ln>
          </p:spPr>
          <p:txBody>
            <a:bodyPr lIns="89863" tIns="71908" rIns="89863" bIns="71908" rtlCol="0" anchor="ctr"/>
            <a:lstStyle/>
            <a:p>
              <a:pPr algn="ctr" defTabSz="913003" fontAlgn="base">
                <a:spcBef>
                  <a:spcPct val="50000"/>
                </a:spcBef>
                <a:spcAft>
                  <a:spcPct val="0"/>
                </a:spcAft>
                <a:buClr>
                  <a:srgbClr val="F0AB00"/>
                </a:buClr>
                <a:buSzPct val="80000"/>
              </a:pPr>
              <a:endParaRPr lang="de-DE" sz="2000" kern="0">
                <a:ea typeface="Arial Unicode MS" pitchFamily="34" charset="-128"/>
                <a:cs typeface="Arial Unicode MS" pitchFamily="34" charset="-128"/>
              </a:endParaRPr>
            </a:p>
          </p:txBody>
        </p:sp>
        <p:grpSp>
          <p:nvGrpSpPr>
            <p:cNvPr id="12" name="Gruppieren 11"/>
            <p:cNvGrpSpPr/>
            <p:nvPr userDrawn="1"/>
          </p:nvGrpSpPr>
          <p:grpSpPr>
            <a:xfrm>
              <a:off x="545702" y="1435466"/>
              <a:ext cx="403112" cy="511295"/>
              <a:chOff x="7057115" y="1361724"/>
              <a:chExt cx="403112" cy="511295"/>
            </a:xfrm>
          </p:grpSpPr>
          <p:sp>
            <p:nvSpPr>
              <p:cNvPr id="13" name="Gefaltete Ecke 12"/>
              <p:cNvSpPr/>
              <p:nvPr/>
            </p:nvSpPr>
            <p:spPr bwMode="gray">
              <a:xfrm rot="10800000" flipH="1">
                <a:off x="7150511" y="1361724"/>
                <a:ext cx="309716" cy="420330"/>
              </a:xfrm>
              <a:prstGeom prst="foldedCorner">
                <a:avLst>
                  <a:gd name="adj" fmla="val 38333"/>
                </a:avLst>
              </a:prstGeom>
              <a:solidFill>
                <a:schemeClr val="tx1">
                  <a:lumMod val="65000"/>
                  <a:lumOff val="3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a:ln>
                    <a:noFill/>
                  </a:ln>
                  <a:effectLst/>
                  <a:uLnTx/>
                  <a:uFillTx/>
                  <a:ea typeface="Arial Unicode MS" pitchFamily="34" charset="-128"/>
                  <a:cs typeface="Arial Unicode MS" pitchFamily="34" charset="-128"/>
                </a:endParaRPr>
              </a:p>
            </p:txBody>
          </p:sp>
          <p:sp>
            <p:nvSpPr>
              <p:cNvPr id="14" name="Gefaltete Ecke 13"/>
              <p:cNvSpPr/>
              <p:nvPr/>
            </p:nvSpPr>
            <p:spPr bwMode="gray">
              <a:xfrm rot="10800000" flipH="1">
                <a:off x="7103823" y="1410891"/>
                <a:ext cx="309716" cy="420330"/>
              </a:xfrm>
              <a:prstGeom prst="foldedCorner">
                <a:avLst>
                  <a:gd name="adj" fmla="val 38333"/>
                </a:avLst>
              </a:prstGeom>
              <a:solidFill>
                <a:schemeClr val="tx1">
                  <a:lumMod val="65000"/>
                  <a:lumOff val="3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a:ln>
                    <a:noFill/>
                  </a:ln>
                  <a:effectLst/>
                  <a:uLnTx/>
                  <a:uFillTx/>
                  <a:ea typeface="Arial Unicode MS" pitchFamily="34" charset="-128"/>
                  <a:cs typeface="Arial Unicode MS" pitchFamily="34" charset="-128"/>
                </a:endParaRPr>
              </a:p>
            </p:txBody>
          </p:sp>
          <p:grpSp>
            <p:nvGrpSpPr>
              <p:cNvPr id="15" name="Gruppieren 33"/>
              <p:cNvGrpSpPr/>
              <p:nvPr/>
            </p:nvGrpSpPr>
            <p:grpSpPr>
              <a:xfrm>
                <a:off x="7057115" y="1452689"/>
                <a:ext cx="309716" cy="420330"/>
                <a:chOff x="589936" y="2809567"/>
                <a:chExt cx="309716" cy="420330"/>
              </a:xfrm>
            </p:grpSpPr>
            <p:sp>
              <p:nvSpPr>
                <p:cNvPr id="16" name="Gefaltete Ecke 15"/>
                <p:cNvSpPr/>
                <p:nvPr/>
              </p:nvSpPr>
              <p:spPr bwMode="gray">
                <a:xfrm rot="10800000" flipH="1">
                  <a:off x="589936" y="2809567"/>
                  <a:ext cx="309716" cy="420330"/>
                </a:xfrm>
                <a:prstGeom prst="foldedCorner">
                  <a:avLst>
                    <a:gd name="adj" fmla="val 38333"/>
                  </a:avLst>
                </a:prstGeom>
                <a:solidFill>
                  <a:schemeClr val="tx1">
                    <a:lumMod val="65000"/>
                    <a:lumOff val="3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a:ln>
                      <a:noFill/>
                    </a:ln>
                    <a:effectLst/>
                    <a:uLnTx/>
                    <a:uFillTx/>
                    <a:ea typeface="Arial Unicode MS" pitchFamily="34" charset="-128"/>
                    <a:cs typeface="Arial Unicode MS" pitchFamily="34" charset="-128"/>
                  </a:endParaRPr>
                </a:p>
              </p:txBody>
            </p:sp>
            <p:sp>
              <p:nvSpPr>
                <p:cNvPr id="17" name="Textfeld 16"/>
                <p:cNvSpPr txBox="1"/>
                <p:nvPr/>
              </p:nvSpPr>
              <p:spPr>
                <a:xfrm>
                  <a:off x="697006" y="2861855"/>
                  <a:ext cx="94496" cy="326244"/>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de-DE" sz="3600" i="1" kern="0" dirty="0">
                      <a:solidFill>
                        <a:schemeClr val="bg1"/>
                      </a:solidFill>
                      <a:latin typeface="Angsana New" pitchFamily="18" charset="-34"/>
                      <a:ea typeface="Arial Unicode MS" pitchFamily="34" charset="-128"/>
                      <a:cs typeface="Angsana New" pitchFamily="18" charset="-34"/>
                    </a:rPr>
                    <a:t>i</a:t>
                  </a:r>
                </a:p>
              </p:txBody>
            </p:sp>
          </p:grpSp>
        </p:grpSp>
      </p:grpSp>
      <p:sp>
        <p:nvSpPr>
          <p:cNvPr id="18" name="Textplatzhalter 21"/>
          <p:cNvSpPr>
            <a:spLocks noGrp="1"/>
          </p:cNvSpPr>
          <p:nvPr>
            <p:ph type="body" sz="quarter" idx="12" hasCustomPrompt="1"/>
          </p:nvPr>
        </p:nvSpPr>
        <p:spPr>
          <a:xfrm>
            <a:off x="2327108" y="3552319"/>
            <a:ext cx="9542092" cy="530990"/>
          </a:xfrm>
          <a:prstGeom prst="rect">
            <a:avLst/>
          </a:prstGeom>
        </p:spPr>
        <p:txBody>
          <a:bodyPr/>
          <a:lstStyle>
            <a:lvl1pPr marL="214298" indent="-214298">
              <a:lnSpc>
                <a:spcPct val="100000"/>
              </a:lnSpc>
              <a:spcBef>
                <a:spcPts val="0"/>
              </a:spcBef>
              <a:spcAft>
                <a:spcPts val="0"/>
              </a:spcAft>
              <a:buClr>
                <a:schemeClr val="bg1">
                  <a:lumMod val="65000"/>
                </a:schemeClr>
              </a:buClr>
              <a:buSzPct val="100000"/>
              <a:buFont typeface="Arial" panose="020B0604020202020204" pitchFamily="34" charset="0"/>
              <a:buChar char="•"/>
              <a:defRPr sz="16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&lt;server-side&gt;</a:t>
            </a:r>
          </a:p>
          <a:p>
            <a:pPr lvl="0"/>
            <a:r>
              <a:rPr lang="en-US" dirty="0"/>
              <a:t>&lt;client-side&gt;</a:t>
            </a:r>
            <a:endParaRPr lang="de-DE" dirty="0"/>
          </a:p>
        </p:txBody>
      </p:sp>
      <p:sp>
        <p:nvSpPr>
          <p:cNvPr id="19" name="Textfeld 18"/>
          <p:cNvSpPr txBox="1"/>
          <p:nvPr userDrawn="1"/>
        </p:nvSpPr>
        <p:spPr>
          <a:xfrm>
            <a:off x="2041112" y="3250331"/>
            <a:ext cx="9828088" cy="336918"/>
          </a:xfrm>
          <a:prstGeom prst="rect">
            <a:avLst/>
          </a:prstGeom>
          <a:noFill/>
        </p:spPr>
        <p:txBody>
          <a:bodyPr wrap="none" lIns="0" tIns="0" rIns="0" bIns="0" rtlCol="0" anchor="t" anchorCtr="0">
            <a:noAutofit/>
          </a:bodyPr>
          <a:lstStyle/>
          <a:p>
            <a:pPr marL="265490" indent="-195248" fontAlgn="base">
              <a:spcBef>
                <a:spcPct val="50000"/>
              </a:spcBef>
              <a:spcAft>
                <a:spcPct val="0"/>
              </a:spcAft>
              <a:buClr>
                <a:schemeClr val="bg1">
                  <a:lumMod val="65000"/>
                </a:schemeClr>
              </a:buClr>
              <a:buSzPct val="100000"/>
              <a:buFont typeface="Wingdings" panose="05000000000000000000" pitchFamily="2" charset="2"/>
              <a:buChar char="§"/>
            </a:pPr>
            <a:r>
              <a:rPr lang="en-US" sz="1800" b="0" kern="1200" baseline="0" noProof="0" dirty="0">
                <a:solidFill>
                  <a:schemeClr val="tx1"/>
                </a:solidFill>
                <a:latin typeface="+mn-lt"/>
                <a:ea typeface="+mn-ea"/>
                <a:cs typeface="+mn-cs"/>
              </a:rPr>
              <a:t>Software used</a:t>
            </a:r>
          </a:p>
        </p:txBody>
      </p:sp>
      <p:sp>
        <p:nvSpPr>
          <p:cNvPr id="20" name="Textfeld 19"/>
          <p:cNvSpPr txBox="1"/>
          <p:nvPr userDrawn="1"/>
        </p:nvSpPr>
        <p:spPr>
          <a:xfrm>
            <a:off x="2043658" y="4533142"/>
            <a:ext cx="9825542" cy="336918"/>
          </a:xfrm>
          <a:prstGeom prst="rect">
            <a:avLst/>
          </a:prstGeom>
          <a:noFill/>
        </p:spPr>
        <p:txBody>
          <a:bodyPr wrap="none" lIns="0" tIns="0" rIns="0" bIns="0" rtlCol="0" anchor="t" anchorCtr="0">
            <a:noAutofit/>
          </a:bodyPr>
          <a:lstStyle/>
          <a:p>
            <a:pPr marL="265490" indent="-195248" fontAlgn="base">
              <a:spcBef>
                <a:spcPct val="50000"/>
              </a:spcBef>
              <a:spcAft>
                <a:spcPct val="0"/>
              </a:spcAft>
              <a:buClr>
                <a:schemeClr val="bg1">
                  <a:lumMod val="65000"/>
                </a:schemeClr>
              </a:buClr>
              <a:buSzPct val="100000"/>
              <a:buFont typeface="Wingdings" panose="05000000000000000000" pitchFamily="2" charset="2"/>
              <a:buChar char="§"/>
            </a:pPr>
            <a:r>
              <a:rPr lang="en-US" sz="1800" b="0" kern="1200" baseline="0" noProof="0" dirty="0">
                <a:solidFill>
                  <a:schemeClr val="tx1"/>
                </a:solidFill>
                <a:latin typeface="+mn-lt"/>
                <a:ea typeface="+mn-ea"/>
                <a:cs typeface="+mn-cs"/>
              </a:rPr>
              <a:t>Prerequisites</a:t>
            </a:r>
          </a:p>
        </p:txBody>
      </p:sp>
      <p:sp>
        <p:nvSpPr>
          <p:cNvPr id="21" name="Textplatzhalter 21"/>
          <p:cNvSpPr>
            <a:spLocks noGrp="1"/>
          </p:cNvSpPr>
          <p:nvPr>
            <p:ph type="body" sz="quarter" idx="13" hasCustomPrompt="1"/>
          </p:nvPr>
        </p:nvSpPr>
        <p:spPr>
          <a:xfrm>
            <a:off x="2327107" y="4845892"/>
            <a:ext cx="9542093" cy="530990"/>
          </a:xfrm>
          <a:prstGeom prst="rect">
            <a:avLst/>
          </a:prstGeom>
        </p:spPr>
        <p:txBody>
          <a:bodyPr/>
          <a:lstStyle>
            <a:lvl1pPr marL="285750" indent="-285750">
              <a:lnSpc>
                <a:spcPct val="100000"/>
              </a:lnSpc>
              <a:spcBef>
                <a:spcPts val="0"/>
              </a:spcBef>
              <a:spcAft>
                <a:spcPts val="0"/>
              </a:spcAft>
              <a:buClr>
                <a:schemeClr val="bg1">
                  <a:lumMod val="65000"/>
                </a:schemeClr>
              </a:buClr>
              <a:buSzPct val="100000"/>
              <a:buFont typeface="Arial" panose="020B0604020202020204" pitchFamily="34" charset="0"/>
              <a:buChar char="•"/>
              <a:defRPr sz="16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&lt;curricula&gt;</a:t>
            </a:r>
          </a:p>
          <a:p>
            <a:pPr lvl="0"/>
            <a:r>
              <a:rPr lang="en-US" dirty="0"/>
              <a:t>&lt;other prerequisites&gt;</a:t>
            </a:r>
            <a:endParaRPr lang="de-DE" dirty="0"/>
          </a:p>
        </p:txBody>
      </p:sp>
    </p:spTree>
    <p:extLst>
      <p:ext uri="{BB962C8B-B14F-4D97-AF65-F5344CB8AC3E}">
        <p14:creationId xmlns:p14="http://schemas.microsoft.com/office/powerpoint/2010/main" val="17840895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odule information I">
    <p:spTree>
      <p:nvGrpSpPr>
        <p:cNvPr id="1" name=""/>
        <p:cNvGrpSpPr/>
        <p:nvPr/>
      </p:nvGrpSpPr>
      <p:grpSpPr>
        <a:xfrm>
          <a:off x="0" y="0"/>
          <a:ext cx="0" cy="0"/>
          <a:chOff x="0" y="0"/>
          <a:chExt cx="0" cy="0"/>
        </a:xfrm>
      </p:grpSpPr>
      <p:sp>
        <p:nvSpPr>
          <p:cNvPr id="5" name="Textfeld 4"/>
          <p:cNvSpPr txBox="1"/>
          <p:nvPr userDrawn="1"/>
        </p:nvSpPr>
        <p:spPr>
          <a:xfrm>
            <a:off x="324000" y="324000"/>
            <a:ext cx="11545200" cy="759600"/>
          </a:xfrm>
          <a:prstGeom prst="rect">
            <a:avLst/>
          </a:prstGeom>
          <a:noFill/>
        </p:spPr>
        <p:txBody>
          <a:bodyPr wrap="square" lIns="0" tIns="0" rIns="0" bIns="0" rtlCol="0" anchor="ctr" anchorCtr="0">
            <a:noAutofit/>
          </a:bodyPr>
          <a:lstStyle/>
          <a:p>
            <a:pPr fontAlgn="base">
              <a:spcBef>
                <a:spcPts val="600"/>
              </a:spcBef>
              <a:spcAft>
                <a:spcPct val="0"/>
              </a:spcAft>
              <a:buClr>
                <a:srgbClr val="F0AB00"/>
              </a:buClr>
              <a:buSzPct val="80000"/>
            </a:pPr>
            <a:r>
              <a:rPr lang="en-US" sz="2400" b="1" kern="0" noProof="0" dirty="0">
                <a:solidFill>
                  <a:schemeClr val="accent2"/>
                </a:solidFill>
                <a:latin typeface="+mj-lt"/>
                <a:ea typeface="Arial Unicode MS" pitchFamily="34" charset="-128"/>
                <a:cs typeface="Arial Unicode MS" pitchFamily="34" charset="-128"/>
              </a:rPr>
              <a:t>Module</a:t>
            </a:r>
            <a:r>
              <a:rPr lang="en-US" sz="2400" b="1" kern="0" baseline="0" noProof="0" dirty="0">
                <a:solidFill>
                  <a:schemeClr val="accent2"/>
                </a:solidFill>
                <a:latin typeface="+mj-lt"/>
                <a:ea typeface="Arial Unicode MS" pitchFamily="34" charset="-128"/>
                <a:cs typeface="Arial Unicode MS" pitchFamily="34" charset="-128"/>
              </a:rPr>
              <a:t> Information</a:t>
            </a:r>
            <a:endParaRPr lang="en-US" sz="2400" b="1" kern="0" noProof="0" dirty="0">
              <a:solidFill>
                <a:schemeClr val="accent2"/>
              </a:solidFill>
              <a:latin typeface="+mj-lt"/>
              <a:ea typeface="Arial Unicode MS" pitchFamily="34" charset="-128"/>
              <a:cs typeface="Arial Unicode MS" pitchFamily="34" charset="-128"/>
            </a:endParaRPr>
          </a:p>
        </p:txBody>
      </p:sp>
      <p:grpSp>
        <p:nvGrpSpPr>
          <p:cNvPr id="22" name="Gruppieren 21"/>
          <p:cNvGrpSpPr/>
          <p:nvPr userDrawn="1"/>
        </p:nvGrpSpPr>
        <p:grpSpPr>
          <a:xfrm>
            <a:off x="324000" y="1499007"/>
            <a:ext cx="1299600" cy="1299600"/>
            <a:chOff x="214040" y="1152039"/>
            <a:chExt cx="765542" cy="765543"/>
          </a:xfrm>
        </p:grpSpPr>
        <p:grpSp>
          <p:nvGrpSpPr>
            <p:cNvPr id="23" name="Gruppieren 22"/>
            <p:cNvGrpSpPr/>
            <p:nvPr userDrawn="1"/>
          </p:nvGrpSpPr>
          <p:grpSpPr>
            <a:xfrm>
              <a:off x="361780" y="1456593"/>
              <a:ext cx="464587" cy="191753"/>
              <a:chOff x="1642324" y="4884196"/>
              <a:chExt cx="660745" cy="294992"/>
            </a:xfrm>
          </p:grpSpPr>
          <p:sp>
            <p:nvSpPr>
              <p:cNvPr id="25" name="Richtungspfeil 24"/>
              <p:cNvSpPr/>
              <p:nvPr userDrawn="1"/>
            </p:nvSpPr>
            <p:spPr bwMode="gray">
              <a:xfrm rot="8100000">
                <a:off x="1767471" y="4884196"/>
                <a:ext cx="535598" cy="221844"/>
              </a:xfrm>
              <a:prstGeom prst="homePlate">
                <a:avLst/>
              </a:prstGeom>
              <a:solidFill>
                <a:schemeClr val="tx1">
                  <a:lumMod val="65000"/>
                  <a:lumOff val="35000"/>
                </a:schemeClr>
              </a:solidFill>
              <a:ln w="6350" algn="ctr">
                <a:solidFill>
                  <a:schemeClr val="tx1">
                    <a:lumMod val="65000"/>
                    <a:lumOff val="35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a:ln>
                    <a:noFill/>
                  </a:ln>
                  <a:effectLst/>
                  <a:uLnTx/>
                  <a:uFillTx/>
                  <a:ea typeface="Arial Unicode MS" pitchFamily="34" charset="-128"/>
                  <a:cs typeface="Arial Unicode MS" pitchFamily="34" charset="-128"/>
                </a:endParaRPr>
              </a:p>
            </p:txBody>
          </p:sp>
          <p:sp>
            <p:nvSpPr>
              <p:cNvPr id="26" name="Rechteck 25"/>
              <p:cNvSpPr/>
              <p:nvPr/>
            </p:nvSpPr>
            <p:spPr bwMode="gray">
              <a:xfrm rot="8100000">
                <a:off x="1920613" y="4887121"/>
                <a:ext cx="305780" cy="129124"/>
              </a:xfrm>
              <a:prstGeom prst="rect">
                <a:avLst/>
              </a:prstGeom>
              <a:solidFill>
                <a:schemeClr val="bg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a:ln>
                    <a:noFill/>
                  </a:ln>
                  <a:effectLst/>
                  <a:uLnTx/>
                  <a:uFillTx/>
                  <a:ea typeface="Arial Unicode MS" pitchFamily="34" charset="-128"/>
                  <a:cs typeface="Arial Unicode MS" pitchFamily="34" charset="-128"/>
                </a:endParaRPr>
              </a:p>
            </p:txBody>
          </p:sp>
          <p:cxnSp>
            <p:nvCxnSpPr>
              <p:cNvPr id="27" name="Gerade Verbindung 25"/>
              <p:cNvCxnSpPr/>
              <p:nvPr userDrawn="1"/>
            </p:nvCxnSpPr>
            <p:spPr>
              <a:xfrm>
                <a:off x="1642324" y="5179188"/>
                <a:ext cx="140109" cy="0"/>
              </a:xfrm>
              <a:prstGeom prst="line">
                <a:avLst/>
              </a:prstGeom>
              <a:ln w="254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sp>
          <p:nvSpPr>
            <p:cNvPr id="24" name="Donut 11"/>
            <p:cNvSpPr/>
            <p:nvPr userDrawn="1"/>
          </p:nvSpPr>
          <p:spPr bwMode="gray">
            <a:xfrm>
              <a:off x="214040" y="1152039"/>
              <a:ext cx="765542" cy="765543"/>
            </a:xfrm>
            <a:prstGeom prst="donut">
              <a:avLst>
                <a:gd name="adj" fmla="val 5979"/>
              </a:avLst>
            </a:prstGeom>
            <a:solidFill>
              <a:schemeClr val="accent1"/>
            </a:solidFill>
            <a:ln w="6350" algn="ctr">
              <a:solidFill>
                <a:schemeClr val="accent1"/>
              </a:solidFill>
              <a:miter lim="800000"/>
              <a:headEnd/>
              <a:tailEnd/>
            </a:ln>
          </p:spPr>
          <p:txBody>
            <a:bodyPr lIns="89863" tIns="71908" rIns="89863" bIns="71908" rtlCol="0" anchor="ctr"/>
            <a:lstStyle/>
            <a:p>
              <a:pPr algn="ctr" defTabSz="913003" fontAlgn="base">
                <a:spcBef>
                  <a:spcPct val="50000"/>
                </a:spcBef>
                <a:spcAft>
                  <a:spcPct val="0"/>
                </a:spcAft>
                <a:buClr>
                  <a:srgbClr val="F0AB00"/>
                </a:buClr>
                <a:buSzPct val="80000"/>
              </a:pPr>
              <a:endParaRPr lang="de-DE" sz="2000" kern="0">
                <a:ea typeface="Arial Unicode MS" pitchFamily="34" charset="-128"/>
                <a:cs typeface="Arial Unicode MS" pitchFamily="34" charset="-128"/>
              </a:endParaRPr>
            </a:p>
          </p:txBody>
        </p:sp>
      </p:grpSp>
      <p:grpSp>
        <p:nvGrpSpPr>
          <p:cNvPr id="28" name="Gruppieren 27"/>
          <p:cNvGrpSpPr/>
          <p:nvPr userDrawn="1"/>
        </p:nvGrpSpPr>
        <p:grpSpPr>
          <a:xfrm>
            <a:off x="324000" y="3809388"/>
            <a:ext cx="1299600" cy="1299600"/>
            <a:chOff x="216000" y="2969382"/>
            <a:chExt cx="765542" cy="765543"/>
          </a:xfrm>
        </p:grpSpPr>
        <p:pic>
          <p:nvPicPr>
            <p:cNvPr id="29"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23714" y="3133080"/>
              <a:ext cx="361950" cy="4381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0" name="Donut 11"/>
            <p:cNvSpPr/>
            <p:nvPr userDrawn="1"/>
          </p:nvSpPr>
          <p:spPr bwMode="gray">
            <a:xfrm>
              <a:off x="216000" y="2969382"/>
              <a:ext cx="765542" cy="765543"/>
            </a:xfrm>
            <a:prstGeom prst="donut">
              <a:avLst>
                <a:gd name="adj" fmla="val 5979"/>
              </a:avLst>
            </a:prstGeom>
            <a:solidFill>
              <a:schemeClr val="accent1"/>
            </a:solidFill>
            <a:ln w="6350" algn="ctr">
              <a:solidFill>
                <a:schemeClr val="accent1"/>
              </a:solidFill>
              <a:miter lim="800000"/>
              <a:headEnd/>
              <a:tailEnd/>
            </a:ln>
          </p:spPr>
          <p:txBody>
            <a:bodyPr lIns="89863" tIns="71908" rIns="89863" bIns="71908" rtlCol="0" anchor="ctr"/>
            <a:lstStyle/>
            <a:p>
              <a:pPr algn="ctr" defTabSz="913003" fontAlgn="base">
                <a:spcBef>
                  <a:spcPct val="50000"/>
                </a:spcBef>
                <a:spcAft>
                  <a:spcPct val="0"/>
                </a:spcAft>
                <a:buClr>
                  <a:srgbClr val="F0AB00"/>
                </a:buClr>
                <a:buSzPct val="80000"/>
              </a:pPr>
              <a:endParaRPr lang="de-DE" sz="2000" kern="0">
                <a:ea typeface="Arial Unicode MS" pitchFamily="34" charset="-128"/>
                <a:cs typeface="Arial Unicode MS" pitchFamily="34" charset="-128"/>
              </a:endParaRPr>
            </a:p>
          </p:txBody>
        </p:sp>
      </p:grpSp>
      <p:grpSp>
        <p:nvGrpSpPr>
          <p:cNvPr id="31" name="Gruppieren 30"/>
          <p:cNvGrpSpPr/>
          <p:nvPr userDrawn="1"/>
        </p:nvGrpSpPr>
        <p:grpSpPr>
          <a:xfrm>
            <a:off x="1951753" y="1927906"/>
            <a:ext cx="9917447" cy="500901"/>
            <a:chOff x="1108399" y="1396713"/>
            <a:chExt cx="7030682" cy="404566"/>
          </a:xfrm>
        </p:grpSpPr>
        <p:sp>
          <p:nvSpPr>
            <p:cNvPr id="32" name="Rectangle 10"/>
            <p:cNvSpPr/>
            <p:nvPr userDrawn="1"/>
          </p:nvSpPr>
          <p:spPr>
            <a:xfrm>
              <a:off x="1108399" y="1396713"/>
              <a:ext cx="3835401" cy="298157"/>
            </a:xfrm>
            <a:prstGeom prst="rect">
              <a:avLst/>
            </a:prstGeom>
          </p:spPr>
          <p:txBody>
            <a:bodyPr wrap="square" lIns="91302" tIns="45630" rIns="91302" bIns="45630">
              <a:spAutoFit/>
            </a:bodyPr>
            <a:lstStyle/>
            <a:p>
              <a:r>
                <a:rPr lang="en-US" sz="1800" b="1" noProof="0" dirty="0">
                  <a:solidFill>
                    <a:schemeClr val="tx1"/>
                  </a:solidFill>
                  <a:latin typeface="+mj-lt"/>
                </a:rPr>
                <a:t>Authors</a:t>
              </a:r>
              <a:endParaRPr lang="en-US" sz="1200" b="1" noProof="0" dirty="0">
                <a:solidFill>
                  <a:schemeClr val="tx1"/>
                </a:solidFill>
                <a:latin typeface="+mj-lt"/>
              </a:endParaRPr>
            </a:p>
          </p:txBody>
        </p:sp>
        <p:cxnSp>
          <p:nvCxnSpPr>
            <p:cNvPr id="33" name="Straight Connector 12"/>
            <p:cNvCxnSpPr/>
            <p:nvPr userDrawn="1"/>
          </p:nvCxnSpPr>
          <p:spPr>
            <a:xfrm flipV="1">
              <a:off x="1197563" y="1776441"/>
              <a:ext cx="6941518" cy="24838"/>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34" name="Textplatzhalter 21"/>
          <p:cNvSpPr>
            <a:spLocks noGrp="1"/>
          </p:cNvSpPr>
          <p:nvPr>
            <p:ph type="body" sz="quarter" idx="15" hasCustomPrompt="1"/>
          </p:nvPr>
        </p:nvSpPr>
        <p:spPr>
          <a:xfrm>
            <a:off x="2038856" y="2624439"/>
            <a:ext cx="9830344" cy="1319928"/>
          </a:xfrm>
          <a:prstGeom prst="rect">
            <a:avLst/>
          </a:prstGeom>
        </p:spPr>
        <p:txBody>
          <a:bodyPr anchor="t" anchorCtr="0"/>
          <a:lstStyle>
            <a:lvl1pPr marL="266400" indent="-194400">
              <a:lnSpc>
                <a:spcPct val="100000"/>
              </a:lnSpc>
              <a:spcBef>
                <a:spcPts val="0"/>
              </a:spcBef>
              <a:spcAft>
                <a:spcPts val="0"/>
              </a:spcAft>
              <a:buClr>
                <a:schemeClr val="bg1">
                  <a:lumMod val="75000"/>
                </a:schemeClr>
              </a:buClr>
              <a:buSzPct val="100000"/>
              <a:buFont typeface="Wingdings" panose="05000000000000000000" pitchFamily="2" charset="2"/>
              <a:buChar char="§"/>
              <a:defRPr sz="18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&lt;Author&gt;</a:t>
            </a:r>
          </a:p>
          <a:p>
            <a:pPr lvl="0"/>
            <a:r>
              <a:rPr lang="en-US" dirty="0"/>
              <a:t>&lt;Author&gt;</a:t>
            </a:r>
          </a:p>
          <a:p>
            <a:pPr lvl="0"/>
            <a:r>
              <a:rPr lang="en-US" dirty="0"/>
              <a:t>&lt;Author&gt;</a:t>
            </a:r>
          </a:p>
        </p:txBody>
      </p:sp>
      <p:grpSp>
        <p:nvGrpSpPr>
          <p:cNvPr id="35" name="Gruppieren 34"/>
          <p:cNvGrpSpPr/>
          <p:nvPr userDrawn="1"/>
        </p:nvGrpSpPr>
        <p:grpSpPr>
          <a:xfrm>
            <a:off x="1957853" y="4230977"/>
            <a:ext cx="9911347" cy="500901"/>
            <a:chOff x="1108399" y="1396713"/>
            <a:chExt cx="7030682" cy="404566"/>
          </a:xfrm>
        </p:grpSpPr>
        <p:sp>
          <p:nvSpPr>
            <p:cNvPr id="36" name="Rectangle 10"/>
            <p:cNvSpPr/>
            <p:nvPr userDrawn="1"/>
          </p:nvSpPr>
          <p:spPr>
            <a:xfrm>
              <a:off x="1108399" y="1396713"/>
              <a:ext cx="3835401" cy="298157"/>
            </a:xfrm>
            <a:prstGeom prst="rect">
              <a:avLst/>
            </a:prstGeom>
          </p:spPr>
          <p:txBody>
            <a:bodyPr wrap="square" lIns="91302" tIns="45630" rIns="91302" bIns="45630">
              <a:spAutoFit/>
            </a:bodyPr>
            <a:lstStyle/>
            <a:p>
              <a:r>
                <a:rPr lang="en-US" sz="1800" b="1" noProof="0" dirty="0">
                  <a:solidFill>
                    <a:schemeClr val="tx1"/>
                  </a:solidFill>
                  <a:latin typeface="+mj-lt"/>
                </a:rPr>
                <a:t>Target Audience</a:t>
              </a:r>
              <a:endParaRPr lang="en-US" sz="1200" b="1" noProof="0" dirty="0">
                <a:solidFill>
                  <a:schemeClr val="tx1"/>
                </a:solidFill>
                <a:latin typeface="+mj-lt"/>
              </a:endParaRPr>
            </a:p>
          </p:txBody>
        </p:sp>
        <p:cxnSp>
          <p:nvCxnSpPr>
            <p:cNvPr id="37" name="Straight Connector 12"/>
            <p:cNvCxnSpPr/>
            <p:nvPr userDrawn="1"/>
          </p:nvCxnSpPr>
          <p:spPr>
            <a:xfrm flipV="1">
              <a:off x="1197563" y="1776441"/>
              <a:ext cx="6941518" cy="24838"/>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38" name="Textplatzhalter 21"/>
          <p:cNvSpPr>
            <a:spLocks noGrp="1"/>
          </p:cNvSpPr>
          <p:nvPr>
            <p:ph type="body" sz="quarter" idx="16" hasCustomPrompt="1"/>
          </p:nvPr>
        </p:nvSpPr>
        <p:spPr>
          <a:xfrm>
            <a:off x="2044953" y="4927509"/>
            <a:ext cx="9824247" cy="1319928"/>
          </a:xfrm>
          <a:prstGeom prst="rect">
            <a:avLst/>
          </a:prstGeom>
        </p:spPr>
        <p:txBody>
          <a:bodyPr anchor="t" anchorCtr="0"/>
          <a:lstStyle>
            <a:lvl1pPr marL="266400" indent="-194400">
              <a:lnSpc>
                <a:spcPct val="100000"/>
              </a:lnSpc>
              <a:spcBef>
                <a:spcPts val="0"/>
              </a:spcBef>
              <a:spcAft>
                <a:spcPts val="0"/>
              </a:spcAft>
              <a:buClr>
                <a:schemeClr val="bg1">
                  <a:lumMod val="75000"/>
                </a:schemeClr>
              </a:buClr>
              <a:buSzPct val="100000"/>
              <a:buFont typeface="Wingdings" panose="05000000000000000000" pitchFamily="2" charset="2"/>
              <a:buChar char="§"/>
              <a:defRPr sz="18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&lt;Target audience&gt;</a:t>
            </a:r>
          </a:p>
          <a:p>
            <a:pPr lvl="0"/>
            <a:r>
              <a:rPr lang="en-US" dirty="0"/>
              <a:t>&lt;Target audience&gt;</a:t>
            </a:r>
          </a:p>
          <a:p>
            <a:pPr lvl="0"/>
            <a:r>
              <a:rPr lang="en-US" dirty="0"/>
              <a:t>&lt;Target audience&gt;</a:t>
            </a:r>
          </a:p>
        </p:txBody>
      </p:sp>
    </p:spTree>
    <p:extLst>
      <p:ext uri="{BB962C8B-B14F-4D97-AF65-F5344CB8AC3E}">
        <p14:creationId xmlns:p14="http://schemas.microsoft.com/office/powerpoint/2010/main" val="2738841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odule information II">
    <p:spTree>
      <p:nvGrpSpPr>
        <p:cNvPr id="1" name=""/>
        <p:cNvGrpSpPr/>
        <p:nvPr/>
      </p:nvGrpSpPr>
      <p:grpSpPr>
        <a:xfrm>
          <a:off x="0" y="0"/>
          <a:ext cx="0" cy="0"/>
          <a:chOff x="0" y="0"/>
          <a:chExt cx="0" cy="0"/>
        </a:xfrm>
      </p:grpSpPr>
      <p:sp>
        <p:nvSpPr>
          <p:cNvPr id="5" name="Textfeld 4"/>
          <p:cNvSpPr txBox="1"/>
          <p:nvPr userDrawn="1"/>
        </p:nvSpPr>
        <p:spPr>
          <a:xfrm>
            <a:off x="324000" y="324000"/>
            <a:ext cx="11545200" cy="759600"/>
          </a:xfrm>
          <a:prstGeom prst="rect">
            <a:avLst/>
          </a:prstGeom>
          <a:noFill/>
        </p:spPr>
        <p:txBody>
          <a:bodyPr wrap="square" lIns="0" tIns="0" rIns="0" bIns="0" rtlCol="0" anchor="ctr" anchorCtr="0">
            <a:noAutofit/>
          </a:bodyPr>
          <a:lstStyle/>
          <a:p>
            <a:pPr fontAlgn="base">
              <a:spcBef>
                <a:spcPts val="600"/>
              </a:spcBef>
              <a:spcAft>
                <a:spcPct val="0"/>
              </a:spcAft>
              <a:buClr>
                <a:srgbClr val="F0AB00"/>
              </a:buClr>
              <a:buSzPct val="80000"/>
            </a:pPr>
            <a:r>
              <a:rPr lang="en-US" sz="2400" b="1" kern="0" noProof="0" dirty="0">
                <a:solidFill>
                  <a:schemeClr val="accent2"/>
                </a:solidFill>
                <a:latin typeface="+mj-lt"/>
                <a:ea typeface="Arial Unicode MS" pitchFamily="34" charset="-128"/>
                <a:cs typeface="Arial Unicode MS" pitchFamily="34" charset="-128"/>
              </a:rPr>
              <a:t>Module</a:t>
            </a:r>
            <a:r>
              <a:rPr lang="en-US" sz="2400" b="1" kern="0" baseline="0" noProof="0" dirty="0">
                <a:solidFill>
                  <a:schemeClr val="accent2"/>
                </a:solidFill>
                <a:latin typeface="+mj-lt"/>
                <a:ea typeface="Arial Unicode MS" pitchFamily="34" charset="-128"/>
                <a:cs typeface="Arial Unicode MS" pitchFamily="34" charset="-128"/>
              </a:rPr>
              <a:t> Information</a:t>
            </a:r>
            <a:endParaRPr lang="en-US" sz="2400" b="1" kern="0" noProof="0" dirty="0">
              <a:solidFill>
                <a:schemeClr val="accent2"/>
              </a:solidFill>
              <a:latin typeface="+mj-lt"/>
              <a:ea typeface="Arial Unicode MS" pitchFamily="34" charset="-128"/>
              <a:cs typeface="Arial Unicode MS" pitchFamily="34" charset="-128"/>
            </a:endParaRPr>
          </a:p>
        </p:txBody>
      </p:sp>
      <p:grpSp>
        <p:nvGrpSpPr>
          <p:cNvPr id="3" name="Gruppieren 2"/>
          <p:cNvGrpSpPr/>
          <p:nvPr userDrawn="1"/>
        </p:nvGrpSpPr>
        <p:grpSpPr>
          <a:xfrm>
            <a:off x="324000" y="1503256"/>
            <a:ext cx="1299600" cy="1299600"/>
            <a:chOff x="214040" y="1152039"/>
            <a:chExt cx="765542" cy="765543"/>
          </a:xfrm>
        </p:grpSpPr>
        <p:sp>
          <p:nvSpPr>
            <p:cNvPr id="4" name="Donut 11"/>
            <p:cNvSpPr/>
            <p:nvPr userDrawn="1"/>
          </p:nvSpPr>
          <p:spPr bwMode="gray">
            <a:xfrm>
              <a:off x="214040" y="1152039"/>
              <a:ext cx="765542" cy="765543"/>
            </a:xfrm>
            <a:prstGeom prst="donut">
              <a:avLst>
                <a:gd name="adj" fmla="val 5979"/>
              </a:avLst>
            </a:prstGeom>
            <a:solidFill>
              <a:schemeClr val="accent1"/>
            </a:solidFill>
            <a:ln w="6350" algn="ctr">
              <a:solidFill>
                <a:schemeClr val="accent1"/>
              </a:solidFill>
              <a:miter lim="800000"/>
              <a:headEnd/>
              <a:tailEnd/>
            </a:ln>
          </p:spPr>
          <p:txBody>
            <a:bodyPr lIns="89863" tIns="71908" rIns="89863" bIns="71908" rtlCol="0" anchor="ctr"/>
            <a:lstStyle/>
            <a:p>
              <a:pPr algn="ctr" defTabSz="913003" fontAlgn="base">
                <a:spcBef>
                  <a:spcPct val="50000"/>
                </a:spcBef>
                <a:spcAft>
                  <a:spcPct val="0"/>
                </a:spcAft>
                <a:buClr>
                  <a:srgbClr val="F0AB00"/>
                </a:buClr>
                <a:buSzPct val="80000"/>
              </a:pPr>
              <a:endParaRPr lang="de-DE" sz="2000" kern="0">
                <a:ea typeface="Arial Unicode MS" pitchFamily="34" charset="-128"/>
                <a:cs typeface="Arial Unicode MS" pitchFamily="34" charset="-128"/>
              </a:endParaRPr>
            </a:p>
          </p:txBody>
        </p:sp>
        <p:pic>
          <p:nvPicPr>
            <p:cNvPr id="6" name="Picture 4"/>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33487" y="1313261"/>
              <a:ext cx="352425"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7" name="Gruppieren 6"/>
          <p:cNvGrpSpPr/>
          <p:nvPr userDrawn="1"/>
        </p:nvGrpSpPr>
        <p:grpSpPr>
          <a:xfrm>
            <a:off x="1951753" y="1927906"/>
            <a:ext cx="9917447" cy="500901"/>
            <a:chOff x="1108399" y="1396713"/>
            <a:chExt cx="7030682" cy="404566"/>
          </a:xfrm>
        </p:grpSpPr>
        <p:sp>
          <p:nvSpPr>
            <p:cNvPr id="8" name="Rectangle 10"/>
            <p:cNvSpPr/>
            <p:nvPr userDrawn="1"/>
          </p:nvSpPr>
          <p:spPr>
            <a:xfrm>
              <a:off x="1108399" y="1396713"/>
              <a:ext cx="3835401" cy="298154"/>
            </a:xfrm>
            <a:prstGeom prst="rect">
              <a:avLst/>
            </a:prstGeom>
          </p:spPr>
          <p:txBody>
            <a:bodyPr wrap="square" lIns="91302" tIns="45630" rIns="91302" bIns="45630">
              <a:spAutoFit/>
            </a:bodyPr>
            <a:lstStyle/>
            <a:p>
              <a:r>
                <a:rPr lang="en-US" sz="1800" b="1" kern="1200" noProof="0" dirty="0">
                  <a:solidFill>
                    <a:schemeClr val="tx1"/>
                  </a:solidFill>
                  <a:latin typeface="Arial"/>
                  <a:ea typeface="+mn-ea"/>
                  <a:cs typeface="+mn-cs"/>
                </a:rPr>
                <a:t>Learning Objectives</a:t>
              </a:r>
            </a:p>
          </p:txBody>
        </p:sp>
        <p:cxnSp>
          <p:nvCxnSpPr>
            <p:cNvPr id="9" name="Straight Connector 12"/>
            <p:cNvCxnSpPr/>
            <p:nvPr userDrawn="1"/>
          </p:nvCxnSpPr>
          <p:spPr>
            <a:xfrm flipV="1">
              <a:off x="1197563" y="1776441"/>
              <a:ext cx="6941518" cy="24838"/>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0" name="Textplatzhalter 21"/>
          <p:cNvSpPr>
            <a:spLocks noGrp="1"/>
          </p:cNvSpPr>
          <p:nvPr>
            <p:ph type="body" sz="quarter" idx="15" hasCustomPrompt="1"/>
          </p:nvPr>
        </p:nvSpPr>
        <p:spPr>
          <a:xfrm>
            <a:off x="2038856" y="2624439"/>
            <a:ext cx="9830344" cy="1319928"/>
          </a:xfrm>
          <a:prstGeom prst="rect">
            <a:avLst/>
          </a:prstGeom>
        </p:spPr>
        <p:txBody>
          <a:bodyPr anchor="t" anchorCtr="0"/>
          <a:lstStyle>
            <a:lvl1pPr marL="266400" indent="-194400">
              <a:lnSpc>
                <a:spcPct val="100000"/>
              </a:lnSpc>
              <a:spcBef>
                <a:spcPts val="0"/>
              </a:spcBef>
              <a:spcAft>
                <a:spcPts val="0"/>
              </a:spcAft>
              <a:buClr>
                <a:schemeClr val="bg1">
                  <a:lumMod val="75000"/>
                </a:schemeClr>
              </a:buClr>
              <a:buSzPct val="100000"/>
              <a:buFont typeface="Wingdings" panose="05000000000000000000" pitchFamily="2" charset="2"/>
              <a:buChar char="§"/>
              <a:defRPr sz="18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&lt;Learning objective&gt;</a:t>
            </a:r>
          </a:p>
          <a:p>
            <a:pPr lvl="0"/>
            <a:r>
              <a:rPr lang="en-US" dirty="0"/>
              <a:t>&lt;Learning objective&gt;</a:t>
            </a:r>
          </a:p>
          <a:p>
            <a:pPr lvl="0"/>
            <a:r>
              <a:rPr lang="en-US" dirty="0"/>
              <a:t>&lt;Learning objective&gt;</a:t>
            </a:r>
          </a:p>
        </p:txBody>
      </p:sp>
    </p:spTree>
    <p:extLst>
      <p:ext uri="{BB962C8B-B14F-4D97-AF65-F5344CB8AC3E}">
        <p14:creationId xmlns:p14="http://schemas.microsoft.com/office/powerpoint/2010/main" val="10148664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bg bwMode="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&lt;Agenda&gt;</a:t>
            </a:r>
          </a:p>
        </p:txBody>
      </p:sp>
      <p:sp>
        <p:nvSpPr>
          <p:cNvPr id="5" name="Text Placeholder 2"/>
          <p:cNvSpPr>
            <a:spLocks noGrp="1"/>
          </p:cNvSpPr>
          <p:nvPr>
            <p:ph idx="1"/>
          </p:nvPr>
        </p:nvSpPr>
        <p:spPr bwMode="gray">
          <a:xfrm>
            <a:off x="324000" y="1691079"/>
            <a:ext cx="11545200"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Tree>
    <p:extLst>
      <p:ext uri="{BB962C8B-B14F-4D97-AF65-F5344CB8AC3E}">
        <p14:creationId xmlns:p14="http://schemas.microsoft.com/office/powerpoint/2010/main" val="2680609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el und Text">
    <p:spTree>
      <p:nvGrpSpPr>
        <p:cNvPr id="1" name=""/>
        <p:cNvGrpSpPr/>
        <p:nvPr/>
      </p:nvGrpSpPr>
      <p:grpSpPr>
        <a:xfrm>
          <a:off x="0" y="0"/>
          <a:ext cx="0" cy="0"/>
          <a:chOff x="0" y="0"/>
          <a:chExt cx="0" cy="0"/>
        </a:xfrm>
      </p:grpSpPr>
      <p:sp>
        <p:nvSpPr>
          <p:cNvPr id="5" name="Text Placeholder 2"/>
          <p:cNvSpPr>
            <a:spLocks noGrp="1"/>
          </p:cNvSpPr>
          <p:nvPr>
            <p:ph idx="1"/>
          </p:nvPr>
        </p:nvSpPr>
        <p:spPr bwMode="gray">
          <a:xfrm>
            <a:off x="324000" y="1691079"/>
            <a:ext cx="11545200"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2" name="Title 1"/>
          <p:cNvSpPr>
            <a:spLocks noGrp="1"/>
          </p:cNvSpPr>
          <p:nvPr>
            <p:ph type="title" hasCustomPrompt="1"/>
          </p:nvPr>
        </p:nvSpPr>
        <p:spPr/>
        <p:txBody>
          <a:bodyPr/>
          <a:lstStyle>
            <a:lvl1pPr>
              <a:defRPr/>
            </a:lvl1pPr>
          </a:lstStyle>
          <a:p>
            <a:r>
              <a:rPr lang="en-US" noProof="0" dirty="0"/>
              <a:t>&lt;Page title&gt;</a:t>
            </a:r>
            <a:endParaRPr lang="en-US" dirty="0"/>
          </a:p>
        </p:txBody>
      </p:sp>
    </p:spTree>
    <p:extLst>
      <p:ext uri="{BB962C8B-B14F-4D97-AF65-F5344CB8AC3E}">
        <p14:creationId xmlns:p14="http://schemas.microsoft.com/office/powerpoint/2010/main" val="38710372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7" name="Text Placeholder 2"/>
          <p:cNvSpPr>
            <a:spLocks noGrp="1"/>
          </p:cNvSpPr>
          <p:nvPr>
            <p:ph idx="12"/>
          </p:nvPr>
        </p:nvSpPr>
        <p:spPr bwMode="gray">
          <a:xfrm>
            <a:off x="6208016" y="1691079"/>
            <a:ext cx="5661184"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6" name="Text Placeholder 2"/>
          <p:cNvSpPr>
            <a:spLocks noGrp="1"/>
          </p:cNvSpPr>
          <p:nvPr>
            <p:ph idx="1"/>
          </p:nvPr>
        </p:nvSpPr>
        <p:spPr bwMode="gray">
          <a:xfrm>
            <a:off x="324000" y="1691079"/>
            <a:ext cx="5662800"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2" name="Title 1"/>
          <p:cNvSpPr>
            <a:spLocks noGrp="1"/>
          </p:cNvSpPr>
          <p:nvPr>
            <p:ph type="title" hasCustomPrompt="1"/>
          </p:nvPr>
        </p:nvSpPr>
        <p:spPr/>
        <p:txBody>
          <a:bodyPr/>
          <a:lstStyle/>
          <a:p>
            <a:r>
              <a:rPr lang="en-US" noProof="0" dirty="0"/>
              <a:t>&lt;Page title&gt;</a:t>
            </a:r>
            <a:endParaRPr lang="en-US" dirty="0"/>
          </a:p>
        </p:txBody>
      </p:sp>
    </p:spTree>
    <p:extLst>
      <p:ext uri="{BB962C8B-B14F-4D97-AF65-F5344CB8AC3E}">
        <p14:creationId xmlns:p14="http://schemas.microsoft.com/office/powerpoint/2010/main" val="1080573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9" name="Text Placeholder 2"/>
          <p:cNvSpPr>
            <a:spLocks noGrp="1"/>
          </p:cNvSpPr>
          <p:nvPr>
            <p:ph idx="14"/>
          </p:nvPr>
        </p:nvSpPr>
        <p:spPr bwMode="gray">
          <a:xfrm>
            <a:off x="8133316" y="1691079"/>
            <a:ext cx="3735883"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8" name="Text Placeholder 2"/>
          <p:cNvSpPr>
            <a:spLocks noGrp="1"/>
          </p:cNvSpPr>
          <p:nvPr>
            <p:ph idx="13"/>
          </p:nvPr>
        </p:nvSpPr>
        <p:spPr bwMode="gray">
          <a:xfrm>
            <a:off x="4228658" y="1691079"/>
            <a:ext cx="3740400"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6" name="Text Placeholder 2"/>
          <p:cNvSpPr>
            <a:spLocks noGrp="1"/>
          </p:cNvSpPr>
          <p:nvPr>
            <p:ph idx="1"/>
          </p:nvPr>
        </p:nvSpPr>
        <p:spPr bwMode="gray">
          <a:xfrm>
            <a:off x="324000" y="1691079"/>
            <a:ext cx="3740399"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2" name="Title 1"/>
          <p:cNvSpPr>
            <a:spLocks noGrp="1"/>
          </p:cNvSpPr>
          <p:nvPr>
            <p:ph type="title" hasCustomPrompt="1"/>
          </p:nvPr>
        </p:nvSpPr>
        <p:spPr>
          <a:xfrm>
            <a:off x="324000" y="324075"/>
            <a:ext cx="11545200" cy="756175"/>
          </a:xfrm>
        </p:spPr>
        <p:txBody>
          <a:bodyPr/>
          <a:lstStyle/>
          <a:p>
            <a:r>
              <a:rPr lang="en-US" noProof="0" dirty="0"/>
              <a:t>&lt;Page title&gt;</a:t>
            </a:r>
            <a:endParaRPr lang="en-US" dirty="0"/>
          </a:p>
        </p:txBody>
      </p:sp>
    </p:spTree>
    <p:extLst>
      <p:ext uri="{BB962C8B-B14F-4D97-AF65-F5344CB8AC3E}">
        <p14:creationId xmlns:p14="http://schemas.microsoft.com/office/powerpoint/2010/main" val="6800778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Text with picture right 1">
    <p:spTree>
      <p:nvGrpSpPr>
        <p:cNvPr id="1" name=""/>
        <p:cNvGrpSpPr/>
        <p:nvPr/>
      </p:nvGrpSpPr>
      <p:grpSpPr>
        <a:xfrm>
          <a:off x="0" y="0"/>
          <a:ext cx="0" cy="0"/>
          <a:chOff x="0" y="0"/>
          <a:chExt cx="0" cy="0"/>
        </a:xfrm>
      </p:grpSpPr>
      <p:sp>
        <p:nvSpPr>
          <p:cNvPr id="6" name="Text Placeholder 2"/>
          <p:cNvSpPr>
            <a:spLocks noGrp="1"/>
          </p:cNvSpPr>
          <p:nvPr>
            <p:ph idx="1"/>
          </p:nvPr>
        </p:nvSpPr>
        <p:spPr bwMode="gray">
          <a:xfrm>
            <a:off x="324000" y="1691079"/>
            <a:ext cx="7149950"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2" name="Title 1"/>
          <p:cNvSpPr>
            <a:spLocks noGrp="1"/>
          </p:cNvSpPr>
          <p:nvPr>
            <p:ph type="title" hasCustomPrompt="1"/>
          </p:nvPr>
        </p:nvSpPr>
        <p:spPr bwMode="gray"/>
        <p:txBody>
          <a:bodyPr/>
          <a:lstStyle>
            <a:lvl1pPr>
              <a:defRPr/>
            </a:lvl1pPr>
          </a:lstStyle>
          <a:p>
            <a:r>
              <a:rPr lang="en-US" noProof="0" dirty="0"/>
              <a:t>&lt;Page title&gt;</a:t>
            </a:r>
            <a:endParaRPr lang="en-US" dirty="0"/>
          </a:p>
        </p:txBody>
      </p:sp>
      <p:sp>
        <p:nvSpPr>
          <p:cNvPr id="5" name="Picture Placeholder 4"/>
          <p:cNvSpPr>
            <a:spLocks noGrp="1"/>
          </p:cNvSpPr>
          <p:nvPr>
            <p:ph type="pic" sz="quarter" idx="10"/>
          </p:nvPr>
        </p:nvSpPr>
        <p:spPr bwMode="gray">
          <a:xfrm>
            <a:off x="7639050" y="1691079"/>
            <a:ext cx="4232275" cy="4392042"/>
          </a:xfrm>
          <a:solidFill>
            <a:schemeClr val="bg1">
              <a:lumMod val="95000"/>
            </a:schemeClr>
          </a:solidFill>
        </p:spPr>
        <p:txBody>
          <a:bodyPr tIns="1543147" anchor="t" anchorCtr="0"/>
          <a:lstStyle>
            <a:lvl1pPr algn="ctr">
              <a:defRPr b="0"/>
            </a:lvl1pPr>
          </a:lstStyle>
          <a:p>
            <a:r>
              <a:rPr lang="de-DE"/>
              <a:t>Bild durch Klicken auf Symbol hinzufügen</a:t>
            </a:r>
            <a:endParaRPr lang="en-US" dirty="0"/>
          </a:p>
        </p:txBody>
      </p:sp>
    </p:spTree>
    <p:extLst>
      <p:ext uri="{BB962C8B-B14F-4D97-AF65-F5344CB8AC3E}">
        <p14:creationId xmlns:p14="http://schemas.microsoft.com/office/powerpoint/2010/main" val="13226966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ext with picture right 2">
    <p:spTree>
      <p:nvGrpSpPr>
        <p:cNvPr id="1" name=""/>
        <p:cNvGrpSpPr/>
        <p:nvPr/>
      </p:nvGrpSpPr>
      <p:grpSpPr>
        <a:xfrm>
          <a:off x="0" y="0"/>
          <a:ext cx="0" cy="0"/>
          <a:chOff x="0" y="0"/>
          <a:chExt cx="0" cy="0"/>
        </a:xfrm>
      </p:grpSpPr>
      <p:sp>
        <p:nvSpPr>
          <p:cNvPr id="6" name="Text Placeholder 2"/>
          <p:cNvSpPr>
            <a:spLocks noGrp="1"/>
          </p:cNvSpPr>
          <p:nvPr>
            <p:ph idx="1"/>
          </p:nvPr>
        </p:nvSpPr>
        <p:spPr bwMode="gray">
          <a:xfrm>
            <a:off x="324000" y="1691079"/>
            <a:ext cx="5662800"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2" name="Title 1"/>
          <p:cNvSpPr>
            <a:spLocks noGrp="1"/>
          </p:cNvSpPr>
          <p:nvPr>
            <p:ph type="title" hasCustomPrompt="1"/>
          </p:nvPr>
        </p:nvSpPr>
        <p:spPr bwMode="gray"/>
        <p:txBody>
          <a:bodyPr/>
          <a:lstStyle>
            <a:lvl1pPr>
              <a:defRPr/>
            </a:lvl1pPr>
          </a:lstStyle>
          <a:p>
            <a:r>
              <a:rPr lang="en-US" noProof="0" dirty="0"/>
              <a:t>&lt;Page title&gt;</a:t>
            </a:r>
            <a:endParaRPr lang="en-US" dirty="0"/>
          </a:p>
        </p:txBody>
      </p:sp>
      <p:sp>
        <p:nvSpPr>
          <p:cNvPr id="5" name="Picture Placeholder 4"/>
          <p:cNvSpPr>
            <a:spLocks noGrp="1"/>
          </p:cNvSpPr>
          <p:nvPr>
            <p:ph type="pic" sz="quarter" idx="10"/>
          </p:nvPr>
        </p:nvSpPr>
        <p:spPr bwMode="gray">
          <a:xfrm>
            <a:off x="6208016" y="1692392"/>
            <a:ext cx="5662800" cy="4393017"/>
          </a:xfrm>
          <a:solidFill>
            <a:schemeClr val="bg1">
              <a:lumMod val="95000"/>
            </a:schemeClr>
          </a:solidFill>
        </p:spPr>
        <p:txBody>
          <a:bodyPr vert="horz" lIns="0" tIns="1543147" rIns="0" bIns="0" rtlCol="0" anchor="t" anchorCtr="0">
            <a:noAutofit/>
          </a:bodyPr>
          <a:lstStyle>
            <a:lvl1pPr marL="0" indent="0" algn="ctr" defTabSz="1088776" rtl="0" eaLnBrk="1" latinLnBrk="0" hangingPunct="1">
              <a:spcBef>
                <a:spcPts val="1929"/>
              </a:spcBef>
              <a:buClr>
                <a:schemeClr val="accent1"/>
              </a:buClr>
              <a:buSzPct val="80000"/>
              <a:buFontTx/>
              <a:buNone/>
              <a:defRPr lang="de-DE" sz="2100" b="0" kern="1200" dirty="0">
                <a:solidFill>
                  <a:schemeClr val="tx1"/>
                </a:solidFill>
                <a:latin typeface="+mn-lt"/>
                <a:ea typeface="+mn-ea"/>
                <a:cs typeface="+mn-cs"/>
              </a:defRPr>
            </a:lvl1pPr>
          </a:lstStyle>
          <a:p>
            <a:r>
              <a:rPr lang="de-DE"/>
              <a:t>Bild durch Klicken auf Symbol hinzufügen</a:t>
            </a:r>
            <a:endParaRPr lang="en-US" dirty="0"/>
          </a:p>
        </p:txBody>
      </p:sp>
    </p:spTree>
    <p:extLst>
      <p:ext uri="{BB962C8B-B14F-4D97-AF65-F5344CB8AC3E}">
        <p14:creationId xmlns:p14="http://schemas.microsoft.com/office/powerpoint/2010/main" val="27170796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Text with picture right 3">
    <p:spTree>
      <p:nvGrpSpPr>
        <p:cNvPr id="1" name=""/>
        <p:cNvGrpSpPr/>
        <p:nvPr/>
      </p:nvGrpSpPr>
      <p:grpSpPr>
        <a:xfrm>
          <a:off x="0" y="0"/>
          <a:ext cx="0" cy="0"/>
          <a:chOff x="0" y="0"/>
          <a:chExt cx="0" cy="0"/>
        </a:xfrm>
      </p:grpSpPr>
      <p:sp>
        <p:nvSpPr>
          <p:cNvPr id="6" name="Text Placeholder 2"/>
          <p:cNvSpPr>
            <a:spLocks noGrp="1"/>
          </p:cNvSpPr>
          <p:nvPr>
            <p:ph idx="1"/>
          </p:nvPr>
        </p:nvSpPr>
        <p:spPr bwMode="gray">
          <a:xfrm>
            <a:off x="324000" y="1691079"/>
            <a:ext cx="4224188"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2" name="Title 1"/>
          <p:cNvSpPr>
            <a:spLocks noGrp="1"/>
          </p:cNvSpPr>
          <p:nvPr>
            <p:ph type="title" hasCustomPrompt="1"/>
          </p:nvPr>
        </p:nvSpPr>
        <p:spPr bwMode="gray"/>
        <p:txBody>
          <a:bodyPr/>
          <a:lstStyle>
            <a:lvl1pPr>
              <a:defRPr/>
            </a:lvl1pPr>
          </a:lstStyle>
          <a:p>
            <a:r>
              <a:rPr lang="en-US" noProof="0" dirty="0"/>
              <a:t>&lt;Page title&gt;</a:t>
            </a:r>
            <a:endParaRPr lang="en-US" dirty="0"/>
          </a:p>
        </p:txBody>
      </p:sp>
      <p:sp>
        <p:nvSpPr>
          <p:cNvPr id="5" name="Picture Placeholder 4"/>
          <p:cNvSpPr>
            <a:spLocks noGrp="1"/>
          </p:cNvSpPr>
          <p:nvPr>
            <p:ph type="pic" sz="quarter" idx="10"/>
          </p:nvPr>
        </p:nvSpPr>
        <p:spPr bwMode="gray">
          <a:xfrm>
            <a:off x="4706938" y="1692392"/>
            <a:ext cx="7164387" cy="4393017"/>
          </a:xfrm>
          <a:solidFill>
            <a:schemeClr val="bg1">
              <a:lumMod val="95000"/>
            </a:schemeClr>
          </a:solidFill>
        </p:spPr>
        <p:txBody>
          <a:bodyPr vert="horz" lIns="0" tIns="1543147" rIns="0" bIns="0" rtlCol="0" anchor="t" anchorCtr="0">
            <a:noAutofit/>
          </a:bodyPr>
          <a:lstStyle>
            <a:lvl1pPr marL="0" indent="0" algn="ctr" defTabSz="1088776" rtl="0" eaLnBrk="1" latinLnBrk="0" hangingPunct="1">
              <a:spcBef>
                <a:spcPts val="1929"/>
              </a:spcBef>
              <a:buClr>
                <a:schemeClr val="accent1"/>
              </a:buClr>
              <a:buSzPct val="80000"/>
              <a:buFontTx/>
              <a:buNone/>
              <a:defRPr lang="de-DE" sz="2100" b="0" kern="1200" dirty="0">
                <a:solidFill>
                  <a:schemeClr val="tx1"/>
                </a:solidFill>
                <a:latin typeface="+mn-lt"/>
                <a:ea typeface="+mn-ea"/>
                <a:cs typeface="+mn-cs"/>
              </a:defRPr>
            </a:lvl1pPr>
          </a:lstStyle>
          <a:p>
            <a:r>
              <a:rPr lang="de-DE"/>
              <a:t>Bild durch Klicken auf Symbol hinzufügen</a:t>
            </a:r>
            <a:endParaRPr lang="en-US" dirty="0"/>
          </a:p>
        </p:txBody>
      </p:sp>
    </p:spTree>
    <p:extLst>
      <p:ext uri="{BB962C8B-B14F-4D97-AF65-F5344CB8AC3E}">
        <p14:creationId xmlns:p14="http://schemas.microsoft.com/office/powerpoint/2010/main" val="25258831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Text with picture: 2 columns">
    <p:spTree>
      <p:nvGrpSpPr>
        <p:cNvPr id="1" name=""/>
        <p:cNvGrpSpPr/>
        <p:nvPr/>
      </p:nvGrpSpPr>
      <p:grpSpPr>
        <a:xfrm>
          <a:off x="0" y="0"/>
          <a:ext cx="0" cy="0"/>
          <a:chOff x="0" y="0"/>
          <a:chExt cx="0" cy="0"/>
        </a:xfrm>
      </p:grpSpPr>
      <p:sp>
        <p:nvSpPr>
          <p:cNvPr id="8" name="Text Placeholder 2"/>
          <p:cNvSpPr>
            <a:spLocks noGrp="1"/>
          </p:cNvSpPr>
          <p:nvPr>
            <p:ph idx="17"/>
          </p:nvPr>
        </p:nvSpPr>
        <p:spPr bwMode="gray">
          <a:xfrm>
            <a:off x="6208016" y="1691079"/>
            <a:ext cx="5661184" cy="1721199"/>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7" name="Text Placeholder 2"/>
          <p:cNvSpPr>
            <a:spLocks noGrp="1"/>
          </p:cNvSpPr>
          <p:nvPr>
            <p:ph idx="1"/>
          </p:nvPr>
        </p:nvSpPr>
        <p:spPr bwMode="gray">
          <a:xfrm>
            <a:off x="324000" y="1691079"/>
            <a:ext cx="5662800" cy="1721199"/>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2" name="Title 1"/>
          <p:cNvSpPr>
            <a:spLocks noGrp="1"/>
          </p:cNvSpPr>
          <p:nvPr>
            <p:ph type="title" hasCustomPrompt="1"/>
          </p:nvPr>
        </p:nvSpPr>
        <p:spPr/>
        <p:txBody>
          <a:bodyPr/>
          <a:lstStyle/>
          <a:p>
            <a:r>
              <a:rPr lang="en-US" noProof="0" dirty="0"/>
              <a:t>&lt;Page title&gt;</a:t>
            </a:r>
            <a:endParaRPr lang="en-US" dirty="0"/>
          </a:p>
        </p:txBody>
      </p:sp>
      <p:sp>
        <p:nvSpPr>
          <p:cNvPr id="9" name="Picture Placeholder 4"/>
          <p:cNvSpPr>
            <a:spLocks noGrp="1"/>
          </p:cNvSpPr>
          <p:nvPr>
            <p:ph type="pic" sz="quarter" idx="15"/>
          </p:nvPr>
        </p:nvSpPr>
        <p:spPr bwMode="gray">
          <a:xfrm>
            <a:off x="324000" y="3574318"/>
            <a:ext cx="5662800" cy="2508804"/>
          </a:xfrm>
          <a:solidFill>
            <a:schemeClr val="bg1">
              <a:lumMod val="95000"/>
            </a:schemeClr>
          </a:solidFill>
        </p:spPr>
        <p:txBody>
          <a:bodyPr tIns="600113" anchor="t" anchorCtr="0"/>
          <a:lstStyle>
            <a:lvl1pPr algn="ctr">
              <a:defRPr b="0"/>
            </a:lvl1pPr>
          </a:lstStyle>
          <a:p>
            <a:r>
              <a:rPr lang="de-DE"/>
              <a:t>Bild durch Klicken auf Symbol hinzufügen</a:t>
            </a:r>
            <a:endParaRPr lang="en-US" dirty="0"/>
          </a:p>
        </p:txBody>
      </p:sp>
      <p:sp>
        <p:nvSpPr>
          <p:cNvPr id="11" name="Picture Placeholder 4"/>
          <p:cNvSpPr>
            <a:spLocks noGrp="1"/>
          </p:cNvSpPr>
          <p:nvPr>
            <p:ph type="pic" sz="quarter" idx="16"/>
          </p:nvPr>
        </p:nvSpPr>
        <p:spPr bwMode="gray">
          <a:xfrm>
            <a:off x="6208016" y="3574318"/>
            <a:ext cx="5662800" cy="2508804"/>
          </a:xfrm>
          <a:solidFill>
            <a:schemeClr val="bg1">
              <a:lumMod val="95000"/>
            </a:schemeClr>
          </a:solidFill>
        </p:spPr>
        <p:txBody>
          <a:bodyPr tIns="600113" anchor="t" anchorCtr="0"/>
          <a:lstStyle>
            <a:lvl1pPr algn="ctr">
              <a:defRPr b="0"/>
            </a:lvl1pPr>
          </a:lstStyle>
          <a:p>
            <a:r>
              <a:rPr lang="de-DE"/>
              <a:t>Bild durch Klicken auf Symbol hinzufügen</a:t>
            </a:r>
            <a:endParaRPr lang="en-US" dirty="0"/>
          </a:p>
        </p:txBody>
      </p:sp>
    </p:spTree>
    <p:extLst>
      <p:ext uri="{BB962C8B-B14F-4D97-AF65-F5344CB8AC3E}">
        <p14:creationId xmlns:p14="http://schemas.microsoft.com/office/powerpoint/2010/main" val="27202932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Contact / Thank You">
    <p:bg bwMode="gray">
      <p:bgRef idx="1001">
        <a:schemeClr val="bg1"/>
      </p:bgRef>
    </p:bg>
    <p:spTree>
      <p:nvGrpSpPr>
        <p:cNvPr id="1" name=""/>
        <p:cNvGrpSpPr/>
        <p:nvPr/>
      </p:nvGrpSpPr>
      <p:grpSpPr>
        <a:xfrm>
          <a:off x="0" y="0"/>
          <a:ext cx="0" cy="0"/>
          <a:chOff x="0" y="0"/>
          <a:chExt cx="0" cy="0"/>
        </a:xfrm>
      </p:grpSpPr>
      <p:sp>
        <p:nvSpPr>
          <p:cNvPr id="7" name="Rectangle 6"/>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19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5437" y="478741"/>
            <a:ext cx="1833518" cy="907200"/>
          </a:xfrm>
          <a:prstGeom prst="rect">
            <a:avLst/>
          </a:prstGeom>
        </p:spPr>
      </p:pic>
      <p:sp>
        <p:nvSpPr>
          <p:cNvPr id="8" name="Textfeld 7"/>
          <p:cNvSpPr txBox="1"/>
          <p:nvPr userDrawn="1"/>
        </p:nvSpPr>
        <p:spPr>
          <a:xfrm>
            <a:off x="324000" y="2061275"/>
            <a:ext cx="11545200" cy="923330"/>
          </a:xfrm>
          <a:prstGeom prst="rect">
            <a:avLst/>
          </a:prstGeom>
          <a:noFill/>
        </p:spPr>
        <p:txBody>
          <a:bodyPr wrap="square" lIns="0" tIns="0" rIns="0" bIns="0" rtlCol="0">
            <a:spAutoFit/>
          </a:bodyPr>
          <a:lstStyle/>
          <a:p>
            <a:pPr algn="ctr" fontAlgn="base">
              <a:spcBef>
                <a:spcPts val="600"/>
              </a:spcBef>
              <a:spcAft>
                <a:spcPct val="0"/>
              </a:spcAft>
              <a:buClr>
                <a:srgbClr val="F0AB00"/>
              </a:buClr>
              <a:buSzPct val="80000"/>
            </a:pPr>
            <a:r>
              <a:rPr lang="en-US" sz="6000" noProof="0" dirty="0"/>
              <a:t>Thank</a:t>
            </a:r>
            <a:r>
              <a:rPr lang="en-US" sz="6000" baseline="0" noProof="0" dirty="0"/>
              <a:t> you</a:t>
            </a:r>
            <a:r>
              <a:rPr lang="en-US" sz="6000" noProof="0" dirty="0"/>
              <a:t>!</a:t>
            </a:r>
            <a:endParaRPr lang="en-US" sz="6000" kern="0" noProof="0" dirty="0">
              <a:ea typeface="Arial Unicode MS" pitchFamily="34" charset="-128"/>
              <a:cs typeface="Arial Unicode MS" pitchFamily="34" charset="-128"/>
            </a:endParaRPr>
          </a:p>
        </p:txBody>
      </p:sp>
      <p:sp>
        <p:nvSpPr>
          <p:cNvPr id="9" name="Textplatzhalter 5"/>
          <p:cNvSpPr>
            <a:spLocks noGrp="1"/>
          </p:cNvSpPr>
          <p:nvPr>
            <p:ph type="body" sz="quarter" idx="10" hasCustomPrompt="1"/>
          </p:nvPr>
        </p:nvSpPr>
        <p:spPr>
          <a:xfrm>
            <a:off x="3925792" y="3659939"/>
            <a:ext cx="4341615" cy="2141713"/>
          </a:xfrm>
          <a:noFill/>
          <a:ln>
            <a:solidFill>
              <a:schemeClr val="accent1"/>
            </a:solidFill>
          </a:ln>
        </p:spPr>
        <p:txBody>
          <a:bodyPr lIns="108000" tIns="108000" rIns="108000" bIns="108000"/>
          <a:lstStyle>
            <a:lvl1pPr marL="0" indent="0" fontAlgn="base">
              <a:spcBef>
                <a:spcPts val="600"/>
              </a:spcBef>
              <a:spcAft>
                <a:spcPct val="0"/>
              </a:spcAft>
              <a:buClr>
                <a:srgbClr val="F0AB00"/>
              </a:buClr>
              <a:buSzPct val="80000"/>
              <a:buNone/>
              <a:defRPr sz="2400" b="1" baseline="0">
                <a:solidFill>
                  <a:schemeClr val="tx1"/>
                </a:solidFill>
              </a:defRPr>
            </a:lvl1pPr>
            <a:lvl2pPr marL="201600" indent="0">
              <a:buNone/>
              <a:defRPr/>
            </a:lvl2pPr>
            <a:lvl3pPr marL="324000" indent="0">
              <a:buNone/>
              <a:defRPr/>
            </a:lvl3pPr>
            <a:lvl4pPr marL="504000" indent="0">
              <a:buNone/>
              <a:defRPr/>
            </a:lvl4pPr>
            <a:lvl5pPr marL="361338" indent="0">
              <a:buNone/>
              <a:defRPr/>
            </a:lvl5pPr>
          </a:lstStyle>
          <a:p>
            <a:pPr lvl="0"/>
            <a:r>
              <a:rPr lang="en-US" noProof="0" dirty="0"/>
              <a:t>Contact</a:t>
            </a:r>
          </a:p>
          <a:p>
            <a:pPr lvl="0"/>
            <a:endParaRPr lang="en-US" noProof="0" dirty="0"/>
          </a:p>
          <a:p>
            <a:pPr fontAlgn="base">
              <a:spcBef>
                <a:spcPts val="600"/>
              </a:spcBef>
              <a:spcAft>
                <a:spcPct val="0"/>
              </a:spcAft>
              <a:buClr>
                <a:srgbClr val="F0AB00"/>
              </a:buClr>
              <a:buSzPct val="80000"/>
            </a:pPr>
            <a:r>
              <a:rPr lang="en-US" sz="1400" kern="0" noProof="0" dirty="0">
                <a:ea typeface="Arial Unicode MS" pitchFamily="34" charset="-128"/>
                <a:cs typeface="Arial Unicode MS" pitchFamily="34" charset="-128"/>
              </a:rPr>
              <a:t> &lt;First name&gt; &lt;Last name&gt;</a:t>
            </a:r>
          </a:p>
          <a:p>
            <a:pPr fontAlgn="base">
              <a:spcBef>
                <a:spcPts val="600"/>
              </a:spcBef>
              <a:spcAft>
                <a:spcPct val="0"/>
              </a:spcAft>
              <a:buClr>
                <a:srgbClr val="F0AB00"/>
              </a:buClr>
              <a:buSzPct val="80000"/>
            </a:pPr>
            <a:r>
              <a:rPr lang="en-US" sz="1400" kern="0" baseline="0" noProof="0" dirty="0">
                <a:ea typeface="Arial Unicode MS" pitchFamily="34" charset="-128"/>
                <a:cs typeface="Arial Unicode MS" pitchFamily="34" charset="-128"/>
              </a:rPr>
              <a:t> &lt;Position, Organization&gt;</a:t>
            </a:r>
          </a:p>
          <a:p>
            <a:pPr fontAlgn="base">
              <a:spcBef>
                <a:spcPts val="600"/>
              </a:spcBef>
              <a:spcAft>
                <a:spcPct val="0"/>
              </a:spcAft>
              <a:buClr>
                <a:srgbClr val="F0AB00"/>
              </a:buClr>
              <a:buSzPct val="80000"/>
            </a:pPr>
            <a:r>
              <a:rPr lang="en-US" sz="1400" kern="0" baseline="0" noProof="0" dirty="0">
                <a:ea typeface="Arial Unicode MS" pitchFamily="34" charset="-128"/>
                <a:cs typeface="Arial Unicode MS" pitchFamily="34" charset="-128"/>
              </a:rPr>
              <a:t> &lt;Contact information&gt;</a:t>
            </a:r>
            <a:endParaRPr lang="en-US" sz="1800" kern="0" noProof="0" dirty="0">
              <a:ea typeface="Arial Unicode MS" pitchFamily="34" charset="-128"/>
              <a:cs typeface="Arial Unicode MS" pitchFamily="34" charset="-128"/>
            </a:endParaRPr>
          </a:p>
          <a:p>
            <a:pPr lvl="0"/>
            <a:endParaRPr lang="en-US" noProof="0" dirty="0"/>
          </a:p>
        </p:txBody>
      </p:sp>
    </p:spTree>
    <p:extLst>
      <p:ext uri="{BB962C8B-B14F-4D97-AF65-F5344CB8AC3E}">
        <p14:creationId xmlns:p14="http://schemas.microsoft.com/office/powerpoint/2010/main" val="1204744678"/>
      </p:ext>
    </p:extLst>
  </p:cSld>
  <p:clrMapOvr>
    <a:overrideClrMapping bg1="lt1" tx1="dk1" bg2="lt2" tx2="dk2" accent1="accent1" accent2="accent2" accent3="accent3" accent4="accent4" accent5="accent5" accent6="accent6" hlink="hlink" folHlink="folHlink"/>
  </p:clrMapOvr>
  <p:hf sldNum="0" hdr="0" ftr="0" dt="0"/>
  <p:extLst mod="1">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uthors">
    <p:spTree>
      <p:nvGrpSpPr>
        <p:cNvPr id="1" name=""/>
        <p:cNvGrpSpPr/>
        <p:nvPr/>
      </p:nvGrpSpPr>
      <p:grpSpPr>
        <a:xfrm>
          <a:off x="0" y="0"/>
          <a:ext cx="0" cy="0"/>
          <a:chOff x="0" y="0"/>
          <a:chExt cx="0" cy="0"/>
        </a:xfrm>
      </p:grpSpPr>
      <p:sp>
        <p:nvSpPr>
          <p:cNvPr id="6" name="Text Placeholder 2"/>
          <p:cNvSpPr>
            <a:spLocks noGrp="1"/>
          </p:cNvSpPr>
          <p:nvPr>
            <p:ph idx="1"/>
          </p:nvPr>
        </p:nvSpPr>
        <p:spPr bwMode="gray">
          <a:xfrm>
            <a:off x="324000" y="1691079"/>
            <a:ext cx="11545200"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5" name="Textfeld 4"/>
          <p:cNvSpPr txBox="1"/>
          <p:nvPr userDrawn="1"/>
        </p:nvSpPr>
        <p:spPr>
          <a:xfrm>
            <a:off x="324000" y="324000"/>
            <a:ext cx="11545200" cy="759600"/>
          </a:xfrm>
          <a:prstGeom prst="rect">
            <a:avLst/>
          </a:prstGeom>
          <a:noFill/>
        </p:spPr>
        <p:txBody>
          <a:bodyPr wrap="square" lIns="0" tIns="0" rIns="0" bIns="0" rtlCol="0" anchor="ctr" anchorCtr="0">
            <a:noAutofit/>
          </a:bodyPr>
          <a:lstStyle/>
          <a:p>
            <a:pPr fontAlgn="base">
              <a:spcBef>
                <a:spcPts val="600"/>
              </a:spcBef>
              <a:spcAft>
                <a:spcPct val="0"/>
              </a:spcAft>
              <a:buClr>
                <a:srgbClr val="F0AB00"/>
              </a:buClr>
              <a:buSzPct val="80000"/>
            </a:pPr>
            <a:r>
              <a:rPr lang="en-US" sz="2400" b="1" kern="0" noProof="0" dirty="0">
                <a:solidFill>
                  <a:schemeClr val="accent2"/>
                </a:solidFill>
                <a:latin typeface="+mj-lt"/>
                <a:ea typeface="Arial Unicode MS" pitchFamily="34" charset="-128"/>
                <a:cs typeface="Arial Unicode MS" pitchFamily="34" charset="-128"/>
              </a:rPr>
              <a:t>Authors</a:t>
            </a:r>
          </a:p>
        </p:txBody>
      </p:sp>
    </p:spTree>
    <p:extLst>
      <p:ext uri="{BB962C8B-B14F-4D97-AF65-F5344CB8AC3E}">
        <p14:creationId xmlns:p14="http://schemas.microsoft.com/office/powerpoint/2010/main" val="17872564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ources">
    <p:spTree>
      <p:nvGrpSpPr>
        <p:cNvPr id="1" name=""/>
        <p:cNvGrpSpPr/>
        <p:nvPr/>
      </p:nvGrpSpPr>
      <p:grpSpPr>
        <a:xfrm>
          <a:off x="0" y="0"/>
          <a:ext cx="0" cy="0"/>
          <a:chOff x="0" y="0"/>
          <a:chExt cx="0" cy="0"/>
        </a:xfrm>
      </p:grpSpPr>
      <p:sp>
        <p:nvSpPr>
          <p:cNvPr id="6" name="Text Placeholder 2"/>
          <p:cNvSpPr>
            <a:spLocks noGrp="1"/>
          </p:cNvSpPr>
          <p:nvPr>
            <p:ph idx="1" hasCustomPrompt="1"/>
          </p:nvPr>
        </p:nvSpPr>
        <p:spPr bwMode="gray">
          <a:xfrm>
            <a:off x="324000" y="1691079"/>
            <a:ext cx="11545200" cy="4392042"/>
          </a:xfrm>
          <a:prstGeom prst="rect">
            <a:avLst/>
          </a:prstGeom>
        </p:spPr>
        <p:txBody>
          <a:bodyPr vert="horz" lIns="0" tIns="0" rIns="0" bIns="0" rtlCol="0">
            <a:noAutofit/>
          </a:bodyPr>
          <a:lstStyle>
            <a:lvl1pPr>
              <a:buClr>
                <a:schemeClr val="bg1">
                  <a:lumMod val="65000"/>
                </a:schemeClr>
              </a:buClr>
              <a:defRPr sz="1600">
                <a:solidFill>
                  <a:schemeClr val="bg1">
                    <a:lumMod val="65000"/>
                  </a:schemeClr>
                </a:solidFill>
              </a:defRPr>
            </a:lvl1pPr>
          </a:lstStyle>
          <a:p>
            <a:pPr lvl="0"/>
            <a:r>
              <a:rPr lang="en-US" noProof="0" dirty="0"/>
              <a:t>&lt;level 1&gt;</a:t>
            </a:r>
          </a:p>
        </p:txBody>
      </p:sp>
      <p:sp>
        <p:nvSpPr>
          <p:cNvPr id="5" name="Textfeld 4"/>
          <p:cNvSpPr txBox="1"/>
          <p:nvPr userDrawn="1"/>
        </p:nvSpPr>
        <p:spPr>
          <a:xfrm>
            <a:off x="324000" y="324000"/>
            <a:ext cx="11545200" cy="759600"/>
          </a:xfrm>
          <a:prstGeom prst="rect">
            <a:avLst/>
          </a:prstGeom>
          <a:noFill/>
        </p:spPr>
        <p:txBody>
          <a:bodyPr wrap="square" lIns="0" tIns="0" rIns="0" bIns="0" rtlCol="0" anchor="ctr" anchorCtr="0">
            <a:noAutofit/>
          </a:bodyPr>
          <a:lstStyle/>
          <a:p>
            <a:pPr fontAlgn="base">
              <a:spcBef>
                <a:spcPts val="600"/>
              </a:spcBef>
              <a:spcAft>
                <a:spcPct val="0"/>
              </a:spcAft>
              <a:buClr>
                <a:srgbClr val="F0AB00"/>
              </a:buClr>
              <a:buSzPct val="80000"/>
            </a:pPr>
            <a:r>
              <a:rPr lang="en-US" sz="2400" b="1" kern="0" noProof="0" dirty="0">
                <a:solidFill>
                  <a:schemeClr val="accent2"/>
                </a:solidFill>
                <a:latin typeface="+mj-lt"/>
                <a:ea typeface="Arial Unicode MS" pitchFamily="34" charset="-128"/>
                <a:cs typeface="Arial Unicode MS" pitchFamily="34" charset="-128"/>
              </a:rPr>
              <a:t>Sources</a:t>
            </a:r>
          </a:p>
        </p:txBody>
      </p:sp>
    </p:spTree>
    <p:extLst>
      <p:ext uri="{BB962C8B-B14F-4D97-AF65-F5344CB8AC3E}">
        <p14:creationId xmlns:p14="http://schemas.microsoft.com/office/powerpoint/2010/main" val="38798839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Curriculum information">
    <p:spTree>
      <p:nvGrpSpPr>
        <p:cNvPr id="1" name=""/>
        <p:cNvGrpSpPr/>
        <p:nvPr/>
      </p:nvGrpSpPr>
      <p:grpSpPr>
        <a:xfrm>
          <a:off x="0" y="0"/>
          <a:ext cx="0" cy="0"/>
          <a:chOff x="0" y="0"/>
          <a:chExt cx="0" cy="0"/>
        </a:xfrm>
      </p:grpSpPr>
      <p:sp>
        <p:nvSpPr>
          <p:cNvPr id="5" name="Textfeld 4"/>
          <p:cNvSpPr txBox="1"/>
          <p:nvPr userDrawn="1"/>
        </p:nvSpPr>
        <p:spPr>
          <a:xfrm>
            <a:off x="324000" y="324000"/>
            <a:ext cx="11545200" cy="759600"/>
          </a:xfrm>
          <a:prstGeom prst="rect">
            <a:avLst/>
          </a:prstGeom>
          <a:noFill/>
        </p:spPr>
        <p:txBody>
          <a:bodyPr wrap="square" lIns="0" tIns="0" rIns="0" bIns="0" rtlCol="0" anchor="ctr" anchorCtr="0">
            <a:noAutofit/>
          </a:bodyPr>
          <a:lstStyle/>
          <a:p>
            <a:pPr fontAlgn="base">
              <a:spcBef>
                <a:spcPts val="600"/>
              </a:spcBef>
              <a:spcAft>
                <a:spcPct val="0"/>
              </a:spcAft>
              <a:buClr>
                <a:srgbClr val="F0AB00"/>
              </a:buClr>
              <a:buSzPct val="80000"/>
            </a:pPr>
            <a:r>
              <a:rPr lang="en-US" sz="2400" b="1" kern="0" noProof="0" dirty="0">
                <a:solidFill>
                  <a:schemeClr val="accent2"/>
                </a:solidFill>
                <a:latin typeface="Arial"/>
                <a:ea typeface="Arial Unicode MS" pitchFamily="34" charset="-128"/>
                <a:cs typeface="Arial Unicode MS" pitchFamily="34" charset="-128"/>
              </a:rPr>
              <a:t>Teaching material - Information</a:t>
            </a:r>
          </a:p>
        </p:txBody>
      </p:sp>
      <p:sp>
        <p:nvSpPr>
          <p:cNvPr id="6" name="Textplatzhalter 21"/>
          <p:cNvSpPr>
            <a:spLocks noGrp="1"/>
          </p:cNvSpPr>
          <p:nvPr>
            <p:ph type="body" sz="quarter" idx="15" hasCustomPrompt="1"/>
          </p:nvPr>
        </p:nvSpPr>
        <p:spPr>
          <a:xfrm>
            <a:off x="2038856" y="2624439"/>
            <a:ext cx="9830344" cy="362391"/>
          </a:xfrm>
          <a:prstGeom prst="rect">
            <a:avLst/>
          </a:prstGeom>
        </p:spPr>
        <p:txBody>
          <a:bodyPr anchor="t" anchorCtr="0"/>
          <a:lstStyle>
            <a:lvl1pPr marL="266400" indent="-194400">
              <a:lnSpc>
                <a:spcPct val="100000"/>
              </a:lnSpc>
              <a:spcBef>
                <a:spcPts val="0"/>
              </a:spcBef>
              <a:spcAft>
                <a:spcPts val="0"/>
              </a:spcAft>
              <a:buClr>
                <a:schemeClr val="bg1">
                  <a:lumMod val="65000"/>
                </a:schemeClr>
              </a:buClr>
              <a:buSzPct val="100000"/>
              <a:buFont typeface="Wingdings" panose="05000000000000000000" pitchFamily="2" charset="2"/>
              <a:buChar char="§"/>
              <a:defRPr sz="18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de-DE" noProof="0" dirty="0"/>
              <a:t>&lt;3.1 (</a:t>
            </a:r>
            <a:r>
              <a:rPr lang="de-DE" noProof="0" dirty="0" err="1"/>
              <a:t>July</a:t>
            </a:r>
            <a:r>
              <a:rPr lang="de-DE" noProof="0" dirty="0"/>
              <a:t> 2017)&gt;</a:t>
            </a:r>
          </a:p>
        </p:txBody>
      </p:sp>
      <p:grpSp>
        <p:nvGrpSpPr>
          <p:cNvPr id="7" name="Gruppieren 6"/>
          <p:cNvGrpSpPr/>
          <p:nvPr userDrawn="1"/>
        </p:nvGrpSpPr>
        <p:grpSpPr>
          <a:xfrm>
            <a:off x="1951753" y="1927906"/>
            <a:ext cx="9917447" cy="500901"/>
            <a:chOff x="1108399" y="1396713"/>
            <a:chExt cx="7030682" cy="404566"/>
          </a:xfrm>
        </p:grpSpPr>
        <p:sp>
          <p:nvSpPr>
            <p:cNvPr id="8" name="Rectangle 10"/>
            <p:cNvSpPr/>
            <p:nvPr userDrawn="1"/>
          </p:nvSpPr>
          <p:spPr>
            <a:xfrm>
              <a:off x="1108399" y="1396713"/>
              <a:ext cx="3835401" cy="298157"/>
            </a:xfrm>
            <a:prstGeom prst="rect">
              <a:avLst/>
            </a:prstGeom>
          </p:spPr>
          <p:txBody>
            <a:bodyPr wrap="square" lIns="91302" tIns="45630" rIns="91302" bIns="45630">
              <a:spAutoFit/>
            </a:bodyPr>
            <a:lstStyle/>
            <a:p>
              <a:r>
                <a:rPr lang="en-US" sz="1800" b="1" kern="1200" noProof="0" dirty="0">
                  <a:solidFill>
                    <a:schemeClr val="tx1"/>
                  </a:solidFill>
                  <a:latin typeface="Arial"/>
                  <a:ea typeface="+mn-ea"/>
                  <a:cs typeface="+mn-cs"/>
                </a:rPr>
                <a:t>Teaching</a:t>
              </a:r>
              <a:r>
                <a:rPr lang="en-US" sz="1800" b="1" kern="1200" baseline="0" noProof="0" dirty="0">
                  <a:solidFill>
                    <a:schemeClr val="tx1"/>
                  </a:solidFill>
                  <a:latin typeface="Arial"/>
                  <a:ea typeface="+mn-ea"/>
                  <a:cs typeface="+mn-cs"/>
                </a:rPr>
                <a:t> </a:t>
              </a:r>
              <a:r>
                <a:rPr lang="en-US" sz="1800" b="1" kern="1200" noProof="0" dirty="0">
                  <a:solidFill>
                    <a:schemeClr val="tx1"/>
                  </a:solidFill>
                  <a:latin typeface="Arial"/>
                  <a:ea typeface="+mn-ea"/>
                  <a:cs typeface="+mn-cs"/>
                </a:rPr>
                <a:t>material </a:t>
              </a:r>
              <a:r>
                <a:rPr lang="en-US" sz="1800" b="1" kern="1200" baseline="0" noProof="0" dirty="0">
                  <a:solidFill>
                    <a:schemeClr val="tx1"/>
                  </a:solidFill>
                  <a:latin typeface="Arial"/>
                  <a:ea typeface="+mn-ea"/>
                  <a:cs typeface="+mn-cs"/>
                </a:rPr>
                <a:t>- Version</a:t>
              </a:r>
              <a:endParaRPr lang="en-US" sz="1200" b="1" kern="1200" noProof="0" dirty="0">
                <a:solidFill>
                  <a:schemeClr val="tx1"/>
                </a:solidFill>
                <a:latin typeface="Arial"/>
                <a:ea typeface="+mn-ea"/>
                <a:cs typeface="+mn-cs"/>
              </a:endParaRPr>
            </a:p>
          </p:txBody>
        </p:sp>
        <p:cxnSp>
          <p:nvCxnSpPr>
            <p:cNvPr id="9" name="Straight Connector 12"/>
            <p:cNvCxnSpPr/>
            <p:nvPr userDrawn="1"/>
          </p:nvCxnSpPr>
          <p:spPr>
            <a:xfrm flipV="1">
              <a:off x="1197563" y="1776441"/>
              <a:ext cx="6941518" cy="24838"/>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0" name="Gruppieren 9"/>
          <p:cNvGrpSpPr/>
          <p:nvPr userDrawn="1"/>
        </p:nvGrpSpPr>
        <p:grpSpPr>
          <a:xfrm>
            <a:off x="324000" y="1499007"/>
            <a:ext cx="1299974" cy="1299976"/>
            <a:chOff x="352676" y="1326706"/>
            <a:chExt cx="765542" cy="765543"/>
          </a:xfrm>
        </p:grpSpPr>
        <p:sp>
          <p:nvSpPr>
            <p:cNvPr id="11" name="Donut 11"/>
            <p:cNvSpPr/>
            <p:nvPr userDrawn="1"/>
          </p:nvSpPr>
          <p:spPr bwMode="gray">
            <a:xfrm>
              <a:off x="352676" y="1326706"/>
              <a:ext cx="765542" cy="765543"/>
            </a:xfrm>
            <a:prstGeom prst="donut">
              <a:avLst>
                <a:gd name="adj" fmla="val 5979"/>
              </a:avLst>
            </a:prstGeom>
            <a:solidFill>
              <a:schemeClr val="accent1"/>
            </a:solidFill>
            <a:ln w="6350" algn="ctr">
              <a:solidFill>
                <a:schemeClr val="accent1"/>
              </a:solidFill>
              <a:miter lim="800000"/>
              <a:headEnd/>
              <a:tailEnd/>
            </a:ln>
          </p:spPr>
          <p:txBody>
            <a:bodyPr lIns="89863" tIns="71908" rIns="89863" bIns="71908" rtlCol="0" anchor="ctr"/>
            <a:lstStyle/>
            <a:p>
              <a:pPr algn="ctr" defTabSz="913003" fontAlgn="base">
                <a:spcBef>
                  <a:spcPct val="50000"/>
                </a:spcBef>
                <a:spcAft>
                  <a:spcPct val="0"/>
                </a:spcAft>
                <a:buClr>
                  <a:srgbClr val="F0AB00"/>
                </a:buClr>
                <a:buSzPct val="80000"/>
              </a:pPr>
              <a:endParaRPr lang="de-DE" sz="2000" kern="0">
                <a:ea typeface="Arial Unicode MS" pitchFamily="34" charset="-128"/>
                <a:cs typeface="Arial Unicode MS" pitchFamily="34" charset="-128"/>
              </a:endParaRPr>
            </a:p>
          </p:txBody>
        </p:sp>
        <p:grpSp>
          <p:nvGrpSpPr>
            <p:cNvPr id="12" name="Gruppieren 11"/>
            <p:cNvGrpSpPr/>
            <p:nvPr userDrawn="1"/>
          </p:nvGrpSpPr>
          <p:grpSpPr>
            <a:xfrm>
              <a:off x="545702" y="1435466"/>
              <a:ext cx="403112" cy="511295"/>
              <a:chOff x="7057115" y="1361724"/>
              <a:chExt cx="403112" cy="511295"/>
            </a:xfrm>
          </p:grpSpPr>
          <p:sp>
            <p:nvSpPr>
              <p:cNvPr id="13" name="Gefaltete Ecke 12"/>
              <p:cNvSpPr/>
              <p:nvPr/>
            </p:nvSpPr>
            <p:spPr bwMode="gray">
              <a:xfrm rot="10800000" flipH="1">
                <a:off x="7150511" y="1361724"/>
                <a:ext cx="309716" cy="420330"/>
              </a:xfrm>
              <a:prstGeom prst="foldedCorner">
                <a:avLst>
                  <a:gd name="adj" fmla="val 38333"/>
                </a:avLst>
              </a:prstGeom>
              <a:solidFill>
                <a:schemeClr val="tx1">
                  <a:lumMod val="65000"/>
                  <a:lumOff val="3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a:ln>
                    <a:noFill/>
                  </a:ln>
                  <a:effectLst/>
                  <a:uLnTx/>
                  <a:uFillTx/>
                  <a:ea typeface="Arial Unicode MS" pitchFamily="34" charset="-128"/>
                  <a:cs typeface="Arial Unicode MS" pitchFamily="34" charset="-128"/>
                </a:endParaRPr>
              </a:p>
            </p:txBody>
          </p:sp>
          <p:sp>
            <p:nvSpPr>
              <p:cNvPr id="14" name="Gefaltete Ecke 13"/>
              <p:cNvSpPr/>
              <p:nvPr/>
            </p:nvSpPr>
            <p:spPr bwMode="gray">
              <a:xfrm rot="10800000" flipH="1">
                <a:off x="7103823" y="1410891"/>
                <a:ext cx="309716" cy="420330"/>
              </a:xfrm>
              <a:prstGeom prst="foldedCorner">
                <a:avLst>
                  <a:gd name="adj" fmla="val 38333"/>
                </a:avLst>
              </a:prstGeom>
              <a:solidFill>
                <a:schemeClr val="tx1">
                  <a:lumMod val="65000"/>
                  <a:lumOff val="3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a:ln>
                    <a:noFill/>
                  </a:ln>
                  <a:effectLst/>
                  <a:uLnTx/>
                  <a:uFillTx/>
                  <a:ea typeface="Arial Unicode MS" pitchFamily="34" charset="-128"/>
                  <a:cs typeface="Arial Unicode MS" pitchFamily="34" charset="-128"/>
                </a:endParaRPr>
              </a:p>
            </p:txBody>
          </p:sp>
          <p:grpSp>
            <p:nvGrpSpPr>
              <p:cNvPr id="15" name="Gruppieren 33"/>
              <p:cNvGrpSpPr/>
              <p:nvPr/>
            </p:nvGrpSpPr>
            <p:grpSpPr>
              <a:xfrm>
                <a:off x="7057115" y="1452689"/>
                <a:ext cx="309716" cy="420330"/>
                <a:chOff x="589936" y="2809567"/>
                <a:chExt cx="309716" cy="420330"/>
              </a:xfrm>
            </p:grpSpPr>
            <p:sp>
              <p:nvSpPr>
                <p:cNvPr id="16" name="Gefaltete Ecke 15"/>
                <p:cNvSpPr/>
                <p:nvPr/>
              </p:nvSpPr>
              <p:spPr bwMode="gray">
                <a:xfrm rot="10800000" flipH="1">
                  <a:off x="589936" y="2809567"/>
                  <a:ext cx="309716" cy="420330"/>
                </a:xfrm>
                <a:prstGeom prst="foldedCorner">
                  <a:avLst>
                    <a:gd name="adj" fmla="val 38333"/>
                  </a:avLst>
                </a:prstGeom>
                <a:solidFill>
                  <a:schemeClr val="tx1">
                    <a:lumMod val="65000"/>
                    <a:lumOff val="3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a:ln>
                      <a:noFill/>
                    </a:ln>
                    <a:effectLst/>
                    <a:uLnTx/>
                    <a:uFillTx/>
                    <a:ea typeface="Arial Unicode MS" pitchFamily="34" charset="-128"/>
                    <a:cs typeface="Arial Unicode MS" pitchFamily="34" charset="-128"/>
                  </a:endParaRPr>
                </a:p>
              </p:txBody>
            </p:sp>
            <p:sp>
              <p:nvSpPr>
                <p:cNvPr id="17" name="Textfeld 16"/>
                <p:cNvSpPr txBox="1"/>
                <p:nvPr/>
              </p:nvSpPr>
              <p:spPr>
                <a:xfrm>
                  <a:off x="697006" y="2861855"/>
                  <a:ext cx="94496" cy="326244"/>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de-DE" sz="3600" i="1" kern="0" dirty="0">
                      <a:solidFill>
                        <a:schemeClr val="bg1"/>
                      </a:solidFill>
                      <a:latin typeface="Angsana New" pitchFamily="18" charset="-34"/>
                      <a:ea typeface="Arial Unicode MS" pitchFamily="34" charset="-128"/>
                      <a:cs typeface="Angsana New" pitchFamily="18" charset="-34"/>
                    </a:rPr>
                    <a:t>i</a:t>
                  </a:r>
                </a:p>
              </p:txBody>
            </p:sp>
          </p:grpSp>
        </p:grpSp>
      </p:grpSp>
      <p:sp>
        <p:nvSpPr>
          <p:cNvPr id="18" name="Textplatzhalter 21"/>
          <p:cNvSpPr>
            <a:spLocks noGrp="1"/>
          </p:cNvSpPr>
          <p:nvPr>
            <p:ph type="body" sz="quarter" idx="12" hasCustomPrompt="1"/>
          </p:nvPr>
        </p:nvSpPr>
        <p:spPr>
          <a:xfrm>
            <a:off x="2327108" y="3552319"/>
            <a:ext cx="9542092" cy="530990"/>
          </a:xfrm>
          <a:prstGeom prst="rect">
            <a:avLst/>
          </a:prstGeom>
        </p:spPr>
        <p:txBody>
          <a:bodyPr/>
          <a:lstStyle>
            <a:lvl1pPr marL="214298" indent="-214298">
              <a:lnSpc>
                <a:spcPct val="100000"/>
              </a:lnSpc>
              <a:spcBef>
                <a:spcPts val="0"/>
              </a:spcBef>
              <a:spcAft>
                <a:spcPts val="0"/>
              </a:spcAft>
              <a:buClr>
                <a:schemeClr val="bg1">
                  <a:lumMod val="65000"/>
                </a:schemeClr>
              </a:buClr>
              <a:buSzPct val="100000"/>
              <a:buFont typeface="Arial" panose="020B0604020202020204" pitchFamily="34" charset="0"/>
              <a:buChar char="•"/>
              <a:defRPr sz="16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&lt;server-side&gt;</a:t>
            </a:r>
          </a:p>
          <a:p>
            <a:pPr lvl="0"/>
            <a:r>
              <a:rPr lang="en-US" dirty="0"/>
              <a:t>&lt;client-side&gt;</a:t>
            </a:r>
            <a:endParaRPr lang="de-DE" dirty="0"/>
          </a:p>
        </p:txBody>
      </p:sp>
      <p:sp>
        <p:nvSpPr>
          <p:cNvPr id="19" name="Textfeld 18"/>
          <p:cNvSpPr txBox="1"/>
          <p:nvPr userDrawn="1"/>
        </p:nvSpPr>
        <p:spPr>
          <a:xfrm>
            <a:off x="2041112" y="3250331"/>
            <a:ext cx="9828088" cy="336918"/>
          </a:xfrm>
          <a:prstGeom prst="rect">
            <a:avLst/>
          </a:prstGeom>
          <a:noFill/>
        </p:spPr>
        <p:txBody>
          <a:bodyPr wrap="none" lIns="0" tIns="0" rIns="0" bIns="0" rtlCol="0" anchor="t" anchorCtr="0">
            <a:noAutofit/>
          </a:bodyPr>
          <a:lstStyle/>
          <a:p>
            <a:pPr marL="265490" indent="-195248" fontAlgn="base">
              <a:spcBef>
                <a:spcPct val="50000"/>
              </a:spcBef>
              <a:spcAft>
                <a:spcPct val="0"/>
              </a:spcAft>
              <a:buClr>
                <a:schemeClr val="bg1">
                  <a:lumMod val="65000"/>
                </a:schemeClr>
              </a:buClr>
              <a:buSzPct val="100000"/>
              <a:buFont typeface="Wingdings" panose="05000000000000000000" pitchFamily="2" charset="2"/>
              <a:buChar char="§"/>
            </a:pPr>
            <a:r>
              <a:rPr lang="en-US" sz="1800" b="0" kern="1200" baseline="0" noProof="0" dirty="0">
                <a:solidFill>
                  <a:schemeClr val="tx1"/>
                </a:solidFill>
                <a:latin typeface="Arial"/>
                <a:ea typeface="+mn-ea"/>
                <a:cs typeface="+mn-cs"/>
              </a:rPr>
              <a:t>Software used</a:t>
            </a:r>
          </a:p>
        </p:txBody>
      </p:sp>
      <p:sp>
        <p:nvSpPr>
          <p:cNvPr id="20" name="Textfeld 19"/>
          <p:cNvSpPr txBox="1"/>
          <p:nvPr userDrawn="1"/>
        </p:nvSpPr>
        <p:spPr>
          <a:xfrm>
            <a:off x="2043658" y="5176323"/>
            <a:ext cx="9825542" cy="336918"/>
          </a:xfrm>
          <a:prstGeom prst="rect">
            <a:avLst/>
          </a:prstGeom>
          <a:noFill/>
        </p:spPr>
        <p:txBody>
          <a:bodyPr wrap="none" lIns="0" tIns="0" rIns="0" bIns="0" rtlCol="0" anchor="t" anchorCtr="0">
            <a:noAutofit/>
          </a:bodyPr>
          <a:lstStyle/>
          <a:p>
            <a:pPr marL="265490" indent="-195248" fontAlgn="base">
              <a:spcBef>
                <a:spcPct val="50000"/>
              </a:spcBef>
              <a:spcAft>
                <a:spcPct val="0"/>
              </a:spcAft>
              <a:buClr>
                <a:schemeClr val="bg1">
                  <a:lumMod val="65000"/>
                </a:schemeClr>
              </a:buClr>
              <a:buSzPct val="100000"/>
              <a:buFont typeface="Wingdings" panose="05000000000000000000" pitchFamily="2" charset="2"/>
              <a:buChar char="§"/>
            </a:pPr>
            <a:r>
              <a:rPr lang="en-US" sz="1800" b="0" kern="1200" baseline="0" noProof="0" dirty="0">
                <a:solidFill>
                  <a:schemeClr val="tx1"/>
                </a:solidFill>
                <a:latin typeface="Arial"/>
                <a:ea typeface="+mn-ea"/>
                <a:cs typeface="+mn-cs"/>
              </a:rPr>
              <a:t>Prerequisites</a:t>
            </a:r>
            <a:endParaRPr lang="de-DE" sz="1800" b="0" kern="1200" baseline="0" noProof="0" dirty="0">
              <a:solidFill>
                <a:schemeClr val="tx1"/>
              </a:solidFill>
              <a:latin typeface="+mn-lt"/>
              <a:ea typeface="+mn-ea"/>
              <a:cs typeface="+mn-cs"/>
            </a:endParaRPr>
          </a:p>
        </p:txBody>
      </p:sp>
      <p:sp>
        <p:nvSpPr>
          <p:cNvPr id="21" name="Textplatzhalter 21"/>
          <p:cNvSpPr>
            <a:spLocks noGrp="1"/>
          </p:cNvSpPr>
          <p:nvPr>
            <p:ph type="body" sz="quarter" idx="13" hasCustomPrompt="1"/>
          </p:nvPr>
        </p:nvSpPr>
        <p:spPr>
          <a:xfrm>
            <a:off x="2327107" y="5489073"/>
            <a:ext cx="9542093" cy="530990"/>
          </a:xfrm>
          <a:prstGeom prst="rect">
            <a:avLst/>
          </a:prstGeom>
        </p:spPr>
        <p:txBody>
          <a:bodyPr/>
          <a:lstStyle>
            <a:lvl1pPr marL="285750" indent="-285750">
              <a:lnSpc>
                <a:spcPct val="100000"/>
              </a:lnSpc>
              <a:spcBef>
                <a:spcPts val="0"/>
              </a:spcBef>
              <a:spcAft>
                <a:spcPts val="0"/>
              </a:spcAft>
              <a:buClr>
                <a:schemeClr val="bg1">
                  <a:lumMod val="65000"/>
                </a:schemeClr>
              </a:buClr>
              <a:buSzPct val="100000"/>
              <a:buFont typeface="Arial" panose="020B0604020202020204" pitchFamily="34" charset="0"/>
              <a:buChar char="•"/>
              <a:defRPr sz="16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&lt;curricula&gt;</a:t>
            </a:r>
          </a:p>
          <a:p>
            <a:pPr lvl="0"/>
            <a:r>
              <a:rPr lang="en-US" dirty="0"/>
              <a:t>&lt;other prerequisites&gt;</a:t>
            </a:r>
            <a:endParaRPr lang="de-DE" dirty="0"/>
          </a:p>
        </p:txBody>
      </p:sp>
      <p:sp>
        <p:nvSpPr>
          <p:cNvPr id="22" name="Textfeld 21"/>
          <p:cNvSpPr txBox="1"/>
          <p:nvPr userDrawn="1"/>
        </p:nvSpPr>
        <p:spPr>
          <a:xfrm>
            <a:off x="2046605" y="4184140"/>
            <a:ext cx="9828088" cy="336918"/>
          </a:xfrm>
          <a:prstGeom prst="rect">
            <a:avLst/>
          </a:prstGeom>
          <a:noFill/>
        </p:spPr>
        <p:txBody>
          <a:bodyPr wrap="none" lIns="0" tIns="0" rIns="0" bIns="0" rtlCol="0" anchor="t" anchorCtr="0">
            <a:noAutofit/>
          </a:bodyPr>
          <a:lstStyle/>
          <a:p>
            <a:pPr marL="265490" indent="-195248" fontAlgn="base">
              <a:spcBef>
                <a:spcPct val="50000"/>
              </a:spcBef>
              <a:spcAft>
                <a:spcPct val="0"/>
              </a:spcAft>
              <a:buClr>
                <a:schemeClr val="bg1">
                  <a:lumMod val="65000"/>
                </a:schemeClr>
              </a:buClr>
              <a:buSzPct val="100000"/>
              <a:buFont typeface="Wingdings" panose="05000000000000000000" pitchFamily="2" charset="2"/>
              <a:buChar char="§"/>
            </a:pPr>
            <a:r>
              <a:rPr lang="de-DE" sz="1800" b="0" kern="1200" baseline="0" noProof="0" dirty="0">
                <a:solidFill>
                  <a:schemeClr val="tx1"/>
                </a:solidFill>
                <a:latin typeface="+mn-lt"/>
                <a:ea typeface="+mn-ea"/>
                <a:cs typeface="+mn-cs"/>
              </a:rPr>
              <a:t>Model</a:t>
            </a:r>
          </a:p>
        </p:txBody>
      </p:sp>
      <p:sp>
        <p:nvSpPr>
          <p:cNvPr id="23" name="Textplatzhalter 21"/>
          <p:cNvSpPr>
            <a:spLocks noGrp="1"/>
          </p:cNvSpPr>
          <p:nvPr>
            <p:ph type="body" sz="quarter" idx="16" hasCustomPrompt="1"/>
          </p:nvPr>
        </p:nvSpPr>
        <p:spPr>
          <a:xfrm>
            <a:off x="2327108" y="4583195"/>
            <a:ext cx="9542092" cy="530990"/>
          </a:xfrm>
          <a:prstGeom prst="rect">
            <a:avLst/>
          </a:prstGeom>
        </p:spPr>
        <p:txBody>
          <a:bodyPr/>
          <a:lstStyle>
            <a:lvl1pPr marL="214298" indent="-214298">
              <a:lnSpc>
                <a:spcPct val="100000"/>
              </a:lnSpc>
              <a:spcBef>
                <a:spcPts val="0"/>
              </a:spcBef>
              <a:spcAft>
                <a:spcPts val="0"/>
              </a:spcAft>
              <a:buClr>
                <a:schemeClr val="bg1">
                  <a:lumMod val="65000"/>
                </a:schemeClr>
              </a:buClr>
              <a:buSzPct val="100000"/>
              <a:buFont typeface="Arial" panose="020B0604020202020204" pitchFamily="34" charset="0"/>
              <a:buChar char="•"/>
              <a:defRPr sz="16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de-DE" noProof="0" dirty="0"/>
              <a:t>&lt;</a:t>
            </a:r>
            <a:r>
              <a:rPr lang="de-DE" noProof="0" dirty="0" err="1"/>
              <a:t>server</a:t>
            </a:r>
            <a:r>
              <a:rPr lang="de-DE" noProof="0" dirty="0"/>
              <a:t>&gt;</a:t>
            </a:r>
          </a:p>
        </p:txBody>
      </p:sp>
    </p:spTree>
    <p:extLst>
      <p:ext uri="{BB962C8B-B14F-4D97-AF65-F5344CB8AC3E}">
        <p14:creationId xmlns:p14="http://schemas.microsoft.com/office/powerpoint/2010/main" val="2620016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gray">
          <a:xfrm>
            <a:off x="324000" y="324075"/>
            <a:ext cx="11545200" cy="756175"/>
          </a:xfrm>
          <a:prstGeom prst="rect">
            <a:avLst/>
          </a:prstGeom>
        </p:spPr>
        <p:txBody>
          <a:bodyPr vert="horz" lIns="0" tIns="0" rIns="0" bIns="0" rtlCol="0" anchor="ctr" anchorCtr="0">
            <a:noAutofit/>
          </a:bodyPr>
          <a:lstStyle/>
          <a:p>
            <a:r>
              <a:rPr lang="en-US" noProof="0" dirty="0"/>
              <a:t>Insert page title</a:t>
            </a:r>
          </a:p>
        </p:txBody>
      </p:sp>
      <p:sp>
        <p:nvSpPr>
          <p:cNvPr id="3" name="Text Placeholder 2"/>
          <p:cNvSpPr>
            <a:spLocks noGrp="1"/>
          </p:cNvSpPr>
          <p:nvPr>
            <p:ph type="body" idx="1"/>
          </p:nvPr>
        </p:nvSpPr>
        <p:spPr bwMode="gray">
          <a:xfrm>
            <a:off x="324000" y="1691079"/>
            <a:ext cx="11545200" cy="4392042"/>
          </a:xfrm>
          <a:prstGeom prst="rect">
            <a:avLst/>
          </a:prstGeom>
        </p:spPr>
        <p:txBody>
          <a:bodyPr vert="horz" lIns="0" tIns="0" rIns="0" bIns="0" rtlCol="0">
            <a:noAutofit/>
          </a:bodyPr>
          <a:lstStyle/>
          <a:p>
            <a:pPr lvl="0"/>
            <a:r>
              <a:rPr lang="en-US" noProof="0" dirty="0"/>
              <a:t>&lt;level 1&gt;</a:t>
            </a:r>
          </a:p>
          <a:p>
            <a:pPr lvl="1"/>
            <a:r>
              <a:rPr lang="en-US" noProof="0" dirty="0"/>
              <a:t>&lt;level 2&gt;</a:t>
            </a:r>
          </a:p>
          <a:p>
            <a:pPr lvl="2"/>
            <a:r>
              <a:rPr lang="en-US" noProof="0" dirty="0"/>
              <a:t>&lt;level 3&gt;</a:t>
            </a:r>
          </a:p>
          <a:p>
            <a:pPr lvl="3"/>
            <a:r>
              <a:rPr lang="en-US" noProof="0" dirty="0"/>
              <a:t>&lt;level 4&gt;</a:t>
            </a:r>
          </a:p>
        </p:txBody>
      </p:sp>
      <p:sp>
        <p:nvSpPr>
          <p:cNvPr id="33" name="Rectangle 32"/>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1900" b="0" i="0" u="none" strike="noStrike" kern="0" cap="none" spc="0" normalizeH="0" baseline="0" noProof="0" dirty="0" err="1">
              <a:ln>
                <a:noFill/>
              </a:ln>
              <a:effectLst/>
              <a:uLnTx/>
              <a:uFillTx/>
              <a:ea typeface="Arial Unicode MS" pitchFamily="34" charset="-128"/>
              <a:cs typeface="Arial Unicode MS" pitchFamily="34" charset="-128"/>
            </a:endParaRPr>
          </a:p>
        </p:txBody>
      </p:sp>
      <p:cxnSp>
        <p:nvCxnSpPr>
          <p:cNvPr id="8" name="Straight Connector 7"/>
          <p:cNvCxnSpPr/>
          <p:nvPr/>
        </p:nvCxnSpPr>
        <p:spPr>
          <a:xfrm>
            <a:off x="324000" y="1231485"/>
            <a:ext cx="115452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95" name="Rectangle 94"/>
          <p:cNvSpPr/>
          <p:nvPr userDrawn="1"/>
        </p:nvSpPr>
        <p:spPr bwMode="white">
          <a:xfrm>
            <a:off x="324000" y="6537251"/>
            <a:ext cx="11545200" cy="324075"/>
          </a:xfrm>
          <a:prstGeom prst="rect">
            <a:avLst/>
          </a:prstGeom>
          <a:solidFill>
            <a:schemeClr val="tx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9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0" name="TextBox 9"/>
          <p:cNvSpPr txBox="1"/>
          <p:nvPr userDrawn="1"/>
        </p:nvSpPr>
        <p:spPr bwMode="black">
          <a:xfrm>
            <a:off x="324000" y="6630039"/>
            <a:ext cx="3153112" cy="138499"/>
          </a:xfrm>
          <a:prstGeom prst="rect">
            <a:avLst/>
          </a:prstGeom>
          <a:noFill/>
        </p:spPr>
        <p:txBody>
          <a:bodyPr wrap="none" lIns="85730" tIns="0" rIns="0" bIns="0" rtlCol="0">
            <a:spAutoFit/>
          </a:bodyPr>
          <a:lstStyle/>
          <a:p>
            <a:pPr marL="0" indent="0" algn="l" defTabSz="816226">
              <a:buClr>
                <a:srgbClr val="000000"/>
              </a:buClr>
              <a:buFont typeface="Arial" pitchFamily="34" charset="0"/>
              <a:buNone/>
            </a:pPr>
            <a:r>
              <a:rPr lang="en-US" sz="900" dirty="0">
                <a:solidFill>
                  <a:srgbClr val="FFFFFF"/>
                </a:solidFill>
              </a:rPr>
              <a:t>© </a:t>
            </a:r>
            <a:r>
              <a:rPr lang="en-US" sz="900" dirty="0" smtClean="0">
                <a:solidFill>
                  <a:srgbClr val="FFFFFF"/>
                </a:solidFill>
              </a:rPr>
              <a:t>2025 </a:t>
            </a:r>
            <a:r>
              <a:rPr lang="en-US" sz="900" dirty="0">
                <a:solidFill>
                  <a:srgbClr val="FFFFFF"/>
                </a:solidFill>
              </a:rPr>
              <a:t>SAP</a:t>
            </a:r>
            <a:r>
              <a:rPr lang="en-US" sz="900" baseline="0" dirty="0">
                <a:solidFill>
                  <a:srgbClr val="FFFFFF"/>
                </a:solidFill>
              </a:rPr>
              <a:t> SE / SAP UCC Magdeburg</a:t>
            </a:r>
            <a:r>
              <a:rPr lang="en-US" sz="900" dirty="0">
                <a:solidFill>
                  <a:srgbClr val="FFFFFF"/>
                </a:solidFill>
              </a:rPr>
              <a:t>. All rights reserved.</a:t>
            </a:r>
          </a:p>
        </p:txBody>
      </p:sp>
      <p:sp>
        <p:nvSpPr>
          <p:cNvPr id="34" name="TextBox 33"/>
          <p:cNvSpPr txBox="1"/>
          <p:nvPr userDrawn="1"/>
        </p:nvSpPr>
        <p:spPr bwMode="black">
          <a:xfrm>
            <a:off x="11640519" y="6630039"/>
            <a:ext cx="227631" cy="138499"/>
          </a:xfrm>
          <a:prstGeom prst="rect">
            <a:avLst/>
          </a:prstGeom>
          <a:noFill/>
        </p:spPr>
        <p:txBody>
          <a:bodyPr wrap="none" lIns="0" tIns="0" rIns="85730" bIns="0" rtlCol="0">
            <a:spAutoFit/>
          </a:bodyPr>
          <a:lstStyle/>
          <a:p>
            <a:pPr marL="111525" indent="-111525" algn="r">
              <a:buClr>
                <a:schemeClr val="accent2"/>
              </a:buClr>
              <a:buFont typeface="Arial" pitchFamily="34" charset="0"/>
              <a:buNone/>
            </a:pPr>
            <a:fld id="{0BDC132A-5C91-4078-9777-31DA19A62E0A}" type="slidenum">
              <a:rPr lang="en-US" sz="900" baseline="0" noProof="0" smtClean="0">
                <a:solidFill>
                  <a:schemeClr val="bg1"/>
                </a:solidFill>
              </a:rPr>
              <a:pPr marL="111525" indent="-111525" algn="r">
                <a:buClr>
                  <a:schemeClr val="accent2"/>
                </a:buClr>
                <a:buFont typeface="Arial" pitchFamily="34" charset="0"/>
                <a:buNone/>
              </a:pPr>
              <a:t>‹Nr.›</a:t>
            </a:fld>
            <a:endParaRPr lang="en-US" sz="900" noProof="0" dirty="0">
              <a:solidFill>
                <a:schemeClr val="bg1"/>
              </a:solidFill>
            </a:endParaRPr>
          </a:p>
        </p:txBody>
      </p:sp>
    </p:spTree>
    <p:extLst>
      <p:ext uri="{BB962C8B-B14F-4D97-AF65-F5344CB8AC3E}">
        <p14:creationId xmlns:p14="http://schemas.microsoft.com/office/powerpoint/2010/main" val="3836400449"/>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56" r:id="rId5"/>
    <p:sldLayoutId id="2147483759" r:id="rId6"/>
    <p:sldLayoutId id="2147483760" r:id="rId7"/>
    <p:sldLayoutId id="2147483746" r:id="rId8"/>
    <p:sldLayoutId id="2147483749" r:id="rId9"/>
    <p:sldLayoutId id="2147483750" r:id="rId10"/>
    <p:sldLayoutId id="2147483751" r:id="rId11"/>
    <p:sldLayoutId id="2147483752" r:id="rId12"/>
    <p:sldLayoutId id="2147483753" r:id="rId13"/>
    <p:sldLayoutId id="2147483754" r:id="rId14"/>
    <p:sldLayoutId id="2147483755" r:id="rId15"/>
    <p:sldLayoutId id="2147483745" r:id="rId16"/>
    <p:sldLayoutId id="2147483757" r:id="rId17"/>
    <p:sldLayoutId id="2147483758" r:id="rId18"/>
    <p:sldLayoutId id="2147483762" r:id="rId19"/>
  </p:sldLayoutIdLst>
  <p:hf hdr="0" ftr="0" dt="0"/>
  <p:txStyles>
    <p:titleStyle>
      <a:lvl1pPr algn="l" defTabSz="1088776" rtl="0" eaLnBrk="1" latinLnBrk="0" hangingPunct="1">
        <a:spcBef>
          <a:spcPct val="0"/>
        </a:spcBef>
        <a:buNone/>
        <a:defRPr sz="2800" b="1" kern="1200">
          <a:solidFill>
            <a:schemeClr val="accent2"/>
          </a:solidFill>
          <a:latin typeface="+mj-lt"/>
          <a:ea typeface="+mj-ea"/>
          <a:cs typeface="+mj-cs"/>
        </a:defRPr>
      </a:lvl1pPr>
    </p:titleStyle>
    <p:bodyStyle>
      <a:lvl1pPr marL="201600" indent="-201600" algn="l" defTabSz="1088776" rtl="0" eaLnBrk="1" latinLnBrk="0" hangingPunct="1">
        <a:spcBef>
          <a:spcPts val="0"/>
        </a:spcBef>
        <a:buClr>
          <a:schemeClr val="accent1"/>
        </a:buClr>
        <a:buSzPct val="100000"/>
        <a:buFont typeface="Wingdings" panose="05000000000000000000" pitchFamily="2" charset="2"/>
        <a:buChar char="§"/>
        <a:defRPr sz="1800" b="0" kern="1200">
          <a:solidFill>
            <a:schemeClr val="tx1"/>
          </a:solidFill>
          <a:latin typeface="+mn-lt"/>
          <a:ea typeface="+mn-ea"/>
          <a:cs typeface="+mn-cs"/>
        </a:defRPr>
      </a:lvl1pPr>
      <a:lvl2pPr marL="417600" indent="-216000" algn="l" defTabSz="1088776" rtl="0" eaLnBrk="1" latinLnBrk="0" hangingPunct="1">
        <a:spcBef>
          <a:spcPts val="338"/>
        </a:spcBef>
        <a:buClr>
          <a:schemeClr val="accent1"/>
        </a:buClr>
        <a:buSzPct val="100000"/>
        <a:buFont typeface="Arial" panose="020B0604020202020204" pitchFamily="34" charset="0"/>
        <a:buChar char="•"/>
        <a:defRPr sz="1600" kern="1200">
          <a:solidFill>
            <a:schemeClr val="tx1"/>
          </a:solidFill>
          <a:latin typeface="+mn-lt"/>
          <a:ea typeface="+mn-ea"/>
          <a:cs typeface="+mn-cs"/>
        </a:defRPr>
      </a:lvl2pPr>
      <a:lvl3pPr marL="540000" indent="-216000" algn="l" defTabSz="1088776" rtl="0" eaLnBrk="1" latinLnBrk="0" hangingPunct="1">
        <a:spcBef>
          <a:spcPts val="225"/>
        </a:spcBef>
        <a:buClr>
          <a:schemeClr val="accent1"/>
        </a:buClr>
        <a:buSzPct val="75000"/>
        <a:buFont typeface="Symbol" panose="05050102010706020507" pitchFamily="18" charset="2"/>
        <a:buChar char="-"/>
        <a:defRPr sz="1450" kern="1200">
          <a:solidFill>
            <a:schemeClr val="tx1"/>
          </a:solidFill>
          <a:latin typeface="+mn-lt"/>
          <a:ea typeface="+mn-ea"/>
          <a:cs typeface="+mn-cs"/>
        </a:defRPr>
      </a:lvl3pPr>
      <a:lvl4pPr marL="720000" indent="-216000" algn="l" defTabSz="1088776" rtl="0" eaLnBrk="1" latinLnBrk="0" hangingPunct="1">
        <a:spcBef>
          <a:spcPts val="140"/>
        </a:spcBef>
        <a:buClr>
          <a:schemeClr val="accent1"/>
        </a:buClr>
        <a:buSzPct val="75000"/>
        <a:buFont typeface="Courier New" panose="02070309020205020404" pitchFamily="49" charset="0"/>
        <a:buChar char="o"/>
        <a:defRPr sz="1300" kern="1200" baseline="0">
          <a:solidFill>
            <a:schemeClr val="tx1"/>
          </a:solidFill>
          <a:latin typeface="+mn-lt"/>
          <a:ea typeface="+mn-ea"/>
          <a:cs typeface="+mn-cs"/>
        </a:defRPr>
      </a:lvl4pPr>
      <a:lvl5pPr marL="540000" indent="-180000" algn="l" defTabSz="1088776" rtl="0" eaLnBrk="1" latinLnBrk="0" hangingPunct="1">
        <a:spcBef>
          <a:spcPts val="250"/>
        </a:spcBef>
        <a:buClr>
          <a:schemeClr val="tx1"/>
        </a:buClr>
        <a:buSzPct val="100000"/>
        <a:buFont typeface="Courier New" pitchFamily="49" charset="0"/>
        <a:buChar char="o"/>
        <a:defRPr sz="1600" kern="1200">
          <a:solidFill>
            <a:schemeClr val="tx1"/>
          </a:solidFill>
          <a:latin typeface="+mn-lt"/>
          <a:ea typeface="+mn-ea"/>
          <a:cs typeface="+mn-cs"/>
        </a:defRPr>
      </a:lvl5pPr>
      <a:lvl6pPr marL="2994134"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8522"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910"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7298"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776" rtl="0" eaLnBrk="1" latinLnBrk="0" hangingPunct="1">
        <a:defRPr sz="2100" kern="1200">
          <a:solidFill>
            <a:schemeClr val="tx1"/>
          </a:solidFill>
          <a:latin typeface="+mn-lt"/>
          <a:ea typeface="+mn-ea"/>
          <a:cs typeface="+mn-cs"/>
        </a:defRPr>
      </a:lvl1pPr>
      <a:lvl2pPr marL="544388" algn="l" defTabSz="1088776" rtl="0" eaLnBrk="1" latinLnBrk="0" hangingPunct="1">
        <a:defRPr sz="2100" kern="1200">
          <a:solidFill>
            <a:schemeClr val="tx1"/>
          </a:solidFill>
          <a:latin typeface="+mn-lt"/>
          <a:ea typeface="+mn-ea"/>
          <a:cs typeface="+mn-cs"/>
        </a:defRPr>
      </a:lvl2pPr>
      <a:lvl3pPr marL="1088776" algn="l" defTabSz="1088776" rtl="0" eaLnBrk="1" latinLnBrk="0" hangingPunct="1">
        <a:defRPr sz="2100" kern="1200">
          <a:solidFill>
            <a:schemeClr val="tx1"/>
          </a:solidFill>
          <a:latin typeface="+mn-lt"/>
          <a:ea typeface="+mn-ea"/>
          <a:cs typeface="+mn-cs"/>
        </a:defRPr>
      </a:lvl3pPr>
      <a:lvl4pPr marL="1633164" algn="l" defTabSz="1088776" rtl="0" eaLnBrk="1" latinLnBrk="0" hangingPunct="1">
        <a:defRPr sz="2100" kern="1200">
          <a:solidFill>
            <a:schemeClr val="tx1"/>
          </a:solidFill>
          <a:latin typeface="+mn-lt"/>
          <a:ea typeface="+mn-ea"/>
          <a:cs typeface="+mn-cs"/>
        </a:defRPr>
      </a:lvl4pPr>
      <a:lvl5pPr marL="2177552" algn="l" defTabSz="1088776" rtl="0" eaLnBrk="1" latinLnBrk="0" hangingPunct="1">
        <a:defRPr sz="2100" kern="1200">
          <a:solidFill>
            <a:schemeClr val="tx1"/>
          </a:solidFill>
          <a:latin typeface="+mn-lt"/>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8.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9.xml"/><Relationship Id="rId4" Type="http://schemas.openxmlformats.org/officeDocument/2006/relationships/image" Target="../media/image18.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9.xml"/><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9.xml"/><Relationship Id="rId5" Type="http://schemas.openxmlformats.org/officeDocument/2006/relationships/image" Target="../media/image28.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9.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ltLang="de-DE" sz="5000" dirty="0"/>
              <a:t>Human Capital Management (HCM)</a:t>
            </a:r>
            <a:endParaRPr lang="de-DE" sz="5000" dirty="0"/>
          </a:p>
        </p:txBody>
      </p:sp>
      <p:sp>
        <p:nvSpPr>
          <p:cNvPr id="3" name="Untertitel 2"/>
          <p:cNvSpPr>
            <a:spLocks noGrp="1"/>
          </p:cNvSpPr>
          <p:nvPr>
            <p:ph type="subTitle" idx="1"/>
          </p:nvPr>
        </p:nvSpPr>
        <p:spPr/>
        <p:txBody>
          <a:bodyPr/>
          <a:lstStyle/>
          <a:p>
            <a:r>
              <a:rPr lang="en-US" dirty="0"/>
              <a:t>Curriculum: Introduction to S/4HANA using Global Bike</a:t>
            </a:r>
          </a:p>
          <a:p>
            <a:endParaRPr lang="en-US" dirty="0"/>
          </a:p>
        </p:txBody>
      </p:sp>
    </p:spTree>
    <p:extLst>
      <p:ext uri="{BB962C8B-B14F-4D97-AF65-F5344CB8AC3E}">
        <p14:creationId xmlns:p14="http://schemas.microsoft.com/office/powerpoint/2010/main" val="13056165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p:cNvSpPr>
            <a:spLocks noGrp="1"/>
          </p:cNvSpPr>
          <p:nvPr>
            <p:ph type="body" sz="quarter" idx="12"/>
          </p:nvPr>
        </p:nvSpPr>
        <p:spPr>
          <a:xfrm>
            <a:off x="2327108" y="3568361"/>
            <a:ext cx="9542092" cy="530990"/>
          </a:xfrm>
        </p:spPr>
        <p:txBody>
          <a:bodyPr/>
          <a:lstStyle/>
          <a:p>
            <a:r>
              <a:rPr lang="de-DE" dirty="0"/>
              <a:t>S/4HANA </a:t>
            </a:r>
            <a:r>
              <a:rPr lang="de-DE" dirty="0" smtClean="0"/>
              <a:t>2023 </a:t>
            </a:r>
            <a:endParaRPr lang="de-DE" dirty="0"/>
          </a:p>
          <a:p>
            <a:r>
              <a:rPr lang="de-DE" dirty="0" err="1"/>
              <a:t>Fiori</a:t>
            </a:r>
            <a:r>
              <a:rPr lang="de-DE" dirty="0"/>
              <a:t> </a:t>
            </a:r>
            <a:r>
              <a:rPr lang="de-DE" dirty="0" smtClean="0"/>
              <a:t>3.0</a:t>
            </a:r>
            <a:endParaRPr lang="de-DE" dirty="0"/>
          </a:p>
        </p:txBody>
      </p:sp>
      <p:sp>
        <p:nvSpPr>
          <p:cNvPr id="4" name="Textplatzhalter 3"/>
          <p:cNvSpPr>
            <a:spLocks noGrp="1"/>
          </p:cNvSpPr>
          <p:nvPr>
            <p:ph type="body" sz="quarter" idx="13"/>
          </p:nvPr>
        </p:nvSpPr>
        <p:spPr/>
        <p:txBody>
          <a:bodyPr/>
          <a:lstStyle/>
          <a:p>
            <a:r>
              <a:rPr lang="de-DE" dirty="0" err="1"/>
              <a:t>No</a:t>
            </a:r>
            <a:r>
              <a:rPr lang="de-DE" dirty="0"/>
              <a:t> </a:t>
            </a:r>
            <a:r>
              <a:rPr lang="de-DE" dirty="0" err="1"/>
              <a:t>Prerequisites</a:t>
            </a:r>
            <a:r>
              <a:rPr lang="de-DE" dirty="0"/>
              <a:t> </a:t>
            </a:r>
            <a:r>
              <a:rPr lang="de-DE" dirty="0" err="1"/>
              <a:t>needed</a:t>
            </a:r>
            <a:endParaRPr lang="de-DE" dirty="0"/>
          </a:p>
          <a:p>
            <a:endParaRPr lang="de-DE" dirty="0"/>
          </a:p>
        </p:txBody>
      </p:sp>
      <p:sp>
        <p:nvSpPr>
          <p:cNvPr id="5" name="Textplatzhalter 21"/>
          <p:cNvSpPr>
            <a:spLocks noGrp="1"/>
          </p:cNvSpPr>
          <p:nvPr>
            <p:ph type="body" sz="quarter" idx="16" hasCustomPrompt="1"/>
          </p:nvPr>
        </p:nvSpPr>
        <p:spPr>
          <a:xfrm>
            <a:off x="2327108" y="4520696"/>
            <a:ext cx="9542092" cy="530990"/>
          </a:xfrm>
          <a:prstGeom prst="rect">
            <a:avLst/>
          </a:prstGeom>
        </p:spPr>
        <p:txBody>
          <a:bodyPr/>
          <a:lstStyle>
            <a:lvl1pPr marL="214298" indent="-214298">
              <a:lnSpc>
                <a:spcPct val="100000"/>
              </a:lnSpc>
              <a:spcBef>
                <a:spcPts val="0"/>
              </a:spcBef>
              <a:spcAft>
                <a:spcPts val="0"/>
              </a:spcAft>
              <a:buClr>
                <a:schemeClr val="bg1">
                  <a:lumMod val="65000"/>
                </a:schemeClr>
              </a:buClr>
              <a:buSzPct val="100000"/>
              <a:buFont typeface="Arial" panose="020B0604020202020204" pitchFamily="34" charset="0"/>
              <a:buChar char="•"/>
              <a:defRPr sz="16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de-DE" dirty="0"/>
              <a:t>Global Bike</a:t>
            </a:r>
          </a:p>
        </p:txBody>
      </p:sp>
      <p:sp>
        <p:nvSpPr>
          <p:cNvPr id="6" name="Textplatzhalter 5"/>
          <p:cNvSpPr>
            <a:spLocks noGrp="1"/>
          </p:cNvSpPr>
          <p:nvPr>
            <p:ph type="body" sz="quarter" idx="15"/>
          </p:nvPr>
        </p:nvSpPr>
        <p:spPr/>
        <p:txBody>
          <a:bodyPr/>
          <a:lstStyle/>
          <a:p>
            <a:r>
              <a:rPr lang="de-DE" dirty="0" smtClean="0"/>
              <a:t>4.</a:t>
            </a:r>
            <a:r>
              <a:rPr lang="de-DE" dirty="0"/>
              <a:t>3</a:t>
            </a:r>
            <a:r>
              <a:rPr lang="de-DE" dirty="0" smtClean="0"/>
              <a:t> </a:t>
            </a:r>
            <a:r>
              <a:rPr lang="de-DE" dirty="0" smtClean="0"/>
              <a:t>(</a:t>
            </a:r>
            <a:r>
              <a:rPr lang="de-DE" dirty="0" err="1" smtClean="0"/>
              <a:t>July</a:t>
            </a:r>
            <a:r>
              <a:rPr lang="de-DE" dirty="0" smtClean="0"/>
              <a:t> </a:t>
            </a:r>
            <a:r>
              <a:rPr lang="de-DE" dirty="0" smtClean="0"/>
              <a:t>2025)</a:t>
            </a:r>
            <a:endParaRPr lang="de-DE" dirty="0"/>
          </a:p>
        </p:txBody>
      </p:sp>
      <p:pic>
        <p:nvPicPr>
          <p:cNvPr id="7" name="Grafik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20000" y="3240000"/>
            <a:ext cx="4858331" cy="1800000"/>
          </a:xfrm>
          <a:prstGeom prst="rect">
            <a:avLst/>
          </a:prstGeom>
        </p:spPr>
      </p:pic>
    </p:spTree>
    <p:extLst>
      <p:ext uri="{BB962C8B-B14F-4D97-AF65-F5344CB8AC3E}">
        <p14:creationId xmlns:p14="http://schemas.microsoft.com/office/powerpoint/2010/main" val="3224474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p:cNvSpPr>
            <a:spLocks noGrp="1"/>
          </p:cNvSpPr>
          <p:nvPr>
            <p:ph type="body" sz="quarter" idx="15"/>
          </p:nvPr>
        </p:nvSpPr>
        <p:spPr/>
        <p:txBody>
          <a:bodyPr/>
          <a:lstStyle/>
          <a:p>
            <a:r>
              <a:rPr lang="de-DE" dirty="0"/>
              <a:t>Claudia </a:t>
            </a:r>
            <a:r>
              <a:rPr lang="de-DE" dirty="0" err="1"/>
              <a:t>Kroliczek</a:t>
            </a:r>
            <a:r>
              <a:rPr lang="de-DE" dirty="0"/>
              <a:t>          	</a:t>
            </a:r>
          </a:p>
          <a:p>
            <a:r>
              <a:rPr lang="de-DE" dirty="0"/>
              <a:t>Mark Lehmann</a:t>
            </a:r>
          </a:p>
          <a:p>
            <a:r>
              <a:rPr lang="de-DE" dirty="0" smtClean="0"/>
              <a:t>Stefan </a:t>
            </a:r>
            <a:r>
              <a:rPr lang="de-DE" dirty="0"/>
              <a:t>Weidner</a:t>
            </a:r>
          </a:p>
          <a:p>
            <a:r>
              <a:rPr lang="de-DE" dirty="0"/>
              <a:t>Babett </a:t>
            </a:r>
            <a:r>
              <a:rPr lang="de-DE" dirty="0" smtClean="0"/>
              <a:t>Ruß</a:t>
            </a:r>
          </a:p>
          <a:p>
            <a:r>
              <a:rPr lang="de-DE" dirty="0" smtClean="0"/>
              <a:t>Lutz Kleinsorge</a:t>
            </a:r>
            <a:endParaRPr lang="de-DE" dirty="0"/>
          </a:p>
        </p:txBody>
      </p:sp>
      <p:sp>
        <p:nvSpPr>
          <p:cNvPr id="3" name="Textplatzhalter 2"/>
          <p:cNvSpPr>
            <a:spLocks noGrp="1"/>
          </p:cNvSpPr>
          <p:nvPr>
            <p:ph type="body" sz="quarter" idx="16"/>
          </p:nvPr>
        </p:nvSpPr>
        <p:spPr/>
        <p:txBody>
          <a:bodyPr/>
          <a:lstStyle/>
          <a:p>
            <a:r>
              <a:rPr lang="de-DE" dirty="0"/>
              <a:t>Beginner</a:t>
            </a:r>
          </a:p>
        </p:txBody>
      </p:sp>
    </p:spTree>
    <p:extLst>
      <p:ext uri="{BB962C8B-B14F-4D97-AF65-F5344CB8AC3E}">
        <p14:creationId xmlns:p14="http://schemas.microsoft.com/office/powerpoint/2010/main" val="1881119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p:cNvSpPr>
            <a:spLocks noGrp="1"/>
          </p:cNvSpPr>
          <p:nvPr>
            <p:ph type="body" sz="quarter" idx="15"/>
          </p:nvPr>
        </p:nvSpPr>
        <p:spPr>
          <a:xfrm>
            <a:off x="2038856" y="2624439"/>
            <a:ext cx="9830344" cy="1955512"/>
          </a:xfrm>
        </p:spPr>
        <p:txBody>
          <a:bodyPr/>
          <a:lstStyle/>
          <a:p>
            <a:pPr marL="72000" indent="0">
              <a:buNone/>
            </a:pPr>
            <a:r>
              <a:rPr lang="en-US" dirty="0"/>
              <a:t>You are able to</a:t>
            </a:r>
          </a:p>
          <a:p>
            <a:r>
              <a:rPr lang="en-US" dirty="0"/>
              <a:t>define the central organizational structures of the HCM module.</a:t>
            </a:r>
          </a:p>
          <a:p>
            <a:r>
              <a:rPr lang="en-US" dirty="0"/>
              <a:t>summarize the master data which is most important for the HCM module.</a:t>
            </a:r>
          </a:p>
          <a:p>
            <a:r>
              <a:rPr lang="en-US" dirty="0"/>
              <a:t>explain standard HCM processes.</a:t>
            </a:r>
          </a:p>
        </p:txBody>
      </p:sp>
    </p:spTree>
    <p:extLst>
      <p:ext uri="{BB962C8B-B14F-4D97-AF65-F5344CB8AC3E}">
        <p14:creationId xmlns:p14="http://schemas.microsoft.com/office/powerpoint/2010/main" val="1760077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de-DE" dirty="0"/>
              <a:t>Agenda</a:t>
            </a:r>
            <a:endParaRPr lang="de-DE" dirty="0"/>
          </a:p>
        </p:txBody>
      </p:sp>
      <p:sp>
        <p:nvSpPr>
          <p:cNvPr id="3" name="Inhaltsplatzhalter 2"/>
          <p:cNvSpPr>
            <a:spLocks noGrp="1"/>
          </p:cNvSpPr>
          <p:nvPr>
            <p:ph idx="1"/>
          </p:nvPr>
        </p:nvSpPr>
        <p:spPr/>
        <p:txBody>
          <a:bodyPr/>
          <a:lstStyle/>
          <a:p>
            <a:pPr>
              <a:tabLst>
                <a:tab pos="1971675" algn="l"/>
              </a:tabLst>
            </a:pPr>
            <a:r>
              <a:rPr lang="en-US" altLang="de-DE" dirty="0"/>
              <a:t>HCM Organizational </a:t>
            </a:r>
            <a:r>
              <a:rPr lang="en-US" altLang="de-DE" dirty="0" smtClean="0"/>
              <a:t>Structure</a:t>
            </a:r>
          </a:p>
          <a:p>
            <a:pPr>
              <a:tabLst>
                <a:tab pos="1971675" algn="l"/>
              </a:tabLst>
            </a:pPr>
            <a:endParaRPr lang="en-US" altLang="de-DE" dirty="0"/>
          </a:p>
          <a:p>
            <a:pPr>
              <a:tabLst>
                <a:tab pos="1971675" algn="l"/>
              </a:tabLst>
            </a:pPr>
            <a:r>
              <a:rPr lang="en-US" altLang="de-DE" dirty="0">
                <a:solidFill>
                  <a:srgbClr val="B2B2B2"/>
                </a:solidFill>
              </a:rPr>
              <a:t>HCM Master </a:t>
            </a:r>
            <a:r>
              <a:rPr lang="en-US" altLang="de-DE" dirty="0" smtClean="0">
                <a:solidFill>
                  <a:srgbClr val="B2B2B2"/>
                </a:solidFill>
              </a:rPr>
              <a:t>Data</a:t>
            </a:r>
          </a:p>
          <a:p>
            <a:pPr>
              <a:tabLst>
                <a:tab pos="1971675" algn="l"/>
              </a:tabLst>
            </a:pPr>
            <a:endParaRPr lang="en-US" altLang="de-DE" dirty="0">
              <a:solidFill>
                <a:srgbClr val="B2B2B2"/>
              </a:solidFill>
            </a:endParaRPr>
          </a:p>
          <a:p>
            <a:pPr>
              <a:tabLst>
                <a:tab pos="1971675" algn="l"/>
              </a:tabLst>
            </a:pPr>
            <a:r>
              <a:rPr lang="en-US" altLang="de-DE" dirty="0">
                <a:solidFill>
                  <a:srgbClr val="B2B2B2"/>
                </a:solidFill>
              </a:rPr>
              <a:t>HCM Processes</a:t>
            </a:r>
          </a:p>
          <a:p>
            <a:pPr lvl="1">
              <a:tabLst>
                <a:tab pos="1971675" algn="l"/>
              </a:tabLst>
            </a:pPr>
            <a:r>
              <a:rPr lang="en-US" altLang="de-DE" dirty="0">
                <a:solidFill>
                  <a:srgbClr val="B2B2B2"/>
                </a:solidFill>
              </a:rPr>
              <a:t>Organizational Management</a:t>
            </a:r>
          </a:p>
          <a:p>
            <a:pPr lvl="1">
              <a:tabLst>
                <a:tab pos="1971675" algn="l"/>
              </a:tabLst>
            </a:pPr>
            <a:r>
              <a:rPr lang="en-US" altLang="de-DE" dirty="0">
                <a:solidFill>
                  <a:srgbClr val="B2B2B2"/>
                </a:solidFill>
              </a:rPr>
              <a:t>Personnel Administration</a:t>
            </a:r>
          </a:p>
          <a:p>
            <a:pPr lvl="1">
              <a:tabLst>
                <a:tab pos="1971675" algn="l"/>
              </a:tabLst>
            </a:pPr>
            <a:r>
              <a:rPr lang="fr-FR" altLang="de-DE" dirty="0" smtClean="0">
                <a:solidFill>
                  <a:srgbClr val="B2B2B2"/>
                </a:solidFill>
              </a:rPr>
              <a:t>Personnel </a:t>
            </a:r>
            <a:r>
              <a:rPr lang="fr-FR" altLang="de-DE" dirty="0" err="1">
                <a:solidFill>
                  <a:srgbClr val="B2B2B2"/>
                </a:solidFill>
              </a:rPr>
              <a:t>Development</a:t>
            </a:r>
            <a:endParaRPr lang="fr-FR" altLang="de-DE" dirty="0">
              <a:solidFill>
                <a:srgbClr val="B2B2B2"/>
              </a:solidFill>
            </a:endParaRPr>
          </a:p>
          <a:p>
            <a:pPr lvl="1">
              <a:tabLst>
                <a:tab pos="1971675" algn="l"/>
              </a:tabLst>
            </a:pPr>
            <a:r>
              <a:rPr lang="fr-FR" altLang="de-DE" dirty="0" smtClean="0">
                <a:solidFill>
                  <a:srgbClr val="B2B2B2"/>
                </a:solidFill>
              </a:rPr>
              <a:t>Personnel </a:t>
            </a:r>
            <a:r>
              <a:rPr lang="fr-FR" altLang="de-DE" dirty="0" err="1">
                <a:solidFill>
                  <a:srgbClr val="B2B2B2"/>
                </a:solidFill>
              </a:rPr>
              <a:t>Controlling</a:t>
            </a:r>
            <a:endParaRPr lang="fr-FR" altLang="de-DE" dirty="0">
              <a:solidFill>
                <a:srgbClr val="B2B2B2"/>
              </a:solidFill>
            </a:endParaRPr>
          </a:p>
          <a:p>
            <a:pPr lvl="1">
              <a:tabLst>
                <a:tab pos="1971675" algn="l"/>
              </a:tabLst>
            </a:pPr>
            <a:r>
              <a:rPr lang="fr-FR" altLang="de-DE" dirty="0">
                <a:solidFill>
                  <a:srgbClr val="B2B2B2"/>
                </a:solidFill>
              </a:rPr>
              <a:t>ESS/MSS</a:t>
            </a:r>
          </a:p>
          <a:p>
            <a:pPr>
              <a:tabLst>
                <a:tab pos="1971675" algn="l"/>
              </a:tabLst>
            </a:pPr>
            <a:endParaRPr lang="en-US" altLang="de-DE" dirty="0"/>
          </a:p>
          <a:p>
            <a:pPr lvl="1">
              <a:tabLst>
                <a:tab pos="1971675" algn="l"/>
              </a:tabLst>
            </a:pPr>
            <a:endParaRPr lang="en-US" altLang="de-DE" dirty="0"/>
          </a:p>
        </p:txBody>
      </p:sp>
      <p:pic>
        <p:nvPicPr>
          <p:cNvPr id="4" name="Picture 9" descr="j043492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8891" y="2962940"/>
            <a:ext cx="1468437" cy="146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19635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de-DE" dirty="0"/>
              <a:t>HCM Organizational Structure</a:t>
            </a:r>
            <a:endParaRPr lang="de-DE" dirty="0"/>
          </a:p>
        </p:txBody>
      </p:sp>
      <p:sp>
        <p:nvSpPr>
          <p:cNvPr id="3" name="Textplatzhalter 2"/>
          <p:cNvSpPr>
            <a:spLocks noGrp="1"/>
          </p:cNvSpPr>
          <p:nvPr>
            <p:ph type="body" sz="quarter" idx="4294967295"/>
          </p:nvPr>
        </p:nvSpPr>
        <p:spPr>
          <a:xfrm>
            <a:off x="324000" y="1692392"/>
            <a:ext cx="11545200" cy="3832705"/>
          </a:xfrm>
        </p:spPr>
        <p:txBody>
          <a:bodyPr/>
          <a:lstStyle/>
          <a:p>
            <a:r>
              <a:rPr lang="en-US" altLang="de-DE" dirty="0"/>
              <a:t>Represents the structural and personnel organization of a </a:t>
            </a:r>
            <a:r>
              <a:rPr lang="en-US" altLang="de-DE" dirty="0" smtClean="0"/>
              <a:t>company</a:t>
            </a:r>
            <a:endParaRPr lang="en-US" altLang="de-DE" dirty="0"/>
          </a:p>
          <a:p>
            <a:endParaRPr lang="en-US" altLang="de-DE" dirty="0" smtClean="0"/>
          </a:p>
          <a:p>
            <a:r>
              <a:rPr lang="en-US" altLang="de-DE" dirty="0" smtClean="0"/>
              <a:t>Consists </a:t>
            </a:r>
            <a:r>
              <a:rPr lang="en-US" altLang="de-DE" dirty="0"/>
              <a:t>of organizational </a:t>
            </a:r>
            <a:r>
              <a:rPr lang="en-US" altLang="de-DE" dirty="0" smtClean="0"/>
              <a:t>units</a:t>
            </a:r>
            <a:endParaRPr lang="en-US" altLang="de-DE" dirty="0"/>
          </a:p>
          <a:p>
            <a:endParaRPr lang="en-US" altLang="de-DE" dirty="0" smtClean="0"/>
          </a:p>
          <a:p>
            <a:r>
              <a:rPr lang="en-US" altLang="de-DE" dirty="0" smtClean="0"/>
              <a:t>Illustrates </a:t>
            </a:r>
            <a:r>
              <a:rPr lang="en-US" altLang="de-DE" dirty="0"/>
              <a:t>the organizational structures and </a:t>
            </a:r>
            <a:r>
              <a:rPr lang="en-US" altLang="de-DE" dirty="0" smtClean="0"/>
              <a:t>hierarchies</a:t>
            </a:r>
            <a:endParaRPr lang="en-US" altLang="de-DE" dirty="0"/>
          </a:p>
          <a:p>
            <a:endParaRPr lang="en-US" altLang="de-DE" dirty="0" smtClean="0"/>
          </a:p>
          <a:p>
            <a:r>
              <a:rPr lang="en-US" altLang="de-DE" dirty="0" smtClean="0"/>
              <a:t>Illustrates </a:t>
            </a:r>
            <a:r>
              <a:rPr lang="en-US" altLang="de-DE" dirty="0"/>
              <a:t>an employees responsibilities </a:t>
            </a:r>
          </a:p>
          <a:p>
            <a:endParaRPr lang="en-US" altLang="de-DE" dirty="0" smtClean="0"/>
          </a:p>
          <a:p>
            <a:r>
              <a:rPr lang="en-US" altLang="de-DE" dirty="0" smtClean="0"/>
              <a:t>Is </a:t>
            </a:r>
            <a:r>
              <a:rPr lang="en-US" altLang="de-DE" dirty="0"/>
              <a:t>a precondition of various personnel processes’ implementation</a:t>
            </a:r>
          </a:p>
          <a:p>
            <a:endParaRPr lang="en-US" altLang="de-DE" dirty="0" smtClean="0"/>
          </a:p>
          <a:p>
            <a:r>
              <a:rPr lang="en-US" altLang="de-DE" dirty="0" smtClean="0"/>
              <a:t>Consists </a:t>
            </a:r>
            <a:r>
              <a:rPr lang="en-US" altLang="de-DE" dirty="0"/>
              <a:t>of three parts:</a:t>
            </a:r>
          </a:p>
          <a:p>
            <a:pPr lvl="1"/>
            <a:r>
              <a:rPr lang="en-US" altLang="de-DE" dirty="0"/>
              <a:t>Enterprise Structure</a:t>
            </a:r>
          </a:p>
          <a:p>
            <a:pPr lvl="1"/>
            <a:r>
              <a:rPr lang="en-US" altLang="de-DE" dirty="0"/>
              <a:t>Personnel Structure</a:t>
            </a:r>
          </a:p>
          <a:p>
            <a:pPr lvl="1"/>
            <a:r>
              <a:rPr lang="en-US" altLang="de-DE" dirty="0"/>
              <a:t>Organizational Plan</a:t>
            </a:r>
          </a:p>
          <a:p>
            <a:endParaRPr lang="en-US" altLang="de-DE" dirty="0"/>
          </a:p>
        </p:txBody>
      </p:sp>
      <p:grpSp>
        <p:nvGrpSpPr>
          <p:cNvPr id="4" name="Group 82"/>
          <p:cNvGrpSpPr>
            <a:grpSpLocks/>
          </p:cNvGrpSpPr>
          <p:nvPr/>
        </p:nvGrpSpPr>
        <p:grpSpPr bwMode="auto">
          <a:xfrm>
            <a:off x="8774295" y="3489289"/>
            <a:ext cx="1987550" cy="2647950"/>
            <a:chOff x="3703" y="1078"/>
            <a:chExt cx="1626" cy="1944"/>
          </a:xfrm>
        </p:grpSpPr>
        <p:pic>
          <p:nvPicPr>
            <p:cNvPr id="5" name="Picture 21" descr="j043484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32" y="1078"/>
              <a:ext cx="308"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Line 23"/>
            <p:cNvSpPr>
              <a:spLocks noChangeShapeType="1"/>
            </p:cNvSpPr>
            <p:nvPr/>
          </p:nvSpPr>
          <p:spPr bwMode="auto">
            <a:xfrm>
              <a:off x="4468" y="1395"/>
              <a:ext cx="0" cy="9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7" name="Line 24"/>
            <p:cNvSpPr>
              <a:spLocks noChangeShapeType="1"/>
            </p:cNvSpPr>
            <p:nvPr/>
          </p:nvSpPr>
          <p:spPr bwMode="auto">
            <a:xfrm>
              <a:off x="4150" y="1486"/>
              <a:ext cx="63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0" tIns="0" rIns="0" bIns="0"/>
            <a:lstStyle/>
            <a:p>
              <a:endParaRPr lang="de-DE"/>
            </a:p>
          </p:txBody>
        </p:sp>
        <p:pic>
          <p:nvPicPr>
            <p:cNvPr id="8" name="Picture 25" descr="j043484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14" y="1577"/>
              <a:ext cx="318"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26" descr="j043488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03" y="2212"/>
              <a:ext cx="266"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Line 27"/>
            <p:cNvSpPr>
              <a:spLocks noChangeShapeType="1"/>
            </p:cNvSpPr>
            <p:nvPr/>
          </p:nvSpPr>
          <p:spPr bwMode="auto">
            <a:xfrm>
              <a:off x="4150" y="1486"/>
              <a:ext cx="0" cy="9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11" name="Line 28"/>
            <p:cNvSpPr>
              <a:spLocks noChangeShapeType="1"/>
            </p:cNvSpPr>
            <p:nvPr/>
          </p:nvSpPr>
          <p:spPr bwMode="auto">
            <a:xfrm>
              <a:off x="4785" y="1486"/>
              <a:ext cx="0" cy="9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12" name="Line 29"/>
            <p:cNvSpPr>
              <a:spLocks noChangeShapeType="1"/>
            </p:cNvSpPr>
            <p:nvPr/>
          </p:nvSpPr>
          <p:spPr bwMode="auto">
            <a:xfrm>
              <a:off x="4105" y="2076"/>
              <a:ext cx="0" cy="9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0" tIns="0" rIns="0" bIns="0"/>
            <a:lstStyle/>
            <a:p>
              <a:endParaRPr lang="de-DE"/>
            </a:p>
          </p:txBody>
        </p:sp>
        <p:pic>
          <p:nvPicPr>
            <p:cNvPr id="13" name="Picture 31" descr="j043484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50" y="1577"/>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Line 32"/>
            <p:cNvSpPr>
              <a:spLocks noChangeShapeType="1"/>
            </p:cNvSpPr>
            <p:nvPr/>
          </p:nvSpPr>
          <p:spPr bwMode="auto">
            <a:xfrm>
              <a:off x="3833" y="2076"/>
              <a:ext cx="5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15" name="Line 34"/>
            <p:cNvSpPr>
              <a:spLocks noChangeShapeType="1"/>
            </p:cNvSpPr>
            <p:nvPr/>
          </p:nvSpPr>
          <p:spPr bwMode="auto">
            <a:xfrm>
              <a:off x="4377" y="2076"/>
              <a:ext cx="0" cy="9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16" name="Line 35"/>
            <p:cNvSpPr>
              <a:spLocks noChangeShapeType="1"/>
            </p:cNvSpPr>
            <p:nvPr/>
          </p:nvSpPr>
          <p:spPr bwMode="auto">
            <a:xfrm>
              <a:off x="3833" y="2076"/>
              <a:ext cx="0" cy="9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0" tIns="0" rIns="0" bIns="0"/>
            <a:lstStyle/>
            <a:p>
              <a:endParaRPr lang="de-DE"/>
            </a:p>
          </p:txBody>
        </p:sp>
        <p:pic>
          <p:nvPicPr>
            <p:cNvPr id="17" name="Picture 37" descr="j0434888"/>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241" y="2212"/>
              <a:ext cx="267"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Line 38"/>
            <p:cNvSpPr>
              <a:spLocks noChangeShapeType="1"/>
            </p:cNvSpPr>
            <p:nvPr/>
          </p:nvSpPr>
          <p:spPr bwMode="auto">
            <a:xfrm>
              <a:off x="4105" y="1940"/>
              <a:ext cx="0" cy="1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19" name="Line 39"/>
            <p:cNvSpPr>
              <a:spLocks noChangeShapeType="1"/>
            </p:cNvSpPr>
            <p:nvPr/>
          </p:nvSpPr>
          <p:spPr bwMode="auto">
            <a:xfrm>
              <a:off x="4831" y="1940"/>
              <a:ext cx="0" cy="1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20" name="Line 40"/>
            <p:cNvSpPr>
              <a:spLocks noChangeShapeType="1"/>
            </p:cNvSpPr>
            <p:nvPr/>
          </p:nvSpPr>
          <p:spPr bwMode="auto">
            <a:xfrm>
              <a:off x="4650" y="2077"/>
              <a:ext cx="3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21" name="Line 41"/>
            <p:cNvSpPr>
              <a:spLocks noChangeShapeType="1"/>
            </p:cNvSpPr>
            <p:nvPr/>
          </p:nvSpPr>
          <p:spPr bwMode="auto">
            <a:xfrm>
              <a:off x="5012" y="2077"/>
              <a:ext cx="0" cy="9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0" tIns="0" rIns="0" bIns="0"/>
            <a:lstStyle/>
            <a:p>
              <a:endParaRPr lang="de-DE"/>
            </a:p>
          </p:txBody>
        </p:sp>
        <p:pic>
          <p:nvPicPr>
            <p:cNvPr id="22" name="Picture 42" descr="j043484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04" y="2213"/>
              <a:ext cx="272"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Line 44"/>
            <p:cNvSpPr>
              <a:spLocks noChangeShapeType="1"/>
            </p:cNvSpPr>
            <p:nvPr/>
          </p:nvSpPr>
          <p:spPr bwMode="auto">
            <a:xfrm>
              <a:off x="4649" y="2077"/>
              <a:ext cx="0" cy="9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0" tIns="0" rIns="0" bIns="0"/>
            <a:lstStyle/>
            <a:p>
              <a:endParaRPr lang="de-DE"/>
            </a:p>
          </p:txBody>
        </p:sp>
        <p:pic>
          <p:nvPicPr>
            <p:cNvPr id="24" name="Picture 45" descr="j0432623"/>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989" y="2212"/>
              <a:ext cx="25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46" descr="j0434888"/>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921" y="2213"/>
              <a:ext cx="267"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Line 70"/>
            <p:cNvSpPr>
              <a:spLocks noChangeShapeType="1"/>
            </p:cNvSpPr>
            <p:nvPr/>
          </p:nvSpPr>
          <p:spPr bwMode="auto">
            <a:xfrm>
              <a:off x="5057" y="2484"/>
              <a:ext cx="1" cy="1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27" name="Line 71"/>
            <p:cNvSpPr>
              <a:spLocks noChangeShapeType="1"/>
            </p:cNvSpPr>
            <p:nvPr/>
          </p:nvSpPr>
          <p:spPr bwMode="auto">
            <a:xfrm>
              <a:off x="4877" y="2620"/>
              <a:ext cx="3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28" name="Line 72"/>
            <p:cNvSpPr>
              <a:spLocks noChangeShapeType="1"/>
            </p:cNvSpPr>
            <p:nvPr/>
          </p:nvSpPr>
          <p:spPr bwMode="auto">
            <a:xfrm>
              <a:off x="5239" y="2620"/>
              <a:ext cx="0" cy="9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29" name="Line 73"/>
            <p:cNvSpPr>
              <a:spLocks noChangeShapeType="1"/>
            </p:cNvSpPr>
            <p:nvPr/>
          </p:nvSpPr>
          <p:spPr bwMode="auto">
            <a:xfrm>
              <a:off x="4876" y="2620"/>
              <a:ext cx="0" cy="9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0" tIns="0" rIns="0" bIns="0"/>
            <a:lstStyle/>
            <a:p>
              <a:endParaRPr lang="de-DE"/>
            </a:p>
          </p:txBody>
        </p:sp>
        <p:pic>
          <p:nvPicPr>
            <p:cNvPr id="30" name="Picture 75" descr="j043488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46" y="2756"/>
              <a:ext cx="266"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Picture 77" descr="j0432623"/>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077" y="2756"/>
              <a:ext cx="25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8463191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de-DE" dirty="0"/>
              <a:t>HCM Enterprise Structure</a:t>
            </a:r>
            <a:endParaRPr lang="de-DE" dirty="0"/>
          </a:p>
        </p:txBody>
      </p:sp>
      <p:sp>
        <p:nvSpPr>
          <p:cNvPr id="3" name="Textplatzhalter 2"/>
          <p:cNvSpPr>
            <a:spLocks noGrp="1"/>
          </p:cNvSpPr>
          <p:nvPr>
            <p:ph type="body" sz="quarter" idx="4294967295"/>
          </p:nvPr>
        </p:nvSpPr>
        <p:spPr>
          <a:xfrm>
            <a:off x="324000" y="1531421"/>
            <a:ext cx="11545200" cy="4392043"/>
          </a:xfrm>
        </p:spPr>
        <p:txBody>
          <a:bodyPr/>
          <a:lstStyle/>
          <a:p>
            <a:r>
              <a:rPr lang="en-US" dirty="0"/>
              <a:t>Enterprise Structure</a:t>
            </a:r>
          </a:p>
          <a:p>
            <a:pPr lvl="1"/>
            <a:r>
              <a:rPr lang="en-US" dirty="0"/>
              <a:t>Represents formal and financial structures in a company</a:t>
            </a:r>
          </a:p>
          <a:p>
            <a:pPr lvl="1"/>
            <a:r>
              <a:rPr lang="en-US" dirty="0"/>
              <a:t>Each employee needs to be assigned to an enterprise structure.</a:t>
            </a:r>
          </a:p>
          <a:p>
            <a:pPr lvl="1"/>
            <a:r>
              <a:rPr lang="en-US" dirty="0"/>
              <a:t>Basically consists of company code, personnel area, and personnel subarea</a:t>
            </a:r>
          </a:p>
          <a:p>
            <a:pPr lvl="1"/>
            <a:endParaRPr lang="en-US" dirty="0"/>
          </a:p>
          <a:p>
            <a:pPr lvl="1"/>
            <a:r>
              <a:rPr lang="en-US" dirty="0"/>
              <a:t>Client </a:t>
            </a:r>
          </a:p>
          <a:p>
            <a:pPr lvl="2"/>
            <a:r>
              <a:rPr lang="en-US" dirty="0"/>
              <a:t>An independent environment in the system</a:t>
            </a:r>
          </a:p>
          <a:p>
            <a:pPr lvl="2"/>
            <a:endParaRPr lang="en-US" dirty="0"/>
          </a:p>
          <a:p>
            <a:pPr lvl="1"/>
            <a:r>
              <a:rPr lang="en-US" dirty="0"/>
              <a:t>Company Code</a:t>
            </a:r>
          </a:p>
          <a:p>
            <a:pPr lvl="2"/>
            <a:r>
              <a:rPr lang="en-US" dirty="0"/>
              <a:t>Smallest org unit for which you can maintain a legal set of books</a:t>
            </a:r>
          </a:p>
          <a:p>
            <a:pPr marL="324000" lvl="2" indent="0">
              <a:buNone/>
            </a:pPr>
            <a:endParaRPr lang="en-US" dirty="0"/>
          </a:p>
          <a:p>
            <a:pPr lvl="1"/>
            <a:r>
              <a:rPr lang="en-US" dirty="0"/>
              <a:t>Personnel Area</a:t>
            </a:r>
          </a:p>
          <a:p>
            <a:pPr lvl="2"/>
            <a:r>
              <a:rPr lang="en-US" dirty="0"/>
              <a:t>Represents a company area differentiated between personnel administrative, time management, and expensive organizational aspects</a:t>
            </a:r>
          </a:p>
          <a:p>
            <a:pPr lvl="2"/>
            <a:endParaRPr lang="en-US" dirty="0"/>
          </a:p>
          <a:p>
            <a:pPr lvl="1"/>
            <a:r>
              <a:rPr lang="en-US" dirty="0"/>
              <a:t>Personnel Subarea</a:t>
            </a:r>
          </a:p>
          <a:p>
            <a:pPr lvl="2"/>
            <a:r>
              <a:rPr lang="en-US" dirty="0"/>
              <a:t>Represents part of a personnel area</a:t>
            </a:r>
          </a:p>
          <a:p>
            <a:pPr lvl="2"/>
            <a:r>
              <a:rPr lang="en-US" dirty="0"/>
              <a:t>Represents a company area differentiated between personnel administration, time management, and payroll accounting aspects</a:t>
            </a:r>
          </a:p>
        </p:txBody>
      </p:sp>
    </p:spTree>
    <p:extLst>
      <p:ext uri="{BB962C8B-B14F-4D97-AF65-F5344CB8AC3E}">
        <p14:creationId xmlns:p14="http://schemas.microsoft.com/office/powerpoint/2010/main" val="32363496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a:t>Global Bike Enterprise Structure for HCM</a:t>
            </a:r>
            <a:endParaRPr lang="de-DE" dirty="0"/>
          </a:p>
        </p:txBody>
      </p:sp>
      <p:grpSp>
        <p:nvGrpSpPr>
          <p:cNvPr id="77" name="Gruppieren 76"/>
          <p:cNvGrpSpPr/>
          <p:nvPr/>
        </p:nvGrpSpPr>
        <p:grpSpPr>
          <a:xfrm>
            <a:off x="2080225" y="1526487"/>
            <a:ext cx="8032750" cy="4721225"/>
            <a:chOff x="611188" y="1412875"/>
            <a:chExt cx="8032750" cy="4721225"/>
          </a:xfrm>
        </p:grpSpPr>
        <p:sp>
          <p:nvSpPr>
            <p:cNvPr id="4" name="Line 8"/>
            <p:cNvSpPr>
              <a:spLocks noChangeShapeType="1"/>
            </p:cNvSpPr>
            <p:nvPr/>
          </p:nvSpPr>
          <p:spPr bwMode="white">
            <a:xfrm flipH="1">
              <a:off x="6227763" y="3429000"/>
              <a:ext cx="0" cy="223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5" name="Line 10"/>
            <p:cNvSpPr>
              <a:spLocks noChangeShapeType="1"/>
            </p:cNvSpPr>
            <p:nvPr/>
          </p:nvSpPr>
          <p:spPr bwMode="white">
            <a:xfrm>
              <a:off x="4716463" y="4243388"/>
              <a:ext cx="714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6" name="Line 8"/>
            <p:cNvSpPr>
              <a:spLocks noChangeShapeType="1"/>
            </p:cNvSpPr>
            <p:nvPr/>
          </p:nvSpPr>
          <p:spPr bwMode="white">
            <a:xfrm flipH="1">
              <a:off x="4716463" y="3429000"/>
              <a:ext cx="0" cy="12239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7" name="Line 8"/>
            <p:cNvSpPr>
              <a:spLocks noChangeShapeType="1"/>
            </p:cNvSpPr>
            <p:nvPr/>
          </p:nvSpPr>
          <p:spPr bwMode="white">
            <a:xfrm flipH="1">
              <a:off x="3132138" y="3429000"/>
              <a:ext cx="0" cy="9366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8" name="Line 8"/>
            <p:cNvSpPr>
              <a:spLocks noChangeShapeType="1"/>
            </p:cNvSpPr>
            <p:nvPr/>
          </p:nvSpPr>
          <p:spPr bwMode="white">
            <a:xfrm flipH="1">
              <a:off x="1908175" y="3429000"/>
              <a:ext cx="0" cy="12954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9" name="Line 8"/>
            <p:cNvSpPr>
              <a:spLocks noChangeShapeType="1"/>
            </p:cNvSpPr>
            <p:nvPr/>
          </p:nvSpPr>
          <p:spPr bwMode="white">
            <a:xfrm flipH="1">
              <a:off x="684213" y="3429000"/>
              <a:ext cx="0" cy="25923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10" name="Line 8"/>
            <p:cNvSpPr>
              <a:spLocks noChangeShapeType="1"/>
            </p:cNvSpPr>
            <p:nvPr/>
          </p:nvSpPr>
          <p:spPr bwMode="white">
            <a:xfrm>
              <a:off x="4284663" y="1628775"/>
              <a:ext cx="0" cy="3603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11" name="Line 8"/>
            <p:cNvSpPr>
              <a:spLocks noChangeShapeType="1"/>
            </p:cNvSpPr>
            <p:nvPr/>
          </p:nvSpPr>
          <p:spPr bwMode="white">
            <a:xfrm>
              <a:off x="6804025" y="2924175"/>
              <a:ext cx="0" cy="2174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12" name="Line 8"/>
            <p:cNvSpPr>
              <a:spLocks noChangeShapeType="1"/>
            </p:cNvSpPr>
            <p:nvPr/>
          </p:nvSpPr>
          <p:spPr bwMode="white">
            <a:xfrm>
              <a:off x="5292725" y="2924175"/>
              <a:ext cx="0" cy="2174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13" name="Text Box 22"/>
            <p:cNvSpPr txBox="1">
              <a:spLocks noChangeArrowheads="1"/>
            </p:cNvSpPr>
            <p:nvPr/>
          </p:nvSpPr>
          <p:spPr bwMode="auto">
            <a:xfrm>
              <a:off x="7740650" y="3043238"/>
              <a:ext cx="86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r" eaLnBrk="1" hangingPunct="1">
                <a:spcBef>
                  <a:spcPct val="0"/>
                </a:spcBef>
                <a:buClr>
                  <a:schemeClr val="accent1"/>
                </a:buClr>
                <a:buSzPct val="80000"/>
              </a:pPr>
              <a:r>
                <a:rPr lang="en-US" altLang="de-DE" b="0">
                  <a:ea typeface="Arial Unicode MS" panose="020B0604020202020204" pitchFamily="34" charset="-128"/>
                  <a:cs typeface="Arial Unicode MS" panose="020B0604020202020204" pitchFamily="34" charset="-128"/>
                </a:rPr>
                <a:t>Personnel</a:t>
              </a:r>
            </a:p>
            <a:p>
              <a:pPr algn="r" eaLnBrk="1" hangingPunct="1">
                <a:spcBef>
                  <a:spcPct val="0"/>
                </a:spcBef>
                <a:buClr>
                  <a:schemeClr val="accent1"/>
                </a:buClr>
                <a:buSzPct val="80000"/>
              </a:pPr>
              <a:r>
                <a:rPr lang="en-US" altLang="de-DE" b="0">
                  <a:ea typeface="Arial Unicode MS" panose="020B0604020202020204" pitchFamily="34" charset="-128"/>
                  <a:cs typeface="Arial Unicode MS" panose="020B0604020202020204" pitchFamily="34" charset="-128"/>
                </a:rPr>
                <a:t>Area</a:t>
              </a:r>
            </a:p>
          </p:txBody>
        </p:sp>
        <p:sp>
          <p:nvSpPr>
            <p:cNvPr id="14" name="Rectangle 5"/>
            <p:cNvSpPr>
              <a:spLocks noChangeArrowheads="1"/>
            </p:cNvSpPr>
            <p:nvPr/>
          </p:nvSpPr>
          <p:spPr bwMode="auto">
            <a:xfrm>
              <a:off x="3306763" y="1412875"/>
              <a:ext cx="1985962" cy="341313"/>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
                  <a:schemeClr val="accent1"/>
                </a:buClr>
                <a:buSzPct val="80000"/>
              </a:pPr>
              <a:r>
                <a:rPr lang="de-DE" altLang="de-DE" sz="1600">
                  <a:solidFill>
                    <a:schemeClr val="bg1"/>
                  </a:solidFill>
                  <a:ea typeface="Arial Unicode MS" panose="020B0604020202020204" pitchFamily="34" charset="-128"/>
                  <a:cs typeface="Arial Unicode MS" panose="020B0604020202020204" pitchFamily="34" charset="-128"/>
                </a:rPr>
                <a:t>Global Bike Group</a:t>
              </a:r>
            </a:p>
          </p:txBody>
        </p:sp>
        <p:sp>
          <p:nvSpPr>
            <p:cNvPr id="15" name="Rectangle 6"/>
            <p:cNvSpPr>
              <a:spLocks noChangeArrowheads="1"/>
            </p:cNvSpPr>
            <p:nvPr/>
          </p:nvSpPr>
          <p:spPr bwMode="auto">
            <a:xfrm>
              <a:off x="1552575" y="2349500"/>
              <a:ext cx="1651000" cy="349250"/>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0"/>
                </a:spcBef>
                <a:buClr>
                  <a:schemeClr val="accent1"/>
                </a:buClr>
                <a:buSzPct val="80000"/>
                <a:defRPr/>
              </a:pPr>
              <a:r>
                <a:rPr lang="de-DE" sz="1600" dirty="0">
                  <a:solidFill>
                    <a:schemeClr val="bg1"/>
                  </a:solidFill>
                  <a:latin typeface="Arial" charset="0"/>
                  <a:ea typeface="Arial Unicode MS" pitchFamily="34" charset="-128"/>
                  <a:cs typeface="Arial Unicode MS" pitchFamily="34" charset="-128"/>
                </a:rPr>
                <a:t>Global Bike US</a:t>
              </a:r>
            </a:p>
          </p:txBody>
        </p:sp>
        <p:sp>
          <p:nvSpPr>
            <p:cNvPr id="16" name="Rectangle 7"/>
            <p:cNvSpPr>
              <a:spLocks noChangeArrowheads="1"/>
            </p:cNvSpPr>
            <p:nvPr/>
          </p:nvSpPr>
          <p:spPr bwMode="auto">
            <a:xfrm>
              <a:off x="1833563" y="3141663"/>
              <a:ext cx="1062037" cy="317500"/>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
                  <a:schemeClr val="accent1"/>
                </a:buClr>
                <a:buSzPct val="80000"/>
              </a:pPr>
              <a:r>
                <a:rPr lang="de-DE" altLang="de-DE" sz="1400" dirty="0">
                  <a:solidFill>
                    <a:schemeClr val="bg1"/>
                  </a:solidFill>
                  <a:ea typeface="Arial Unicode MS" panose="020B0604020202020204" pitchFamily="34" charset="-128"/>
                  <a:cs typeface="Arial Unicode MS" panose="020B0604020202020204" pitchFamily="34" charset="-128"/>
                </a:rPr>
                <a:t>GBI Miami</a:t>
              </a:r>
            </a:p>
          </p:txBody>
        </p:sp>
        <p:sp>
          <p:nvSpPr>
            <p:cNvPr id="17" name="Rectangle 8"/>
            <p:cNvSpPr>
              <a:spLocks noChangeArrowheads="1"/>
            </p:cNvSpPr>
            <p:nvPr/>
          </p:nvSpPr>
          <p:spPr bwMode="auto">
            <a:xfrm>
              <a:off x="611188" y="3141663"/>
              <a:ext cx="1081087" cy="317500"/>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
                  <a:schemeClr val="accent1"/>
                </a:buClr>
                <a:buSzPct val="80000"/>
              </a:pPr>
              <a:r>
                <a:rPr lang="de-DE" altLang="de-DE" sz="1400" dirty="0">
                  <a:solidFill>
                    <a:schemeClr val="bg1"/>
                  </a:solidFill>
                  <a:ea typeface="Arial Unicode MS" panose="020B0604020202020204" pitchFamily="34" charset="-128"/>
                  <a:cs typeface="Arial Unicode MS" panose="020B0604020202020204" pitchFamily="34" charset="-128"/>
                </a:rPr>
                <a:t>GBI Dallas</a:t>
              </a:r>
            </a:p>
          </p:txBody>
        </p:sp>
        <p:sp>
          <p:nvSpPr>
            <p:cNvPr id="18" name="Rectangle 7"/>
            <p:cNvSpPr>
              <a:spLocks noChangeArrowheads="1"/>
            </p:cNvSpPr>
            <p:nvPr/>
          </p:nvSpPr>
          <p:spPr bwMode="auto">
            <a:xfrm>
              <a:off x="754063" y="3695700"/>
              <a:ext cx="987425" cy="287338"/>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
                  <a:schemeClr val="accent1"/>
                </a:buClr>
                <a:buSzPct val="80000"/>
              </a:pPr>
              <a:r>
                <a:rPr lang="en-US" altLang="de-DE">
                  <a:solidFill>
                    <a:schemeClr val="bg1"/>
                  </a:solidFill>
                  <a:ea typeface="Arial Unicode MS" panose="020B0604020202020204" pitchFamily="34" charset="-128"/>
                  <a:cs typeface="Arial Unicode MS" panose="020B0604020202020204" pitchFamily="34" charset="-128"/>
                </a:rPr>
                <a:t>Executives</a:t>
              </a:r>
            </a:p>
          </p:txBody>
        </p:sp>
        <p:sp>
          <p:nvSpPr>
            <p:cNvPr id="19" name="Rectangle 7"/>
            <p:cNvSpPr>
              <a:spLocks noChangeArrowheads="1"/>
            </p:cNvSpPr>
            <p:nvPr/>
          </p:nvSpPr>
          <p:spPr bwMode="auto">
            <a:xfrm>
              <a:off x="755650" y="4078288"/>
              <a:ext cx="769938" cy="287337"/>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
                  <a:schemeClr val="accent1"/>
                </a:buClr>
                <a:buSzPct val="80000"/>
              </a:pPr>
              <a:r>
                <a:rPr lang="en-US" altLang="de-DE">
                  <a:solidFill>
                    <a:schemeClr val="bg1"/>
                  </a:solidFill>
                  <a:ea typeface="Arial Unicode MS" panose="020B0604020202020204" pitchFamily="34" charset="-128"/>
                  <a:cs typeface="Arial Unicode MS" panose="020B0604020202020204" pitchFamily="34" charset="-128"/>
                </a:rPr>
                <a:t>Finance</a:t>
              </a:r>
            </a:p>
          </p:txBody>
        </p:sp>
        <p:sp>
          <p:nvSpPr>
            <p:cNvPr id="20" name="Text Box 27"/>
            <p:cNvSpPr txBox="1">
              <a:spLocks noChangeArrowheads="1"/>
            </p:cNvSpPr>
            <p:nvPr/>
          </p:nvSpPr>
          <p:spPr bwMode="auto">
            <a:xfrm>
              <a:off x="7780338" y="4333875"/>
              <a:ext cx="86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r" eaLnBrk="1" hangingPunct="1">
                <a:spcBef>
                  <a:spcPct val="0"/>
                </a:spcBef>
                <a:buClr>
                  <a:schemeClr val="accent1"/>
                </a:buClr>
                <a:buSzPct val="80000"/>
              </a:pPr>
              <a:r>
                <a:rPr lang="en-US" altLang="de-DE" b="0">
                  <a:ea typeface="Arial Unicode MS" panose="020B0604020202020204" pitchFamily="34" charset="-128"/>
                  <a:cs typeface="Arial Unicode MS" panose="020B0604020202020204" pitchFamily="34" charset="-128"/>
                </a:rPr>
                <a:t>Personnel</a:t>
              </a:r>
            </a:p>
            <a:p>
              <a:pPr algn="r" eaLnBrk="1" hangingPunct="1">
                <a:spcBef>
                  <a:spcPct val="0"/>
                </a:spcBef>
                <a:buClr>
                  <a:schemeClr val="accent1"/>
                </a:buClr>
                <a:buSzPct val="80000"/>
              </a:pPr>
              <a:r>
                <a:rPr lang="en-US" altLang="de-DE" b="0">
                  <a:ea typeface="Arial Unicode MS" panose="020B0604020202020204" pitchFamily="34" charset="-128"/>
                  <a:cs typeface="Arial Unicode MS" panose="020B0604020202020204" pitchFamily="34" charset="-128"/>
                </a:rPr>
                <a:t>Subarea</a:t>
              </a:r>
            </a:p>
          </p:txBody>
        </p:sp>
        <p:sp>
          <p:nvSpPr>
            <p:cNvPr id="21" name="Text Box 28"/>
            <p:cNvSpPr txBox="1">
              <a:spLocks noChangeArrowheads="1"/>
            </p:cNvSpPr>
            <p:nvPr/>
          </p:nvSpPr>
          <p:spPr bwMode="auto">
            <a:xfrm>
              <a:off x="7773988" y="2378075"/>
              <a:ext cx="8302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r" eaLnBrk="1" hangingPunct="1">
                <a:spcBef>
                  <a:spcPct val="0"/>
                </a:spcBef>
                <a:buClr>
                  <a:schemeClr val="accent1"/>
                </a:buClr>
                <a:buSzPct val="80000"/>
              </a:pPr>
              <a:r>
                <a:rPr lang="en-US" altLang="de-DE" b="0">
                  <a:ea typeface="Arial Unicode MS" panose="020B0604020202020204" pitchFamily="34" charset="-128"/>
                  <a:cs typeface="Arial Unicode MS" panose="020B0604020202020204" pitchFamily="34" charset="-128"/>
                </a:rPr>
                <a:t>Company</a:t>
              </a:r>
            </a:p>
            <a:p>
              <a:pPr algn="r" eaLnBrk="1" hangingPunct="1">
                <a:spcBef>
                  <a:spcPct val="0"/>
                </a:spcBef>
                <a:buClr>
                  <a:schemeClr val="accent1"/>
                </a:buClr>
                <a:buSzPct val="80000"/>
              </a:pPr>
              <a:r>
                <a:rPr lang="en-US" altLang="de-DE" b="0">
                  <a:ea typeface="Arial Unicode MS" panose="020B0604020202020204" pitchFamily="34" charset="-128"/>
                  <a:cs typeface="Arial Unicode MS" panose="020B0604020202020204" pitchFamily="34" charset="-128"/>
                </a:rPr>
                <a:t>Code</a:t>
              </a:r>
            </a:p>
          </p:txBody>
        </p:sp>
        <p:sp>
          <p:nvSpPr>
            <p:cNvPr id="22" name="Text Box 29"/>
            <p:cNvSpPr txBox="1">
              <a:spLocks noChangeArrowheads="1"/>
            </p:cNvSpPr>
            <p:nvPr/>
          </p:nvSpPr>
          <p:spPr bwMode="auto">
            <a:xfrm>
              <a:off x="8035925" y="1452563"/>
              <a:ext cx="5683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r" eaLnBrk="1" hangingPunct="1">
                <a:spcBef>
                  <a:spcPct val="0"/>
                </a:spcBef>
                <a:buClr>
                  <a:schemeClr val="accent1"/>
                </a:buClr>
                <a:buSzPct val="80000"/>
              </a:pPr>
              <a:r>
                <a:rPr lang="en-US" altLang="de-DE" b="0">
                  <a:ea typeface="Arial Unicode MS" panose="020B0604020202020204" pitchFamily="34" charset="-128"/>
                  <a:cs typeface="Arial Unicode MS" panose="020B0604020202020204" pitchFamily="34" charset="-128"/>
                </a:rPr>
                <a:t>Client</a:t>
              </a:r>
            </a:p>
          </p:txBody>
        </p:sp>
        <p:sp>
          <p:nvSpPr>
            <p:cNvPr id="23" name="Line 31"/>
            <p:cNvSpPr>
              <a:spLocks noChangeShapeType="1"/>
            </p:cNvSpPr>
            <p:nvPr/>
          </p:nvSpPr>
          <p:spPr bwMode="auto">
            <a:xfrm>
              <a:off x="1165225" y="2924175"/>
              <a:ext cx="2663825" cy="0"/>
            </a:xfrm>
            <a:prstGeom prst="line">
              <a:avLst/>
            </a:prstGeom>
            <a:noFill/>
            <a:ln w="12700" algn="ctr">
              <a:solidFill>
                <a:schemeClr val="tx1"/>
              </a:solidFill>
              <a:miter lim="800000"/>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de-DE"/>
            </a:p>
          </p:txBody>
        </p:sp>
        <p:sp>
          <p:nvSpPr>
            <p:cNvPr id="24" name="Line 8"/>
            <p:cNvSpPr>
              <a:spLocks noChangeShapeType="1"/>
            </p:cNvSpPr>
            <p:nvPr/>
          </p:nvSpPr>
          <p:spPr bwMode="white">
            <a:xfrm>
              <a:off x="6156325" y="1989138"/>
              <a:ext cx="0" cy="3603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25" name="Line 8"/>
            <p:cNvSpPr>
              <a:spLocks noChangeShapeType="1"/>
            </p:cNvSpPr>
            <p:nvPr/>
          </p:nvSpPr>
          <p:spPr bwMode="white">
            <a:xfrm>
              <a:off x="2389188" y="1989138"/>
              <a:ext cx="0" cy="3603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26" name="Rectangle 6"/>
            <p:cNvSpPr>
              <a:spLocks noChangeArrowheads="1"/>
            </p:cNvSpPr>
            <p:nvPr/>
          </p:nvSpPr>
          <p:spPr bwMode="auto">
            <a:xfrm>
              <a:off x="5003800" y="2349500"/>
              <a:ext cx="2251075" cy="349250"/>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0"/>
                </a:spcBef>
                <a:buClr>
                  <a:schemeClr val="accent1"/>
                </a:buClr>
                <a:buSzPct val="80000"/>
                <a:defRPr/>
              </a:pPr>
              <a:r>
                <a:rPr lang="de-DE" sz="1600" dirty="0">
                  <a:solidFill>
                    <a:schemeClr val="bg1"/>
                  </a:solidFill>
                  <a:latin typeface="Arial" charset="0"/>
                  <a:ea typeface="Arial Unicode MS" pitchFamily="34" charset="-128"/>
                  <a:cs typeface="Arial Unicode MS" pitchFamily="34" charset="-128"/>
                </a:rPr>
                <a:t>Global Bike Germany</a:t>
              </a:r>
            </a:p>
          </p:txBody>
        </p:sp>
        <p:sp>
          <p:nvSpPr>
            <p:cNvPr id="27" name="Rectangle 7"/>
            <p:cNvSpPr>
              <a:spLocks noChangeArrowheads="1"/>
            </p:cNvSpPr>
            <p:nvPr/>
          </p:nvSpPr>
          <p:spPr bwMode="auto">
            <a:xfrm>
              <a:off x="3059113" y="3141663"/>
              <a:ext cx="1427162" cy="309562"/>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
                  <a:schemeClr val="accent1"/>
                </a:buClr>
                <a:buSzPct val="80000"/>
              </a:pPr>
              <a:r>
                <a:rPr lang="de-DE" altLang="de-DE" sz="1400" dirty="0">
                  <a:solidFill>
                    <a:schemeClr val="bg1"/>
                  </a:solidFill>
                  <a:ea typeface="Arial Unicode MS" panose="020B0604020202020204" pitchFamily="34" charset="-128"/>
                  <a:cs typeface="Arial Unicode MS" panose="020B0604020202020204" pitchFamily="34" charset="-128"/>
                </a:rPr>
                <a:t>GBI San Diego</a:t>
              </a:r>
            </a:p>
          </p:txBody>
        </p:sp>
        <p:grpSp>
          <p:nvGrpSpPr>
            <p:cNvPr id="28" name="Gruppieren 32"/>
            <p:cNvGrpSpPr>
              <a:grpSpLocks/>
            </p:cNvGrpSpPr>
            <p:nvPr/>
          </p:nvGrpSpPr>
          <p:grpSpPr bwMode="auto">
            <a:xfrm>
              <a:off x="1165225" y="2708275"/>
              <a:ext cx="2663825" cy="433388"/>
              <a:chOff x="1547664" y="3068960"/>
              <a:chExt cx="2664296" cy="432370"/>
            </a:xfrm>
            <a:solidFill>
              <a:schemeClr val="tx2"/>
            </a:solidFill>
          </p:grpSpPr>
          <p:sp>
            <p:nvSpPr>
              <p:cNvPr id="29" name="Line 8"/>
              <p:cNvSpPr>
                <a:spLocks noChangeShapeType="1"/>
              </p:cNvSpPr>
              <p:nvPr/>
            </p:nvSpPr>
            <p:spPr bwMode="white">
              <a:xfrm>
                <a:off x="1547664" y="3284984"/>
                <a:ext cx="0" cy="216346"/>
              </a:xfrm>
              <a:prstGeom prst="line">
                <a:avLst/>
              </a:prstGeom>
              <a:grpFill/>
              <a:ln w="12700">
                <a:solidFill>
                  <a:schemeClr val="tx1"/>
                </a:solidFill>
                <a:round/>
                <a:headEnd/>
                <a:tailEnd/>
              </a:ln>
            </p:spPr>
            <p:txBody>
              <a:bodyPr wrap="none" lIns="90000" tIns="46800" rIns="90000" bIns="46800" anchor="ctr"/>
              <a:lstStyle/>
              <a:p>
                <a:pPr>
                  <a:defRPr/>
                </a:pPr>
                <a:endParaRPr lang="de-DE">
                  <a:solidFill>
                    <a:schemeClr val="bg1"/>
                  </a:solidFill>
                  <a:latin typeface="Arial" charset="0"/>
                </a:endParaRPr>
              </a:p>
            </p:txBody>
          </p:sp>
          <p:sp>
            <p:nvSpPr>
              <p:cNvPr id="30" name="Line 8"/>
              <p:cNvSpPr>
                <a:spLocks noChangeShapeType="1"/>
              </p:cNvSpPr>
              <p:nvPr/>
            </p:nvSpPr>
            <p:spPr bwMode="white">
              <a:xfrm>
                <a:off x="2771800" y="3284984"/>
                <a:ext cx="0" cy="216346"/>
              </a:xfrm>
              <a:prstGeom prst="line">
                <a:avLst/>
              </a:prstGeom>
              <a:grpFill/>
              <a:ln w="12700">
                <a:solidFill>
                  <a:schemeClr val="tx1"/>
                </a:solidFill>
                <a:round/>
                <a:headEnd/>
                <a:tailEnd/>
              </a:ln>
            </p:spPr>
            <p:txBody>
              <a:bodyPr wrap="none" lIns="90000" tIns="46800" rIns="90000" bIns="46800" anchor="ctr"/>
              <a:lstStyle/>
              <a:p>
                <a:pPr>
                  <a:defRPr/>
                </a:pPr>
                <a:endParaRPr lang="de-DE">
                  <a:solidFill>
                    <a:schemeClr val="bg1"/>
                  </a:solidFill>
                  <a:latin typeface="Arial" charset="0"/>
                </a:endParaRPr>
              </a:p>
            </p:txBody>
          </p:sp>
          <p:sp>
            <p:nvSpPr>
              <p:cNvPr id="31" name="Line 8"/>
              <p:cNvSpPr>
                <a:spLocks noChangeShapeType="1"/>
              </p:cNvSpPr>
              <p:nvPr/>
            </p:nvSpPr>
            <p:spPr bwMode="white">
              <a:xfrm>
                <a:off x="4211960" y="3284984"/>
                <a:ext cx="0" cy="216346"/>
              </a:xfrm>
              <a:prstGeom prst="line">
                <a:avLst/>
              </a:prstGeom>
              <a:grpFill/>
              <a:ln w="12700">
                <a:solidFill>
                  <a:schemeClr val="tx1"/>
                </a:solidFill>
                <a:round/>
                <a:headEnd/>
                <a:tailEnd/>
              </a:ln>
            </p:spPr>
            <p:txBody>
              <a:bodyPr wrap="none" lIns="90000" tIns="46800" rIns="90000" bIns="46800" anchor="ctr"/>
              <a:lstStyle/>
              <a:p>
                <a:pPr>
                  <a:defRPr/>
                </a:pPr>
                <a:endParaRPr lang="de-DE">
                  <a:solidFill>
                    <a:schemeClr val="bg1"/>
                  </a:solidFill>
                  <a:latin typeface="Arial" charset="0"/>
                </a:endParaRPr>
              </a:p>
            </p:txBody>
          </p:sp>
          <p:sp>
            <p:nvSpPr>
              <p:cNvPr id="32" name="Line 8"/>
              <p:cNvSpPr>
                <a:spLocks noChangeShapeType="1"/>
              </p:cNvSpPr>
              <p:nvPr/>
            </p:nvSpPr>
            <p:spPr bwMode="white">
              <a:xfrm>
                <a:off x="2771800" y="3068960"/>
                <a:ext cx="0" cy="216346"/>
              </a:xfrm>
              <a:prstGeom prst="line">
                <a:avLst/>
              </a:prstGeom>
              <a:grpFill/>
              <a:ln w="12700">
                <a:solidFill>
                  <a:schemeClr val="tx1"/>
                </a:solidFill>
                <a:round/>
                <a:headEnd/>
                <a:tailEnd/>
              </a:ln>
            </p:spPr>
            <p:txBody>
              <a:bodyPr wrap="none" lIns="90000" tIns="46800" rIns="90000" bIns="46800" anchor="ctr"/>
              <a:lstStyle/>
              <a:p>
                <a:pPr>
                  <a:defRPr/>
                </a:pPr>
                <a:endParaRPr lang="de-DE">
                  <a:solidFill>
                    <a:schemeClr val="bg1"/>
                  </a:solidFill>
                  <a:latin typeface="Arial" charset="0"/>
                </a:endParaRPr>
              </a:p>
            </p:txBody>
          </p:sp>
        </p:grpSp>
        <p:sp>
          <p:nvSpPr>
            <p:cNvPr id="33" name="Rectangle 7"/>
            <p:cNvSpPr>
              <a:spLocks noChangeArrowheads="1"/>
            </p:cNvSpPr>
            <p:nvPr/>
          </p:nvSpPr>
          <p:spPr bwMode="auto">
            <a:xfrm>
              <a:off x="760413" y="4414838"/>
              <a:ext cx="403225" cy="279400"/>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
                  <a:schemeClr val="accent1"/>
                </a:buClr>
                <a:buSzPct val="80000"/>
              </a:pPr>
              <a:r>
                <a:rPr lang="en-US" altLang="de-DE">
                  <a:solidFill>
                    <a:schemeClr val="bg1"/>
                  </a:solidFill>
                  <a:ea typeface="Arial Unicode MS" panose="020B0604020202020204" pitchFamily="34" charset="-128"/>
                  <a:cs typeface="Arial Unicode MS" panose="020B0604020202020204" pitchFamily="34" charset="-128"/>
                </a:rPr>
                <a:t>HR</a:t>
              </a:r>
            </a:p>
          </p:txBody>
        </p:sp>
        <p:sp>
          <p:nvSpPr>
            <p:cNvPr id="34" name="Rectangle 7"/>
            <p:cNvSpPr>
              <a:spLocks noChangeArrowheads="1"/>
            </p:cNvSpPr>
            <p:nvPr/>
          </p:nvSpPr>
          <p:spPr bwMode="auto">
            <a:xfrm>
              <a:off x="762000" y="4775200"/>
              <a:ext cx="319088" cy="279400"/>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
                  <a:schemeClr val="accent1"/>
                </a:buClr>
                <a:buSzPct val="80000"/>
              </a:pPr>
              <a:r>
                <a:rPr lang="en-US" altLang="de-DE">
                  <a:solidFill>
                    <a:schemeClr val="bg1"/>
                  </a:solidFill>
                  <a:ea typeface="Arial Unicode MS" panose="020B0604020202020204" pitchFamily="34" charset="-128"/>
                  <a:cs typeface="Arial Unicode MS" panose="020B0604020202020204" pitchFamily="34" charset="-128"/>
                </a:rPr>
                <a:t>IT</a:t>
              </a:r>
            </a:p>
          </p:txBody>
        </p:sp>
        <p:sp>
          <p:nvSpPr>
            <p:cNvPr id="35" name="Rectangle 7"/>
            <p:cNvSpPr>
              <a:spLocks noChangeArrowheads="1"/>
            </p:cNvSpPr>
            <p:nvPr/>
          </p:nvSpPr>
          <p:spPr bwMode="auto">
            <a:xfrm>
              <a:off x="755650" y="5135563"/>
              <a:ext cx="447675" cy="287337"/>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
                  <a:schemeClr val="accent1"/>
                </a:buClr>
                <a:buSzPct val="80000"/>
              </a:pPr>
              <a:r>
                <a:rPr lang="en-US" altLang="de-DE">
                  <a:solidFill>
                    <a:schemeClr val="bg1"/>
                  </a:solidFill>
                  <a:ea typeface="Arial Unicode MS" panose="020B0604020202020204" pitchFamily="34" charset="-128"/>
                  <a:cs typeface="Arial Unicode MS" panose="020B0604020202020204" pitchFamily="34" charset="-128"/>
                </a:rPr>
                <a:t>MM</a:t>
              </a:r>
            </a:p>
          </p:txBody>
        </p:sp>
        <p:sp>
          <p:nvSpPr>
            <p:cNvPr id="36" name="Rectangle 7"/>
            <p:cNvSpPr>
              <a:spLocks noChangeArrowheads="1"/>
            </p:cNvSpPr>
            <p:nvPr/>
          </p:nvSpPr>
          <p:spPr bwMode="auto">
            <a:xfrm>
              <a:off x="755650" y="5854700"/>
              <a:ext cx="995363" cy="279400"/>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
                  <a:schemeClr val="accent1"/>
                </a:buClr>
                <a:buSzPct val="80000"/>
              </a:pPr>
              <a:r>
                <a:rPr lang="en-US" altLang="de-DE">
                  <a:solidFill>
                    <a:schemeClr val="bg1"/>
                  </a:solidFill>
                  <a:ea typeface="Arial Unicode MS" panose="020B0604020202020204" pitchFamily="34" charset="-128"/>
                  <a:cs typeface="Arial Unicode MS" panose="020B0604020202020204" pitchFamily="34" charset="-128"/>
                </a:rPr>
                <a:t>Production</a:t>
              </a:r>
            </a:p>
          </p:txBody>
        </p:sp>
        <p:sp>
          <p:nvSpPr>
            <p:cNvPr id="37" name="Rectangle 7"/>
            <p:cNvSpPr>
              <a:spLocks noChangeArrowheads="1"/>
            </p:cNvSpPr>
            <p:nvPr/>
          </p:nvSpPr>
          <p:spPr bwMode="auto">
            <a:xfrm>
              <a:off x="755650" y="5495925"/>
              <a:ext cx="1020763" cy="277813"/>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
                  <a:schemeClr val="accent1"/>
                </a:buClr>
                <a:buSzPct val="80000"/>
              </a:pPr>
              <a:r>
                <a:rPr lang="en-US" altLang="de-DE">
                  <a:solidFill>
                    <a:schemeClr val="bg1"/>
                  </a:solidFill>
                  <a:ea typeface="Arial Unicode MS" panose="020B0604020202020204" pitchFamily="34" charset="-128"/>
                  <a:cs typeface="Arial Unicode MS" panose="020B0604020202020204" pitchFamily="34" charset="-128"/>
                </a:rPr>
                <a:t>Purchasing</a:t>
              </a:r>
            </a:p>
          </p:txBody>
        </p:sp>
        <p:sp>
          <p:nvSpPr>
            <p:cNvPr id="38" name="Line 10"/>
            <p:cNvSpPr>
              <a:spLocks noChangeShapeType="1"/>
            </p:cNvSpPr>
            <p:nvPr/>
          </p:nvSpPr>
          <p:spPr bwMode="white">
            <a:xfrm>
              <a:off x="684213" y="3859213"/>
              <a:ext cx="714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39" name="Line 10"/>
            <p:cNvSpPr>
              <a:spLocks noChangeShapeType="1"/>
            </p:cNvSpPr>
            <p:nvPr/>
          </p:nvSpPr>
          <p:spPr bwMode="white">
            <a:xfrm>
              <a:off x="684213" y="4219575"/>
              <a:ext cx="714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40" name="Line 10"/>
            <p:cNvSpPr>
              <a:spLocks noChangeShapeType="1"/>
            </p:cNvSpPr>
            <p:nvPr/>
          </p:nvSpPr>
          <p:spPr bwMode="white">
            <a:xfrm>
              <a:off x="684213" y="4579938"/>
              <a:ext cx="714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41" name="Line 10"/>
            <p:cNvSpPr>
              <a:spLocks noChangeShapeType="1"/>
            </p:cNvSpPr>
            <p:nvPr/>
          </p:nvSpPr>
          <p:spPr bwMode="white">
            <a:xfrm>
              <a:off x="682625" y="4941888"/>
              <a:ext cx="714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42" name="Line 10"/>
            <p:cNvSpPr>
              <a:spLocks noChangeShapeType="1"/>
            </p:cNvSpPr>
            <p:nvPr/>
          </p:nvSpPr>
          <p:spPr bwMode="white">
            <a:xfrm>
              <a:off x="682625" y="5300663"/>
              <a:ext cx="714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43" name="Line 10"/>
            <p:cNvSpPr>
              <a:spLocks noChangeShapeType="1"/>
            </p:cNvSpPr>
            <p:nvPr/>
          </p:nvSpPr>
          <p:spPr bwMode="white">
            <a:xfrm>
              <a:off x="682625" y="5661025"/>
              <a:ext cx="714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44" name="Line 10"/>
            <p:cNvSpPr>
              <a:spLocks noChangeShapeType="1"/>
            </p:cNvSpPr>
            <p:nvPr/>
          </p:nvSpPr>
          <p:spPr bwMode="white">
            <a:xfrm>
              <a:off x="684213" y="6021388"/>
              <a:ext cx="714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45" name="Rectangle 7"/>
            <p:cNvSpPr>
              <a:spLocks noChangeArrowheads="1"/>
            </p:cNvSpPr>
            <p:nvPr/>
          </p:nvSpPr>
          <p:spPr bwMode="auto">
            <a:xfrm>
              <a:off x="1979613" y="3716338"/>
              <a:ext cx="590550" cy="287337"/>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
                  <a:schemeClr val="accent1"/>
                </a:buClr>
                <a:buSzPct val="80000"/>
              </a:pPr>
              <a:r>
                <a:rPr lang="en-US" altLang="de-DE">
                  <a:solidFill>
                    <a:schemeClr val="bg1"/>
                  </a:solidFill>
                  <a:ea typeface="Arial Unicode MS" panose="020B0604020202020204" pitchFamily="34" charset="-128"/>
                  <a:cs typeface="Arial Unicode MS" panose="020B0604020202020204" pitchFamily="34" charset="-128"/>
                </a:rPr>
                <a:t>Sales</a:t>
              </a:r>
            </a:p>
          </p:txBody>
        </p:sp>
        <p:sp>
          <p:nvSpPr>
            <p:cNvPr id="46" name="Rectangle 7"/>
            <p:cNvSpPr>
              <a:spLocks noChangeArrowheads="1"/>
            </p:cNvSpPr>
            <p:nvPr/>
          </p:nvSpPr>
          <p:spPr bwMode="auto">
            <a:xfrm>
              <a:off x="3203575" y="3716338"/>
              <a:ext cx="590550" cy="287337"/>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
                  <a:schemeClr val="accent1"/>
                </a:buClr>
                <a:buSzPct val="80000"/>
              </a:pPr>
              <a:r>
                <a:rPr lang="en-US" altLang="de-DE">
                  <a:solidFill>
                    <a:schemeClr val="bg1"/>
                  </a:solidFill>
                  <a:ea typeface="Arial Unicode MS" panose="020B0604020202020204" pitchFamily="34" charset="-128"/>
                  <a:cs typeface="Arial Unicode MS" panose="020B0604020202020204" pitchFamily="34" charset="-128"/>
                </a:rPr>
                <a:t>Sales</a:t>
              </a:r>
            </a:p>
          </p:txBody>
        </p:sp>
        <p:sp>
          <p:nvSpPr>
            <p:cNvPr id="47" name="Rectangle 7"/>
            <p:cNvSpPr>
              <a:spLocks noChangeArrowheads="1"/>
            </p:cNvSpPr>
            <p:nvPr/>
          </p:nvSpPr>
          <p:spPr bwMode="auto">
            <a:xfrm>
              <a:off x="1979613" y="4149725"/>
              <a:ext cx="1023937" cy="287338"/>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
                  <a:schemeClr val="accent1"/>
                </a:buClr>
                <a:buSzPct val="80000"/>
              </a:pPr>
              <a:r>
                <a:rPr lang="en-US" altLang="de-DE">
                  <a:solidFill>
                    <a:schemeClr val="bg1"/>
                  </a:solidFill>
                  <a:ea typeface="Arial Unicode MS" panose="020B0604020202020204" pitchFamily="34" charset="-128"/>
                  <a:cs typeface="Arial Unicode MS" panose="020B0604020202020204" pitchFamily="34" charset="-128"/>
                </a:rPr>
                <a:t>Purchasing</a:t>
              </a:r>
            </a:p>
          </p:txBody>
        </p:sp>
        <p:sp>
          <p:nvSpPr>
            <p:cNvPr id="48" name="Rectangle 7"/>
            <p:cNvSpPr>
              <a:spLocks noChangeArrowheads="1"/>
            </p:cNvSpPr>
            <p:nvPr/>
          </p:nvSpPr>
          <p:spPr bwMode="auto">
            <a:xfrm>
              <a:off x="1979613" y="4581525"/>
              <a:ext cx="447675" cy="287338"/>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
                  <a:schemeClr val="accent1"/>
                </a:buClr>
                <a:buSzPct val="80000"/>
              </a:pPr>
              <a:r>
                <a:rPr lang="en-US" altLang="de-DE">
                  <a:solidFill>
                    <a:schemeClr val="bg1"/>
                  </a:solidFill>
                  <a:ea typeface="Arial Unicode MS" panose="020B0604020202020204" pitchFamily="34" charset="-128"/>
                  <a:cs typeface="Arial Unicode MS" panose="020B0604020202020204" pitchFamily="34" charset="-128"/>
                </a:rPr>
                <a:t>MM</a:t>
              </a:r>
            </a:p>
          </p:txBody>
        </p:sp>
        <p:sp>
          <p:nvSpPr>
            <p:cNvPr id="49" name="Rectangle 7"/>
            <p:cNvSpPr>
              <a:spLocks noChangeArrowheads="1"/>
            </p:cNvSpPr>
            <p:nvPr/>
          </p:nvSpPr>
          <p:spPr bwMode="auto">
            <a:xfrm>
              <a:off x="3203575" y="4221163"/>
              <a:ext cx="447675" cy="287337"/>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
                  <a:schemeClr val="accent1"/>
                </a:buClr>
                <a:buSzPct val="80000"/>
              </a:pPr>
              <a:r>
                <a:rPr lang="en-US" altLang="de-DE">
                  <a:solidFill>
                    <a:schemeClr val="bg1"/>
                  </a:solidFill>
                  <a:ea typeface="Arial Unicode MS" panose="020B0604020202020204" pitchFamily="34" charset="-128"/>
                  <a:cs typeface="Arial Unicode MS" panose="020B0604020202020204" pitchFamily="34" charset="-128"/>
                </a:rPr>
                <a:t>MM</a:t>
              </a:r>
            </a:p>
          </p:txBody>
        </p:sp>
        <p:sp>
          <p:nvSpPr>
            <p:cNvPr id="50" name="Line 10"/>
            <p:cNvSpPr>
              <a:spLocks noChangeShapeType="1"/>
            </p:cNvSpPr>
            <p:nvPr/>
          </p:nvSpPr>
          <p:spPr bwMode="white">
            <a:xfrm>
              <a:off x="1908175" y="4724400"/>
              <a:ext cx="714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51" name="Line 10"/>
            <p:cNvSpPr>
              <a:spLocks noChangeShapeType="1"/>
            </p:cNvSpPr>
            <p:nvPr/>
          </p:nvSpPr>
          <p:spPr bwMode="white">
            <a:xfrm>
              <a:off x="1908175" y="4292600"/>
              <a:ext cx="714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52" name="Line 10"/>
            <p:cNvSpPr>
              <a:spLocks noChangeShapeType="1"/>
            </p:cNvSpPr>
            <p:nvPr/>
          </p:nvSpPr>
          <p:spPr bwMode="white">
            <a:xfrm>
              <a:off x="1908175" y="3860800"/>
              <a:ext cx="714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53" name="Line 10"/>
            <p:cNvSpPr>
              <a:spLocks noChangeShapeType="1"/>
            </p:cNvSpPr>
            <p:nvPr/>
          </p:nvSpPr>
          <p:spPr bwMode="white">
            <a:xfrm>
              <a:off x="3132138" y="3860800"/>
              <a:ext cx="714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54" name="Line 10"/>
            <p:cNvSpPr>
              <a:spLocks noChangeShapeType="1"/>
            </p:cNvSpPr>
            <p:nvPr/>
          </p:nvSpPr>
          <p:spPr bwMode="white">
            <a:xfrm>
              <a:off x="3132138" y="4365625"/>
              <a:ext cx="714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55" name="Rectangle 8"/>
            <p:cNvSpPr>
              <a:spLocks noChangeArrowheads="1"/>
            </p:cNvSpPr>
            <p:nvPr/>
          </p:nvSpPr>
          <p:spPr bwMode="auto">
            <a:xfrm>
              <a:off x="4643438" y="3119438"/>
              <a:ext cx="1338262" cy="309562"/>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
                  <a:schemeClr val="accent1"/>
                </a:buClr>
                <a:buSzPct val="80000"/>
              </a:pPr>
              <a:r>
                <a:rPr lang="de-DE" altLang="de-DE" sz="1400" dirty="0">
                  <a:solidFill>
                    <a:schemeClr val="bg1"/>
                  </a:solidFill>
                  <a:ea typeface="Arial Unicode MS" panose="020B0604020202020204" pitchFamily="34" charset="-128"/>
                  <a:cs typeface="Arial Unicode MS" panose="020B0604020202020204" pitchFamily="34" charset="-128"/>
                </a:rPr>
                <a:t>GBI Hamburg</a:t>
              </a:r>
            </a:p>
          </p:txBody>
        </p:sp>
        <p:sp>
          <p:nvSpPr>
            <p:cNvPr id="56" name="Rectangle 8"/>
            <p:cNvSpPr>
              <a:spLocks noChangeArrowheads="1"/>
            </p:cNvSpPr>
            <p:nvPr/>
          </p:nvSpPr>
          <p:spPr bwMode="auto">
            <a:xfrm>
              <a:off x="6156325" y="3119438"/>
              <a:ext cx="1474788" cy="309562"/>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
                  <a:schemeClr val="accent1"/>
                </a:buClr>
                <a:buSzPct val="80000"/>
              </a:pPr>
              <a:r>
                <a:rPr lang="de-DE" altLang="de-DE" sz="1400" dirty="0">
                  <a:solidFill>
                    <a:schemeClr val="bg1"/>
                  </a:solidFill>
                  <a:ea typeface="Arial Unicode MS" panose="020B0604020202020204" pitchFamily="34" charset="-128"/>
                  <a:cs typeface="Arial Unicode MS" panose="020B0604020202020204" pitchFamily="34" charset="-128"/>
                </a:rPr>
                <a:t>GBI Heidelberg</a:t>
              </a:r>
            </a:p>
          </p:txBody>
        </p:sp>
        <p:sp>
          <p:nvSpPr>
            <p:cNvPr id="57" name="Rectangle 7"/>
            <p:cNvSpPr>
              <a:spLocks noChangeArrowheads="1"/>
            </p:cNvSpPr>
            <p:nvPr/>
          </p:nvSpPr>
          <p:spPr bwMode="auto">
            <a:xfrm>
              <a:off x="6300788" y="4005263"/>
              <a:ext cx="769937" cy="287337"/>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
                  <a:schemeClr val="accent1"/>
                </a:buClr>
                <a:buSzPct val="80000"/>
              </a:pPr>
              <a:r>
                <a:rPr lang="en-US" altLang="de-DE">
                  <a:solidFill>
                    <a:schemeClr val="bg1"/>
                  </a:solidFill>
                  <a:ea typeface="Arial Unicode MS" panose="020B0604020202020204" pitchFamily="34" charset="-128"/>
                  <a:cs typeface="Arial Unicode MS" panose="020B0604020202020204" pitchFamily="34" charset="-128"/>
                </a:rPr>
                <a:t>Finance</a:t>
              </a:r>
            </a:p>
          </p:txBody>
        </p:sp>
        <p:sp>
          <p:nvSpPr>
            <p:cNvPr id="58" name="Rectangle 7"/>
            <p:cNvSpPr>
              <a:spLocks noChangeArrowheads="1"/>
            </p:cNvSpPr>
            <p:nvPr/>
          </p:nvSpPr>
          <p:spPr bwMode="auto">
            <a:xfrm>
              <a:off x="6302375" y="3644900"/>
              <a:ext cx="987425" cy="287338"/>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
                  <a:schemeClr val="accent1"/>
                </a:buClr>
                <a:buSzPct val="80000"/>
              </a:pPr>
              <a:r>
                <a:rPr lang="en-US" altLang="de-DE">
                  <a:solidFill>
                    <a:schemeClr val="bg1"/>
                  </a:solidFill>
                  <a:ea typeface="Arial Unicode MS" panose="020B0604020202020204" pitchFamily="34" charset="-128"/>
                  <a:cs typeface="Arial Unicode MS" panose="020B0604020202020204" pitchFamily="34" charset="-128"/>
                </a:rPr>
                <a:t>Executives</a:t>
              </a:r>
            </a:p>
          </p:txBody>
        </p:sp>
        <p:sp>
          <p:nvSpPr>
            <p:cNvPr id="59" name="Rectangle 7"/>
            <p:cNvSpPr>
              <a:spLocks noChangeArrowheads="1"/>
            </p:cNvSpPr>
            <p:nvPr/>
          </p:nvSpPr>
          <p:spPr bwMode="auto">
            <a:xfrm>
              <a:off x="4787900" y="3644900"/>
              <a:ext cx="590550" cy="287338"/>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
                  <a:schemeClr val="accent1"/>
                </a:buClr>
                <a:buSzPct val="80000"/>
              </a:pPr>
              <a:r>
                <a:rPr lang="en-US" altLang="de-DE">
                  <a:solidFill>
                    <a:schemeClr val="bg1"/>
                  </a:solidFill>
                  <a:ea typeface="Arial Unicode MS" panose="020B0604020202020204" pitchFamily="34" charset="-128"/>
                  <a:cs typeface="Arial Unicode MS" panose="020B0604020202020204" pitchFamily="34" charset="-128"/>
                </a:rPr>
                <a:t>Sales</a:t>
              </a:r>
            </a:p>
          </p:txBody>
        </p:sp>
        <p:sp>
          <p:nvSpPr>
            <p:cNvPr id="60" name="Rectangle 7"/>
            <p:cNvSpPr>
              <a:spLocks noChangeArrowheads="1"/>
            </p:cNvSpPr>
            <p:nvPr/>
          </p:nvSpPr>
          <p:spPr bwMode="auto">
            <a:xfrm>
              <a:off x="6315075" y="4797425"/>
              <a:ext cx="447675" cy="287338"/>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
                  <a:schemeClr val="accent1"/>
                </a:buClr>
                <a:buSzPct val="80000"/>
              </a:pPr>
              <a:r>
                <a:rPr lang="en-US" altLang="de-DE">
                  <a:solidFill>
                    <a:schemeClr val="bg1"/>
                  </a:solidFill>
                  <a:ea typeface="Arial Unicode MS" panose="020B0604020202020204" pitchFamily="34" charset="-128"/>
                  <a:cs typeface="Arial Unicode MS" panose="020B0604020202020204" pitchFamily="34" charset="-128"/>
                </a:rPr>
                <a:t>MM</a:t>
              </a:r>
            </a:p>
          </p:txBody>
        </p:sp>
        <p:sp>
          <p:nvSpPr>
            <p:cNvPr id="61" name="Rectangle 7"/>
            <p:cNvSpPr>
              <a:spLocks noChangeArrowheads="1"/>
            </p:cNvSpPr>
            <p:nvPr/>
          </p:nvSpPr>
          <p:spPr bwMode="auto">
            <a:xfrm>
              <a:off x="6302375" y="5516563"/>
              <a:ext cx="1000125" cy="287337"/>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
                  <a:schemeClr val="accent1"/>
                </a:buClr>
                <a:buSzPct val="80000"/>
              </a:pPr>
              <a:r>
                <a:rPr lang="en-US" altLang="de-DE">
                  <a:solidFill>
                    <a:schemeClr val="bg1"/>
                  </a:solidFill>
                  <a:ea typeface="Arial Unicode MS" panose="020B0604020202020204" pitchFamily="34" charset="-128"/>
                  <a:cs typeface="Arial Unicode MS" panose="020B0604020202020204" pitchFamily="34" charset="-128"/>
                </a:rPr>
                <a:t>Production</a:t>
              </a:r>
            </a:p>
          </p:txBody>
        </p:sp>
        <p:sp>
          <p:nvSpPr>
            <p:cNvPr id="62" name="Rectangle 7"/>
            <p:cNvSpPr>
              <a:spLocks noChangeArrowheads="1"/>
            </p:cNvSpPr>
            <p:nvPr/>
          </p:nvSpPr>
          <p:spPr bwMode="auto">
            <a:xfrm>
              <a:off x="6302375" y="5157788"/>
              <a:ext cx="1023938" cy="287337"/>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
                  <a:schemeClr val="accent1"/>
                </a:buClr>
                <a:buSzPct val="80000"/>
              </a:pPr>
              <a:r>
                <a:rPr lang="en-US" altLang="de-DE">
                  <a:solidFill>
                    <a:schemeClr val="bg1"/>
                  </a:solidFill>
                  <a:ea typeface="Arial Unicode MS" panose="020B0604020202020204" pitchFamily="34" charset="-128"/>
                  <a:cs typeface="Arial Unicode MS" panose="020B0604020202020204" pitchFamily="34" charset="-128"/>
                </a:rPr>
                <a:t>Purchasing</a:t>
              </a:r>
            </a:p>
          </p:txBody>
        </p:sp>
        <p:sp>
          <p:nvSpPr>
            <p:cNvPr id="63" name="Line 10"/>
            <p:cNvSpPr>
              <a:spLocks noChangeShapeType="1"/>
            </p:cNvSpPr>
            <p:nvPr/>
          </p:nvSpPr>
          <p:spPr bwMode="white">
            <a:xfrm>
              <a:off x="6227763" y="3789363"/>
              <a:ext cx="714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64" name="Line 10"/>
            <p:cNvSpPr>
              <a:spLocks noChangeShapeType="1"/>
            </p:cNvSpPr>
            <p:nvPr/>
          </p:nvSpPr>
          <p:spPr bwMode="white">
            <a:xfrm>
              <a:off x="6227763" y="4149725"/>
              <a:ext cx="714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65" name="Line 10"/>
            <p:cNvSpPr>
              <a:spLocks noChangeShapeType="1"/>
            </p:cNvSpPr>
            <p:nvPr/>
          </p:nvSpPr>
          <p:spPr bwMode="white">
            <a:xfrm>
              <a:off x="6227763" y="5661025"/>
              <a:ext cx="714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66" name="Rectangle 7"/>
            <p:cNvSpPr>
              <a:spLocks noChangeArrowheads="1"/>
            </p:cNvSpPr>
            <p:nvPr/>
          </p:nvSpPr>
          <p:spPr bwMode="auto">
            <a:xfrm>
              <a:off x="4787900" y="4508500"/>
              <a:ext cx="447675" cy="287338"/>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
                  <a:schemeClr val="accent1"/>
                </a:buClr>
                <a:buSzPct val="80000"/>
              </a:pPr>
              <a:r>
                <a:rPr lang="en-US" altLang="de-DE">
                  <a:solidFill>
                    <a:schemeClr val="bg1"/>
                  </a:solidFill>
                  <a:ea typeface="Arial Unicode MS" panose="020B0604020202020204" pitchFamily="34" charset="-128"/>
                  <a:cs typeface="Arial Unicode MS" panose="020B0604020202020204" pitchFamily="34" charset="-128"/>
                </a:rPr>
                <a:t>MM</a:t>
              </a:r>
            </a:p>
          </p:txBody>
        </p:sp>
        <p:sp>
          <p:nvSpPr>
            <p:cNvPr id="67" name="Rectangle 7"/>
            <p:cNvSpPr>
              <a:spLocks noChangeArrowheads="1"/>
            </p:cNvSpPr>
            <p:nvPr/>
          </p:nvSpPr>
          <p:spPr bwMode="auto">
            <a:xfrm>
              <a:off x="4772025" y="4076700"/>
              <a:ext cx="1023938" cy="287338"/>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
                  <a:schemeClr val="accent1"/>
                </a:buClr>
                <a:buSzPct val="80000"/>
              </a:pPr>
              <a:r>
                <a:rPr lang="en-US" altLang="de-DE">
                  <a:solidFill>
                    <a:schemeClr val="bg1"/>
                  </a:solidFill>
                  <a:ea typeface="Arial Unicode MS" panose="020B0604020202020204" pitchFamily="34" charset="-128"/>
                  <a:cs typeface="Arial Unicode MS" panose="020B0604020202020204" pitchFamily="34" charset="-128"/>
                </a:rPr>
                <a:t>Purchasing</a:t>
              </a:r>
            </a:p>
          </p:txBody>
        </p:sp>
        <p:sp>
          <p:nvSpPr>
            <p:cNvPr id="68" name="Line 10"/>
            <p:cNvSpPr>
              <a:spLocks noChangeShapeType="1"/>
            </p:cNvSpPr>
            <p:nvPr/>
          </p:nvSpPr>
          <p:spPr bwMode="white">
            <a:xfrm>
              <a:off x="4716463" y="4652963"/>
              <a:ext cx="714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69" name="Line 10"/>
            <p:cNvSpPr>
              <a:spLocks noChangeShapeType="1"/>
            </p:cNvSpPr>
            <p:nvPr/>
          </p:nvSpPr>
          <p:spPr bwMode="white">
            <a:xfrm>
              <a:off x="4716463" y="3789363"/>
              <a:ext cx="714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70" name="Rectangle 7"/>
            <p:cNvSpPr>
              <a:spLocks noChangeArrowheads="1"/>
            </p:cNvSpPr>
            <p:nvPr/>
          </p:nvSpPr>
          <p:spPr bwMode="auto">
            <a:xfrm>
              <a:off x="6313488" y="4437063"/>
              <a:ext cx="412750" cy="287337"/>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
                  <a:schemeClr val="accent1"/>
                </a:buClr>
                <a:buSzPct val="80000"/>
              </a:pPr>
              <a:r>
                <a:rPr lang="en-US" altLang="de-DE">
                  <a:solidFill>
                    <a:schemeClr val="bg1"/>
                  </a:solidFill>
                  <a:ea typeface="Arial Unicode MS" panose="020B0604020202020204" pitchFamily="34" charset="-128"/>
                  <a:cs typeface="Arial Unicode MS" panose="020B0604020202020204" pitchFamily="34" charset="-128"/>
                </a:rPr>
                <a:t>HR</a:t>
              </a:r>
            </a:p>
          </p:txBody>
        </p:sp>
        <p:sp>
          <p:nvSpPr>
            <p:cNvPr id="71" name="Line 31"/>
            <p:cNvSpPr>
              <a:spLocks noChangeShapeType="1"/>
            </p:cNvSpPr>
            <p:nvPr/>
          </p:nvSpPr>
          <p:spPr bwMode="auto">
            <a:xfrm>
              <a:off x="2389188" y="1989138"/>
              <a:ext cx="3767137" cy="0"/>
            </a:xfrm>
            <a:prstGeom prst="line">
              <a:avLst/>
            </a:prstGeom>
            <a:noFill/>
            <a:ln w="12700" algn="ctr">
              <a:solidFill>
                <a:schemeClr val="tx1"/>
              </a:solidFill>
              <a:miter lim="800000"/>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de-DE"/>
            </a:p>
          </p:txBody>
        </p:sp>
        <p:sp>
          <p:nvSpPr>
            <p:cNvPr id="72" name="Line 10"/>
            <p:cNvSpPr>
              <a:spLocks noChangeShapeType="1"/>
            </p:cNvSpPr>
            <p:nvPr/>
          </p:nvSpPr>
          <p:spPr bwMode="white">
            <a:xfrm>
              <a:off x="6227763" y="5300663"/>
              <a:ext cx="714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73" name="Line 10"/>
            <p:cNvSpPr>
              <a:spLocks noChangeShapeType="1"/>
            </p:cNvSpPr>
            <p:nvPr/>
          </p:nvSpPr>
          <p:spPr bwMode="white">
            <a:xfrm>
              <a:off x="6227763" y="4941888"/>
              <a:ext cx="714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74" name="Line 10"/>
            <p:cNvSpPr>
              <a:spLocks noChangeShapeType="1"/>
            </p:cNvSpPr>
            <p:nvPr/>
          </p:nvSpPr>
          <p:spPr bwMode="white">
            <a:xfrm>
              <a:off x="6227763" y="4581525"/>
              <a:ext cx="714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75" name="Line 8"/>
            <p:cNvSpPr>
              <a:spLocks noChangeShapeType="1"/>
            </p:cNvSpPr>
            <p:nvPr/>
          </p:nvSpPr>
          <p:spPr bwMode="white">
            <a:xfrm>
              <a:off x="6156325" y="2708275"/>
              <a:ext cx="0" cy="215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76" name="Line 31"/>
            <p:cNvSpPr>
              <a:spLocks noChangeShapeType="1"/>
            </p:cNvSpPr>
            <p:nvPr/>
          </p:nvSpPr>
          <p:spPr bwMode="auto">
            <a:xfrm>
              <a:off x="5292725" y="2924175"/>
              <a:ext cx="1511300" cy="0"/>
            </a:xfrm>
            <a:prstGeom prst="line">
              <a:avLst/>
            </a:prstGeom>
            <a:noFill/>
            <a:ln w="12700" algn="ctr">
              <a:solidFill>
                <a:schemeClr val="tx1"/>
              </a:solidFill>
              <a:miter lim="800000"/>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de-DE"/>
            </a:p>
          </p:txBody>
        </p:sp>
      </p:grpSp>
    </p:spTree>
    <p:extLst>
      <p:ext uri="{BB962C8B-B14F-4D97-AF65-F5344CB8AC3E}">
        <p14:creationId xmlns:p14="http://schemas.microsoft.com/office/powerpoint/2010/main" val="3732298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en-US" altLang="de-DE" b="1" dirty="0"/>
              <a:t>Personnel Structure</a:t>
            </a:r>
          </a:p>
          <a:p>
            <a:pPr lvl="1"/>
            <a:r>
              <a:rPr lang="en-US" altLang="de-DE" dirty="0"/>
              <a:t>Describes an employee’s position within the company</a:t>
            </a:r>
          </a:p>
          <a:p>
            <a:pPr lvl="1"/>
            <a:r>
              <a:rPr lang="en-US" altLang="de-DE" dirty="0"/>
              <a:t>Is defined by employee group and employee subgroup</a:t>
            </a:r>
          </a:p>
          <a:p>
            <a:pPr lvl="1"/>
            <a:endParaRPr lang="en-US" altLang="de-DE" dirty="0"/>
          </a:p>
          <a:p>
            <a:pPr lvl="1"/>
            <a:r>
              <a:rPr lang="en-US" altLang="de-DE" dirty="0"/>
              <a:t>Employee Group </a:t>
            </a:r>
          </a:p>
          <a:p>
            <a:pPr lvl="2"/>
            <a:r>
              <a:rPr lang="en-US" altLang="de-DE" dirty="0"/>
              <a:t>Organizational unit for which personnel related regulations can be specified</a:t>
            </a:r>
          </a:p>
          <a:p>
            <a:pPr lvl="2"/>
            <a:r>
              <a:rPr lang="en-US" altLang="de-DE" dirty="0"/>
              <a:t>Examples: </a:t>
            </a:r>
          </a:p>
          <a:p>
            <a:pPr lvl="3"/>
            <a:r>
              <a:rPr lang="en-US" altLang="de-DE" dirty="0"/>
              <a:t>Active employees</a:t>
            </a:r>
          </a:p>
          <a:p>
            <a:pPr lvl="3"/>
            <a:r>
              <a:rPr lang="en-US" altLang="de-DE" dirty="0"/>
              <a:t>External </a:t>
            </a:r>
          </a:p>
          <a:p>
            <a:pPr lvl="3"/>
            <a:r>
              <a:rPr lang="en-US" altLang="de-DE" dirty="0"/>
              <a:t>Retirees</a:t>
            </a:r>
          </a:p>
          <a:p>
            <a:pPr lvl="3"/>
            <a:endParaRPr lang="en-US" altLang="de-DE" dirty="0"/>
          </a:p>
          <a:p>
            <a:pPr lvl="1"/>
            <a:r>
              <a:rPr lang="en-US" altLang="de-DE" dirty="0"/>
              <a:t>Employee Subgroup</a:t>
            </a:r>
          </a:p>
          <a:p>
            <a:pPr lvl="2"/>
            <a:r>
              <a:rPr lang="en-US" altLang="de-DE" dirty="0"/>
              <a:t>Organizational unit within the employee group, for which personnel related regulations are specified</a:t>
            </a:r>
          </a:p>
          <a:p>
            <a:pPr lvl="2"/>
            <a:r>
              <a:rPr lang="en-US" altLang="de-DE" dirty="0"/>
              <a:t>Examples: </a:t>
            </a:r>
          </a:p>
          <a:p>
            <a:pPr lvl="3"/>
            <a:r>
              <a:rPr lang="en-US" altLang="de-DE" dirty="0"/>
              <a:t>Industrial employees</a:t>
            </a:r>
          </a:p>
          <a:p>
            <a:pPr lvl="3"/>
            <a:r>
              <a:rPr lang="en-US" altLang="de-DE" dirty="0"/>
              <a:t>Commercial clerks</a:t>
            </a:r>
          </a:p>
          <a:p>
            <a:pPr lvl="3"/>
            <a:r>
              <a:rPr lang="en-US" altLang="de-DE" dirty="0"/>
              <a:t>Laboratory assistants</a:t>
            </a:r>
          </a:p>
        </p:txBody>
      </p:sp>
      <p:sp>
        <p:nvSpPr>
          <p:cNvPr id="3" name="Titel 2"/>
          <p:cNvSpPr>
            <a:spLocks noGrp="1"/>
          </p:cNvSpPr>
          <p:nvPr>
            <p:ph type="title"/>
          </p:nvPr>
        </p:nvSpPr>
        <p:spPr/>
        <p:txBody>
          <a:bodyPr/>
          <a:lstStyle/>
          <a:p>
            <a:r>
              <a:rPr lang="en-US" altLang="de-DE" dirty="0"/>
              <a:t>HCM Personnel Structure</a:t>
            </a:r>
            <a:endParaRPr lang="de-DE" dirty="0"/>
          </a:p>
        </p:txBody>
      </p:sp>
    </p:spTree>
    <p:extLst>
      <p:ext uri="{BB962C8B-B14F-4D97-AF65-F5344CB8AC3E}">
        <p14:creationId xmlns:p14="http://schemas.microsoft.com/office/powerpoint/2010/main" val="41082003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a:t>HCM Personnel Structure</a:t>
            </a:r>
            <a:endParaRPr lang="de-DE" dirty="0"/>
          </a:p>
        </p:txBody>
      </p:sp>
      <p:grpSp>
        <p:nvGrpSpPr>
          <p:cNvPr id="4" name="Group 34"/>
          <p:cNvGrpSpPr>
            <a:grpSpLocks/>
          </p:cNvGrpSpPr>
          <p:nvPr/>
        </p:nvGrpSpPr>
        <p:grpSpPr bwMode="auto">
          <a:xfrm>
            <a:off x="2167537" y="2659168"/>
            <a:ext cx="7858125" cy="2455863"/>
            <a:chOff x="1219" y="1398"/>
            <a:chExt cx="4950" cy="1547"/>
          </a:xfrm>
        </p:grpSpPr>
        <p:grpSp>
          <p:nvGrpSpPr>
            <p:cNvPr id="5" name="Group 23"/>
            <p:cNvGrpSpPr>
              <a:grpSpLocks/>
            </p:cNvGrpSpPr>
            <p:nvPr/>
          </p:nvGrpSpPr>
          <p:grpSpPr bwMode="auto">
            <a:xfrm>
              <a:off x="2171" y="1398"/>
              <a:ext cx="3647" cy="854"/>
              <a:chOff x="2171" y="1398"/>
              <a:chExt cx="3647" cy="854"/>
            </a:xfrm>
          </p:grpSpPr>
          <p:pic>
            <p:nvPicPr>
              <p:cNvPr id="13" name="Picture 5" descr="j04317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1" y="1398"/>
                <a:ext cx="635" cy="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6" descr="j04308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40" y="1398"/>
                <a:ext cx="475" cy="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8" descr="j04221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33" y="1398"/>
                <a:ext cx="680" cy="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 Box 9"/>
              <p:cNvSpPr txBox="1">
                <a:spLocks noChangeArrowheads="1"/>
              </p:cNvSpPr>
              <p:nvPr/>
            </p:nvSpPr>
            <p:spPr bwMode="auto">
              <a:xfrm>
                <a:off x="3033" y="2079"/>
                <a:ext cx="725" cy="173"/>
              </a:xfrm>
              <a:prstGeom prst="rect">
                <a:avLst/>
              </a:prstGeom>
              <a:noFill/>
              <a:ln w="12700">
                <a:noFill/>
                <a:miter lim="800000"/>
                <a:headEnd/>
                <a:tailEnd/>
              </a:ln>
            </p:spPr>
            <p:txBody>
              <a:bodyPr lIns="0" tIns="0" rIns="0" bIns="0">
                <a:spAutoFit/>
              </a:bodyPr>
              <a:lstStyle/>
              <a:p>
                <a:pPr fontAlgn="auto">
                  <a:spcBef>
                    <a:spcPts val="0"/>
                  </a:spcBef>
                  <a:spcAft>
                    <a:spcPts val="0"/>
                  </a:spcAft>
                  <a:buClrTx/>
                  <a:buFontTx/>
                  <a:buNone/>
                  <a:defRPr/>
                </a:pPr>
                <a:r>
                  <a:rPr lang="de-DE" sz="1800" b="0" kern="0">
                    <a:solidFill>
                      <a:sysClr val="windowText" lastClr="000000"/>
                    </a:solidFill>
                    <a:latin typeface="Arial" charset="0"/>
                  </a:rPr>
                  <a:t>External</a:t>
                </a:r>
              </a:p>
            </p:txBody>
          </p:sp>
          <p:sp>
            <p:nvSpPr>
              <p:cNvPr id="17" name="Text Box 11"/>
              <p:cNvSpPr txBox="1">
                <a:spLocks noChangeArrowheads="1"/>
              </p:cNvSpPr>
              <p:nvPr/>
            </p:nvSpPr>
            <p:spPr bwMode="auto">
              <a:xfrm>
                <a:off x="2171" y="2079"/>
                <a:ext cx="725" cy="173"/>
              </a:xfrm>
              <a:prstGeom prst="rect">
                <a:avLst/>
              </a:prstGeom>
              <a:noFill/>
              <a:ln w="12700">
                <a:noFill/>
                <a:miter lim="800000"/>
                <a:headEnd/>
                <a:tailEnd/>
              </a:ln>
            </p:spPr>
            <p:txBody>
              <a:bodyPr lIns="0" tIns="0" rIns="0" bIns="0">
                <a:spAutoFit/>
              </a:bodyPr>
              <a:lstStyle/>
              <a:p>
                <a:pPr fontAlgn="auto">
                  <a:spcBef>
                    <a:spcPts val="0"/>
                  </a:spcBef>
                  <a:spcAft>
                    <a:spcPts val="0"/>
                  </a:spcAft>
                  <a:buClrTx/>
                  <a:buFontTx/>
                  <a:buNone/>
                  <a:defRPr/>
                </a:pPr>
                <a:r>
                  <a:rPr lang="de-DE" sz="1800" b="0" kern="0">
                    <a:solidFill>
                      <a:sysClr val="windowText" lastClr="000000"/>
                    </a:solidFill>
                    <a:latin typeface="Arial" charset="0"/>
                  </a:rPr>
                  <a:t>Active</a:t>
                </a:r>
              </a:p>
            </p:txBody>
          </p:sp>
          <p:sp>
            <p:nvSpPr>
              <p:cNvPr id="18" name="Text Box 12"/>
              <p:cNvSpPr txBox="1">
                <a:spLocks noChangeArrowheads="1"/>
              </p:cNvSpPr>
              <p:nvPr/>
            </p:nvSpPr>
            <p:spPr bwMode="auto">
              <a:xfrm>
                <a:off x="3941" y="2079"/>
                <a:ext cx="725" cy="173"/>
              </a:xfrm>
              <a:prstGeom prst="rect">
                <a:avLst/>
              </a:prstGeom>
              <a:noFill/>
              <a:ln w="12700">
                <a:noFill/>
                <a:miter lim="800000"/>
                <a:headEnd/>
                <a:tailEnd/>
              </a:ln>
            </p:spPr>
            <p:txBody>
              <a:bodyPr lIns="0" tIns="0" rIns="0" bIns="0">
                <a:spAutoFit/>
              </a:bodyPr>
              <a:lstStyle/>
              <a:p>
                <a:pPr fontAlgn="auto">
                  <a:spcBef>
                    <a:spcPts val="0"/>
                  </a:spcBef>
                  <a:spcAft>
                    <a:spcPts val="0"/>
                  </a:spcAft>
                  <a:buClrTx/>
                  <a:buFontTx/>
                  <a:buNone/>
                  <a:defRPr/>
                </a:pPr>
                <a:r>
                  <a:rPr lang="de-DE" sz="1800" b="0" kern="0">
                    <a:solidFill>
                      <a:sysClr val="windowText" lastClr="000000"/>
                    </a:solidFill>
                    <a:latin typeface="Arial" charset="0"/>
                  </a:rPr>
                  <a:t>Retiree</a:t>
                </a:r>
              </a:p>
            </p:txBody>
          </p:sp>
          <p:sp>
            <p:nvSpPr>
              <p:cNvPr id="19" name="Text Box 14"/>
              <p:cNvSpPr txBox="1">
                <a:spLocks noChangeArrowheads="1"/>
              </p:cNvSpPr>
              <p:nvPr/>
            </p:nvSpPr>
            <p:spPr bwMode="auto">
              <a:xfrm>
                <a:off x="4729" y="1620"/>
                <a:ext cx="1089" cy="173"/>
              </a:xfrm>
              <a:prstGeom prst="rect">
                <a:avLst/>
              </a:prstGeom>
              <a:noFill/>
              <a:ln w="12700">
                <a:noFill/>
                <a:miter lim="800000"/>
                <a:headEnd/>
                <a:tailEnd/>
              </a:ln>
            </p:spPr>
            <p:txBody>
              <a:bodyPr lIns="0" tIns="0" rIns="0" bIns="0">
                <a:spAutoFit/>
              </a:bodyPr>
              <a:lstStyle/>
              <a:p>
                <a:pPr fontAlgn="auto">
                  <a:spcBef>
                    <a:spcPts val="0"/>
                  </a:spcBef>
                  <a:spcAft>
                    <a:spcPts val="0"/>
                  </a:spcAft>
                  <a:buClrTx/>
                  <a:buFontTx/>
                  <a:buNone/>
                  <a:defRPr/>
                </a:pPr>
                <a:r>
                  <a:rPr lang="de-DE" sz="1800" b="0" kern="0">
                    <a:solidFill>
                      <a:sysClr val="windowText" lastClr="000000"/>
                    </a:solidFill>
                    <a:latin typeface="Arial" charset="0"/>
                  </a:rPr>
                  <a:t>Employee Group</a:t>
                </a:r>
              </a:p>
            </p:txBody>
          </p:sp>
        </p:grpSp>
        <p:sp>
          <p:nvSpPr>
            <p:cNvPr id="6" name="Text Box 24"/>
            <p:cNvSpPr txBox="1">
              <a:spLocks noChangeArrowheads="1"/>
            </p:cNvSpPr>
            <p:nvPr/>
          </p:nvSpPr>
          <p:spPr bwMode="auto">
            <a:xfrm>
              <a:off x="1219" y="2759"/>
              <a:ext cx="726" cy="174"/>
            </a:xfrm>
            <a:prstGeom prst="rect">
              <a:avLst/>
            </a:prstGeom>
            <a:noFill/>
            <a:ln w="19050">
              <a:solidFill>
                <a:srgbClr val="969696"/>
              </a:solidFill>
              <a:miter lim="800000"/>
              <a:headEnd/>
              <a:tailEnd/>
            </a:ln>
          </p:spPr>
          <p:txBody>
            <a:bodyPr lIns="0" tIns="0" rIns="0" bIns="0">
              <a:spAutoFit/>
            </a:bodyPr>
            <a:lstStyle/>
            <a:p>
              <a:pPr algn="ctr" fontAlgn="auto">
                <a:spcBef>
                  <a:spcPts val="0"/>
                </a:spcBef>
                <a:spcAft>
                  <a:spcPts val="0"/>
                </a:spcAft>
                <a:buClrTx/>
                <a:buFontTx/>
                <a:buNone/>
                <a:defRPr/>
              </a:pPr>
              <a:r>
                <a:rPr lang="de-DE" sz="1800" b="0" kern="0" dirty="0" err="1">
                  <a:solidFill>
                    <a:sysClr val="windowText" lastClr="000000"/>
                  </a:solidFill>
                  <a:latin typeface="Arial" charset="0"/>
                </a:rPr>
                <a:t>Employee</a:t>
              </a:r>
              <a:endParaRPr lang="de-DE" sz="1800" b="0" kern="0" dirty="0">
                <a:solidFill>
                  <a:sysClr val="windowText" lastClr="000000"/>
                </a:solidFill>
                <a:latin typeface="Arial" charset="0"/>
              </a:endParaRPr>
            </a:p>
          </p:txBody>
        </p:sp>
        <p:sp>
          <p:nvSpPr>
            <p:cNvPr id="7" name="Text Box 25"/>
            <p:cNvSpPr txBox="1">
              <a:spLocks noChangeArrowheads="1"/>
            </p:cNvSpPr>
            <p:nvPr/>
          </p:nvSpPr>
          <p:spPr bwMode="auto">
            <a:xfrm>
              <a:off x="2080" y="2759"/>
              <a:ext cx="817" cy="174"/>
            </a:xfrm>
            <a:prstGeom prst="rect">
              <a:avLst/>
            </a:prstGeom>
            <a:noFill/>
            <a:ln w="19050">
              <a:solidFill>
                <a:srgbClr val="969696"/>
              </a:solidFill>
              <a:miter lim="800000"/>
              <a:headEnd/>
              <a:tailEnd/>
            </a:ln>
          </p:spPr>
          <p:txBody>
            <a:bodyPr lIns="0" tIns="0" rIns="0" bIns="0">
              <a:spAutoFit/>
            </a:bodyPr>
            <a:lstStyle/>
            <a:p>
              <a:pPr algn="ctr" fontAlgn="auto">
                <a:spcBef>
                  <a:spcPts val="0"/>
                </a:spcBef>
                <a:spcAft>
                  <a:spcPts val="0"/>
                </a:spcAft>
                <a:buClrTx/>
                <a:buFontTx/>
                <a:buNone/>
                <a:defRPr/>
              </a:pPr>
              <a:r>
                <a:rPr lang="de-DE" sz="1800" b="0" kern="0" dirty="0">
                  <a:solidFill>
                    <a:sysClr val="windowText" lastClr="000000"/>
                  </a:solidFill>
                  <a:latin typeface="Arial" charset="0"/>
                </a:rPr>
                <a:t>Internal</a:t>
              </a:r>
            </a:p>
          </p:txBody>
        </p:sp>
        <p:sp>
          <p:nvSpPr>
            <p:cNvPr id="8" name="Text Box 26"/>
            <p:cNvSpPr txBox="1">
              <a:spLocks noChangeArrowheads="1"/>
            </p:cNvSpPr>
            <p:nvPr/>
          </p:nvSpPr>
          <p:spPr bwMode="auto">
            <a:xfrm>
              <a:off x="3033" y="2759"/>
              <a:ext cx="1089" cy="174"/>
            </a:xfrm>
            <a:prstGeom prst="rect">
              <a:avLst/>
            </a:prstGeom>
            <a:noFill/>
            <a:ln w="19050">
              <a:solidFill>
                <a:srgbClr val="969696"/>
              </a:solidFill>
              <a:miter lim="800000"/>
              <a:headEnd/>
              <a:tailEnd/>
            </a:ln>
          </p:spPr>
          <p:txBody>
            <a:bodyPr lIns="0" tIns="0" rIns="0" bIns="0">
              <a:spAutoFit/>
            </a:bodyPr>
            <a:lstStyle/>
            <a:p>
              <a:pPr algn="ctr" fontAlgn="auto">
                <a:spcBef>
                  <a:spcPts val="0"/>
                </a:spcBef>
                <a:spcAft>
                  <a:spcPts val="0"/>
                </a:spcAft>
                <a:buClrTx/>
                <a:buFontTx/>
                <a:buNone/>
                <a:defRPr/>
              </a:pPr>
              <a:r>
                <a:rPr lang="de-DE" sz="1800" b="0" kern="0">
                  <a:solidFill>
                    <a:sysClr val="windowText" lastClr="000000"/>
                  </a:solidFill>
                  <a:latin typeface="Arial" charset="0"/>
                </a:rPr>
                <a:t>Trainee</a:t>
              </a:r>
            </a:p>
          </p:txBody>
        </p:sp>
        <p:sp>
          <p:nvSpPr>
            <p:cNvPr id="9" name="Line 27"/>
            <p:cNvSpPr>
              <a:spLocks noChangeShapeType="1"/>
            </p:cNvSpPr>
            <p:nvPr/>
          </p:nvSpPr>
          <p:spPr bwMode="auto">
            <a:xfrm>
              <a:off x="2715" y="2306"/>
              <a:ext cx="364" cy="317"/>
            </a:xfrm>
            <a:prstGeom prst="line">
              <a:avLst/>
            </a:prstGeom>
            <a:noFill/>
            <a:ln w="12700">
              <a:solidFill>
                <a:srgbClr val="000000"/>
              </a:solidFill>
              <a:round/>
              <a:headEnd/>
              <a:tailEnd type="triangle" w="med" len="med"/>
            </a:ln>
          </p:spPr>
          <p:txBody>
            <a:bodyPr wrap="none" lIns="0" tIns="0" rIns="0" bIns="0"/>
            <a:lstStyle/>
            <a:p>
              <a:pPr fontAlgn="auto">
                <a:spcBef>
                  <a:spcPts val="0"/>
                </a:spcBef>
                <a:spcAft>
                  <a:spcPts val="0"/>
                </a:spcAft>
                <a:buClrTx/>
                <a:buFontTx/>
                <a:buNone/>
                <a:defRPr/>
              </a:pPr>
              <a:endParaRPr lang="de-DE" sz="1800" b="0" kern="0">
                <a:solidFill>
                  <a:sysClr val="windowText" lastClr="000000"/>
                </a:solidFill>
                <a:latin typeface="Arial" charset="0"/>
              </a:endParaRPr>
            </a:p>
          </p:txBody>
        </p:sp>
        <p:sp>
          <p:nvSpPr>
            <p:cNvPr id="10" name="Line 28"/>
            <p:cNvSpPr>
              <a:spLocks noChangeShapeType="1"/>
            </p:cNvSpPr>
            <p:nvPr/>
          </p:nvSpPr>
          <p:spPr bwMode="auto">
            <a:xfrm>
              <a:off x="2534" y="2306"/>
              <a:ext cx="0" cy="362"/>
            </a:xfrm>
            <a:prstGeom prst="line">
              <a:avLst/>
            </a:prstGeom>
            <a:noFill/>
            <a:ln w="12700">
              <a:solidFill>
                <a:srgbClr val="000000"/>
              </a:solidFill>
              <a:round/>
              <a:headEnd/>
              <a:tailEnd type="triangle" w="med" len="med"/>
            </a:ln>
          </p:spPr>
          <p:txBody>
            <a:bodyPr wrap="none" lIns="0" tIns="0" rIns="0" bIns="0"/>
            <a:lstStyle/>
            <a:p>
              <a:pPr fontAlgn="auto">
                <a:spcBef>
                  <a:spcPts val="0"/>
                </a:spcBef>
                <a:spcAft>
                  <a:spcPts val="0"/>
                </a:spcAft>
                <a:buClrTx/>
                <a:buFontTx/>
                <a:buNone/>
                <a:defRPr/>
              </a:pPr>
              <a:endParaRPr lang="de-DE" sz="1800" b="0" kern="0">
                <a:solidFill>
                  <a:sysClr val="windowText" lastClr="000000"/>
                </a:solidFill>
                <a:latin typeface="Arial" charset="0"/>
              </a:endParaRPr>
            </a:p>
          </p:txBody>
        </p:sp>
        <p:sp>
          <p:nvSpPr>
            <p:cNvPr id="11" name="Line 29"/>
            <p:cNvSpPr>
              <a:spLocks noChangeShapeType="1"/>
            </p:cNvSpPr>
            <p:nvPr/>
          </p:nvSpPr>
          <p:spPr bwMode="auto">
            <a:xfrm flipH="1">
              <a:off x="1945" y="2306"/>
              <a:ext cx="362" cy="317"/>
            </a:xfrm>
            <a:prstGeom prst="line">
              <a:avLst/>
            </a:prstGeom>
            <a:noFill/>
            <a:ln w="12700">
              <a:solidFill>
                <a:srgbClr val="000000"/>
              </a:solidFill>
              <a:round/>
              <a:headEnd/>
              <a:tailEnd type="triangle" w="med" len="med"/>
            </a:ln>
          </p:spPr>
          <p:txBody>
            <a:bodyPr wrap="none" lIns="0" tIns="0" rIns="0" bIns="0"/>
            <a:lstStyle/>
            <a:p>
              <a:pPr fontAlgn="auto">
                <a:spcBef>
                  <a:spcPts val="0"/>
                </a:spcBef>
                <a:spcAft>
                  <a:spcPts val="0"/>
                </a:spcAft>
                <a:buClrTx/>
                <a:buFontTx/>
                <a:buNone/>
                <a:defRPr/>
              </a:pPr>
              <a:endParaRPr lang="de-DE" sz="1800" b="0" kern="0">
                <a:solidFill>
                  <a:sysClr val="windowText" lastClr="000000"/>
                </a:solidFill>
                <a:latin typeface="Arial" charset="0"/>
              </a:endParaRPr>
            </a:p>
          </p:txBody>
        </p:sp>
        <p:sp>
          <p:nvSpPr>
            <p:cNvPr id="12" name="Text Box 31"/>
            <p:cNvSpPr txBox="1">
              <a:spLocks noChangeArrowheads="1"/>
            </p:cNvSpPr>
            <p:nvPr/>
          </p:nvSpPr>
          <p:spPr bwMode="auto">
            <a:xfrm>
              <a:off x="4764" y="2771"/>
              <a:ext cx="1405" cy="174"/>
            </a:xfrm>
            <a:prstGeom prst="rect">
              <a:avLst/>
            </a:prstGeom>
            <a:noFill/>
            <a:ln w="12700">
              <a:noFill/>
              <a:miter lim="800000"/>
              <a:headEnd/>
              <a:tailEnd/>
            </a:ln>
          </p:spPr>
          <p:txBody>
            <a:bodyPr lIns="0" tIns="0" rIns="0" bIns="0">
              <a:spAutoFit/>
            </a:bodyPr>
            <a:lstStyle/>
            <a:p>
              <a:pPr fontAlgn="auto">
                <a:spcBef>
                  <a:spcPts val="0"/>
                </a:spcBef>
                <a:spcAft>
                  <a:spcPts val="0"/>
                </a:spcAft>
                <a:buClrTx/>
                <a:buFontTx/>
                <a:buNone/>
                <a:defRPr/>
              </a:pPr>
              <a:r>
                <a:rPr lang="de-DE" sz="1800" b="0" kern="0" dirty="0" err="1">
                  <a:solidFill>
                    <a:sysClr val="windowText" lastClr="000000"/>
                  </a:solidFill>
                  <a:latin typeface="Arial" charset="0"/>
                </a:rPr>
                <a:t>Employee</a:t>
              </a:r>
              <a:r>
                <a:rPr lang="de-DE" sz="1800" b="0" kern="0" dirty="0">
                  <a:solidFill>
                    <a:sysClr val="windowText" lastClr="000000"/>
                  </a:solidFill>
                  <a:latin typeface="Arial" charset="0"/>
                </a:rPr>
                <a:t> </a:t>
              </a:r>
              <a:r>
                <a:rPr lang="de-DE" sz="1800" b="0" kern="0" dirty="0" err="1">
                  <a:solidFill>
                    <a:sysClr val="windowText" lastClr="000000"/>
                  </a:solidFill>
                  <a:latin typeface="Arial" charset="0"/>
                </a:rPr>
                <a:t>Subgroup</a:t>
              </a:r>
              <a:endParaRPr lang="de-DE" sz="1800" b="0" kern="0" dirty="0">
                <a:solidFill>
                  <a:sysClr val="windowText" lastClr="000000"/>
                </a:solidFill>
                <a:latin typeface="Arial" charset="0"/>
              </a:endParaRPr>
            </a:p>
          </p:txBody>
        </p:sp>
      </p:grpSp>
    </p:spTree>
    <p:extLst>
      <p:ext uri="{BB962C8B-B14F-4D97-AF65-F5344CB8AC3E}">
        <p14:creationId xmlns:p14="http://schemas.microsoft.com/office/powerpoint/2010/main" val="2949472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de-DE" dirty="0"/>
              <a:t>HCM Personnel Structure</a:t>
            </a:r>
            <a:endParaRPr lang="de-DE" dirty="0"/>
          </a:p>
        </p:txBody>
      </p:sp>
      <p:sp>
        <p:nvSpPr>
          <p:cNvPr id="3" name="Inhaltsplatzhalter 2"/>
          <p:cNvSpPr>
            <a:spLocks noGrp="1"/>
          </p:cNvSpPr>
          <p:nvPr>
            <p:ph idx="1"/>
          </p:nvPr>
        </p:nvSpPr>
        <p:spPr>
          <a:xfrm>
            <a:off x="324000" y="1288797"/>
            <a:ext cx="11545200" cy="4392042"/>
          </a:xfrm>
        </p:spPr>
        <p:txBody>
          <a:bodyPr/>
          <a:lstStyle/>
          <a:p>
            <a:endParaRPr lang="de-DE" b="1" dirty="0" smtClean="0"/>
          </a:p>
          <a:p>
            <a:r>
              <a:rPr lang="de-DE" b="1" dirty="0" err="1" smtClean="0"/>
              <a:t>Payroll</a:t>
            </a:r>
            <a:r>
              <a:rPr lang="de-DE" b="1" dirty="0" smtClean="0"/>
              <a:t> </a:t>
            </a:r>
            <a:r>
              <a:rPr lang="de-DE" b="1" dirty="0" err="1"/>
              <a:t>area</a:t>
            </a:r>
            <a:r>
              <a:rPr lang="de-DE" b="1" dirty="0"/>
              <a:t> </a:t>
            </a:r>
            <a:r>
              <a:rPr lang="de-DE" b="1" dirty="0" smtClean="0"/>
              <a:t> </a:t>
            </a:r>
            <a:endParaRPr lang="de-DE" b="1" dirty="0"/>
          </a:p>
          <a:p>
            <a:pPr lvl="1"/>
            <a:r>
              <a:rPr lang="en-US" dirty="0"/>
              <a:t>Organizational unit in payroll accounting</a:t>
            </a:r>
          </a:p>
          <a:p>
            <a:pPr lvl="1"/>
            <a:r>
              <a:rPr lang="en-US" dirty="0"/>
              <a:t>Comprises all employees who are accounted for at the same time</a:t>
            </a:r>
          </a:p>
          <a:p>
            <a:pPr lvl="1"/>
            <a:r>
              <a:rPr lang="en-US" dirty="0"/>
              <a:t>Payroll accounting is generally run by payroll </a:t>
            </a:r>
            <a:r>
              <a:rPr lang="en-US" dirty="0" smtClean="0"/>
              <a:t>area</a:t>
            </a:r>
          </a:p>
          <a:p>
            <a:pPr marL="201600" lvl="1" indent="0">
              <a:buNone/>
            </a:pPr>
            <a:endParaRPr lang="de-DE" dirty="0"/>
          </a:p>
          <a:p>
            <a:pPr lvl="1"/>
            <a:r>
              <a:rPr lang="en-US" dirty="0"/>
              <a:t>Defines the following parameters</a:t>
            </a:r>
          </a:p>
          <a:p>
            <a:pPr lvl="2"/>
            <a:r>
              <a:rPr lang="en-US" dirty="0"/>
              <a:t>Payroll dates</a:t>
            </a:r>
          </a:p>
          <a:p>
            <a:pPr lvl="2"/>
            <a:r>
              <a:rPr lang="en-US" dirty="0"/>
              <a:t>Lowest retroactive payroll period</a:t>
            </a:r>
          </a:p>
          <a:p>
            <a:pPr lvl="2"/>
            <a:r>
              <a:rPr lang="en-US" dirty="0"/>
              <a:t>Period to be accounted for</a:t>
            </a:r>
            <a:endParaRPr lang="de-DE" dirty="0"/>
          </a:p>
        </p:txBody>
      </p:sp>
    </p:spTree>
    <p:extLst>
      <p:ext uri="{BB962C8B-B14F-4D97-AF65-F5344CB8AC3E}">
        <p14:creationId xmlns:p14="http://schemas.microsoft.com/office/powerpoint/2010/main" val="11640259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a:xfrm>
            <a:off x="324000" y="1252929"/>
            <a:ext cx="11545200" cy="4392042"/>
          </a:xfrm>
        </p:spPr>
        <p:txBody>
          <a:bodyPr/>
          <a:lstStyle/>
          <a:p>
            <a:r>
              <a:rPr lang="en-US" b="1" dirty="0"/>
              <a:t>Organizational Plan </a:t>
            </a:r>
          </a:p>
          <a:p>
            <a:pPr lvl="1"/>
            <a:r>
              <a:rPr lang="en-US" dirty="0"/>
              <a:t>Describes in which function an employee is acting </a:t>
            </a:r>
          </a:p>
          <a:p>
            <a:pPr lvl="1"/>
            <a:r>
              <a:rPr lang="en-US" dirty="0"/>
              <a:t>Is object-oriented, i.e. each element is represented by an object</a:t>
            </a:r>
          </a:p>
          <a:p>
            <a:pPr lvl="1"/>
            <a:r>
              <a:rPr lang="en-US" dirty="0"/>
              <a:t>Objects can be assigned to each other</a:t>
            </a:r>
          </a:p>
          <a:p>
            <a:pPr lvl="1"/>
            <a:endParaRPr lang="en-US" sz="800" dirty="0"/>
          </a:p>
          <a:p>
            <a:pPr lvl="1"/>
            <a:r>
              <a:rPr lang="en-US" dirty="0"/>
              <a:t>Organizational Unit</a:t>
            </a:r>
          </a:p>
          <a:p>
            <a:pPr lvl="2"/>
            <a:r>
              <a:rPr lang="en-US" dirty="0"/>
              <a:t>Can be grouped according to functional and regional aspects.</a:t>
            </a:r>
          </a:p>
          <a:p>
            <a:pPr lvl="2"/>
            <a:endParaRPr lang="en-US" sz="800" dirty="0"/>
          </a:p>
          <a:p>
            <a:pPr lvl="1"/>
            <a:r>
              <a:rPr lang="en-US" dirty="0"/>
              <a:t>Position</a:t>
            </a:r>
          </a:p>
          <a:p>
            <a:pPr lvl="2"/>
            <a:r>
              <a:rPr lang="en-US" dirty="0"/>
              <a:t>Are assigned to organizational units and filled by employees</a:t>
            </a:r>
          </a:p>
          <a:p>
            <a:pPr lvl="2"/>
            <a:r>
              <a:rPr lang="en-US" dirty="0"/>
              <a:t>Example: Position accounting clerk in the Accounting Department</a:t>
            </a:r>
          </a:p>
          <a:p>
            <a:pPr lvl="2"/>
            <a:endParaRPr lang="en-US" sz="800" dirty="0"/>
          </a:p>
          <a:p>
            <a:pPr lvl="1"/>
            <a:r>
              <a:rPr lang="en-US" dirty="0"/>
              <a:t>Person</a:t>
            </a:r>
          </a:p>
          <a:p>
            <a:pPr lvl="2"/>
            <a:r>
              <a:rPr lang="en-US" dirty="0"/>
              <a:t>Are employees and fill positions</a:t>
            </a:r>
          </a:p>
          <a:p>
            <a:pPr lvl="2"/>
            <a:endParaRPr lang="en-US" sz="800" dirty="0"/>
          </a:p>
          <a:p>
            <a:pPr lvl="1"/>
            <a:r>
              <a:rPr lang="en-US" dirty="0"/>
              <a:t>Cost Center</a:t>
            </a:r>
          </a:p>
          <a:p>
            <a:pPr lvl="2"/>
            <a:r>
              <a:rPr lang="en-US" dirty="0"/>
              <a:t>originate from Controlling and can be linked with positions or organizational units</a:t>
            </a:r>
          </a:p>
          <a:p>
            <a:pPr lvl="2"/>
            <a:endParaRPr lang="en-US" sz="800" dirty="0"/>
          </a:p>
          <a:p>
            <a:pPr lvl="1"/>
            <a:r>
              <a:rPr lang="en-US" dirty="0"/>
              <a:t>Job</a:t>
            </a:r>
          </a:p>
          <a:p>
            <a:pPr lvl="2"/>
            <a:r>
              <a:rPr lang="en-US" dirty="0"/>
              <a:t>General description of tasks which an employee should  perform </a:t>
            </a:r>
          </a:p>
          <a:p>
            <a:pPr lvl="2"/>
            <a:r>
              <a:rPr lang="en-US" dirty="0"/>
              <a:t>Are assigned to positions</a:t>
            </a:r>
          </a:p>
          <a:p>
            <a:pPr lvl="2"/>
            <a:r>
              <a:rPr lang="en-US" dirty="0"/>
              <a:t>Example: Position Head of Department</a:t>
            </a:r>
          </a:p>
        </p:txBody>
      </p:sp>
      <p:sp>
        <p:nvSpPr>
          <p:cNvPr id="3" name="Titel 2"/>
          <p:cNvSpPr>
            <a:spLocks noGrp="1"/>
          </p:cNvSpPr>
          <p:nvPr>
            <p:ph type="title"/>
          </p:nvPr>
        </p:nvSpPr>
        <p:spPr/>
        <p:txBody>
          <a:bodyPr/>
          <a:lstStyle/>
          <a:p>
            <a:r>
              <a:rPr lang="en-US" altLang="de-DE" dirty="0"/>
              <a:t>HCM Organizational Plan</a:t>
            </a:r>
            <a:endParaRPr lang="de-DE" dirty="0"/>
          </a:p>
        </p:txBody>
      </p:sp>
    </p:spTree>
    <p:extLst>
      <p:ext uri="{BB962C8B-B14F-4D97-AF65-F5344CB8AC3E}">
        <p14:creationId xmlns:p14="http://schemas.microsoft.com/office/powerpoint/2010/main" val="16763245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de-DE" altLang="de-DE" dirty="0"/>
              <a:t>HCM </a:t>
            </a:r>
            <a:r>
              <a:rPr lang="en-US" altLang="de-DE" dirty="0"/>
              <a:t>Organizational</a:t>
            </a:r>
            <a:r>
              <a:rPr lang="de-DE" altLang="de-DE" dirty="0"/>
              <a:t> Plan</a:t>
            </a:r>
            <a:endParaRPr lang="de-DE" dirty="0"/>
          </a:p>
        </p:txBody>
      </p:sp>
      <p:grpSp>
        <p:nvGrpSpPr>
          <p:cNvPr id="22" name="Gruppieren 21"/>
          <p:cNvGrpSpPr/>
          <p:nvPr/>
        </p:nvGrpSpPr>
        <p:grpSpPr>
          <a:xfrm>
            <a:off x="2785075" y="1828800"/>
            <a:ext cx="6623050" cy="4105275"/>
            <a:chOff x="1571625" y="1714500"/>
            <a:chExt cx="6623050" cy="4105275"/>
          </a:xfrm>
        </p:grpSpPr>
        <p:sp>
          <p:nvSpPr>
            <p:cNvPr id="4" name="Text Box 6"/>
            <p:cNvSpPr txBox="1">
              <a:spLocks noChangeArrowheads="1"/>
            </p:cNvSpPr>
            <p:nvPr/>
          </p:nvSpPr>
          <p:spPr bwMode="auto">
            <a:xfrm>
              <a:off x="5675313" y="1858963"/>
              <a:ext cx="1295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sz="1800" b="0">
                  <a:solidFill>
                    <a:srgbClr val="000000"/>
                  </a:solidFill>
                </a:rPr>
                <a:t>Cost Center</a:t>
              </a:r>
            </a:p>
          </p:txBody>
        </p:sp>
        <p:sp>
          <p:nvSpPr>
            <p:cNvPr id="5" name="Text Box 5"/>
            <p:cNvSpPr txBox="1">
              <a:spLocks noChangeArrowheads="1"/>
            </p:cNvSpPr>
            <p:nvPr/>
          </p:nvSpPr>
          <p:spPr bwMode="auto">
            <a:xfrm>
              <a:off x="1571625" y="2117725"/>
              <a:ext cx="2519363" cy="274638"/>
            </a:xfrm>
            <a:prstGeom prst="rect">
              <a:avLst/>
            </a:prstGeom>
            <a:noFill/>
            <a:ln w="12700">
              <a:noFill/>
              <a:miter lim="800000"/>
              <a:headEnd/>
              <a:tailEnd/>
            </a:ln>
          </p:spPr>
          <p:txBody>
            <a:bodyPr lIns="0" tIns="0" rIns="0" bIns="0">
              <a:spAutoFit/>
            </a:bodyPr>
            <a:lstStyle/>
            <a:p>
              <a:pPr fontAlgn="auto">
                <a:spcBef>
                  <a:spcPts val="0"/>
                </a:spcBef>
                <a:spcAft>
                  <a:spcPts val="0"/>
                </a:spcAft>
                <a:buClrTx/>
                <a:buFontTx/>
                <a:buNone/>
                <a:defRPr/>
              </a:pPr>
              <a:r>
                <a:rPr lang="en-US" sz="1800" b="0" kern="0">
                  <a:solidFill>
                    <a:sysClr val="windowText" lastClr="000000"/>
                  </a:solidFill>
                  <a:latin typeface="Arial" charset="0"/>
                </a:rPr>
                <a:t>Organizational Unit</a:t>
              </a:r>
            </a:p>
          </p:txBody>
        </p:sp>
        <p:pic>
          <p:nvPicPr>
            <p:cNvPr id="6"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3788" y="1714500"/>
              <a:ext cx="4318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7"/>
            <p:cNvSpPr txBox="1">
              <a:spLocks noChangeArrowheads="1"/>
            </p:cNvSpPr>
            <p:nvPr/>
          </p:nvSpPr>
          <p:spPr bwMode="auto">
            <a:xfrm>
              <a:off x="2147888" y="3729038"/>
              <a:ext cx="1008062" cy="274637"/>
            </a:xfrm>
            <a:prstGeom prst="rect">
              <a:avLst/>
            </a:prstGeom>
            <a:noFill/>
            <a:ln w="12700">
              <a:noFill/>
              <a:miter lim="800000"/>
              <a:headEnd/>
              <a:tailEnd/>
            </a:ln>
          </p:spPr>
          <p:txBody>
            <a:bodyPr lIns="0" tIns="0" rIns="0" bIns="0">
              <a:spAutoFit/>
            </a:bodyPr>
            <a:lstStyle/>
            <a:p>
              <a:pPr fontAlgn="auto">
                <a:spcBef>
                  <a:spcPts val="0"/>
                </a:spcBef>
                <a:spcAft>
                  <a:spcPts val="0"/>
                </a:spcAft>
                <a:buClrTx/>
                <a:buFontTx/>
                <a:buNone/>
                <a:defRPr/>
              </a:pPr>
              <a:r>
                <a:rPr lang="de-DE" sz="1800" b="0" kern="0">
                  <a:solidFill>
                    <a:sysClr val="windowText" lastClr="000000"/>
                  </a:solidFill>
                  <a:latin typeface="Arial" charset="0"/>
                </a:rPr>
                <a:t>Position</a:t>
              </a:r>
            </a:p>
          </p:txBody>
        </p:sp>
        <p:pic>
          <p:nvPicPr>
            <p:cNvPr id="8" name="Picture 13"/>
            <p:cNvPicPr>
              <a:picLocks noChangeAspect="1" noChangeArrowheads="1"/>
            </p:cNvPicPr>
            <p:nvPr/>
          </p:nvPicPr>
          <p:blipFill>
            <a:blip r:embed="rId3">
              <a:clrChange>
                <a:clrFrom>
                  <a:srgbClr val="E0E7ED"/>
                </a:clrFrom>
                <a:clrTo>
                  <a:srgbClr val="E0E7ED">
                    <a:alpha val="0"/>
                  </a:srgbClr>
                </a:clrTo>
              </a:clrChange>
              <a:extLst>
                <a:ext uri="{28A0092B-C50C-407E-A947-70E740481C1C}">
                  <a14:useLocalDpi xmlns:a14="http://schemas.microsoft.com/office/drawing/2010/main" val="0"/>
                </a:ext>
              </a:extLst>
            </a:blip>
            <a:srcRect/>
            <a:stretch>
              <a:fillRect/>
            </a:stretch>
          </p:blipFill>
          <p:spPr bwMode="auto">
            <a:xfrm>
              <a:off x="2435225" y="3152775"/>
              <a:ext cx="403225"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3788" y="4738688"/>
              <a:ext cx="460375"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19"/>
            <p:cNvSpPr txBox="1">
              <a:spLocks noChangeArrowheads="1"/>
            </p:cNvSpPr>
            <p:nvPr/>
          </p:nvSpPr>
          <p:spPr bwMode="auto">
            <a:xfrm>
              <a:off x="2074863" y="5170488"/>
              <a:ext cx="1008062" cy="274637"/>
            </a:xfrm>
            <a:prstGeom prst="rect">
              <a:avLst/>
            </a:prstGeom>
            <a:noFill/>
            <a:ln w="12700">
              <a:noFill/>
              <a:miter lim="800000"/>
              <a:headEnd/>
              <a:tailEnd/>
            </a:ln>
          </p:spPr>
          <p:txBody>
            <a:bodyPr lIns="0" tIns="0" rIns="0" bIns="0">
              <a:spAutoFit/>
            </a:bodyPr>
            <a:lstStyle/>
            <a:p>
              <a:pPr fontAlgn="auto">
                <a:spcBef>
                  <a:spcPts val="0"/>
                </a:spcBef>
                <a:spcAft>
                  <a:spcPts val="0"/>
                </a:spcAft>
                <a:buClrTx/>
                <a:buFontTx/>
                <a:buNone/>
                <a:defRPr/>
              </a:pPr>
              <a:r>
                <a:rPr lang="de-DE" sz="1800" b="0" kern="0">
                  <a:solidFill>
                    <a:sysClr val="windowText" lastClr="000000"/>
                  </a:solidFill>
                  <a:latin typeface="Arial" charset="0"/>
                </a:rPr>
                <a:t>Person</a:t>
              </a:r>
            </a:p>
          </p:txBody>
        </p:sp>
        <p:pic>
          <p:nvPicPr>
            <p:cNvPr id="11" name="Picture 24"/>
            <p:cNvPicPr>
              <a:picLocks noChangeAspect="1" noChangeArrowheads="1"/>
            </p:cNvPicPr>
            <p:nvPr/>
          </p:nvPicPr>
          <p:blipFill>
            <a:blip r:embed="rId5">
              <a:clrChange>
                <a:clrFrom>
                  <a:srgbClr val="E0E7ED"/>
                </a:clrFrom>
                <a:clrTo>
                  <a:srgbClr val="E0E7ED">
                    <a:alpha val="0"/>
                  </a:srgbClr>
                </a:clrTo>
              </a:clrChange>
              <a:extLst>
                <a:ext uri="{28A0092B-C50C-407E-A947-70E740481C1C}">
                  <a14:useLocalDpi xmlns:a14="http://schemas.microsoft.com/office/drawing/2010/main" val="0"/>
                </a:ext>
              </a:extLst>
            </a:blip>
            <a:srcRect/>
            <a:stretch>
              <a:fillRect/>
            </a:stretch>
          </p:blipFill>
          <p:spPr bwMode="auto">
            <a:xfrm>
              <a:off x="5962650" y="3154363"/>
              <a:ext cx="5762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 Box 25"/>
            <p:cNvSpPr txBox="1">
              <a:spLocks noChangeArrowheads="1"/>
            </p:cNvSpPr>
            <p:nvPr/>
          </p:nvSpPr>
          <p:spPr bwMode="auto">
            <a:xfrm>
              <a:off x="5818188" y="3659188"/>
              <a:ext cx="1008062" cy="274637"/>
            </a:xfrm>
            <a:prstGeom prst="rect">
              <a:avLst/>
            </a:prstGeom>
            <a:noFill/>
            <a:ln w="12700">
              <a:noFill/>
              <a:miter lim="800000"/>
              <a:headEnd/>
              <a:tailEnd/>
            </a:ln>
          </p:spPr>
          <p:txBody>
            <a:bodyPr lIns="0" tIns="0" rIns="0" bIns="0">
              <a:spAutoFit/>
            </a:bodyPr>
            <a:lstStyle/>
            <a:p>
              <a:pPr fontAlgn="auto">
                <a:spcBef>
                  <a:spcPts val="0"/>
                </a:spcBef>
                <a:spcAft>
                  <a:spcPts val="0"/>
                </a:spcAft>
                <a:buClrTx/>
                <a:buFontTx/>
                <a:buNone/>
                <a:defRPr/>
              </a:pPr>
              <a:r>
                <a:rPr lang="de-DE" sz="1800" b="0" kern="0">
                  <a:solidFill>
                    <a:sysClr val="windowText" lastClr="000000"/>
                  </a:solidFill>
                  <a:latin typeface="Arial" charset="0"/>
                </a:rPr>
                <a:t>Job </a:t>
              </a:r>
            </a:p>
          </p:txBody>
        </p:sp>
        <p:sp>
          <p:nvSpPr>
            <p:cNvPr id="13" name="Line 27"/>
            <p:cNvSpPr>
              <a:spLocks noChangeShapeType="1"/>
            </p:cNvSpPr>
            <p:nvPr/>
          </p:nvSpPr>
          <p:spPr bwMode="auto">
            <a:xfrm flipH="1">
              <a:off x="3948113" y="2003425"/>
              <a:ext cx="1366837" cy="0"/>
            </a:xfrm>
            <a:prstGeom prst="line">
              <a:avLst/>
            </a:prstGeom>
            <a:noFill/>
            <a:ln w="31750">
              <a:solidFill>
                <a:srgbClr val="808080"/>
              </a:solidFill>
              <a:round/>
              <a:headEnd/>
              <a:tailEnd type="triangle" w="med" len="med"/>
            </a:ln>
          </p:spPr>
          <p:txBody>
            <a:bodyPr lIns="0" tIns="0" rIns="0" bIns="0">
              <a:spAutoFit/>
            </a:bodyPr>
            <a:lstStyle/>
            <a:p>
              <a:pPr fontAlgn="auto">
                <a:spcBef>
                  <a:spcPts val="0"/>
                </a:spcBef>
                <a:spcAft>
                  <a:spcPts val="0"/>
                </a:spcAft>
                <a:buClrTx/>
                <a:buFontTx/>
                <a:buNone/>
                <a:defRPr/>
              </a:pPr>
              <a:endParaRPr lang="de-DE" sz="1800" b="0" kern="0">
                <a:solidFill>
                  <a:sysClr val="windowText" lastClr="000000"/>
                </a:solidFill>
                <a:latin typeface="Arial" charset="0"/>
              </a:endParaRPr>
            </a:p>
          </p:txBody>
        </p:sp>
        <p:sp>
          <p:nvSpPr>
            <p:cNvPr id="14" name="Line 29"/>
            <p:cNvSpPr>
              <a:spLocks noChangeShapeType="1"/>
            </p:cNvSpPr>
            <p:nvPr/>
          </p:nvSpPr>
          <p:spPr bwMode="auto">
            <a:xfrm>
              <a:off x="2579688" y="2578100"/>
              <a:ext cx="0" cy="504825"/>
            </a:xfrm>
            <a:prstGeom prst="line">
              <a:avLst/>
            </a:prstGeom>
            <a:noFill/>
            <a:ln w="31750">
              <a:solidFill>
                <a:srgbClr val="808080"/>
              </a:solidFill>
              <a:round/>
              <a:headEnd type="triangle" w="med" len="med"/>
              <a:tailEnd type="triangle" w="med" len="med"/>
            </a:ln>
          </p:spPr>
          <p:txBody>
            <a:bodyPr lIns="0" tIns="0" rIns="0" bIns="0">
              <a:spAutoFit/>
            </a:bodyPr>
            <a:lstStyle/>
            <a:p>
              <a:pPr fontAlgn="auto">
                <a:spcBef>
                  <a:spcPts val="0"/>
                </a:spcBef>
                <a:spcAft>
                  <a:spcPts val="0"/>
                </a:spcAft>
                <a:buClrTx/>
                <a:buFontTx/>
                <a:buNone/>
                <a:defRPr/>
              </a:pPr>
              <a:endParaRPr lang="de-DE" sz="1800" b="0" kern="0">
                <a:solidFill>
                  <a:sysClr val="windowText" lastClr="000000"/>
                </a:solidFill>
                <a:latin typeface="Arial" charset="0"/>
              </a:endParaRPr>
            </a:p>
          </p:txBody>
        </p:sp>
        <p:sp>
          <p:nvSpPr>
            <p:cNvPr id="15" name="Line 30"/>
            <p:cNvSpPr>
              <a:spLocks noChangeShapeType="1"/>
            </p:cNvSpPr>
            <p:nvPr/>
          </p:nvSpPr>
          <p:spPr bwMode="auto">
            <a:xfrm>
              <a:off x="2579688" y="4090988"/>
              <a:ext cx="0" cy="504825"/>
            </a:xfrm>
            <a:prstGeom prst="line">
              <a:avLst/>
            </a:prstGeom>
            <a:noFill/>
            <a:ln w="31750">
              <a:solidFill>
                <a:srgbClr val="808080"/>
              </a:solidFill>
              <a:round/>
              <a:headEnd type="triangle" w="med" len="med"/>
              <a:tailEnd type="triangle" w="med" len="med"/>
            </a:ln>
          </p:spPr>
          <p:txBody>
            <a:bodyPr lIns="0" tIns="0" rIns="0" bIns="0">
              <a:spAutoFit/>
            </a:bodyPr>
            <a:lstStyle/>
            <a:p>
              <a:pPr fontAlgn="auto">
                <a:spcBef>
                  <a:spcPts val="0"/>
                </a:spcBef>
                <a:spcAft>
                  <a:spcPts val="0"/>
                </a:spcAft>
                <a:buClrTx/>
                <a:buFontTx/>
                <a:buNone/>
                <a:defRPr/>
              </a:pPr>
              <a:endParaRPr lang="de-DE" sz="1800" b="0" kern="0">
                <a:solidFill>
                  <a:sysClr val="windowText" lastClr="000000"/>
                </a:solidFill>
                <a:latin typeface="Arial" charset="0"/>
              </a:endParaRPr>
            </a:p>
          </p:txBody>
        </p:sp>
        <p:sp>
          <p:nvSpPr>
            <p:cNvPr id="16" name="Line 31"/>
            <p:cNvSpPr>
              <a:spLocks noChangeShapeType="1"/>
            </p:cNvSpPr>
            <p:nvPr/>
          </p:nvSpPr>
          <p:spPr bwMode="auto">
            <a:xfrm flipH="1">
              <a:off x="3803650" y="3586163"/>
              <a:ext cx="1152525" cy="0"/>
            </a:xfrm>
            <a:prstGeom prst="line">
              <a:avLst/>
            </a:prstGeom>
            <a:noFill/>
            <a:ln w="31750">
              <a:solidFill>
                <a:srgbClr val="808080"/>
              </a:solidFill>
              <a:prstDash val="dash"/>
              <a:round/>
              <a:headEnd/>
              <a:tailEnd type="triangle" w="med" len="med"/>
            </a:ln>
          </p:spPr>
          <p:txBody>
            <a:bodyPr lIns="0" tIns="0" rIns="0" bIns="0">
              <a:spAutoFit/>
            </a:bodyPr>
            <a:lstStyle/>
            <a:p>
              <a:pPr fontAlgn="auto">
                <a:spcBef>
                  <a:spcPts val="0"/>
                </a:spcBef>
                <a:spcAft>
                  <a:spcPts val="0"/>
                </a:spcAft>
                <a:buClrTx/>
                <a:buFontTx/>
                <a:buNone/>
                <a:defRPr/>
              </a:pPr>
              <a:endParaRPr lang="de-DE" sz="1800" b="0" kern="0">
                <a:solidFill>
                  <a:sysClr val="windowText" lastClr="000000"/>
                </a:solidFill>
                <a:latin typeface="Arial" charset="0"/>
              </a:endParaRPr>
            </a:p>
          </p:txBody>
        </p:sp>
        <p:sp>
          <p:nvSpPr>
            <p:cNvPr id="17" name="Line 33"/>
            <p:cNvSpPr>
              <a:spLocks noChangeShapeType="1"/>
            </p:cNvSpPr>
            <p:nvPr/>
          </p:nvSpPr>
          <p:spPr bwMode="auto">
            <a:xfrm flipH="1">
              <a:off x="3803650" y="2290763"/>
              <a:ext cx="1871663" cy="792162"/>
            </a:xfrm>
            <a:prstGeom prst="line">
              <a:avLst/>
            </a:prstGeom>
            <a:noFill/>
            <a:ln w="31750">
              <a:solidFill>
                <a:srgbClr val="808080"/>
              </a:solidFill>
              <a:prstDash val="dash"/>
              <a:round/>
              <a:headEnd/>
              <a:tailEnd type="triangle" w="med" len="med"/>
            </a:ln>
          </p:spPr>
          <p:txBody>
            <a:bodyPr lIns="0" tIns="0" rIns="0" bIns="0">
              <a:spAutoFit/>
            </a:bodyPr>
            <a:lstStyle/>
            <a:p>
              <a:pPr fontAlgn="auto">
                <a:spcBef>
                  <a:spcPts val="0"/>
                </a:spcBef>
                <a:spcAft>
                  <a:spcPts val="0"/>
                </a:spcAft>
                <a:buClrTx/>
                <a:buFontTx/>
                <a:buNone/>
                <a:defRPr/>
              </a:pPr>
              <a:endParaRPr lang="de-DE" sz="1800" b="0" kern="0">
                <a:solidFill>
                  <a:sysClr val="windowText" lastClr="000000"/>
                </a:solidFill>
                <a:latin typeface="Arial" charset="0"/>
              </a:endParaRPr>
            </a:p>
          </p:txBody>
        </p:sp>
        <p:sp>
          <p:nvSpPr>
            <p:cNvPr id="18" name="Line 34"/>
            <p:cNvSpPr>
              <a:spLocks noChangeShapeType="1"/>
            </p:cNvSpPr>
            <p:nvPr/>
          </p:nvSpPr>
          <p:spPr bwMode="auto">
            <a:xfrm flipH="1">
              <a:off x="5891213" y="5459413"/>
              <a:ext cx="431800" cy="1587"/>
            </a:xfrm>
            <a:prstGeom prst="line">
              <a:avLst/>
            </a:prstGeom>
            <a:noFill/>
            <a:ln w="31750">
              <a:solidFill>
                <a:srgbClr val="808080"/>
              </a:solidFill>
              <a:round/>
              <a:headEnd type="triangle" w="med" len="med"/>
              <a:tailEnd type="triangle" w="med" len="med"/>
            </a:ln>
          </p:spPr>
          <p:txBody>
            <a:bodyPr lIns="0" tIns="0" rIns="0" bIns="0">
              <a:spAutoFit/>
            </a:bodyPr>
            <a:lstStyle/>
            <a:p>
              <a:pPr fontAlgn="auto">
                <a:spcBef>
                  <a:spcPts val="0"/>
                </a:spcBef>
                <a:spcAft>
                  <a:spcPts val="0"/>
                </a:spcAft>
                <a:buClrTx/>
                <a:buFontTx/>
                <a:buNone/>
                <a:defRPr/>
              </a:pPr>
              <a:endParaRPr lang="de-DE" sz="1800" b="0" kern="0">
                <a:solidFill>
                  <a:sysClr val="windowText" lastClr="000000"/>
                </a:solidFill>
                <a:latin typeface="Arial" charset="0"/>
              </a:endParaRPr>
            </a:p>
          </p:txBody>
        </p:sp>
        <p:sp>
          <p:nvSpPr>
            <p:cNvPr id="19" name="Line 35"/>
            <p:cNvSpPr>
              <a:spLocks noChangeShapeType="1"/>
            </p:cNvSpPr>
            <p:nvPr/>
          </p:nvSpPr>
          <p:spPr bwMode="auto">
            <a:xfrm flipH="1">
              <a:off x="5891213" y="5748338"/>
              <a:ext cx="503237" cy="0"/>
            </a:xfrm>
            <a:prstGeom prst="line">
              <a:avLst/>
            </a:prstGeom>
            <a:noFill/>
            <a:ln w="31750">
              <a:solidFill>
                <a:srgbClr val="808080"/>
              </a:solidFill>
              <a:prstDash val="dash"/>
              <a:round/>
              <a:headEnd/>
              <a:tailEnd type="triangle" w="med" len="med"/>
            </a:ln>
          </p:spPr>
          <p:txBody>
            <a:bodyPr lIns="0" tIns="0" rIns="0" bIns="0">
              <a:spAutoFit/>
            </a:bodyPr>
            <a:lstStyle/>
            <a:p>
              <a:pPr fontAlgn="auto">
                <a:spcBef>
                  <a:spcPts val="0"/>
                </a:spcBef>
                <a:spcAft>
                  <a:spcPts val="0"/>
                </a:spcAft>
                <a:buClrTx/>
                <a:buFontTx/>
                <a:buNone/>
                <a:defRPr/>
              </a:pPr>
              <a:endParaRPr lang="de-DE" sz="1800" b="0" kern="0">
                <a:solidFill>
                  <a:sysClr val="windowText" lastClr="000000"/>
                </a:solidFill>
                <a:latin typeface="Arial" charset="0"/>
              </a:endParaRPr>
            </a:p>
          </p:txBody>
        </p:sp>
        <p:sp>
          <p:nvSpPr>
            <p:cNvPr id="20" name="Text Box 36"/>
            <p:cNvSpPr txBox="1">
              <a:spLocks noChangeArrowheads="1"/>
            </p:cNvSpPr>
            <p:nvPr/>
          </p:nvSpPr>
          <p:spPr bwMode="auto">
            <a:xfrm>
              <a:off x="6611938" y="5349875"/>
              <a:ext cx="10795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lgn="ctr">
                  <a:solidFill>
                    <a:srgbClr val="000000"/>
                  </a:solidFill>
                  <a:miter lim="800000"/>
                  <a:headEnd/>
                  <a:tailEnd/>
                </a14:hiddenLine>
              </a:ext>
            </a:extLst>
          </p:spPr>
          <p:txBody>
            <a:bodyPr lIns="0" tIns="0" rIns="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b="0">
                  <a:solidFill>
                    <a:srgbClr val="000000"/>
                  </a:solidFill>
                </a:rPr>
                <a:t>Assignment</a:t>
              </a:r>
            </a:p>
          </p:txBody>
        </p:sp>
        <p:sp>
          <p:nvSpPr>
            <p:cNvPr id="21" name="Text Box 38"/>
            <p:cNvSpPr txBox="1">
              <a:spLocks noChangeArrowheads="1"/>
            </p:cNvSpPr>
            <p:nvPr/>
          </p:nvSpPr>
          <p:spPr bwMode="auto">
            <a:xfrm>
              <a:off x="6610350" y="5637213"/>
              <a:ext cx="1584325"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lgn="ctr">
                  <a:solidFill>
                    <a:srgbClr val="000000"/>
                  </a:solidFill>
                  <a:miter lim="800000"/>
                  <a:headEnd/>
                  <a:tailEnd/>
                </a14:hiddenLine>
              </a:ext>
            </a:extLst>
          </p:spPr>
          <p:txBody>
            <a:bodyPr lIns="0" tIns="0" rIns="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b="0">
                  <a:solidFill>
                    <a:srgbClr val="000000"/>
                  </a:solidFill>
                </a:rPr>
                <a:t>Assignment (optional)</a:t>
              </a:r>
            </a:p>
          </p:txBody>
        </p:sp>
      </p:grpSp>
    </p:spTree>
    <p:extLst>
      <p:ext uri="{BB962C8B-B14F-4D97-AF65-F5344CB8AC3E}">
        <p14:creationId xmlns:p14="http://schemas.microsoft.com/office/powerpoint/2010/main" val="9158796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a:t>Global Bike Enterprise Structure in </a:t>
            </a:r>
            <a:r>
              <a:rPr lang="en-US" altLang="de-DE" dirty="0" smtClean="0"/>
              <a:t>HCM </a:t>
            </a:r>
            <a:r>
              <a:rPr lang="en-US" altLang="de-DE" dirty="0"/>
              <a:t>(US)</a:t>
            </a:r>
            <a:endParaRPr lang="de-DE" dirty="0"/>
          </a:p>
        </p:txBody>
      </p:sp>
      <p:grpSp>
        <p:nvGrpSpPr>
          <p:cNvPr id="4" name="Gruppieren 52"/>
          <p:cNvGrpSpPr>
            <a:grpSpLocks/>
          </p:cNvGrpSpPr>
          <p:nvPr/>
        </p:nvGrpSpPr>
        <p:grpSpPr bwMode="auto">
          <a:xfrm>
            <a:off x="2011169" y="1438381"/>
            <a:ext cx="8170862" cy="4897437"/>
            <a:chOff x="84138" y="1212850"/>
            <a:chExt cx="8915400" cy="4953000"/>
          </a:xfrm>
        </p:grpSpPr>
        <p:sp>
          <p:nvSpPr>
            <p:cNvPr id="5" name="AutoShape 54"/>
            <p:cNvSpPr>
              <a:spLocks noChangeArrowheads="1"/>
            </p:cNvSpPr>
            <p:nvPr/>
          </p:nvSpPr>
          <p:spPr bwMode="auto">
            <a:xfrm>
              <a:off x="84138" y="1212850"/>
              <a:ext cx="8915400" cy="4953000"/>
            </a:xfrm>
            <a:prstGeom prst="parallelogram">
              <a:avLst>
                <a:gd name="adj" fmla="val 45000"/>
              </a:avLst>
            </a:prstGeom>
            <a:gradFill rotWithShape="0">
              <a:gsLst>
                <a:gs pos="0">
                  <a:srgbClr val="0050A8"/>
                </a:gs>
                <a:gs pos="100000">
                  <a:srgbClr val="B5C1E9"/>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B5C1E9"/>
              </a:extrusionClr>
              <a:contourClr>
                <a:srgbClr val="0050A8"/>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6" name="Rectangle 55"/>
            <p:cNvSpPr>
              <a:spLocks noChangeArrowheads="1"/>
            </p:cNvSpPr>
            <p:nvPr/>
          </p:nvSpPr>
          <p:spPr bwMode="auto">
            <a:xfrm>
              <a:off x="185738" y="5856288"/>
              <a:ext cx="2138362" cy="296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buClrTx/>
                <a:buFontTx/>
                <a:buNone/>
              </a:pPr>
              <a:r>
                <a:rPr lang="en-US" altLang="de-DE" sz="1600" dirty="0"/>
                <a:t>Client Global Bike</a:t>
              </a:r>
            </a:p>
          </p:txBody>
        </p:sp>
        <p:sp>
          <p:nvSpPr>
            <p:cNvPr id="7" name="AutoShape 56"/>
            <p:cNvSpPr>
              <a:spLocks noChangeArrowheads="1"/>
            </p:cNvSpPr>
            <p:nvPr/>
          </p:nvSpPr>
          <p:spPr bwMode="auto">
            <a:xfrm>
              <a:off x="334963" y="1262063"/>
              <a:ext cx="8534400" cy="4568825"/>
            </a:xfrm>
            <a:prstGeom prst="parallelogram">
              <a:avLst>
                <a:gd name="adj" fmla="val 45065"/>
              </a:avLst>
            </a:prstGeom>
            <a:gradFill rotWithShape="1">
              <a:gsLst>
                <a:gs pos="0">
                  <a:srgbClr val="99FF66">
                    <a:alpha val="89998"/>
                  </a:srgbClr>
                </a:gs>
                <a:gs pos="100000">
                  <a:srgbClr val="47762F"/>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9FF66"/>
              </a:extrusionClr>
              <a:contourClr>
                <a:srgbClr val="99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solidFill>
                  <a:srgbClr val="F8F8F8"/>
                </a:solidFill>
              </a:endParaRPr>
            </a:p>
          </p:txBody>
        </p:sp>
        <p:sp>
          <p:nvSpPr>
            <p:cNvPr id="8" name="Text Box 57"/>
            <p:cNvSpPr txBox="1">
              <a:spLocks noChangeArrowheads="1"/>
            </p:cNvSpPr>
            <p:nvPr/>
          </p:nvSpPr>
          <p:spPr bwMode="auto">
            <a:xfrm>
              <a:off x="258763" y="5540375"/>
              <a:ext cx="3365500"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buClrTx/>
                <a:buFontTx/>
                <a:buNone/>
              </a:pPr>
              <a:r>
                <a:rPr lang="en-US" altLang="de-DE" sz="1600">
                  <a:cs typeface="Times New Roman" panose="02020603050405020304" pitchFamily="18" charset="0"/>
                </a:rPr>
                <a:t>  Company Code US00</a:t>
              </a:r>
            </a:p>
          </p:txBody>
        </p:sp>
        <p:sp>
          <p:nvSpPr>
            <p:cNvPr id="9" name="AutoShape 58"/>
            <p:cNvSpPr>
              <a:spLocks noChangeArrowheads="1"/>
            </p:cNvSpPr>
            <p:nvPr/>
          </p:nvSpPr>
          <p:spPr bwMode="auto">
            <a:xfrm>
              <a:off x="587375" y="1363663"/>
              <a:ext cx="5353050" cy="4111625"/>
            </a:xfrm>
            <a:prstGeom prst="parallelogram">
              <a:avLst>
                <a:gd name="adj" fmla="val 44519"/>
              </a:avLst>
            </a:prstGeom>
            <a:gradFill rotWithShape="1">
              <a:gsLst>
                <a:gs pos="0">
                  <a:srgbClr val="00CCFF"/>
                </a:gs>
                <a:gs pos="100000">
                  <a:srgbClr val="005E76"/>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00CCFF"/>
              </a:extrusionClr>
              <a:contourClr>
                <a:srgbClr val="00CCFF"/>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solidFill>
                  <a:srgbClr val="F8F8F8"/>
                </a:solidFill>
              </a:endParaRPr>
            </a:p>
          </p:txBody>
        </p:sp>
        <p:sp>
          <p:nvSpPr>
            <p:cNvPr id="10" name="Text Box 59"/>
            <p:cNvSpPr txBox="1">
              <a:spLocks noChangeArrowheads="1"/>
            </p:cNvSpPr>
            <p:nvPr/>
          </p:nvSpPr>
          <p:spPr bwMode="auto">
            <a:xfrm>
              <a:off x="574675" y="5157788"/>
              <a:ext cx="4065882" cy="29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buClrTx/>
                <a:buFontTx/>
                <a:buNone/>
              </a:pPr>
              <a:r>
                <a:rPr lang="en-US" altLang="de-DE" sz="1600">
                  <a:cs typeface="Times New Roman" panose="02020603050405020304" pitchFamily="18" charset="0"/>
                </a:rPr>
                <a:t> Personnel Area Dallas DL00</a:t>
              </a:r>
            </a:p>
          </p:txBody>
        </p:sp>
        <p:sp>
          <p:nvSpPr>
            <p:cNvPr id="11" name="AutoShape 60"/>
            <p:cNvSpPr>
              <a:spLocks noChangeArrowheads="1"/>
            </p:cNvSpPr>
            <p:nvPr/>
          </p:nvSpPr>
          <p:spPr bwMode="auto">
            <a:xfrm>
              <a:off x="4354513" y="1354138"/>
              <a:ext cx="3097212" cy="4121150"/>
            </a:xfrm>
            <a:prstGeom prst="parallelogram">
              <a:avLst>
                <a:gd name="adj" fmla="val 59611"/>
              </a:avLst>
            </a:prstGeom>
            <a:gradFill rotWithShape="1">
              <a:gsLst>
                <a:gs pos="0">
                  <a:srgbClr val="00CCFF"/>
                </a:gs>
                <a:gs pos="100000">
                  <a:srgbClr val="005E76"/>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00CCFF"/>
              </a:extrusionClr>
              <a:contourClr>
                <a:srgbClr val="00CCFF"/>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solidFill>
                  <a:srgbClr val="F8F8F8"/>
                </a:solidFill>
              </a:endParaRPr>
            </a:p>
          </p:txBody>
        </p:sp>
        <p:sp>
          <p:nvSpPr>
            <p:cNvPr id="12" name="AutoShape 61"/>
            <p:cNvSpPr>
              <a:spLocks noChangeArrowheads="1"/>
            </p:cNvSpPr>
            <p:nvPr/>
          </p:nvSpPr>
          <p:spPr bwMode="auto">
            <a:xfrm>
              <a:off x="842963" y="1412875"/>
              <a:ext cx="2720975" cy="3671888"/>
            </a:xfrm>
            <a:prstGeom prst="parallelogram">
              <a:avLst>
                <a:gd name="adj" fmla="val 60384"/>
              </a:avLst>
            </a:prstGeom>
            <a:solidFill>
              <a:srgbClr val="FFFF66"/>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FF66"/>
              </a:extrusionClr>
              <a:contourClr>
                <a:srgbClr val="FF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13" name="Text Box 62"/>
            <p:cNvSpPr txBox="1">
              <a:spLocks noChangeArrowheads="1"/>
            </p:cNvSpPr>
            <p:nvPr/>
          </p:nvSpPr>
          <p:spPr bwMode="auto">
            <a:xfrm>
              <a:off x="7233119" y="4708799"/>
              <a:ext cx="165576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r">
                <a:buClrTx/>
                <a:buFontTx/>
                <a:buNone/>
              </a:pPr>
              <a:r>
                <a:rPr lang="en-US" altLang="de-DE" sz="1000">
                  <a:cs typeface="Times New Roman" panose="02020603050405020304" pitchFamily="18" charset="0"/>
                </a:rPr>
                <a:t>Personnel Subarea</a:t>
              </a:r>
            </a:p>
          </p:txBody>
        </p:sp>
        <p:sp>
          <p:nvSpPr>
            <p:cNvPr id="14" name="Text Box 63"/>
            <p:cNvSpPr txBox="1">
              <a:spLocks noChangeArrowheads="1"/>
            </p:cNvSpPr>
            <p:nvPr/>
          </p:nvSpPr>
          <p:spPr bwMode="auto">
            <a:xfrm>
              <a:off x="4416425" y="5154613"/>
              <a:ext cx="1419225"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buClrTx/>
                <a:buFontTx/>
                <a:buNone/>
              </a:pPr>
              <a:r>
                <a:rPr lang="en-US" altLang="de-DE" sz="1600">
                  <a:cs typeface="Times New Roman" panose="02020603050405020304" pitchFamily="18" charset="0"/>
                </a:rPr>
                <a:t>Miami MI00</a:t>
              </a:r>
            </a:p>
          </p:txBody>
        </p:sp>
        <p:sp>
          <p:nvSpPr>
            <p:cNvPr id="15" name="AutoShape 64"/>
            <p:cNvSpPr>
              <a:spLocks noChangeArrowheads="1"/>
            </p:cNvSpPr>
            <p:nvPr/>
          </p:nvSpPr>
          <p:spPr bwMode="auto">
            <a:xfrm>
              <a:off x="2411413" y="1412875"/>
              <a:ext cx="1863725" cy="3671888"/>
            </a:xfrm>
            <a:prstGeom prst="parallelogram">
              <a:avLst>
                <a:gd name="adj" fmla="val 88588"/>
              </a:avLst>
            </a:prstGeom>
            <a:solidFill>
              <a:srgbClr val="FFFF66"/>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FF66"/>
              </a:extrusionClr>
              <a:contourClr>
                <a:srgbClr val="FF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16" name="AutoShape 65"/>
            <p:cNvSpPr>
              <a:spLocks noChangeArrowheads="1"/>
            </p:cNvSpPr>
            <p:nvPr/>
          </p:nvSpPr>
          <p:spPr bwMode="auto">
            <a:xfrm>
              <a:off x="2051050" y="1412875"/>
              <a:ext cx="1863725" cy="3671888"/>
            </a:xfrm>
            <a:prstGeom prst="parallelogram">
              <a:avLst>
                <a:gd name="adj" fmla="val 88588"/>
              </a:avLst>
            </a:prstGeom>
            <a:solidFill>
              <a:srgbClr val="FFFF66"/>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FF66"/>
              </a:extrusionClr>
              <a:contourClr>
                <a:srgbClr val="FF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17" name="AutoShape 66"/>
            <p:cNvSpPr>
              <a:spLocks noChangeArrowheads="1"/>
            </p:cNvSpPr>
            <p:nvPr/>
          </p:nvSpPr>
          <p:spPr bwMode="auto">
            <a:xfrm>
              <a:off x="2771775" y="1412875"/>
              <a:ext cx="1863725" cy="3671888"/>
            </a:xfrm>
            <a:prstGeom prst="parallelogram">
              <a:avLst>
                <a:gd name="adj" fmla="val 88588"/>
              </a:avLst>
            </a:prstGeom>
            <a:solidFill>
              <a:srgbClr val="FFFF66"/>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FF66"/>
              </a:extrusionClr>
              <a:contourClr>
                <a:srgbClr val="FF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18" name="AutoShape 67"/>
            <p:cNvSpPr>
              <a:spLocks noChangeArrowheads="1"/>
            </p:cNvSpPr>
            <p:nvPr/>
          </p:nvSpPr>
          <p:spPr bwMode="auto">
            <a:xfrm>
              <a:off x="3132138" y="1412875"/>
              <a:ext cx="1863725" cy="3671888"/>
            </a:xfrm>
            <a:prstGeom prst="parallelogram">
              <a:avLst>
                <a:gd name="adj" fmla="val 88588"/>
              </a:avLst>
            </a:prstGeom>
            <a:solidFill>
              <a:srgbClr val="FFFF66"/>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FF66"/>
              </a:extrusionClr>
              <a:contourClr>
                <a:srgbClr val="FF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19" name="AutoShape 68"/>
            <p:cNvSpPr>
              <a:spLocks noChangeArrowheads="1"/>
            </p:cNvSpPr>
            <p:nvPr/>
          </p:nvSpPr>
          <p:spPr bwMode="auto">
            <a:xfrm>
              <a:off x="3492500" y="1412875"/>
              <a:ext cx="1863725" cy="3671888"/>
            </a:xfrm>
            <a:prstGeom prst="parallelogram">
              <a:avLst>
                <a:gd name="adj" fmla="val 88588"/>
              </a:avLst>
            </a:prstGeom>
            <a:solidFill>
              <a:srgbClr val="FFFF66"/>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FF66"/>
              </a:extrusionClr>
              <a:contourClr>
                <a:srgbClr val="FF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20" name="Text Box 69"/>
            <p:cNvSpPr txBox="1">
              <a:spLocks noChangeArrowheads="1"/>
            </p:cNvSpPr>
            <p:nvPr/>
          </p:nvSpPr>
          <p:spPr bwMode="auto">
            <a:xfrm>
              <a:off x="827088" y="4652963"/>
              <a:ext cx="1485900"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buClrTx/>
                <a:buFontTx/>
                <a:buNone/>
              </a:pPr>
              <a:r>
                <a:rPr lang="en-US" altLang="de-DE">
                  <a:cs typeface="Times New Roman" panose="02020603050405020304" pitchFamily="18" charset="0"/>
                </a:rPr>
                <a:t>    </a:t>
              </a:r>
              <a:r>
                <a:rPr lang="en-US" altLang="de-DE" sz="1300">
                  <a:cs typeface="Times New Roman" panose="02020603050405020304" pitchFamily="18" charset="0"/>
                </a:rPr>
                <a:t>Executives</a:t>
              </a:r>
            </a:p>
            <a:p>
              <a:pPr>
                <a:spcBef>
                  <a:spcPct val="0"/>
                </a:spcBef>
                <a:buClrTx/>
                <a:buFontTx/>
                <a:buNone/>
              </a:pPr>
              <a:r>
                <a:rPr lang="en-US" altLang="de-DE" sz="1300">
                  <a:cs typeface="Times New Roman" panose="02020603050405020304" pitchFamily="18" charset="0"/>
                </a:rPr>
                <a:t>  EX00</a:t>
              </a:r>
            </a:p>
          </p:txBody>
        </p:sp>
        <p:sp>
          <p:nvSpPr>
            <p:cNvPr id="21" name="Text Box 70"/>
            <p:cNvSpPr txBox="1">
              <a:spLocks noChangeArrowheads="1"/>
            </p:cNvSpPr>
            <p:nvPr/>
          </p:nvSpPr>
          <p:spPr bwMode="auto">
            <a:xfrm rot="-3944323">
              <a:off x="1690688" y="4264025"/>
              <a:ext cx="14859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buClrTx/>
                <a:buFontTx/>
                <a:buNone/>
              </a:pPr>
              <a:r>
                <a:rPr lang="en-US" altLang="de-DE" sz="1300">
                  <a:cs typeface="Times New Roman" panose="02020603050405020304" pitchFamily="18" charset="0"/>
                </a:rPr>
                <a:t>FI00 Finance</a:t>
              </a:r>
            </a:p>
          </p:txBody>
        </p:sp>
        <p:sp>
          <p:nvSpPr>
            <p:cNvPr id="22" name="Text Box 71"/>
            <p:cNvSpPr txBox="1">
              <a:spLocks noChangeArrowheads="1"/>
            </p:cNvSpPr>
            <p:nvPr/>
          </p:nvSpPr>
          <p:spPr bwMode="auto">
            <a:xfrm rot="-3944323">
              <a:off x="2116138" y="3268663"/>
              <a:ext cx="37052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buClrTx/>
                <a:buFontTx/>
                <a:buNone/>
              </a:pPr>
              <a:r>
                <a:rPr lang="en-US" altLang="de-DE" sz="1300">
                  <a:cs typeface="Times New Roman" panose="02020603050405020304" pitchFamily="18" charset="0"/>
                </a:rPr>
                <a:t>MM00 Materials Management</a:t>
              </a:r>
            </a:p>
          </p:txBody>
        </p:sp>
        <p:sp>
          <p:nvSpPr>
            <p:cNvPr id="23" name="Text Box 72"/>
            <p:cNvSpPr txBox="1">
              <a:spLocks noChangeArrowheads="1"/>
            </p:cNvSpPr>
            <p:nvPr/>
          </p:nvSpPr>
          <p:spPr bwMode="auto">
            <a:xfrm rot="-3944323">
              <a:off x="2943226" y="3990975"/>
              <a:ext cx="21209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buClrTx/>
                <a:buFontTx/>
                <a:buNone/>
              </a:pPr>
              <a:r>
                <a:rPr lang="en-US" altLang="de-DE" sz="1300">
                  <a:cs typeface="Times New Roman" panose="02020603050405020304" pitchFamily="18" charset="0"/>
                </a:rPr>
                <a:t>PP00 Production</a:t>
              </a:r>
            </a:p>
          </p:txBody>
        </p:sp>
        <p:sp>
          <p:nvSpPr>
            <p:cNvPr id="24" name="Text Box 73"/>
            <p:cNvSpPr txBox="1">
              <a:spLocks noChangeArrowheads="1"/>
            </p:cNvSpPr>
            <p:nvPr/>
          </p:nvSpPr>
          <p:spPr bwMode="auto">
            <a:xfrm rot="-3944323">
              <a:off x="1664494" y="3618706"/>
              <a:ext cx="28908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buClrTx/>
                <a:buFontTx/>
                <a:buNone/>
              </a:pPr>
              <a:r>
                <a:rPr lang="en-US" altLang="de-DE" sz="1300">
                  <a:cs typeface="Times New Roman" panose="02020603050405020304" pitchFamily="18" charset="0"/>
                </a:rPr>
                <a:t>HR00 Human Resources</a:t>
              </a:r>
            </a:p>
          </p:txBody>
        </p:sp>
        <p:sp>
          <p:nvSpPr>
            <p:cNvPr id="25" name="Text Box 74"/>
            <p:cNvSpPr txBox="1">
              <a:spLocks noChangeArrowheads="1"/>
            </p:cNvSpPr>
            <p:nvPr/>
          </p:nvSpPr>
          <p:spPr bwMode="auto">
            <a:xfrm rot="-3944323">
              <a:off x="2214563" y="3914775"/>
              <a:ext cx="22447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buClrTx/>
                <a:buFontTx/>
                <a:buNone/>
              </a:pPr>
              <a:r>
                <a:rPr lang="en-US" altLang="de-DE" sz="1300">
                  <a:cs typeface="Times New Roman" panose="02020603050405020304" pitchFamily="18" charset="0"/>
                </a:rPr>
                <a:t>IT00 IT</a:t>
              </a:r>
            </a:p>
          </p:txBody>
        </p:sp>
        <p:sp>
          <p:nvSpPr>
            <p:cNvPr id="26" name="AutoShape 75"/>
            <p:cNvSpPr>
              <a:spLocks noChangeArrowheads="1"/>
            </p:cNvSpPr>
            <p:nvPr/>
          </p:nvSpPr>
          <p:spPr bwMode="auto">
            <a:xfrm>
              <a:off x="4643438" y="1412875"/>
              <a:ext cx="1863725" cy="3671888"/>
            </a:xfrm>
            <a:prstGeom prst="parallelogram">
              <a:avLst>
                <a:gd name="adj" fmla="val 88588"/>
              </a:avLst>
            </a:prstGeom>
            <a:solidFill>
              <a:srgbClr val="FFFF66"/>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FF66"/>
              </a:extrusionClr>
              <a:contourClr>
                <a:srgbClr val="FF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27" name="AutoShape 76"/>
            <p:cNvSpPr>
              <a:spLocks noChangeArrowheads="1"/>
            </p:cNvSpPr>
            <p:nvPr/>
          </p:nvSpPr>
          <p:spPr bwMode="auto">
            <a:xfrm>
              <a:off x="5003800" y="1412875"/>
              <a:ext cx="1863725" cy="3671888"/>
            </a:xfrm>
            <a:prstGeom prst="parallelogram">
              <a:avLst>
                <a:gd name="adj" fmla="val 88588"/>
              </a:avLst>
            </a:prstGeom>
            <a:solidFill>
              <a:srgbClr val="FFFF66"/>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FF66"/>
              </a:extrusionClr>
              <a:contourClr>
                <a:srgbClr val="FF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28" name="AutoShape 77"/>
            <p:cNvSpPr>
              <a:spLocks noChangeArrowheads="1"/>
            </p:cNvSpPr>
            <p:nvPr/>
          </p:nvSpPr>
          <p:spPr bwMode="auto">
            <a:xfrm>
              <a:off x="5364163" y="1412875"/>
              <a:ext cx="1863725" cy="3671888"/>
            </a:xfrm>
            <a:prstGeom prst="parallelogram">
              <a:avLst>
                <a:gd name="adj" fmla="val 88588"/>
              </a:avLst>
            </a:prstGeom>
            <a:solidFill>
              <a:srgbClr val="FFFF66"/>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FF66"/>
              </a:extrusionClr>
              <a:contourClr>
                <a:srgbClr val="FF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29" name="Text Box 78"/>
            <p:cNvSpPr txBox="1">
              <a:spLocks noChangeArrowheads="1"/>
            </p:cNvSpPr>
            <p:nvPr/>
          </p:nvSpPr>
          <p:spPr bwMode="auto">
            <a:xfrm rot="-3989026">
              <a:off x="3915570" y="3694906"/>
              <a:ext cx="274796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buClrTx/>
                <a:buFontTx/>
                <a:buNone/>
              </a:pPr>
              <a:r>
                <a:rPr lang="en-US" altLang="de-DE" sz="1300">
                  <a:cs typeface="Times New Roman" panose="02020603050405020304" pitchFamily="18" charset="0"/>
                </a:rPr>
                <a:t>MM00 Materials Management</a:t>
              </a:r>
            </a:p>
          </p:txBody>
        </p:sp>
        <p:sp>
          <p:nvSpPr>
            <p:cNvPr id="30" name="Text Box 79"/>
            <p:cNvSpPr txBox="1">
              <a:spLocks noChangeArrowheads="1"/>
            </p:cNvSpPr>
            <p:nvPr/>
          </p:nvSpPr>
          <p:spPr bwMode="auto">
            <a:xfrm rot="-3944323">
              <a:off x="4433094" y="3958431"/>
              <a:ext cx="21923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buClrTx/>
                <a:buFontTx/>
                <a:buNone/>
              </a:pPr>
              <a:r>
                <a:rPr lang="en-US" altLang="de-DE" sz="1300">
                  <a:cs typeface="Times New Roman" panose="02020603050405020304" pitchFamily="18" charset="0"/>
                </a:rPr>
                <a:t>PU00 Purchasing</a:t>
              </a:r>
            </a:p>
          </p:txBody>
        </p:sp>
        <p:sp>
          <p:nvSpPr>
            <p:cNvPr id="31" name="Text Box 80"/>
            <p:cNvSpPr txBox="1">
              <a:spLocks noChangeArrowheads="1"/>
            </p:cNvSpPr>
            <p:nvPr/>
          </p:nvSpPr>
          <p:spPr bwMode="auto">
            <a:xfrm rot="-3944323">
              <a:off x="4517231" y="3531394"/>
              <a:ext cx="31289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buClrTx/>
                <a:buFontTx/>
                <a:buNone/>
              </a:pPr>
              <a:r>
                <a:rPr lang="en-US" altLang="de-DE" sz="1300">
                  <a:cs typeface="Times New Roman" panose="02020603050405020304" pitchFamily="18" charset="0"/>
                </a:rPr>
                <a:t>SD00 Sales and Distribution</a:t>
              </a:r>
            </a:p>
          </p:txBody>
        </p:sp>
        <p:sp>
          <p:nvSpPr>
            <p:cNvPr id="32" name="AutoShape 81"/>
            <p:cNvSpPr>
              <a:spLocks noChangeArrowheads="1"/>
            </p:cNvSpPr>
            <p:nvPr/>
          </p:nvSpPr>
          <p:spPr bwMode="auto">
            <a:xfrm>
              <a:off x="6011863" y="1341438"/>
              <a:ext cx="2663825" cy="4121150"/>
            </a:xfrm>
            <a:prstGeom prst="parallelogram">
              <a:avLst>
                <a:gd name="adj" fmla="val 68472"/>
              </a:avLst>
            </a:prstGeom>
            <a:gradFill rotWithShape="1">
              <a:gsLst>
                <a:gs pos="0">
                  <a:srgbClr val="00CCFF"/>
                </a:gs>
                <a:gs pos="100000">
                  <a:srgbClr val="005E76"/>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00CCFF"/>
              </a:extrusionClr>
              <a:contourClr>
                <a:srgbClr val="00CCFF"/>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solidFill>
                  <a:srgbClr val="F8F8F8"/>
                </a:solidFill>
              </a:endParaRPr>
            </a:p>
          </p:txBody>
        </p:sp>
        <p:sp>
          <p:nvSpPr>
            <p:cNvPr id="33" name="Text Box 82"/>
            <p:cNvSpPr txBox="1">
              <a:spLocks noChangeArrowheads="1"/>
            </p:cNvSpPr>
            <p:nvPr/>
          </p:nvSpPr>
          <p:spPr bwMode="auto">
            <a:xfrm>
              <a:off x="6156325" y="5141913"/>
              <a:ext cx="844550"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buClrTx/>
                <a:buFontTx/>
                <a:buNone/>
              </a:pPr>
              <a:r>
                <a:rPr lang="en-US" altLang="de-DE" sz="1600">
                  <a:cs typeface="Times New Roman" panose="02020603050405020304" pitchFamily="18" charset="0"/>
                </a:rPr>
                <a:t>SD00</a:t>
              </a:r>
            </a:p>
          </p:txBody>
        </p:sp>
        <p:sp>
          <p:nvSpPr>
            <p:cNvPr id="34" name="AutoShape 83"/>
            <p:cNvSpPr>
              <a:spLocks noChangeArrowheads="1"/>
            </p:cNvSpPr>
            <p:nvPr/>
          </p:nvSpPr>
          <p:spPr bwMode="auto">
            <a:xfrm>
              <a:off x="6308725" y="1412875"/>
              <a:ext cx="1863725" cy="3671888"/>
            </a:xfrm>
            <a:prstGeom prst="parallelogram">
              <a:avLst>
                <a:gd name="adj" fmla="val 88588"/>
              </a:avLst>
            </a:prstGeom>
            <a:solidFill>
              <a:srgbClr val="FFFF66"/>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FF66"/>
              </a:extrusionClr>
              <a:contourClr>
                <a:srgbClr val="FF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35" name="AutoShape 84"/>
            <p:cNvSpPr>
              <a:spLocks noChangeArrowheads="1"/>
            </p:cNvSpPr>
            <p:nvPr/>
          </p:nvSpPr>
          <p:spPr bwMode="auto">
            <a:xfrm>
              <a:off x="6669088" y="1412875"/>
              <a:ext cx="1863725" cy="3671888"/>
            </a:xfrm>
            <a:prstGeom prst="parallelogram">
              <a:avLst>
                <a:gd name="adj" fmla="val 88588"/>
              </a:avLst>
            </a:prstGeom>
            <a:solidFill>
              <a:srgbClr val="FFFF66"/>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FF66"/>
              </a:extrusionClr>
              <a:contourClr>
                <a:srgbClr val="FF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36" name="Text Box 85"/>
            <p:cNvSpPr txBox="1">
              <a:spLocks noChangeArrowheads="1"/>
            </p:cNvSpPr>
            <p:nvPr/>
          </p:nvSpPr>
          <p:spPr bwMode="auto">
            <a:xfrm rot="-3944323">
              <a:off x="5495131" y="3531394"/>
              <a:ext cx="310991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buClrTx/>
                <a:buFontTx/>
                <a:buNone/>
              </a:pPr>
              <a:r>
                <a:rPr lang="en-US" altLang="de-DE" sz="1300">
                  <a:cs typeface="Times New Roman" panose="02020603050405020304" pitchFamily="18" charset="0"/>
                </a:rPr>
                <a:t>MM00 Materials Management</a:t>
              </a:r>
            </a:p>
          </p:txBody>
        </p:sp>
        <p:sp>
          <p:nvSpPr>
            <p:cNvPr id="37" name="Text Box 86"/>
            <p:cNvSpPr txBox="1">
              <a:spLocks noChangeArrowheads="1"/>
            </p:cNvSpPr>
            <p:nvPr/>
          </p:nvSpPr>
          <p:spPr bwMode="auto">
            <a:xfrm rot="-3944323">
              <a:off x="5884863" y="3630612"/>
              <a:ext cx="29146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buClrTx/>
                <a:buFontTx/>
                <a:buNone/>
              </a:pPr>
              <a:r>
                <a:rPr lang="en-US" altLang="de-DE" sz="1300">
                  <a:cs typeface="Times New Roman" panose="02020603050405020304" pitchFamily="18" charset="0"/>
                </a:rPr>
                <a:t>SD00 Sales and Distribution</a:t>
              </a:r>
            </a:p>
          </p:txBody>
        </p:sp>
        <p:sp>
          <p:nvSpPr>
            <p:cNvPr id="38" name="AutoShape 87"/>
            <p:cNvSpPr>
              <a:spLocks noChangeArrowheads="1"/>
            </p:cNvSpPr>
            <p:nvPr/>
          </p:nvSpPr>
          <p:spPr bwMode="auto">
            <a:xfrm>
              <a:off x="3860800" y="1412875"/>
              <a:ext cx="1863725" cy="3671888"/>
            </a:xfrm>
            <a:prstGeom prst="parallelogram">
              <a:avLst>
                <a:gd name="adj" fmla="val 88588"/>
              </a:avLst>
            </a:prstGeom>
            <a:solidFill>
              <a:srgbClr val="FFFF66"/>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FF66"/>
              </a:extrusionClr>
              <a:contourClr>
                <a:srgbClr val="FF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39" name="Text Box 88"/>
            <p:cNvSpPr txBox="1">
              <a:spLocks noChangeArrowheads="1"/>
            </p:cNvSpPr>
            <p:nvPr/>
          </p:nvSpPr>
          <p:spPr bwMode="auto">
            <a:xfrm rot="-3944323">
              <a:off x="3311526" y="3990975"/>
              <a:ext cx="21209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buClrTx/>
                <a:buFontTx/>
                <a:buNone/>
              </a:pPr>
              <a:r>
                <a:rPr lang="en-US" altLang="de-DE" sz="1300">
                  <a:cs typeface="Times New Roman" panose="02020603050405020304" pitchFamily="18" charset="0"/>
                </a:rPr>
                <a:t>PU00 Purchasing</a:t>
              </a:r>
            </a:p>
          </p:txBody>
        </p:sp>
        <p:sp>
          <p:nvSpPr>
            <p:cNvPr id="40" name="Text Box 89"/>
            <p:cNvSpPr txBox="1">
              <a:spLocks noChangeArrowheads="1"/>
            </p:cNvSpPr>
            <p:nvPr/>
          </p:nvSpPr>
          <p:spPr bwMode="auto">
            <a:xfrm>
              <a:off x="7468827" y="3689249"/>
              <a:ext cx="138112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r">
                <a:buClrTx/>
                <a:buFontTx/>
                <a:buNone/>
              </a:pPr>
              <a:r>
                <a:rPr lang="en-US" altLang="de-DE" sz="1000">
                  <a:cs typeface="Times New Roman" panose="02020603050405020304" pitchFamily="18" charset="0"/>
                </a:rPr>
                <a:t>       Employee               </a:t>
              </a:r>
            </a:p>
            <a:p>
              <a:pPr algn="r">
                <a:spcBef>
                  <a:spcPct val="0"/>
                </a:spcBef>
                <a:buClrTx/>
                <a:buFontTx/>
                <a:buNone/>
              </a:pPr>
              <a:r>
                <a:rPr lang="en-US" altLang="de-DE" sz="1000">
                  <a:cs typeface="Times New Roman" panose="02020603050405020304" pitchFamily="18" charset="0"/>
                </a:rPr>
                <a:t>     Subgroup</a:t>
              </a:r>
            </a:p>
            <a:p>
              <a:pPr algn="r">
                <a:buClrTx/>
                <a:buFontTx/>
                <a:buNone/>
              </a:pPr>
              <a:r>
                <a:rPr lang="en-US" altLang="de-DE" sz="1000">
                  <a:cs typeface="Times New Roman" panose="02020603050405020304" pitchFamily="18" charset="0"/>
                </a:rPr>
                <a:t>       </a:t>
              </a:r>
            </a:p>
          </p:txBody>
        </p:sp>
        <p:sp>
          <p:nvSpPr>
            <p:cNvPr id="41" name="AutoShape 90"/>
            <p:cNvSpPr>
              <a:spLocks noChangeArrowheads="1"/>
            </p:cNvSpPr>
            <p:nvPr/>
          </p:nvSpPr>
          <p:spPr bwMode="auto">
            <a:xfrm>
              <a:off x="831850" y="3532188"/>
              <a:ext cx="7231063" cy="609600"/>
            </a:xfrm>
            <a:prstGeom prst="parallelogram">
              <a:avLst>
                <a:gd name="adj" fmla="val 45306"/>
              </a:avLst>
            </a:prstGeom>
            <a:solidFill>
              <a:srgbClr val="6600FF"/>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6600FF"/>
              </a:extrusionClr>
              <a:contourClr>
                <a:srgbClr val="6600FF"/>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solidFill>
                  <a:schemeClr val="bg1"/>
                </a:solidFill>
              </a:endParaRPr>
            </a:p>
          </p:txBody>
        </p:sp>
        <p:sp>
          <p:nvSpPr>
            <p:cNvPr id="42" name="Text Box 91"/>
            <p:cNvSpPr txBox="1">
              <a:spLocks noChangeArrowheads="1"/>
            </p:cNvSpPr>
            <p:nvPr/>
          </p:nvSpPr>
          <p:spPr bwMode="auto">
            <a:xfrm>
              <a:off x="993775" y="3602038"/>
              <a:ext cx="342900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sz="1600">
                  <a:solidFill>
                    <a:srgbClr val="FFFF66"/>
                  </a:solidFill>
                </a:rPr>
                <a:t>      Employee Group 1</a:t>
              </a:r>
              <a:r>
                <a:rPr lang="en-US" altLang="de-DE" sz="1400">
                  <a:solidFill>
                    <a:srgbClr val="FFFF66"/>
                  </a:solidFill>
                </a:rPr>
                <a:t/>
              </a:r>
              <a:br>
                <a:rPr lang="en-US" altLang="de-DE" sz="1400">
                  <a:solidFill>
                    <a:srgbClr val="FFFF66"/>
                  </a:solidFill>
                </a:rPr>
              </a:br>
              <a:r>
                <a:rPr lang="en-US" altLang="de-DE" sz="1000">
                  <a:solidFill>
                    <a:srgbClr val="FFFF66"/>
                  </a:solidFill>
                </a:rPr>
                <a:t>             </a:t>
              </a:r>
              <a:r>
                <a:rPr lang="en-US" altLang="de-DE" sz="1400">
                  <a:solidFill>
                    <a:schemeClr val="bg1"/>
                  </a:solidFill>
                </a:rPr>
                <a:t>Active</a:t>
              </a:r>
              <a:endParaRPr lang="en-US" altLang="de-DE" sz="1400">
                <a:solidFill>
                  <a:schemeClr val="bg1"/>
                </a:solidFill>
                <a:cs typeface="Times New Roman" panose="02020603050405020304" pitchFamily="18" charset="0"/>
              </a:endParaRPr>
            </a:p>
          </p:txBody>
        </p:sp>
        <p:sp>
          <p:nvSpPr>
            <p:cNvPr id="43" name="AutoShape 92"/>
            <p:cNvSpPr>
              <a:spLocks noChangeArrowheads="1"/>
            </p:cNvSpPr>
            <p:nvPr/>
          </p:nvSpPr>
          <p:spPr bwMode="auto">
            <a:xfrm>
              <a:off x="1165225" y="2727325"/>
              <a:ext cx="7281863" cy="609600"/>
            </a:xfrm>
            <a:prstGeom prst="parallelogram">
              <a:avLst>
                <a:gd name="adj" fmla="val 47118"/>
              </a:avLst>
            </a:prstGeom>
            <a:solidFill>
              <a:srgbClr val="6600FF"/>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6600FF"/>
              </a:extrusionClr>
              <a:contourClr>
                <a:srgbClr val="6600FF"/>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solidFill>
                  <a:schemeClr val="bg1"/>
                </a:solidFill>
              </a:endParaRPr>
            </a:p>
          </p:txBody>
        </p:sp>
        <p:sp>
          <p:nvSpPr>
            <p:cNvPr id="44" name="Text Box 93"/>
            <p:cNvSpPr txBox="1">
              <a:spLocks noChangeArrowheads="1"/>
            </p:cNvSpPr>
            <p:nvPr/>
          </p:nvSpPr>
          <p:spPr bwMode="auto">
            <a:xfrm>
              <a:off x="1327150" y="2797175"/>
              <a:ext cx="34290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sz="1600">
                  <a:solidFill>
                    <a:srgbClr val="FFFF66"/>
                  </a:solidFill>
                </a:rPr>
                <a:t>      Employee Group 2</a:t>
              </a:r>
              <a:r>
                <a:rPr lang="en-US" altLang="de-DE" sz="1400">
                  <a:solidFill>
                    <a:srgbClr val="FFFF66"/>
                  </a:solidFill>
                </a:rPr>
                <a:t/>
              </a:r>
              <a:br>
                <a:rPr lang="en-US" altLang="de-DE" sz="1400">
                  <a:solidFill>
                    <a:srgbClr val="FFFF66"/>
                  </a:solidFill>
                </a:rPr>
              </a:br>
              <a:r>
                <a:rPr lang="en-US" altLang="de-DE" sz="1000">
                  <a:solidFill>
                    <a:srgbClr val="FFFF66"/>
                  </a:solidFill>
                </a:rPr>
                <a:t>             </a:t>
              </a:r>
              <a:r>
                <a:rPr lang="en-US" altLang="de-DE" sz="1400">
                  <a:solidFill>
                    <a:schemeClr val="bg1"/>
                  </a:solidFill>
                </a:rPr>
                <a:t>Retiree</a:t>
              </a:r>
              <a:endParaRPr lang="en-US" altLang="de-DE" sz="1400">
                <a:solidFill>
                  <a:schemeClr val="bg1"/>
                </a:solidFill>
                <a:cs typeface="Times New Roman" panose="02020603050405020304" pitchFamily="18" charset="0"/>
              </a:endParaRPr>
            </a:p>
          </p:txBody>
        </p:sp>
        <p:sp>
          <p:nvSpPr>
            <p:cNvPr id="45" name="AutoShape 94"/>
            <p:cNvSpPr>
              <a:spLocks noChangeArrowheads="1"/>
            </p:cNvSpPr>
            <p:nvPr/>
          </p:nvSpPr>
          <p:spPr bwMode="auto">
            <a:xfrm>
              <a:off x="1477963" y="1931988"/>
              <a:ext cx="7339012" cy="609600"/>
            </a:xfrm>
            <a:prstGeom prst="parallelogram">
              <a:avLst>
                <a:gd name="adj" fmla="val 45760"/>
              </a:avLst>
            </a:prstGeom>
            <a:solidFill>
              <a:srgbClr val="6600FF"/>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6600FF"/>
              </a:extrusionClr>
              <a:contourClr>
                <a:srgbClr val="6600FF"/>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solidFill>
                  <a:schemeClr val="bg1"/>
                </a:solidFill>
              </a:endParaRPr>
            </a:p>
          </p:txBody>
        </p:sp>
        <p:sp>
          <p:nvSpPr>
            <p:cNvPr id="46" name="Text Box 95"/>
            <p:cNvSpPr txBox="1">
              <a:spLocks noChangeArrowheads="1"/>
            </p:cNvSpPr>
            <p:nvPr/>
          </p:nvSpPr>
          <p:spPr bwMode="auto">
            <a:xfrm>
              <a:off x="1639888" y="2001838"/>
              <a:ext cx="342900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sz="1600">
                  <a:solidFill>
                    <a:srgbClr val="FFFF66"/>
                  </a:solidFill>
                </a:rPr>
                <a:t>      Employee Group 9</a:t>
              </a:r>
              <a:r>
                <a:rPr lang="en-US" altLang="de-DE" sz="1400">
                  <a:solidFill>
                    <a:srgbClr val="FFFF66"/>
                  </a:solidFill>
                </a:rPr>
                <a:t/>
              </a:r>
              <a:br>
                <a:rPr lang="en-US" altLang="de-DE" sz="1400">
                  <a:solidFill>
                    <a:srgbClr val="FFFF66"/>
                  </a:solidFill>
                </a:rPr>
              </a:br>
              <a:r>
                <a:rPr lang="en-US" altLang="de-DE" sz="1000">
                  <a:solidFill>
                    <a:srgbClr val="FFFF66"/>
                  </a:solidFill>
                </a:rPr>
                <a:t>             </a:t>
              </a:r>
              <a:r>
                <a:rPr lang="en-US" altLang="de-DE" sz="1400">
                  <a:solidFill>
                    <a:schemeClr val="bg1"/>
                  </a:solidFill>
                </a:rPr>
                <a:t>External</a:t>
              </a:r>
              <a:endParaRPr lang="en-US" altLang="de-DE" sz="1400">
                <a:solidFill>
                  <a:schemeClr val="bg1"/>
                </a:solidFill>
                <a:cs typeface="Times New Roman" panose="02020603050405020304" pitchFamily="18" charset="0"/>
              </a:endParaRPr>
            </a:p>
          </p:txBody>
        </p:sp>
        <p:sp>
          <p:nvSpPr>
            <p:cNvPr id="47" name="AutoShape 96"/>
            <p:cNvSpPr>
              <a:spLocks noChangeArrowheads="1"/>
            </p:cNvSpPr>
            <p:nvPr/>
          </p:nvSpPr>
          <p:spPr bwMode="auto">
            <a:xfrm>
              <a:off x="5022850" y="3636963"/>
              <a:ext cx="950913" cy="407987"/>
            </a:xfrm>
            <a:prstGeom prst="parallelogram">
              <a:avLst>
                <a:gd name="adj" fmla="val 41630"/>
              </a:avLst>
            </a:prstGeom>
            <a:solidFill>
              <a:srgbClr val="333399"/>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333399"/>
              </a:extrusionClr>
              <a:contourClr>
                <a:srgbClr val="333399"/>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0"/>
                </a:spcBef>
                <a:buClrTx/>
                <a:buFontTx/>
                <a:buNone/>
              </a:pPr>
              <a:r>
                <a:rPr lang="en-US" altLang="de-DE" sz="1000">
                  <a:solidFill>
                    <a:schemeClr val="bg1"/>
                  </a:solidFill>
                </a:rPr>
                <a:t>11</a:t>
              </a:r>
            </a:p>
            <a:p>
              <a:pPr>
                <a:spcBef>
                  <a:spcPct val="0"/>
                </a:spcBef>
                <a:buClrTx/>
                <a:buFontTx/>
                <a:buNone/>
              </a:pPr>
              <a:r>
                <a:rPr lang="en-US" altLang="de-DE" sz="1000">
                  <a:solidFill>
                    <a:schemeClr val="bg1"/>
                  </a:solidFill>
                </a:rPr>
                <a:t>Hourly Wage</a:t>
              </a:r>
            </a:p>
          </p:txBody>
        </p:sp>
        <p:sp>
          <p:nvSpPr>
            <p:cNvPr id="48" name="AutoShape 97"/>
            <p:cNvSpPr>
              <a:spLocks noChangeArrowheads="1"/>
            </p:cNvSpPr>
            <p:nvPr/>
          </p:nvSpPr>
          <p:spPr bwMode="auto">
            <a:xfrm>
              <a:off x="5973763" y="3636963"/>
              <a:ext cx="950912" cy="407987"/>
            </a:xfrm>
            <a:prstGeom prst="parallelogram">
              <a:avLst>
                <a:gd name="adj" fmla="val 41630"/>
              </a:avLst>
            </a:prstGeom>
            <a:solidFill>
              <a:srgbClr val="333399"/>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333399"/>
              </a:extrusionClr>
              <a:contourClr>
                <a:srgbClr val="333399"/>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0"/>
                </a:spcBef>
                <a:buClrTx/>
                <a:buFontTx/>
                <a:buNone/>
              </a:pPr>
              <a:r>
                <a:rPr lang="en-US" altLang="de-DE" sz="1000">
                  <a:solidFill>
                    <a:schemeClr val="bg1"/>
                  </a:solidFill>
                </a:rPr>
                <a:t>12</a:t>
              </a:r>
            </a:p>
            <a:p>
              <a:pPr>
                <a:spcBef>
                  <a:spcPct val="0"/>
                </a:spcBef>
                <a:buClrTx/>
                <a:buFontTx/>
                <a:buNone/>
              </a:pPr>
              <a:r>
                <a:rPr lang="en-US" altLang="de-DE" sz="1000">
                  <a:solidFill>
                    <a:schemeClr val="bg1"/>
                  </a:solidFill>
                </a:rPr>
                <a:t>Salary scale</a:t>
              </a:r>
            </a:p>
          </p:txBody>
        </p:sp>
        <p:sp>
          <p:nvSpPr>
            <p:cNvPr id="49" name="AutoShape 98"/>
            <p:cNvSpPr>
              <a:spLocks noChangeArrowheads="1"/>
            </p:cNvSpPr>
            <p:nvPr/>
          </p:nvSpPr>
          <p:spPr bwMode="auto">
            <a:xfrm>
              <a:off x="6924675" y="3636963"/>
              <a:ext cx="950913" cy="407987"/>
            </a:xfrm>
            <a:prstGeom prst="parallelogram">
              <a:avLst>
                <a:gd name="adj" fmla="val 41630"/>
              </a:avLst>
            </a:prstGeom>
            <a:solidFill>
              <a:srgbClr val="333399"/>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333399"/>
              </a:extrusionClr>
              <a:contourClr>
                <a:srgbClr val="333399"/>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0"/>
                </a:spcBef>
                <a:buClrTx/>
                <a:buFontTx/>
                <a:buNone/>
              </a:pPr>
              <a:r>
                <a:rPr lang="en-US" altLang="de-DE" sz="1000">
                  <a:solidFill>
                    <a:schemeClr val="bg1"/>
                  </a:solidFill>
                </a:rPr>
                <a:t>13</a:t>
              </a:r>
            </a:p>
            <a:p>
              <a:pPr>
                <a:spcBef>
                  <a:spcPct val="0"/>
                </a:spcBef>
                <a:buClrTx/>
                <a:buFontTx/>
                <a:buNone/>
              </a:pPr>
              <a:r>
                <a:rPr lang="en-US" altLang="de-DE" sz="1000">
                  <a:solidFill>
                    <a:schemeClr val="bg1"/>
                  </a:solidFill>
                </a:rPr>
                <a:t>Executive</a:t>
              </a:r>
            </a:p>
          </p:txBody>
        </p:sp>
        <p:sp>
          <p:nvSpPr>
            <p:cNvPr id="50" name="AutoShape 99"/>
            <p:cNvSpPr>
              <a:spLocks noChangeArrowheads="1"/>
            </p:cNvSpPr>
            <p:nvPr/>
          </p:nvSpPr>
          <p:spPr bwMode="auto">
            <a:xfrm>
              <a:off x="6697663" y="2001838"/>
              <a:ext cx="1941512" cy="407987"/>
            </a:xfrm>
            <a:prstGeom prst="parallelogram">
              <a:avLst>
                <a:gd name="adj" fmla="val 40471"/>
              </a:avLst>
            </a:prstGeom>
            <a:solidFill>
              <a:srgbClr val="333399"/>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333399"/>
              </a:extrusionClr>
              <a:contourClr>
                <a:srgbClr val="333399"/>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0"/>
                </a:spcBef>
                <a:buClrTx/>
                <a:buFontTx/>
                <a:buNone/>
              </a:pPr>
              <a:r>
                <a:rPr lang="en-US" altLang="de-DE" sz="1000">
                  <a:solidFill>
                    <a:schemeClr val="bg1"/>
                  </a:solidFill>
                </a:rPr>
                <a:t>91</a:t>
              </a:r>
            </a:p>
            <a:p>
              <a:pPr>
                <a:spcBef>
                  <a:spcPct val="0"/>
                </a:spcBef>
                <a:buClrTx/>
                <a:buFontTx/>
                <a:buNone/>
              </a:pPr>
              <a:r>
                <a:rPr lang="en-US" altLang="de-DE" sz="1000">
                  <a:solidFill>
                    <a:schemeClr val="bg1"/>
                  </a:solidFill>
                </a:rPr>
                <a:t>Senior Consultant</a:t>
              </a:r>
            </a:p>
          </p:txBody>
        </p:sp>
        <p:sp>
          <p:nvSpPr>
            <p:cNvPr id="51" name="AutoShape 100"/>
            <p:cNvSpPr>
              <a:spLocks noChangeArrowheads="1"/>
            </p:cNvSpPr>
            <p:nvPr/>
          </p:nvSpPr>
          <p:spPr bwMode="auto">
            <a:xfrm>
              <a:off x="4102100" y="3636963"/>
              <a:ext cx="950913" cy="407987"/>
            </a:xfrm>
            <a:prstGeom prst="parallelogram">
              <a:avLst>
                <a:gd name="adj" fmla="val 41630"/>
              </a:avLst>
            </a:prstGeom>
            <a:solidFill>
              <a:srgbClr val="333399"/>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333399"/>
              </a:extrusionClr>
              <a:contourClr>
                <a:srgbClr val="333399"/>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0"/>
                </a:spcBef>
                <a:buClrTx/>
                <a:buFontTx/>
                <a:buNone/>
              </a:pPr>
              <a:r>
                <a:rPr lang="en-US" altLang="de-DE" sz="1000">
                  <a:solidFill>
                    <a:schemeClr val="bg1"/>
                  </a:solidFill>
                </a:rPr>
                <a:t>10</a:t>
              </a:r>
            </a:p>
            <a:p>
              <a:pPr>
                <a:spcBef>
                  <a:spcPct val="0"/>
                </a:spcBef>
                <a:buClrTx/>
                <a:buFontTx/>
                <a:buNone/>
              </a:pPr>
              <a:r>
                <a:rPr lang="en-US" altLang="de-DE" sz="1000">
                  <a:solidFill>
                    <a:schemeClr val="bg1"/>
                  </a:solidFill>
                </a:rPr>
                <a:t>Intern</a:t>
              </a:r>
            </a:p>
          </p:txBody>
        </p:sp>
        <p:sp>
          <p:nvSpPr>
            <p:cNvPr id="52" name="AutoShape 101"/>
            <p:cNvSpPr>
              <a:spLocks noChangeArrowheads="1"/>
            </p:cNvSpPr>
            <p:nvPr/>
          </p:nvSpPr>
          <p:spPr bwMode="auto">
            <a:xfrm>
              <a:off x="4756150" y="2001838"/>
              <a:ext cx="1941513" cy="407987"/>
            </a:xfrm>
            <a:prstGeom prst="parallelogram">
              <a:avLst>
                <a:gd name="adj" fmla="val 40472"/>
              </a:avLst>
            </a:prstGeom>
            <a:solidFill>
              <a:srgbClr val="333399"/>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333399"/>
              </a:extrusionClr>
              <a:contourClr>
                <a:srgbClr val="333399"/>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0"/>
                </a:spcBef>
                <a:buClrTx/>
                <a:buFontTx/>
                <a:buNone/>
              </a:pPr>
              <a:r>
                <a:rPr lang="en-US" altLang="de-DE" sz="1000">
                  <a:solidFill>
                    <a:schemeClr val="bg1"/>
                  </a:solidFill>
                </a:rPr>
                <a:t>90</a:t>
              </a:r>
            </a:p>
            <a:p>
              <a:pPr>
                <a:spcBef>
                  <a:spcPct val="0"/>
                </a:spcBef>
                <a:buClrTx/>
                <a:buFontTx/>
                <a:buNone/>
              </a:pPr>
              <a:r>
                <a:rPr lang="en-US" altLang="de-DE" sz="1000">
                  <a:solidFill>
                    <a:schemeClr val="bg1"/>
                  </a:solidFill>
                </a:rPr>
                <a:t>Junior Consultant</a:t>
              </a:r>
            </a:p>
          </p:txBody>
        </p:sp>
        <p:sp>
          <p:nvSpPr>
            <p:cNvPr id="53" name="AutoShape 102"/>
            <p:cNvSpPr>
              <a:spLocks noChangeArrowheads="1"/>
            </p:cNvSpPr>
            <p:nvPr/>
          </p:nvSpPr>
          <p:spPr bwMode="auto">
            <a:xfrm>
              <a:off x="6321425" y="2805113"/>
              <a:ext cx="1941513" cy="407987"/>
            </a:xfrm>
            <a:prstGeom prst="parallelogram">
              <a:avLst>
                <a:gd name="adj" fmla="val 40472"/>
              </a:avLst>
            </a:prstGeom>
            <a:solidFill>
              <a:srgbClr val="333399"/>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333399"/>
              </a:extrusionClr>
              <a:contourClr>
                <a:srgbClr val="333399"/>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0"/>
                </a:spcBef>
                <a:buClrTx/>
                <a:buFontTx/>
                <a:buNone/>
              </a:pPr>
              <a:r>
                <a:rPr lang="en-US" altLang="de-DE" sz="1000">
                  <a:solidFill>
                    <a:schemeClr val="bg1"/>
                  </a:solidFill>
                </a:rPr>
                <a:t>21</a:t>
              </a:r>
            </a:p>
            <a:p>
              <a:pPr>
                <a:spcBef>
                  <a:spcPct val="0"/>
                </a:spcBef>
                <a:buClrTx/>
                <a:buFontTx/>
                <a:buNone/>
              </a:pPr>
              <a:r>
                <a:rPr lang="en-US" altLang="de-DE" sz="1000">
                  <a:solidFill>
                    <a:schemeClr val="bg1"/>
                  </a:solidFill>
                </a:rPr>
                <a:t>Honorary</a:t>
              </a:r>
            </a:p>
          </p:txBody>
        </p:sp>
        <p:sp>
          <p:nvSpPr>
            <p:cNvPr id="54" name="AutoShape 103"/>
            <p:cNvSpPr>
              <a:spLocks noChangeArrowheads="1"/>
            </p:cNvSpPr>
            <p:nvPr/>
          </p:nvSpPr>
          <p:spPr bwMode="auto">
            <a:xfrm>
              <a:off x="4379913" y="2805113"/>
              <a:ext cx="1941512" cy="407987"/>
            </a:xfrm>
            <a:prstGeom prst="parallelogram">
              <a:avLst>
                <a:gd name="adj" fmla="val 40471"/>
              </a:avLst>
            </a:prstGeom>
            <a:solidFill>
              <a:srgbClr val="333399"/>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333399"/>
              </a:extrusionClr>
              <a:contourClr>
                <a:srgbClr val="333399"/>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0"/>
                </a:spcBef>
                <a:buClrTx/>
                <a:buFontTx/>
                <a:buNone/>
              </a:pPr>
              <a:r>
                <a:rPr lang="en-US" altLang="de-DE" sz="1000">
                  <a:solidFill>
                    <a:schemeClr val="bg1"/>
                  </a:solidFill>
                </a:rPr>
                <a:t>20</a:t>
              </a:r>
            </a:p>
            <a:p>
              <a:pPr>
                <a:spcBef>
                  <a:spcPct val="0"/>
                </a:spcBef>
                <a:buClrTx/>
                <a:buFontTx/>
                <a:buNone/>
              </a:pPr>
              <a:r>
                <a:rPr lang="en-US" altLang="de-DE" sz="1000">
                  <a:solidFill>
                    <a:schemeClr val="bg1"/>
                  </a:solidFill>
                </a:rPr>
                <a:t>Pensioner</a:t>
              </a:r>
            </a:p>
          </p:txBody>
        </p:sp>
      </p:grpSp>
    </p:spTree>
    <p:extLst>
      <p:ext uri="{BB962C8B-B14F-4D97-AF65-F5344CB8AC3E}">
        <p14:creationId xmlns:p14="http://schemas.microsoft.com/office/powerpoint/2010/main" val="6242943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a:t>Global Bike Enterprise Structure in </a:t>
            </a:r>
            <a:r>
              <a:rPr lang="en-US" altLang="de-DE" dirty="0" smtClean="0"/>
              <a:t>HCM </a:t>
            </a:r>
            <a:r>
              <a:rPr lang="en-US" altLang="de-DE" dirty="0"/>
              <a:t>(DE)</a:t>
            </a:r>
            <a:endParaRPr lang="de-DE" dirty="0"/>
          </a:p>
        </p:txBody>
      </p:sp>
      <p:grpSp>
        <p:nvGrpSpPr>
          <p:cNvPr id="4" name="Gruppieren 44"/>
          <p:cNvGrpSpPr>
            <a:grpSpLocks/>
          </p:cNvGrpSpPr>
          <p:nvPr/>
        </p:nvGrpSpPr>
        <p:grpSpPr bwMode="auto">
          <a:xfrm>
            <a:off x="2046094" y="1450975"/>
            <a:ext cx="8101012" cy="4752975"/>
            <a:chOff x="84138" y="1212850"/>
            <a:chExt cx="8915400" cy="4953000"/>
          </a:xfrm>
        </p:grpSpPr>
        <p:sp>
          <p:nvSpPr>
            <p:cNvPr id="5" name="AutoShape 50"/>
            <p:cNvSpPr>
              <a:spLocks noChangeArrowheads="1"/>
            </p:cNvSpPr>
            <p:nvPr/>
          </p:nvSpPr>
          <p:spPr bwMode="auto">
            <a:xfrm>
              <a:off x="84138" y="1212850"/>
              <a:ext cx="8915400" cy="4953000"/>
            </a:xfrm>
            <a:prstGeom prst="parallelogram">
              <a:avLst>
                <a:gd name="adj" fmla="val 45000"/>
              </a:avLst>
            </a:prstGeom>
            <a:gradFill rotWithShape="0">
              <a:gsLst>
                <a:gs pos="0">
                  <a:srgbClr val="0050A8"/>
                </a:gs>
                <a:gs pos="100000">
                  <a:srgbClr val="B5C1E9"/>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B5C1E9"/>
              </a:extrusionClr>
              <a:contourClr>
                <a:srgbClr val="0050A8"/>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6" name="Rectangle 51"/>
            <p:cNvSpPr>
              <a:spLocks noChangeArrowheads="1"/>
            </p:cNvSpPr>
            <p:nvPr/>
          </p:nvSpPr>
          <p:spPr bwMode="auto">
            <a:xfrm>
              <a:off x="185738" y="5856288"/>
              <a:ext cx="2138362" cy="305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buClrTx/>
                <a:buFontTx/>
                <a:buNone/>
              </a:pPr>
              <a:r>
                <a:rPr lang="en-US" altLang="de-DE" sz="1600" dirty="0"/>
                <a:t>Client Global Bike</a:t>
              </a:r>
            </a:p>
          </p:txBody>
        </p:sp>
        <p:sp>
          <p:nvSpPr>
            <p:cNvPr id="7" name="AutoShape 52"/>
            <p:cNvSpPr>
              <a:spLocks noChangeArrowheads="1"/>
            </p:cNvSpPr>
            <p:nvPr/>
          </p:nvSpPr>
          <p:spPr bwMode="auto">
            <a:xfrm>
              <a:off x="334963" y="1262063"/>
              <a:ext cx="8534400" cy="4568825"/>
            </a:xfrm>
            <a:prstGeom prst="parallelogram">
              <a:avLst>
                <a:gd name="adj" fmla="val 45065"/>
              </a:avLst>
            </a:prstGeom>
            <a:gradFill rotWithShape="1">
              <a:gsLst>
                <a:gs pos="0">
                  <a:srgbClr val="99FF66">
                    <a:alpha val="89998"/>
                  </a:srgbClr>
                </a:gs>
                <a:gs pos="100000">
                  <a:srgbClr val="47762F"/>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9FF66"/>
              </a:extrusionClr>
              <a:contourClr>
                <a:srgbClr val="99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solidFill>
                  <a:srgbClr val="F8F8F8"/>
                </a:solidFill>
              </a:endParaRPr>
            </a:p>
          </p:txBody>
        </p:sp>
        <p:sp>
          <p:nvSpPr>
            <p:cNvPr id="8" name="Text Box 53"/>
            <p:cNvSpPr txBox="1">
              <a:spLocks noChangeArrowheads="1"/>
            </p:cNvSpPr>
            <p:nvPr/>
          </p:nvSpPr>
          <p:spPr bwMode="auto">
            <a:xfrm>
              <a:off x="258763" y="5540375"/>
              <a:ext cx="3365500"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buClrTx/>
                <a:buFontTx/>
                <a:buNone/>
              </a:pPr>
              <a:r>
                <a:rPr lang="en-US" altLang="de-DE" sz="1600">
                  <a:cs typeface="Times New Roman" panose="02020603050405020304" pitchFamily="18" charset="0"/>
                </a:rPr>
                <a:t>  Company Code DE00</a:t>
              </a:r>
            </a:p>
          </p:txBody>
        </p:sp>
        <p:sp>
          <p:nvSpPr>
            <p:cNvPr id="9" name="AutoShape 54"/>
            <p:cNvSpPr>
              <a:spLocks noChangeArrowheads="1"/>
            </p:cNvSpPr>
            <p:nvPr/>
          </p:nvSpPr>
          <p:spPr bwMode="auto">
            <a:xfrm>
              <a:off x="587375" y="1363663"/>
              <a:ext cx="4921250" cy="4111625"/>
            </a:xfrm>
            <a:prstGeom prst="parallelogram">
              <a:avLst>
                <a:gd name="adj" fmla="val 44751"/>
              </a:avLst>
            </a:prstGeom>
            <a:gradFill rotWithShape="1">
              <a:gsLst>
                <a:gs pos="0">
                  <a:srgbClr val="00CCFF"/>
                </a:gs>
                <a:gs pos="100000">
                  <a:srgbClr val="005E76"/>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00CCFF"/>
              </a:extrusionClr>
              <a:contourClr>
                <a:srgbClr val="00CCFF"/>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solidFill>
                  <a:srgbClr val="F8F8F8"/>
                </a:solidFill>
              </a:endParaRPr>
            </a:p>
          </p:txBody>
        </p:sp>
        <p:sp>
          <p:nvSpPr>
            <p:cNvPr id="10" name="Text Box 55"/>
            <p:cNvSpPr txBox="1">
              <a:spLocks noChangeArrowheads="1"/>
            </p:cNvSpPr>
            <p:nvPr/>
          </p:nvSpPr>
          <p:spPr bwMode="auto">
            <a:xfrm>
              <a:off x="574675" y="5157788"/>
              <a:ext cx="4106388" cy="305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buClrTx/>
                <a:buFontTx/>
                <a:buNone/>
              </a:pPr>
              <a:r>
                <a:rPr lang="en-US" altLang="de-DE" sz="1600" dirty="0">
                  <a:cs typeface="Times New Roman" panose="02020603050405020304" pitchFamily="18" charset="0"/>
                </a:rPr>
                <a:t> Pers. Area </a:t>
              </a:r>
              <a:r>
                <a:rPr lang="en-US" altLang="de-DE" sz="1600" dirty="0" smtClean="0">
                  <a:cs typeface="Times New Roman" panose="02020603050405020304" pitchFamily="18" charset="0"/>
                </a:rPr>
                <a:t>Heidelberg HD00</a:t>
              </a:r>
              <a:endParaRPr lang="en-US" altLang="de-DE" sz="1600" dirty="0">
                <a:cs typeface="Times New Roman" panose="02020603050405020304" pitchFamily="18" charset="0"/>
              </a:endParaRPr>
            </a:p>
          </p:txBody>
        </p:sp>
        <p:sp>
          <p:nvSpPr>
            <p:cNvPr id="11" name="AutoShape 56"/>
            <p:cNvSpPr>
              <a:spLocks noChangeArrowheads="1"/>
            </p:cNvSpPr>
            <p:nvPr/>
          </p:nvSpPr>
          <p:spPr bwMode="auto">
            <a:xfrm>
              <a:off x="842963" y="1412875"/>
              <a:ext cx="2720975" cy="3671888"/>
            </a:xfrm>
            <a:prstGeom prst="parallelogram">
              <a:avLst>
                <a:gd name="adj" fmla="val 60384"/>
              </a:avLst>
            </a:prstGeom>
            <a:solidFill>
              <a:srgbClr val="FFFF66"/>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FF66"/>
              </a:extrusionClr>
              <a:contourClr>
                <a:srgbClr val="FF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12" name="AutoShape 58"/>
            <p:cNvSpPr>
              <a:spLocks noChangeArrowheads="1"/>
            </p:cNvSpPr>
            <p:nvPr/>
          </p:nvSpPr>
          <p:spPr bwMode="auto">
            <a:xfrm>
              <a:off x="2411413" y="1412875"/>
              <a:ext cx="1863725" cy="3671888"/>
            </a:xfrm>
            <a:prstGeom prst="parallelogram">
              <a:avLst>
                <a:gd name="adj" fmla="val 88588"/>
              </a:avLst>
            </a:prstGeom>
            <a:solidFill>
              <a:srgbClr val="FFFF66"/>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FF66"/>
              </a:extrusionClr>
              <a:contourClr>
                <a:srgbClr val="FF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13" name="AutoShape 59"/>
            <p:cNvSpPr>
              <a:spLocks noChangeArrowheads="1"/>
            </p:cNvSpPr>
            <p:nvPr/>
          </p:nvSpPr>
          <p:spPr bwMode="auto">
            <a:xfrm>
              <a:off x="2051050" y="1412875"/>
              <a:ext cx="1863725" cy="3671888"/>
            </a:xfrm>
            <a:prstGeom prst="parallelogram">
              <a:avLst>
                <a:gd name="adj" fmla="val 88588"/>
              </a:avLst>
            </a:prstGeom>
            <a:solidFill>
              <a:srgbClr val="FFFF66"/>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FF66"/>
              </a:extrusionClr>
              <a:contourClr>
                <a:srgbClr val="FF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14" name="AutoShape 60"/>
            <p:cNvSpPr>
              <a:spLocks noChangeArrowheads="1"/>
            </p:cNvSpPr>
            <p:nvPr/>
          </p:nvSpPr>
          <p:spPr bwMode="auto">
            <a:xfrm>
              <a:off x="2771775" y="1412875"/>
              <a:ext cx="1863725" cy="3671888"/>
            </a:xfrm>
            <a:prstGeom prst="parallelogram">
              <a:avLst>
                <a:gd name="adj" fmla="val 88588"/>
              </a:avLst>
            </a:prstGeom>
            <a:solidFill>
              <a:srgbClr val="FFFF66"/>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FF66"/>
              </a:extrusionClr>
              <a:contourClr>
                <a:srgbClr val="FF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15" name="AutoShape 61"/>
            <p:cNvSpPr>
              <a:spLocks noChangeArrowheads="1"/>
            </p:cNvSpPr>
            <p:nvPr/>
          </p:nvSpPr>
          <p:spPr bwMode="auto">
            <a:xfrm>
              <a:off x="3132138" y="1412875"/>
              <a:ext cx="1863725" cy="3671888"/>
            </a:xfrm>
            <a:prstGeom prst="parallelogram">
              <a:avLst>
                <a:gd name="adj" fmla="val 88588"/>
              </a:avLst>
            </a:prstGeom>
            <a:solidFill>
              <a:srgbClr val="FFFF66"/>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FF66"/>
              </a:extrusionClr>
              <a:contourClr>
                <a:srgbClr val="FF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16" name="AutoShape 62"/>
            <p:cNvSpPr>
              <a:spLocks noChangeArrowheads="1"/>
            </p:cNvSpPr>
            <p:nvPr/>
          </p:nvSpPr>
          <p:spPr bwMode="auto">
            <a:xfrm>
              <a:off x="3492500" y="1412875"/>
              <a:ext cx="1863725" cy="3671888"/>
            </a:xfrm>
            <a:prstGeom prst="parallelogram">
              <a:avLst>
                <a:gd name="adj" fmla="val 88588"/>
              </a:avLst>
            </a:prstGeom>
            <a:solidFill>
              <a:srgbClr val="FFFF66"/>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FF66"/>
              </a:extrusionClr>
              <a:contourClr>
                <a:srgbClr val="FF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17" name="Text Box 63"/>
            <p:cNvSpPr txBox="1">
              <a:spLocks noChangeArrowheads="1"/>
            </p:cNvSpPr>
            <p:nvPr/>
          </p:nvSpPr>
          <p:spPr bwMode="auto">
            <a:xfrm>
              <a:off x="827088" y="4652963"/>
              <a:ext cx="14859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buClrTx/>
                <a:buFontTx/>
                <a:buNone/>
              </a:pPr>
              <a:r>
                <a:rPr lang="en-US" altLang="de-DE">
                  <a:cs typeface="Times New Roman" panose="02020603050405020304" pitchFamily="18" charset="0"/>
                </a:rPr>
                <a:t>   Executives</a:t>
              </a:r>
              <a:endParaRPr lang="en-US" altLang="de-DE" sz="1300">
                <a:cs typeface="Times New Roman" panose="02020603050405020304" pitchFamily="18" charset="0"/>
              </a:endParaRPr>
            </a:p>
            <a:p>
              <a:pPr>
                <a:spcBef>
                  <a:spcPct val="0"/>
                </a:spcBef>
                <a:buClrTx/>
                <a:buFontTx/>
                <a:buNone/>
              </a:pPr>
              <a:r>
                <a:rPr lang="en-US" altLang="de-DE" sz="1300">
                  <a:cs typeface="Times New Roman" panose="02020603050405020304" pitchFamily="18" charset="0"/>
                </a:rPr>
                <a:t>  EX00</a:t>
              </a:r>
            </a:p>
          </p:txBody>
        </p:sp>
        <p:sp>
          <p:nvSpPr>
            <p:cNvPr id="18" name="Text Box 64"/>
            <p:cNvSpPr txBox="1">
              <a:spLocks noChangeArrowheads="1"/>
            </p:cNvSpPr>
            <p:nvPr/>
          </p:nvSpPr>
          <p:spPr bwMode="auto">
            <a:xfrm rot="-3944323">
              <a:off x="1690688" y="4265612"/>
              <a:ext cx="14859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buClrTx/>
                <a:buFontTx/>
                <a:buNone/>
              </a:pPr>
              <a:r>
                <a:rPr lang="en-US" altLang="de-DE" sz="1300">
                  <a:cs typeface="Times New Roman" panose="02020603050405020304" pitchFamily="18" charset="0"/>
                </a:rPr>
                <a:t>FI00 Finance</a:t>
              </a:r>
            </a:p>
          </p:txBody>
        </p:sp>
        <p:sp>
          <p:nvSpPr>
            <p:cNvPr id="19" name="Text Box 65"/>
            <p:cNvSpPr txBox="1">
              <a:spLocks noChangeArrowheads="1"/>
            </p:cNvSpPr>
            <p:nvPr/>
          </p:nvSpPr>
          <p:spPr bwMode="auto">
            <a:xfrm rot="-3944323">
              <a:off x="2519363" y="3892550"/>
              <a:ext cx="23368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buClrTx/>
                <a:buFontTx/>
                <a:buNone/>
              </a:pPr>
              <a:r>
                <a:rPr lang="en-US" altLang="de-DE" sz="1300">
                  <a:cs typeface="Times New Roman" panose="02020603050405020304" pitchFamily="18" charset="0"/>
                </a:rPr>
                <a:t>PP00 Production</a:t>
              </a:r>
            </a:p>
          </p:txBody>
        </p:sp>
        <p:sp>
          <p:nvSpPr>
            <p:cNvPr id="20" name="Text Box 66"/>
            <p:cNvSpPr txBox="1">
              <a:spLocks noChangeArrowheads="1"/>
            </p:cNvSpPr>
            <p:nvPr/>
          </p:nvSpPr>
          <p:spPr bwMode="auto">
            <a:xfrm rot="-3944323">
              <a:off x="2899569" y="3925094"/>
              <a:ext cx="22653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buClrTx/>
                <a:buFontTx/>
                <a:buNone/>
              </a:pPr>
              <a:r>
                <a:rPr lang="en-US" altLang="de-DE" sz="1300">
                  <a:cs typeface="Times New Roman" panose="02020603050405020304" pitchFamily="18" charset="0"/>
                </a:rPr>
                <a:t>PU00 Purchasing</a:t>
              </a:r>
            </a:p>
          </p:txBody>
        </p:sp>
        <p:sp>
          <p:nvSpPr>
            <p:cNvPr id="21" name="Text Box 67"/>
            <p:cNvSpPr txBox="1">
              <a:spLocks noChangeArrowheads="1"/>
            </p:cNvSpPr>
            <p:nvPr/>
          </p:nvSpPr>
          <p:spPr bwMode="auto">
            <a:xfrm rot="-3944323">
              <a:off x="1664494" y="3618706"/>
              <a:ext cx="28908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buClrTx/>
                <a:buFontTx/>
                <a:buNone/>
              </a:pPr>
              <a:r>
                <a:rPr lang="en-US" altLang="de-DE" sz="1300">
                  <a:cs typeface="Times New Roman" panose="02020603050405020304" pitchFamily="18" charset="0"/>
                </a:rPr>
                <a:t>HR00 Human Resources</a:t>
              </a:r>
            </a:p>
          </p:txBody>
        </p:sp>
        <p:sp>
          <p:nvSpPr>
            <p:cNvPr id="22" name="Text Box 68"/>
            <p:cNvSpPr txBox="1">
              <a:spLocks noChangeArrowheads="1"/>
            </p:cNvSpPr>
            <p:nvPr/>
          </p:nvSpPr>
          <p:spPr bwMode="auto">
            <a:xfrm rot="-3944323">
              <a:off x="1843881" y="3337719"/>
              <a:ext cx="34972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buClrTx/>
                <a:buFontTx/>
                <a:buNone/>
              </a:pPr>
              <a:r>
                <a:rPr lang="en-US" altLang="de-DE" sz="1300">
                  <a:cs typeface="Times New Roman" panose="02020603050405020304" pitchFamily="18" charset="0"/>
                </a:rPr>
                <a:t>MM00 Materials Management</a:t>
              </a:r>
            </a:p>
          </p:txBody>
        </p:sp>
        <p:sp>
          <p:nvSpPr>
            <p:cNvPr id="23" name="AutoShape 69"/>
            <p:cNvSpPr>
              <a:spLocks noChangeArrowheads="1"/>
            </p:cNvSpPr>
            <p:nvPr/>
          </p:nvSpPr>
          <p:spPr bwMode="auto">
            <a:xfrm>
              <a:off x="4354513" y="1354138"/>
              <a:ext cx="3386137" cy="4121150"/>
            </a:xfrm>
            <a:prstGeom prst="parallelogram">
              <a:avLst>
                <a:gd name="adj" fmla="val 54569"/>
              </a:avLst>
            </a:prstGeom>
            <a:gradFill rotWithShape="1">
              <a:gsLst>
                <a:gs pos="0">
                  <a:srgbClr val="00CCFF"/>
                </a:gs>
                <a:gs pos="100000">
                  <a:srgbClr val="005E76"/>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00CCFF"/>
              </a:extrusionClr>
              <a:contourClr>
                <a:srgbClr val="00CCFF"/>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solidFill>
                  <a:srgbClr val="F8F8F8"/>
                </a:solidFill>
              </a:endParaRPr>
            </a:p>
          </p:txBody>
        </p:sp>
        <p:sp>
          <p:nvSpPr>
            <p:cNvPr id="24" name="Text Box 70"/>
            <p:cNvSpPr txBox="1">
              <a:spLocks noChangeArrowheads="1"/>
            </p:cNvSpPr>
            <p:nvPr/>
          </p:nvSpPr>
          <p:spPr bwMode="auto">
            <a:xfrm>
              <a:off x="4387850" y="5154613"/>
              <a:ext cx="1875950" cy="305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buClrTx/>
                <a:buFontTx/>
                <a:buNone/>
              </a:pPr>
              <a:r>
                <a:rPr lang="en-US" altLang="de-DE" sz="1600" dirty="0" smtClean="0">
                  <a:cs typeface="Times New Roman" panose="02020603050405020304" pitchFamily="18" charset="0"/>
                </a:rPr>
                <a:t>Hamburg HH00</a:t>
              </a:r>
              <a:endParaRPr lang="en-US" altLang="de-DE" sz="1600" dirty="0">
                <a:cs typeface="Times New Roman" panose="02020603050405020304" pitchFamily="18" charset="0"/>
              </a:endParaRPr>
            </a:p>
          </p:txBody>
        </p:sp>
        <p:sp>
          <p:nvSpPr>
            <p:cNvPr id="25" name="AutoShape 71"/>
            <p:cNvSpPr>
              <a:spLocks noChangeArrowheads="1"/>
            </p:cNvSpPr>
            <p:nvPr/>
          </p:nvSpPr>
          <p:spPr bwMode="auto">
            <a:xfrm>
              <a:off x="4643438" y="1412875"/>
              <a:ext cx="1863725" cy="3671888"/>
            </a:xfrm>
            <a:prstGeom prst="parallelogram">
              <a:avLst>
                <a:gd name="adj" fmla="val 88588"/>
              </a:avLst>
            </a:prstGeom>
            <a:solidFill>
              <a:srgbClr val="FFFF66"/>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FF66"/>
              </a:extrusionClr>
              <a:contourClr>
                <a:srgbClr val="FF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26" name="AutoShape 72"/>
            <p:cNvSpPr>
              <a:spLocks noChangeArrowheads="1"/>
            </p:cNvSpPr>
            <p:nvPr/>
          </p:nvSpPr>
          <p:spPr bwMode="auto">
            <a:xfrm>
              <a:off x="5003800" y="1412875"/>
              <a:ext cx="1863725" cy="3671888"/>
            </a:xfrm>
            <a:prstGeom prst="parallelogram">
              <a:avLst>
                <a:gd name="adj" fmla="val 88588"/>
              </a:avLst>
            </a:prstGeom>
            <a:solidFill>
              <a:srgbClr val="FFFF66"/>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FF66"/>
              </a:extrusionClr>
              <a:contourClr>
                <a:srgbClr val="FF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27" name="AutoShape 73"/>
            <p:cNvSpPr>
              <a:spLocks noChangeArrowheads="1"/>
            </p:cNvSpPr>
            <p:nvPr/>
          </p:nvSpPr>
          <p:spPr bwMode="auto">
            <a:xfrm>
              <a:off x="5364163" y="1412875"/>
              <a:ext cx="1863725" cy="3671888"/>
            </a:xfrm>
            <a:prstGeom prst="parallelogram">
              <a:avLst>
                <a:gd name="adj" fmla="val 88588"/>
              </a:avLst>
            </a:prstGeom>
            <a:solidFill>
              <a:srgbClr val="FFFF66"/>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FF66"/>
              </a:extrusionClr>
              <a:contourClr>
                <a:srgbClr val="FF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28" name="Text Box 74"/>
            <p:cNvSpPr txBox="1">
              <a:spLocks noChangeArrowheads="1"/>
            </p:cNvSpPr>
            <p:nvPr/>
          </p:nvSpPr>
          <p:spPr bwMode="auto">
            <a:xfrm rot="-3989026">
              <a:off x="3915570" y="3694906"/>
              <a:ext cx="274796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buClrTx/>
                <a:buFontTx/>
                <a:buNone/>
              </a:pPr>
              <a:r>
                <a:rPr lang="en-US" altLang="de-DE" sz="1300">
                  <a:cs typeface="Times New Roman" panose="02020603050405020304" pitchFamily="18" charset="0"/>
                </a:rPr>
                <a:t>MM00 Materials Management</a:t>
              </a:r>
            </a:p>
          </p:txBody>
        </p:sp>
        <p:sp>
          <p:nvSpPr>
            <p:cNvPr id="29" name="Text Box 75"/>
            <p:cNvSpPr txBox="1">
              <a:spLocks noChangeArrowheads="1"/>
            </p:cNvSpPr>
            <p:nvPr/>
          </p:nvSpPr>
          <p:spPr bwMode="auto">
            <a:xfrm rot="-3944323">
              <a:off x="4433094" y="3958431"/>
              <a:ext cx="21923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buClrTx/>
                <a:buFontTx/>
                <a:buNone/>
              </a:pPr>
              <a:r>
                <a:rPr lang="en-US" altLang="de-DE" sz="1300">
                  <a:cs typeface="Times New Roman" panose="02020603050405020304" pitchFamily="18" charset="0"/>
                </a:rPr>
                <a:t>PU00 Purchasing</a:t>
              </a:r>
            </a:p>
          </p:txBody>
        </p:sp>
        <p:sp>
          <p:nvSpPr>
            <p:cNvPr id="30" name="Text Box 76"/>
            <p:cNvSpPr txBox="1">
              <a:spLocks noChangeArrowheads="1"/>
            </p:cNvSpPr>
            <p:nvPr/>
          </p:nvSpPr>
          <p:spPr bwMode="auto">
            <a:xfrm rot="-3944323">
              <a:off x="4517231" y="3531394"/>
              <a:ext cx="31289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buClrTx/>
                <a:buFontTx/>
                <a:buNone/>
              </a:pPr>
              <a:r>
                <a:rPr lang="en-US" altLang="de-DE" sz="1300">
                  <a:cs typeface="Times New Roman" panose="02020603050405020304" pitchFamily="18" charset="0"/>
                </a:rPr>
                <a:t>SD00 Sales and Distribution</a:t>
              </a:r>
            </a:p>
          </p:txBody>
        </p:sp>
        <p:sp>
          <p:nvSpPr>
            <p:cNvPr id="31" name="AutoShape 78"/>
            <p:cNvSpPr>
              <a:spLocks noChangeArrowheads="1"/>
            </p:cNvSpPr>
            <p:nvPr/>
          </p:nvSpPr>
          <p:spPr bwMode="auto">
            <a:xfrm>
              <a:off x="1165225" y="2727325"/>
              <a:ext cx="7281863" cy="609600"/>
            </a:xfrm>
            <a:prstGeom prst="parallelogram">
              <a:avLst>
                <a:gd name="adj" fmla="val 47118"/>
              </a:avLst>
            </a:prstGeom>
            <a:solidFill>
              <a:srgbClr val="6600FF"/>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6600FF"/>
              </a:extrusionClr>
              <a:contourClr>
                <a:srgbClr val="6600FF"/>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solidFill>
                  <a:schemeClr val="bg1"/>
                </a:solidFill>
              </a:endParaRPr>
            </a:p>
          </p:txBody>
        </p:sp>
        <p:sp>
          <p:nvSpPr>
            <p:cNvPr id="32" name="Text Box 79"/>
            <p:cNvSpPr txBox="1">
              <a:spLocks noChangeArrowheads="1"/>
            </p:cNvSpPr>
            <p:nvPr/>
          </p:nvSpPr>
          <p:spPr bwMode="auto">
            <a:xfrm>
              <a:off x="1327150" y="2797175"/>
              <a:ext cx="34290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sz="1600">
                  <a:solidFill>
                    <a:srgbClr val="FFFF66"/>
                  </a:solidFill>
                </a:rPr>
                <a:t>      Employee Group 2</a:t>
              </a:r>
              <a:r>
                <a:rPr lang="en-US" altLang="de-DE" sz="1400">
                  <a:solidFill>
                    <a:srgbClr val="FFFF66"/>
                  </a:solidFill>
                </a:rPr>
                <a:t/>
              </a:r>
              <a:br>
                <a:rPr lang="en-US" altLang="de-DE" sz="1400">
                  <a:solidFill>
                    <a:srgbClr val="FFFF66"/>
                  </a:solidFill>
                </a:rPr>
              </a:br>
              <a:r>
                <a:rPr lang="en-US" altLang="de-DE" sz="1000">
                  <a:solidFill>
                    <a:srgbClr val="FFFF66"/>
                  </a:solidFill>
                </a:rPr>
                <a:t>             </a:t>
              </a:r>
              <a:r>
                <a:rPr lang="en-US" altLang="de-DE" sz="1400">
                  <a:solidFill>
                    <a:schemeClr val="bg1"/>
                  </a:solidFill>
                </a:rPr>
                <a:t>Retiree</a:t>
              </a:r>
              <a:endParaRPr lang="en-US" altLang="de-DE" sz="1400">
                <a:solidFill>
                  <a:schemeClr val="bg1"/>
                </a:solidFill>
                <a:cs typeface="Times New Roman" panose="02020603050405020304" pitchFamily="18" charset="0"/>
              </a:endParaRPr>
            </a:p>
          </p:txBody>
        </p:sp>
        <p:sp>
          <p:nvSpPr>
            <p:cNvPr id="33" name="AutoShape 80"/>
            <p:cNvSpPr>
              <a:spLocks noChangeArrowheads="1"/>
            </p:cNvSpPr>
            <p:nvPr/>
          </p:nvSpPr>
          <p:spPr bwMode="auto">
            <a:xfrm>
              <a:off x="1477963" y="1931988"/>
              <a:ext cx="7339012" cy="609600"/>
            </a:xfrm>
            <a:prstGeom prst="parallelogram">
              <a:avLst>
                <a:gd name="adj" fmla="val 45760"/>
              </a:avLst>
            </a:prstGeom>
            <a:solidFill>
              <a:srgbClr val="6600FF"/>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6600FF"/>
              </a:extrusionClr>
              <a:contourClr>
                <a:srgbClr val="6600FF"/>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solidFill>
                  <a:schemeClr val="bg1"/>
                </a:solidFill>
              </a:endParaRPr>
            </a:p>
          </p:txBody>
        </p:sp>
        <p:sp>
          <p:nvSpPr>
            <p:cNvPr id="34" name="Text Box 81"/>
            <p:cNvSpPr txBox="1">
              <a:spLocks noChangeArrowheads="1"/>
            </p:cNvSpPr>
            <p:nvPr/>
          </p:nvSpPr>
          <p:spPr bwMode="auto">
            <a:xfrm>
              <a:off x="1639888" y="2001838"/>
              <a:ext cx="342900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sz="1600">
                  <a:solidFill>
                    <a:srgbClr val="FFFF66"/>
                  </a:solidFill>
                </a:rPr>
                <a:t>      Employee Group 9</a:t>
              </a:r>
              <a:r>
                <a:rPr lang="en-US" altLang="de-DE" sz="1400">
                  <a:solidFill>
                    <a:srgbClr val="FFFF66"/>
                  </a:solidFill>
                </a:rPr>
                <a:t/>
              </a:r>
              <a:br>
                <a:rPr lang="en-US" altLang="de-DE" sz="1400">
                  <a:solidFill>
                    <a:srgbClr val="FFFF66"/>
                  </a:solidFill>
                </a:rPr>
              </a:br>
              <a:r>
                <a:rPr lang="en-US" altLang="de-DE" sz="1000">
                  <a:solidFill>
                    <a:srgbClr val="FFFF66"/>
                  </a:solidFill>
                </a:rPr>
                <a:t>             </a:t>
              </a:r>
              <a:r>
                <a:rPr lang="en-US" altLang="de-DE" sz="1400">
                  <a:solidFill>
                    <a:schemeClr val="bg1"/>
                  </a:solidFill>
                </a:rPr>
                <a:t>External</a:t>
              </a:r>
              <a:endParaRPr lang="en-US" altLang="de-DE" sz="1400">
                <a:solidFill>
                  <a:schemeClr val="bg1"/>
                </a:solidFill>
                <a:cs typeface="Times New Roman" panose="02020603050405020304" pitchFamily="18" charset="0"/>
              </a:endParaRPr>
            </a:p>
          </p:txBody>
        </p:sp>
        <p:sp>
          <p:nvSpPr>
            <p:cNvPr id="35" name="AutoShape 82"/>
            <p:cNvSpPr>
              <a:spLocks noChangeArrowheads="1"/>
            </p:cNvSpPr>
            <p:nvPr/>
          </p:nvSpPr>
          <p:spPr bwMode="auto">
            <a:xfrm>
              <a:off x="6697663" y="2001838"/>
              <a:ext cx="1941512" cy="407987"/>
            </a:xfrm>
            <a:prstGeom prst="parallelogram">
              <a:avLst>
                <a:gd name="adj" fmla="val 40471"/>
              </a:avLst>
            </a:prstGeom>
            <a:solidFill>
              <a:srgbClr val="333399"/>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333399"/>
              </a:extrusionClr>
              <a:contourClr>
                <a:srgbClr val="333399"/>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0"/>
                </a:spcBef>
                <a:buClrTx/>
                <a:buFontTx/>
                <a:buNone/>
              </a:pPr>
              <a:r>
                <a:rPr lang="en-US" altLang="de-DE" sz="1000">
                  <a:solidFill>
                    <a:schemeClr val="bg1"/>
                  </a:solidFill>
                </a:rPr>
                <a:t>91</a:t>
              </a:r>
            </a:p>
            <a:p>
              <a:pPr>
                <a:spcBef>
                  <a:spcPct val="0"/>
                </a:spcBef>
                <a:buClrTx/>
                <a:buFontTx/>
                <a:buNone/>
              </a:pPr>
              <a:r>
                <a:rPr lang="en-US" altLang="de-DE" sz="1000">
                  <a:solidFill>
                    <a:schemeClr val="bg1"/>
                  </a:solidFill>
                </a:rPr>
                <a:t>Senior Consultant</a:t>
              </a:r>
            </a:p>
          </p:txBody>
        </p:sp>
        <p:sp>
          <p:nvSpPr>
            <p:cNvPr id="36" name="AutoShape 83"/>
            <p:cNvSpPr>
              <a:spLocks noChangeArrowheads="1"/>
            </p:cNvSpPr>
            <p:nvPr/>
          </p:nvSpPr>
          <p:spPr bwMode="auto">
            <a:xfrm>
              <a:off x="4756150" y="2001838"/>
              <a:ext cx="1941513" cy="407987"/>
            </a:xfrm>
            <a:prstGeom prst="parallelogram">
              <a:avLst>
                <a:gd name="adj" fmla="val 40472"/>
              </a:avLst>
            </a:prstGeom>
            <a:solidFill>
              <a:srgbClr val="333399"/>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333399"/>
              </a:extrusionClr>
              <a:contourClr>
                <a:srgbClr val="333399"/>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0"/>
                </a:spcBef>
                <a:buClrTx/>
                <a:buFontTx/>
                <a:buNone/>
              </a:pPr>
              <a:r>
                <a:rPr lang="en-US" altLang="de-DE" sz="1000">
                  <a:solidFill>
                    <a:schemeClr val="bg1"/>
                  </a:solidFill>
                </a:rPr>
                <a:t>90</a:t>
              </a:r>
            </a:p>
            <a:p>
              <a:pPr>
                <a:spcBef>
                  <a:spcPct val="0"/>
                </a:spcBef>
                <a:buClrTx/>
                <a:buFontTx/>
                <a:buNone/>
              </a:pPr>
              <a:r>
                <a:rPr lang="en-US" altLang="de-DE" sz="1000">
                  <a:solidFill>
                    <a:schemeClr val="bg1"/>
                  </a:solidFill>
                </a:rPr>
                <a:t>Junior Consultant</a:t>
              </a:r>
            </a:p>
          </p:txBody>
        </p:sp>
        <p:sp>
          <p:nvSpPr>
            <p:cNvPr id="37" name="AutoShape 84"/>
            <p:cNvSpPr>
              <a:spLocks noChangeArrowheads="1"/>
            </p:cNvSpPr>
            <p:nvPr/>
          </p:nvSpPr>
          <p:spPr bwMode="auto">
            <a:xfrm>
              <a:off x="6321425" y="2805113"/>
              <a:ext cx="1941513" cy="407987"/>
            </a:xfrm>
            <a:prstGeom prst="parallelogram">
              <a:avLst>
                <a:gd name="adj" fmla="val 40472"/>
              </a:avLst>
            </a:prstGeom>
            <a:solidFill>
              <a:srgbClr val="333399"/>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333399"/>
              </a:extrusionClr>
              <a:contourClr>
                <a:srgbClr val="333399"/>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0"/>
                </a:spcBef>
                <a:buClrTx/>
                <a:buFontTx/>
                <a:buNone/>
              </a:pPr>
              <a:r>
                <a:rPr lang="en-US" altLang="de-DE" sz="1000">
                  <a:solidFill>
                    <a:schemeClr val="bg1"/>
                  </a:solidFill>
                </a:rPr>
                <a:t>21</a:t>
              </a:r>
            </a:p>
            <a:p>
              <a:pPr>
                <a:spcBef>
                  <a:spcPct val="0"/>
                </a:spcBef>
                <a:buClrTx/>
                <a:buFontTx/>
                <a:buNone/>
              </a:pPr>
              <a:r>
                <a:rPr lang="en-US" altLang="de-DE" sz="1000">
                  <a:solidFill>
                    <a:schemeClr val="bg1"/>
                  </a:solidFill>
                </a:rPr>
                <a:t>Honorary</a:t>
              </a:r>
            </a:p>
          </p:txBody>
        </p:sp>
        <p:sp>
          <p:nvSpPr>
            <p:cNvPr id="38" name="AutoShape 85"/>
            <p:cNvSpPr>
              <a:spLocks noChangeArrowheads="1"/>
            </p:cNvSpPr>
            <p:nvPr/>
          </p:nvSpPr>
          <p:spPr bwMode="auto">
            <a:xfrm>
              <a:off x="4379913" y="2805113"/>
              <a:ext cx="1941512" cy="407987"/>
            </a:xfrm>
            <a:prstGeom prst="parallelogram">
              <a:avLst>
                <a:gd name="adj" fmla="val 40471"/>
              </a:avLst>
            </a:prstGeom>
            <a:solidFill>
              <a:srgbClr val="333399"/>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333399"/>
              </a:extrusionClr>
              <a:contourClr>
                <a:srgbClr val="333399"/>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0"/>
                </a:spcBef>
                <a:buClrTx/>
                <a:buFontTx/>
                <a:buNone/>
              </a:pPr>
              <a:r>
                <a:rPr lang="en-US" altLang="de-DE" sz="1000">
                  <a:solidFill>
                    <a:schemeClr val="bg1"/>
                  </a:solidFill>
                </a:rPr>
                <a:t>20</a:t>
              </a:r>
            </a:p>
            <a:p>
              <a:pPr>
                <a:spcBef>
                  <a:spcPct val="0"/>
                </a:spcBef>
                <a:buClrTx/>
                <a:buFontTx/>
                <a:buNone/>
              </a:pPr>
              <a:r>
                <a:rPr lang="en-US" altLang="de-DE" sz="1000">
                  <a:solidFill>
                    <a:schemeClr val="bg1"/>
                  </a:solidFill>
                </a:rPr>
                <a:t>Pensioner</a:t>
              </a:r>
            </a:p>
          </p:txBody>
        </p:sp>
        <p:sp>
          <p:nvSpPr>
            <p:cNvPr id="39" name="AutoShape 86"/>
            <p:cNvSpPr>
              <a:spLocks noChangeArrowheads="1"/>
            </p:cNvSpPr>
            <p:nvPr/>
          </p:nvSpPr>
          <p:spPr bwMode="auto">
            <a:xfrm>
              <a:off x="831850" y="3532188"/>
              <a:ext cx="7231063" cy="609600"/>
            </a:xfrm>
            <a:prstGeom prst="parallelogram">
              <a:avLst>
                <a:gd name="adj" fmla="val 45306"/>
              </a:avLst>
            </a:prstGeom>
            <a:solidFill>
              <a:srgbClr val="6600FF"/>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6600FF"/>
              </a:extrusionClr>
              <a:contourClr>
                <a:srgbClr val="6600FF"/>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solidFill>
                  <a:schemeClr val="bg1"/>
                </a:solidFill>
              </a:endParaRPr>
            </a:p>
          </p:txBody>
        </p:sp>
        <p:sp>
          <p:nvSpPr>
            <p:cNvPr id="40" name="Text Box 87"/>
            <p:cNvSpPr txBox="1">
              <a:spLocks noChangeArrowheads="1"/>
            </p:cNvSpPr>
            <p:nvPr/>
          </p:nvSpPr>
          <p:spPr bwMode="auto">
            <a:xfrm>
              <a:off x="993775" y="3602038"/>
              <a:ext cx="342900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sz="1600">
                  <a:solidFill>
                    <a:srgbClr val="FFFF66"/>
                  </a:solidFill>
                </a:rPr>
                <a:t>      Employee Group 1</a:t>
              </a:r>
              <a:r>
                <a:rPr lang="en-US" altLang="de-DE" sz="1400">
                  <a:solidFill>
                    <a:srgbClr val="FFFF66"/>
                  </a:solidFill>
                </a:rPr>
                <a:t/>
              </a:r>
              <a:br>
                <a:rPr lang="en-US" altLang="de-DE" sz="1400">
                  <a:solidFill>
                    <a:srgbClr val="FFFF66"/>
                  </a:solidFill>
                </a:rPr>
              </a:br>
              <a:r>
                <a:rPr lang="en-US" altLang="de-DE" sz="1000">
                  <a:solidFill>
                    <a:srgbClr val="FFFF66"/>
                  </a:solidFill>
                </a:rPr>
                <a:t>             </a:t>
              </a:r>
              <a:r>
                <a:rPr lang="en-US" altLang="de-DE" sz="1400">
                  <a:solidFill>
                    <a:schemeClr val="bg1"/>
                  </a:solidFill>
                </a:rPr>
                <a:t>Active</a:t>
              </a:r>
              <a:endParaRPr lang="en-US" altLang="de-DE" sz="1400">
                <a:solidFill>
                  <a:schemeClr val="bg1"/>
                </a:solidFill>
                <a:cs typeface="Times New Roman" panose="02020603050405020304" pitchFamily="18" charset="0"/>
              </a:endParaRPr>
            </a:p>
          </p:txBody>
        </p:sp>
        <p:sp>
          <p:nvSpPr>
            <p:cNvPr id="41" name="AutoShape 88"/>
            <p:cNvSpPr>
              <a:spLocks noChangeArrowheads="1"/>
            </p:cNvSpPr>
            <p:nvPr/>
          </p:nvSpPr>
          <p:spPr bwMode="auto">
            <a:xfrm>
              <a:off x="5022850" y="3636963"/>
              <a:ext cx="950913" cy="407987"/>
            </a:xfrm>
            <a:prstGeom prst="parallelogram">
              <a:avLst>
                <a:gd name="adj" fmla="val 41630"/>
              </a:avLst>
            </a:prstGeom>
            <a:solidFill>
              <a:srgbClr val="333399"/>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333399"/>
              </a:extrusionClr>
              <a:contourClr>
                <a:srgbClr val="333399"/>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0"/>
                </a:spcBef>
                <a:buClrTx/>
                <a:buFontTx/>
                <a:buNone/>
              </a:pPr>
              <a:r>
                <a:rPr lang="en-US" altLang="de-DE" sz="1000">
                  <a:solidFill>
                    <a:schemeClr val="bg1"/>
                  </a:solidFill>
                </a:rPr>
                <a:t>11</a:t>
              </a:r>
            </a:p>
            <a:p>
              <a:pPr>
                <a:spcBef>
                  <a:spcPct val="0"/>
                </a:spcBef>
                <a:buClrTx/>
                <a:buFontTx/>
                <a:buNone/>
              </a:pPr>
              <a:r>
                <a:rPr lang="en-US" altLang="de-DE" sz="1000">
                  <a:solidFill>
                    <a:schemeClr val="bg1"/>
                  </a:solidFill>
                </a:rPr>
                <a:t>Hourly Wage</a:t>
              </a:r>
            </a:p>
          </p:txBody>
        </p:sp>
        <p:sp>
          <p:nvSpPr>
            <p:cNvPr id="42" name="AutoShape 89"/>
            <p:cNvSpPr>
              <a:spLocks noChangeArrowheads="1"/>
            </p:cNvSpPr>
            <p:nvPr/>
          </p:nvSpPr>
          <p:spPr bwMode="auto">
            <a:xfrm>
              <a:off x="5973763" y="3636963"/>
              <a:ext cx="950912" cy="407987"/>
            </a:xfrm>
            <a:prstGeom prst="parallelogram">
              <a:avLst>
                <a:gd name="adj" fmla="val 41630"/>
              </a:avLst>
            </a:prstGeom>
            <a:solidFill>
              <a:srgbClr val="333399"/>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333399"/>
              </a:extrusionClr>
              <a:contourClr>
                <a:srgbClr val="333399"/>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0"/>
                </a:spcBef>
                <a:buClrTx/>
                <a:buFontTx/>
                <a:buNone/>
              </a:pPr>
              <a:r>
                <a:rPr lang="en-US" altLang="de-DE" sz="1000">
                  <a:solidFill>
                    <a:schemeClr val="bg1"/>
                  </a:solidFill>
                </a:rPr>
                <a:t>12</a:t>
              </a:r>
            </a:p>
            <a:p>
              <a:pPr>
                <a:spcBef>
                  <a:spcPct val="0"/>
                </a:spcBef>
                <a:buClrTx/>
                <a:buFontTx/>
                <a:buNone/>
              </a:pPr>
              <a:r>
                <a:rPr lang="en-US" altLang="de-DE" sz="1000">
                  <a:solidFill>
                    <a:schemeClr val="bg1"/>
                  </a:solidFill>
                </a:rPr>
                <a:t>Salary scale</a:t>
              </a:r>
            </a:p>
          </p:txBody>
        </p:sp>
        <p:sp>
          <p:nvSpPr>
            <p:cNvPr id="43" name="AutoShape 90"/>
            <p:cNvSpPr>
              <a:spLocks noChangeArrowheads="1"/>
            </p:cNvSpPr>
            <p:nvPr/>
          </p:nvSpPr>
          <p:spPr bwMode="auto">
            <a:xfrm>
              <a:off x="6924675" y="3636963"/>
              <a:ext cx="950913" cy="407987"/>
            </a:xfrm>
            <a:prstGeom prst="parallelogram">
              <a:avLst>
                <a:gd name="adj" fmla="val 41630"/>
              </a:avLst>
            </a:prstGeom>
            <a:solidFill>
              <a:srgbClr val="333399"/>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333399"/>
              </a:extrusionClr>
              <a:contourClr>
                <a:srgbClr val="333399"/>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0"/>
                </a:spcBef>
                <a:buClrTx/>
                <a:buFontTx/>
                <a:buNone/>
              </a:pPr>
              <a:r>
                <a:rPr lang="en-US" altLang="de-DE" sz="1000">
                  <a:solidFill>
                    <a:schemeClr val="bg1"/>
                  </a:solidFill>
                </a:rPr>
                <a:t>13</a:t>
              </a:r>
            </a:p>
            <a:p>
              <a:pPr>
                <a:spcBef>
                  <a:spcPct val="0"/>
                </a:spcBef>
                <a:buClrTx/>
                <a:buFontTx/>
                <a:buNone/>
              </a:pPr>
              <a:r>
                <a:rPr lang="en-US" altLang="de-DE" sz="1000">
                  <a:solidFill>
                    <a:schemeClr val="bg1"/>
                  </a:solidFill>
                </a:rPr>
                <a:t>Executive</a:t>
              </a:r>
            </a:p>
          </p:txBody>
        </p:sp>
        <p:sp>
          <p:nvSpPr>
            <p:cNvPr id="44" name="AutoShape 91"/>
            <p:cNvSpPr>
              <a:spLocks noChangeArrowheads="1"/>
            </p:cNvSpPr>
            <p:nvPr/>
          </p:nvSpPr>
          <p:spPr bwMode="auto">
            <a:xfrm>
              <a:off x="4102100" y="3636963"/>
              <a:ext cx="950913" cy="407987"/>
            </a:xfrm>
            <a:prstGeom prst="parallelogram">
              <a:avLst>
                <a:gd name="adj" fmla="val 41630"/>
              </a:avLst>
            </a:prstGeom>
            <a:solidFill>
              <a:srgbClr val="333399"/>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333399"/>
              </a:extrusionClr>
              <a:contourClr>
                <a:srgbClr val="333399"/>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0"/>
                </a:spcBef>
                <a:buClrTx/>
                <a:buFontTx/>
                <a:buNone/>
              </a:pPr>
              <a:r>
                <a:rPr lang="en-US" altLang="de-DE" sz="1000">
                  <a:solidFill>
                    <a:schemeClr val="bg1"/>
                  </a:solidFill>
                </a:rPr>
                <a:t>10</a:t>
              </a:r>
            </a:p>
            <a:p>
              <a:pPr>
                <a:spcBef>
                  <a:spcPct val="0"/>
                </a:spcBef>
                <a:buClrTx/>
                <a:buFontTx/>
                <a:buNone/>
              </a:pPr>
              <a:r>
                <a:rPr lang="en-US" altLang="de-DE" sz="1000">
                  <a:solidFill>
                    <a:schemeClr val="bg1"/>
                  </a:solidFill>
                </a:rPr>
                <a:t>Intern</a:t>
              </a:r>
            </a:p>
          </p:txBody>
        </p:sp>
        <p:sp>
          <p:nvSpPr>
            <p:cNvPr id="45" name="Text Box 92"/>
            <p:cNvSpPr txBox="1">
              <a:spLocks noChangeArrowheads="1"/>
            </p:cNvSpPr>
            <p:nvPr/>
          </p:nvSpPr>
          <p:spPr bwMode="auto">
            <a:xfrm>
              <a:off x="7216769" y="4814590"/>
              <a:ext cx="165576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r">
                <a:buClrTx/>
                <a:buFontTx/>
                <a:buNone/>
              </a:pPr>
              <a:r>
                <a:rPr lang="en-US" altLang="de-DE" sz="1000">
                  <a:cs typeface="Times New Roman" panose="02020603050405020304" pitchFamily="18" charset="0"/>
                </a:rPr>
                <a:t>Personnel Subarea</a:t>
              </a:r>
            </a:p>
          </p:txBody>
        </p:sp>
        <p:sp>
          <p:nvSpPr>
            <p:cNvPr id="46" name="Text Box 93"/>
            <p:cNvSpPr txBox="1">
              <a:spLocks noChangeArrowheads="1"/>
            </p:cNvSpPr>
            <p:nvPr/>
          </p:nvSpPr>
          <p:spPr bwMode="auto">
            <a:xfrm>
              <a:off x="7505694" y="3703341"/>
              <a:ext cx="1381124"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r">
                <a:buClrTx/>
                <a:buFontTx/>
                <a:buNone/>
              </a:pPr>
              <a:r>
                <a:rPr lang="en-US" altLang="de-DE" sz="1000">
                  <a:cs typeface="Times New Roman" panose="02020603050405020304" pitchFamily="18" charset="0"/>
                </a:rPr>
                <a:t>       Employee               </a:t>
              </a:r>
            </a:p>
            <a:p>
              <a:pPr algn="r">
                <a:spcBef>
                  <a:spcPct val="0"/>
                </a:spcBef>
                <a:buClrTx/>
                <a:buFontTx/>
                <a:buNone/>
              </a:pPr>
              <a:r>
                <a:rPr lang="en-US" altLang="de-DE" sz="1000">
                  <a:cs typeface="Times New Roman" panose="02020603050405020304" pitchFamily="18" charset="0"/>
                </a:rPr>
                <a:t>     Subgroup</a:t>
              </a:r>
            </a:p>
            <a:p>
              <a:pPr algn="r">
                <a:buClrTx/>
                <a:buFontTx/>
                <a:buNone/>
              </a:pPr>
              <a:r>
                <a:rPr lang="en-US" altLang="de-DE" sz="1000">
                  <a:cs typeface="Times New Roman" panose="02020603050405020304" pitchFamily="18" charset="0"/>
                </a:rPr>
                <a:t>       </a:t>
              </a:r>
            </a:p>
          </p:txBody>
        </p:sp>
      </p:grpSp>
    </p:spTree>
    <p:extLst>
      <p:ext uri="{BB962C8B-B14F-4D97-AF65-F5344CB8AC3E}">
        <p14:creationId xmlns:p14="http://schemas.microsoft.com/office/powerpoint/2010/main" val="16451147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de-DE" dirty="0"/>
              <a:t>Agenda</a:t>
            </a:r>
            <a:endParaRPr lang="de-DE" dirty="0"/>
          </a:p>
        </p:txBody>
      </p:sp>
      <p:sp>
        <p:nvSpPr>
          <p:cNvPr id="3" name="Inhaltsplatzhalter 2"/>
          <p:cNvSpPr>
            <a:spLocks noGrp="1"/>
          </p:cNvSpPr>
          <p:nvPr>
            <p:ph idx="1"/>
          </p:nvPr>
        </p:nvSpPr>
        <p:spPr/>
        <p:txBody>
          <a:bodyPr/>
          <a:lstStyle/>
          <a:p>
            <a:pPr>
              <a:tabLst>
                <a:tab pos="1971675" algn="l"/>
              </a:tabLst>
            </a:pPr>
            <a:r>
              <a:rPr lang="en-US" altLang="de-DE" dirty="0">
                <a:solidFill>
                  <a:srgbClr val="B2B2B2"/>
                </a:solidFill>
              </a:rPr>
              <a:t>HCM Organizational </a:t>
            </a:r>
            <a:r>
              <a:rPr lang="en-US" altLang="de-DE" dirty="0" smtClean="0">
                <a:solidFill>
                  <a:srgbClr val="B2B2B2"/>
                </a:solidFill>
              </a:rPr>
              <a:t>Structure</a:t>
            </a:r>
          </a:p>
          <a:p>
            <a:pPr>
              <a:tabLst>
                <a:tab pos="1971675" algn="l"/>
              </a:tabLst>
            </a:pPr>
            <a:endParaRPr lang="en-US" altLang="de-DE" dirty="0">
              <a:solidFill>
                <a:srgbClr val="B2B2B2"/>
              </a:solidFill>
            </a:endParaRPr>
          </a:p>
          <a:p>
            <a:pPr>
              <a:tabLst>
                <a:tab pos="1971675" algn="l"/>
              </a:tabLst>
            </a:pPr>
            <a:r>
              <a:rPr lang="en-US" altLang="de-DE" dirty="0"/>
              <a:t>HCM Master </a:t>
            </a:r>
            <a:r>
              <a:rPr lang="en-US" altLang="de-DE" dirty="0" smtClean="0"/>
              <a:t>Data</a:t>
            </a:r>
          </a:p>
          <a:p>
            <a:pPr>
              <a:tabLst>
                <a:tab pos="1971675" algn="l"/>
              </a:tabLst>
            </a:pPr>
            <a:endParaRPr lang="en-US" altLang="de-DE" dirty="0"/>
          </a:p>
          <a:p>
            <a:pPr>
              <a:tabLst>
                <a:tab pos="1971675" algn="l"/>
              </a:tabLst>
            </a:pPr>
            <a:r>
              <a:rPr lang="en-US" altLang="de-DE" dirty="0">
                <a:solidFill>
                  <a:srgbClr val="B2B2B2"/>
                </a:solidFill>
              </a:rPr>
              <a:t>HCM Processes</a:t>
            </a:r>
          </a:p>
          <a:p>
            <a:pPr lvl="1">
              <a:tabLst>
                <a:tab pos="1971675" algn="l"/>
              </a:tabLst>
            </a:pPr>
            <a:r>
              <a:rPr lang="en-US" altLang="de-DE" dirty="0">
                <a:solidFill>
                  <a:srgbClr val="B2B2B2"/>
                </a:solidFill>
              </a:rPr>
              <a:t>Organizational Management</a:t>
            </a:r>
          </a:p>
          <a:p>
            <a:pPr lvl="1">
              <a:tabLst>
                <a:tab pos="1971675" algn="l"/>
              </a:tabLst>
            </a:pPr>
            <a:r>
              <a:rPr lang="en-US" altLang="de-DE" dirty="0">
                <a:solidFill>
                  <a:srgbClr val="B2B2B2"/>
                </a:solidFill>
              </a:rPr>
              <a:t>Personnel Administration</a:t>
            </a:r>
          </a:p>
          <a:p>
            <a:pPr lvl="1">
              <a:tabLst>
                <a:tab pos="1971675" algn="l"/>
              </a:tabLst>
            </a:pPr>
            <a:r>
              <a:rPr lang="fr-FR" altLang="de-DE" dirty="0" smtClean="0">
                <a:solidFill>
                  <a:srgbClr val="B2B2B2"/>
                </a:solidFill>
              </a:rPr>
              <a:t>Personnel </a:t>
            </a:r>
            <a:r>
              <a:rPr lang="fr-FR" altLang="de-DE" dirty="0" err="1">
                <a:solidFill>
                  <a:srgbClr val="B2B2B2"/>
                </a:solidFill>
              </a:rPr>
              <a:t>Development</a:t>
            </a:r>
            <a:endParaRPr lang="fr-FR" altLang="de-DE" dirty="0">
              <a:solidFill>
                <a:srgbClr val="B2B2B2"/>
              </a:solidFill>
            </a:endParaRPr>
          </a:p>
          <a:p>
            <a:pPr lvl="1">
              <a:tabLst>
                <a:tab pos="1971675" algn="l"/>
              </a:tabLst>
            </a:pPr>
            <a:r>
              <a:rPr lang="fr-FR" altLang="de-DE" dirty="0" smtClean="0">
                <a:solidFill>
                  <a:srgbClr val="B2B2B2"/>
                </a:solidFill>
              </a:rPr>
              <a:t>Personnel </a:t>
            </a:r>
            <a:r>
              <a:rPr lang="fr-FR" altLang="de-DE" dirty="0" err="1">
                <a:solidFill>
                  <a:srgbClr val="B2B2B2"/>
                </a:solidFill>
              </a:rPr>
              <a:t>Controlling</a:t>
            </a:r>
            <a:endParaRPr lang="fr-FR" altLang="de-DE" dirty="0">
              <a:solidFill>
                <a:srgbClr val="B2B2B2"/>
              </a:solidFill>
            </a:endParaRPr>
          </a:p>
          <a:p>
            <a:pPr lvl="1">
              <a:tabLst>
                <a:tab pos="1971675" algn="l"/>
              </a:tabLst>
            </a:pPr>
            <a:r>
              <a:rPr lang="fr-FR" altLang="de-DE" dirty="0">
                <a:solidFill>
                  <a:srgbClr val="B2B2B2"/>
                </a:solidFill>
              </a:rPr>
              <a:t>ESS/MSS</a:t>
            </a:r>
          </a:p>
          <a:p>
            <a:pPr>
              <a:tabLst>
                <a:tab pos="1971675" algn="l"/>
              </a:tabLst>
            </a:pPr>
            <a:endParaRPr lang="fr-FR" altLang="de-DE" dirty="0">
              <a:solidFill>
                <a:srgbClr val="B2B2B2"/>
              </a:solidFill>
            </a:endParaRPr>
          </a:p>
          <a:p>
            <a:pPr lvl="1">
              <a:buFontTx/>
              <a:buNone/>
              <a:tabLst>
                <a:tab pos="1971675" algn="l"/>
              </a:tabLst>
            </a:pPr>
            <a:endParaRPr lang="en-US" altLang="de-DE" dirty="0"/>
          </a:p>
          <a:p>
            <a:pPr lvl="1">
              <a:tabLst>
                <a:tab pos="1971675" algn="l"/>
              </a:tabLst>
            </a:pPr>
            <a:endParaRPr lang="en-US" altLang="de-DE" dirty="0"/>
          </a:p>
        </p:txBody>
      </p:sp>
      <p:pic>
        <p:nvPicPr>
          <p:cNvPr id="4" name="Picture 9" descr="j043492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8891" y="2962940"/>
            <a:ext cx="1468437" cy="146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049094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en-US" altLang="de-DE" b="1" dirty="0"/>
              <a:t>Personnel number</a:t>
            </a:r>
          </a:p>
          <a:p>
            <a:pPr lvl="1"/>
            <a:r>
              <a:rPr lang="en-US" altLang="de-DE" dirty="0"/>
              <a:t>Is used in SAP as a central identifier for an employee</a:t>
            </a:r>
          </a:p>
          <a:p>
            <a:pPr lvl="1"/>
            <a:r>
              <a:rPr lang="en-US" altLang="de-DE" dirty="0"/>
              <a:t>Can comprise </a:t>
            </a:r>
            <a:r>
              <a:rPr lang="en-US" altLang="de-DE" dirty="0" smtClean="0"/>
              <a:t>up </a:t>
            </a:r>
            <a:r>
              <a:rPr lang="en-US" altLang="de-DE" dirty="0"/>
              <a:t>to eight digits</a:t>
            </a:r>
          </a:p>
          <a:p>
            <a:pPr lvl="1"/>
            <a:r>
              <a:rPr lang="en-US" altLang="de-DE" dirty="0"/>
              <a:t>Can be assigned either by the system or manually</a:t>
            </a:r>
          </a:p>
          <a:p>
            <a:pPr lvl="1"/>
            <a:r>
              <a:rPr lang="en-US" altLang="de-DE" dirty="0"/>
              <a:t>All employee data available in the system </a:t>
            </a:r>
            <a:r>
              <a:rPr lang="en-US" altLang="de-DE" dirty="0" smtClean="0"/>
              <a:t>is identified </a:t>
            </a:r>
            <a:r>
              <a:rPr lang="en-US" altLang="de-DE" dirty="0"/>
              <a:t/>
            </a:r>
            <a:br>
              <a:rPr lang="en-US" altLang="de-DE" dirty="0"/>
            </a:br>
            <a:r>
              <a:rPr lang="en-US" altLang="de-DE" dirty="0"/>
              <a:t>on the basis of the personnel number.</a:t>
            </a:r>
          </a:p>
        </p:txBody>
      </p:sp>
      <p:sp>
        <p:nvSpPr>
          <p:cNvPr id="3" name="Titel 2"/>
          <p:cNvSpPr>
            <a:spLocks noGrp="1"/>
          </p:cNvSpPr>
          <p:nvPr>
            <p:ph type="title"/>
          </p:nvPr>
        </p:nvSpPr>
        <p:spPr/>
        <p:txBody>
          <a:bodyPr/>
          <a:lstStyle/>
          <a:p>
            <a:r>
              <a:rPr lang="en-US" altLang="de-DE" dirty="0"/>
              <a:t>HCM Master Data</a:t>
            </a:r>
            <a:endParaRPr lang="de-DE" dirty="0"/>
          </a:p>
        </p:txBody>
      </p:sp>
      <p:grpSp>
        <p:nvGrpSpPr>
          <p:cNvPr id="21" name="Gruppieren 20"/>
          <p:cNvGrpSpPr/>
          <p:nvPr/>
        </p:nvGrpSpPr>
        <p:grpSpPr>
          <a:xfrm>
            <a:off x="5693555" y="2762071"/>
            <a:ext cx="5299075" cy="3321050"/>
            <a:chOff x="1785938" y="2894013"/>
            <a:chExt cx="5299075" cy="3321050"/>
          </a:xfrm>
        </p:grpSpPr>
        <p:sp>
          <p:nvSpPr>
            <p:cNvPr id="4" name="Rectangle 6"/>
            <p:cNvSpPr>
              <a:spLocks noChangeArrowheads="1"/>
            </p:cNvSpPr>
            <p:nvPr/>
          </p:nvSpPr>
          <p:spPr bwMode="auto">
            <a:xfrm>
              <a:off x="4137025" y="3851275"/>
              <a:ext cx="1274763" cy="514350"/>
            </a:xfrm>
            <a:prstGeom prst="rect">
              <a:avLst/>
            </a:prstGeom>
            <a:solidFill>
              <a:srgbClr val="B2B2B2"/>
            </a:solidFill>
            <a:ln w="19050">
              <a:solidFill>
                <a:srgbClr val="969696"/>
              </a:solidFill>
              <a:miter lim="800000"/>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sz="1400" b="0" dirty="0">
                  <a:solidFill>
                    <a:srgbClr val="000000"/>
                  </a:solidFill>
                </a:rPr>
                <a:t>Personnel no.</a:t>
              </a:r>
            </a:p>
            <a:p>
              <a:pPr eaLnBrk="1" hangingPunct="1">
                <a:spcBef>
                  <a:spcPct val="0"/>
                </a:spcBef>
                <a:buClrTx/>
                <a:buFontTx/>
                <a:buNone/>
              </a:pPr>
              <a:r>
                <a:rPr lang="de-DE" altLang="de-DE" sz="1400" b="0" dirty="0">
                  <a:solidFill>
                    <a:srgbClr val="000000"/>
                  </a:solidFill>
                </a:rPr>
                <a:t>64751511</a:t>
              </a:r>
              <a:endParaRPr lang="en-US" altLang="de-DE" sz="1400" b="0" dirty="0">
                <a:solidFill>
                  <a:srgbClr val="000000"/>
                </a:solidFill>
              </a:endParaRPr>
            </a:p>
          </p:txBody>
        </p:sp>
        <p:sp>
          <p:nvSpPr>
            <p:cNvPr id="5" name="Rectangle 7"/>
            <p:cNvSpPr>
              <a:spLocks noChangeArrowheads="1"/>
            </p:cNvSpPr>
            <p:nvPr/>
          </p:nvSpPr>
          <p:spPr bwMode="auto">
            <a:xfrm>
              <a:off x="2357438" y="4797425"/>
              <a:ext cx="1530350" cy="517525"/>
            </a:xfrm>
            <a:prstGeom prst="rect">
              <a:avLst/>
            </a:prstGeom>
            <a:solidFill>
              <a:srgbClr val="B2B2B2">
                <a:alpha val="30196"/>
              </a:srgbClr>
            </a:solidFill>
            <a:ln w="19050">
              <a:solidFill>
                <a:srgbClr val="969696"/>
              </a:solidFill>
              <a:miter lim="800000"/>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sz="1400" b="0">
                  <a:solidFill>
                    <a:srgbClr val="000000"/>
                  </a:solidFill>
                </a:rPr>
                <a:t>Expenses results</a:t>
              </a:r>
            </a:p>
          </p:txBody>
        </p:sp>
        <p:sp>
          <p:nvSpPr>
            <p:cNvPr id="6" name="Rectangle 8"/>
            <p:cNvSpPr>
              <a:spLocks noChangeArrowheads="1"/>
            </p:cNvSpPr>
            <p:nvPr/>
          </p:nvSpPr>
          <p:spPr bwMode="auto">
            <a:xfrm>
              <a:off x="5643563" y="4797425"/>
              <a:ext cx="1441450" cy="517525"/>
            </a:xfrm>
            <a:prstGeom prst="rect">
              <a:avLst/>
            </a:prstGeom>
            <a:solidFill>
              <a:srgbClr val="B2B2B2">
                <a:alpha val="30196"/>
              </a:srgbClr>
            </a:solidFill>
            <a:ln w="19050">
              <a:solidFill>
                <a:srgbClr val="969696"/>
              </a:solidFill>
              <a:miter lim="800000"/>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sz="1400" b="0">
                  <a:solidFill>
                    <a:srgbClr val="000000"/>
                  </a:solidFill>
                </a:rPr>
                <a:t>Travel expenses</a:t>
              </a:r>
            </a:p>
          </p:txBody>
        </p:sp>
        <p:cxnSp>
          <p:nvCxnSpPr>
            <p:cNvPr id="7" name="AutoShape 9"/>
            <p:cNvCxnSpPr>
              <a:cxnSpLocks noChangeShapeType="1"/>
            </p:cNvCxnSpPr>
            <p:nvPr/>
          </p:nvCxnSpPr>
          <p:spPr bwMode="auto">
            <a:xfrm>
              <a:off x="4770438" y="3578225"/>
              <a:ext cx="4762" cy="27305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8" name="Rectangle 7"/>
            <p:cNvSpPr>
              <a:spLocks noChangeArrowheads="1"/>
            </p:cNvSpPr>
            <p:nvPr/>
          </p:nvSpPr>
          <p:spPr bwMode="auto">
            <a:xfrm>
              <a:off x="1785938" y="5695950"/>
              <a:ext cx="1166812" cy="519113"/>
            </a:xfrm>
            <a:prstGeom prst="rect">
              <a:avLst/>
            </a:prstGeom>
            <a:solidFill>
              <a:srgbClr val="EAEAEA">
                <a:alpha val="30196"/>
              </a:srgbClr>
            </a:solidFill>
            <a:ln w="19050">
              <a:solidFill>
                <a:srgbClr val="969696"/>
              </a:solidFill>
              <a:miter lim="800000"/>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sz="1400" b="0">
                  <a:solidFill>
                    <a:srgbClr val="000000"/>
                  </a:solidFill>
                </a:rPr>
                <a:t>Expenses </a:t>
              </a:r>
            </a:p>
            <a:p>
              <a:pPr eaLnBrk="1" hangingPunct="1">
                <a:spcBef>
                  <a:spcPct val="0"/>
                </a:spcBef>
                <a:buClrTx/>
                <a:buFontTx/>
                <a:buNone/>
              </a:pPr>
              <a:r>
                <a:rPr lang="en-US" altLang="de-DE" sz="1400" b="0">
                  <a:solidFill>
                    <a:srgbClr val="000000"/>
                  </a:solidFill>
                </a:rPr>
                <a:t>May 2010</a:t>
              </a:r>
            </a:p>
          </p:txBody>
        </p:sp>
        <p:sp>
          <p:nvSpPr>
            <p:cNvPr id="9" name="Rectangle 7"/>
            <p:cNvSpPr>
              <a:spLocks noChangeArrowheads="1"/>
            </p:cNvSpPr>
            <p:nvPr/>
          </p:nvSpPr>
          <p:spPr bwMode="auto">
            <a:xfrm>
              <a:off x="5651500" y="5702300"/>
              <a:ext cx="1433513" cy="512763"/>
            </a:xfrm>
            <a:prstGeom prst="rect">
              <a:avLst/>
            </a:prstGeom>
            <a:solidFill>
              <a:srgbClr val="EAEAEA">
                <a:alpha val="30196"/>
              </a:srgbClr>
            </a:solidFill>
            <a:ln w="19050">
              <a:solidFill>
                <a:srgbClr val="969696"/>
              </a:solidFill>
              <a:miter lim="800000"/>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sz="1400" b="0">
                  <a:solidFill>
                    <a:srgbClr val="000000"/>
                  </a:solidFill>
                </a:rPr>
                <a:t>Travel expenses </a:t>
              </a:r>
            </a:p>
            <a:p>
              <a:pPr eaLnBrk="1" hangingPunct="1">
                <a:spcBef>
                  <a:spcPct val="0"/>
                </a:spcBef>
                <a:buClrTx/>
                <a:buFontTx/>
                <a:buNone/>
              </a:pPr>
              <a:r>
                <a:rPr lang="en-US" altLang="de-DE" sz="1400" b="0">
                  <a:solidFill>
                    <a:srgbClr val="000000"/>
                  </a:solidFill>
                </a:rPr>
                <a:t>April 2010</a:t>
              </a:r>
            </a:p>
          </p:txBody>
        </p:sp>
        <p:pic>
          <p:nvPicPr>
            <p:cNvPr id="10" name="Picture 19" descr="j04326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5638" y="2894013"/>
              <a:ext cx="609600"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Line 22"/>
            <p:cNvSpPr>
              <a:spLocks noChangeShapeType="1"/>
            </p:cNvSpPr>
            <p:nvPr/>
          </p:nvSpPr>
          <p:spPr bwMode="auto">
            <a:xfrm>
              <a:off x="6357938" y="5357813"/>
              <a:ext cx="0" cy="280987"/>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spAutoFit/>
            </a:bodyPr>
            <a:lstStyle/>
            <a:p>
              <a:endParaRPr lang="de-DE"/>
            </a:p>
          </p:txBody>
        </p:sp>
        <p:sp>
          <p:nvSpPr>
            <p:cNvPr id="12" name="Line 25"/>
            <p:cNvSpPr>
              <a:spLocks noChangeShapeType="1"/>
            </p:cNvSpPr>
            <p:nvPr/>
          </p:nvSpPr>
          <p:spPr bwMode="auto">
            <a:xfrm flipV="1">
              <a:off x="3132138" y="4581525"/>
              <a:ext cx="32400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de-DE"/>
            </a:p>
          </p:txBody>
        </p:sp>
        <p:sp>
          <p:nvSpPr>
            <p:cNvPr id="13" name="Line 26"/>
            <p:cNvSpPr>
              <a:spLocks noChangeShapeType="1"/>
            </p:cNvSpPr>
            <p:nvPr/>
          </p:nvSpPr>
          <p:spPr bwMode="auto">
            <a:xfrm>
              <a:off x="3132138" y="4581525"/>
              <a:ext cx="0" cy="169863"/>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spAutoFit/>
            </a:bodyPr>
            <a:lstStyle/>
            <a:p>
              <a:endParaRPr lang="de-DE"/>
            </a:p>
          </p:txBody>
        </p:sp>
        <p:sp>
          <p:nvSpPr>
            <p:cNvPr id="14" name="Line 27"/>
            <p:cNvSpPr>
              <a:spLocks noChangeShapeType="1"/>
            </p:cNvSpPr>
            <p:nvPr/>
          </p:nvSpPr>
          <p:spPr bwMode="auto">
            <a:xfrm>
              <a:off x="6372225" y="4581525"/>
              <a:ext cx="0" cy="169863"/>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spAutoFit/>
            </a:bodyPr>
            <a:lstStyle/>
            <a:p>
              <a:endParaRPr lang="de-DE"/>
            </a:p>
          </p:txBody>
        </p:sp>
        <p:sp>
          <p:nvSpPr>
            <p:cNvPr id="15" name="Line 28"/>
            <p:cNvSpPr>
              <a:spLocks noChangeShapeType="1"/>
            </p:cNvSpPr>
            <p:nvPr/>
          </p:nvSpPr>
          <p:spPr bwMode="auto">
            <a:xfrm>
              <a:off x="4770438" y="4413250"/>
              <a:ext cx="0" cy="168275"/>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de-DE"/>
            </a:p>
          </p:txBody>
        </p:sp>
        <p:sp>
          <p:nvSpPr>
            <p:cNvPr id="16" name="Rectangle 7"/>
            <p:cNvSpPr>
              <a:spLocks noChangeArrowheads="1"/>
            </p:cNvSpPr>
            <p:nvPr/>
          </p:nvSpPr>
          <p:spPr bwMode="auto">
            <a:xfrm>
              <a:off x="3328988" y="5702300"/>
              <a:ext cx="1166812" cy="512763"/>
            </a:xfrm>
            <a:prstGeom prst="rect">
              <a:avLst/>
            </a:prstGeom>
            <a:solidFill>
              <a:srgbClr val="EAEAEA">
                <a:alpha val="30196"/>
              </a:srgbClr>
            </a:solidFill>
            <a:ln w="19050">
              <a:solidFill>
                <a:srgbClr val="969696"/>
              </a:solidFill>
              <a:miter lim="800000"/>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sz="1400" b="0">
                  <a:solidFill>
                    <a:srgbClr val="000000"/>
                  </a:solidFill>
                </a:rPr>
                <a:t>Expenses </a:t>
              </a:r>
            </a:p>
            <a:p>
              <a:pPr eaLnBrk="1" hangingPunct="1">
                <a:spcBef>
                  <a:spcPct val="0"/>
                </a:spcBef>
                <a:buClrTx/>
                <a:buFontTx/>
                <a:buNone/>
              </a:pPr>
              <a:r>
                <a:rPr lang="en-US" altLang="de-DE" sz="1400" b="0">
                  <a:solidFill>
                    <a:srgbClr val="000000"/>
                  </a:solidFill>
                </a:rPr>
                <a:t>June 2010</a:t>
              </a:r>
            </a:p>
          </p:txBody>
        </p:sp>
        <p:sp>
          <p:nvSpPr>
            <p:cNvPr id="17" name="Line 25"/>
            <p:cNvSpPr>
              <a:spLocks noChangeShapeType="1"/>
            </p:cNvSpPr>
            <p:nvPr/>
          </p:nvSpPr>
          <p:spPr bwMode="auto">
            <a:xfrm>
              <a:off x="2346325" y="5483225"/>
              <a:ext cx="1555750" cy="1588"/>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de-DE"/>
            </a:p>
          </p:txBody>
        </p:sp>
        <p:sp>
          <p:nvSpPr>
            <p:cNvPr id="18" name="Line 28"/>
            <p:cNvSpPr>
              <a:spLocks noChangeShapeType="1"/>
            </p:cNvSpPr>
            <p:nvPr/>
          </p:nvSpPr>
          <p:spPr bwMode="auto">
            <a:xfrm>
              <a:off x="3117850" y="5314950"/>
              <a:ext cx="0" cy="168275"/>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de-DE"/>
            </a:p>
          </p:txBody>
        </p:sp>
        <p:sp>
          <p:nvSpPr>
            <p:cNvPr id="19" name="Line 26"/>
            <p:cNvSpPr>
              <a:spLocks noChangeShapeType="1"/>
            </p:cNvSpPr>
            <p:nvPr/>
          </p:nvSpPr>
          <p:spPr bwMode="auto">
            <a:xfrm>
              <a:off x="2346325" y="5481638"/>
              <a:ext cx="0" cy="169862"/>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spAutoFit/>
            </a:bodyPr>
            <a:lstStyle/>
            <a:p>
              <a:endParaRPr lang="de-DE"/>
            </a:p>
          </p:txBody>
        </p:sp>
        <p:sp>
          <p:nvSpPr>
            <p:cNvPr id="20" name="Line 26"/>
            <p:cNvSpPr>
              <a:spLocks noChangeShapeType="1"/>
            </p:cNvSpPr>
            <p:nvPr/>
          </p:nvSpPr>
          <p:spPr bwMode="auto">
            <a:xfrm>
              <a:off x="3889375" y="5481638"/>
              <a:ext cx="0" cy="169862"/>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spAutoFit/>
            </a:bodyPr>
            <a:lstStyle/>
            <a:p>
              <a:endParaRPr lang="de-DE"/>
            </a:p>
          </p:txBody>
        </p:sp>
      </p:grpSp>
    </p:spTree>
    <p:extLst>
      <p:ext uri="{BB962C8B-B14F-4D97-AF65-F5344CB8AC3E}">
        <p14:creationId xmlns:p14="http://schemas.microsoft.com/office/powerpoint/2010/main" val="16336568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en-US" altLang="de-DE" b="1" dirty="0" err="1"/>
              <a:t>Infotypes</a:t>
            </a:r>
            <a:endParaRPr lang="en-US" altLang="de-DE" b="1" dirty="0"/>
          </a:p>
          <a:p>
            <a:pPr lvl="1"/>
            <a:r>
              <a:rPr lang="en-US" altLang="de-DE" dirty="0"/>
              <a:t>HR master data are structured in </a:t>
            </a:r>
            <a:r>
              <a:rPr lang="en-US" altLang="de-DE" dirty="0" err="1"/>
              <a:t>infotypes</a:t>
            </a:r>
            <a:r>
              <a:rPr lang="en-US" altLang="de-DE" dirty="0"/>
              <a:t>.</a:t>
            </a:r>
          </a:p>
          <a:p>
            <a:pPr lvl="1"/>
            <a:r>
              <a:rPr lang="en-US" altLang="de-DE" dirty="0" smtClean="0"/>
              <a:t>They are collections </a:t>
            </a:r>
            <a:r>
              <a:rPr lang="en-US" altLang="de-DE" dirty="0"/>
              <a:t>of data fields that are logically linked</a:t>
            </a:r>
          </a:p>
          <a:p>
            <a:pPr lvl="1"/>
            <a:r>
              <a:rPr lang="en-US" altLang="de-DE" dirty="0" smtClean="0"/>
              <a:t>They </a:t>
            </a:r>
            <a:r>
              <a:rPr lang="en-US" altLang="de-DE" dirty="0"/>
              <a:t>process employee data in an effective structure in accordance with business requirements</a:t>
            </a:r>
          </a:p>
          <a:p>
            <a:pPr lvl="1"/>
            <a:r>
              <a:rPr lang="en-US" altLang="de-DE" dirty="0"/>
              <a:t>Each </a:t>
            </a:r>
            <a:r>
              <a:rPr lang="en-US" altLang="de-DE" dirty="0" err="1"/>
              <a:t>infotype</a:t>
            </a:r>
            <a:r>
              <a:rPr lang="en-US" altLang="de-DE" dirty="0"/>
              <a:t> has an explicit four-digit ID, e.g. </a:t>
            </a:r>
            <a:r>
              <a:rPr lang="en-US" altLang="de-DE" dirty="0" err="1"/>
              <a:t>infotype</a:t>
            </a:r>
            <a:r>
              <a:rPr lang="en-US" altLang="de-DE" dirty="0"/>
              <a:t> Addresses 0006.</a:t>
            </a:r>
          </a:p>
          <a:p>
            <a:pPr lvl="1"/>
            <a:r>
              <a:rPr lang="en-US" altLang="de-DE" dirty="0"/>
              <a:t>An </a:t>
            </a:r>
            <a:r>
              <a:rPr lang="en-US" altLang="de-DE" dirty="0" err="1"/>
              <a:t>infotype</a:t>
            </a:r>
            <a:r>
              <a:rPr lang="en-US" altLang="de-DE" dirty="0"/>
              <a:t> can have sub types, which represent a sub variant of the </a:t>
            </a:r>
            <a:r>
              <a:rPr lang="en-US" altLang="de-DE" dirty="0" err="1"/>
              <a:t>infotype</a:t>
            </a:r>
            <a:r>
              <a:rPr lang="en-US" altLang="de-DE" dirty="0"/>
              <a:t>. </a:t>
            </a:r>
          </a:p>
          <a:p>
            <a:pPr lvl="1"/>
            <a:endParaRPr lang="en-US" altLang="de-DE" dirty="0"/>
          </a:p>
        </p:txBody>
      </p:sp>
      <p:sp>
        <p:nvSpPr>
          <p:cNvPr id="3" name="Titel 2"/>
          <p:cNvSpPr>
            <a:spLocks noGrp="1"/>
          </p:cNvSpPr>
          <p:nvPr>
            <p:ph type="title"/>
          </p:nvPr>
        </p:nvSpPr>
        <p:spPr/>
        <p:txBody>
          <a:bodyPr/>
          <a:lstStyle/>
          <a:p>
            <a:r>
              <a:rPr lang="en-US" altLang="de-DE" dirty="0"/>
              <a:t>HCM Master Data</a:t>
            </a:r>
            <a:endParaRPr lang="de-DE" dirty="0"/>
          </a:p>
        </p:txBody>
      </p:sp>
      <p:grpSp>
        <p:nvGrpSpPr>
          <p:cNvPr id="13" name="Gruppieren 12"/>
          <p:cNvGrpSpPr/>
          <p:nvPr/>
        </p:nvGrpSpPr>
        <p:grpSpPr>
          <a:xfrm>
            <a:off x="3003356" y="4050684"/>
            <a:ext cx="6186487" cy="2009775"/>
            <a:chOff x="2071688" y="3786188"/>
            <a:chExt cx="6186487" cy="2009775"/>
          </a:xfrm>
        </p:grpSpPr>
        <p:grpSp>
          <p:nvGrpSpPr>
            <p:cNvPr id="4" name="Group 23"/>
            <p:cNvGrpSpPr>
              <a:grpSpLocks/>
            </p:cNvGrpSpPr>
            <p:nvPr/>
          </p:nvGrpSpPr>
          <p:grpSpPr bwMode="auto">
            <a:xfrm>
              <a:off x="2071688" y="3786188"/>
              <a:ext cx="3514725" cy="2009775"/>
              <a:chOff x="1610" y="1344"/>
              <a:chExt cx="3130" cy="1910"/>
            </a:xfrm>
          </p:grpSpPr>
          <p:sp>
            <p:nvSpPr>
              <p:cNvPr id="5" name="Rectangle 6"/>
              <p:cNvSpPr>
                <a:spLocks noChangeArrowheads="1"/>
              </p:cNvSpPr>
              <p:nvPr/>
            </p:nvSpPr>
            <p:spPr bwMode="auto">
              <a:xfrm>
                <a:off x="1610" y="2024"/>
                <a:ext cx="1041" cy="504"/>
              </a:xfrm>
              <a:prstGeom prst="rect">
                <a:avLst/>
              </a:prstGeom>
              <a:solidFill>
                <a:srgbClr val="B2B2B2"/>
              </a:solidFill>
              <a:ln w="19050">
                <a:solidFill>
                  <a:srgbClr val="969696"/>
                </a:solidFill>
                <a:miter lim="800000"/>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b="0">
                    <a:solidFill>
                      <a:srgbClr val="000000"/>
                    </a:solidFill>
                  </a:rPr>
                  <a:t>Infotype 2001</a:t>
                </a:r>
              </a:p>
              <a:p>
                <a:pPr eaLnBrk="1" hangingPunct="1">
                  <a:spcBef>
                    <a:spcPct val="0"/>
                  </a:spcBef>
                  <a:buClrTx/>
                  <a:buFontTx/>
                  <a:buNone/>
                </a:pPr>
                <a:r>
                  <a:rPr lang="en-US" altLang="de-DE" b="0">
                    <a:solidFill>
                      <a:srgbClr val="000000"/>
                    </a:solidFill>
                  </a:rPr>
                  <a:t>Absence</a:t>
                </a:r>
              </a:p>
            </p:txBody>
          </p:sp>
          <p:sp>
            <p:nvSpPr>
              <p:cNvPr id="6" name="Rectangle 7"/>
              <p:cNvSpPr>
                <a:spLocks noChangeArrowheads="1"/>
              </p:cNvSpPr>
              <p:nvPr/>
            </p:nvSpPr>
            <p:spPr bwMode="auto">
              <a:xfrm>
                <a:off x="3787" y="2024"/>
                <a:ext cx="953" cy="504"/>
              </a:xfrm>
              <a:prstGeom prst="rect">
                <a:avLst/>
              </a:prstGeom>
              <a:solidFill>
                <a:srgbClr val="DDDDDD"/>
              </a:solidFill>
              <a:ln w="19050">
                <a:solidFill>
                  <a:srgbClr val="969696"/>
                </a:solidFill>
                <a:miter lim="800000"/>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b="0">
                    <a:solidFill>
                      <a:srgbClr val="000000"/>
                    </a:solidFill>
                  </a:rPr>
                  <a:t>Sub type 0220</a:t>
                </a:r>
              </a:p>
              <a:p>
                <a:pPr eaLnBrk="1" hangingPunct="1">
                  <a:spcBef>
                    <a:spcPct val="0"/>
                  </a:spcBef>
                  <a:buClrTx/>
                  <a:buFontTx/>
                  <a:buNone/>
                </a:pPr>
                <a:r>
                  <a:rPr lang="en-US" altLang="de-DE" b="0">
                    <a:solidFill>
                      <a:srgbClr val="000000"/>
                    </a:solidFill>
                  </a:rPr>
                  <a:t>Health resort</a:t>
                </a:r>
              </a:p>
            </p:txBody>
          </p:sp>
          <p:sp>
            <p:nvSpPr>
              <p:cNvPr id="7" name="Rectangle 8"/>
              <p:cNvSpPr>
                <a:spLocks noChangeArrowheads="1"/>
              </p:cNvSpPr>
              <p:nvPr/>
            </p:nvSpPr>
            <p:spPr bwMode="auto">
              <a:xfrm>
                <a:off x="3787" y="1344"/>
                <a:ext cx="953" cy="504"/>
              </a:xfrm>
              <a:prstGeom prst="rect">
                <a:avLst/>
              </a:prstGeom>
              <a:solidFill>
                <a:srgbClr val="DDDDDD"/>
              </a:solidFill>
              <a:ln w="19050">
                <a:solidFill>
                  <a:srgbClr val="969696"/>
                </a:solidFill>
                <a:miter lim="800000"/>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b="0">
                    <a:solidFill>
                      <a:srgbClr val="000000"/>
                    </a:solidFill>
                  </a:rPr>
                  <a:t>Sub type 0100</a:t>
                </a:r>
              </a:p>
              <a:p>
                <a:pPr eaLnBrk="1" hangingPunct="1">
                  <a:spcBef>
                    <a:spcPct val="0"/>
                  </a:spcBef>
                  <a:buClrTx/>
                  <a:buFontTx/>
                  <a:buNone/>
                </a:pPr>
                <a:r>
                  <a:rPr lang="en-US" altLang="de-DE" b="0">
                    <a:solidFill>
                      <a:srgbClr val="000000"/>
                    </a:solidFill>
                  </a:rPr>
                  <a:t>Vacation</a:t>
                </a:r>
              </a:p>
            </p:txBody>
          </p:sp>
          <p:sp>
            <p:nvSpPr>
              <p:cNvPr id="8" name="Rectangle 7"/>
              <p:cNvSpPr>
                <a:spLocks noChangeArrowheads="1"/>
              </p:cNvSpPr>
              <p:nvPr/>
            </p:nvSpPr>
            <p:spPr bwMode="auto">
              <a:xfrm>
                <a:off x="3787" y="2750"/>
                <a:ext cx="953" cy="504"/>
              </a:xfrm>
              <a:prstGeom prst="rect">
                <a:avLst/>
              </a:prstGeom>
              <a:solidFill>
                <a:srgbClr val="DDDDDD"/>
              </a:solidFill>
              <a:ln w="19050">
                <a:solidFill>
                  <a:srgbClr val="969696"/>
                </a:solidFill>
                <a:miter lim="800000"/>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b="0">
                    <a:solidFill>
                      <a:srgbClr val="000000"/>
                    </a:solidFill>
                  </a:rPr>
                  <a:t>Sub type 0601</a:t>
                </a:r>
              </a:p>
              <a:p>
                <a:pPr eaLnBrk="1" hangingPunct="1">
                  <a:spcBef>
                    <a:spcPct val="0"/>
                  </a:spcBef>
                  <a:buClrTx/>
                  <a:buFontTx/>
                  <a:buNone/>
                </a:pPr>
                <a:r>
                  <a:rPr lang="en-US" altLang="de-DE" b="0">
                    <a:solidFill>
                      <a:srgbClr val="000000"/>
                    </a:solidFill>
                  </a:rPr>
                  <a:t>Parental leave</a:t>
                </a:r>
              </a:p>
            </p:txBody>
          </p:sp>
          <p:sp>
            <p:nvSpPr>
              <p:cNvPr id="9" name="Line 20"/>
              <p:cNvSpPr>
                <a:spLocks noChangeShapeType="1"/>
              </p:cNvSpPr>
              <p:nvPr/>
            </p:nvSpPr>
            <p:spPr bwMode="auto">
              <a:xfrm flipV="1">
                <a:off x="2744" y="1570"/>
                <a:ext cx="952" cy="499"/>
              </a:xfrm>
              <a:prstGeom prst="line">
                <a:avLst/>
              </a:prstGeom>
              <a:noFill/>
              <a:ln w="15875">
                <a:solidFill>
                  <a:srgbClr val="808080"/>
                </a:solidFill>
                <a:round/>
                <a:headEnd/>
                <a:tailEnd type="triangle" w="med" len="med"/>
              </a:ln>
              <a:extLst>
                <a:ext uri="{909E8E84-426E-40DD-AFC4-6F175D3DCCD1}">
                  <a14:hiddenFill xmlns:a14="http://schemas.microsoft.com/office/drawing/2010/main">
                    <a:noFill/>
                  </a14:hiddenFill>
                </a:ext>
              </a:extLst>
            </p:spPr>
            <p:txBody>
              <a:bodyPr lIns="0" tIns="0" rIns="0" bIns="0">
                <a:spAutoFit/>
              </a:bodyPr>
              <a:lstStyle/>
              <a:p>
                <a:endParaRPr lang="de-DE"/>
              </a:p>
            </p:txBody>
          </p:sp>
          <p:sp>
            <p:nvSpPr>
              <p:cNvPr id="10" name="Line 21"/>
              <p:cNvSpPr>
                <a:spLocks noChangeShapeType="1"/>
              </p:cNvSpPr>
              <p:nvPr/>
            </p:nvSpPr>
            <p:spPr bwMode="auto">
              <a:xfrm flipV="1">
                <a:off x="2744" y="2251"/>
                <a:ext cx="997" cy="0"/>
              </a:xfrm>
              <a:prstGeom prst="line">
                <a:avLst/>
              </a:prstGeom>
              <a:noFill/>
              <a:ln w="15875">
                <a:solidFill>
                  <a:srgbClr val="808080"/>
                </a:solidFill>
                <a:round/>
                <a:headEnd/>
                <a:tailEnd type="triangle" w="med" len="med"/>
              </a:ln>
              <a:extLst>
                <a:ext uri="{909E8E84-426E-40DD-AFC4-6F175D3DCCD1}">
                  <a14:hiddenFill xmlns:a14="http://schemas.microsoft.com/office/drawing/2010/main">
                    <a:noFill/>
                  </a14:hiddenFill>
                </a:ext>
              </a:extLst>
            </p:spPr>
            <p:txBody>
              <a:bodyPr lIns="0" tIns="0" rIns="0" bIns="0">
                <a:spAutoFit/>
              </a:bodyPr>
              <a:lstStyle/>
              <a:p>
                <a:endParaRPr lang="de-DE"/>
              </a:p>
            </p:txBody>
          </p:sp>
          <p:sp>
            <p:nvSpPr>
              <p:cNvPr id="11" name="Line 22"/>
              <p:cNvSpPr>
                <a:spLocks noChangeShapeType="1"/>
              </p:cNvSpPr>
              <p:nvPr/>
            </p:nvSpPr>
            <p:spPr bwMode="auto">
              <a:xfrm>
                <a:off x="2744" y="2433"/>
                <a:ext cx="952" cy="543"/>
              </a:xfrm>
              <a:prstGeom prst="line">
                <a:avLst/>
              </a:prstGeom>
              <a:noFill/>
              <a:ln w="15875">
                <a:solidFill>
                  <a:srgbClr val="808080"/>
                </a:solidFill>
                <a:round/>
                <a:headEnd/>
                <a:tailEnd type="triangle" w="med" len="med"/>
              </a:ln>
              <a:extLst>
                <a:ext uri="{909E8E84-426E-40DD-AFC4-6F175D3DCCD1}">
                  <a14:hiddenFill xmlns:a14="http://schemas.microsoft.com/office/drawing/2010/main">
                    <a:noFill/>
                  </a14:hiddenFill>
                </a:ext>
              </a:extLst>
            </p:spPr>
            <p:txBody>
              <a:bodyPr lIns="0" tIns="0" rIns="0" bIns="0">
                <a:spAutoFit/>
              </a:bodyPr>
              <a:lstStyle/>
              <a:p>
                <a:endParaRPr lang="de-DE"/>
              </a:p>
            </p:txBody>
          </p:sp>
        </p:grpSp>
        <p:pic>
          <p:nvPicPr>
            <p:cNvPr id="12" name="Picture 78" descr="j043266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15125" y="4214813"/>
              <a:ext cx="1543050" cy="154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4629733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a:t>Time Constraints of </a:t>
            </a:r>
            <a:r>
              <a:rPr lang="en-US" altLang="de-DE" dirty="0" err="1" smtClean="0"/>
              <a:t>Infotypes</a:t>
            </a:r>
            <a:r>
              <a:rPr lang="en-US" altLang="de-DE" dirty="0" smtClean="0"/>
              <a:t> </a:t>
            </a:r>
            <a:endParaRPr lang="de-DE" dirty="0"/>
          </a:p>
        </p:txBody>
      </p:sp>
      <p:sp>
        <p:nvSpPr>
          <p:cNvPr id="4" name="Line 6"/>
          <p:cNvSpPr>
            <a:spLocks noChangeShapeType="1"/>
          </p:cNvSpPr>
          <p:nvPr/>
        </p:nvSpPr>
        <p:spPr bwMode="auto">
          <a:xfrm>
            <a:off x="6831616" y="2581468"/>
            <a:ext cx="344805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spAutoFit/>
          </a:bodyPr>
          <a:lstStyle/>
          <a:p>
            <a:endParaRPr lang="de-DE"/>
          </a:p>
        </p:txBody>
      </p:sp>
      <p:sp>
        <p:nvSpPr>
          <p:cNvPr id="5" name="Text Box 7"/>
          <p:cNvSpPr txBox="1">
            <a:spLocks noChangeArrowheads="1"/>
          </p:cNvSpPr>
          <p:nvPr/>
        </p:nvSpPr>
        <p:spPr bwMode="auto">
          <a:xfrm>
            <a:off x="6695625" y="1985626"/>
            <a:ext cx="3381375"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lgn="ctr">
                <a:solidFill>
                  <a:srgbClr val="000000"/>
                </a:solidFill>
                <a:miter lim="800000"/>
                <a:headEnd/>
                <a:tailEnd/>
              </a14:hiddenLine>
            </a:ext>
          </a:extLst>
        </p:spPr>
        <p:txBody>
          <a:bodyPr lIns="0" tIns="0" rIns="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r>
              <a:rPr lang="en-US" altLang="de-DE" dirty="0"/>
              <a:t>Time constraint 1         </a:t>
            </a:r>
            <a:r>
              <a:rPr lang="en-US" altLang="de-DE" b="0" dirty="0"/>
              <a:t>e.g. permanent residence</a:t>
            </a:r>
          </a:p>
        </p:txBody>
      </p:sp>
      <p:grpSp>
        <p:nvGrpSpPr>
          <p:cNvPr id="6" name="Group 8"/>
          <p:cNvGrpSpPr>
            <a:grpSpLocks/>
          </p:cNvGrpSpPr>
          <p:nvPr/>
        </p:nvGrpSpPr>
        <p:grpSpPr bwMode="auto">
          <a:xfrm>
            <a:off x="7428516" y="2316355"/>
            <a:ext cx="1260475" cy="144463"/>
            <a:chOff x="1973" y="2840"/>
            <a:chExt cx="862" cy="91"/>
          </a:xfrm>
        </p:grpSpPr>
        <p:sp>
          <p:nvSpPr>
            <p:cNvPr id="7" name="Line 9"/>
            <p:cNvSpPr>
              <a:spLocks noChangeShapeType="1"/>
            </p:cNvSpPr>
            <p:nvPr/>
          </p:nvSpPr>
          <p:spPr bwMode="auto">
            <a:xfrm>
              <a:off x="1973" y="2886"/>
              <a:ext cx="862"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de-DE"/>
            </a:p>
          </p:txBody>
        </p:sp>
        <p:sp>
          <p:nvSpPr>
            <p:cNvPr id="8" name="Line 10"/>
            <p:cNvSpPr>
              <a:spLocks noChangeShapeType="1"/>
            </p:cNvSpPr>
            <p:nvPr/>
          </p:nvSpPr>
          <p:spPr bwMode="auto">
            <a:xfrm>
              <a:off x="1973" y="2843"/>
              <a:ext cx="0" cy="8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de-DE"/>
            </a:p>
          </p:txBody>
        </p:sp>
        <p:sp>
          <p:nvSpPr>
            <p:cNvPr id="9" name="Line 11"/>
            <p:cNvSpPr>
              <a:spLocks noChangeShapeType="1"/>
            </p:cNvSpPr>
            <p:nvPr/>
          </p:nvSpPr>
          <p:spPr bwMode="auto">
            <a:xfrm>
              <a:off x="2835" y="2840"/>
              <a:ext cx="0" cy="8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de-DE"/>
            </a:p>
          </p:txBody>
        </p:sp>
      </p:grpSp>
      <p:grpSp>
        <p:nvGrpSpPr>
          <p:cNvPr id="10" name="Group 12"/>
          <p:cNvGrpSpPr>
            <a:grpSpLocks/>
          </p:cNvGrpSpPr>
          <p:nvPr/>
        </p:nvGrpSpPr>
        <p:grpSpPr bwMode="auto">
          <a:xfrm>
            <a:off x="6831616" y="2673543"/>
            <a:ext cx="596900" cy="139700"/>
            <a:chOff x="1565" y="3115"/>
            <a:chExt cx="408" cy="88"/>
          </a:xfrm>
        </p:grpSpPr>
        <p:sp>
          <p:nvSpPr>
            <p:cNvPr id="11" name="Line 13"/>
            <p:cNvSpPr>
              <a:spLocks noChangeShapeType="1"/>
            </p:cNvSpPr>
            <p:nvPr/>
          </p:nvSpPr>
          <p:spPr bwMode="auto">
            <a:xfrm>
              <a:off x="1565" y="3158"/>
              <a:ext cx="40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de-DE"/>
            </a:p>
          </p:txBody>
        </p:sp>
        <p:sp>
          <p:nvSpPr>
            <p:cNvPr id="12" name="Line 14"/>
            <p:cNvSpPr>
              <a:spLocks noChangeShapeType="1"/>
            </p:cNvSpPr>
            <p:nvPr/>
          </p:nvSpPr>
          <p:spPr bwMode="auto">
            <a:xfrm>
              <a:off x="1973" y="3115"/>
              <a:ext cx="0" cy="8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de-DE"/>
            </a:p>
          </p:txBody>
        </p:sp>
        <p:sp>
          <p:nvSpPr>
            <p:cNvPr id="13" name="Line 15"/>
            <p:cNvSpPr>
              <a:spLocks noChangeShapeType="1"/>
            </p:cNvSpPr>
            <p:nvPr/>
          </p:nvSpPr>
          <p:spPr bwMode="auto">
            <a:xfrm>
              <a:off x="1565" y="3115"/>
              <a:ext cx="0" cy="8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de-DE"/>
            </a:p>
          </p:txBody>
        </p:sp>
      </p:grpSp>
      <p:grpSp>
        <p:nvGrpSpPr>
          <p:cNvPr id="14" name="Group 16"/>
          <p:cNvGrpSpPr>
            <a:grpSpLocks/>
          </p:cNvGrpSpPr>
          <p:nvPr/>
        </p:nvGrpSpPr>
        <p:grpSpPr bwMode="auto">
          <a:xfrm>
            <a:off x="8688991" y="2673543"/>
            <a:ext cx="1525588" cy="139700"/>
            <a:chOff x="2835" y="3115"/>
            <a:chExt cx="1043" cy="88"/>
          </a:xfrm>
        </p:grpSpPr>
        <p:sp>
          <p:nvSpPr>
            <p:cNvPr id="15" name="Line 17"/>
            <p:cNvSpPr>
              <a:spLocks noChangeShapeType="1"/>
            </p:cNvSpPr>
            <p:nvPr/>
          </p:nvSpPr>
          <p:spPr bwMode="auto">
            <a:xfrm>
              <a:off x="2835" y="3158"/>
              <a:ext cx="1043"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de-DE"/>
            </a:p>
          </p:txBody>
        </p:sp>
        <p:sp>
          <p:nvSpPr>
            <p:cNvPr id="16" name="Line 18"/>
            <p:cNvSpPr>
              <a:spLocks noChangeShapeType="1"/>
            </p:cNvSpPr>
            <p:nvPr/>
          </p:nvSpPr>
          <p:spPr bwMode="auto">
            <a:xfrm>
              <a:off x="2835" y="3115"/>
              <a:ext cx="0" cy="8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de-DE"/>
            </a:p>
          </p:txBody>
        </p:sp>
        <p:sp>
          <p:nvSpPr>
            <p:cNvPr id="17" name="Line 19"/>
            <p:cNvSpPr>
              <a:spLocks noChangeShapeType="1"/>
            </p:cNvSpPr>
            <p:nvPr/>
          </p:nvSpPr>
          <p:spPr bwMode="auto">
            <a:xfrm>
              <a:off x="3878" y="3115"/>
              <a:ext cx="0" cy="8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de-DE"/>
            </a:p>
          </p:txBody>
        </p:sp>
      </p:grpSp>
      <p:sp>
        <p:nvSpPr>
          <p:cNvPr id="18" name="Line 21"/>
          <p:cNvSpPr>
            <a:spLocks noChangeShapeType="1"/>
          </p:cNvSpPr>
          <p:nvPr/>
        </p:nvSpPr>
        <p:spPr bwMode="auto">
          <a:xfrm>
            <a:off x="6782228" y="4212538"/>
            <a:ext cx="344805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spAutoFit/>
          </a:bodyPr>
          <a:lstStyle/>
          <a:p>
            <a:endParaRPr lang="de-DE"/>
          </a:p>
        </p:txBody>
      </p:sp>
      <p:sp>
        <p:nvSpPr>
          <p:cNvPr id="19" name="Text Box 22"/>
          <p:cNvSpPr txBox="1">
            <a:spLocks noChangeArrowheads="1"/>
          </p:cNvSpPr>
          <p:nvPr/>
        </p:nvSpPr>
        <p:spPr bwMode="auto">
          <a:xfrm>
            <a:off x="6695625" y="3527268"/>
            <a:ext cx="3381375"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lgn="ctr">
                <a:solidFill>
                  <a:srgbClr val="000000"/>
                </a:solidFill>
                <a:miter lim="800000"/>
                <a:headEnd/>
                <a:tailEnd/>
              </a14:hiddenLine>
            </a:ext>
          </a:extLst>
        </p:spPr>
        <p:txBody>
          <a:bodyPr lIns="0" tIns="0" rIns="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r>
              <a:rPr lang="en-US" altLang="de-DE" dirty="0"/>
              <a:t>Time constraint 2               </a:t>
            </a:r>
            <a:r>
              <a:rPr lang="en-US" altLang="de-DE" b="0" dirty="0"/>
              <a:t>e.g. husband</a:t>
            </a:r>
          </a:p>
        </p:txBody>
      </p:sp>
      <p:grpSp>
        <p:nvGrpSpPr>
          <p:cNvPr id="20" name="Group 23"/>
          <p:cNvGrpSpPr>
            <a:grpSpLocks/>
          </p:cNvGrpSpPr>
          <p:nvPr/>
        </p:nvGrpSpPr>
        <p:grpSpPr bwMode="auto">
          <a:xfrm>
            <a:off x="6782228" y="3993463"/>
            <a:ext cx="1260475" cy="144463"/>
            <a:chOff x="1973" y="2840"/>
            <a:chExt cx="862" cy="91"/>
          </a:xfrm>
        </p:grpSpPr>
        <p:sp>
          <p:nvSpPr>
            <p:cNvPr id="21" name="Line 24"/>
            <p:cNvSpPr>
              <a:spLocks noChangeShapeType="1"/>
            </p:cNvSpPr>
            <p:nvPr/>
          </p:nvSpPr>
          <p:spPr bwMode="auto">
            <a:xfrm>
              <a:off x="1973" y="2886"/>
              <a:ext cx="862"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de-DE"/>
            </a:p>
          </p:txBody>
        </p:sp>
        <p:sp>
          <p:nvSpPr>
            <p:cNvPr id="22" name="Line 25"/>
            <p:cNvSpPr>
              <a:spLocks noChangeShapeType="1"/>
            </p:cNvSpPr>
            <p:nvPr/>
          </p:nvSpPr>
          <p:spPr bwMode="auto">
            <a:xfrm>
              <a:off x="1973" y="2843"/>
              <a:ext cx="0" cy="8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de-DE"/>
            </a:p>
          </p:txBody>
        </p:sp>
        <p:sp>
          <p:nvSpPr>
            <p:cNvPr id="23" name="Line 26"/>
            <p:cNvSpPr>
              <a:spLocks noChangeShapeType="1"/>
            </p:cNvSpPr>
            <p:nvPr/>
          </p:nvSpPr>
          <p:spPr bwMode="auto">
            <a:xfrm>
              <a:off x="2835" y="2840"/>
              <a:ext cx="0" cy="8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de-DE"/>
            </a:p>
          </p:txBody>
        </p:sp>
      </p:grpSp>
      <p:grpSp>
        <p:nvGrpSpPr>
          <p:cNvPr id="24" name="Group 27"/>
          <p:cNvGrpSpPr>
            <a:grpSpLocks/>
          </p:cNvGrpSpPr>
          <p:nvPr/>
        </p:nvGrpSpPr>
        <p:grpSpPr bwMode="auto">
          <a:xfrm>
            <a:off x="8639603" y="3993463"/>
            <a:ext cx="1525588" cy="139700"/>
            <a:chOff x="2835" y="3115"/>
            <a:chExt cx="1043" cy="88"/>
          </a:xfrm>
        </p:grpSpPr>
        <p:sp>
          <p:nvSpPr>
            <p:cNvPr id="25" name="Line 28"/>
            <p:cNvSpPr>
              <a:spLocks noChangeShapeType="1"/>
            </p:cNvSpPr>
            <p:nvPr/>
          </p:nvSpPr>
          <p:spPr bwMode="auto">
            <a:xfrm>
              <a:off x="2835" y="3158"/>
              <a:ext cx="1043"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de-DE"/>
            </a:p>
          </p:txBody>
        </p:sp>
        <p:sp>
          <p:nvSpPr>
            <p:cNvPr id="26" name="Line 29"/>
            <p:cNvSpPr>
              <a:spLocks noChangeShapeType="1"/>
            </p:cNvSpPr>
            <p:nvPr/>
          </p:nvSpPr>
          <p:spPr bwMode="auto">
            <a:xfrm>
              <a:off x="2835" y="3115"/>
              <a:ext cx="0" cy="8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de-DE"/>
            </a:p>
          </p:txBody>
        </p:sp>
        <p:sp>
          <p:nvSpPr>
            <p:cNvPr id="27" name="Line 30"/>
            <p:cNvSpPr>
              <a:spLocks noChangeShapeType="1"/>
            </p:cNvSpPr>
            <p:nvPr/>
          </p:nvSpPr>
          <p:spPr bwMode="auto">
            <a:xfrm>
              <a:off x="3878" y="3115"/>
              <a:ext cx="0" cy="8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de-DE"/>
            </a:p>
          </p:txBody>
        </p:sp>
      </p:grpSp>
      <p:sp>
        <p:nvSpPr>
          <p:cNvPr id="28" name="Line 32"/>
          <p:cNvSpPr>
            <a:spLocks noChangeShapeType="1"/>
          </p:cNvSpPr>
          <p:nvPr/>
        </p:nvSpPr>
        <p:spPr bwMode="auto">
          <a:xfrm>
            <a:off x="6790870" y="5579906"/>
            <a:ext cx="344805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spAutoFit/>
          </a:bodyPr>
          <a:lstStyle/>
          <a:p>
            <a:endParaRPr lang="de-DE"/>
          </a:p>
        </p:txBody>
      </p:sp>
      <p:sp>
        <p:nvSpPr>
          <p:cNvPr id="29" name="Text Box 33"/>
          <p:cNvSpPr txBox="1">
            <a:spLocks noChangeArrowheads="1"/>
          </p:cNvSpPr>
          <p:nvPr/>
        </p:nvSpPr>
        <p:spPr bwMode="auto">
          <a:xfrm>
            <a:off x="6695625" y="4995706"/>
            <a:ext cx="338137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lgn="ctr">
                <a:solidFill>
                  <a:srgbClr val="000000"/>
                </a:solidFill>
                <a:miter lim="800000"/>
                <a:headEnd/>
                <a:tailEnd/>
              </a14:hiddenLine>
            </a:ext>
          </a:extLst>
        </p:spPr>
        <p:txBody>
          <a:bodyPr lIns="0" tIns="0" rIns="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r>
              <a:rPr lang="en-US" altLang="de-DE" dirty="0"/>
              <a:t>Time constraint 3        </a:t>
            </a:r>
            <a:r>
              <a:rPr lang="en-US" altLang="de-DE" b="0" dirty="0"/>
              <a:t>e.g. secondary residence</a:t>
            </a:r>
          </a:p>
        </p:txBody>
      </p:sp>
      <p:grpSp>
        <p:nvGrpSpPr>
          <p:cNvPr id="30" name="Group 34"/>
          <p:cNvGrpSpPr>
            <a:grpSpLocks/>
          </p:cNvGrpSpPr>
          <p:nvPr/>
        </p:nvGrpSpPr>
        <p:grpSpPr bwMode="auto">
          <a:xfrm>
            <a:off x="7575095" y="5700556"/>
            <a:ext cx="1260475" cy="144463"/>
            <a:chOff x="1973" y="2840"/>
            <a:chExt cx="862" cy="91"/>
          </a:xfrm>
        </p:grpSpPr>
        <p:sp>
          <p:nvSpPr>
            <p:cNvPr id="31" name="Line 35"/>
            <p:cNvSpPr>
              <a:spLocks noChangeShapeType="1"/>
            </p:cNvSpPr>
            <p:nvPr/>
          </p:nvSpPr>
          <p:spPr bwMode="auto">
            <a:xfrm>
              <a:off x="1973" y="2886"/>
              <a:ext cx="862"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de-DE"/>
            </a:p>
          </p:txBody>
        </p:sp>
        <p:sp>
          <p:nvSpPr>
            <p:cNvPr id="32" name="Line 36"/>
            <p:cNvSpPr>
              <a:spLocks noChangeShapeType="1"/>
            </p:cNvSpPr>
            <p:nvPr/>
          </p:nvSpPr>
          <p:spPr bwMode="auto">
            <a:xfrm>
              <a:off x="1973" y="2843"/>
              <a:ext cx="0" cy="8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de-DE"/>
            </a:p>
          </p:txBody>
        </p:sp>
        <p:sp>
          <p:nvSpPr>
            <p:cNvPr id="33" name="Line 37"/>
            <p:cNvSpPr>
              <a:spLocks noChangeShapeType="1"/>
            </p:cNvSpPr>
            <p:nvPr/>
          </p:nvSpPr>
          <p:spPr bwMode="auto">
            <a:xfrm>
              <a:off x="2835" y="2840"/>
              <a:ext cx="0" cy="8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de-DE"/>
            </a:p>
          </p:txBody>
        </p:sp>
      </p:grpSp>
      <p:grpSp>
        <p:nvGrpSpPr>
          <p:cNvPr id="34" name="Group 38"/>
          <p:cNvGrpSpPr>
            <a:grpSpLocks/>
          </p:cNvGrpSpPr>
          <p:nvPr/>
        </p:nvGrpSpPr>
        <p:grpSpPr bwMode="auto">
          <a:xfrm>
            <a:off x="6790870" y="5343369"/>
            <a:ext cx="596900" cy="139700"/>
            <a:chOff x="1565" y="3115"/>
            <a:chExt cx="408" cy="88"/>
          </a:xfrm>
        </p:grpSpPr>
        <p:sp>
          <p:nvSpPr>
            <p:cNvPr id="35" name="Line 39"/>
            <p:cNvSpPr>
              <a:spLocks noChangeShapeType="1"/>
            </p:cNvSpPr>
            <p:nvPr/>
          </p:nvSpPr>
          <p:spPr bwMode="auto">
            <a:xfrm>
              <a:off x="1565" y="3158"/>
              <a:ext cx="40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de-DE"/>
            </a:p>
          </p:txBody>
        </p:sp>
        <p:sp>
          <p:nvSpPr>
            <p:cNvPr id="36" name="Line 40"/>
            <p:cNvSpPr>
              <a:spLocks noChangeShapeType="1"/>
            </p:cNvSpPr>
            <p:nvPr/>
          </p:nvSpPr>
          <p:spPr bwMode="auto">
            <a:xfrm>
              <a:off x="1973" y="3115"/>
              <a:ext cx="0" cy="8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de-DE"/>
            </a:p>
          </p:txBody>
        </p:sp>
        <p:sp>
          <p:nvSpPr>
            <p:cNvPr id="37" name="Line 41"/>
            <p:cNvSpPr>
              <a:spLocks noChangeShapeType="1"/>
            </p:cNvSpPr>
            <p:nvPr/>
          </p:nvSpPr>
          <p:spPr bwMode="auto">
            <a:xfrm>
              <a:off x="1565" y="3115"/>
              <a:ext cx="0" cy="8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de-DE"/>
            </a:p>
          </p:txBody>
        </p:sp>
      </p:grpSp>
      <p:grpSp>
        <p:nvGrpSpPr>
          <p:cNvPr id="38" name="Group 42"/>
          <p:cNvGrpSpPr>
            <a:grpSpLocks/>
          </p:cNvGrpSpPr>
          <p:nvPr/>
        </p:nvGrpSpPr>
        <p:grpSpPr bwMode="auto">
          <a:xfrm>
            <a:off x="8648245" y="5343369"/>
            <a:ext cx="1525587" cy="139700"/>
            <a:chOff x="2835" y="3115"/>
            <a:chExt cx="1043" cy="88"/>
          </a:xfrm>
        </p:grpSpPr>
        <p:sp>
          <p:nvSpPr>
            <p:cNvPr id="39" name="Line 43"/>
            <p:cNvSpPr>
              <a:spLocks noChangeShapeType="1"/>
            </p:cNvSpPr>
            <p:nvPr/>
          </p:nvSpPr>
          <p:spPr bwMode="auto">
            <a:xfrm>
              <a:off x="2835" y="3158"/>
              <a:ext cx="1043"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de-DE"/>
            </a:p>
          </p:txBody>
        </p:sp>
        <p:sp>
          <p:nvSpPr>
            <p:cNvPr id="40" name="Line 44"/>
            <p:cNvSpPr>
              <a:spLocks noChangeShapeType="1"/>
            </p:cNvSpPr>
            <p:nvPr/>
          </p:nvSpPr>
          <p:spPr bwMode="auto">
            <a:xfrm>
              <a:off x="2835" y="3115"/>
              <a:ext cx="0" cy="8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de-DE"/>
            </a:p>
          </p:txBody>
        </p:sp>
        <p:sp>
          <p:nvSpPr>
            <p:cNvPr id="41" name="Line 45"/>
            <p:cNvSpPr>
              <a:spLocks noChangeShapeType="1"/>
            </p:cNvSpPr>
            <p:nvPr/>
          </p:nvSpPr>
          <p:spPr bwMode="auto">
            <a:xfrm>
              <a:off x="3878" y="3115"/>
              <a:ext cx="0" cy="8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de-DE"/>
            </a:p>
          </p:txBody>
        </p:sp>
      </p:grpSp>
      <p:sp>
        <p:nvSpPr>
          <p:cNvPr id="43" name="Rechteck 42"/>
          <p:cNvSpPr/>
          <p:nvPr/>
        </p:nvSpPr>
        <p:spPr>
          <a:xfrm>
            <a:off x="324001" y="1572986"/>
            <a:ext cx="5803295" cy="4031873"/>
          </a:xfrm>
          <a:prstGeom prst="rect">
            <a:avLst/>
          </a:prstGeom>
        </p:spPr>
        <p:txBody>
          <a:bodyPr wrap="square">
            <a:spAutoFit/>
          </a:bodyPr>
          <a:lstStyle/>
          <a:p>
            <a:endParaRPr lang="en-US" sz="1600" b="1" dirty="0" smtClean="0">
              <a:latin typeface="+mn-lt"/>
            </a:endParaRPr>
          </a:p>
          <a:p>
            <a:r>
              <a:rPr lang="en-US" sz="1600" b="1" dirty="0" smtClean="0">
                <a:latin typeface="+mn-lt"/>
              </a:rPr>
              <a:t>1</a:t>
            </a:r>
            <a:r>
              <a:rPr lang="en-US" sz="1600" b="1" dirty="0" smtClean="0">
                <a:latin typeface="+mn-lt"/>
              </a:rPr>
              <a:t>: </a:t>
            </a:r>
            <a:r>
              <a:rPr lang="en-US" sz="1600" dirty="0" smtClean="0">
                <a:latin typeface="+mn-lt"/>
              </a:rPr>
              <a:t>The </a:t>
            </a:r>
            <a:r>
              <a:rPr lang="en-US" sz="1600" dirty="0" err="1">
                <a:latin typeface="+mn-lt"/>
              </a:rPr>
              <a:t>infotype</a:t>
            </a:r>
            <a:r>
              <a:rPr lang="en-US" sz="1600" dirty="0">
                <a:latin typeface="+mn-lt"/>
              </a:rPr>
              <a:t> must be continuous without gaps and may only occur once at any one time. </a:t>
            </a:r>
            <a:endParaRPr lang="en-US" sz="1600" dirty="0" smtClean="0">
              <a:latin typeface="+mn-lt"/>
            </a:endParaRPr>
          </a:p>
          <a:p>
            <a:r>
              <a:rPr lang="en-US" sz="1600" dirty="0" smtClean="0">
                <a:latin typeface="+mn-lt"/>
              </a:rPr>
              <a:t>The </a:t>
            </a:r>
            <a:r>
              <a:rPr lang="en-US" sz="1600" dirty="0">
                <a:latin typeface="+mn-lt"/>
              </a:rPr>
              <a:t>last record of this </a:t>
            </a:r>
            <a:r>
              <a:rPr lang="en-US" sz="1600" dirty="0" err="1" smtClean="0">
                <a:latin typeface="+mn-lt"/>
              </a:rPr>
              <a:t>infotype</a:t>
            </a:r>
            <a:r>
              <a:rPr lang="en-US" sz="1600" dirty="0" smtClean="0">
                <a:latin typeface="+mn-lt"/>
              </a:rPr>
              <a:t> </a:t>
            </a:r>
            <a:r>
              <a:rPr lang="en-US" sz="1600" dirty="0">
                <a:latin typeface="+mn-lt"/>
              </a:rPr>
              <a:t>in the database can then no longer be deleted! </a:t>
            </a:r>
            <a:br>
              <a:rPr lang="en-US" sz="1600" dirty="0">
                <a:latin typeface="+mn-lt"/>
              </a:rPr>
            </a:br>
            <a:endParaRPr lang="en-US" sz="1600" dirty="0" smtClean="0">
              <a:latin typeface="+mn-lt"/>
            </a:endParaRPr>
          </a:p>
          <a:p>
            <a:endParaRPr lang="de-DE" sz="1600" dirty="0">
              <a:latin typeface="+mn-lt"/>
            </a:endParaRPr>
          </a:p>
          <a:p>
            <a:endParaRPr lang="de-DE" sz="1600" dirty="0">
              <a:latin typeface="+mn-lt"/>
            </a:endParaRPr>
          </a:p>
          <a:p>
            <a:r>
              <a:rPr lang="de-DE" sz="1600" b="1" dirty="0">
                <a:latin typeface="+mn-lt"/>
              </a:rPr>
              <a:t>2</a:t>
            </a:r>
            <a:r>
              <a:rPr lang="de-DE" sz="1600" dirty="0">
                <a:latin typeface="+mn-lt"/>
              </a:rPr>
              <a:t>: </a:t>
            </a:r>
            <a:r>
              <a:rPr lang="en-US" sz="1600" dirty="0">
                <a:latin typeface="+mn-lt"/>
              </a:rPr>
              <a:t>Gaps permitted, but no multiple assignments</a:t>
            </a:r>
            <a:r>
              <a:rPr lang="en-US" sz="1600" dirty="0" smtClean="0">
                <a:latin typeface="+mn-lt"/>
              </a:rPr>
              <a:t>.</a:t>
            </a:r>
          </a:p>
          <a:p>
            <a:endParaRPr lang="de-DE" sz="1600" dirty="0" smtClean="0">
              <a:latin typeface="+mn-lt"/>
            </a:endParaRPr>
          </a:p>
          <a:p>
            <a:endParaRPr lang="de-DE" sz="1600" dirty="0">
              <a:latin typeface="+mn-lt"/>
            </a:endParaRPr>
          </a:p>
          <a:p>
            <a:endParaRPr lang="de-DE" sz="1600" dirty="0" smtClean="0">
              <a:latin typeface="+mn-lt"/>
            </a:endParaRPr>
          </a:p>
          <a:p>
            <a:endParaRPr lang="de-DE" sz="1600" dirty="0">
              <a:latin typeface="+mn-lt"/>
            </a:endParaRPr>
          </a:p>
          <a:p>
            <a:endParaRPr lang="de-DE" sz="1600" dirty="0">
              <a:latin typeface="+mn-lt"/>
            </a:endParaRPr>
          </a:p>
          <a:p>
            <a:r>
              <a:rPr lang="de-DE" sz="1600" b="1" dirty="0">
                <a:latin typeface="+mn-lt"/>
              </a:rPr>
              <a:t>3</a:t>
            </a:r>
            <a:r>
              <a:rPr lang="de-DE" sz="1600" dirty="0">
                <a:latin typeface="+mn-lt"/>
              </a:rPr>
              <a:t>: </a:t>
            </a:r>
            <a:r>
              <a:rPr lang="en-US" sz="1600" dirty="0">
                <a:latin typeface="+mn-lt"/>
              </a:rPr>
              <a:t>Gaps and multiple assignments permitted.</a:t>
            </a:r>
            <a:endParaRPr lang="de-DE" sz="1600" dirty="0">
              <a:latin typeface="+mn-lt"/>
            </a:endParaRPr>
          </a:p>
          <a:p>
            <a:endParaRPr lang="de-DE" sz="1600" dirty="0">
              <a:latin typeface="+mn-lt"/>
            </a:endParaRPr>
          </a:p>
        </p:txBody>
      </p:sp>
    </p:spTree>
    <p:extLst>
      <p:ext uri="{BB962C8B-B14F-4D97-AF65-F5344CB8AC3E}">
        <p14:creationId xmlns:p14="http://schemas.microsoft.com/office/powerpoint/2010/main" val="28017185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a:t>Maintenance of </a:t>
            </a:r>
            <a:r>
              <a:rPr lang="en-US" altLang="de-DE" dirty="0" err="1" smtClean="0"/>
              <a:t>Infotypes</a:t>
            </a:r>
            <a:endParaRPr lang="de-DE" dirty="0"/>
          </a:p>
        </p:txBody>
      </p:sp>
      <p:sp>
        <p:nvSpPr>
          <p:cNvPr id="4" name="Text Box 13"/>
          <p:cNvSpPr txBox="1">
            <a:spLocks noChangeArrowheads="1"/>
          </p:cNvSpPr>
          <p:nvPr/>
        </p:nvSpPr>
        <p:spPr bwMode="auto">
          <a:xfrm>
            <a:off x="6948294" y="2256172"/>
            <a:ext cx="2879725" cy="215444"/>
          </a:xfrm>
          <a:prstGeom prst="rect">
            <a:avLst/>
          </a:prstGeom>
          <a:noFill/>
          <a:ln w="19050" algn="ctr">
            <a:noFill/>
            <a:miter lim="800000"/>
            <a:headEnd/>
            <a:tailEnd/>
          </a:ln>
        </p:spPr>
        <p:txBody>
          <a:bodyPr lIns="0" tIns="0" rIns="0" bIns="0">
            <a:spAutoFit/>
          </a:bodyPr>
          <a:lstStyle/>
          <a:p>
            <a:pPr fontAlgn="auto">
              <a:spcBef>
                <a:spcPts val="0"/>
              </a:spcBef>
              <a:spcAft>
                <a:spcPts val="0"/>
              </a:spcAft>
              <a:buClrTx/>
              <a:buFontTx/>
              <a:buNone/>
              <a:defRPr/>
            </a:pPr>
            <a:r>
              <a:rPr lang="en-US" sz="1400" b="1" kern="0" dirty="0">
                <a:solidFill>
                  <a:sysClr val="windowText" lastClr="000000"/>
                </a:solidFill>
                <a:latin typeface="Arial" charset="0"/>
              </a:rPr>
              <a:t>Single </a:t>
            </a:r>
            <a:r>
              <a:rPr lang="en-US" sz="1400" b="1" kern="0" dirty="0" err="1">
                <a:solidFill>
                  <a:sysClr val="windowText" lastClr="000000"/>
                </a:solidFill>
                <a:latin typeface="Arial" charset="0"/>
              </a:rPr>
              <a:t>infotype</a:t>
            </a:r>
            <a:r>
              <a:rPr lang="en-US" sz="1400" b="1" kern="0" dirty="0">
                <a:solidFill>
                  <a:sysClr val="windowText" lastClr="000000"/>
                </a:solidFill>
                <a:latin typeface="Arial" charset="0"/>
              </a:rPr>
              <a:t> maintenance </a:t>
            </a:r>
          </a:p>
        </p:txBody>
      </p:sp>
      <p:sp>
        <p:nvSpPr>
          <p:cNvPr id="5" name="Text Box 14"/>
          <p:cNvSpPr txBox="1">
            <a:spLocks noChangeArrowheads="1"/>
          </p:cNvSpPr>
          <p:nvPr/>
        </p:nvSpPr>
        <p:spPr bwMode="auto">
          <a:xfrm>
            <a:off x="6575761" y="4093029"/>
            <a:ext cx="2376487" cy="215444"/>
          </a:xfrm>
          <a:prstGeom prst="rect">
            <a:avLst/>
          </a:prstGeom>
          <a:noFill/>
          <a:ln w="19050" algn="ctr">
            <a:noFill/>
            <a:miter lim="800000"/>
            <a:headEnd/>
            <a:tailEnd/>
          </a:ln>
        </p:spPr>
        <p:txBody>
          <a:bodyPr lIns="0" tIns="0" rIns="0" bIns="0">
            <a:spAutoFit/>
          </a:bodyPr>
          <a:lstStyle/>
          <a:p>
            <a:pPr fontAlgn="auto">
              <a:spcBef>
                <a:spcPts val="0"/>
              </a:spcBef>
              <a:spcAft>
                <a:spcPts val="0"/>
              </a:spcAft>
              <a:buClrTx/>
              <a:buFontTx/>
              <a:buNone/>
              <a:defRPr/>
            </a:pPr>
            <a:r>
              <a:rPr lang="de-DE" sz="1400" b="1" kern="0" dirty="0" err="1">
                <a:solidFill>
                  <a:sysClr val="windowText" lastClr="000000"/>
                </a:solidFill>
                <a:latin typeface="Arial" charset="0"/>
              </a:rPr>
              <a:t>Personnel</a:t>
            </a:r>
            <a:r>
              <a:rPr lang="de-DE" sz="1400" b="1" kern="0" dirty="0">
                <a:solidFill>
                  <a:sysClr val="windowText" lastClr="000000"/>
                </a:solidFill>
                <a:latin typeface="Arial" charset="0"/>
              </a:rPr>
              <a:t> </a:t>
            </a:r>
            <a:r>
              <a:rPr lang="de-DE" sz="1400" b="1" kern="0" dirty="0" err="1">
                <a:solidFill>
                  <a:sysClr val="windowText" lastClr="000000"/>
                </a:solidFill>
                <a:latin typeface="Arial" charset="0"/>
              </a:rPr>
              <a:t>action</a:t>
            </a:r>
            <a:endParaRPr lang="de-DE" sz="1400" b="1" kern="0" dirty="0">
              <a:solidFill>
                <a:sysClr val="windowText" lastClr="000000"/>
              </a:solidFill>
              <a:latin typeface="Arial" charset="0"/>
            </a:endParaRPr>
          </a:p>
        </p:txBody>
      </p:sp>
      <p:sp>
        <p:nvSpPr>
          <p:cNvPr id="6" name="Text Box 16"/>
          <p:cNvSpPr txBox="1">
            <a:spLocks noChangeArrowheads="1"/>
          </p:cNvSpPr>
          <p:nvPr/>
        </p:nvSpPr>
        <p:spPr bwMode="auto">
          <a:xfrm>
            <a:off x="1225004" y="2290202"/>
            <a:ext cx="2376488" cy="215444"/>
          </a:xfrm>
          <a:prstGeom prst="rect">
            <a:avLst/>
          </a:prstGeom>
          <a:noFill/>
          <a:ln w="19050" algn="ctr">
            <a:noFill/>
            <a:miter lim="800000"/>
            <a:headEnd/>
            <a:tailEnd/>
          </a:ln>
        </p:spPr>
        <p:txBody>
          <a:bodyPr lIns="0" tIns="0" rIns="0" bIns="0">
            <a:spAutoFit/>
          </a:bodyPr>
          <a:lstStyle/>
          <a:p>
            <a:pPr fontAlgn="auto">
              <a:spcBef>
                <a:spcPts val="0"/>
              </a:spcBef>
              <a:spcAft>
                <a:spcPts val="0"/>
              </a:spcAft>
              <a:buClrTx/>
              <a:buFontTx/>
              <a:buNone/>
              <a:defRPr/>
            </a:pPr>
            <a:r>
              <a:rPr lang="de-DE" sz="1400" b="1" kern="0" dirty="0">
                <a:solidFill>
                  <a:sysClr val="windowText" lastClr="000000"/>
                </a:solidFill>
                <a:latin typeface="Arial" charset="0"/>
              </a:rPr>
              <a:t>Fast </a:t>
            </a:r>
            <a:r>
              <a:rPr lang="de-DE" sz="1400" b="1" kern="0" dirty="0" err="1">
                <a:solidFill>
                  <a:sysClr val="windowText" lastClr="000000"/>
                </a:solidFill>
                <a:latin typeface="Arial" charset="0"/>
              </a:rPr>
              <a:t>entry</a:t>
            </a:r>
            <a:endParaRPr lang="de-DE" sz="1400" b="1" kern="0" dirty="0">
              <a:solidFill>
                <a:sysClr val="windowText" lastClr="000000"/>
              </a:solidFill>
              <a:latin typeface="Arial" charset="0"/>
            </a:endParaRPr>
          </a:p>
        </p:txBody>
      </p:sp>
      <p:pic>
        <p:nvPicPr>
          <p:cNvPr id="14" name="Grafik 13"/>
          <p:cNvPicPr>
            <a:picLocks noChangeAspect="1"/>
          </p:cNvPicPr>
          <p:nvPr/>
        </p:nvPicPr>
        <p:blipFill>
          <a:blip r:embed="rId2"/>
          <a:stretch>
            <a:fillRect/>
          </a:stretch>
        </p:blipFill>
        <p:spPr>
          <a:xfrm>
            <a:off x="585768" y="2616501"/>
            <a:ext cx="5016588" cy="1567683"/>
          </a:xfrm>
          <a:prstGeom prst="rect">
            <a:avLst/>
          </a:prstGeom>
        </p:spPr>
      </p:pic>
      <p:pic>
        <p:nvPicPr>
          <p:cNvPr id="15" name="Grafik 14"/>
          <p:cNvPicPr>
            <a:picLocks noChangeAspect="1"/>
          </p:cNvPicPr>
          <p:nvPr/>
        </p:nvPicPr>
        <p:blipFill>
          <a:blip r:embed="rId3"/>
          <a:stretch>
            <a:fillRect/>
          </a:stretch>
        </p:blipFill>
        <p:spPr>
          <a:xfrm>
            <a:off x="6575761" y="4305754"/>
            <a:ext cx="3718659" cy="1604127"/>
          </a:xfrm>
          <a:prstGeom prst="rect">
            <a:avLst/>
          </a:prstGeom>
        </p:spPr>
      </p:pic>
      <p:pic>
        <p:nvPicPr>
          <p:cNvPr id="16" name="Grafik 15"/>
          <p:cNvPicPr>
            <a:picLocks noChangeAspect="1"/>
          </p:cNvPicPr>
          <p:nvPr/>
        </p:nvPicPr>
        <p:blipFill>
          <a:blip r:embed="rId4"/>
          <a:stretch>
            <a:fillRect/>
          </a:stretch>
        </p:blipFill>
        <p:spPr>
          <a:xfrm>
            <a:off x="6948295" y="2616501"/>
            <a:ext cx="3219048" cy="208944"/>
          </a:xfrm>
          <a:prstGeom prst="rect">
            <a:avLst/>
          </a:prstGeom>
        </p:spPr>
      </p:pic>
      <p:pic>
        <p:nvPicPr>
          <p:cNvPr id="17" name="Grafik 16"/>
          <p:cNvPicPr>
            <a:picLocks noChangeAspect="1"/>
          </p:cNvPicPr>
          <p:nvPr/>
        </p:nvPicPr>
        <p:blipFill>
          <a:blip r:embed="rId5"/>
          <a:stretch>
            <a:fillRect/>
          </a:stretch>
        </p:blipFill>
        <p:spPr>
          <a:xfrm>
            <a:off x="6948294" y="2825430"/>
            <a:ext cx="3219048" cy="295238"/>
          </a:xfrm>
          <a:prstGeom prst="rect">
            <a:avLst/>
          </a:prstGeom>
        </p:spPr>
      </p:pic>
      <p:sp>
        <p:nvSpPr>
          <p:cNvPr id="7" name="Inhaltsplatzhalter 6"/>
          <p:cNvSpPr>
            <a:spLocks noGrp="1"/>
          </p:cNvSpPr>
          <p:nvPr>
            <p:ph idx="1"/>
          </p:nvPr>
        </p:nvSpPr>
        <p:spPr/>
        <p:txBody>
          <a:bodyPr/>
          <a:lstStyle/>
          <a:p>
            <a:r>
              <a:rPr lang="en-US" dirty="0" err="1"/>
              <a:t>Infotypes</a:t>
            </a:r>
            <a:r>
              <a:rPr lang="en-US" dirty="0"/>
              <a:t> can be maintained in three different ways:</a:t>
            </a:r>
          </a:p>
          <a:p>
            <a:pPr marL="0" indent="0">
              <a:buNone/>
            </a:pPr>
            <a:endParaRPr lang="de-DE" dirty="0"/>
          </a:p>
        </p:txBody>
      </p:sp>
    </p:spTree>
    <p:extLst>
      <p:ext uri="{BB962C8B-B14F-4D97-AF65-F5344CB8AC3E}">
        <p14:creationId xmlns:p14="http://schemas.microsoft.com/office/powerpoint/2010/main" val="4565492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de-DE" dirty="0"/>
              <a:t>Agenda</a:t>
            </a:r>
            <a:endParaRPr lang="de-DE" dirty="0"/>
          </a:p>
        </p:txBody>
      </p:sp>
      <p:sp>
        <p:nvSpPr>
          <p:cNvPr id="3" name="Inhaltsplatzhalter 2"/>
          <p:cNvSpPr>
            <a:spLocks noGrp="1"/>
          </p:cNvSpPr>
          <p:nvPr>
            <p:ph idx="1"/>
          </p:nvPr>
        </p:nvSpPr>
        <p:spPr/>
        <p:txBody>
          <a:bodyPr/>
          <a:lstStyle/>
          <a:p>
            <a:pPr>
              <a:tabLst>
                <a:tab pos="1971675" algn="l"/>
              </a:tabLst>
            </a:pPr>
            <a:r>
              <a:rPr lang="en-US" altLang="de-DE" dirty="0">
                <a:solidFill>
                  <a:srgbClr val="B2B2B2"/>
                </a:solidFill>
              </a:rPr>
              <a:t>HCM Organizational </a:t>
            </a:r>
            <a:r>
              <a:rPr lang="en-US" altLang="de-DE" dirty="0" smtClean="0">
                <a:solidFill>
                  <a:srgbClr val="B2B2B2"/>
                </a:solidFill>
              </a:rPr>
              <a:t>Structure</a:t>
            </a:r>
          </a:p>
          <a:p>
            <a:pPr>
              <a:tabLst>
                <a:tab pos="1971675" algn="l"/>
              </a:tabLst>
            </a:pPr>
            <a:endParaRPr lang="en-US" altLang="de-DE" dirty="0">
              <a:solidFill>
                <a:srgbClr val="B2B2B2"/>
              </a:solidFill>
            </a:endParaRPr>
          </a:p>
          <a:p>
            <a:pPr>
              <a:tabLst>
                <a:tab pos="1971675" algn="l"/>
              </a:tabLst>
            </a:pPr>
            <a:r>
              <a:rPr lang="en-US" altLang="de-DE" dirty="0">
                <a:solidFill>
                  <a:srgbClr val="B2B2B2"/>
                </a:solidFill>
              </a:rPr>
              <a:t>HCM Master </a:t>
            </a:r>
            <a:r>
              <a:rPr lang="en-US" altLang="de-DE" dirty="0" smtClean="0">
                <a:solidFill>
                  <a:srgbClr val="B2B2B2"/>
                </a:solidFill>
              </a:rPr>
              <a:t>Data</a:t>
            </a:r>
          </a:p>
          <a:p>
            <a:pPr>
              <a:tabLst>
                <a:tab pos="1971675" algn="l"/>
              </a:tabLst>
            </a:pPr>
            <a:endParaRPr lang="en-US" altLang="de-DE" dirty="0">
              <a:solidFill>
                <a:srgbClr val="B2B2B2"/>
              </a:solidFill>
            </a:endParaRPr>
          </a:p>
          <a:p>
            <a:pPr>
              <a:tabLst>
                <a:tab pos="1971675" algn="l"/>
              </a:tabLst>
            </a:pPr>
            <a:r>
              <a:rPr lang="en-US" altLang="de-DE" dirty="0"/>
              <a:t>HCM Processes</a:t>
            </a:r>
          </a:p>
          <a:p>
            <a:pPr lvl="1">
              <a:tabLst>
                <a:tab pos="1971675" algn="l"/>
              </a:tabLst>
            </a:pPr>
            <a:r>
              <a:rPr lang="en-US" altLang="de-DE" dirty="0"/>
              <a:t>Organizational Management</a:t>
            </a:r>
          </a:p>
          <a:p>
            <a:pPr lvl="1">
              <a:tabLst>
                <a:tab pos="1971675" algn="l"/>
              </a:tabLst>
            </a:pPr>
            <a:r>
              <a:rPr lang="en-US" altLang="de-DE" dirty="0"/>
              <a:t>Personnel Administration</a:t>
            </a:r>
          </a:p>
          <a:p>
            <a:pPr lvl="1">
              <a:tabLst>
                <a:tab pos="1971675" algn="l"/>
              </a:tabLst>
            </a:pPr>
            <a:r>
              <a:rPr lang="fr-FR" altLang="de-DE" dirty="0" smtClean="0"/>
              <a:t>Personnel </a:t>
            </a:r>
            <a:r>
              <a:rPr lang="fr-FR" altLang="de-DE" dirty="0" err="1"/>
              <a:t>Development</a:t>
            </a:r>
            <a:endParaRPr lang="fr-FR" altLang="de-DE" dirty="0"/>
          </a:p>
          <a:p>
            <a:pPr lvl="1">
              <a:tabLst>
                <a:tab pos="1971675" algn="l"/>
              </a:tabLst>
            </a:pPr>
            <a:r>
              <a:rPr lang="fr-FR" altLang="de-DE" dirty="0" smtClean="0"/>
              <a:t>Personnel </a:t>
            </a:r>
            <a:r>
              <a:rPr lang="fr-FR" altLang="de-DE" dirty="0" err="1"/>
              <a:t>Controlling</a:t>
            </a:r>
            <a:endParaRPr lang="fr-FR" altLang="de-DE" dirty="0"/>
          </a:p>
          <a:p>
            <a:pPr lvl="1">
              <a:tabLst>
                <a:tab pos="1971675" algn="l"/>
              </a:tabLst>
            </a:pPr>
            <a:r>
              <a:rPr lang="fr-FR" altLang="de-DE" dirty="0"/>
              <a:t>ESS/MSS</a:t>
            </a:r>
          </a:p>
          <a:p>
            <a:pPr lvl="1">
              <a:tabLst>
                <a:tab pos="1971675" algn="l"/>
              </a:tabLst>
            </a:pPr>
            <a:endParaRPr lang="en-US" altLang="de-DE" dirty="0"/>
          </a:p>
        </p:txBody>
      </p:sp>
      <p:pic>
        <p:nvPicPr>
          <p:cNvPr id="4" name="Picture 9" descr="j043492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8891" y="2962940"/>
            <a:ext cx="1468437" cy="146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056642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lvl="1">
              <a:lnSpc>
                <a:spcPct val="150000"/>
              </a:lnSpc>
            </a:pPr>
            <a:r>
              <a:rPr lang="en-US" altLang="de-DE" sz="1800" dirty="0"/>
              <a:t>Model the organizational structure of your enterprise</a:t>
            </a:r>
          </a:p>
          <a:p>
            <a:pPr lvl="1">
              <a:lnSpc>
                <a:spcPct val="150000"/>
              </a:lnSpc>
            </a:pPr>
            <a:r>
              <a:rPr lang="en-US" altLang="de-DE" sz="1800" dirty="0"/>
              <a:t>Create, change and delimit organizational units</a:t>
            </a:r>
          </a:p>
          <a:p>
            <a:pPr lvl="1">
              <a:lnSpc>
                <a:spcPct val="150000"/>
              </a:lnSpc>
            </a:pPr>
            <a:r>
              <a:rPr lang="en-US" altLang="de-DE" sz="1800" dirty="0"/>
              <a:t>Create, change and delimit </a:t>
            </a:r>
            <a:r>
              <a:rPr lang="en-US" altLang="de-DE" sz="1800" dirty="0" smtClean="0"/>
              <a:t>jobs and positions</a:t>
            </a:r>
            <a:endParaRPr lang="en-US" altLang="de-DE" sz="1800" dirty="0"/>
          </a:p>
          <a:p>
            <a:pPr lvl="1">
              <a:lnSpc>
                <a:spcPct val="150000"/>
              </a:lnSpc>
            </a:pPr>
            <a:r>
              <a:rPr lang="en-US" altLang="de-DE" sz="1800" dirty="0" smtClean="0"/>
              <a:t>Analyze </a:t>
            </a:r>
            <a:r>
              <a:rPr lang="en-US" altLang="de-DE" sz="1800" dirty="0"/>
              <a:t>an organizational unit to define</a:t>
            </a:r>
          </a:p>
          <a:p>
            <a:pPr lvl="1">
              <a:lnSpc>
                <a:spcPct val="150000"/>
              </a:lnSpc>
              <a:buFontTx/>
              <a:buNone/>
            </a:pPr>
            <a:r>
              <a:rPr lang="en-US" altLang="de-DE" sz="1800" dirty="0"/>
              <a:t>	workforce requirements and personnel cost planning</a:t>
            </a:r>
          </a:p>
          <a:p>
            <a:pPr lvl="1">
              <a:lnSpc>
                <a:spcPct val="150000"/>
              </a:lnSpc>
            </a:pPr>
            <a:r>
              <a:rPr lang="en-US" altLang="de-DE" sz="1800" dirty="0"/>
              <a:t>Create further organizational units for planning </a:t>
            </a:r>
          </a:p>
          <a:p>
            <a:pPr lvl="1">
              <a:lnSpc>
                <a:spcPct val="150000"/>
              </a:lnSpc>
              <a:buFontTx/>
              <a:buNone/>
            </a:pPr>
            <a:r>
              <a:rPr lang="en-US" altLang="de-DE" sz="1800" dirty="0"/>
              <a:t>	scenarios or simulations</a:t>
            </a:r>
          </a:p>
          <a:p>
            <a:pPr lvl="1">
              <a:buFontTx/>
              <a:buNone/>
            </a:pPr>
            <a:endParaRPr lang="en-US" altLang="de-DE" sz="1800" dirty="0"/>
          </a:p>
        </p:txBody>
      </p:sp>
      <p:sp>
        <p:nvSpPr>
          <p:cNvPr id="3" name="Titel 2"/>
          <p:cNvSpPr>
            <a:spLocks noGrp="1"/>
          </p:cNvSpPr>
          <p:nvPr>
            <p:ph type="title"/>
          </p:nvPr>
        </p:nvSpPr>
        <p:spPr/>
        <p:txBody>
          <a:bodyPr/>
          <a:lstStyle/>
          <a:p>
            <a:r>
              <a:rPr lang="en-US" altLang="de-DE" dirty="0"/>
              <a:t>HCM Processes </a:t>
            </a:r>
            <a:r>
              <a:rPr lang="en-US" altLang="de-DE" dirty="0" smtClean="0"/>
              <a:t>– Organizational </a:t>
            </a:r>
            <a:r>
              <a:rPr lang="en-US" altLang="de-DE" dirty="0"/>
              <a:t>Management</a:t>
            </a:r>
            <a:endParaRPr lang="de-DE" dirty="0"/>
          </a:p>
        </p:txBody>
      </p:sp>
      <p:grpSp>
        <p:nvGrpSpPr>
          <p:cNvPr id="4" name="Group 82"/>
          <p:cNvGrpSpPr>
            <a:grpSpLocks/>
          </p:cNvGrpSpPr>
          <p:nvPr/>
        </p:nvGrpSpPr>
        <p:grpSpPr bwMode="auto">
          <a:xfrm>
            <a:off x="8272463" y="2279149"/>
            <a:ext cx="2214562" cy="2857500"/>
            <a:chOff x="3703" y="1078"/>
            <a:chExt cx="1626" cy="1944"/>
          </a:xfrm>
        </p:grpSpPr>
        <p:pic>
          <p:nvPicPr>
            <p:cNvPr id="5" name="Picture 21" descr="j043484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2" y="1078"/>
              <a:ext cx="308"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Line 23"/>
            <p:cNvSpPr>
              <a:spLocks noChangeShapeType="1"/>
            </p:cNvSpPr>
            <p:nvPr/>
          </p:nvSpPr>
          <p:spPr bwMode="auto">
            <a:xfrm>
              <a:off x="4468" y="1395"/>
              <a:ext cx="0" cy="9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7" name="Line 24"/>
            <p:cNvSpPr>
              <a:spLocks noChangeShapeType="1"/>
            </p:cNvSpPr>
            <p:nvPr/>
          </p:nvSpPr>
          <p:spPr bwMode="auto">
            <a:xfrm>
              <a:off x="4150" y="1486"/>
              <a:ext cx="63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0" tIns="0" rIns="0" bIns="0"/>
            <a:lstStyle/>
            <a:p>
              <a:endParaRPr lang="de-DE"/>
            </a:p>
          </p:txBody>
        </p:sp>
        <p:pic>
          <p:nvPicPr>
            <p:cNvPr id="8" name="Picture 25" descr="j043484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14" y="1577"/>
              <a:ext cx="318"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26" descr="j043488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03" y="2212"/>
              <a:ext cx="266"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Line 27"/>
            <p:cNvSpPr>
              <a:spLocks noChangeShapeType="1"/>
            </p:cNvSpPr>
            <p:nvPr/>
          </p:nvSpPr>
          <p:spPr bwMode="auto">
            <a:xfrm>
              <a:off x="4150" y="1486"/>
              <a:ext cx="0" cy="9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11" name="Line 28"/>
            <p:cNvSpPr>
              <a:spLocks noChangeShapeType="1"/>
            </p:cNvSpPr>
            <p:nvPr/>
          </p:nvSpPr>
          <p:spPr bwMode="auto">
            <a:xfrm>
              <a:off x="4785" y="1486"/>
              <a:ext cx="0" cy="9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12" name="Line 29"/>
            <p:cNvSpPr>
              <a:spLocks noChangeShapeType="1"/>
            </p:cNvSpPr>
            <p:nvPr/>
          </p:nvSpPr>
          <p:spPr bwMode="auto">
            <a:xfrm>
              <a:off x="4105" y="2076"/>
              <a:ext cx="0" cy="9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0" tIns="0" rIns="0" bIns="0"/>
            <a:lstStyle/>
            <a:p>
              <a:endParaRPr lang="de-DE"/>
            </a:p>
          </p:txBody>
        </p:sp>
        <p:pic>
          <p:nvPicPr>
            <p:cNvPr id="13" name="Picture 31" descr="j043484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0" y="1577"/>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Line 32"/>
            <p:cNvSpPr>
              <a:spLocks noChangeShapeType="1"/>
            </p:cNvSpPr>
            <p:nvPr/>
          </p:nvSpPr>
          <p:spPr bwMode="auto">
            <a:xfrm>
              <a:off x="3833" y="2076"/>
              <a:ext cx="5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15" name="Line 34"/>
            <p:cNvSpPr>
              <a:spLocks noChangeShapeType="1"/>
            </p:cNvSpPr>
            <p:nvPr/>
          </p:nvSpPr>
          <p:spPr bwMode="auto">
            <a:xfrm>
              <a:off x="4377" y="2076"/>
              <a:ext cx="0" cy="9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16" name="Line 35"/>
            <p:cNvSpPr>
              <a:spLocks noChangeShapeType="1"/>
            </p:cNvSpPr>
            <p:nvPr/>
          </p:nvSpPr>
          <p:spPr bwMode="auto">
            <a:xfrm>
              <a:off x="3833" y="2076"/>
              <a:ext cx="0" cy="9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0" tIns="0" rIns="0" bIns="0"/>
            <a:lstStyle/>
            <a:p>
              <a:endParaRPr lang="de-DE"/>
            </a:p>
          </p:txBody>
        </p:sp>
        <p:pic>
          <p:nvPicPr>
            <p:cNvPr id="17" name="Picture 37" descr="j043488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1" y="2212"/>
              <a:ext cx="267"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Line 38"/>
            <p:cNvSpPr>
              <a:spLocks noChangeShapeType="1"/>
            </p:cNvSpPr>
            <p:nvPr/>
          </p:nvSpPr>
          <p:spPr bwMode="auto">
            <a:xfrm>
              <a:off x="4105" y="1940"/>
              <a:ext cx="0" cy="1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19" name="Line 39"/>
            <p:cNvSpPr>
              <a:spLocks noChangeShapeType="1"/>
            </p:cNvSpPr>
            <p:nvPr/>
          </p:nvSpPr>
          <p:spPr bwMode="auto">
            <a:xfrm>
              <a:off x="4831" y="1940"/>
              <a:ext cx="0" cy="1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20" name="Line 40"/>
            <p:cNvSpPr>
              <a:spLocks noChangeShapeType="1"/>
            </p:cNvSpPr>
            <p:nvPr/>
          </p:nvSpPr>
          <p:spPr bwMode="auto">
            <a:xfrm>
              <a:off x="4650" y="2077"/>
              <a:ext cx="3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21" name="Line 41"/>
            <p:cNvSpPr>
              <a:spLocks noChangeShapeType="1"/>
            </p:cNvSpPr>
            <p:nvPr/>
          </p:nvSpPr>
          <p:spPr bwMode="auto">
            <a:xfrm>
              <a:off x="5012" y="2077"/>
              <a:ext cx="0" cy="9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0" tIns="0" rIns="0" bIns="0"/>
            <a:lstStyle/>
            <a:p>
              <a:endParaRPr lang="de-DE"/>
            </a:p>
          </p:txBody>
        </p:sp>
        <p:pic>
          <p:nvPicPr>
            <p:cNvPr id="22" name="Picture 42" descr="j043484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04" y="2213"/>
              <a:ext cx="272"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Line 44"/>
            <p:cNvSpPr>
              <a:spLocks noChangeShapeType="1"/>
            </p:cNvSpPr>
            <p:nvPr/>
          </p:nvSpPr>
          <p:spPr bwMode="auto">
            <a:xfrm>
              <a:off x="4649" y="2077"/>
              <a:ext cx="0" cy="9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0" tIns="0" rIns="0" bIns="0"/>
            <a:lstStyle/>
            <a:p>
              <a:endParaRPr lang="de-DE"/>
            </a:p>
          </p:txBody>
        </p:sp>
        <p:pic>
          <p:nvPicPr>
            <p:cNvPr id="24" name="Picture 45" descr="j043262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989" y="2212"/>
              <a:ext cx="25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46" descr="j043488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1" y="2213"/>
              <a:ext cx="267"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Line 70"/>
            <p:cNvSpPr>
              <a:spLocks noChangeShapeType="1"/>
            </p:cNvSpPr>
            <p:nvPr/>
          </p:nvSpPr>
          <p:spPr bwMode="auto">
            <a:xfrm>
              <a:off x="5057" y="2484"/>
              <a:ext cx="1" cy="1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27" name="Line 71"/>
            <p:cNvSpPr>
              <a:spLocks noChangeShapeType="1"/>
            </p:cNvSpPr>
            <p:nvPr/>
          </p:nvSpPr>
          <p:spPr bwMode="auto">
            <a:xfrm>
              <a:off x="4877" y="2620"/>
              <a:ext cx="3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28" name="Line 72"/>
            <p:cNvSpPr>
              <a:spLocks noChangeShapeType="1"/>
            </p:cNvSpPr>
            <p:nvPr/>
          </p:nvSpPr>
          <p:spPr bwMode="auto">
            <a:xfrm>
              <a:off x="5239" y="2620"/>
              <a:ext cx="0" cy="9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29" name="Line 73"/>
            <p:cNvSpPr>
              <a:spLocks noChangeShapeType="1"/>
            </p:cNvSpPr>
            <p:nvPr/>
          </p:nvSpPr>
          <p:spPr bwMode="auto">
            <a:xfrm>
              <a:off x="4876" y="2620"/>
              <a:ext cx="0" cy="9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0" tIns="0" rIns="0" bIns="0"/>
            <a:lstStyle/>
            <a:p>
              <a:endParaRPr lang="de-DE"/>
            </a:p>
          </p:txBody>
        </p:sp>
        <p:pic>
          <p:nvPicPr>
            <p:cNvPr id="30" name="Picture 75" descr="j043488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46" y="2756"/>
              <a:ext cx="266"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Picture 77" descr="j043262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077" y="2756"/>
              <a:ext cx="25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8741364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marL="342900" lvl="1" indent="-342900">
              <a:lnSpc>
                <a:spcPct val="150000"/>
              </a:lnSpc>
              <a:spcBef>
                <a:spcPct val="50000"/>
              </a:spcBef>
              <a:buFont typeface="Wingdings" pitchFamily="2" charset="2"/>
              <a:buChar char="§"/>
              <a:defRPr/>
            </a:pPr>
            <a:r>
              <a:rPr lang="en-US" sz="1800" dirty="0"/>
              <a:t>Creating and maintaining personnel master data</a:t>
            </a:r>
          </a:p>
          <a:p>
            <a:pPr marL="342900" lvl="1" indent="-342900">
              <a:lnSpc>
                <a:spcPct val="150000"/>
              </a:lnSpc>
              <a:spcBef>
                <a:spcPct val="50000"/>
              </a:spcBef>
              <a:buFont typeface="Wingdings" pitchFamily="2" charset="2"/>
              <a:buChar char="§"/>
              <a:defRPr/>
            </a:pPr>
            <a:r>
              <a:rPr lang="en-US" sz="1800" dirty="0"/>
              <a:t>Plausibility checks </a:t>
            </a:r>
          </a:p>
          <a:p>
            <a:pPr marL="742950" lvl="2" indent="-342900">
              <a:lnSpc>
                <a:spcPct val="150000"/>
              </a:lnSpc>
              <a:spcBef>
                <a:spcPct val="50000"/>
              </a:spcBef>
              <a:buFont typeface="Wingdings" pitchFamily="2" charset="2"/>
              <a:buChar char="§"/>
              <a:defRPr/>
            </a:pPr>
            <a:r>
              <a:rPr lang="en-US" dirty="0"/>
              <a:t>may be performed to detect errors</a:t>
            </a:r>
          </a:p>
          <a:p>
            <a:pPr marL="742950" lvl="2" indent="-342900">
              <a:lnSpc>
                <a:spcPct val="150000"/>
              </a:lnSpc>
              <a:spcBef>
                <a:spcPct val="50000"/>
              </a:spcBef>
              <a:buFont typeface="Wingdings" pitchFamily="2" charset="2"/>
              <a:buChar char="§"/>
              <a:defRPr/>
            </a:pPr>
            <a:r>
              <a:rPr lang="en-US" dirty="0"/>
              <a:t>prevent the transfer of incorrect data </a:t>
            </a:r>
          </a:p>
          <a:p>
            <a:pPr marL="342900" lvl="1" indent="-342900">
              <a:lnSpc>
                <a:spcPct val="150000"/>
              </a:lnSpc>
              <a:spcBef>
                <a:spcPct val="50000"/>
              </a:spcBef>
              <a:buFont typeface="Wingdings" pitchFamily="2" charset="2"/>
              <a:buChar char="§"/>
              <a:defRPr/>
            </a:pPr>
            <a:r>
              <a:rPr lang="en-US" sz="1800" dirty="0"/>
              <a:t>Automatic history </a:t>
            </a:r>
          </a:p>
          <a:p>
            <a:pPr marL="742950" lvl="2" indent="-342900">
              <a:lnSpc>
                <a:spcPct val="150000"/>
              </a:lnSpc>
              <a:spcBef>
                <a:spcPct val="50000"/>
              </a:spcBef>
              <a:buFont typeface="Wingdings" pitchFamily="2" charset="2"/>
              <a:buChar char="§"/>
              <a:defRPr/>
            </a:pPr>
            <a:r>
              <a:rPr lang="en-US" dirty="0"/>
              <a:t>is created when changing master data</a:t>
            </a:r>
          </a:p>
          <a:p>
            <a:pPr marL="742950" lvl="2" indent="-342900">
              <a:lnSpc>
                <a:spcPct val="150000"/>
              </a:lnSpc>
              <a:spcBef>
                <a:spcPct val="50000"/>
              </a:spcBef>
              <a:buFont typeface="Wingdings" pitchFamily="2" charset="2"/>
              <a:buChar char="§"/>
              <a:defRPr/>
            </a:pPr>
            <a:r>
              <a:rPr lang="en-US" dirty="0"/>
              <a:t>may be used for reporting and the verification of data integrity</a:t>
            </a:r>
          </a:p>
          <a:p>
            <a:pPr marL="342900" lvl="1" indent="-342900">
              <a:lnSpc>
                <a:spcPct val="150000"/>
              </a:lnSpc>
              <a:spcBef>
                <a:spcPct val="50000"/>
              </a:spcBef>
              <a:buFont typeface="Wingdings" pitchFamily="2" charset="2"/>
              <a:buChar char="§"/>
              <a:defRPr/>
            </a:pPr>
            <a:r>
              <a:rPr lang="en-US" sz="1800" dirty="0"/>
              <a:t>Personnel administration sets the data basis for subsequent processes in Human Resource Management and reporting</a:t>
            </a:r>
            <a:endParaRPr lang="de-DE" sz="1800" dirty="0"/>
          </a:p>
        </p:txBody>
      </p:sp>
      <p:sp>
        <p:nvSpPr>
          <p:cNvPr id="3" name="Titel 2"/>
          <p:cNvSpPr>
            <a:spLocks noGrp="1"/>
          </p:cNvSpPr>
          <p:nvPr>
            <p:ph type="title"/>
          </p:nvPr>
        </p:nvSpPr>
        <p:spPr/>
        <p:txBody>
          <a:bodyPr/>
          <a:lstStyle/>
          <a:p>
            <a:r>
              <a:rPr lang="en-US" altLang="de-DE" dirty="0"/>
              <a:t>HCM Processes </a:t>
            </a:r>
            <a:r>
              <a:rPr lang="en-US" altLang="de-DE" dirty="0" smtClean="0"/>
              <a:t>– Personnel </a:t>
            </a:r>
            <a:r>
              <a:rPr lang="en-US" altLang="de-DE" dirty="0"/>
              <a:t>Administration	</a:t>
            </a:r>
            <a:endParaRPr lang="de-DE" dirty="0"/>
          </a:p>
        </p:txBody>
      </p:sp>
      <p:pic>
        <p:nvPicPr>
          <p:cNvPr id="4" name="Picture 4" descr="j043263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30573" y="2563897"/>
            <a:ext cx="1714500"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056400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a:t>Personnel Controlling </a:t>
            </a:r>
            <a:r>
              <a:rPr lang="en-US" altLang="de-DE" dirty="0" smtClean="0"/>
              <a:t>– </a:t>
            </a:r>
            <a:r>
              <a:rPr lang="de-DE" altLang="de-DE" dirty="0" smtClean="0"/>
              <a:t>Ad-hoc </a:t>
            </a:r>
            <a:r>
              <a:rPr lang="de-DE" altLang="de-DE" dirty="0"/>
              <a:t>Query</a:t>
            </a:r>
            <a:endParaRPr lang="de-DE" dirty="0"/>
          </a:p>
        </p:txBody>
      </p:sp>
      <p:grpSp>
        <p:nvGrpSpPr>
          <p:cNvPr id="26" name="Gruppieren 25"/>
          <p:cNvGrpSpPr/>
          <p:nvPr/>
        </p:nvGrpSpPr>
        <p:grpSpPr>
          <a:xfrm>
            <a:off x="2567587" y="1691079"/>
            <a:ext cx="7058025" cy="4178300"/>
            <a:chOff x="1042988" y="1266825"/>
            <a:chExt cx="7058025" cy="4178300"/>
          </a:xfrm>
        </p:grpSpPr>
        <p:grpSp>
          <p:nvGrpSpPr>
            <p:cNvPr id="4" name="Group 28"/>
            <p:cNvGrpSpPr>
              <a:grpSpLocks/>
            </p:cNvGrpSpPr>
            <p:nvPr/>
          </p:nvGrpSpPr>
          <p:grpSpPr bwMode="auto">
            <a:xfrm>
              <a:off x="1042988" y="1700213"/>
              <a:ext cx="7058025" cy="3744912"/>
              <a:chOff x="657" y="1071"/>
              <a:chExt cx="4446" cy="2359"/>
            </a:xfrm>
          </p:grpSpPr>
          <p:grpSp>
            <p:nvGrpSpPr>
              <p:cNvPr id="5" name="Group 14"/>
              <p:cNvGrpSpPr>
                <a:grpSpLocks/>
              </p:cNvGrpSpPr>
              <p:nvPr/>
            </p:nvGrpSpPr>
            <p:grpSpPr bwMode="auto">
              <a:xfrm>
                <a:off x="657" y="1071"/>
                <a:ext cx="3311" cy="1451"/>
                <a:chOff x="1202" y="1253"/>
                <a:chExt cx="3311" cy="1451"/>
              </a:xfrm>
            </p:grpSpPr>
            <p:sp>
              <p:nvSpPr>
                <p:cNvPr id="17" name="Rectangle 11"/>
                <p:cNvSpPr>
                  <a:spLocks noChangeArrowheads="1"/>
                </p:cNvSpPr>
                <p:nvPr/>
              </p:nvSpPr>
              <p:spPr bwMode="auto">
                <a:xfrm>
                  <a:off x="1202" y="1253"/>
                  <a:ext cx="3311" cy="1451"/>
                </a:xfrm>
                <a:prstGeom prst="rect">
                  <a:avLst/>
                </a:prstGeom>
                <a:solidFill>
                  <a:srgbClr val="C0C0C0"/>
                </a:solidFill>
                <a:ln w="19050" algn="ctr">
                  <a:solidFill>
                    <a:srgbClr val="808080"/>
                  </a:solidFill>
                  <a:miter lim="800000"/>
                  <a:headEnd/>
                  <a:tailEnd/>
                </a:ln>
              </p:spPr>
              <p:txBody>
                <a:bodyPr lIns="0" tIns="0" rIns="0" bIns="0" anchor="ct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endParaRPr lang="de-DE" altLang="de-DE"/>
                </a:p>
              </p:txBody>
            </p:sp>
            <p:sp>
              <p:nvSpPr>
                <p:cNvPr id="18" name="Rectangle 10"/>
                <p:cNvSpPr>
                  <a:spLocks noChangeArrowheads="1"/>
                </p:cNvSpPr>
                <p:nvPr/>
              </p:nvSpPr>
              <p:spPr bwMode="auto">
                <a:xfrm>
                  <a:off x="2063" y="1966"/>
                  <a:ext cx="0" cy="116"/>
                </a:xfrm>
                <a:prstGeom prst="rect">
                  <a:avLst/>
                </a:prstGeom>
                <a:solidFill>
                  <a:srgbClr val="DDDDDD"/>
                </a:solidFill>
                <a:ln w="12700" algn="ctr">
                  <a:solidFill>
                    <a:srgbClr val="808080"/>
                  </a:solidFill>
                  <a:miter lim="800000"/>
                  <a:headEnd/>
                  <a:tailEnd/>
                </a:ln>
              </p:spPr>
              <p:txBody>
                <a:bodyPr wrap="none" lIns="0" tIns="0" rIns="0" bIns="0" anchor="ct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endParaRPr lang="de-DE" altLang="de-DE"/>
                </a:p>
              </p:txBody>
            </p:sp>
            <p:sp>
              <p:nvSpPr>
                <p:cNvPr id="19" name="Text Box 5"/>
                <p:cNvSpPr txBox="1">
                  <a:spLocks noChangeArrowheads="1"/>
                </p:cNvSpPr>
                <p:nvPr/>
              </p:nvSpPr>
              <p:spPr bwMode="auto">
                <a:xfrm>
                  <a:off x="1247" y="1298"/>
                  <a:ext cx="499"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r>
                    <a:rPr lang="de-DE" altLang="de-DE"/>
                    <a:t>Infoset</a:t>
                  </a:r>
                </a:p>
              </p:txBody>
            </p:sp>
            <p:sp>
              <p:nvSpPr>
                <p:cNvPr id="20" name="Text Box 8"/>
                <p:cNvSpPr txBox="1">
                  <a:spLocks noChangeArrowheads="1"/>
                </p:cNvSpPr>
                <p:nvPr/>
              </p:nvSpPr>
              <p:spPr bwMode="auto">
                <a:xfrm>
                  <a:off x="1610" y="1842"/>
                  <a:ext cx="771"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r>
                    <a:rPr lang="de-DE" altLang="de-DE"/>
                    <a:t>IT 0001</a:t>
                  </a:r>
                </a:p>
                <a:p>
                  <a:pPr eaLnBrk="1" hangingPunct="1"/>
                  <a:r>
                    <a:rPr lang="de-DE" altLang="de-DE"/>
                    <a:t>IT 0006</a:t>
                  </a:r>
                </a:p>
                <a:p>
                  <a:pPr eaLnBrk="1" hangingPunct="1"/>
                  <a:r>
                    <a:rPr lang="de-DE" altLang="de-DE"/>
                    <a:t>IT 0007</a:t>
                  </a:r>
                </a:p>
                <a:p>
                  <a:pPr eaLnBrk="1" hangingPunct="1"/>
                  <a:r>
                    <a:rPr lang="de-DE" altLang="de-DE"/>
                    <a:t>…</a:t>
                  </a:r>
                </a:p>
              </p:txBody>
            </p:sp>
            <p:sp>
              <p:nvSpPr>
                <p:cNvPr id="21" name="Rectangle 12"/>
                <p:cNvSpPr>
                  <a:spLocks noChangeArrowheads="1"/>
                </p:cNvSpPr>
                <p:nvPr/>
              </p:nvSpPr>
              <p:spPr bwMode="auto">
                <a:xfrm>
                  <a:off x="3605" y="1966"/>
                  <a:ext cx="0" cy="116"/>
                </a:xfrm>
                <a:prstGeom prst="rect">
                  <a:avLst/>
                </a:prstGeom>
                <a:solidFill>
                  <a:srgbClr val="DDDDDD"/>
                </a:solidFill>
                <a:ln w="12700" algn="ctr">
                  <a:solidFill>
                    <a:srgbClr val="808080"/>
                  </a:solidFill>
                  <a:miter lim="800000"/>
                  <a:headEnd/>
                  <a:tailEnd/>
                </a:ln>
              </p:spPr>
              <p:txBody>
                <a:bodyPr wrap="none" lIns="0" tIns="0" rIns="0" bIns="0" anchor="ct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endParaRPr lang="de-DE" altLang="de-DE"/>
                </a:p>
              </p:txBody>
            </p:sp>
            <p:sp>
              <p:nvSpPr>
                <p:cNvPr id="22" name="Text Box 9"/>
                <p:cNvSpPr txBox="1">
                  <a:spLocks noChangeArrowheads="1"/>
                </p:cNvSpPr>
                <p:nvPr/>
              </p:nvSpPr>
              <p:spPr bwMode="auto">
                <a:xfrm>
                  <a:off x="3243" y="1852"/>
                  <a:ext cx="771" cy="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r>
                    <a:rPr lang="en-US" altLang="de-DE"/>
                    <a:t>Gross result</a:t>
                  </a:r>
                </a:p>
                <a:p>
                  <a:pPr eaLnBrk="1" hangingPunct="1"/>
                  <a:r>
                    <a:rPr lang="en-US" altLang="de-DE"/>
                    <a:t>Optional data</a:t>
                  </a:r>
                </a:p>
                <a:p>
                  <a:pPr eaLnBrk="1" hangingPunct="1"/>
                  <a:r>
                    <a:rPr lang="en-US" altLang="de-DE"/>
                    <a:t>Church tax</a:t>
                  </a:r>
                </a:p>
                <a:p>
                  <a:pPr eaLnBrk="1" hangingPunct="1"/>
                  <a:r>
                    <a:rPr lang="en-US" altLang="de-DE"/>
                    <a:t>…</a:t>
                  </a:r>
                </a:p>
                <a:p>
                  <a:pPr eaLnBrk="1" hangingPunct="1"/>
                  <a:endParaRPr lang="en-US" altLang="de-DE"/>
                </a:p>
              </p:txBody>
            </p:sp>
            <p:sp>
              <p:nvSpPr>
                <p:cNvPr id="23" name="Text Box 13"/>
                <p:cNvSpPr txBox="1">
                  <a:spLocks noChangeArrowheads="1"/>
                </p:cNvSpPr>
                <p:nvPr/>
              </p:nvSpPr>
              <p:spPr bwMode="auto">
                <a:xfrm>
                  <a:off x="1474" y="1591"/>
                  <a:ext cx="122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r>
                    <a:rPr lang="en-US" altLang="de-DE"/>
                    <a:t>Personnel Administration</a:t>
                  </a:r>
                </a:p>
              </p:txBody>
            </p:sp>
            <p:sp>
              <p:nvSpPr>
                <p:cNvPr id="24" name="Text Box 6"/>
                <p:cNvSpPr txBox="1">
                  <a:spLocks noChangeArrowheads="1"/>
                </p:cNvSpPr>
                <p:nvPr/>
              </p:nvSpPr>
              <p:spPr bwMode="auto">
                <a:xfrm>
                  <a:off x="2971" y="1570"/>
                  <a:ext cx="122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r>
                    <a:rPr lang="en-US" altLang="de-DE"/>
                    <a:t>Payroll</a:t>
                  </a:r>
                </a:p>
              </p:txBody>
            </p:sp>
          </p:grpSp>
          <p:grpSp>
            <p:nvGrpSpPr>
              <p:cNvPr id="6" name="Group 26"/>
              <p:cNvGrpSpPr>
                <a:grpSpLocks/>
              </p:cNvGrpSpPr>
              <p:nvPr/>
            </p:nvGrpSpPr>
            <p:grpSpPr bwMode="auto">
              <a:xfrm>
                <a:off x="1066" y="3067"/>
                <a:ext cx="4037" cy="363"/>
                <a:chOff x="1066" y="3067"/>
                <a:chExt cx="4037" cy="363"/>
              </a:xfrm>
            </p:grpSpPr>
            <p:sp>
              <p:nvSpPr>
                <p:cNvPr id="9" name="AutoShape 22"/>
                <p:cNvSpPr>
                  <a:spLocks noChangeArrowheads="1"/>
                </p:cNvSpPr>
                <p:nvPr/>
              </p:nvSpPr>
              <p:spPr bwMode="auto">
                <a:xfrm>
                  <a:off x="3969" y="3067"/>
                  <a:ext cx="1134" cy="363"/>
                </a:xfrm>
                <a:prstGeom prst="chevron">
                  <a:avLst>
                    <a:gd name="adj" fmla="val 78099"/>
                  </a:avLst>
                </a:prstGeom>
                <a:solidFill>
                  <a:schemeClr val="bg1"/>
                </a:solidFill>
                <a:ln w="19050" algn="ctr">
                  <a:solidFill>
                    <a:srgbClr val="808080"/>
                  </a:solidFill>
                  <a:miter lim="800000"/>
                  <a:headEnd/>
                  <a:tailEnd/>
                </a:ln>
              </p:spPr>
              <p:txBody>
                <a:bodyPr lIns="0" tIns="0" rIns="0" bIns="0" anchor="ct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endParaRPr lang="de-DE" altLang="de-DE"/>
                </a:p>
              </p:txBody>
            </p:sp>
            <p:sp>
              <p:nvSpPr>
                <p:cNvPr id="10" name="AutoShape 21"/>
                <p:cNvSpPr>
                  <a:spLocks noChangeArrowheads="1"/>
                </p:cNvSpPr>
                <p:nvPr/>
              </p:nvSpPr>
              <p:spPr bwMode="auto">
                <a:xfrm>
                  <a:off x="3017" y="3067"/>
                  <a:ext cx="1134" cy="363"/>
                </a:xfrm>
                <a:prstGeom prst="chevron">
                  <a:avLst>
                    <a:gd name="adj" fmla="val 78099"/>
                  </a:avLst>
                </a:prstGeom>
                <a:solidFill>
                  <a:schemeClr val="bg1"/>
                </a:solidFill>
                <a:ln w="19050" algn="ctr">
                  <a:solidFill>
                    <a:srgbClr val="808080"/>
                  </a:solidFill>
                  <a:miter lim="800000"/>
                  <a:headEnd/>
                  <a:tailEnd/>
                </a:ln>
              </p:spPr>
              <p:txBody>
                <a:bodyPr lIns="0" tIns="0" rIns="0" bIns="0" anchor="ct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endParaRPr lang="de-DE" altLang="de-DE"/>
                </a:p>
              </p:txBody>
            </p:sp>
            <p:sp>
              <p:nvSpPr>
                <p:cNvPr id="11" name="AutoShape 20"/>
                <p:cNvSpPr>
                  <a:spLocks noChangeArrowheads="1"/>
                </p:cNvSpPr>
                <p:nvPr/>
              </p:nvSpPr>
              <p:spPr bwMode="auto">
                <a:xfrm>
                  <a:off x="2064" y="3067"/>
                  <a:ext cx="1134" cy="363"/>
                </a:xfrm>
                <a:prstGeom prst="chevron">
                  <a:avLst>
                    <a:gd name="adj" fmla="val 78099"/>
                  </a:avLst>
                </a:prstGeom>
                <a:solidFill>
                  <a:schemeClr val="bg1"/>
                </a:solidFill>
                <a:ln w="19050" algn="ctr">
                  <a:solidFill>
                    <a:srgbClr val="808080"/>
                  </a:solidFill>
                  <a:miter lim="800000"/>
                  <a:headEnd/>
                  <a:tailEnd/>
                </a:ln>
              </p:spPr>
              <p:txBody>
                <a:bodyPr lIns="0" tIns="0" rIns="0" bIns="0" anchor="ct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endParaRPr lang="de-DE" altLang="de-DE"/>
                </a:p>
              </p:txBody>
            </p:sp>
            <p:sp>
              <p:nvSpPr>
                <p:cNvPr id="12" name="AutoShape 15"/>
                <p:cNvSpPr>
                  <a:spLocks noChangeArrowheads="1"/>
                </p:cNvSpPr>
                <p:nvPr/>
              </p:nvSpPr>
              <p:spPr bwMode="auto">
                <a:xfrm>
                  <a:off x="1066" y="3067"/>
                  <a:ext cx="1134" cy="363"/>
                </a:xfrm>
                <a:prstGeom prst="chevron">
                  <a:avLst>
                    <a:gd name="adj" fmla="val 78099"/>
                  </a:avLst>
                </a:prstGeom>
                <a:solidFill>
                  <a:schemeClr val="bg1"/>
                </a:solidFill>
                <a:ln w="19050" algn="ctr">
                  <a:solidFill>
                    <a:srgbClr val="808080"/>
                  </a:solidFill>
                  <a:miter lim="800000"/>
                  <a:headEnd/>
                  <a:tailEnd/>
                </a:ln>
              </p:spPr>
              <p:txBody>
                <a:bodyPr lIns="0" tIns="0" rIns="0" bIns="0" anchor="ct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endParaRPr lang="de-DE" altLang="de-DE"/>
                </a:p>
              </p:txBody>
            </p:sp>
            <p:sp>
              <p:nvSpPr>
                <p:cNvPr id="13" name="Text Box 16"/>
                <p:cNvSpPr txBox="1">
                  <a:spLocks noChangeArrowheads="1"/>
                </p:cNvSpPr>
                <p:nvPr/>
              </p:nvSpPr>
              <p:spPr bwMode="auto">
                <a:xfrm>
                  <a:off x="1338" y="3105"/>
                  <a:ext cx="73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r>
                    <a:rPr lang="en-US" altLang="de-DE"/>
                    <a:t>Choose selection fields</a:t>
                  </a:r>
                </a:p>
              </p:txBody>
            </p:sp>
            <p:sp>
              <p:nvSpPr>
                <p:cNvPr id="14" name="Text Box 17"/>
                <p:cNvSpPr txBox="1">
                  <a:spLocks noChangeArrowheads="1"/>
                </p:cNvSpPr>
                <p:nvPr/>
              </p:nvSpPr>
              <p:spPr bwMode="auto">
                <a:xfrm>
                  <a:off x="2250" y="3105"/>
                  <a:ext cx="77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r>
                    <a:rPr lang="en-US" altLang="de-DE"/>
                    <a:t>Choose output fields</a:t>
                  </a:r>
                </a:p>
              </p:txBody>
            </p:sp>
            <p:sp>
              <p:nvSpPr>
                <p:cNvPr id="15" name="Text Box 18"/>
                <p:cNvSpPr txBox="1">
                  <a:spLocks noChangeArrowheads="1"/>
                </p:cNvSpPr>
                <p:nvPr/>
              </p:nvSpPr>
              <p:spPr bwMode="auto">
                <a:xfrm>
                  <a:off x="3240" y="3105"/>
                  <a:ext cx="77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r>
                    <a:rPr lang="en-US" altLang="de-DE"/>
                    <a:t>Export ad-hoc query</a:t>
                  </a:r>
                </a:p>
              </p:txBody>
            </p:sp>
            <p:sp>
              <p:nvSpPr>
                <p:cNvPr id="16" name="Text Box 19"/>
                <p:cNvSpPr txBox="1">
                  <a:spLocks noChangeArrowheads="1"/>
                </p:cNvSpPr>
                <p:nvPr/>
              </p:nvSpPr>
              <p:spPr bwMode="auto">
                <a:xfrm>
                  <a:off x="4185" y="3105"/>
                  <a:ext cx="77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r>
                    <a:rPr lang="en-US" altLang="de-DE"/>
                    <a:t>Save ad-hoc query</a:t>
                  </a:r>
                </a:p>
              </p:txBody>
            </p:sp>
          </p:grpSp>
          <p:sp>
            <p:nvSpPr>
              <p:cNvPr id="7" name="Line 24"/>
              <p:cNvSpPr>
                <a:spLocks noChangeShapeType="1"/>
              </p:cNvSpPr>
              <p:nvPr/>
            </p:nvSpPr>
            <p:spPr bwMode="auto">
              <a:xfrm>
                <a:off x="1564" y="2523"/>
                <a:ext cx="0" cy="499"/>
              </a:xfrm>
              <a:prstGeom prst="line">
                <a:avLst/>
              </a:prstGeom>
              <a:noFill/>
              <a:ln w="19050">
                <a:solidFill>
                  <a:srgbClr val="808080"/>
                </a:solidFill>
                <a:round/>
                <a:headEnd/>
                <a:tailEnd type="triangle" w="med" len="med"/>
              </a:ln>
              <a:extLst>
                <a:ext uri="{909E8E84-426E-40DD-AFC4-6F175D3DCCD1}">
                  <a14:hiddenFill xmlns:a14="http://schemas.microsoft.com/office/drawing/2010/main">
                    <a:noFill/>
                  </a14:hiddenFill>
                </a:ext>
              </a:extLst>
            </p:spPr>
            <p:txBody>
              <a:bodyPr lIns="0" tIns="0" rIns="0" bIns="0">
                <a:spAutoFit/>
              </a:bodyPr>
              <a:lstStyle/>
              <a:p>
                <a:endParaRPr lang="de-DE"/>
              </a:p>
            </p:txBody>
          </p:sp>
          <p:sp>
            <p:nvSpPr>
              <p:cNvPr id="8" name="Line 25"/>
              <p:cNvSpPr>
                <a:spLocks noChangeShapeType="1"/>
              </p:cNvSpPr>
              <p:nvPr/>
            </p:nvSpPr>
            <p:spPr bwMode="auto">
              <a:xfrm>
                <a:off x="2699" y="2523"/>
                <a:ext cx="0" cy="499"/>
              </a:xfrm>
              <a:prstGeom prst="line">
                <a:avLst/>
              </a:prstGeom>
              <a:noFill/>
              <a:ln w="19050">
                <a:solidFill>
                  <a:srgbClr val="808080"/>
                </a:solidFill>
                <a:round/>
                <a:headEnd/>
                <a:tailEnd type="triangle" w="med" len="med"/>
              </a:ln>
              <a:extLst>
                <a:ext uri="{909E8E84-426E-40DD-AFC4-6F175D3DCCD1}">
                  <a14:hiddenFill xmlns:a14="http://schemas.microsoft.com/office/drawing/2010/main">
                    <a:noFill/>
                  </a14:hiddenFill>
                </a:ext>
              </a:extLst>
            </p:spPr>
            <p:txBody>
              <a:bodyPr lIns="0" tIns="0" rIns="0" bIns="0">
                <a:spAutoFit/>
              </a:bodyPr>
              <a:lstStyle/>
              <a:p>
                <a:endParaRPr lang="de-DE"/>
              </a:p>
            </p:txBody>
          </p:sp>
        </p:grpSp>
        <p:sp>
          <p:nvSpPr>
            <p:cNvPr id="25" name="Rectangle 25"/>
            <p:cNvSpPr>
              <a:spLocks noChangeArrowheads="1"/>
            </p:cNvSpPr>
            <p:nvPr/>
          </p:nvSpPr>
          <p:spPr bwMode="auto">
            <a:xfrm>
              <a:off x="1287463" y="1266825"/>
              <a:ext cx="6313487"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none" lIns="0" tIns="0" rIns="0" bIns="0" anchor="ct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r>
                <a:rPr lang="en-US" altLang="de-DE" sz="1400"/>
                <a:t>Ad-hoc Queries are a tool for analysing data from personnel management</a:t>
              </a:r>
            </a:p>
          </p:txBody>
        </p:sp>
      </p:grpSp>
    </p:spTree>
    <p:extLst>
      <p:ext uri="{BB962C8B-B14F-4D97-AF65-F5344CB8AC3E}">
        <p14:creationId xmlns:p14="http://schemas.microsoft.com/office/powerpoint/2010/main" val="29413467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smtClean="0"/>
              <a:t>Employee </a:t>
            </a:r>
            <a:r>
              <a:rPr lang="de-DE" dirty="0" err="1" smtClean="0"/>
              <a:t>Self</a:t>
            </a:r>
            <a:r>
              <a:rPr lang="de-DE" b="0" dirty="0" smtClean="0"/>
              <a:t>-</a:t>
            </a:r>
            <a:r>
              <a:rPr lang="de-DE" dirty="0" smtClean="0"/>
              <a:t>Service </a:t>
            </a:r>
            <a:r>
              <a:rPr lang="de-DE" dirty="0" smtClean="0"/>
              <a:t>(ESS)</a:t>
            </a:r>
            <a:endParaRPr lang="de-DE" dirty="0"/>
          </a:p>
        </p:txBody>
      </p:sp>
      <p:sp>
        <p:nvSpPr>
          <p:cNvPr id="3" name="Inhaltsplatzhalter 2"/>
          <p:cNvSpPr>
            <a:spLocks noGrp="1"/>
          </p:cNvSpPr>
          <p:nvPr>
            <p:ph idx="1"/>
          </p:nvPr>
        </p:nvSpPr>
        <p:spPr/>
        <p:txBody>
          <a:bodyPr/>
          <a:lstStyle/>
          <a:p>
            <a:r>
              <a:rPr lang="en-US" dirty="0"/>
              <a:t>Modern web interface for employees </a:t>
            </a:r>
            <a:endParaRPr lang="en-US" dirty="0" smtClean="0"/>
          </a:p>
          <a:p>
            <a:r>
              <a:rPr lang="en-US" dirty="0"/>
              <a:t>Enables personal data to be maintained independently of time and location </a:t>
            </a:r>
            <a:endParaRPr lang="en-US" dirty="0" smtClean="0"/>
          </a:p>
          <a:p>
            <a:r>
              <a:rPr lang="en-US" dirty="0"/>
              <a:t>Access to numerous administrative functions that are normally performed by other departments </a:t>
            </a:r>
            <a:endParaRPr lang="en-US" dirty="0" smtClean="0"/>
          </a:p>
          <a:p>
            <a:r>
              <a:rPr lang="en-US" dirty="0"/>
              <a:t>Employees are responsible for updating their own </a:t>
            </a:r>
            <a:r>
              <a:rPr lang="en-US" dirty="0" smtClean="0"/>
              <a:t>data</a:t>
            </a:r>
          </a:p>
          <a:p>
            <a:pPr marL="0" indent="0">
              <a:buNone/>
            </a:pPr>
            <a:endParaRPr lang="de-DE" dirty="0" smtClean="0"/>
          </a:p>
          <a:p>
            <a:r>
              <a:rPr lang="en-US" dirty="0"/>
              <a:t>Employees can perform the following activities via the ESS: </a:t>
            </a:r>
            <a:endParaRPr lang="en-US" dirty="0" smtClean="0"/>
          </a:p>
          <a:p>
            <a:pPr lvl="1"/>
            <a:r>
              <a:rPr lang="en-US" dirty="0"/>
              <a:t>Submitting travel expense reports </a:t>
            </a:r>
          </a:p>
          <a:p>
            <a:pPr lvl="1"/>
            <a:r>
              <a:rPr lang="en-US" dirty="0"/>
              <a:t>Searching the employee directory</a:t>
            </a:r>
          </a:p>
          <a:p>
            <a:pPr lvl="1"/>
            <a:r>
              <a:rPr lang="en-US" dirty="0"/>
              <a:t>Viewing the team calendar</a:t>
            </a:r>
          </a:p>
          <a:p>
            <a:pPr lvl="1"/>
            <a:r>
              <a:rPr lang="en-US" dirty="0"/>
              <a:t>Updating/changing personal data</a:t>
            </a:r>
          </a:p>
          <a:p>
            <a:pPr lvl="1"/>
            <a:r>
              <a:rPr lang="en-US" dirty="0"/>
              <a:t>Applying for employer benefits</a:t>
            </a:r>
          </a:p>
          <a:p>
            <a:pPr lvl="1"/>
            <a:r>
              <a:rPr lang="en-US" dirty="0"/>
              <a:t>Documenting working hours</a:t>
            </a:r>
          </a:p>
          <a:p>
            <a:pPr lvl="1"/>
            <a:r>
              <a:rPr lang="en-US" dirty="0"/>
              <a:t>Updating bank details</a:t>
            </a:r>
          </a:p>
          <a:p>
            <a:pPr lvl="1"/>
            <a:r>
              <a:rPr lang="en-US" dirty="0"/>
              <a:t>Registering/applying for training courses</a:t>
            </a:r>
          </a:p>
          <a:p>
            <a:pPr lvl="1"/>
            <a:r>
              <a:rPr lang="en-US" dirty="0"/>
              <a:t>Applying for absences </a:t>
            </a:r>
            <a:r>
              <a:rPr lang="de-DE" dirty="0"/>
              <a:t>	</a:t>
            </a:r>
            <a:endParaRPr lang="de-DE" dirty="0" smtClean="0"/>
          </a:p>
        </p:txBody>
      </p:sp>
      <p:pic>
        <p:nvPicPr>
          <p:cNvPr id="4" name="Grafik 3"/>
          <p:cNvPicPr>
            <a:picLocks noChangeAspect="1"/>
          </p:cNvPicPr>
          <p:nvPr/>
        </p:nvPicPr>
        <p:blipFill>
          <a:blip r:embed="rId3"/>
          <a:stretch>
            <a:fillRect/>
          </a:stretch>
        </p:blipFill>
        <p:spPr>
          <a:xfrm>
            <a:off x="5501519" y="3988823"/>
            <a:ext cx="6137515" cy="2178439"/>
          </a:xfrm>
          <a:prstGeom prst="rect">
            <a:avLst/>
          </a:prstGeom>
        </p:spPr>
      </p:pic>
    </p:spTree>
    <p:extLst>
      <p:ext uri="{BB962C8B-B14F-4D97-AF65-F5344CB8AC3E}">
        <p14:creationId xmlns:p14="http://schemas.microsoft.com/office/powerpoint/2010/main" val="1040270436"/>
      </p:ext>
    </p:extLst>
  </p:cSld>
  <p:clrMapOvr>
    <a:masterClrMapping/>
  </p:clrMapOvr>
  <p:timing>
    <p:tnLst>
      <p:par>
        <p:cTn id="1" dur="indefinite" restart="never" nodeType="tmRoot"/>
      </p:par>
    </p:tnLst>
  </p:timing>
</p:sld>
</file>

<file path=ppt/theme/theme1.xml><?xml version="1.0" encoding="utf-8"?>
<a:theme xmlns:a="http://schemas.openxmlformats.org/drawingml/2006/main" name="SAP_2016_16x9_white">
  <a:themeElements>
    <a:clrScheme name="SAP_colors_white_template">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20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ts val="6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Präsentation1" id="{32696891-6260-4D8D-AB31-F1C204081A38}" vid="{B72584D7-7D1F-4BD9-9F01-A4F5E0412201}"/>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SAP_Template_169_en</Template>
  <TotalTime>0</TotalTime>
  <Words>1450</Words>
  <Application>Microsoft Office PowerPoint</Application>
  <PresentationFormat>Benutzerdefiniert</PresentationFormat>
  <Paragraphs>380</Paragraphs>
  <Slides>25</Slides>
  <Notes>4</Notes>
  <HiddenSlides>0</HiddenSlides>
  <MMClips>0</MMClips>
  <ScaleCrop>false</ScaleCrop>
  <HeadingPairs>
    <vt:vector size="6" baseType="variant">
      <vt:variant>
        <vt:lpstr>Verwendete Schriftarten</vt:lpstr>
      </vt:variant>
      <vt:variant>
        <vt:i4>8</vt:i4>
      </vt:variant>
      <vt:variant>
        <vt:lpstr>Design</vt:lpstr>
      </vt:variant>
      <vt:variant>
        <vt:i4>1</vt:i4>
      </vt:variant>
      <vt:variant>
        <vt:lpstr>Folientitel</vt:lpstr>
      </vt:variant>
      <vt:variant>
        <vt:i4>25</vt:i4>
      </vt:variant>
    </vt:vector>
  </HeadingPairs>
  <TitlesOfParts>
    <vt:vector size="34" baseType="lpstr">
      <vt:lpstr>Angsana New</vt:lpstr>
      <vt:lpstr>Arial</vt:lpstr>
      <vt:lpstr>Arial Unicode MS</vt:lpstr>
      <vt:lpstr>Courier New</vt:lpstr>
      <vt:lpstr>Symbol</vt:lpstr>
      <vt:lpstr>Times New Roman</vt:lpstr>
      <vt:lpstr>wingdings</vt:lpstr>
      <vt:lpstr>wingdings</vt:lpstr>
      <vt:lpstr>SAP_2016_16x9_white</vt:lpstr>
      <vt:lpstr>Human Capital Management (HCM)</vt:lpstr>
      <vt:lpstr>PowerPoint-Präsentation</vt:lpstr>
      <vt:lpstr>PowerPoint-Präsentation</vt:lpstr>
      <vt:lpstr>PowerPoint-Präsentation</vt:lpstr>
      <vt:lpstr>Agenda</vt:lpstr>
      <vt:lpstr>HCM Organizational Structure</vt:lpstr>
      <vt:lpstr>HCM Enterprise Structure</vt:lpstr>
      <vt:lpstr>Global Bike Enterprise Structure for HCM</vt:lpstr>
      <vt:lpstr>HCM Personnel Structure</vt:lpstr>
      <vt:lpstr>HCM Personnel Structure</vt:lpstr>
      <vt:lpstr>HCM Personnel Structure</vt:lpstr>
      <vt:lpstr>HCM Organizational Plan</vt:lpstr>
      <vt:lpstr>HCM Organizational Plan</vt:lpstr>
      <vt:lpstr>Global Bike Enterprise Structure in HCM (US)</vt:lpstr>
      <vt:lpstr>Global Bike Enterprise Structure in HCM (DE)</vt:lpstr>
      <vt:lpstr>Agenda</vt:lpstr>
      <vt:lpstr>HCM Master Data</vt:lpstr>
      <vt:lpstr>HCM Master Data</vt:lpstr>
      <vt:lpstr>Time Constraints of Infotypes </vt:lpstr>
      <vt:lpstr>Maintenance of Infotypes</vt:lpstr>
      <vt:lpstr>Agenda</vt:lpstr>
      <vt:lpstr>HCM Processes – Organizational Management</vt:lpstr>
      <vt:lpstr>HCM Processes – Personnel Administration </vt:lpstr>
      <vt:lpstr>Personnel Controlling – Ad-hoc Query</vt:lpstr>
      <vt:lpstr>Employee Self-Service (ESS)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SAP UCC Magdeburg</dc:creator>
  <cp:keywords>2016/16:9/white</cp:keywords>
  <cp:lastModifiedBy>Robert Häusler</cp:lastModifiedBy>
  <cp:revision>94</cp:revision>
  <dcterms:created xsi:type="dcterms:W3CDTF">2017-05-28T06:49:20Z</dcterms:created>
  <dcterms:modified xsi:type="dcterms:W3CDTF">2025-08-11T15:50:22Z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-1173631419</vt:i4>
  </property>
  <property fmtid="{D5CDD505-2E9C-101B-9397-08002B2CF9AE}" pid="3" name="_NewReviewCycle">
    <vt:lpwstr/>
  </property>
  <property fmtid="{D5CDD505-2E9C-101B-9397-08002B2CF9AE}" pid="4" name="_EmailSubject">
    <vt:lpwstr> UA Master Slides Diskussion</vt:lpwstr>
  </property>
  <property fmtid="{D5CDD505-2E9C-101B-9397-08002B2CF9AE}" pid="5" name="_AuthorEmail">
    <vt:lpwstr>kristof.schneider@sap.com</vt:lpwstr>
  </property>
  <property fmtid="{D5CDD505-2E9C-101B-9397-08002B2CF9AE}" pid="6" name="_AuthorEmailDisplayName">
    <vt:lpwstr>Schneider, Kristof</vt:lpwstr>
  </property>
  <property fmtid="{D5CDD505-2E9C-101B-9397-08002B2CF9AE}" pid="7" name="_PreviousAdHocReviewCycleID">
    <vt:i4>1357826825</vt:i4>
  </property>
</Properties>
</file>