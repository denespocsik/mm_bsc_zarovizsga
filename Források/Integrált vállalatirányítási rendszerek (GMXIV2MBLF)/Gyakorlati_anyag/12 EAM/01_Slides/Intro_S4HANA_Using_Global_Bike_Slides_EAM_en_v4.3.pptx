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30"/>
  </p:notesMasterIdLst>
  <p:handoutMasterIdLst>
    <p:handoutMasterId r:id="rId31"/>
  </p:handoutMasterIdLst>
  <p:sldIdLst>
    <p:sldId id="389" r:id="rId2"/>
    <p:sldId id="369" r:id="rId3"/>
    <p:sldId id="363" r:id="rId4"/>
    <p:sldId id="364" r:id="rId5"/>
    <p:sldId id="365" r:id="rId6"/>
    <p:sldId id="390" r:id="rId7"/>
    <p:sldId id="366" r:id="rId8"/>
    <p:sldId id="370" r:id="rId9"/>
    <p:sldId id="371" r:id="rId10"/>
    <p:sldId id="372" r:id="rId11"/>
    <p:sldId id="391" r:id="rId12"/>
    <p:sldId id="373" r:id="rId13"/>
    <p:sldId id="374" r:id="rId14"/>
    <p:sldId id="375" r:id="rId15"/>
    <p:sldId id="376" r:id="rId16"/>
    <p:sldId id="377" r:id="rId17"/>
    <p:sldId id="378" r:id="rId18"/>
    <p:sldId id="379" r:id="rId19"/>
    <p:sldId id="380" r:id="rId20"/>
    <p:sldId id="381" r:id="rId21"/>
    <p:sldId id="392" r:id="rId22"/>
    <p:sldId id="382" r:id="rId23"/>
    <p:sldId id="383" r:id="rId24"/>
    <p:sldId id="384" r:id="rId25"/>
    <p:sldId id="385" r:id="rId26"/>
    <p:sldId id="386" r:id="rId27"/>
    <p:sldId id="387" r:id="rId28"/>
    <p:sldId id="388" r:id="rId29"/>
  </p:sldIdLst>
  <p:sldSz cx="12195175" cy="6859588"/>
  <p:notesSz cx="6797675" cy="9874250"/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285">
          <p15:clr>
            <a:srgbClr val="A4A3A4"/>
          </p15:clr>
        </p15:guide>
        <p15:guide id="4" orient="horz" pos="779">
          <p15:clr>
            <a:srgbClr val="A4A3A4"/>
          </p15:clr>
        </p15:guide>
        <p15:guide id="5" pos="7478">
          <p15:clr>
            <a:srgbClr val="A4A3A4"/>
          </p15:clr>
        </p15:guide>
        <p15:guide id="6" pos="205">
          <p15:clr>
            <a:srgbClr val="A4A3A4"/>
          </p15:clr>
        </p15:guide>
        <p15:guide id="7" pos="3849">
          <p15:clr>
            <a:srgbClr val="A4A3A4"/>
          </p15:clr>
        </p15:guide>
        <p15:guide id="8" pos="4708">
          <p15:clr>
            <a:srgbClr val="A4A3A4"/>
          </p15:clr>
        </p15:guide>
        <p15:guide id="9" pos="4812">
          <p15:clr>
            <a:srgbClr val="A4A3A4"/>
          </p15:clr>
        </p15:guide>
        <p15:guide id="10" pos="2865">
          <p15:clr>
            <a:srgbClr val="A4A3A4"/>
          </p15:clr>
        </p15:guide>
        <p15:guide id="11" pos="29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351">
          <p15:clr>
            <a:srgbClr val="A4A3A4"/>
          </p15:clr>
        </p15:guide>
        <p15:guide id="3" pos="395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t, Phillip" initials="DP" lastIdx="17" clrIdx="0">
    <p:extLst>
      <p:ext uri="{19B8F6BF-5375-455C-9EA6-DF929625EA0E}">
        <p15:presenceInfo xmlns:p15="http://schemas.microsoft.com/office/powerpoint/2012/main" userId="0c306e22-924d-4d2f-9b38-6bfb0b3c3bb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B2B2B2"/>
    <a:srgbClr val="003283"/>
    <a:srgbClr val="FF0000"/>
    <a:srgbClr val="666666"/>
    <a:srgbClr val="2B3F7B"/>
    <a:srgbClr val="9C277B"/>
    <a:srgbClr val="D4652D"/>
    <a:srgbClr val="9E3039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76" autoAdjust="0"/>
    <p:restoredTop sz="94720" autoAdjust="0"/>
  </p:normalViewPr>
  <p:slideViewPr>
    <p:cSldViewPr snapToGrid="0" showGuides="1">
      <p:cViewPr varScale="1">
        <p:scale>
          <a:sx n="77" d="100"/>
          <a:sy n="77" d="100"/>
        </p:scale>
        <p:origin x="120" y="1740"/>
      </p:cViewPr>
      <p:guideLst>
        <p:guide orient="horz" pos="1285"/>
        <p:guide orient="horz" pos="779"/>
        <p:guide pos="7478"/>
        <p:guide pos="205"/>
        <p:guide pos="3849"/>
        <p:guide pos="4708"/>
        <p:guide pos="4812"/>
        <p:guide pos="2865"/>
        <p:guide pos="295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5" d="100"/>
          <a:sy n="85" d="100"/>
        </p:scale>
        <p:origin x="-4200" y="-82"/>
      </p:cViewPr>
      <p:guideLst>
        <p:guide orient="horz" pos="3110"/>
        <p:guide pos="351"/>
        <p:guide pos="395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83ADD9-44E3-43DA-B64D-29ED0D773806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D44F7D44-6A3E-4F1F-9BF5-4017A12F1C63}">
      <dgm:prSet phldrT="[Text]"/>
      <dgm:spPr>
        <a:solidFill>
          <a:schemeClr val="tx2"/>
        </a:solidFill>
      </dgm:spPr>
      <dgm:t>
        <a:bodyPr/>
        <a:lstStyle/>
        <a:p>
          <a:r>
            <a:rPr lang="en-US" noProof="0"/>
            <a:t>1. Notification</a:t>
          </a:r>
        </a:p>
      </dgm:t>
    </dgm:pt>
    <dgm:pt modelId="{6B1F39D1-5483-49B4-A64B-B1EBA11F1A50}" type="parTrans" cxnId="{83BB4989-773D-41C0-ABE3-7E1D9F83080F}">
      <dgm:prSet/>
      <dgm:spPr/>
      <dgm:t>
        <a:bodyPr/>
        <a:lstStyle/>
        <a:p>
          <a:endParaRPr lang="de-DE"/>
        </a:p>
      </dgm:t>
    </dgm:pt>
    <dgm:pt modelId="{133E936D-8D63-4E6A-B322-96EE67169571}" type="sibTrans" cxnId="{83BB4989-773D-41C0-ABE3-7E1D9F83080F}">
      <dgm:prSet/>
      <dgm:spPr/>
      <dgm:t>
        <a:bodyPr/>
        <a:lstStyle/>
        <a:p>
          <a:endParaRPr lang="en-US" noProof="0"/>
        </a:p>
      </dgm:t>
    </dgm:pt>
    <dgm:pt modelId="{E304F9CA-3B11-409F-9A20-007114C24606}">
      <dgm:prSet phldrT="[Text]"/>
      <dgm:spPr>
        <a:solidFill>
          <a:schemeClr val="tx2"/>
        </a:solidFill>
      </dgm:spPr>
      <dgm:t>
        <a:bodyPr/>
        <a:lstStyle/>
        <a:p>
          <a:r>
            <a:rPr lang="en-US" noProof="0"/>
            <a:t>2. Planning</a:t>
          </a:r>
        </a:p>
      </dgm:t>
    </dgm:pt>
    <dgm:pt modelId="{0A8F7129-020D-4AF6-A48C-6B17374D10F5}" type="parTrans" cxnId="{967FC51C-1F05-41C7-A593-8537BE177BB8}">
      <dgm:prSet/>
      <dgm:spPr/>
      <dgm:t>
        <a:bodyPr/>
        <a:lstStyle/>
        <a:p>
          <a:endParaRPr lang="de-DE"/>
        </a:p>
      </dgm:t>
    </dgm:pt>
    <dgm:pt modelId="{4E6068D9-C753-45D3-8DB0-B1740D6AC0A7}" type="sibTrans" cxnId="{967FC51C-1F05-41C7-A593-8537BE177BB8}">
      <dgm:prSet/>
      <dgm:spPr/>
      <dgm:t>
        <a:bodyPr/>
        <a:lstStyle/>
        <a:p>
          <a:endParaRPr lang="en-US" noProof="0"/>
        </a:p>
      </dgm:t>
    </dgm:pt>
    <dgm:pt modelId="{4AB81F52-9B87-4962-A5E7-EB24C47334C2}">
      <dgm:prSet phldrT="[Text]"/>
      <dgm:spPr>
        <a:solidFill>
          <a:schemeClr val="tx2"/>
        </a:solidFill>
      </dgm:spPr>
      <dgm:t>
        <a:bodyPr/>
        <a:lstStyle/>
        <a:p>
          <a:r>
            <a:rPr lang="en-US" noProof="0"/>
            <a:t>3. Controlling</a:t>
          </a:r>
        </a:p>
      </dgm:t>
    </dgm:pt>
    <dgm:pt modelId="{F86EA70D-2414-4818-98EC-BCE3BF026955}" type="parTrans" cxnId="{30BA235B-FFC1-4444-950C-6887FACA6937}">
      <dgm:prSet/>
      <dgm:spPr/>
      <dgm:t>
        <a:bodyPr/>
        <a:lstStyle/>
        <a:p>
          <a:endParaRPr lang="de-DE"/>
        </a:p>
      </dgm:t>
    </dgm:pt>
    <dgm:pt modelId="{12AD28EA-12F1-4D30-8896-7787F42B634A}" type="sibTrans" cxnId="{30BA235B-FFC1-4444-950C-6887FACA6937}">
      <dgm:prSet/>
      <dgm:spPr/>
      <dgm:t>
        <a:bodyPr/>
        <a:lstStyle/>
        <a:p>
          <a:endParaRPr lang="en-US" noProof="0"/>
        </a:p>
      </dgm:t>
    </dgm:pt>
    <dgm:pt modelId="{26982AEA-8A01-4954-AC8D-726ED3A5AE9A}">
      <dgm:prSet phldrT="[Text]"/>
      <dgm:spPr>
        <a:solidFill>
          <a:schemeClr val="tx2"/>
        </a:solidFill>
      </dgm:spPr>
      <dgm:t>
        <a:bodyPr/>
        <a:lstStyle/>
        <a:p>
          <a:r>
            <a:rPr lang="en-US" noProof="0"/>
            <a:t>4. Implementation</a:t>
          </a:r>
        </a:p>
      </dgm:t>
    </dgm:pt>
    <dgm:pt modelId="{34824D26-CAB8-47FD-983E-066863019D2E}" type="parTrans" cxnId="{54DFCE37-626B-406E-9D12-8987C5C9A9A7}">
      <dgm:prSet/>
      <dgm:spPr/>
      <dgm:t>
        <a:bodyPr/>
        <a:lstStyle/>
        <a:p>
          <a:endParaRPr lang="de-DE"/>
        </a:p>
      </dgm:t>
    </dgm:pt>
    <dgm:pt modelId="{D5869C8D-9977-4693-92DD-5D66D3933A08}" type="sibTrans" cxnId="{54DFCE37-626B-406E-9D12-8987C5C9A9A7}">
      <dgm:prSet/>
      <dgm:spPr/>
      <dgm:t>
        <a:bodyPr/>
        <a:lstStyle/>
        <a:p>
          <a:endParaRPr lang="en-US" noProof="0"/>
        </a:p>
      </dgm:t>
    </dgm:pt>
    <dgm:pt modelId="{F21F1F33-C27E-4D9A-9481-C33CE1C0A81E}">
      <dgm:prSet phldrT="[Text]"/>
      <dgm:spPr>
        <a:solidFill>
          <a:schemeClr val="tx2"/>
        </a:solidFill>
      </dgm:spPr>
      <dgm:t>
        <a:bodyPr/>
        <a:lstStyle/>
        <a:p>
          <a:r>
            <a:rPr lang="en-US" noProof="0"/>
            <a:t>5. Completion</a:t>
          </a:r>
        </a:p>
      </dgm:t>
    </dgm:pt>
    <dgm:pt modelId="{B20D0543-0056-4D85-B8D3-A3EB9E870288}" type="parTrans" cxnId="{BC497E2A-4EB5-4EB2-932D-680E78BAA675}">
      <dgm:prSet/>
      <dgm:spPr/>
      <dgm:t>
        <a:bodyPr/>
        <a:lstStyle/>
        <a:p>
          <a:endParaRPr lang="de-DE"/>
        </a:p>
      </dgm:t>
    </dgm:pt>
    <dgm:pt modelId="{FDBFA087-DF77-4DEF-BCDD-8CB97223BDE1}" type="sibTrans" cxnId="{BC497E2A-4EB5-4EB2-932D-680E78BAA675}">
      <dgm:prSet/>
      <dgm:spPr/>
      <dgm:t>
        <a:bodyPr/>
        <a:lstStyle/>
        <a:p>
          <a:endParaRPr lang="de-DE"/>
        </a:p>
      </dgm:t>
    </dgm:pt>
    <dgm:pt modelId="{10877F10-D28C-4296-81E8-C02953DF6E3E}" type="pres">
      <dgm:prSet presAssocID="{9F83ADD9-44E3-43DA-B64D-29ED0D773806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de-DE"/>
        </a:p>
      </dgm:t>
    </dgm:pt>
    <dgm:pt modelId="{41D4115F-912A-4755-8A6D-0F65BFF52638}" type="pres">
      <dgm:prSet presAssocID="{9F83ADD9-44E3-43DA-B64D-29ED0D773806}" presName="dummyMaxCanvas" presStyleCnt="0">
        <dgm:presLayoutVars/>
      </dgm:prSet>
      <dgm:spPr/>
    </dgm:pt>
    <dgm:pt modelId="{A3827E38-41D1-477A-A42D-BDF67E023BF3}" type="pres">
      <dgm:prSet presAssocID="{9F83ADD9-44E3-43DA-B64D-29ED0D773806}" presName="FiveNodes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D32C4831-7408-44D2-88BC-D5D1654154BB}" type="pres">
      <dgm:prSet presAssocID="{9F83ADD9-44E3-43DA-B64D-29ED0D773806}" presName="FiveNodes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E0F7EEA6-F0E2-4CE7-98FC-6D7575DA73C0}" type="pres">
      <dgm:prSet presAssocID="{9F83ADD9-44E3-43DA-B64D-29ED0D773806}" presName="FiveNodes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80499B84-FD07-49AD-9594-B8E4940B0D49}" type="pres">
      <dgm:prSet presAssocID="{9F83ADD9-44E3-43DA-B64D-29ED0D773806}" presName="FiveNodes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CA5E48E2-02FB-49C7-B70E-6E8C38F90867}" type="pres">
      <dgm:prSet presAssocID="{9F83ADD9-44E3-43DA-B64D-29ED0D773806}" presName="FiveNodes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4FFB9197-FDFC-492F-836C-9035C1B6EFEA}" type="pres">
      <dgm:prSet presAssocID="{9F83ADD9-44E3-43DA-B64D-29ED0D773806}" presName="FiveConn_1-2" presStyleLbl="fg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DE2E7EB6-8378-4AA7-ABDF-C963C71CF95D}" type="pres">
      <dgm:prSet presAssocID="{9F83ADD9-44E3-43DA-B64D-29ED0D773806}" presName="FiveConn_2-3" presStyleLbl="fg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DCACB3E3-1A7D-48C0-B2D3-F5D51D0EBDC5}" type="pres">
      <dgm:prSet presAssocID="{9F83ADD9-44E3-43DA-B64D-29ED0D773806}" presName="FiveConn_3-4" presStyleLbl="fg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8E06996E-C777-4D34-80BA-7CF97252313F}" type="pres">
      <dgm:prSet presAssocID="{9F83ADD9-44E3-43DA-B64D-29ED0D773806}" presName="FiveConn_4-5" presStyleLbl="fg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E99C32E6-1D53-433C-B6D2-AAB523F9DBDD}" type="pres">
      <dgm:prSet presAssocID="{9F83ADD9-44E3-43DA-B64D-29ED0D773806}" presName="FiveNodes_1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E6C8AE28-9C2B-4AE0-8E79-061B00989BA4}" type="pres">
      <dgm:prSet presAssocID="{9F83ADD9-44E3-43DA-B64D-29ED0D773806}" presName="FiveNodes_2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96F00043-8016-4EAA-8EF5-BC2720D990F5}" type="pres">
      <dgm:prSet presAssocID="{9F83ADD9-44E3-43DA-B64D-29ED0D773806}" presName="FiveNodes_3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19962B0E-E592-429D-B33F-705D38A4CE4B}" type="pres">
      <dgm:prSet presAssocID="{9F83ADD9-44E3-43DA-B64D-29ED0D773806}" presName="FiveNodes_4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DEE1A27-24A7-4420-B4DD-52CE0F9AA6EF}" type="pres">
      <dgm:prSet presAssocID="{9F83ADD9-44E3-43DA-B64D-29ED0D773806}" presName="FiveNodes_5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FD40D0D3-D6DE-4777-939B-DFA99B7E0FC2}" type="presOf" srcId="{9F83ADD9-44E3-43DA-B64D-29ED0D773806}" destId="{10877F10-D28C-4296-81E8-C02953DF6E3E}" srcOrd="0" destOrd="0" presId="urn:microsoft.com/office/officeart/2005/8/layout/vProcess5"/>
    <dgm:cxn modelId="{FD82AA0A-6509-48FC-B777-3C0C8029DF1A}" type="presOf" srcId="{D44F7D44-6A3E-4F1F-9BF5-4017A12F1C63}" destId="{E99C32E6-1D53-433C-B6D2-AAB523F9DBDD}" srcOrd="1" destOrd="0" presId="urn:microsoft.com/office/officeart/2005/8/layout/vProcess5"/>
    <dgm:cxn modelId="{967FC51C-1F05-41C7-A593-8537BE177BB8}" srcId="{9F83ADD9-44E3-43DA-B64D-29ED0D773806}" destId="{E304F9CA-3B11-409F-9A20-007114C24606}" srcOrd="1" destOrd="0" parTransId="{0A8F7129-020D-4AF6-A48C-6B17374D10F5}" sibTransId="{4E6068D9-C753-45D3-8DB0-B1740D6AC0A7}"/>
    <dgm:cxn modelId="{1070C357-ACA0-4D22-BA00-7BC823500E7A}" type="presOf" srcId="{D5869C8D-9977-4693-92DD-5D66D3933A08}" destId="{8E06996E-C777-4D34-80BA-7CF97252313F}" srcOrd="0" destOrd="0" presId="urn:microsoft.com/office/officeart/2005/8/layout/vProcess5"/>
    <dgm:cxn modelId="{6EF1F6FD-29AA-448F-8E66-2C5B4A4F51CF}" type="presOf" srcId="{133E936D-8D63-4E6A-B322-96EE67169571}" destId="{4FFB9197-FDFC-492F-836C-9035C1B6EFEA}" srcOrd="0" destOrd="0" presId="urn:microsoft.com/office/officeart/2005/8/layout/vProcess5"/>
    <dgm:cxn modelId="{767F7BE3-906A-46FE-ABBE-73AEBB0E8BAA}" type="presOf" srcId="{F21F1F33-C27E-4D9A-9481-C33CE1C0A81E}" destId="{2DEE1A27-24A7-4420-B4DD-52CE0F9AA6EF}" srcOrd="1" destOrd="0" presId="urn:microsoft.com/office/officeart/2005/8/layout/vProcess5"/>
    <dgm:cxn modelId="{3E88EBE2-C8BD-4FA8-9E03-98D802A41894}" type="presOf" srcId="{4AB81F52-9B87-4962-A5E7-EB24C47334C2}" destId="{E0F7EEA6-F0E2-4CE7-98FC-6D7575DA73C0}" srcOrd="0" destOrd="0" presId="urn:microsoft.com/office/officeart/2005/8/layout/vProcess5"/>
    <dgm:cxn modelId="{4A75B119-FFBA-4752-93A8-C76E7D116DCC}" type="presOf" srcId="{12AD28EA-12F1-4D30-8896-7787F42B634A}" destId="{DCACB3E3-1A7D-48C0-B2D3-F5D51D0EBDC5}" srcOrd="0" destOrd="0" presId="urn:microsoft.com/office/officeart/2005/8/layout/vProcess5"/>
    <dgm:cxn modelId="{816C2531-5D89-4818-B26C-D7D4F9D80553}" type="presOf" srcId="{26982AEA-8A01-4954-AC8D-726ED3A5AE9A}" destId="{19962B0E-E592-429D-B33F-705D38A4CE4B}" srcOrd="1" destOrd="0" presId="urn:microsoft.com/office/officeart/2005/8/layout/vProcess5"/>
    <dgm:cxn modelId="{C380348F-22B5-488C-A46F-A234FDE09076}" type="presOf" srcId="{D44F7D44-6A3E-4F1F-9BF5-4017A12F1C63}" destId="{A3827E38-41D1-477A-A42D-BDF67E023BF3}" srcOrd="0" destOrd="0" presId="urn:microsoft.com/office/officeart/2005/8/layout/vProcess5"/>
    <dgm:cxn modelId="{4F767CAF-EDD5-483C-BE47-42B448E1953B}" type="presOf" srcId="{E304F9CA-3B11-409F-9A20-007114C24606}" destId="{D32C4831-7408-44D2-88BC-D5D1654154BB}" srcOrd="0" destOrd="0" presId="urn:microsoft.com/office/officeart/2005/8/layout/vProcess5"/>
    <dgm:cxn modelId="{DC665A8A-CD2A-4799-9552-2F1FE9C5768F}" type="presOf" srcId="{4AB81F52-9B87-4962-A5E7-EB24C47334C2}" destId="{96F00043-8016-4EAA-8EF5-BC2720D990F5}" srcOrd="1" destOrd="0" presId="urn:microsoft.com/office/officeart/2005/8/layout/vProcess5"/>
    <dgm:cxn modelId="{A33585B4-22B0-430F-8E2C-41059947B426}" type="presOf" srcId="{26982AEA-8A01-4954-AC8D-726ED3A5AE9A}" destId="{80499B84-FD07-49AD-9594-B8E4940B0D49}" srcOrd="0" destOrd="0" presId="urn:microsoft.com/office/officeart/2005/8/layout/vProcess5"/>
    <dgm:cxn modelId="{1580A76C-3363-4A68-B76E-85C8CECB32F8}" type="presOf" srcId="{E304F9CA-3B11-409F-9A20-007114C24606}" destId="{E6C8AE28-9C2B-4AE0-8E79-061B00989BA4}" srcOrd="1" destOrd="0" presId="urn:microsoft.com/office/officeart/2005/8/layout/vProcess5"/>
    <dgm:cxn modelId="{54DFCE37-626B-406E-9D12-8987C5C9A9A7}" srcId="{9F83ADD9-44E3-43DA-B64D-29ED0D773806}" destId="{26982AEA-8A01-4954-AC8D-726ED3A5AE9A}" srcOrd="3" destOrd="0" parTransId="{34824D26-CAB8-47FD-983E-066863019D2E}" sibTransId="{D5869C8D-9977-4693-92DD-5D66D3933A08}"/>
    <dgm:cxn modelId="{83BB4989-773D-41C0-ABE3-7E1D9F83080F}" srcId="{9F83ADD9-44E3-43DA-B64D-29ED0D773806}" destId="{D44F7D44-6A3E-4F1F-9BF5-4017A12F1C63}" srcOrd="0" destOrd="0" parTransId="{6B1F39D1-5483-49B4-A64B-B1EBA11F1A50}" sibTransId="{133E936D-8D63-4E6A-B322-96EE67169571}"/>
    <dgm:cxn modelId="{1C214660-55FB-41DE-9130-2FFD8E5F7A3E}" type="presOf" srcId="{4E6068D9-C753-45D3-8DB0-B1740D6AC0A7}" destId="{DE2E7EB6-8378-4AA7-ABDF-C963C71CF95D}" srcOrd="0" destOrd="0" presId="urn:microsoft.com/office/officeart/2005/8/layout/vProcess5"/>
    <dgm:cxn modelId="{30BA235B-FFC1-4444-950C-6887FACA6937}" srcId="{9F83ADD9-44E3-43DA-B64D-29ED0D773806}" destId="{4AB81F52-9B87-4962-A5E7-EB24C47334C2}" srcOrd="2" destOrd="0" parTransId="{F86EA70D-2414-4818-98EC-BCE3BF026955}" sibTransId="{12AD28EA-12F1-4D30-8896-7787F42B634A}"/>
    <dgm:cxn modelId="{BC497E2A-4EB5-4EB2-932D-680E78BAA675}" srcId="{9F83ADD9-44E3-43DA-B64D-29ED0D773806}" destId="{F21F1F33-C27E-4D9A-9481-C33CE1C0A81E}" srcOrd="4" destOrd="0" parTransId="{B20D0543-0056-4D85-B8D3-A3EB9E870288}" sibTransId="{FDBFA087-DF77-4DEF-BCDD-8CB97223BDE1}"/>
    <dgm:cxn modelId="{723B7F9A-3435-4E9B-8A24-EEE346DCC46B}" type="presOf" srcId="{F21F1F33-C27E-4D9A-9481-C33CE1C0A81E}" destId="{CA5E48E2-02FB-49C7-B70E-6E8C38F90867}" srcOrd="0" destOrd="0" presId="urn:microsoft.com/office/officeart/2005/8/layout/vProcess5"/>
    <dgm:cxn modelId="{B686B6E8-0BF9-4421-85E1-B365AC417B42}" type="presParOf" srcId="{10877F10-D28C-4296-81E8-C02953DF6E3E}" destId="{41D4115F-912A-4755-8A6D-0F65BFF52638}" srcOrd="0" destOrd="0" presId="urn:microsoft.com/office/officeart/2005/8/layout/vProcess5"/>
    <dgm:cxn modelId="{A8587D97-265D-4A22-A27F-7F2ADA18C95D}" type="presParOf" srcId="{10877F10-D28C-4296-81E8-C02953DF6E3E}" destId="{A3827E38-41D1-477A-A42D-BDF67E023BF3}" srcOrd="1" destOrd="0" presId="urn:microsoft.com/office/officeart/2005/8/layout/vProcess5"/>
    <dgm:cxn modelId="{630B7F3F-61F1-4D6F-A41F-6B0896371FE6}" type="presParOf" srcId="{10877F10-D28C-4296-81E8-C02953DF6E3E}" destId="{D32C4831-7408-44D2-88BC-D5D1654154BB}" srcOrd="2" destOrd="0" presId="urn:microsoft.com/office/officeart/2005/8/layout/vProcess5"/>
    <dgm:cxn modelId="{14BE44B5-A091-4AC1-98BB-473DBABC41AC}" type="presParOf" srcId="{10877F10-D28C-4296-81E8-C02953DF6E3E}" destId="{E0F7EEA6-F0E2-4CE7-98FC-6D7575DA73C0}" srcOrd="3" destOrd="0" presId="urn:microsoft.com/office/officeart/2005/8/layout/vProcess5"/>
    <dgm:cxn modelId="{BD6994ED-0D63-4430-A7B7-4076DDE5B2FA}" type="presParOf" srcId="{10877F10-D28C-4296-81E8-C02953DF6E3E}" destId="{80499B84-FD07-49AD-9594-B8E4940B0D49}" srcOrd="4" destOrd="0" presId="urn:microsoft.com/office/officeart/2005/8/layout/vProcess5"/>
    <dgm:cxn modelId="{0F7D2E69-D972-4382-8BB3-72AF37DF07C2}" type="presParOf" srcId="{10877F10-D28C-4296-81E8-C02953DF6E3E}" destId="{CA5E48E2-02FB-49C7-B70E-6E8C38F90867}" srcOrd="5" destOrd="0" presId="urn:microsoft.com/office/officeart/2005/8/layout/vProcess5"/>
    <dgm:cxn modelId="{243BD584-E4B3-4C98-B26A-016BA71A7D8C}" type="presParOf" srcId="{10877F10-D28C-4296-81E8-C02953DF6E3E}" destId="{4FFB9197-FDFC-492F-836C-9035C1B6EFEA}" srcOrd="6" destOrd="0" presId="urn:microsoft.com/office/officeart/2005/8/layout/vProcess5"/>
    <dgm:cxn modelId="{836E3D95-FC29-4469-93D0-4FE72D883FF0}" type="presParOf" srcId="{10877F10-D28C-4296-81E8-C02953DF6E3E}" destId="{DE2E7EB6-8378-4AA7-ABDF-C963C71CF95D}" srcOrd="7" destOrd="0" presId="urn:microsoft.com/office/officeart/2005/8/layout/vProcess5"/>
    <dgm:cxn modelId="{ECE732C1-121E-476C-8EB5-B1500B2EE312}" type="presParOf" srcId="{10877F10-D28C-4296-81E8-C02953DF6E3E}" destId="{DCACB3E3-1A7D-48C0-B2D3-F5D51D0EBDC5}" srcOrd="8" destOrd="0" presId="urn:microsoft.com/office/officeart/2005/8/layout/vProcess5"/>
    <dgm:cxn modelId="{D9DBAE34-E6D2-44DB-8C7D-5A5804A104C7}" type="presParOf" srcId="{10877F10-D28C-4296-81E8-C02953DF6E3E}" destId="{8E06996E-C777-4D34-80BA-7CF97252313F}" srcOrd="9" destOrd="0" presId="urn:microsoft.com/office/officeart/2005/8/layout/vProcess5"/>
    <dgm:cxn modelId="{DB64A859-798D-43E0-B08A-8B81A039CE95}" type="presParOf" srcId="{10877F10-D28C-4296-81E8-C02953DF6E3E}" destId="{E99C32E6-1D53-433C-B6D2-AAB523F9DBDD}" srcOrd="10" destOrd="0" presId="urn:microsoft.com/office/officeart/2005/8/layout/vProcess5"/>
    <dgm:cxn modelId="{54D61231-7061-4931-84AD-08DF98F593F6}" type="presParOf" srcId="{10877F10-D28C-4296-81E8-C02953DF6E3E}" destId="{E6C8AE28-9C2B-4AE0-8E79-061B00989BA4}" srcOrd="11" destOrd="0" presId="urn:microsoft.com/office/officeart/2005/8/layout/vProcess5"/>
    <dgm:cxn modelId="{58E48E7C-E428-4E82-BE3B-123912E6BFD8}" type="presParOf" srcId="{10877F10-D28C-4296-81E8-C02953DF6E3E}" destId="{96F00043-8016-4EAA-8EF5-BC2720D990F5}" srcOrd="12" destOrd="0" presId="urn:microsoft.com/office/officeart/2005/8/layout/vProcess5"/>
    <dgm:cxn modelId="{7469FB24-EDEA-4D6E-93B8-B87D4CD1D99C}" type="presParOf" srcId="{10877F10-D28C-4296-81E8-C02953DF6E3E}" destId="{19962B0E-E592-429D-B33F-705D38A4CE4B}" srcOrd="13" destOrd="0" presId="urn:microsoft.com/office/officeart/2005/8/layout/vProcess5"/>
    <dgm:cxn modelId="{2DEFE3EC-1BE0-4A81-BE58-5E2CF5F40EEC}" type="presParOf" srcId="{10877F10-D28C-4296-81E8-C02953DF6E3E}" destId="{2DEE1A27-24A7-4420-B4DD-52CE0F9AA6EF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827E38-41D1-477A-A42D-BDF67E023BF3}">
      <dsp:nvSpPr>
        <dsp:cNvPr id="0" name=""/>
        <dsp:cNvSpPr/>
      </dsp:nvSpPr>
      <dsp:spPr>
        <a:xfrm>
          <a:off x="0" y="0"/>
          <a:ext cx="8890333" cy="790670"/>
        </a:xfrm>
        <a:prstGeom prst="roundRect">
          <a:avLst>
            <a:gd name="adj" fmla="val 10000"/>
          </a:avLst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noProof="0"/>
            <a:t>1. Notification</a:t>
          </a:r>
        </a:p>
      </dsp:txBody>
      <dsp:txXfrm>
        <a:off x="23158" y="23158"/>
        <a:ext cx="7944630" cy="744354"/>
      </dsp:txXfrm>
    </dsp:sp>
    <dsp:sp modelId="{D32C4831-7408-44D2-88BC-D5D1654154BB}">
      <dsp:nvSpPr>
        <dsp:cNvPr id="0" name=""/>
        <dsp:cNvSpPr/>
      </dsp:nvSpPr>
      <dsp:spPr>
        <a:xfrm>
          <a:off x="663888" y="900485"/>
          <a:ext cx="8890333" cy="790670"/>
        </a:xfrm>
        <a:prstGeom prst="roundRect">
          <a:avLst>
            <a:gd name="adj" fmla="val 10000"/>
          </a:avLst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noProof="0"/>
            <a:t>2. Planning</a:t>
          </a:r>
        </a:p>
      </dsp:txBody>
      <dsp:txXfrm>
        <a:off x="687046" y="923643"/>
        <a:ext cx="7666193" cy="744354"/>
      </dsp:txXfrm>
    </dsp:sp>
    <dsp:sp modelId="{E0F7EEA6-F0E2-4CE7-98FC-6D7575DA73C0}">
      <dsp:nvSpPr>
        <dsp:cNvPr id="0" name=""/>
        <dsp:cNvSpPr/>
      </dsp:nvSpPr>
      <dsp:spPr>
        <a:xfrm>
          <a:off x="1327777" y="1800970"/>
          <a:ext cx="8890333" cy="790670"/>
        </a:xfrm>
        <a:prstGeom prst="roundRect">
          <a:avLst>
            <a:gd name="adj" fmla="val 10000"/>
          </a:avLst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noProof="0"/>
            <a:t>3. Controlling</a:t>
          </a:r>
        </a:p>
      </dsp:txBody>
      <dsp:txXfrm>
        <a:off x="1350935" y="1824128"/>
        <a:ext cx="7666193" cy="744354"/>
      </dsp:txXfrm>
    </dsp:sp>
    <dsp:sp modelId="{80499B84-FD07-49AD-9594-B8E4940B0D49}">
      <dsp:nvSpPr>
        <dsp:cNvPr id="0" name=""/>
        <dsp:cNvSpPr/>
      </dsp:nvSpPr>
      <dsp:spPr>
        <a:xfrm>
          <a:off x="1991665" y="2701456"/>
          <a:ext cx="8890333" cy="790670"/>
        </a:xfrm>
        <a:prstGeom prst="roundRect">
          <a:avLst>
            <a:gd name="adj" fmla="val 10000"/>
          </a:avLst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noProof="0"/>
            <a:t>4. Implementation</a:t>
          </a:r>
        </a:p>
      </dsp:txBody>
      <dsp:txXfrm>
        <a:off x="2014823" y="2724614"/>
        <a:ext cx="7666193" cy="744354"/>
      </dsp:txXfrm>
    </dsp:sp>
    <dsp:sp modelId="{CA5E48E2-02FB-49C7-B70E-6E8C38F90867}">
      <dsp:nvSpPr>
        <dsp:cNvPr id="0" name=""/>
        <dsp:cNvSpPr/>
      </dsp:nvSpPr>
      <dsp:spPr>
        <a:xfrm>
          <a:off x="2655554" y="3601941"/>
          <a:ext cx="8890333" cy="790670"/>
        </a:xfrm>
        <a:prstGeom prst="roundRect">
          <a:avLst>
            <a:gd name="adj" fmla="val 10000"/>
          </a:avLst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noProof="0"/>
            <a:t>5. Completion</a:t>
          </a:r>
        </a:p>
      </dsp:txBody>
      <dsp:txXfrm>
        <a:off x="2678712" y="3625099"/>
        <a:ext cx="7666193" cy="744354"/>
      </dsp:txXfrm>
    </dsp:sp>
    <dsp:sp modelId="{4FFB9197-FDFC-492F-836C-9035C1B6EFEA}">
      <dsp:nvSpPr>
        <dsp:cNvPr id="0" name=""/>
        <dsp:cNvSpPr/>
      </dsp:nvSpPr>
      <dsp:spPr>
        <a:xfrm>
          <a:off x="8376398" y="577628"/>
          <a:ext cx="513935" cy="51393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 noProof="0"/>
        </a:p>
      </dsp:txBody>
      <dsp:txXfrm>
        <a:off x="8492033" y="577628"/>
        <a:ext cx="282665" cy="386736"/>
      </dsp:txXfrm>
    </dsp:sp>
    <dsp:sp modelId="{DE2E7EB6-8378-4AA7-ABDF-C963C71CF95D}">
      <dsp:nvSpPr>
        <dsp:cNvPr id="0" name=""/>
        <dsp:cNvSpPr/>
      </dsp:nvSpPr>
      <dsp:spPr>
        <a:xfrm>
          <a:off x="9040286" y="1478113"/>
          <a:ext cx="513935" cy="51393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 noProof="0"/>
        </a:p>
      </dsp:txBody>
      <dsp:txXfrm>
        <a:off x="9155921" y="1478113"/>
        <a:ext cx="282665" cy="386736"/>
      </dsp:txXfrm>
    </dsp:sp>
    <dsp:sp modelId="{DCACB3E3-1A7D-48C0-B2D3-F5D51D0EBDC5}">
      <dsp:nvSpPr>
        <dsp:cNvPr id="0" name=""/>
        <dsp:cNvSpPr/>
      </dsp:nvSpPr>
      <dsp:spPr>
        <a:xfrm>
          <a:off x="9704175" y="2365421"/>
          <a:ext cx="513935" cy="51393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 noProof="0"/>
        </a:p>
      </dsp:txBody>
      <dsp:txXfrm>
        <a:off x="9819810" y="2365421"/>
        <a:ext cx="282665" cy="386736"/>
      </dsp:txXfrm>
    </dsp:sp>
    <dsp:sp modelId="{8E06996E-C777-4D34-80BA-7CF97252313F}">
      <dsp:nvSpPr>
        <dsp:cNvPr id="0" name=""/>
        <dsp:cNvSpPr/>
      </dsp:nvSpPr>
      <dsp:spPr>
        <a:xfrm>
          <a:off x="10368063" y="3274692"/>
          <a:ext cx="513935" cy="51393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 noProof="0"/>
        </a:p>
      </dsp:txBody>
      <dsp:txXfrm>
        <a:off x="10483698" y="3274692"/>
        <a:ext cx="282665" cy="3867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26008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/>
              <a:pPr algn="ctr"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57213" y="661988"/>
            <a:ext cx="5715000" cy="3214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4171" y="4548205"/>
            <a:ext cx="5709333" cy="469669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31497" y="9627396"/>
            <a:ext cx="934681" cy="2217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7D8C2C35-2B8A-446E-BEC0-FD36716C29AC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180975" indent="-180975" algn="l" defTabSz="1088776" rtl="0" eaLnBrk="1" latinLnBrk="0" hangingPunct="1">
      <a:buClr>
        <a:schemeClr val="accent1"/>
      </a:buClr>
      <a:buSzPct val="100000"/>
      <a:buFont typeface="Wingdings" pitchFamily="2" charset="2"/>
      <a:buChar char="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57188" indent="-176213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de-DE" dirty="0"/>
              <a:t>Grau dargestellte Organisationseinheiten existieren noch nicht in GBI, sind aber bereits geplant.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257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-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32" b="3318"/>
          <a:stretch/>
        </p:blipFill>
        <p:spPr>
          <a:xfrm>
            <a:off x="-24919" y="0"/>
            <a:ext cx="12220093" cy="68595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 bwMode="gray">
          <a:xfrm>
            <a:off x="324000" y="0"/>
            <a:ext cx="11545200" cy="2160000"/>
          </a:xfrm>
          <a:prstGeom prst="rect">
            <a:avLst/>
          </a:prstGeom>
          <a:solidFill>
            <a:schemeClr val="bg1">
              <a:alpha val="75000"/>
            </a:schemeClr>
          </a:solidFill>
          <a:ln w="6350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7999" y="324075"/>
            <a:ext cx="10620000" cy="923330"/>
          </a:xfrm>
        </p:spPr>
        <p:txBody>
          <a:bodyPr anchor="t" anchorCtr="0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Short Presentation Title</a:t>
            </a:r>
          </a:p>
        </p:txBody>
      </p:sp>
      <p:sp>
        <p:nvSpPr>
          <p:cNvPr id="5" name="Rectangle 4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67999" y="1540520"/>
            <a:ext cx="10620000" cy="553998"/>
          </a:xfrm>
        </p:spPr>
        <p:txBody>
          <a:bodyPr anchor="b" anchorCtr="0">
            <a:spAutoFit/>
          </a:bodyPr>
          <a:lstStyle>
            <a:lvl1pPr marL="0" marR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800" b="0">
                <a:solidFill>
                  <a:sysClr val="windowText" lastClr="000000"/>
                </a:solidFill>
              </a:defRPr>
            </a:lvl1pPr>
            <a:lvl2pPr marL="544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6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0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5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&lt;First Name&gt; &lt;Last name&gt;, &lt;Organization&gt; (delete if not needed)</a:t>
            </a:r>
            <a:br>
              <a:rPr lang="en-US" dirty="0"/>
            </a:br>
            <a:r>
              <a:rPr lang="en-US" dirty="0"/>
              <a:t>&lt;Month&gt; &lt;Day&gt;, &lt;Year&gt;</a:t>
            </a:r>
          </a:p>
        </p:txBody>
      </p:sp>
      <p:grpSp>
        <p:nvGrpSpPr>
          <p:cNvPr id="9" name="Gruppieren 8"/>
          <p:cNvGrpSpPr/>
          <p:nvPr userDrawn="1"/>
        </p:nvGrpSpPr>
        <p:grpSpPr>
          <a:xfrm>
            <a:off x="10518759" y="6066338"/>
            <a:ext cx="1352566" cy="470987"/>
            <a:chOff x="10518759" y="6066338"/>
            <a:chExt cx="1352566" cy="470987"/>
          </a:xfrm>
        </p:grpSpPr>
        <p:sp>
          <p:nvSpPr>
            <p:cNvPr id="10" name="Rectangle 15"/>
            <p:cNvSpPr/>
            <p:nvPr/>
          </p:nvSpPr>
          <p:spPr bwMode="gray">
            <a:xfrm>
              <a:off x="10518759" y="6088062"/>
              <a:ext cx="1352566" cy="449263"/>
            </a:xfrm>
            <a:prstGeom prst="rect">
              <a:avLst/>
            </a:prstGeom>
            <a:solidFill>
              <a:schemeClr val="bg1"/>
            </a:solidFill>
            <a:ln w="12700" cmpd="sng" algn="ctr">
              <a:noFill/>
              <a:prstDash val="dash"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pic>
          <p:nvPicPr>
            <p:cNvPr id="11" name="Grafik 1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8759" y="6066338"/>
              <a:ext cx="1288232" cy="470987"/>
            </a:xfrm>
            <a:prstGeom prst="rect">
              <a:avLst/>
            </a:prstGeom>
          </p:spPr>
        </p:pic>
      </p:grpSp>
      <p:pic>
        <p:nvPicPr>
          <p:cNvPr id="12" name="Picture 8" descr="M:\Dokumente\UCC_Partner\Logos\SAP UA Logo\SAP_University_Alliances_Logo_2013_Februar\RGB\SAP_UniversityAlliances_scrn_R_pos_stac3.png"/>
          <p:cNvPicPr/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000" y="6184900"/>
            <a:ext cx="647700" cy="352425"/>
          </a:xfrm>
          <a:prstGeom prst="rect">
            <a:avLst/>
          </a:prstGeom>
          <a:noFill/>
          <a:ln>
            <a:noFill/>
          </a:ln>
          <a:extLst/>
        </p:spPr>
      </p:pic>
    </p:spTree>
    <p:extLst>
      <p:ext uri="{BB962C8B-B14F-4D97-AF65-F5344CB8AC3E}">
        <p14:creationId xmlns:p14="http://schemas.microsoft.com/office/powerpoint/2010/main" val="42933014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- two lines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324000" y="0"/>
            <a:ext cx="11545200" cy="2160000"/>
          </a:xfrm>
          <a:prstGeom prst="rect">
            <a:avLst/>
          </a:prstGeom>
          <a:solidFill>
            <a:schemeClr val="bg1">
              <a:alpha val="75000"/>
            </a:schemeClr>
          </a:solidFill>
          <a:ln w="6350" algn="ctr">
            <a:noFill/>
            <a:miter lim="800000"/>
            <a:headEnd/>
            <a:tailEnd/>
          </a:ln>
        </p:spPr>
        <p:txBody>
          <a:bodyPr lIns="107163" tIns="85730" rIns="107163" bIns="85730" rtlCol="0" anchor="b" anchorCtr="0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Rectangle 9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67999" y="1539177"/>
            <a:ext cx="10620000" cy="553998"/>
          </a:xfrm>
        </p:spPr>
        <p:txBody>
          <a:bodyPr anchor="b" anchorCtr="0">
            <a:spAutoFit/>
          </a:bodyPr>
          <a:lstStyle>
            <a:lvl1pPr marL="0" marR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800" b="0">
                <a:solidFill>
                  <a:sysClr val="windowText" lastClr="000000"/>
                </a:solidFill>
              </a:defRPr>
            </a:lvl1pPr>
            <a:lvl2pPr marL="544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6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0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5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&lt;First Name&gt; &lt;Last name&gt;, &lt;Organization&gt; (delete if not needed)</a:t>
            </a:r>
            <a:br>
              <a:rPr lang="en-US" dirty="0"/>
            </a:br>
            <a:r>
              <a:rPr lang="en-US" dirty="0"/>
              <a:t>&lt;Month&gt; &lt;Day&gt;, &lt;Year&gt;</a:t>
            </a:r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67999" y="324075"/>
            <a:ext cx="10620000" cy="1107996"/>
          </a:xfrm>
        </p:spPr>
        <p:txBody>
          <a:bodyPr anchor="t" anchorCtr="0">
            <a:noAutofit/>
          </a:bodyPr>
          <a:lstStyle>
            <a:lvl1pPr>
              <a:defRPr sz="360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r>
              <a:rPr lang="en-US" sz="3600" dirty="0"/>
              <a:t>Alternate Presentation Title</a:t>
            </a:r>
            <a:br>
              <a:rPr lang="en-US" sz="3600" dirty="0"/>
            </a:br>
            <a:r>
              <a:rPr lang="en-US" sz="3600" dirty="0"/>
              <a:t>Breaks to Two Lines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 rot="21360000">
            <a:off x="4212456" y="3628659"/>
            <a:ext cx="377026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lang="de-DE"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defTabSz="914400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defTabSz="914400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defTabSz="914400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800" kern="0" dirty="0">
                <a:solidFill>
                  <a:schemeClr val="tx1"/>
                </a:solidFill>
                <a:ea typeface="Arial Unicode MS" pitchFamily="34" charset="-128"/>
                <a:cs typeface="Arial Unicode MS" pitchFamily="34" charset="-128"/>
              </a:rPr>
              <a:t>Use this title slide only with an</a:t>
            </a:r>
            <a:r>
              <a:rPr lang="en-US" sz="1800" kern="0" baseline="0" dirty="0">
                <a:solidFill>
                  <a:schemeClr val="tx1"/>
                </a:solidFill>
                <a:ea typeface="Arial Unicode MS" pitchFamily="34" charset="-128"/>
                <a:cs typeface="Arial Unicode MS" pitchFamily="34" charset="-128"/>
              </a:rPr>
              <a:t> image</a:t>
            </a:r>
            <a:endParaRPr lang="en-US" sz="1800" kern="0" dirty="0">
              <a:solidFill>
                <a:schemeClr val="tx1"/>
              </a:solidFill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8" y="6083725"/>
            <a:ext cx="916759" cy="4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908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- sho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3999" y="324075"/>
            <a:ext cx="10620000" cy="923330"/>
          </a:xfrm>
        </p:spPr>
        <p:txBody>
          <a:bodyPr anchor="t" anchorCtr="0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Short Presentation Title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24000" y="1539177"/>
            <a:ext cx="10620000" cy="553998"/>
          </a:xfrm>
        </p:spPr>
        <p:txBody>
          <a:bodyPr anchor="b" anchorCtr="0">
            <a:spAutoFit/>
          </a:bodyPr>
          <a:lstStyle>
            <a:lvl1pPr marL="0" marR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800" b="0">
                <a:solidFill>
                  <a:sysClr val="windowText" lastClr="000000"/>
                </a:solidFill>
              </a:defRPr>
            </a:lvl1pPr>
            <a:lvl2pPr marL="544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6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0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5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&lt;First Name&gt; &lt;Last name&gt;, &lt;Organization&gt; (delete if not needed)</a:t>
            </a:r>
            <a:br>
              <a:rPr lang="en-US" dirty="0"/>
            </a:br>
            <a:r>
              <a:rPr lang="en-US" dirty="0"/>
              <a:t>&lt;Month&gt; &lt;Day&gt;, &lt;Year&gt;</a:t>
            </a:r>
          </a:p>
        </p:txBody>
      </p:sp>
      <p:sp>
        <p:nvSpPr>
          <p:cNvPr id="5" name="Rectangle 4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8" y="6083725"/>
            <a:ext cx="916759" cy="4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9706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- two lin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24000" y="1539177"/>
            <a:ext cx="10620000" cy="553998"/>
          </a:xfrm>
        </p:spPr>
        <p:txBody>
          <a:bodyPr anchor="b" anchorCtr="0">
            <a:spAutoFit/>
          </a:bodyPr>
          <a:lstStyle>
            <a:lvl1pPr marL="0" marR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800" b="0">
                <a:solidFill>
                  <a:sysClr val="windowText" lastClr="000000"/>
                </a:solidFill>
              </a:defRPr>
            </a:lvl1pPr>
            <a:lvl2pPr marL="544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6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0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5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&lt;First Name&gt; &lt;Last name&gt;, &lt;Organization&gt; (delete if not needed)</a:t>
            </a:r>
            <a:br>
              <a:rPr lang="en-US" dirty="0"/>
            </a:br>
            <a:r>
              <a:rPr lang="en-US" dirty="0"/>
              <a:t>&lt;Month&gt; &lt;Day&gt;, &lt;Year&gt;</a:t>
            </a:r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23999" y="324075"/>
            <a:ext cx="10620000" cy="1107996"/>
          </a:xfrm>
        </p:spPr>
        <p:txBody>
          <a:bodyPr anchor="t" anchorCtr="0">
            <a:noAutofit/>
          </a:bodyPr>
          <a:lstStyle>
            <a:lvl1pPr>
              <a:defRPr sz="360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r>
              <a:rPr lang="en-US" sz="3600" dirty="0"/>
              <a:t>Alternate Presentation Title</a:t>
            </a:r>
            <a:br>
              <a:rPr lang="en-US" sz="3600" dirty="0"/>
            </a:br>
            <a:r>
              <a:rPr lang="en-US" sz="3600" dirty="0"/>
              <a:t>Breaks to Two Lines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8" y="6083725"/>
            <a:ext cx="916759" cy="4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009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rriculum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Curriculum</a:t>
            </a:r>
            <a:r>
              <a:rPr lang="en-US" sz="2400" b="1" kern="0" baseline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 Information</a:t>
            </a:r>
            <a:endParaRPr lang="en-US" sz="2400" b="1" kern="0" noProof="0" dirty="0">
              <a:solidFill>
                <a:schemeClr val="accent2"/>
              </a:solidFill>
              <a:latin typeface="+mj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2038856" y="2624439"/>
            <a:ext cx="9830344" cy="362391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&lt;Curriculum version + last update&gt;</a:t>
            </a:r>
          </a:p>
        </p:txBody>
      </p:sp>
      <p:grpSp>
        <p:nvGrpSpPr>
          <p:cNvPr id="7" name="Gruppieren 6"/>
          <p:cNvGrpSpPr/>
          <p:nvPr userDrawn="1"/>
        </p:nvGrpSpPr>
        <p:grpSpPr>
          <a:xfrm>
            <a:off x="1951753" y="1927906"/>
            <a:ext cx="9917447" cy="500901"/>
            <a:chOff x="1108399" y="1396713"/>
            <a:chExt cx="7030682" cy="404566"/>
          </a:xfrm>
        </p:grpSpPr>
        <p:sp>
          <p:nvSpPr>
            <p:cNvPr id="8" name="Rectangle 10"/>
            <p:cNvSpPr/>
            <p:nvPr userDrawn="1"/>
          </p:nvSpPr>
          <p:spPr>
            <a:xfrm>
              <a:off x="1108399" y="1396713"/>
              <a:ext cx="3835401" cy="298157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noProof="0" dirty="0">
                  <a:solidFill>
                    <a:schemeClr val="tx1"/>
                  </a:solidFill>
                  <a:latin typeface="+mj-lt"/>
                </a:rPr>
                <a:t>Curriculum </a:t>
              </a:r>
              <a:r>
                <a:rPr lang="en-US" sz="1800" b="1" baseline="0" noProof="0" dirty="0">
                  <a:solidFill>
                    <a:schemeClr val="tx1"/>
                  </a:solidFill>
                  <a:latin typeface="+mj-lt"/>
                </a:rPr>
                <a:t>Version</a:t>
              </a:r>
              <a:endParaRPr lang="en-US" sz="1200" b="1" noProof="0" dirty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9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uppieren 9"/>
          <p:cNvGrpSpPr/>
          <p:nvPr userDrawn="1"/>
        </p:nvGrpSpPr>
        <p:grpSpPr>
          <a:xfrm>
            <a:off x="324000" y="1499007"/>
            <a:ext cx="1299974" cy="1299976"/>
            <a:chOff x="352676" y="1326706"/>
            <a:chExt cx="765542" cy="765543"/>
          </a:xfrm>
        </p:grpSpPr>
        <p:sp>
          <p:nvSpPr>
            <p:cNvPr id="11" name="Donut 11"/>
            <p:cNvSpPr/>
            <p:nvPr userDrawn="1"/>
          </p:nvSpPr>
          <p:spPr bwMode="gray">
            <a:xfrm>
              <a:off x="352676" y="1326706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12" name="Gruppieren 11"/>
            <p:cNvGrpSpPr/>
            <p:nvPr userDrawn="1"/>
          </p:nvGrpSpPr>
          <p:grpSpPr>
            <a:xfrm>
              <a:off x="545702" y="1435466"/>
              <a:ext cx="403112" cy="511295"/>
              <a:chOff x="7057115" y="1361724"/>
              <a:chExt cx="403112" cy="511295"/>
            </a:xfrm>
          </p:grpSpPr>
          <p:sp>
            <p:nvSpPr>
              <p:cNvPr id="13" name="Gefaltete Ecke 12"/>
              <p:cNvSpPr/>
              <p:nvPr/>
            </p:nvSpPr>
            <p:spPr bwMode="gray">
              <a:xfrm rot="10800000" flipH="1">
                <a:off x="7150511" y="1361724"/>
                <a:ext cx="309716" cy="420330"/>
              </a:xfrm>
              <a:prstGeom prst="foldedCorner">
                <a:avLst>
                  <a:gd name="adj" fmla="val 3833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4" name="Gefaltete Ecke 13"/>
              <p:cNvSpPr/>
              <p:nvPr/>
            </p:nvSpPr>
            <p:spPr bwMode="gray">
              <a:xfrm rot="10800000" flipH="1">
                <a:off x="7103823" y="1410891"/>
                <a:ext cx="309716" cy="420330"/>
              </a:xfrm>
              <a:prstGeom prst="foldedCorner">
                <a:avLst>
                  <a:gd name="adj" fmla="val 3833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15" name="Gruppieren 33"/>
              <p:cNvGrpSpPr/>
              <p:nvPr/>
            </p:nvGrpSpPr>
            <p:grpSpPr>
              <a:xfrm>
                <a:off x="7057115" y="1452689"/>
                <a:ext cx="309716" cy="420330"/>
                <a:chOff x="589936" y="2809567"/>
                <a:chExt cx="309716" cy="420330"/>
              </a:xfrm>
            </p:grpSpPr>
            <p:sp>
              <p:nvSpPr>
                <p:cNvPr id="16" name="Gefaltete Ecke 15"/>
                <p:cNvSpPr/>
                <p:nvPr/>
              </p:nvSpPr>
              <p:spPr bwMode="gray">
                <a:xfrm rot="10800000" flipH="1">
                  <a:off x="589936" y="2809567"/>
                  <a:ext cx="309716" cy="420330"/>
                </a:xfrm>
                <a:prstGeom prst="foldedCorner">
                  <a:avLst>
                    <a:gd name="adj" fmla="val 38333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6350" algn="ctr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lIns="90000" tIns="72000" rIns="90000" bIns="72000" rtlCol="0" anchor="ctr"/>
                <a:lstStyle/>
                <a:p>
                  <a:pPr marR="0" algn="ctr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  <a:tabLst/>
                  </a:pPr>
                  <a:endParaRPr kumimoji="0" lang="de-DE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17" name="Textfeld 16"/>
                <p:cNvSpPr txBox="1"/>
                <p:nvPr/>
              </p:nvSpPr>
              <p:spPr>
                <a:xfrm>
                  <a:off x="697006" y="2861855"/>
                  <a:ext cx="94496" cy="3262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</a:pPr>
                  <a:r>
                    <a:rPr lang="de-DE" sz="3600" i="1" kern="0" dirty="0">
                      <a:solidFill>
                        <a:schemeClr val="bg1"/>
                      </a:solidFill>
                      <a:latin typeface="Angsana New" pitchFamily="18" charset="-34"/>
                      <a:ea typeface="Arial Unicode MS" pitchFamily="34" charset="-128"/>
                      <a:cs typeface="Angsana New" pitchFamily="18" charset="-34"/>
                    </a:rPr>
                    <a:t>i</a:t>
                  </a:r>
                </a:p>
              </p:txBody>
            </p:sp>
          </p:grpSp>
        </p:grpSp>
      </p:grpSp>
      <p:sp>
        <p:nvSpPr>
          <p:cNvPr id="18" name="Textplatzhalt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2327108" y="3552319"/>
            <a:ext cx="9542092" cy="530990"/>
          </a:xfrm>
          <a:prstGeom prst="rect">
            <a:avLst/>
          </a:prstGeom>
        </p:spPr>
        <p:txBody>
          <a:bodyPr/>
          <a:lstStyle>
            <a:lvl1pPr marL="214298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&lt;server-side&gt;</a:t>
            </a:r>
          </a:p>
          <a:p>
            <a:pPr lvl="0"/>
            <a:r>
              <a:rPr lang="en-US" dirty="0"/>
              <a:t>&lt;client-side&gt;</a:t>
            </a:r>
            <a:endParaRPr lang="de-DE" dirty="0"/>
          </a:p>
        </p:txBody>
      </p:sp>
      <p:sp>
        <p:nvSpPr>
          <p:cNvPr id="19" name="Textfeld 18"/>
          <p:cNvSpPr txBox="1"/>
          <p:nvPr userDrawn="1"/>
        </p:nvSpPr>
        <p:spPr>
          <a:xfrm>
            <a:off x="2041112" y="3250331"/>
            <a:ext cx="9828088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800" b="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 used</a:t>
            </a:r>
          </a:p>
        </p:txBody>
      </p:sp>
      <p:sp>
        <p:nvSpPr>
          <p:cNvPr id="20" name="Textfeld 19"/>
          <p:cNvSpPr txBox="1"/>
          <p:nvPr userDrawn="1"/>
        </p:nvSpPr>
        <p:spPr>
          <a:xfrm>
            <a:off x="2043658" y="4533142"/>
            <a:ext cx="9825542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800" b="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Prerequisites</a:t>
            </a:r>
          </a:p>
        </p:txBody>
      </p:sp>
      <p:sp>
        <p:nvSpPr>
          <p:cNvPr id="21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2327107" y="4845892"/>
            <a:ext cx="9542093" cy="53099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&lt;curricula&gt;</a:t>
            </a:r>
          </a:p>
          <a:p>
            <a:pPr lvl="0"/>
            <a:r>
              <a:rPr lang="en-US" dirty="0"/>
              <a:t>&lt;other prerequisites&gt;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4089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information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Module</a:t>
            </a:r>
            <a:r>
              <a:rPr lang="en-US" sz="2400" b="1" kern="0" baseline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 Information</a:t>
            </a:r>
            <a:endParaRPr lang="en-US" sz="2400" b="1" kern="0" noProof="0" dirty="0">
              <a:solidFill>
                <a:schemeClr val="accent2"/>
              </a:solidFill>
              <a:latin typeface="+mj-lt"/>
              <a:ea typeface="Arial Unicode MS" pitchFamily="34" charset="-128"/>
              <a:cs typeface="Arial Unicode MS" pitchFamily="34" charset="-128"/>
            </a:endParaRPr>
          </a:p>
        </p:txBody>
      </p:sp>
      <p:grpSp>
        <p:nvGrpSpPr>
          <p:cNvPr id="22" name="Gruppieren 21"/>
          <p:cNvGrpSpPr/>
          <p:nvPr userDrawn="1"/>
        </p:nvGrpSpPr>
        <p:grpSpPr>
          <a:xfrm>
            <a:off x="324000" y="1499007"/>
            <a:ext cx="1299600" cy="1299600"/>
            <a:chOff x="214040" y="1152039"/>
            <a:chExt cx="765542" cy="765543"/>
          </a:xfrm>
        </p:grpSpPr>
        <p:grpSp>
          <p:nvGrpSpPr>
            <p:cNvPr id="23" name="Gruppieren 22"/>
            <p:cNvGrpSpPr/>
            <p:nvPr userDrawn="1"/>
          </p:nvGrpSpPr>
          <p:grpSpPr>
            <a:xfrm>
              <a:off x="361780" y="1456593"/>
              <a:ext cx="464587" cy="191753"/>
              <a:chOff x="1642324" y="4884196"/>
              <a:chExt cx="660745" cy="294992"/>
            </a:xfrm>
          </p:grpSpPr>
          <p:sp>
            <p:nvSpPr>
              <p:cNvPr id="25" name="Richtungspfeil 24"/>
              <p:cNvSpPr/>
              <p:nvPr userDrawn="1"/>
            </p:nvSpPr>
            <p:spPr bwMode="gray">
              <a:xfrm rot="8100000">
                <a:off x="1767471" y="4884196"/>
                <a:ext cx="535598" cy="221844"/>
              </a:xfrm>
              <a:prstGeom prst="homePlat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26" name="Rechteck 25"/>
              <p:cNvSpPr/>
              <p:nvPr/>
            </p:nvSpPr>
            <p:spPr bwMode="gray">
              <a:xfrm rot="8100000">
                <a:off x="1920613" y="4887121"/>
                <a:ext cx="305780" cy="129124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cxnSp>
            <p:nvCxnSpPr>
              <p:cNvPr id="27" name="Gerade Verbindung 25"/>
              <p:cNvCxnSpPr/>
              <p:nvPr userDrawn="1"/>
            </p:nvCxnSpPr>
            <p:spPr>
              <a:xfrm>
                <a:off x="1642324" y="5179188"/>
                <a:ext cx="140109" cy="0"/>
              </a:xfrm>
              <a:prstGeom prst="line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Donut 11"/>
            <p:cNvSpPr/>
            <p:nvPr userDrawn="1"/>
          </p:nvSpPr>
          <p:spPr bwMode="gray">
            <a:xfrm>
              <a:off x="214040" y="1152039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28" name="Gruppieren 27"/>
          <p:cNvGrpSpPr/>
          <p:nvPr userDrawn="1"/>
        </p:nvGrpSpPr>
        <p:grpSpPr>
          <a:xfrm>
            <a:off x="324000" y="3809388"/>
            <a:ext cx="1299600" cy="1299600"/>
            <a:chOff x="216000" y="2969382"/>
            <a:chExt cx="765542" cy="765543"/>
          </a:xfrm>
        </p:grpSpPr>
        <p:pic>
          <p:nvPicPr>
            <p:cNvPr id="29" name="Picture 2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714" y="3133080"/>
              <a:ext cx="361950" cy="438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Donut 11"/>
            <p:cNvSpPr/>
            <p:nvPr userDrawn="1"/>
          </p:nvSpPr>
          <p:spPr bwMode="gray">
            <a:xfrm>
              <a:off x="216000" y="2969382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31" name="Gruppieren 30"/>
          <p:cNvGrpSpPr/>
          <p:nvPr userDrawn="1"/>
        </p:nvGrpSpPr>
        <p:grpSpPr>
          <a:xfrm>
            <a:off x="1951753" y="1927906"/>
            <a:ext cx="9917447" cy="500901"/>
            <a:chOff x="1108399" y="1396713"/>
            <a:chExt cx="7030682" cy="404566"/>
          </a:xfrm>
        </p:grpSpPr>
        <p:sp>
          <p:nvSpPr>
            <p:cNvPr id="32" name="Rectangle 10"/>
            <p:cNvSpPr/>
            <p:nvPr userDrawn="1"/>
          </p:nvSpPr>
          <p:spPr>
            <a:xfrm>
              <a:off x="1108399" y="1396713"/>
              <a:ext cx="3835401" cy="298157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noProof="0" dirty="0">
                  <a:solidFill>
                    <a:schemeClr val="tx1"/>
                  </a:solidFill>
                  <a:latin typeface="+mj-lt"/>
                </a:rPr>
                <a:t>Authors</a:t>
              </a:r>
              <a:endParaRPr lang="en-US" sz="1200" b="1" noProof="0" dirty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33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platzhalt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2038856" y="2624439"/>
            <a:ext cx="9830344" cy="1319928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&lt;Author&gt;</a:t>
            </a:r>
          </a:p>
          <a:p>
            <a:pPr lvl="0"/>
            <a:r>
              <a:rPr lang="en-US" dirty="0"/>
              <a:t>&lt;Author&gt;</a:t>
            </a:r>
          </a:p>
          <a:p>
            <a:pPr lvl="0"/>
            <a:r>
              <a:rPr lang="en-US" dirty="0"/>
              <a:t>&lt;Author&gt;</a:t>
            </a:r>
          </a:p>
        </p:txBody>
      </p:sp>
      <p:grpSp>
        <p:nvGrpSpPr>
          <p:cNvPr id="35" name="Gruppieren 34"/>
          <p:cNvGrpSpPr/>
          <p:nvPr userDrawn="1"/>
        </p:nvGrpSpPr>
        <p:grpSpPr>
          <a:xfrm>
            <a:off x="1957853" y="4230977"/>
            <a:ext cx="9911347" cy="500901"/>
            <a:chOff x="1108399" y="1396713"/>
            <a:chExt cx="7030682" cy="404566"/>
          </a:xfrm>
        </p:grpSpPr>
        <p:sp>
          <p:nvSpPr>
            <p:cNvPr id="36" name="Rectangle 10"/>
            <p:cNvSpPr/>
            <p:nvPr userDrawn="1"/>
          </p:nvSpPr>
          <p:spPr>
            <a:xfrm>
              <a:off x="1108399" y="1396713"/>
              <a:ext cx="3835401" cy="298157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noProof="0" dirty="0">
                  <a:solidFill>
                    <a:schemeClr val="tx1"/>
                  </a:solidFill>
                  <a:latin typeface="+mj-lt"/>
                </a:rPr>
                <a:t>Target Audience</a:t>
              </a:r>
              <a:endParaRPr lang="en-US" sz="1200" b="1" noProof="0" dirty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37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platzhalt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2044953" y="4927509"/>
            <a:ext cx="9824247" cy="1319928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&lt;Target audience&gt;</a:t>
            </a:r>
          </a:p>
          <a:p>
            <a:pPr lvl="0"/>
            <a:r>
              <a:rPr lang="en-US" dirty="0"/>
              <a:t>&lt;Target audience&gt;</a:t>
            </a:r>
          </a:p>
          <a:p>
            <a:pPr lvl="0"/>
            <a:r>
              <a:rPr lang="en-US" dirty="0"/>
              <a:t>&lt;Target audience&gt;</a:t>
            </a:r>
          </a:p>
        </p:txBody>
      </p:sp>
    </p:spTree>
    <p:extLst>
      <p:ext uri="{BB962C8B-B14F-4D97-AF65-F5344CB8AC3E}">
        <p14:creationId xmlns:p14="http://schemas.microsoft.com/office/powerpoint/2010/main" val="2738841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information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Module</a:t>
            </a:r>
            <a:r>
              <a:rPr lang="en-US" sz="2400" b="1" kern="0" baseline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 Information</a:t>
            </a:r>
            <a:endParaRPr lang="en-US" sz="2400" b="1" kern="0" noProof="0" dirty="0">
              <a:solidFill>
                <a:schemeClr val="accent2"/>
              </a:solidFill>
              <a:latin typeface="+mj-lt"/>
              <a:ea typeface="Arial Unicode MS" pitchFamily="34" charset="-128"/>
              <a:cs typeface="Arial Unicode MS" pitchFamily="34" charset="-128"/>
            </a:endParaRPr>
          </a:p>
        </p:txBody>
      </p:sp>
      <p:grpSp>
        <p:nvGrpSpPr>
          <p:cNvPr id="3" name="Gruppieren 2"/>
          <p:cNvGrpSpPr/>
          <p:nvPr userDrawn="1"/>
        </p:nvGrpSpPr>
        <p:grpSpPr>
          <a:xfrm>
            <a:off x="324000" y="1503256"/>
            <a:ext cx="1299600" cy="1299600"/>
            <a:chOff x="214040" y="1152039"/>
            <a:chExt cx="765542" cy="765543"/>
          </a:xfrm>
        </p:grpSpPr>
        <p:sp>
          <p:nvSpPr>
            <p:cNvPr id="4" name="Donut 11"/>
            <p:cNvSpPr/>
            <p:nvPr userDrawn="1"/>
          </p:nvSpPr>
          <p:spPr bwMode="gray">
            <a:xfrm>
              <a:off x="214040" y="1152039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  <p:pic>
          <p:nvPicPr>
            <p:cNvPr id="6" name="Picture 4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487" y="1313261"/>
              <a:ext cx="352425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" name="Gruppieren 6"/>
          <p:cNvGrpSpPr/>
          <p:nvPr userDrawn="1"/>
        </p:nvGrpSpPr>
        <p:grpSpPr>
          <a:xfrm>
            <a:off x="1951753" y="1927906"/>
            <a:ext cx="9917447" cy="500901"/>
            <a:chOff x="1108399" y="1396713"/>
            <a:chExt cx="7030682" cy="404566"/>
          </a:xfrm>
        </p:grpSpPr>
        <p:sp>
          <p:nvSpPr>
            <p:cNvPr id="8" name="Rectangle 10"/>
            <p:cNvSpPr/>
            <p:nvPr userDrawn="1"/>
          </p:nvSpPr>
          <p:spPr>
            <a:xfrm>
              <a:off x="1108399" y="1396713"/>
              <a:ext cx="3835401" cy="298154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kern="1200" noProof="0" dirty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Learning Objectives</a:t>
              </a:r>
            </a:p>
          </p:txBody>
        </p:sp>
        <p:cxnSp>
          <p:nvCxnSpPr>
            <p:cNvPr id="9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platzhalt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2038856" y="2624439"/>
            <a:ext cx="9830344" cy="1319928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&lt;Learning objective&gt;</a:t>
            </a:r>
          </a:p>
          <a:p>
            <a:pPr lvl="0"/>
            <a:r>
              <a:rPr lang="en-US" dirty="0"/>
              <a:t>&lt;Learning objective&gt;</a:t>
            </a:r>
          </a:p>
          <a:p>
            <a:pPr lvl="0"/>
            <a:r>
              <a:rPr lang="en-US" dirty="0"/>
              <a:t>&lt;Learning objective&gt;</a:t>
            </a:r>
          </a:p>
        </p:txBody>
      </p:sp>
    </p:spTree>
    <p:extLst>
      <p:ext uri="{BB962C8B-B14F-4D97-AF65-F5344CB8AC3E}">
        <p14:creationId xmlns:p14="http://schemas.microsoft.com/office/powerpoint/2010/main" val="101486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&lt;Agenda&gt;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68060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&lt;Page title&gt;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37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idx="12"/>
          </p:nvPr>
        </p:nvSpPr>
        <p:spPr bwMode="gray">
          <a:xfrm>
            <a:off x="6208016" y="1691079"/>
            <a:ext cx="5661184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56628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&lt;Page title&gt;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573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/>
          <p:cNvSpPr>
            <a:spLocks noGrp="1"/>
          </p:cNvSpPr>
          <p:nvPr>
            <p:ph idx="14"/>
          </p:nvPr>
        </p:nvSpPr>
        <p:spPr bwMode="gray">
          <a:xfrm>
            <a:off x="8133316" y="1691079"/>
            <a:ext cx="3735883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3"/>
          </p:nvPr>
        </p:nvSpPr>
        <p:spPr bwMode="gray">
          <a:xfrm>
            <a:off x="4228658" y="1691079"/>
            <a:ext cx="37404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3740399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4000" y="324075"/>
            <a:ext cx="11545200" cy="756175"/>
          </a:xfrm>
        </p:spPr>
        <p:txBody>
          <a:bodyPr/>
          <a:lstStyle/>
          <a:p>
            <a:r>
              <a:rPr lang="en-US" noProof="0" dirty="0"/>
              <a:t>&lt;Page title&gt;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077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picture r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714995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 noProof="0" dirty="0"/>
              <a:t>&lt;Page title&gt;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gray">
          <a:xfrm>
            <a:off x="7639050" y="1691079"/>
            <a:ext cx="4232275" cy="4392042"/>
          </a:xfrm>
          <a:solidFill>
            <a:schemeClr val="bg1">
              <a:lumMod val="95000"/>
            </a:schemeClr>
          </a:solidFill>
        </p:spPr>
        <p:txBody>
          <a:bodyPr tIns="1543147" anchor="t" anchorCtr="0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6966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picture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56628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 noProof="0" dirty="0"/>
              <a:t>&lt;Page title&gt;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gray">
          <a:xfrm>
            <a:off x="6208016" y="1692392"/>
            <a:ext cx="5662800" cy="4393017"/>
          </a:xfrm>
          <a:solidFill>
            <a:schemeClr val="bg1">
              <a:lumMod val="95000"/>
            </a:schemeClr>
          </a:solidFill>
        </p:spPr>
        <p:txBody>
          <a:bodyPr vert="horz" lIns="0" tIns="1543147" rIns="0" bIns="0" rtlCol="0" anchor="t" anchorCtr="0">
            <a:noAutofit/>
          </a:bodyPr>
          <a:lstStyle>
            <a:lvl1pPr marL="0" indent="0" algn="ctr" defTabSz="1088776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21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079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picture r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4224188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 noProof="0" dirty="0"/>
              <a:t>&lt;Page title&gt;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gray">
          <a:xfrm>
            <a:off x="4706938" y="1692392"/>
            <a:ext cx="7164387" cy="4393017"/>
          </a:xfrm>
          <a:solidFill>
            <a:schemeClr val="bg1">
              <a:lumMod val="95000"/>
            </a:schemeClr>
          </a:solidFill>
        </p:spPr>
        <p:txBody>
          <a:bodyPr vert="horz" lIns="0" tIns="1543147" rIns="0" bIns="0" rtlCol="0" anchor="t" anchorCtr="0">
            <a:noAutofit/>
          </a:bodyPr>
          <a:lstStyle>
            <a:lvl1pPr marL="0" indent="0" algn="ctr" defTabSz="1088776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21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883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picture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idx="17"/>
          </p:nvPr>
        </p:nvSpPr>
        <p:spPr bwMode="gray">
          <a:xfrm>
            <a:off x="6208016" y="1691079"/>
            <a:ext cx="5661184" cy="17211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5662800" cy="17211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&lt;Page title&gt;</a:t>
            </a:r>
            <a:endParaRPr lang="en-US" dirty="0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5"/>
          </p:nvPr>
        </p:nvSpPr>
        <p:spPr bwMode="gray">
          <a:xfrm>
            <a:off x="324000" y="3574318"/>
            <a:ext cx="5662800" cy="2508804"/>
          </a:xfrm>
          <a:solidFill>
            <a:schemeClr val="bg1">
              <a:lumMod val="95000"/>
            </a:schemeClr>
          </a:solidFill>
        </p:spPr>
        <p:txBody>
          <a:bodyPr tIns="600113" anchor="t" anchorCtr="0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/>
          </p:nvPr>
        </p:nvSpPr>
        <p:spPr bwMode="gray">
          <a:xfrm>
            <a:off x="6208016" y="3574318"/>
            <a:ext cx="5662800" cy="2508804"/>
          </a:xfrm>
          <a:solidFill>
            <a:schemeClr val="bg1">
              <a:lumMod val="95000"/>
            </a:schemeClr>
          </a:solidFill>
        </p:spPr>
        <p:txBody>
          <a:bodyPr tIns="600113" anchor="t" anchorCtr="0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2932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/ Thank You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7" y="478741"/>
            <a:ext cx="1833518" cy="907200"/>
          </a:xfrm>
          <a:prstGeom prst="rect">
            <a:avLst/>
          </a:prstGeom>
        </p:spPr>
      </p:pic>
      <p:sp>
        <p:nvSpPr>
          <p:cNvPr id="8" name="Textfeld 7"/>
          <p:cNvSpPr txBox="1"/>
          <p:nvPr userDrawn="1"/>
        </p:nvSpPr>
        <p:spPr>
          <a:xfrm>
            <a:off x="324000" y="2061275"/>
            <a:ext cx="1154520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6000" noProof="0" dirty="0"/>
              <a:t>Thank</a:t>
            </a:r>
            <a:r>
              <a:rPr lang="en-US" sz="6000" baseline="0" noProof="0" dirty="0"/>
              <a:t> you</a:t>
            </a:r>
            <a:r>
              <a:rPr lang="en-US" sz="6000" noProof="0" dirty="0"/>
              <a:t>!</a:t>
            </a:r>
            <a:endParaRPr lang="en-US" sz="6000" kern="0" noProof="0" dirty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925792" y="3659939"/>
            <a:ext cx="4341615" cy="2141713"/>
          </a:xfrm>
          <a:noFill/>
          <a:ln>
            <a:solidFill>
              <a:schemeClr val="accent1"/>
            </a:solidFill>
          </a:ln>
        </p:spPr>
        <p:txBody>
          <a:bodyPr lIns="108000" tIns="108000" rIns="108000" bIns="108000"/>
          <a:lstStyle>
            <a:lvl1pPr marL="0" indent="0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buNone/>
              <a:defRPr sz="2400" b="1" baseline="0">
                <a:solidFill>
                  <a:schemeClr val="tx1"/>
                </a:solidFill>
              </a:defRPr>
            </a:lvl1pPr>
            <a:lvl2pPr marL="201600" indent="0">
              <a:buNone/>
              <a:defRPr/>
            </a:lvl2pPr>
            <a:lvl3pPr marL="324000" indent="0">
              <a:buNone/>
              <a:defRPr/>
            </a:lvl3pPr>
            <a:lvl4pPr marL="504000" indent="0">
              <a:buNone/>
              <a:defRPr/>
            </a:lvl4pPr>
            <a:lvl5pPr marL="361338" indent="0">
              <a:buNone/>
              <a:defRPr/>
            </a:lvl5pPr>
          </a:lstStyle>
          <a:p>
            <a:pPr lvl="0"/>
            <a:r>
              <a:rPr lang="en-US" noProof="0" dirty="0"/>
              <a:t>Contact</a:t>
            </a:r>
          </a:p>
          <a:p>
            <a:pPr lvl="0"/>
            <a:endParaRPr lang="en-US" noProof="0" dirty="0"/>
          </a:p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400" kern="0" noProof="0" dirty="0">
                <a:ea typeface="Arial Unicode MS" pitchFamily="34" charset="-128"/>
                <a:cs typeface="Arial Unicode MS" pitchFamily="34" charset="-128"/>
              </a:rPr>
              <a:t> &lt;First name&gt; &lt;Last name&gt;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400" kern="0" baseline="0" noProof="0" dirty="0">
                <a:ea typeface="Arial Unicode MS" pitchFamily="34" charset="-128"/>
                <a:cs typeface="Arial Unicode MS" pitchFamily="34" charset="-128"/>
              </a:rPr>
              <a:t> &lt;Position, Organization&gt;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400" kern="0" baseline="0" noProof="0" dirty="0">
                <a:ea typeface="Arial Unicode MS" pitchFamily="34" charset="-128"/>
                <a:cs typeface="Arial Unicode MS" pitchFamily="34" charset="-128"/>
              </a:rPr>
              <a:t> &lt;Contact information&gt;</a:t>
            </a:r>
            <a:endParaRPr lang="en-US" sz="1800" kern="0" noProof="0" dirty="0">
              <a:ea typeface="Arial Unicode MS" pitchFamily="34" charset="-128"/>
              <a:cs typeface="Arial Unicode MS" pitchFamily="34" charset="-128"/>
            </a:endParaRPr>
          </a:p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04744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 mod="1"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th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Authors</a:t>
            </a:r>
          </a:p>
        </p:txBody>
      </p:sp>
    </p:spTree>
    <p:extLst>
      <p:ext uri="{BB962C8B-B14F-4D97-AF65-F5344CB8AC3E}">
        <p14:creationId xmlns:p14="http://schemas.microsoft.com/office/powerpoint/2010/main" val="17872564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chemeClr val="bg1">
                  <a:lumMod val="65000"/>
                </a:schemeClr>
              </a:buClr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&lt;level 1&gt;</a:t>
            </a:r>
          </a:p>
        </p:txBody>
      </p:sp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38798839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rriculum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>
                <a:solidFill>
                  <a:schemeClr val="accent2"/>
                </a:solidFill>
                <a:latin typeface="Arial"/>
                <a:ea typeface="Arial Unicode MS" pitchFamily="34" charset="-128"/>
                <a:cs typeface="Arial Unicode MS" pitchFamily="34" charset="-128"/>
              </a:rPr>
              <a:t>Teaching material - Information</a:t>
            </a:r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2038856" y="2624439"/>
            <a:ext cx="9830344" cy="362391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de-DE" noProof="0" dirty="0"/>
              <a:t>&lt;3.1 (</a:t>
            </a:r>
            <a:r>
              <a:rPr lang="de-DE" noProof="0" dirty="0" err="1"/>
              <a:t>July</a:t>
            </a:r>
            <a:r>
              <a:rPr lang="de-DE" noProof="0" dirty="0"/>
              <a:t> 2017)&gt;</a:t>
            </a:r>
          </a:p>
        </p:txBody>
      </p:sp>
      <p:grpSp>
        <p:nvGrpSpPr>
          <p:cNvPr id="7" name="Gruppieren 6"/>
          <p:cNvGrpSpPr/>
          <p:nvPr userDrawn="1"/>
        </p:nvGrpSpPr>
        <p:grpSpPr>
          <a:xfrm>
            <a:off x="1951753" y="1927906"/>
            <a:ext cx="9917447" cy="500901"/>
            <a:chOff x="1108399" y="1396713"/>
            <a:chExt cx="7030682" cy="404566"/>
          </a:xfrm>
        </p:grpSpPr>
        <p:sp>
          <p:nvSpPr>
            <p:cNvPr id="8" name="Rectangle 10"/>
            <p:cNvSpPr/>
            <p:nvPr userDrawn="1"/>
          </p:nvSpPr>
          <p:spPr>
            <a:xfrm>
              <a:off x="1108399" y="1396713"/>
              <a:ext cx="3835401" cy="298157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kern="1200" noProof="0" dirty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Teaching</a:t>
              </a:r>
              <a:r>
                <a:rPr lang="en-US" sz="1800" b="1" kern="1200" baseline="0" noProof="0" dirty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 </a:t>
              </a:r>
              <a:r>
                <a:rPr lang="en-US" sz="1800" b="1" kern="1200" noProof="0" dirty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material </a:t>
              </a:r>
              <a:r>
                <a:rPr lang="en-US" sz="1800" b="1" kern="1200" baseline="0" noProof="0" dirty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- Version</a:t>
              </a:r>
              <a:endParaRPr lang="en-US" sz="1200" b="1" kern="1200" noProof="0" dirty="0">
                <a:solidFill>
                  <a:schemeClr val="tx1"/>
                </a:solidFill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9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uppieren 9"/>
          <p:cNvGrpSpPr/>
          <p:nvPr userDrawn="1"/>
        </p:nvGrpSpPr>
        <p:grpSpPr>
          <a:xfrm>
            <a:off x="324000" y="1499007"/>
            <a:ext cx="1299974" cy="1299976"/>
            <a:chOff x="352676" y="1326706"/>
            <a:chExt cx="765542" cy="765543"/>
          </a:xfrm>
        </p:grpSpPr>
        <p:sp>
          <p:nvSpPr>
            <p:cNvPr id="11" name="Donut 11"/>
            <p:cNvSpPr/>
            <p:nvPr userDrawn="1"/>
          </p:nvSpPr>
          <p:spPr bwMode="gray">
            <a:xfrm>
              <a:off x="352676" y="1326706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12" name="Gruppieren 11"/>
            <p:cNvGrpSpPr/>
            <p:nvPr userDrawn="1"/>
          </p:nvGrpSpPr>
          <p:grpSpPr>
            <a:xfrm>
              <a:off x="545702" y="1435466"/>
              <a:ext cx="403112" cy="511295"/>
              <a:chOff x="7057115" y="1361724"/>
              <a:chExt cx="403112" cy="511295"/>
            </a:xfrm>
          </p:grpSpPr>
          <p:sp>
            <p:nvSpPr>
              <p:cNvPr id="13" name="Gefaltete Ecke 12"/>
              <p:cNvSpPr/>
              <p:nvPr/>
            </p:nvSpPr>
            <p:spPr bwMode="gray">
              <a:xfrm rot="10800000" flipH="1">
                <a:off x="7150511" y="1361724"/>
                <a:ext cx="309716" cy="420330"/>
              </a:xfrm>
              <a:prstGeom prst="foldedCorner">
                <a:avLst>
                  <a:gd name="adj" fmla="val 3833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4" name="Gefaltete Ecke 13"/>
              <p:cNvSpPr/>
              <p:nvPr/>
            </p:nvSpPr>
            <p:spPr bwMode="gray">
              <a:xfrm rot="10800000" flipH="1">
                <a:off x="7103823" y="1410891"/>
                <a:ext cx="309716" cy="420330"/>
              </a:xfrm>
              <a:prstGeom prst="foldedCorner">
                <a:avLst>
                  <a:gd name="adj" fmla="val 3833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15" name="Gruppieren 33"/>
              <p:cNvGrpSpPr/>
              <p:nvPr/>
            </p:nvGrpSpPr>
            <p:grpSpPr>
              <a:xfrm>
                <a:off x="7057115" y="1452689"/>
                <a:ext cx="309716" cy="420330"/>
                <a:chOff x="589936" y="2809567"/>
                <a:chExt cx="309716" cy="420330"/>
              </a:xfrm>
            </p:grpSpPr>
            <p:sp>
              <p:nvSpPr>
                <p:cNvPr id="16" name="Gefaltete Ecke 15"/>
                <p:cNvSpPr/>
                <p:nvPr/>
              </p:nvSpPr>
              <p:spPr bwMode="gray">
                <a:xfrm rot="10800000" flipH="1">
                  <a:off x="589936" y="2809567"/>
                  <a:ext cx="309716" cy="420330"/>
                </a:xfrm>
                <a:prstGeom prst="foldedCorner">
                  <a:avLst>
                    <a:gd name="adj" fmla="val 38333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6350" algn="ctr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lIns="90000" tIns="72000" rIns="90000" bIns="72000" rtlCol="0" anchor="ctr"/>
                <a:lstStyle/>
                <a:p>
                  <a:pPr marR="0" algn="ctr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  <a:tabLst/>
                  </a:pPr>
                  <a:endParaRPr kumimoji="0" lang="de-DE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17" name="Textfeld 16"/>
                <p:cNvSpPr txBox="1"/>
                <p:nvPr/>
              </p:nvSpPr>
              <p:spPr>
                <a:xfrm>
                  <a:off x="697006" y="2861855"/>
                  <a:ext cx="94496" cy="3262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</a:pPr>
                  <a:r>
                    <a:rPr lang="de-DE" sz="3600" i="1" kern="0" dirty="0">
                      <a:solidFill>
                        <a:schemeClr val="bg1"/>
                      </a:solidFill>
                      <a:latin typeface="Angsana New" pitchFamily="18" charset="-34"/>
                      <a:ea typeface="Arial Unicode MS" pitchFamily="34" charset="-128"/>
                      <a:cs typeface="Angsana New" pitchFamily="18" charset="-34"/>
                    </a:rPr>
                    <a:t>i</a:t>
                  </a:r>
                </a:p>
              </p:txBody>
            </p:sp>
          </p:grpSp>
        </p:grpSp>
      </p:grpSp>
      <p:sp>
        <p:nvSpPr>
          <p:cNvPr id="18" name="Textplatzhalt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2327108" y="3552319"/>
            <a:ext cx="9542092" cy="530990"/>
          </a:xfrm>
          <a:prstGeom prst="rect">
            <a:avLst/>
          </a:prstGeom>
        </p:spPr>
        <p:txBody>
          <a:bodyPr/>
          <a:lstStyle>
            <a:lvl1pPr marL="214298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&lt;server-side&gt;</a:t>
            </a:r>
          </a:p>
          <a:p>
            <a:pPr lvl="0"/>
            <a:r>
              <a:rPr lang="en-US" dirty="0"/>
              <a:t>&lt;client-side&gt;</a:t>
            </a:r>
            <a:endParaRPr lang="de-DE" dirty="0"/>
          </a:p>
        </p:txBody>
      </p:sp>
      <p:sp>
        <p:nvSpPr>
          <p:cNvPr id="19" name="Textfeld 18"/>
          <p:cNvSpPr txBox="1"/>
          <p:nvPr userDrawn="1"/>
        </p:nvSpPr>
        <p:spPr>
          <a:xfrm>
            <a:off x="2041112" y="3250331"/>
            <a:ext cx="9828088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800" b="0" kern="1200" baseline="0" noProof="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Software used</a:t>
            </a:r>
          </a:p>
        </p:txBody>
      </p:sp>
      <p:sp>
        <p:nvSpPr>
          <p:cNvPr id="20" name="Textfeld 19"/>
          <p:cNvSpPr txBox="1"/>
          <p:nvPr userDrawn="1"/>
        </p:nvSpPr>
        <p:spPr>
          <a:xfrm>
            <a:off x="2043658" y="5176323"/>
            <a:ext cx="9825542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800" b="0" kern="1200" baseline="0" noProof="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Prerequisites</a:t>
            </a:r>
            <a:endParaRPr lang="de-DE" sz="1800" b="0" kern="120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2327107" y="5489073"/>
            <a:ext cx="9542093" cy="53099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&lt;curricula&gt;</a:t>
            </a:r>
          </a:p>
          <a:p>
            <a:pPr lvl="0"/>
            <a:r>
              <a:rPr lang="en-US" dirty="0"/>
              <a:t>&lt;other prerequisites&gt;</a:t>
            </a:r>
            <a:endParaRPr lang="de-DE" dirty="0"/>
          </a:p>
        </p:txBody>
      </p:sp>
      <p:sp>
        <p:nvSpPr>
          <p:cNvPr id="22" name="Textfeld 21"/>
          <p:cNvSpPr txBox="1"/>
          <p:nvPr userDrawn="1"/>
        </p:nvSpPr>
        <p:spPr>
          <a:xfrm>
            <a:off x="2046605" y="4184140"/>
            <a:ext cx="9828088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de-DE" sz="1800" b="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</a:t>
            </a:r>
          </a:p>
        </p:txBody>
      </p:sp>
      <p:sp>
        <p:nvSpPr>
          <p:cNvPr id="23" name="Textplatzhalt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2327108" y="4583195"/>
            <a:ext cx="9542092" cy="530990"/>
          </a:xfrm>
          <a:prstGeom prst="rect">
            <a:avLst/>
          </a:prstGeom>
        </p:spPr>
        <p:txBody>
          <a:bodyPr/>
          <a:lstStyle>
            <a:lvl1pPr marL="214298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de-DE" noProof="0" dirty="0"/>
              <a:t>&lt;</a:t>
            </a:r>
            <a:r>
              <a:rPr lang="de-DE" noProof="0" dirty="0" err="1"/>
              <a:t>server</a:t>
            </a:r>
            <a:r>
              <a:rPr lang="de-DE" noProof="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687079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24000" y="324075"/>
            <a:ext cx="11545200" cy="75617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 noProof="0" dirty="0"/>
              <a:t>Insert page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&lt;level 1&gt;</a:t>
            </a:r>
          </a:p>
          <a:p>
            <a:pPr lvl="1"/>
            <a:r>
              <a:rPr lang="en-US" noProof="0" dirty="0"/>
              <a:t>&lt;level 2&gt;</a:t>
            </a:r>
          </a:p>
          <a:p>
            <a:pPr lvl="2"/>
            <a:r>
              <a:rPr lang="en-US" noProof="0" dirty="0"/>
              <a:t>&lt;level 3&gt;</a:t>
            </a:r>
          </a:p>
          <a:p>
            <a:pPr lvl="3"/>
            <a:r>
              <a:rPr lang="en-US" noProof="0" dirty="0"/>
              <a:t>&lt;level 4&gt;</a:t>
            </a:r>
          </a:p>
        </p:txBody>
      </p:sp>
      <p:sp>
        <p:nvSpPr>
          <p:cNvPr id="33" name="Rectangle 32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24000" y="1231485"/>
            <a:ext cx="115452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 userDrawn="1"/>
        </p:nvSpPr>
        <p:spPr bwMode="white">
          <a:xfrm>
            <a:off x="324000" y="6537251"/>
            <a:ext cx="11545200" cy="324075"/>
          </a:xfrm>
          <a:prstGeom prst="rect">
            <a:avLst/>
          </a:prstGeom>
          <a:solidFill>
            <a:schemeClr val="tx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9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TextBox 9"/>
          <p:cNvSpPr txBox="1"/>
          <p:nvPr userDrawn="1"/>
        </p:nvSpPr>
        <p:spPr bwMode="black">
          <a:xfrm>
            <a:off x="324000" y="6630039"/>
            <a:ext cx="3153112" cy="138499"/>
          </a:xfrm>
          <a:prstGeom prst="rect">
            <a:avLst/>
          </a:prstGeom>
          <a:noFill/>
        </p:spPr>
        <p:txBody>
          <a:bodyPr wrap="none" lIns="85730" tIns="0" rIns="0" bIns="0" rtlCol="0">
            <a:spAutoFit/>
          </a:bodyPr>
          <a:lstStyle/>
          <a:p>
            <a:pPr marL="0" indent="0" algn="l" defTabSz="816226">
              <a:buClr>
                <a:srgbClr val="000000"/>
              </a:buClr>
              <a:buFont typeface="Arial" pitchFamily="34" charset="0"/>
              <a:buNone/>
            </a:pPr>
            <a:r>
              <a:rPr lang="en-US" sz="900" dirty="0">
                <a:solidFill>
                  <a:srgbClr val="FFFFFF"/>
                </a:solidFill>
              </a:rPr>
              <a:t>© </a:t>
            </a:r>
            <a:r>
              <a:rPr lang="en-US" sz="900" dirty="0" smtClean="0">
                <a:solidFill>
                  <a:srgbClr val="FFFFFF"/>
                </a:solidFill>
              </a:rPr>
              <a:t>2025 </a:t>
            </a:r>
            <a:r>
              <a:rPr lang="en-US" sz="900" dirty="0">
                <a:solidFill>
                  <a:srgbClr val="FFFFFF"/>
                </a:solidFill>
              </a:rPr>
              <a:t>SAP</a:t>
            </a:r>
            <a:r>
              <a:rPr lang="en-US" sz="900" baseline="0" dirty="0">
                <a:solidFill>
                  <a:srgbClr val="FFFFFF"/>
                </a:solidFill>
              </a:rPr>
              <a:t> SE / SAP UCC Magdeburg</a:t>
            </a:r>
            <a:r>
              <a:rPr lang="en-US" sz="900" dirty="0">
                <a:solidFill>
                  <a:srgbClr val="FFFFFF"/>
                </a:solidFill>
              </a:rPr>
              <a:t>. All rights reserved.</a:t>
            </a:r>
          </a:p>
        </p:txBody>
      </p:sp>
      <p:sp>
        <p:nvSpPr>
          <p:cNvPr id="34" name="TextBox 33"/>
          <p:cNvSpPr txBox="1"/>
          <p:nvPr userDrawn="1"/>
        </p:nvSpPr>
        <p:spPr bwMode="black">
          <a:xfrm>
            <a:off x="11640519" y="6630039"/>
            <a:ext cx="227631" cy="138499"/>
          </a:xfrm>
          <a:prstGeom prst="rect">
            <a:avLst/>
          </a:prstGeom>
          <a:noFill/>
        </p:spPr>
        <p:txBody>
          <a:bodyPr wrap="none" lIns="0" tIns="0" rIns="85730" bIns="0" rtlCol="0">
            <a:spAutoFit/>
          </a:bodyPr>
          <a:lstStyle/>
          <a:p>
            <a:pPr marL="111525" indent="-111525" algn="r">
              <a:buClr>
                <a:schemeClr val="accent2"/>
              </a:buClr>
              <a:buFont typeface="Arial" pitchFamily="34" charset="0"/>
              <a:buNone/>
            </a:pPr>
            <a:fld id="{0BDC132A-5C91-4078-9777-31DA19A62E0A}" type="slidenum">
              <a:rPr lang="en-US" sz="900" baseline="0" noProof="0" smtClean="0">
                <a:solidFill>
                  <a:schemeClr val="bg1"/>
                </a:solidFill>
              </a:rPr>
              <a:pPr marL="111525" indent="-111525" algn="r">
                <a:buClr>
                  <a:schemeClr val="accent2"/>
                </a:buClr>
                <a:buFont typeface="Arial" pitchFamily="34" charset="0"/>
                <a:buNone/>
              </a:pPr>
              <a:t>‹Nr.›</a:t>
            </a:fld>
            <a:endParaRPr lang="en-US" sz="9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40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56" r:id="rId5"/>
    <p:sldLayoutId id="2147483759" r:id="rId6"/>
    <p:sldLayoutId id="2147483760" r:id="rId7"/>
    <p:sldLayoutId id="2147483746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  <p:sldLayoutId id="2147483745" r:id="rId16"/>
    <p:sldLayoutId id="2147483757" r:id="rId17"/>
    <p:sldLayoutId id="2147483758" r:id="rId18"/>
    <p:sldLayoutId id="2147483762" r:id="rId19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088776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01600" indent="-201600" algn="l" defTabSz="1088776" rtl="0" eaLnBrk="1" latinLnBrk="0" hangingPunct="1">
        <a:spcBef>
          <a:spcPts val="0"/>
        </a:spcBef>
        <a:buClr>
          <a:schemeClr val="accent1"/>
        </a:buClr>
        <a:buSzPct val="100000"/>
        <a:buFont typeface="Wingdings" panose="05000000000000000000" pitchFamily="2" charset="2"/>
        <a:buChar char="§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17600" indent="-216000" algn="l" defTabSz="1088776" rtl="0" eaLnBrk="1" latinLnBrk="0" hangingPunct="1">
        <a:spcBef>
          <a:spcPts val="338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216000" algn="l" defTabSz="1088776" rtl="0" eaLnBrk="1" latinLnBrk="0" hangingPunct="1">
        <a:spcBef>
          <a:spcPts val="225"/>
        </a:spcBef>
        <a:buClr>
          <a:schemeClr val="accent1"/>
        </a:buClr>
        <a:buSzPct val="75000"/>
        <a:buFont typeface="Symbol" panose="05050102010706020507" pitchFamily="18" charset="2"/>
        <a:buChar char="-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216000" algn="l" defTabSz="1088776" rtl="0" eaLnBrk="1" latinLnBrk="0" hangingPunct="1">
        <a:spcBef>
          <a:spcPts val="140"/>
        </a:spcBef>
        <a:buClr>
          <a:schemeClr val="accent1"/>
        </a:buClr>
        <a:buSzPct val="75000"/>
        <a:buFont typeface="Courier New" panose="02070309020205020404" pitchFamily="49" charset="0"/>
        <a:buChar char="o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1088776" rtl="0" eaLnBrk="1" latinLnBrk="0" hangingPunct="1">
        <a:spcBef>
          <a:spcPts val="250"/>
        </a:spcBef>
        <a:buClr>
          <a:schemeClr val="tx1"/>
        </a:buClr>
        <a:buSzPct val="100000"/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994134" indent="-272194" algn="l" defTabSz="108877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8522" indent="-272194" algn="l" defTabSz="108877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910" indent="-272194" algn="l" defTabSz="108877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7298" indent="-272194" algn="l" defTabSz="108877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388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776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3164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552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940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6328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716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5104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sz="4000" dirty="0">
                <a:latin typeface="Arial" panose="020B0604020202020204" pitchFamily="34" charset="0"/>
              </a:rPr>
              <a:t>Enterprise Asset Management (EAM)</a:t>
            </a:r>
            <a:endParaRPr lang="de-DE" sz="400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Curriculum: Introduction to S/4HANA using Global Bike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221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>
          <a:xfrm>
            <a:off x="2327108" y="3568361"/>
            <a:ext cx="9542092" cy="530990"/>
          </a:xfrm>
        </p:spPr>
        <p:txBody>
          <a:bodyPr/>
          <a:lstStyle/>
          <a:p>
            <a:r>
              <a:rPr lang="de-DE" dirty="0"/>
              <a:t>SAP S/4HANA </a:t>
            </a:r>
            <a:r>
              <a:rPr lang="de-DE" dirty="0" smtClean="0"/>
              <a:t>2023</a:t>
            </a:r>
          </a:p>
          <a:p>
            <a:r>
              <a:rPr lang="de-DE" dirty="0" err="1" smtClean="0"/>
              <a:t>Fiori</a:t>
            </a:r>
            <a:r>
              <a:rPr lang="de-DE" dirty="0" smtClean="0"/>
              <a:t> 3.0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Prerequisites</a:t>
            </a:r>
            <a:r>
              <a:rPr lang="de-DE" dirty="0"/>
              <a:t> </a:t>
            </a:r>
            <a:r>
              <a:rPr lang="de-DE" dirty="0" err="1"/>
              <a:t>needed</a:t>
            </a:r>
            <a:endParaRPr lang="de-DE" dirty="0"/>
          </a:p>
          <a:p>
            <a:endParaRPr lang="de-DE" dirty="0"/>
          </a:p>
        </p:txBody>
      </p:sp>
      <p:sp>
        <p:nvSpPr>
          <p:cNvPr id="5" name="Textplatzhalt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2327108" y="4520696"/>
            <a:ext cx="9542092" cy="530990"/>
          </a:xfrm>
          <a:prstGeom prst="rect">
            <a:avLst/>
          </a:prstGeom>
        </p:spPr>
        <p:txBody>
          <a:bodyPr/>
          <a:lstStyle>
            <a:lvl1pPr marL="214298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de-DE" dirty="0"/>
              <a:t>Global Bike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 smtClean="0"/>
              <a:t>4.3 (</a:t>
            </a:r>
            <a:r>
              <a:rPr lang="de-DE" dirty="0" err="1" smtClean="0"/>
              <a:t>July</a:t>
            </a:r>
            <a:r>
              <a:rPr lang="de-DE" dirty="0" smtClean="0"/>
              <a:t> 2025)</a:t>
            </a:r>
            <a:endParaRPr lang="de-DE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000" y="3240000"/>
            <a:ext cx="4858331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762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Stefan Weidner</a:t>
            </a:r>
          </a:p>
          <a:p>
            <a:r>
              <a:rPr lang="de-DE" dirty="0"/>
              <a:t>Robert Häusler</a:t>
            </a:r>
          </a:p>
          <a:p>
            <a:r>
              <a:rPr lang="de-DE" dirty="0"/>
              <a:t>Chris Bernhardt</a:t>
            </a:r>
          </a:p>
          <a:p>
            <a:r>
              <a:rPr lang="de-DE" dirty="0"/>
              <a:t>Babett Ruß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Beginner</a:t>
            </a:r>
          </a:p>
        </p:txBody>
      </p:sp>
    </p:spTree>
    <p:extLst>
      <p:ext uri="{BB962C8B-B14F-4D97-AF65-F5344CB8AC3E}">
        <p14:creationId xmlns:p14="http://schemas.microsoft.com/office/powerpoint/2010/main" val="1881119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5"/>
          </p:nvPr>
        </p:nvSpPr>
        <p:spPr>
          <a:xfrm>
            <a:off x="2038856" y="2624438"/>
            <a:ext cx="9830344" cy="1629509"/>
          </a:xfrm>
        </p:spPr>
        <p:txBody>
          <a:bodyPr/>
          <a:lstStyle/>
          <a:p>
            <a:pPr marL="72000" indent="0">
              <a:buNone/>
            </a:pPr>
            <a:r>
              <a:rPr lang="en-US" dirty="0"/>
              <a:t>You are able to</a:t>
            </a:r>
          </a:p>
          <a:p>
            <a:r>
              <a:rPr lang="en-US" dirty="0"/>
              <a:t>name some functionalities of the EAM module.</a:t>
            </a:r>
          </a:p>
          <a:p>
            <a:r>
              <a:rPr lang="en-US" dirty="0"/>
              <a:t>define the central organizational structures of the EAM module.</a:t>
            </a:r>
          </a:p>
          <a:p>
            <a:r>
              <a:rPr lang="en-US" dirty="0"/>
              <a:t>summarize the master data which is most important for the EAM module.</a:t>
            </a:r>
          </a:p>
          <a:p>
            <a:r>
              <a:rPr lang="en-US" dirty="0"/>
              <a:t>explain a standard process of the Enterprise </a:t>
            </a:r>
            <a:r>
              <a:rPr lang="en-US"/>
              <a:t>Asset Management.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077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 err="1">
                <a:latin typeface="Arial" panose="020B0604020202020204" pitchFamily="34" charset="0"/>
              </a:rPr>
              <a:t>Functionality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4294967295"/>
          </p:nvPr>
        </p:nvSpPr>
        <p:spPr>
          <a:xfrm>
            <a:off x="324000" y="1692392"/>
            <a:ext cx="11545200" cy="3832705"/>
          </a:xfrm>
        </p:spPr>
        <p:txBody>
          <a:bodyPr/>
          <a:lstStyle/>
          <a:p>
            <a:r>
              <a:rPr lang="de-DE" altLang="de-DE" dirty="0" err="1">
                <a:latin typeface="Arial" panose="020B0604020202020204" pitchFamily="34" charset="0"/>
              </a:rPr>
              <a:t>Planned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Repair</a:t>
            </a:r>
            <a:endParaRPr lang="de-DE" altLang="de-DE" dirty="0">
              <a:latin typeface="Arial" panose="020B0604020202020204" pitchFamily="34" charset="0"/>
            </a:endParaRPr>
          </a:p>
          <a:p>
            <a:endParaRPr lang="de-DE" altLang="de-DE" dirty="0">
              <a:latin typeface="Arial" panose="020B0604020202020204" pitchFamily="34" charset="0"/>
            </a:endParaRPr>
          </a:p>
          <a:p>
            <a:r>
              <a:rPr lang="de-DE" altLang="de-DE" dirty="0">
                <a:latin typeface="Arial" panose="020B0604020202020204" pitchFamily="34" charset="0"/>
              </a:rPr>
              <a:t>Instant </a:t>
            </a:r>
            <a:r>
              <a:rPr lang="de-DE" altLang="de-DE" dirty="0" err="1">
                <a:latin typeface="Arial" panose="020B0604020202020204" pitchFamily="34" charset="0"/>
              </a:rPr>
              <a:t>Repair</a:t>
            </a:r>
            <a:endParaRPr lang="de-DE" altLang="de-DE" dirty="0">
              <a:latin typeface="Arial" panose="020B0604020202020204" pitchFamily="34" charset="0"/>
            </a:endParaRPr>
          </a:p>
          <a:p>
            <a:endParaRPr lang="de-DE" altLang="de-DE" dirty="0">
              <a:latin typeface="Arial" panose="020B0604020202020204" pitchFamily="34" charset="0"/>
            </a:endParaRPr>
          </a:p>
          <a:p>
            <a:r>
              <a:rPr lang="de-DE" altLang="de-DE" dirty="0" err="1">
                <a:latin typeface="Arial" panose="020B0604020202020204" pitchFamily="34" charset="0"/>
              </a:rPr>
              <a:t>External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Assignment</a:t>
            </a:r>
            <a:endParaRPr lang="de-DE" altLang="de-DE" dirty="0">
              <a:latin typeface="Arial" panose="020B0604020202020204" pitchFamily="34" charset="0"/>
            </a:endParaRPr>
          </a:p>
          <a:p>
            <a:endParaRPr lang="de-DE" altLang="de-DE" dirty="0">
              <a:latin typeface="Arial" panose="020B0604020202020204" pitchFamily="34" charset="0"/>
            </a:endParaRPr>
          </a:p>
          <a:p>
            <a:r>
              <a:rPr lang="de-DE" altLang="de-DE" dirty="0" err="1">
                <a:latin typeface="Arial" panose="020B0604020202020204" pitchFamily="34" charset="0"/>
              </a:rPr>
              <a:t>Refurbishment</a:t>
            </a:r>
            <a:endParaRPr lang="de-DE" altLang="de-DE" dirty="0">
              <a:latin typeface="Arial" panose="020B0604020202020204" pitchFamily="34" charset="0"/>
            </a:endParaRPr>
          </a:p>
          <a:p>
            <a:endParaRPr lang="de-DE" altLang="de-DE" dirty="0">
              <a:latin typeface="Arial" panose="020B0604020202020204" pitchFamily="34" charset="0"/>
            </a:endParaRPr>
          </a:p>
          <a:p>
            <a:r>
              <a:rPr lang="de-DE" altLang="de-DE" dirty="0" err="1">
                <a:latin typeface="Arial" panose="020B0604020202020204" pitchFamily="34" charset="0"/>
              </a:rPr>
              <a:t>Preventive</a:t>
            </a:r>
            <a:r>
              <a:rPr lang="de-DE" altLang="de-DE" dirty="0">
                <a:latin typeface="Arial" panose="020B0604020202020204" pitchFamily="34" charset="0"/>
              </a:rPr>
              <a:t> Plant Maintenance</a:t>
            </a:r>
          </a:p>
          <a:p>
            <a:pPr marL="0" indent="0">
              <a:buNone/>
            </a:pPr>
            <a:endParaRPr lang="de-DE" altLang="de-DE" dirty="0">
              <a:latin typeface="Arial" panose="020B0604020202020204" pitchFamily="34" charset="0"/>
            </a:endParaRPr>
          </a:p>
          <a:p>
            <a:r>
              <a:rPr lang="de-DE" altLang="de-DE" dirty="0">
                <a:latin typeface="Arial" panose="020B0604020202020204" pitchFamily="34" charset="0"/>
              </a:rPr>
              <a:t>Project </a:t>
            </a:r>
            <a:r>
              <a:rPr lang="de-DE" altLang="de-DE" dirty="0" err="1">
                <a:latin typeface="Arial" panose="020B0604020202020204" pitchFamily="34" charset="0"/>
              </a:rPr>
              <a:t>oriented</a:t>
            </a:r>
            <a:r>
              <a:rPr lang="de-DE" altLang="de-DE" dirty="0">
                <a:latin typeface="Arial" panose="020B0604020202020204" pitchFamily="34" charset="0"/>
              </a:rPr>
              <a:t> Plant Maintenance</a:t>
            </a:r>
          </a:p>
          <a:p>
            <a:endParaRPr lang="de-DE" altLang="de-DE" dirty="0">
              <a:latin typeface="Arial" panose="020B0604020202020204" pitchFamily="34" charset="0"/>
            </a:endParaRPr>
          </a:p>
          <a:p>
            <a:r>
              <a:rPr lang="de-DE" altLang="de-DE" dirty="0" err="1">
                <a:latin typeface="Arial" panose="020B0604020202020204" pitchFamily="34" charset="0"/>
              </a:rPr>
              <a:t>Shift</a:t>
            </a:r>
            <a:r>
              <a:rPr lang="de-DE" altLang="de-DE" dirty="0">
                <a:latin typeface="Arial" panose="020B0604020202020204" pitchFamily="34" charset="0"/>
              </a:rPr>
              <a:t> Reports </a:t>
            </a:r>
            <a:r>
              <a:rPr lang="de-DE" altLang="de-DE" dirty="0" err="1">
                <a:latin typeface="Arial" panose="020B0604020202020204" pitchFamily="34" charset="0"/>
              </a:rPr>
              <a:t>and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Shift</a:t>
            </a:r>
            <a:r>
              <a:rPr lang="de-DE" altLang="de-DE" dirty="0">
                <a:latin typeface="Arial" panose="020B0604020202020204" pitchFamily="34" charset="0"/>
              </a:rPr>
              <a:t> Notes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46319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de-DE" altLang="de-DE" dirty="0">
                <a:latin typeface="Arial" panose="020B0604020202020204" pitchFamily="34" charset="0"/>
              </a:rPr>
              <a:t>EAM </a:t>
            </a:r>
            <a:r>
              <a:rPr lang="de-DE" altLang="de-DE" dirty="0" err="1">
                <a:latin typeface="Arial" panose="020B0604020202020204" pitchFamily="34" charset="0"/>
              </a:rPr>
              <a:t>Organizational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Structure</a:t>
            </a:r>
            <a:endParaRPr lang="de-DE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endParaRPr lang="de-DE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de-DE" altLang="de-DE" dirty="0">
                <a:solidFill>
                  <a:srgbClr val="B2B2B2"/>
                </a:solidFill>
                <a:latin typeface="Arial" panose="020B0604020202020204" pitchFamily="34" charset="0"/>
              </a:rPr>
              <a:t>EAM Master Data</a:t>
            </a:r>
          </a:p>
          <a:p>
            <a:pPr>
              <a:tabLst>
                <a:tab pos="1971675" algn="l"/>
              </a:tabLst>
            </a:pPr>
            <a:endParaRPr lang="de-DE" altLang="de-DE" dirty="0">
              <a:solidFill>
                <a:srgbClr val="B2B2B2"/>
              </a:solidFill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de-DE" altLang="de-DE" dirty="0">
                <a:solidFill>
                  <a:srgbClr val="B2B2B2"/>
                </a:solidFill>
                <a:latin typeface="Arial" panose="020B0604020202020204" pitchFamily="34" charset="0"/>
              </a:rPr>
              <a:t>EAM </a:t>
            </a:r>
            <a:r>
              <a:rPr lang="de-DE" altLang="de-DE" dirty="0" err="1">
                <a:solidFill>
                  <a:srgbClr val="B2B2B2"/>
                </a:solidFill>
                <a:latin typeface="Arial" panose="020B0604020202020204" pitchFamily="34" charset="0"/>
              </a:rPr>
              <a:t>Processes</a:t>
            </a:r>
            <a:endParaRPr lang="de-DE" altLang="de-DE" dirty="0">
              <a:solidFill>
                <a:srgbClr val="B2B2B2"/>
              </a:solidFill>
              <a:latin typeface="Arial" panose="020B0604020202020204" pitchFamily="34" charset="0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5453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>
                <a:latin typeface="Arial" panose="020B0604020202020204" pitchFamily="34" charset="0"/>
              </a:rPr>
              <a:t>GBI </a:t>
            </a:r>
            <a:r>
              <a:rPr lang="en-US" altLang="de-DE" dirty="0">
                <a:latin typeface="Arial" panose="020B0604020202020204" pitchFamily="34" charset="0"/>
              </a:rPr>
              <a:t>Structure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for</a:t>
            </a:r>
            <a:r>
              <a:rPr lang="de-DE" altLang="de-DE" dirty="0">
                <a:latin typeface="Arial" panose="020B0604020202020204" pitchFamily="34" charset="0"/>
              </a:rPr>
              <a:t> Enterprise Asset Management</a:t>
            </a:r>
            <a:endParaRPr lang="de-DE" dirty="0"/>
          </a:p>
        </p:txBody>
      </p:sp>
      <p:grpSp>
        <p:nvGrpSpPr>
          <p:cNvPr id="34" name="Gruppieren 33"/>
          <p:cNvGrpSpPr/>
          <p:nvPr/>
        </p:nvGrpSpPr>
        <p:grpSpPr>
          <a:xfrm>
            <a:off x="2097687" y="1547918"/>
            <a:ext cx="7997825" cy="4678362"/>
            <a:chOff x="539750" y="1557338"/>
            <a:chExt cx="7997825" cy="4678362"/>
          </a:xfrm>
        </p:grpSpPr>
        <p:sp>
          <p:nvSpPr>
            <p:cNvPr id="4" name="Line 8"/>
            <p:cNvSpPr>
              <a:spLocks noChangeShapeType="1"/>
            </p:cNvSpPr>
            <p:nvPr/>
          </p:nvSpPr>
          <p:spPr bwMode="white">
            <a:xfrm>
              <a:off x="914400" y="5302250"/>
              <a:ext cx="0" cy="5032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5" name="Line 8"/>
            <p:cNvSpPr>
              <a:spLocks noChangeShapeType="1"/>
            </p:cNvSpPr>
            <p:nvPr/>
          </p:nvSpPr>
          <p:spPr bwMode="white">
            <a:xfrm>
              <a:off x="2370138" y="3644900"/>
              <a:ext cx="0" cy="863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white">
            <a:xfrm>
              <a:off x="3114675" y="1557338"/>
              <a:ext cx="1312863" cy="3492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Global Bike</a:t>
              </a:r>
            </a:p>
          </p:txBody>
        </p:sp>
        <p:sp>
          <p:nvSpPr>
            <p:cNvPr id="7" name="Line 8"/>
            <p:cNvSpPr>
              <a:spLocks noChangeShapeType="1"/>
            </p:cNvSpPr>
            <p:nvPr/>
          </p:nvSpPr>
          <p:spPr bwMode="white">
            <a:xfrm>
              <a:off x="3776663" y="1916113"/>
              <a:ext cx="0" cy="3603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8" name="Line 10"/>
            <p:cNvSpPr>
              <a:spLocks noChangeShapeType="1"/>
            </p:cNvSpPr>
            <p:nvPr/>
          </p:nvSpPr>
          <p:spPr bwMode="white">
            <a:xfrm>
              <a:off x="1835150" y="2276475"/>
              <a:ext cx="38163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white">
            <a:xfrm>
              <a:off x="1042988" y="2565400"/>
              <a:ext cx="1720850" cy="3492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Global Bike Inc.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white">
            <a:xfrm>
              <a:off x="4140200" y="2565400"/>
              <a:ext cx="2917825" cy="3492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Global Bike Germany GmbH</a:t>
              </a:r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white">
            <a:xfrm>
              <a:off x="1835150" y="2276475"/>
              <a:ext cx="0" cy="288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white">
            <a:xfrm>
              <a:off x="5651500" y="2276475"/>
              <a:ext cx="0" cy="288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3" name="Line 8"/>
            <p:cNvSpPr>
              <a:spLocks noChangeShapeType="1"/>
            </p:cNvSpPr>
            <p:nvPr/>
          </p:nvSpPr>
          <p:spPr bwMode="white">
            <a:xfrm>
              <a:off x="1835150" y="2924175"/>
              <a:ext cx="0" cy="3603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white">
            <a:xfrm>
              <a:off x="920750" y="3284538"/>
              <a:ext cx="25717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5" name="Line 8"/>
            <p:cNvSpPr>
              <a:spLocks noChangeShapeType="1"/>
            </p:cNvSpPr>
            <p:nvPr/>
          </p:nvSpPr>
          <p:spPr bwMode="white">
            <a:xfrm>
              <a:off x="920750" y="3284538"/>
              <a:ext cx="0" cy="288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6" name="Line 8"/>
            <p:cNvSpPr>
              <a:spLocks noChangeShapeType="1"/>
            </p:cNvSpPr>
            <p:nvPr/>
          </p:nvSpPr>
          <p:spPr bwMode="white">
            <a:xfrm>
              <a:off x="2373313" y="3284538"/>
              <a:ext cx="0" cy="288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7" name="Line 8"/>
            <p:cNvSpPr>
              <a:spLocks noChangeShapeType="1"/>
            </p:cNvSpPr>
            <p:nvPr/>
          </p:nvSpPr>
          <p:spPr bwMode="white">
            <a:xfrm>
              <a:off x="5651500" y="2924175"/>
              <a:ext cx="0" cy="3603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8" name="Line 10"/>
            <p:cNvSpPr>
              <a:spLocks noChangeShapeType="1"/>
            </p:cNvSpPr>
            <p:nvPr/>
          </p:nvSpPr>
          <p:spPr bwMode="white">
            <a:xfrm>
              <a:off x="5076825" y="3284538"/>
              <a:ext cx="1295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9" name="Line 8"/>
            <p:cNvSpPr>
              <a:spLocks noChangeShapeType="1"/>
            </p:cNvSpPr>
            <p:nvPr/>
          </p:nvSpPr>
          <p:spPr bwMode="white">
            <a:xfrm>
              <a:off x="5076825" y="3284538"/>
              <a:ext cx="0" cy="288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20" name="Line 8"/>
            <p:cNvSpPr>
              <a:spLocks noChangeShapeType="1"/>
            </p:cNvSpPr>
            <p:nvPr/>
          </p:nvSpPr>
          <p:spPr bwMode="white">
            <a:xfrm>
              <a:off x="6372225" y="3284538"/>
              <a:ext cx="0" cy="288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21" name="Rectangle 5"/>
            <p:cNvSpPr>
              <a:spLocks noChangeArrowheads="1"/>
            </p:cNvSpPr>
            <p:nvPr/>
          </p:nvSpPr>
          <p:spPr bwMode="white">
            <a:xfrm>
              <a:off x="7913688" y="1557338"/>
              <a:ext cx="573087" cy="27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Client</a:t>
              </a:r>
            </a:p>
          </p:txBody>
        </p:sp>
        <p:sp>
          <p:nvSpPr>
            <p:cNvPr id="22" name="Rectangle 5"/>
            <p:cNvSpPr>
              <a:spLocks noChangeArrowheads="1"/>
            </p:cNvSpPr>
            <p:nvPr/>
          </p:nvSpPr>
          <p:spPr bwMode="white">
            <a:xfrm>
              <a:off x="7673975" y="2524125"/>
              <a:ext cx="836613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Company</a:t>
              </a:r>
              <a:b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</a:br>
              <a: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Code</a:t>
              </a:r>
            </a:p>
          </p:txBody>
        </p:sp>
        <p:sp>
          <p:nvSpPr>
            <p:cNvPr id="23" name="Rectangle 5"/>
            <p:cNvSpPr>
              <a:spLocks noChangeArrowheads="1"/>
            </p:cNvSpPr>
            <p:nvPr/>
          </p:nvSpPr>
          <p:spPr bwMode="white">
            <a:xfrm>
              <a:off x="7964488" y="3605213"/>
              <a:ext cx="531812" cy="27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Plant</a:t>
              </a:r>
            </a:p>
          </p:txBody>
        </p:sp>
        <p:sp>
          <p:nvSpPr>
            <p:cNvPr id="24" name="Rectangle 5"/>
            <p:cNvSpPr>
              <a:spLocks noChangeArrowheads="1"/>
            </p:cNvSpPr>
            <p:nvPr/>
          </p:nvSpPr>
          <p:spPr bwMode="white">
            <a:xfrm>
              <a:off x="7485063" y="5772150"/>
              <a:ext cx="1008062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Storage</a:t>
              </a:r>
              <a:b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</a:br>
              <a: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Location</a:t>
              </a:r>
            </a:p>
          </p:txBody>
        </p:sp>
        <p:sp>
          <p:nvSpPr>
            <p:cNvPr id="25" name="Line 8"/>
            <p:cNvSpPr>
              <a:spLocks noChangeShapeType="1"/>
            </p:cNvSpPr>
            <p:nvPr/>
          </p:nvSpPr>
          <p:spPr bwMode="white">
            <a:xfrm>
              <a:off x="3492500" y="3284538"/>
              <a:ext cx="0" cy="288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26" name="Rectangle 5"/>
            <p:cNvSpPr>
              <a:spLocks noChangeArrowheads="1"/>
            </p:cNvSpPr>
            <p:nvPr/>
          </p:nvSpPr>
          <p:spPr bwMode="white">
            <a:xfrm>
              <a:off x="7121525" y="4967288"/>
              <a:ext cx="1416050" cy="647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Responsible </a:t>
              </a:r>
              <a:b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</a:br>
              <a: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Maintenance </a:t>
              </a:r>
              <a:b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</a:br>
              <a: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Planning Plant</a:t>
              </a:r>
            </a:p>
          </p:txBody>
        </p:sp>
        <p:sp>
          <p:nvSpPr>
            <p:cNvPr id="27" name="Rectangle 5"/>
            <p:cNvSpPr>
              <a:spLocks noChangeArrowheads="1"/>
            </p:cNvSpPr>
            <p:nvPr/>
          </p:nvSpPr>
          <p:spPr bwMode="white">
            <a:xfrm>
              <a:off x="7473950" y="4365625"/>
              <a:ext cx="1058863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Maintenance</a:t>
              </a:r>
              <a:b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</a:br>
              <a:r>
                <a:rPr lang="de-DE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Plant</a:t>
              </a:r>
            </a:p>
          </p:txBody>
        </p:sp>
        <p:sp>
          <p:nvSpPr>
            <p:cNvPr id="28" name="Rectangle 5"/>
            <p:cNvSpPr>
              <a:spLocks noChangeArrowheads="1"/>
            </p:cNvSpPr>
            <p:nvPr/>
          </p:nvSpPr>
          <p:spPr bwMode="white">
            <a:xfrm>
              <a:off x="674688" y="5805488"/>
              <a:ext cx="482600" cy="255587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marL="244475" indent="-244475" algn="ctr">
                <a:spcBef>
                  <a:spcPct val="0"/>
                </a:spcBef>
                <a:buClr>
                  <a:schemeClr val="accent1"/>
                </a:buClr>
                <a:buSzPct val="80000"/>
                <a:defRPr/>
              </a:pPr>
              <a:r>
                <a:rPr lang="de-DE" sz="1050" dirty="0" err="1">
                  <a:solidFill>
                    <a:schemeClr val="bg1"/>
                  </a:solidFill>
                  <a:latin typeface="Arial" charset="0"/>
                  <a:ea typeface="Arial Unicode MS" pitchFamily="34" charset="-128"/>
                  <a:cs typeface="Arial Unicode MS" pitchFamily="34" charset="-128"/>
                </a:rPr>
                <a:t>Misc</a:t>
              </a:r>
              <a:endParaRPr lang="de-DE" sz="1050" dirty="0"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9" name="Rectangle 5"/>
            <p:cNvSpPr>
              <a:spLocks noChangeArrowheads="1"/>
            </p:cNvSpPr>
            <p:nvPr/>
          </p:nvSpPr>
          <p:spPr bwMode="white">
            <a:xfrm>
              <a:off x="539750" y="3573463"/>
              <a:ext cx="792163" cy="2016125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Dallas</a:t>
              </a:r>
            </a:p>
          </p:txBody>
        </p:sp>
        <p:sp>
          <p:nvSpPr>
            <p:cNvPr id="30" name="Rectangle 5"/>
            <p:cNvSpPr>
              <a:spLocks noChangeArrowheads="1"/>
            </p:cNvSpPr>
            <p:nvPr/>
          </p:nvSpPr>
          <p:spPr bwMode="white">
            <a:xfrm>
              <a:off x="1835150" y="3573463"/>
              <a:ext cx="1185863" cy="11874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San Diego</a:t>
              </a:r>
            </a:p>
          </p:txBody>
        </p:sp>
        <p:sp>
          <p:nvSpPr>
            <p:cNvPr id="31" name="Rectangle 5"/>
            <p:cNvSpPr>
              <a:spLocks noChangeArrowheads="1"/>
            </p:cNvSpPr>
            <p:nvPr/>
          </p:nvSpPr>
          <p:spPr bwMode="white">
            <a:xfrm>
              <a:off x="3132138" y="3573463"/>
              <a:ext cx="771525" cy="11874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Miami</a:t>
              </a:r>
            </a:p>
          </p:txBody>
        </p:sp>
        <p:sp>
          <p:nvSpPr>
            <p:cNvPr id="32" name="Rectangle 5"/>
            <p:cNvSpPr>
              <a:spLocks noChangeArrowheads="1"/>
            </p:cNvSpPr>
            <p:nvPr/>
          </p:nvSpPr>
          <p:spPr bwMode="white">
            <a:xfrm>
              <a:off x="5867400" y="3573463"/>
              <a:ext cx="1084263" cy="11874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Hamburg</a:t>
              </a:r>
            </a:p>
          </p:txBody>
        </p:sp>
        <p:sp>
          <p:nvSpPr>
            <p:cNvPr id="33" name="Rectangle 5"/>
            <p:cNvSpPr>
              <a:spLocks noChangeArrowheads="1"/>
            </p:cNvSpPr>
            <p:nvPr/>
          </p:nvSpPr>
          <p:spPr bwMode="white">
            <a:xfrm>
              <a:off x="4481513" y="3573463"/>
              <a:ext cx="1243012" cy="11874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Heidelberg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6349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de-DE" altLang="de-DE" dirty="0">
                <a:latin typeface="Arial" panose="020B0604020202020204" pitchFamily="34" charset="0"/>
              </a:rPr>
              <a:t>Client</a:t>
            </a:r>
          </a:p>
          <a:p>
            <a:pPr lvl="1">
              <a:tabLst>
                <a:tab pos="1971675" algn="l"/>
              </a:tabLst>
            </a:pPr>
            <a:r>
              <a:rPr lang="de-DE" altLang="de-DE" dirty="0">
                <a:latin typeface="Arial" panose="020B0604020202020204" pitchFamily="34" charset="0"/>
              </a:rPr>
              <a:t>An </a:t>
            </a:r>
            <a:r>
              <a:rPr lang="de-DE" altLang="de-DE" dirty="0" err="1">
                <a:latin typeface="Arial" panose="020B0604020202020204" pitchFamily="34" charset="0"/>
              </a:rPr>
              <a:t>independent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environment</a:t>
            </a:r>
            <a:r>
              <a:rPr lang="de-DE" altLang="de-DE" dirty="0">
                <a:latin typeface="Arial" panose="020B0604020202020204" pitchFamily="34" charset="0"/>
              </a:rPr>
              <a:t> in </a:t>
            </a:r>
            <a:r>
              <a:rPr lang="de-DE" altLang="de-DE" dirty="0" err="1">
                <a:latin typeface="Arial" panose="020B0604020202020204" pitchFamily="34" charset="0"/>
              </a:rPr>
              <a:t>the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system</a:t>
            </a:r>
            <a:endParaRPr lang="de-DE" altLang="de-DE" dirty="0">
              <a:latin typeface="Arial" panose="020B0604020202020204" pitchFamily="34" charset="0"/>
            </a:endParaRPr>
          </a:p>
          <a:p>
            <a:pPr lvl="1">
              <a:tabLst>
                <a:tab pos="1971675" algn="l"/>
              </a:tabLst>
            </a:pPr>
            <a:endParaRPr lang="de-DE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de-DE" altLang="de-DE" dirty="0">
                <a:latin typeface="Arial" panose="020B0604020202020204" pitchFamily="34" charset="0"/>
              </a:rPr>
              <a:t>Company Code</a:t>
            </a:r>
          </a:p>
          <a:p>
            <a:pPr lvl="1">
              <a:tabLst>
                <a:tab pos="1971675" algn="l"/>
              </a:tabLst>
            </a:pPr>
            <a:r>
              <a:rPr lang="de-DE" altLang="de-DE" dirty="0" err="1">
                <a:latin typeface="Arial" panose="020B0604020202020204" pitchFamily="34" charset="0"/>
              </a:rPr>
              <a:t>Smallest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org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unit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for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which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you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can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maintain</a:t>
            </a:r>
            <a:r>
              <a:rPr lang="de-DE" altLang="de-DE" dirty="0">
                <a:latin typeface="Arial" panose="020B0604020202020204" pitchFamily="34" charset="0"/>
              </a:rPr>
              <a:t> a legal </a:t>
            </a:r>
            <a:r>
              <a:rPr lang="de-DE" altLang="de-DE" dirty="0" err="1">
                <a:latin typeface="Arial" panose="020B0604020202020204" pitchFamily="34" charset="0"/>
              </a:rPr>
              <a:t>set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of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books</a:t>
            </a:r>
            <a:endParaRPr lang="de-DE" altLang="de-DE" dirty="0">
              <a:latin typeface="Arial" panose="020B0604020202020204" pitchFamily="34" charset="0"/>
            </a:endParaRPr>
          </a:p>
          <a:p>
            <a:pPr lvl="1">
              <a:tabLst>
                <a:tab pos="1971675" algn="l"/>
              </a:tabLst>
            </a:pPr>
            <a:endParaRPr lang="de-DE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de-DE" altLang="de-DE" dirty="0">
                <a:latin typeface="Arial" panose="020B0604020202020204" pitchFamily="34" charset="0"/>
              </a:rPr>
              <a:t>Plant</a:t>
            </a:r>
          </a:p>
          <a:p>
            <a:pPr lvl="1">
              <a:tabLst>
                <a:tab pos="1971675" algn="l"/>
              </a:tabLst>
            </a:pPr>
            <a:r>
              <a:rPr lang="de-DE" altLang="de-DE" dirty="0">
                <a:latin typeface="Arial" panose="020B0604020202020204" pitchFamily="34" charset="0"/>
              </a:rPr>
              <a:t>Operating </a:t>
            </a:r>
            <a:r>
              <a:rPr lang="de-DE" altLang="de-DE" dirty="0" err="1">
                <a:latin typeface="Arial" panose="020B0604020202020204" pitchFamily="34" charset="0"/>
              </a:rPr>
              <a:t>area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or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branch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within</a:t>
            </a:r>
            <a:r>
              <a:rPr lang="de-DE" altLang="de-DE" dirty="0">
                <a:latin typeface="Arial" panose="020B0604020202020204" pitchFamily="34" charset="0"/>
              </a:rPr>
              <a:t> a </a:t>
            </a:r>
            <a:r>
              <a:rPr lang="de-DE" altLang="de-DE" dirty="0" err="1">
                <a:latin typeface="Arial" panose="020B0604020202020204" pitchFamily="34" charset="0"/>
              </a:rPr>
              <a:t>company</a:t>
            </a:r>
            <a:endParaRPr lang="de-DE" altLang="de-DE" dirty="0">
              <a:latin typeface="Arial" panose="020B0604020202020204" pitchFamily="34" charset="0"/>
            </a:endParaRPr>
          </a:p>
          <a:p>
            <a:pPr lvl="2">
              <a:tabLst>
                <a:tab pos="1971675" algn="l"/>
              </a:tabLst>
            </a:pPr>
            <a:r>
              <a:rPr lang="de-DE" altLang="de-DE" dirty="0">
                <a:latin typeface="Arial" panose="020B0604020202020204" pitchFamily="34" charset="0"/>
              </a:rPr>
              <a:t>Manufacturing, </a:t>
            </a:r>
            <a:r>
              <a:rPr lang="de-DE" altLang="de-DE" dirty="0" err="1">
                <a:latin typeface="Arial" panose="020B0604020202020204" pitchFamily="34" charset="0"/>
              </a:rPr>
              <a:t>distribution</a:t>
            </a:r>
            <a:r>
              <a:rPr lang="de-DE" altLang="de-DE" dirty="0">
                <a:latin typeface="Arial" panose="020B0604020202020204" pitchFamily="34" charset="0"/>
              </a:rPr>
              <a:t>, </a:t>
            </a:r>
            <a:r>
              <a:rPr lang="de-DE" altLang="de-DE" dirty="0" err="1">
                <a:latin typeface="Arial" panose="020B0604020202020204" pitchFamily="34" charset="0"/>
              </a:rPr>
              <a:t>purchasing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or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maintenance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facility</a:t>
            </a:r>
            <a:endParaRPr lang="de-DE" altLang="de-DE" dirty="0">
              <a:latin typeface="Arial" panose="020B0604020202020204" pitchFamily="34" charset="0"/>
            </a:endParaRPr>
          </a:p>
          <a:p>
            <a:pPr lvl="2">
              <a:tabLst>
                <a:tab pos="1971675" algn="l"/>
              </a:tabLst>
            </a:pPr>
            <a:endParaRPr lang="de-DE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de-DE" altLang="de-DE" dirty="0">
                <a:latin typeface="Arial" panose="020B0604020202020204" pitchFamily="34" charset="0"/>
              </a:rPr>
              <a:t>Storage Location</a:t>
            </a:r>
          </a:p>
          <a:p>
            <a:pPr lvl="1">
              <a:tabLst>
                <a:tab pos="1971675" algn="l"/>
              </a:tabLst>
            </a:pPr>
            <a:r>
              <a:rPr lang="de-DE" altLang="de-DE" dirty="0">
                <a:latin typeface="Arial" panose="020B0604020202020204" pitchFamily="34" charset="0"/>
              </a:rPr>
              <a:t>An </a:t>
            </a:r>
            <a:r>
              <a:rPr lang="de-DE" altLang="de-DE" dirty="0" err="1">
                <a:latin typeface="Arial" panose="020B0604020202020204" pitchFamily="34" charset="0"/>
              </a:rPr>
              <a:t>organizational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unit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allowing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differentiation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between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the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various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stocks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of</a:t>
            </a:r>
            <a:r>
              <a:rPr lang="de-DE" altLang="de-DE" dirty="0">
                <a:latin typeface="Arial" panose="020B0604020202020204" pitchFamily="34" charset="0"/>
              </a:rPr>
              <a:t> material in a plant</a:t>
            </a:r>
          </a:p>
          <a:p>
            <a:pPr lvl="1">
              <a:tabLst>
                <a:tab pos="1971675" algn="l"/>
              </a:tabLst>
            </a:pPr>
            <a:r>
              <a:rPr lang="de-DE" altLang="de-DE" dirty="0" err="1">
                <a:latin typeface="Arial" panose="020B0604020202020204" pitchFamily="34" charset="0"/>
              </a:rPr>
              <a:t>Is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required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to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store</a:t>
            </a:r>
            <a:r>
              <a:rPr lang="de-DE" altLang="de-DE" dirty="0">
                <a:latin typeface="Arial" panose="020B0604020202020204" pitchFamily="34" charset="0"/>
              </a:rPr>
              <a:t> spare </a:t>
            </a:r>
            <a:r>
              <a:rPr lang="de-DE" altLang="de-DE" dirty="0" err="1">
                <a:latin typeface="Arial" panose="020B0604020202020204" pitchFamily="34" charset="0"/>
              </a:rPr>
              <a:t>parts</a:t>
            </a:r>
            <a:endParaRPr lang="de-DE" altLang="de-DE" dirty="0">
              <a:latin typeface="Arial" panose="020B0604020202020204" pitchFamily="34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>
                <a:latin typeface="Arial" panose="020B0604020202020204" pitchFamily="34" charset="0"/>
              </a:rPr>
              <a:t>EAM </a:t>
            </a:r>
            <a:r>
              <a:rPr lang="de-DE" altLang="de-DE" dirty="0" err="1">
                <a:latin typeface="Arial" panose="020B0604020202020204" pitchFamily="34" charset="0"/>
              </a:rPr>
              <a:t>Organizational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Structure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41958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Maintenance Plant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Plant in which the technical objects of a company are installed</a:t>
            </a:r>
          </a:p>
          <a:p>
            <a:pPr lvl="1"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Maintenance Plant oriented organizational units: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Location (e.g. building number, coordinates)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Plant Section (responsibility for working assets)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Work Center (process measures of plant maintenance)</a:t>
            </a:r>
          </a:p>
          <a:p>
            <a:pPr lvl="1"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Maintenance Planning Plant 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Plant in which maintenance tasks are planned and prepared</a:t>
            </a:r>
          </a:p>
          <a:p>
            <a:pPr lvl="1">
              <a:tabLst>
                <a:tab pos="1971675" algn="l"/>
              </a:tabLst>
            </a:pPr>
            <a:endParaRPr lang="en-US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Planning Plant oriented organizational units :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Maintenance Planner Group (responsible for planning and processing maintenance tasks)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>
                <a:latin typeface="Arial" panose="020B0604020202020204" pitchFamily="34" charset="0"/>
              </a:rPr>
              <a:t>Work Center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>
                <a:latin typeface="Arial" panose="020B0604020202020204" pitchFamily="34" charset="0"/>
              </a:rPr>
              <a:t>EAM </a:t>
            </a:r>
            <a:r>
              <a:rPr lang="de-DE" altLang="de-DE" dirty="0" err="1">
                <a:latin typeface="Arial" panose="020B0604020202020204" pitchFamily="34" charset="0"/>
              </a:rPr>
              <a:t>Organizational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Structure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20733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GBI Enterprise Structure in SAP ERP (EAM)</a:t>
            </a:r>
            <a:endParaRPr lang="de-DE" dirty="0"/>
          </a:p>
        </p:txBody>
      </p:sp>
      <p:grpSp>
        <p:nvGrpSpPr>
          <p:cNvPr id="4" name="Gruppieren 76"/>
          <p:cNvGrpSpPr>
            <a:grpSpLocks/>
          </p:cNvGrpSpPr>
          <p:nvPr/>
        </p:nvGrpSpPr>
        <p:grpSpPr bwMode="auto">
          <a:xfrm>
            <a:off x="1638900" y="1397106"/>
            <a:ext cx="8915400" cy="4979988"/>
            <a:chOff x="76200" y="1219200"/>
            <a:chExt cx="8915400" cy="4979410"/>
          </a:xfrm>
        </p:grpSpPr>
        <p:sp>
          <p:nvSpPr>
            <p:cNvPr id="5" name="AutoShape 16"/>
            <p:cNvSpPr>
              <a:spLocks noChangeArrowheads="1"/>
            </p:cNvSpPr>
            <p:nvPr/>
          </p:nvSpPr>
          <p:spPr bwMode="auto">
            <a:xfrm>
              <a:off x="76200" y="1219200"/>
              <a:ext cx="8915400" cy="4953000"/>
            </a:xfrm>
            <a:prstGeom prst="parallelogram">
              <a:avLst>
                <a:gd name="adj" fmla="val 45000"/>
              </a:avLst>
            </a:prstGeom>
            <a:gradFill rotWithShape="0">
              <a:gsLst>
                <a:gs pos="0">
                  <a:srgbClr val="0050A8"/>
                </a:gs>
                <a:gs pos="100000">
                  <a:srgbClr val="B5C1E9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B5C1E9"/>
              </a:extrusionClr>
              <a:contourClr>
                <a:srgbClr val="0050A8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6" name="Text Box 17"/>
            <p:cNvSpPr txBox="1">
              <a:spLocks noChangeArrowheads="1"/>
            </p:cNvSpPr>
            <p:nvPr/>
          </p:nvSpPr>
          <p:spPr bwMode="auto">
            <a:xfrm>
              <a:off x="179388" y="5857875"/>
              <a:ext cx="1871663" cy="340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600"/>
                <a:t>Client GBI</a:t>
              </a:r>
            </a:p>
          </p:txBody>
        </p:sp>
        <p:sp>
          <p:nvSpPr>
            <p:cNvPr id="7" name="AutoShape 19"/>
            <p:cNvSpPr>
              <a:spLocks noChangeArrowheads="1"/>
            </p:cNvSpPr>
            <p:nvPr/>
          </p:nvSpPr>
          <p:spPr bwMode="auto">
            <a:xfrm>
              <a:off x="304800" y="1268413"/>
              <a:ext cx="4267200" cy="4572000"/>
            </a:xfrm>
            <a:prstGeom prst="parallelogram">
              <a:avLst>
                <a:gd name="adj" fmla="val 47731"/>
              </a:avLst>
            </a:prstGeom>
            <a:gradFill rotWithShape="1">
              <a:gsLst>
                <a:gs pos="0">
                  <a:srgbClr val="99FF66">
                    <a:alpha val="89998"/>
                  </a:srgbClr>
                </a:gs>
                <a:gs pos="100000">
                  <a:srgbClr val="47762F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9FF66"/>
              </a:extrusionClr>
              <a:contourClr>
                <a:srgbClr val="99FF6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>
                <a:solidFill>
                  <a:srgbClr val="F8F8F8"/>
                </a:solidFill>
              </a:endParaRPr>
            </a:p>
          </p:txBody>
        </p:sp>
        <p:sp>
          <p:nvSpPr>
            <p:cNvPr id="8" name="Text Box 20"/>
            <p:cNvSpPr txBox="1">
              <a:spLocks noChangeArrowheads="1"/>
            </p:cNvSpPr>
            <p:nvPr/>
          </p:nvSpPr>
          <p:spPr bwMode="auto">
            <a:xfrm>
              <a:off x="293688" y="5557838"/>
              <a:ext cx="1254125" cy="293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600">
                  <a:cs typeface="Times New Roman" panose="02020603050405020304" pitchFamily="18" charset="0"/>
                </a:rPr>
                <a:t> CC US00</a:t>
              </a:r>
            </a:p>
          </p:txBody>
        </p:sp>
        <p:sp>
          <p:nvSpPr>
            <p:cNvPr id="9" name="AutoShape 21"/>
            <p:cNvSpPr>
              <a:spLocks noChangeArrowheads="1"/>
            </p:cNvSpPr>
            <p:nvPr/>
          </p:nvSpPr>
          <p:spPr bwMode="auto">
            <a:xfrm>
              <a:off x="523875" y="1341438"/>
              <a:ext cx="2454275" cy="4206875"/>
            </a:xfrm>
            <a:prstGeom prst="parallelogram">
              <a:avLst>
                <a:gd name="adj" fmla="val 75681"/>
              </a:avLst>
            </a:prstGeom>
            <a:solidFill>
              <a:srgbClr val="FFFF66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10" name="AutoShape 22"/>
            <p:cNvSpPr>
              <a:spLocks noChangeArrowheads="1"/>
            </p:cNvSpPr>
            <p:nvPr/>
          </p:nvSpPr>
          <p:spPr bwMode="auto">
            <a:xfrm>
              <a:off x="2700338" y="1268413"/>
              <a:ext cx="2808288" cy="4572000"/>
            </a:xfrm>
            <a:prstGeom prst="parallelogram">
              <a:avLst>
                <a:gd name="adj" fmla="val 71847"/>
              </a:avLst>
            </a:prstGeom>
            <a:gradFill rotWithShape="1">
              <a:gsLst>
                <a:gs pos="0">
                  <a:srgbClr val="969696">
                    <a:alpha val="89998"/>
                  </a:srgbClr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>
                <a:solidFill>
                  <a:srgbClr val="F8F8F8"/>
                </a:solidFill>
              </a:endParaRPr>
            </a:p>
          </p:txBody>
        </p:sp>
        <p:sp>
          <p:nvSpPr>
            <p:cNvPr id="11" name="AutoShape 23"/>
            <p:cNvSpPr>
              <a:spLocks noChangeArrowheads="1"/>
            </p:cNvSpPr>
            <p:nvPr/>
          </p:nvSpPr>
          <p:spPr bwMode="auto">
            <a:xfrm>
              <a:off x="3995738" y="1296988"/>
              <a:ext cx="3600450" cy="4572000"/>
            </a:xfrm>
            <a:prstGeom prst="parallelogram">
              <a:avLst>
                <a:gd name="adj" fmla="val 57056"/>
              </a:avLst>
            </a:prstGeom>
            <a:gradFill rotWithShape="1">
              <a:gsLst>
                <a:gs pos="0">
                  <a:srgbClr val="99FF66">
                    <a:alpha val="89998"/>
                  </a:srgbClr>
                </a:gs>
                <a:gs pos="100000">
                  <a:srgbClr val="47762F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9FF66"/>
              </a:extrusionClr>
              <a:contourClr>
                <a:srgbClr val="99FF6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>
                <a:solidFill>
                  <a:srgbClr val="F8F8F8"/>
                </a:solidFill>
              </a:endParaRPr>
            </a:p>
          </p:txBody>
        </p:sp>
        <p:sp>
          <p:nvSpPr>
            <p:cNvPr id="12" name="AutoShape 24"/>
            <p:cNvSpPr>
              <a:spLocks noChangeArrowheads="1"/>
            </p:cNvSpPr>
            <p:nvPr/>
          </p:nvSpPr>
          <p:spPr bwMode="auto">
            <a:xfrm>
              <a:off x="4233863" y="1341438"/>
              <a:ext cx="2454275" cy="4206875"/>
            </a:xfrm>
            <a:prstGeom prst="parallelogram">
              <a:avLst>
                <a:gd name="adj" fmla="val 75292"/>
              </a:avLst>
            </a:prstGeom>
            <a:solidFill>
              <a:srgbClr val="FFFF66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13" name="AutoShape 25"/>
            <p:cNvSpPr>
              <a:spLocks noChangeArrowheads="1"/>
            </p:cNvSpPr>
            <p:nvPr/>
          </p:nvSpPr>
          <p:spPr bwMode="auto">
            <a:xfrm>
              <a:off x="4945063" y="1341438"/>
              <a:ext cx="2454275" cy="4206875"/>
            </a:xfrm>
            <a:prstGeom prst="parallelogram">
              <a:avLst>
                <a:gd name="adj" fmla="val 75292"/>
              </a:avLst>
            </a:prstGeom>
            <a:solidFill>
              <a:srgbClr val="FFFF66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14" name="AutoShape 26"/>
            <p:cNvSpPr>
              <a:spLocks noChangeArrowheads="1"/>
            </p:cNvSpPr>
            <p:nvPr/>
          </p:nvSpPr>
          <p:spPr bwMode="auto">
            <a:xfrm>
              <a:off x="1258888" y="1341438"/>
              <a:ext cx="2454275" cy="4206875"/>
            </a:xfrm>
            <a:prstGeom prst="parallelogram">
              <a:avLst>
                <a:gd name="adj" fmla="val 75681"/>
              </a:avLst>
            </a:prstGeom>
            <a:solidFill>
              <a:srgbClr val="FFFF66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15" name="AutoShape 27"/>
            <p:cNvSpPr>
              <a:spLocks noChangeArrowheads="1"/>
            </p:cNvSpPr>
            <p:nvPr/>
          </p:nvSpPr>
          <p:spPr bwMode="auto">
            <a:xfrm>
              <a:off x="1979613" y="1341438"/>
              <a:ext cx="2454275" cy="4206875"/>
            </a:xfrm>
            <a:prstGeom prst="parallelogram">
              <a:avLst>
                <a:gd name="adj" fmla="val 75681"/>
              </a:avLst>
            </a:prstGeom>
            <a:solidFill>
              <a:srgbClr val="FFFF66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16" name="Text Box 28"/>
            <p:cNvSpPr txBox="1">
              <a:spLocks noChangeArrowheads="1"/>
            </p:cNvSpPr>
            <p:nvPr/>
          </p:nvSpPr>
          <p:spPr bwMode="auto">
            <a:xfrm>
              <a:off x="538163" y="5084763"/>
              <a:ext cx="865188" cy="447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000">
                  <a:cs typeface="Times New Roman" panose="02020603050405020304" pitchFamily="18" charset="0"/>
                </a:rPr>
                <a:t>   </a:t>
              </a:r>
              <a:r>
                <a:rPr lang="en-US" altLang="de-DE">
                  <a:cs typeface="Times New Roman" panose="02020603050405020304" pitchFamily="18" charset="0"/>
                </a:rPr>
                <a:t>Dallas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 b="0">
                  <a:cs typeface="Times New Roman" panose="02020603050405020304" pitchFamily="18" charset="0"/>
                </a:rPr>
                <a:t> DL00</a:t>
              </a:r>
            </a:p>
          </p:txBody>
        </p:sp>
        <p:sp>
          <p:nvSpPr>
            <p:cNvPr id="17" name="Text Box 29"/>
            <p:cNvSpPr txBox="1">
              <a:spLocks noChangeArrowheads="1"/>
            </p:cNvSpPr>
            <p:nvPr/>
          </p:nvSpPr>
          <p:spPr bwMode="auto">
            <a:xfrm>
              <a:off x="1258888" y="5084763"/>
              <a:ext cx="865188" cy="447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000">
                  <a:cs typeface="Times New Roman" panose="02020603050405020304" pitchFamily="18" charset="0"/>
                </a:rPr>
                <a:t>   </a:t>
              </a:r>
              <a:r>
                <a:rPr lang="en-US" altLang="de-DE">
                  <a:cs typeface="Times New Roman" panose="02020603050405020304" pitchFamily="18" charset="0"/>
                </a:rPr>
                <a:t>Miami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 b="0">
                  <a:cs typeface="Times New Roman" panose="02020603050405020304" pitchFamily="18" charset="0"/>
                </a:rPr>
                <a:t> MI00</a:t>
              </a:r>
            </a:p>
          </p:txBody>
        </p:sp>
        <p:sp>
          <p:nvSpPr>
            <p:cNvPr id="18" name="Text Box 30"/>
            <p:cNvSpPr txBox="1">
              <a:spLocks noChangeArrowheads="1"/>
            </p:cNvSpPr>
            <p:nvPr/>
          </p:nvSpPr>
          <p:spPr bwMode="auto">
            <a:xfrm>
              <a:off x="1978025" y="5084763"/>
              <a:ext cx="865188" cy="447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000">
                  <a:cs typeface="Times New Roman" panose="02020603050405020304" pitchFamily="18" charset="0"/>
                </a:rPr>
                <a:t> </a:t>
              </a:r>
              <a:r>
                <a:rPr lang="en-US" altLang="de-DE">
                  <a:cs typeface="Times New Roman" panose="02020603050405020304" pitchFamily="18" charset="0"/>
                </a:rPr>
                <a:t>S. Diego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 b="0">
                  <a:cs typeface="Times New Roman" panose="02020603050405020304" pitchFamily="18" charset="0"/>
                </a:rPr>
                <a:t>SD00</a:t>
              </a:r>
            </a:p>
          </p:txBody>
        </p:sp>
        <p:sp>
          <p:nvSpPr>
            <p:cNvPr id="19" name="Text Box 31"/>
            <p:cNvSpPr txBox="1">
              <a:spLocks noChangeArrowheads="1"/>
            </p:cNvSpPr>
            <p:nvPr/>
          </p:nvSpPr>
          <p:spPr bwMode="auto">
            <a:xfrm>
              <a:off x="2670175" y="5557838"/>
              <a:ext cx="1254125" cy="293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600">
                  <a:solidFill>
                    <a:srgbClr val="EAEAEA"/>
                  </a:solidFill>
                  <a:cs typeface="Times New Roman" panose="02020603050405020304" pitchFamily="18" charset="0"/>
                </a:rPr>
                <a:t> CA00</a:t>
              </a:r>
            </a:p>
          </p:txBody>
        </p:sp>
        <p:sp>
          <p:nvSpPr>
            <p:cNvPr id="20" name="AutoShape 32"/>
            <p:cNvSpPr>
              <a:spLocks noChangeArrowheads="1"/>
            </p:cNvSpPr>
            <p:nvPr/>
          </p:nvSpPr>
          <p:spPr bwMode="auto">
            <a:xfrm>
              <a:off x="2916238" y="1341438"/>
              <a:ext cx="2454275" cy="4206875"/>
            </a:xfrm>
            <a:prstGeom prst="parallelogram">
              <a:avLst>
                <a:gd name="adj" fmla="val 75292"/>
              </a:avLst>
            </a:prstGeom>
            <a:gradFill rotWithShape="1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21" name="Text Box 33"/>
            <p:cNvSpPr txBox="1">
              <a:spLocks noChangeArrowheads="1"/>
            </p:cNvSpPr>
            <p:nvPr/>
          </p:nvSpPr>
          <p:spPr bwMode="auto">
            <a:xfrm>
              <a:off x="2930525" y="5084763"/>
              <a:ext cx="865188" cy="447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000">
                  <a:solidFill>
                    <a:srgbClr val="EAEAEA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de-DE">
                  <a:solidFill>
                    <a:srgbClr val="EAEAEA"/>
                  </a:solidFill>
                  <a:cs typeface="Times New Roman" panose="02020603050405020304" pitchFamily="18" charset="0"/>
                </a:rPr>
                <a:t>Toronto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 b="0">
                  <a:solidFill>
                    <a:srgbClr val="EAEAEA"/>
                  </a:solidFill>
                  <a:cs typeface="Times New Roman" panose="02020603050405020304" pitchFamily="18" charset="0"/>
                </a:rPr>
                <a:t>TO00</a:t>
              </a:r>
            </a:p>
          </p:txBody>
        </p:sp>
        <p:sp>
          <p:nvSpPr>
            <p:cNvPr id="22" name="Text Box 36"/>
            <p:cNvSpPr txBox="1">
              <a:spLocks noChangeArrowheads="1"/>
            </p:cNvSpPr>
            <p:nvPr/>
          </p:nvSpPr>
          <p:spPr bwMode="auto">
            <a:xfrm>
              <a:off x="539750" y="2066925"/>
              <a:ext cx="824562" cy="463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Storage</a:t>
              </a:r>
              <a:br>
                <a:rPr lang="en-US" altLang="de-DE"/>
              </a:br>
              <a:r>
                <a:rPr lang="en-US" altLang="de-DE"/>
                <a:t>Location</a:t>
              </a:r>
            </a:p>
          </p:txBody>
        </p:sp>
        <p:sp>
          <p:nvSpPr>
            <p:cNvPr id="23" name="AutoShape 42"/>
            <p:cNvSpPr>
              <a:spLocks noChangeArrowheads="1"/>
            </p:cNvSpPr>
            <p:nvPr/>
          </p:nvSpPr>
          <p:spPr bwMode="auto">
            <a:xfrm>
              <a:off x="6042025" y="1271588"/>
              <a:ext cx="2808288" cy="4572000"/>
            </a:xfrm>
            <a:prstGeom prst="parallelogram">
              <a:avLst>
                <a:gd name="adj" fmla="val 71847"/>
              </a:avLst>
            </a:prstGeom>
            <a:gradFill rotWithShape="1">
              <a:gsLst>
                <a:gs pos="0">
                  <a:srgbClr val="969696">
                    <a:alpha val="89998"/>
                  </a:srgbClr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>
                <a:solidFill>
                  <a:srgbClr val="F8F8F8"/>
                </a:solidFill>
              </a:endParaRPr>
            </a:p>
          </p:txBody>
        </p:sp>
        <p:sp>
          <p:nvSpPr>
            <p:cNvPr id="24" name="Text Box 43"/>
            <p:cNvSpPr txBox="1">
              <a:spLocks noChangeArrowheads="1"/>
            </p:cNvSpPr>
            <p:nvPr/>
          </p:nvSpPr>
          <p:spPr bwMode="auto">
            <a:xfrm>
              <a:off x="6011863" y="5589588"/>
              <a:ext cx="1254125" cy="293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600">
                  <a:solidFill>
                    <a:srgbClr val="EAEAEA"/>
                  </a:solidFill>
                  <a:cs typeface="Times New Roman" panose="02020603050405020304" pitchFamily="18" charset="0"/>
                </a:rPr>
                <a:t> AU00</a:t>
              </a:r>
            </a:p>
          </p:txBody>
        </p:sp>
        <p:sp>
          <p:nvSpPr>
            <p:cNvPr id="25" name="AutoShape 44"/>
            <p:cNvSpPr>
              <a:spLocks noChangeArrowheads="1"/>
            </p:cNvSpPr>
            <p:nvPr/>
          </p:nvSpPr>
          <p:spPr bwMode="auto">
            <a:xfrm>
              <a:off x="6257925" y="1344613"/>
              <a:ext cx="2454275" cy="4206875"/>
            </a:xfrm>
            <a:prstGeom prst="parallelogram">
              <a:avLst>
                <a:gd name="adj" fmla="val 75292"/>
              </a:avLst>
            </a:prstGeom>
            <a:gradFill rotWithShape="1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26" name="Text Box 45"/>
            <p:cNvSpPr txBox="1">
              <a:spLocks noChangeArrowheads="1"/>
            </p:cNvSpPr>
            <p:nvPr/>
          </p:nvSpPr>
          <p:spPr bwMode="auto">
            <a:xfrm>
              <a:off x="6272213" y="5087938"/>
              <a:ext cx="865188" cy="447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000">
                  <a:solidFill>
                    <a:srgbClr val="EAEAEA"/>
                  </a:solidFill>
                  <a:cs typeface="Times New Roman" panose="02020603050405020304" pitchFamily="18" charset="0"/>
                </a:rPr>
                <a:t>  </a:t>
              </a:r>
              <a:r>
                <a:rPr lang="en-US" altLang="de-DE">
                  <a:solidFill>
                    <a:srgbClr val="EAEAEA"/>
                  </a:solidFill>
                  <a:cs typeface="Times New Roman" panose="02020603050405020304" pitchFamily="18" charset="0"/>
                </a:rPr>
                <a:t>Perth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 b="0">
                  <a:solidFill>
                    <a:srgbClr val="EAEAEA"/>
                  </a:solidFill>
                  <a:cs typeface="Times New Roman" panose="02020603050405020304" pitchFamily="18" charset="0"/>
                </a:rPr>
                <a:t>PE00</a:t>
              </a:r>
            </a:p>
          </p:txBody>
        </p:sp>
        <p:sp>
          <p:nvSpPr>
            <p:cNvPr id="27" name="AutoShape 46"/>
            <p:cNvSpPr>
              <a:spLocks noChangeArrowheads="1"/>
            </p:cNvSpPr>
            <p:nvPr/>
          </p:nvSpPr>
          <p:spPr bwMode="auto">
            <a:xfrm>
              <a:off x="495300" y="3068638"/>
              <a:ext cx="7964488" cy="1579563"/>
            </a:xfrm>
            <a:prstGeom prst="parallelogram">
              <a:avLst>
                <a:gd name="adj" fmla="val 46524"/>
              </a:avLst>
            </a:prstGeom>
            <a:gradFill rotWithShape="0">
              <a:gsLst>
                <a:gs pos="0">
                  <a:srgbClr val="1F8AFF"/>
                </a:gs>
                <a:gs pos="100000">
                  <a:srgbClr val="B5C1E9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B5C1E9"/>
              </a:extrusionClr>
              <a:contourClr>
                <a:srgbClr val="1F8AFF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28" name="AutoShape 48"/>
            <p:cNvSpPr>
              <a:spLocks noChangeArrowheads="1"/>
            </p:cNvSpPr>
            <p:nvPr/>
          </p:nvSpPr>
          <p:spPr bwMode="auto">
            <a:xfrm>
              <a:off x="900113" y="3429000"/>
              <a:ext cx="2663825" cy="1143000"/>
            </a:xfrm>
            <a:prstGeom prst="parallelogram">
              <a:avLst>
                <a:gd name="adj" fmla="val 46665"/>
              </a:avLst>
            </a:prstGeom>
            <a:gradFill rotWithShape="0">
              <a:gsLst>
                <a:gs pos="0">
                  <a:srgbClr val="0050A8"/>
                </a:gs>
                <a:gs pos="100000">
                  <a:srgbClr val="B5C1E9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B5C1E9"/>
              </a:extrusionClr>
              <a:contourClr>
                <a:srgbClr val="0050A8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29" name="Text Box 51"/>
            <p:cNvSpPr txBox="1">
              <a:spLocks noChangeArrowheads="1"/>
            </p:cNvSpPr>
            <p:nvPr/>
          </p:nvSpPr>
          <p:spPr bwMode="auto">
            <a:xfrm>
              <a:off x="3995738" y="5589588"/>
              <a:ext cx="1254125" cy="293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600">
                  <a:cs typeface="Times New Roman" panose="02020603050405020304" pitchFamily="18" charset="0"/>
                </a:rPr>
                <a:t> CC DE00</a:t>
              </a:r>
            </a:p>
          </p:txBody>
        </p:sp>
        <p:sp>
          <p:nvSpPr>
            <p:cNvPr id="30" name="Text Box 52"/>
            <p:cNvSpPr txBox="1">
              <a:spLocks noChangeArrowheads="1"/>
            </p:cNvSpPr>
            <p:nvPr/>
          </p:nvSpPr>
          <p:spPr bwMode="auto">
            <a:xfrm>
              <a:off x="4211638" y="5084763"/>
              <a:ext cx="865188" cy="431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000">
                  <a:cs typeface="Times New Roman" panose="02020603050405020304" pitchFamily="18" charset="0"/>
                </a:rPr>
                <a:t>   </a:t>
              </a:r>
              <a:r>
                <a:rPr lang="en-US" altLang="de-DE" sz="1100">
                  <a:cs typeface="Times New Roman" panose="02020603050405020304" pitchFamily="18" charset="0"/>
                </a:rPr>
                <a:t>Heidelb.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 b="0">
                  <a:cs typeface="Times New Roman" panose="02020603050405020304" pitchFamily="18" charset="0"/>
                </a:rPr>
                <a:t> HD00</a:t>
              </a:r>
            </a:p>
          </p:txBody>
        </p:sp>
        <p:sp>
          <p:nvSpPr>
            <p:cNvPr id="31" name="Text Box 53"/>
            <p:cNvSpPr txBox="1">
              <a:spLocks noChangeArrowheads="1"/>
            </p:cNvSpPr>
            <p:nvPr/>
          </p:nvSpPr>
          <p:spPr bwMode="auto">
            <a:xfrm>
              <a:off x="4932363" y="5084763"/>
              <a:ext cx="865188" cy="431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000">
                  <a:cs typeface="Times New Roman" panose="02020603050405020304" pitchFamily="18" charset="0"/>
                </a:rPr>
                <a:t>  </a:t>
              </a:r>
              <a:r>
                <a:rPr lang="en-US" altLang="de-DE" sz="1100">
                  <a:cs typeface="Times New Roman" panose="02020603050405020304" pitchFamily="18" charset="0"/>
                </a:rPr>
                <a:t>Hamburg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 b="0">
                  <a:cs typeface="Times New Roman" panose="02020603050405020304" pitchFamily="18" charset="0"/>
                </a:rPr>
                <a:t> HH00</a:t>
              </a:r>
            </a:p>
          </p:txBody>
        </p:sp>
        <p:sp>
          <p:nvSpPr>
            <p:cNvPr id="32" name="AutoShape 56"/>
            <p:cNvSpPr>
              <a:spLocks noChangeArrowheads="1"/>
            </p:cNvSpPr>
            <p:nvPr/>
          </p:nvSpPr>
          <p:spPr bwMode="auto">
            <a:xfrm>
              <a:off x="1846263" y="2408238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MI00</a:t>
              </a:r>
            </a:p>
          </p:txBody>
        </p:sp>
        <p:sp>
          <p:nvSpPr>
            <p:cNvPr id="33" name="AutoShape 59"/>
            <p:cNvSpPr>
              <a:spLocks noChangeArrowheads="1"/>
            </p:cNvSpPr>
            <p:nvPr/>
          </p:nvSpPr>
          <p:spPr bwMode="auto">
            <a:xfrm>
              <a:off x="2579688" y="2420938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MI00</a:t>
              </a:r>
            </a:p>
          </p:txBody>
        </p:sp>
        <p:sp>
          <p:nvSpPr>
            <p:cNvPr id="34" name="AutoShape 62"/>
            <p:cNvSpPr>
              <a:spLocks noChangeArrowheads="1"/>
            </p:cNvSpPr>
            <p:nvPr/>
          </p:nvSpPr>
          <p:spPr bwMode="auto">
            <a:xfrm>
              <a:off x="3298825" y="2419350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MI00</a:t>
              </a:r>
            </a:p>
          </p:txBody>
        </p:sp>
        <p:sp>
          <p:nvSpPr>
            <p:cNvPr id="35" name="AutoShape 63"/>
            <p:cNvSpPr>
              <a:spLocks noChangeArrowheads="1"/>
            </p:cNvSpPr>
            <p:nvPr/>
          </p:nvSpPr>
          <p:spPr bwMode="auto">
            <a:xfrm>
              <a:off x="4495800" y="1844675"/>
              <a:ext cx="565150" cy="228600"/>
            </a:xfrm>
            <a:prstGeom prst="parallelogram">
              <a:avLst>
                <a:gd name="adj" fmla="val 41662"/>
              </a:avLst>
            </a:prstGeom>
            <a:gradFill rotWithShape="1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>
                  <a:solidFill>
                    <a:srgbClr val="EAEAEA"/>
                  </a:solidFill>
                </a:rPr>
                <a:t>TG00</a:t>
              </a:r>
            </a:p>
          </p:txBody>
        </p:sp>
        <p:sp>
          <p:nvSpPr>
            <p:cNvPr id="36" name="AutoShape 64"/>
            <p:cNvSpPr>
              <a:spLocks noChangeArrowheads="1"/>
            </p:cNvSpPr>
            <p:nvPr/>
          </p:nvSpPr>
          <p:spPr bwMode="auto">
            <a:xfrm>
              <a:off x="4368800" y="2132013"/>
              <a:ext cx="565150" cy="228600"/>
            </a:xfrm>
            <a:prstGeom prst="parallelogram">
              <a:avLst>
                <a:gd name="adj" fmla="val 41662"/>
              </a:avLst>
            </a:prstGeom>
            <a:gradFill rotWithShape="1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>
                  <a:solidFill>
                    <a:srgbClr val="EAEAEA"/>
                  </a:solidFill>
                </a:rPr>
                <a:t>FG00</a:t>
              </a:r>
            </a:p>
          </p:txBody>
        </p:sp>
        <p:sp>
          <p:nvSpPr>
            <p:cNvPr id="37" name="AutoShape 65"/>
            <p:cNvSpPr>
              <a:spLocks noChangeArrowheads="1"/>
            </p:cNvSpPr>
            <p:nvPr/>
          </p:nvSpPr>
          <p:spPr bwMode="auto">
            <a:xfrm>
              <a:off x="4240213" y="2419350"/>
              <a:ext cx="565150" cy="228600"/>
            </a:xfrm>
            <a:prstGeom prst="parallelogram">
              <a:avLst>
                <a:gd name="adj" fmla="val 41662"/>
              </a:avLst>
            </a:prstGeom>
            <a:gradFill rotWithShape="1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>
                  <a:solidFill>
                    <a:srgbClr val="EAEAEA"/>
                  </a:solidFill>
                </a:rPr>
                <a:t>MI00</a:t>
              </a:r>
            </a:p>
          </p:txBody>
        </p:sp>
        <p:sp>
          <p:nvSpPr>
            <p:cNvPr id="38" name="AutoShape 69"/>
            <p:cNvSpPr>
              <a:spLocks noChangeArrowheads="1"/>
            </p:cNvSpPr>
            <p:nvPr/>
          </p:nvSpPr>
          <p:spPr bwMode="auto">
            <a:xfrm>
              <a:off x="5519738" y="2420938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MI00</a:t>
              </a:r>
            </a:p>
          </p:txBody>
        </p:sp>
        <p:sp>
          <p:nvSpPr>
            <p:cNvPr id="39" name="AutoShape 72"/>
            <p:cNvSpPr>
              <a:spLocks noChangeArrowheads="1"/>
            </p:cNvSpPr>
            <p:nvPr/>
          </p:nvSpPr>
          <p:spPr bwMode="auto">
            <a:xfrm>
              <a:off x="6261100" y="2419350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MI00</a:t>
              </a:r>
            </a:p>
          </p:txBody>
        </p:sp>
        <p:sp>
          <p:nvSpPr>
            <p:cNvPr id="40" name="AutoShape 74"/>
            <p:cNvSpPr>
              <a:spLocks noChangeArrowheads="1"/>
            </p:cNvSpPr>
            <p:nvPr/>
          </p:nvSpPr>
          <p:spPr bwMode="auto">
            <a:xfrm>
              <a:off x="7832725" y="1846263"/>
              <a:ext cx="565150" cy="228600"/>
            </a:xfrm>
            <a:prstGeom prst="parallelogram">
              <a:avLst>
                <a:gd name="adj" fmla="val 41662"/>
              </a:avLst>
            </a:prstGeom>
            <a:gradFill rotWithShape="1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>
                  <a:solidFill>
                    <a:srgbClr val="EAEAEA"/>
                  </a:solidFill>
                </a:rPr>
                <a:t>TG00</a:t>
              </a:r>
            </a:p>
          </p:txBody>
        </p:sp>
        <p:sp>
          <p:nvSpPr>
            <p:cNvPr id="41" name="AutoShape 75"/>
            <p:cNvSpPr>
              <a:spLocks noChangeArrowheads="1"/>
            </p:cNvSpPr>
            <p:nvPr/>
          </p:nvSpPr>
          <p:spPr bwMode="auto">
            <a:xfrm>
              <a:off x="7705725" y="2133600"/>
              <a:ext cx="565150" cy="228600"/>
            </a:xfrm>
            <a:prstGeom prst="parallelogram">
              <a:avLst>
                <a:gd name="adj" fmla="val 41662"/>
              </a:avLst>
            </a:prstGeom>
            <a:gradFill rotWithShape="1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>
                  <a:solidFill>
                    <a:srgbClr val="EAEAEA"/>
                  </a:solidFill>
                </a:rPr>
                <a:t>FG00</a:t>
              </a:r>
            </a:p>
          </p:txBody>
        </p:sp>
        <p:sp>
          <p:nvSpPr>
            <p:cNvPr id="42" name="AutoShape 76"/>
            <p:cNvSpPr>
              <a:spLocks noChangeArrowheads="1"/>
            </p:cNvSpPr>
            <p:nvPr/>
          </p:nvSpPr>
          <p:spPr bwMode="auto">
            <a:xfrm>
              <a:off x="7577138" y="2420938"/>
              <a:ext cx="565150" cy="228600"/>
            </a:xfrm>
            <a:prstGeom prst="parallelogram">
              <a:avLst>
                <a:gd name="adj" fmla="val 41662"/>
              </a:avLst>
            </a:prstGeom>
            <a:gradFill rotWithShape="1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>
                  <a:solidFill>
                    <a:srgbClr val="EAEAEA"/>
                  </a:solidFill>
                </a:rPr>
                <a:t>MI00</a:t>
              </a:r>
            </a:p>
          </p:txBody>
        </p:sp>
        <p:sp>
          <p:nvSpPr>
            <p:cNvPr id="43" name="Text Box 79"/>
            <p:cNvSpPr txBox="1">
              <a:spLocks noChangeArrowheads="1"/>
            </p:cNvSpPr>
            <p:nvPr/>
          </p:nvSpPr>
          <p:spPr bwMode="auto">
            <a:xfrm>
              <a:off x="3708400" y="3429000"/>
              <a:ext cx="863600" cy="262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>
                  <a:solidFill>
                    <a:srgbClr val="EAEAEA"/>
                  </a:solidFill>
                </a:rPr>
                <a:t>CA00</a:t>
              </a:r>
              <a:endParaRPr lang="en-US" altLang="de-DE" sz="1400">
                <a:solidFill>
                  <a:srgbClr val="EAEAEA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44" name="AutoShape 85"/>
            <p:cNvSpPr>
              <a:spLocks noChangeArrowheads="1"/>
            </p:cNvSpPr>
            <p:nvPr/>
          </p:nvSpPr>
          <p:spPr bwMode="auto">
            <a:xfrm>
              <a:off x="6588125" y="3429000"/>
              <a:ext cx="1223963" cy="1143000"/>
            </a:xfrm>
            <a:prstGeom prst="parallelogram">
              <a:avLst>
                <a:gd name="adj" fmla="val 46527"/>
              </a:avLst>
            </a:prstGeom>
            <a:gradFill rotWithShape="0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45" name="Text Box 86"/>
            <p:cNvSpPr txBox="1">
              <a:spLocks noChangeArrowheads="1"/>
            </p:cNvSpPr>
            <p:nvPr/>
          </p:nvSpPr>
          <p:spPr bwMode="auto">
            <a:xfrm>
              <a:off x="7019925" y="3429000"/>
              <a:ext cx="863600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>
                  <a:solidFill>
                    <a:srgbClr val="EAEAEA"/>
                  </a:solidFill>
                </a:rPr>
                <a:t> AU00</a:t>
              </a:r>
              <a:endParaRPr lang="en-US" altLang="de-DE" sz="1400">
                <a:solidFill>
                  <a:srgbClr val="EAEAEA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46" name="AutoShape 78"/>
            <p:cNvSpPr>
              <a:spLocks noChangeArrowheads="1"/>
            </p:cNvSpPr>
            <p:nvPr/>
          </p:nvSpPr>
          <p:spPr bwMode="auto">
            <a:xfrm>
              <a:off x="3276600" y="3429000"/>
              <a:ext cx="1223963" cy="1143000"/>
            </a:xfrm>
            <a:prstGeom prst="parallelogram">
              <a:avLst>
                <a:gd name="adj" fmla="val 46527"/>
              </a:avLst>
            </a:prstGeom>
            <a:gradFill rotWithShape="0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47" name="AutoShape 87"/>
            <p:cNvSpPr>
              <a:spLocks noChangeArrowheads="1"/>
            </p:cNvSpPr>
            <p:nvPr/>
          </p:nvSpPr>
          <p:spPr bwMode="auto">
            <a:xfrm>
              <a:off x="6732588" y="3860800"/>
              <a:ext cx="792163" cy="609600"/>
            </a:xfrm>
            <a:prstGeom prst="parallelogram">
              <a:avLst>
                <a:gd name="adj" fmla="val 45313"/>
              </a:avLst>
            </a:prstGeom>
            <a:gradFill rotWithShape="0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48" name="Text Box 89"/>
            <p:cNvSpPr txBox="1">
              <a:spLocks noChangeArrowheads="1"/>
            </p:cNvSpPr>
            <p:nvPr/>
          </p:nvSpPr>
          <p:spPr bwMode="auto">
            <a:xfrm>
              <a:off x="8045787" y="5084763"/>
              <a:ext cx="558463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Plant</a:t>
              </a:r>
            </a:p>
          </p:txBody>
        </p:sp>
        <p:sp>
          <p:nvSpPr>
            <p:cNvPr id="49" name="Text Box 90"/>
            <p:cNvSpPr txBox="1">
              <a:spLocks noChangeArrowheads="1"/>
            </p:cNvSpPr>
            <p:nvPr/>
          </p:nvSpPr>
          <p:spPr bwMode="auto">
            <a:xfrm>
              <a:off x="7293979" y="5589588"/>
              <a:ext cx="1310272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Company Code</a:t>
              </a:r>
            </a:p>
          </p:txBody>
        </p:sp>
        <p:sp>
          <p:nvSpPr>
            <p:cNvPr id="50" name="AutoShape 80"/>
            <p:cNvSpPr>
              <a:spLocks noChangeArrowheads="1"/>
            </p:cNvSpPr>
            <p:nvPr/>
          </p:nvSpPr>
          <p:spPr bwMode="auto">
            <a:xfrm>
              <a:off x="1096963" y="3789363"/>
              <a:ext cx="3095625" cy="609600"/>
            </a:xfrm>
            <a:prstGeom prst="parallelogram">
              <a:avLst>
                <a:gd name="adj" fmla="val 45303"/>
              </a:avLst>
            </a:prstGeom>
            <a:solidFill>
              <a:srgbClr val="FFFF66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51" name="Text Box 81"/>
            <p:cNvSpPr txBox="1">
              <a:spLocks noChangeArrowheads="1"/>
            </p:cNvSpPr>
            <p:nvPr/>
          </p:nvSpPr>
          <p:spPr bwMode="auto">
            <a:xfrm>
              <a:off x="1187450" y="3860800"/>
              <a:ext cx="3097213" cy="478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/>
                <a:t>Purchasing Group North America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/>
                <a:t>                       N00</a:t>
              </a:r>
              <a:endParaRPr lang="en-US" altLang="de-DE" sz="1400">
                <a:cs typeface="Times New Roman" panose="02020603050405020304" pitchFamily="18" charset="0"/>
              </a:endParaRPr>
            </a:p>
          </p:txBody>
        </p:sp>
        <p:sp>
          <p:nvSpPr>
            <p:cNvPr id="52" name="Text Box 49"/>
            <p:cNvSpPr txBox="1">
              <a:spLocks noChangeArrowheads="1"/>
            </p:cNvSpPr>
            <p:nvPr/>
          </p:nvSpPr>
          <p:spPr bwMode="auto">
            <a:xfrm>
              <a:off x="1392238" y="3429000"/>
              <a:ext cx="2819400" cy="262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/>
                <a:t>Purchasing Org. US00</a:t>
              </a:r>
              <a:endParaRPr lang="en-US" altLang="de-DE" sz="1400">
                <a:cs typeface="Times New Roman" panose="02020603050405020304" pitchFamily="18" charset="0"/>
              </a:endParaRPr>
            </a:p>
          </p:txBody>
        </p:sp>
        <p:sp>
          <p:nvSpPr>
            <p:cNvPr id="53" name="Text Box 79"/>
            <p:cNvSpPr txBox="1">
              <a:spLocks noChangeArrowheads="1"/>
            </p:cNvSpPr>
            <p:nvPr/>
          </p:nvSpPr>
          <p:spPr bwMode="auto">
            <a:xfrm>
              <a:off x="3760480" y="3413760"/>
              <a:ext cx="863600" cy="262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>
                  <a:solidFill>
                    <a:srgbClr val="EAEAEA"/>
                  </a:solidFill>
                </a:rPr>
                <a:t>CA00</a:t>
              </a:r>
              <a:endParaRPr lang="en-US" altLang="de-DE" sz="1400">
                <a:solidFill>
                  <a:srgbClr val="EAEAEA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54" name="AutoShape 50"/>
            <p:cNvSpPr>
              <a:spLocks noChangeArrowheads="1"/>
            </p:cNvSpPr>
            <p:nvPr/>
          </p:nvSpPr>
          <p:spPr bwMode="auto">
            <a:xfrm>
              <a:off x="4572000" y="3429000"/>
              <a:ext cx="2016125" cy="1143000"/>
            </a:xfrm>
            <a:prstGeom prst="parallelogram">
              <a:avLst>
                <a:gd name="adj" fmla="val 45975"/>
              </a:avLst>
            </a:prstGeom>
            <a:gradFill rotWithShape="0">
              <a:gsLst>
                <a:gs pos="0">
                  <a:srgbClr val="0050A8"/>
                </a:gs>
                <a:gs pos="100000">
                  <a:srgbClr val="B5C1E9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B5C1E9"/>
              </a:extrusionClr>
              <a:contourClr>
                <a:srgbClr val="0050A8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55" name="Text Box 82"/>
            <p:cNvSpPr txBox="1">
              <a:spLocks noChangeArrowheads="1"/>
            </p:cNvSpPr>
            <p:nvPr/>
          </p:nvSpPr>
          <p:spPr bwMode="auto">
            <a:xfrm>
              <a:off x="5148263" y="3429000"/>
              <a:ext cx="1152525" cy="262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/>
                <a:t>PO DE00</a:t>
              </a:r>
              <a:endParaRPr lang="en-US" altLang="de-DE" sz="1400">
                <a:cs typeface="Times New Roman" panose="02020603050405020304" pitchFamily="18" charset="0"/>
              </a:endParaRPr>
            </a:p>
          </p:txBody>
        </p:sp>
        <p:sp>
          <p:nvSpPr>
            <p:cNvPr id="56" name="AutoShape 83"/>
            <p:cNvSpPr>
              <a:spLocks noChangeArrowheads="1"/>
            </p:cNvSpPr>
            <p:nvPr/>
          </p:nvSpPr>
          <p:spPr bwMode="auto">
            <a:xfrm>
              <a:off x="4716463" y="3789363"/>
              <a:ext cx="1584325" cy="609600"/>
            </a:xfrm>
            <a:prstGeom prst="parallelogram">
              <a:avLst>
                <a:gd name="adj" fmla="val 47094"/>
              </a:avLst>
            </a:prstGeom>
            <a:solidFill>
              <a:srgbClr val="FFFF66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57" name="Text Box 84"/>
            <p:cNvSpPr txBox="1">
              <a:spLocks noChangeArrowheads="1"/>
            </p:cNvSpPr>
            <p:nvPr/>
          </p:nvSpPr>
          <p:spPr bwMode="auto">
            <a:xfrm>
              <a:off x="4716463" y="3860800"/>
              <a:ext cx="1511300" cy="478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/>
                <a:t>     PGr Europe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/>
                <a:t>        E00</a:t>
              </a:r>
              <a:endParaRPr lang="en-US" altLang="de-DE" sz="1400">
                <a:cs typeface="Times New Roman" panose="02020603050405020304" pitchFamily="18" charset="0"/>
              </a:endParaRPr>
            </a:p>
          </p:txBody>
        </p:sp>
        <p:sp>
          <p:nvSpPr>
            <p:cNvPr id="58" name="Text Box 47"/>
            <p:cNvSpPr txBox="1">
              <a:spLocks noChangeArrowheads="1"/>
            </p:cNvSpPr>
            <p:nvPr/>
          </p:nvSpPr>
          <p:spPr bwMode="auto">
            <a:xfrm>
              <a:off x="2411413" y="3068638"/>
              <a:ext cx="4883150" cy="293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600"/>
                <a:t>Central Purchasing Organization (global) GL00</a:t>
              </a:r>
              <a:endParaRPr lang="en-US" altLang="de-DE" sz="1600">
                <a:cs typeface="Times New Roman" panose="02020603050405020304" pitchFamily="18" charset="0"/>
              </a:endParaRPr>
            </a:p>
          </p:txBody>
        </p:sp>
        <p:sp>
          <p:nvSpPr>
            <p:cNvPr id="59" name="Text Box 88"/>
            <p:cNvSpPr txBox="1">
              <a:spLocks noChangeArrowheads="1"/>
            </p:cNvSpPr>
            <p:nvPr/>
          </p:nvSpPr>
          <p:spPr bwMode="auto">
            <a:xfrm>
              <a:off x="6805613" y="3860800"/>
              <a:ext cx="862013" cy="478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>
                  <a:solidFill>
                    <a:srgbClr val="EAEAEA"/>
                  </a:solidFill>
                </a:rPr>
                <a:t>  Asia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>
                  <a:solidFill>
                    <a:srgbClr val="EAEAEA"/>
                  </a:solidFill>
                </a:rPr>
                <a:t>A00</a:t>
              </a:r>
              <a:endParaRPr lang="en-US" altLang="de-DE" sz="1400">
                <a:solidFill>
                  <a:srgbClr val="EAEAEA"/>
                </a:solidFill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5151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de-DE" altLang="de-DE" dirty="0">
                <a:solidFill>
                  <a:srgbClr val="B2B2B2"/>
                </a:solidFill>
                <a:latin typeface="Arial" panose="020B0604020202020204" pitchFamily="34" charset="0"/>
              </a:rPr>
              <a:t>EAM </a:t>
            </a:r>
            <a:r>
              <a:rPr lang="de-DE" altLang="de-DE" dirty="0" err="1">
                <a:solidFill>
                  <a:srgbClr val="B2B2B2"/>
                </a:solidFill>
                <a:latin typeface="Arial" panose="020B0604020202020204" pitchFamily="34" charset="0"/>
              </a:rPr>
              <a:t>Organizational</a:t>
            </a:r>
            <a:r>
              <a:rPr lang="de-DE" altLang="de-DE" dirty="0">
                <a:solidFill>
                  <a:srgbClr val="B2B2B2"/>
                </a:solidFill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solidFill>
                  <a:srgbClr val="B2B2B2"/>
                </a:solidFill>
                <a:latin typeface="Arial" panose="020B0604020202020204" pitchFamily="34" charset="0"/>
              </a:rPr>
              <a:t>Structure</a:t>
            </a:r>
            <a:endParaRPr lang="de-DE" altLang="de-DE" dirty="0">
              <a:solidFill>
                <a:srgbClr val="B2B2B2"/>
              </a:solidFill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endParaRPr lang="de-DE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de-DE" altLang="de-DE" dirty="0">
                <a:latin typeface="Arial" panose="020B0604020202020204" pitchFamily="34" charset="0"/>
              </a:rPr>
              <a:t>EAM Master Data</a:t>
            </a:r>
          </a:p>
          <a:p>
            <a:pPr>
              <a:tabLst>
                <a:tab pos="1971675" algn="l"/>
              </a:tabLst>
            </a:pPr>
            <a:endParaRPr lang="de-DE" altLang="de-DE" dirty="0">
              <a:solidFill>
                <a:srgbClr val="B2B2B2"/>
              </a:solidFill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de-DE" altLang="de-DE" dirty="0">
                <a:solidFill>
                  <a:srgbClr val="B2B2B2"/>
                </a:solidFill>
                <a:latin typeface="Arial" panose="020B0604020202020204" pitchFamily="34" charset="0"/>
              </a:rPr>
              <a:t>EAM </a:t>
            </a:r>
            <a:r>
              <a:rPr lang="de-DE" altLang="de-DE" dirty="0" err="1">
                <a:solidFill>
                  <a:srgbClr val="B2B2B2"/>
                </a:solidFill>
                <a:latin typeface="Arial" panose="020B0604020202020204" pitchFamily="34" charset="0"/>
              </a:rPr>
              <a:t>Processes</a:t>
            </a:r>
            <a:endParaRPr lang="de-DE" altLang="de-DE" dirty="0">
              <a:solidFill>
                <a:srgbClr val="B2B2B2"/>
              </a:solidFill>
              <a:latin typeface="Arial" panose="020B0604020202020204" pitchFamily="34" charset="0"/>
            </a:endParaRP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47505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altLang="de-DE" dirty="0" err="1">
                <a:latin typeface="Arial" panose="020B0604020202020204" pitchFamily="34" charset="0"/>
              </a:rPr>
              <a:t>Functional</a:t>
            </a:r>
            <a:r>
              <a:rPr lang="de-DE" altLang="de-DE" dirty="0">
                <a:latin typeface="Arial" panose="020B0604020202020204" pitchFamily="34" charset="0"/>
              </a:rPr>
              <a:t> Location – Master Data</a:t>
            </a:r>
          </a:p>
          <a:p>
            <a:endParaRPr lang="de-DE" altLang="de-DE" dirty="0">
              <a:latin typeface="Arial" panose="020B0604020202020204" pitchFamily="34" charset="0"/>
            </a:endParaRPr>
          </a:p>
          <a:p>
            <a:r>
              <a:rPr lang="de-DE" altLang="de-DE" dirty="0">
                <a:latin typeface="Arial" panose="020B0604020202020204" pitchFamily="34" charset="0"/>
              </a:rPr>
              <a:t>Equipment – Master Data</a:t>
            </a:r>
          </a:p>
          <a:p>
            <a:endParaRPr lang="de-DE" altLang="de-DE" dirty="0">
              <a:latin typeface="Arial" panose="020B0604020202020204" pitchFamily="34" charset="0"/>
            </a:endParaRPr>
          </a:p>
          <a:p>
            <a:r>
              <a:rPr lang="de-DE" altLang="de-DE" dirty="0">
                <a:latin typeface="Arial" panose="020B0604020202020204" pitchFamily="34" charset="0"/>
              </a:rPr>
              <a:t>Bill </a:t>
            </a:r>
            <a:r>
              <a:rPr lang="de-DE" altLang="de-DE" dirty="0" err="1">
                <a:latin typeface="Arial" panose="020B0604020202020204" pitchFamily="34" charset="0"/>
              </a:rPr>
              <a:t>of</a:t>
            </a:r>
            <a:r>
              <a:rPr lang="de-DE" altLang="de-DE" dirty="0">
                <a:latin typeface="Arial" panose="020B0604020202020204" pitchFamily="34" charset="0"/>
              </a:rPr>
              <a:t> Material</a:t>
            </a:r>
          </a:p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>
                <a:latin typeface="Arial" panose="020B0604020202020204" pitchFamily="34" charset="0"/>
              </a:rPr>
              <a:t>EAM Master Data</a:t>
            </a:r>
            <a:endParaRPr lang="de-DE" dirty="0"/>
          </a:p>
        </p:txBody>
      </p:sp>
      <p:grpSp>
        <p:nvGrpSpPr>
          <p:cNvPr id="4" name="Gruppieren 30"/>
          <p:cNvGrpSpPr>
            <a:grpSpLocks/>
          </p:cNvGrpSpPr>
          <p:nvPr/>
        </p:nvGrpSpPr>
        <p:grpSpPr bwMode="auto">
          <a:xfrm>
            <a:off x="2496150" y="2828675"/>
            <a:ext cx="7200900" cy="3024187"/>
            <a:chOff x="971600" y="2996952"/>
            <a:chExt cx="7200800" cy="3024336"/>
          </a:xfrm>
        </p:grpSpPr>
        <p:cxnSp>
          <p:nvCxnSpPr>
            <p:cNvPr id="5" name="Form 7"/>
            <p:cNvCxnSpPr>
              <a:cxnSpLocks noChangeShapeType="1"/>
              <a:endCxn id="8" idx="1"/>
            </p:cNvCxnSpPr>
            <p:nvPr/>
          </p:nvCxnSpPr>
          <p:spPr bwMode="auto">
            <a:xfrm>
              <a:off x="1979712" y="3645024"/>
              <a:ext cx="1656184" cy="900100"/>
            </a:xfrm>
            <a:prstGeom prst="bentConnector3">
              <a:avLst>
                <a:gd name="adj1" fmla="val -611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" name="Form 9"/>
            <p:cNvCxnSpPr>
              <a:cxnSpLocks noChangeShapeType="1"/>
            </p:cNvCxnSpPr>
            <p:nvPr/>
          </p:nvCxnSpPr>
          <p:spPr bwMode="auto">
            <a:xfrm>
              <a:off x="1835696" y="3861048"/>
              <a:ext cx="4536504" cy="1728192"/>
            </a:xfrm>
            <a:prstGeom prst="bentConnector3">
              <a:avLst>
                <a:gd name="adj1" fmla="val -222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Form 11"/>
            <p:cNvCxnSpPr>
              <a:cxnSpLocks noChangeShapeType="1"/>
              <a:stCxn id="8" idx="2"/>
            </p:cNvCxnSpPr>
            <p:nvPr/>
          </p:nvCxnSpPr>
          <p:spPr bwMode="auto">
            <a:xfrm rot="16200000" flipH="1">
              <a:off x="5238075" y="4311096"/>
              <a:ext cx="432047" cy="1836205"/>
            </a:xfrm>
            <a:prstGeom prst="bentConnector2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" name="Abgerundetes Rechteck 4"/>
            <p:cNvSpPr>
              <a:spLocks noChangeArrowheads="1"/>
            </p:cNvSpPr>
            <p:nvPr/>
          </p:nvSpPr>
          <p:spPr bwMode="auto">
            <a:xfrm>
              <a:off x="3635896" y="4077072"/>
              <a:ext cx="1800200" cy="936104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de-DE" altLang="de-DE" sz="2000" b="0">
                  <a:solidFill>
                    <a:schemeClr val="bg1"/>
                  </a:solidFill>
                </a:rPr>
                <a:t>Equipment</a:t>
              </a:r>
            </a:p>
          </p:txBody>
        </p:sp>
        <p:sp>
          <p:nvSpPr>
            <p:cNvPr id="9" name="Abgerundetes Rechteck 5"/>
            <p:cNvSpPr>
              <a:spLocks noChangeArrowheads="1"/>
            </p:cNvSpPr>
            <p:nvPr/>
          </p:nvSpPr>
          <p:spPr bwMode="auto">
            <a:xfrm>
              <a:off x="6372200" y="5085184"/>
              <a:ext cx="1800200" cy="936104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de-DE" altLang="de-DE" sz="2000" b="0">
                  <a:solidFill>
                    <a:schemeClr val="bg1"/>
                  </a:solidFill>
                </a:rPr>
                <a:t>Bill of Material</a:t>
              </a:r>
            </a:p>
          </p:txBody>
        </p:sp>
        <p:sp>
          <p:nvSpPr>
            <p:cNvPr id="10" name="Abgerundetes Rechteck 3"/>
            <p:cNvSpPr>
              <a:spLocks noChangeArrowheads="1"/>
            </p:cNvSpPr>
            <p:nvPr/>
          </p:nvSpPr>
          <p:spPr bwMode="auto">
            <a:xfrm>
              <a:off x="971600" y="2996952"/>
              <a:ext cx="1800200" cy="936104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de-DE" altLang="de-DE" sz="2000" b="0">
                  <a:solidFill>
                    <a:schemeClr val="bg1"/>
                  </a:solidFill>
                </a:rPr>
                <a:t>Functional</a:t>
              </a:r>
              <a:br>
                <a:rPr lang="de-DE" altLang="de-DE" sz="2000" b="0">
                  <a:solidFill>
                    <a:schemeClr val="bg1"/>
                  </a:solidFill>
                </a:rPr>
              </a:br>
              <a:r>
                <a:rPr lang="de-DE" altLang="de-DE" sz="2000" b="0">
                  <a:solidFill>
                    <a:schemeClr val="bg1"/>
                  </a:solidFill>
                </a:rPr>
                <a:t>Location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8979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 dirty="0" smtClean="0">
                <a:latin typeface="Arial" panose="020B0604020202020204" pitchFamily="34" charset="0"/>
              </a:rPr>
              <a:t>Hierarchically organized </a:t>
            </a:r>
            <a:r>
              <a:rPr lang="en-US" altLang="de-DE" dirty="0">
                <a:latin typeface="Arial" panose="020B0604020202020204" pitchFamily="34" charset="0"/>
              </a:rPr>
              <a:t>structure which represents e.g. a technical system, a building or a part of it</a:t>
            </a: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 smtClean="0">
                <a:latin typeface="Arial" panose="020B0604020202020204" pitchFamily="34" charset="0"/>
              </a:rPr>
              <a:t>Locations </a:t>
            </a:r>
            <a:r>
              <a:rPr lang="en-US" altLang="de-DE" dirty="0">
                <a:latin typeface="Arial" panose="020B0604020202020204" pitchFamily="34" charset="0"/>
              </a:rPr>
              <a:t>are normally fixed and do not </a:t>
            </a:r>
            <a:r>
              <a:rPr lang="en-US" altLang="de-DE" dirty="0" smtClean="0">
                <a:latin typeface="Arial" panose="020B0604020202020204" pitchFamily="34" charset="0"/>
              </a:rPr>
              <a:t>move</a:t>
            </a:r>
            <a:endParaRPr lang="en-US" altLang="de-DE" dirty="0" smtClean="0">
              <a:latin typeface="Arial" panose="020B0604020202020204" pitchFamily="34" charset="0"/>
            </a:endParaRP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Structures maintenance objects according to following criteria:</a:t>
            </a:r>
          </a:p>
          <a:p>
            <a:pPr lvl="1"/>
            <a:r>
              <a:rPr lang="en-US" altLang="de-DE" dirty="0">
                <a:latin typeface="Arial" panose="020B0604020202020204" pitchFamily="34" charset="0"/>
              </a:rPr>
              <a:t>spatial (e.g. buildings)</a:t>
            </a:r>
          </a:p>
          <a:p>
            <a:pPr lvl="1"/>
            <a:r>
              <a:rPr lang="en-US" altLang="de-DE" dirty="0">
                <a:latin typeface="Arial" panose="020B0604020202020204" pitchFamily="34" charset="0"/>
              </a:rPr>
              <a:t>technical (e.g. pumping plant)</a:t>
            </a:r>
          </a:p>
          <a:p>
            <a:pPr lvl="1"/>
            <a:r>
              <a:rPr lang="en-US" altLang="de-DE" dirty="0">
                <a:latin typeface="Arial" panose="020B0604020202020204" pitchFamily="34" charset="0"/>
              </a:rPr>
              <a:t>functional (e.g. production of bicycle frames)</a:t>
            </a:r>
          </a:p>
          <a:p>
            <a:pPr lvl="1"/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 smtClean="0">
                <a:latin typeface="Arial" panose="020B0604020202020204" pitchFamily="34" charset="0"/>
              </a:rPr>
              <a:t>Functional </a:t>
            </a:r>
            <a:r>
              <a:rPr lang="en-US" altLang="de-DE" dirty="0">
                <a:latin typeface="Arial" panose="020B0604020202020204" pitchFamily="34" charset="0"/>
              </a:rPr>
              <a:t>locations can be used to sub-divide the objects into similar maintenance </a:t>
            </a:r>
            <a:r>
              <a:rPr lang="en-US" altLang="de-DE" dirty="0" smtClean="0">
                <a:latin typeface="Arial" panose="020B0604020202020204" pitchFamily="34" charset="0"/>
              </a:rPr>
              <a:t>units</a:t>
            </a:r>
            <a:endParaRPr lang="en-US" altLang="de-DE" dirty="0">
              <a:latin typeface="Arial" panose="020B0604020202020204" pitchFamily="34" charset="0"/>
            </a:endParaRP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Functional locations can contain different types of equipment</a:t>
            </a:r>
          </a:p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 err="1">
                <a:latin typeface="Arial" panose="020B0604020202020204" pitchFamily="34" charset="0"/>
              </a:rPr>
              <a:t>Functional</a:t>
            </a:r>
            <a:r>
              <a:rPr lang="de-DE" altLang="de-DE" dirty="0">
                <a:latin typeface="Arial" panose="020B0604020202020204" pitchFamily="34" charset="0"/>
              </a:rPr>
              <a:t> Location – Definition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463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Structural depiction of a technical plant</a:t>
            </a:r>
          </a:p>
          <a:p>
            <a:pPr lvl="1"/>
            <a:r>
              <a:rPr lang="en-US" altLang="de-DE" dirty="0">
                <a:latin typeface="Arial" panose="020B0604020202020204" pitchFamily="34" charset="0"/>
              </a:rPr>
              <a:t>Structure indicator makes hierarchy levels visible</a:t>
            </a:r>
          </a:p>
          <a:p>
            <a:pPr lvl="1"/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Planning and performing maintenance tasks</a:t>
            </a: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Verification of maintenance tasks</a:t>
            </a: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Data gathering for extended periods of time</a:t>
            </a: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Cost monitoring</a:t>
            </a: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Behavioral analysis individual areas under different conditions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Functional Location – Advantages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4219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Functional Location Master Data</a:t>
            </a:r>
          </a:p>
          <a:p>
            <a:pPr lvl="1"/>
            <a:r>
              <a:rPr lang="en-US" altLang="de-DE" dirty="0">
                <a:latin typeface="Arial" panose="020B0604020202020204" pitchFamily="34" charset="0"/>
              </a:rPr>
              <a:t>contains all information </a:t>
            </a:r>
            <a:r>
              <a:rPr lang="en-US" altLang="de-DE" dirty="0" smtClean="0">
                <a:latin typeface="Arial" panose="020B0604020202020204" pitchFamily="34" charset="0"/>
              </a:rPr>
              <a:t>about the </a:t>
            </a:r>
            <a:r>
              <a:rPr lang="en-US" altLang="de-DE" dirty="0">
                <a:latin typeface="Arial" panose="020B0604020202020204" pitchFamily="34" charset="0"/>
              </a:rPr>
              <a:t>functional location</a:t>
            </a:r>
          </a:p>
          <a:p>
            <a:pPr lvl="1"/>
            <a:r>
              <a:rPr lang="en-US" altLang="de-DE" dirty="0" smtClean="0">
                <a:latin typeface="Arial" panose="020B0604020202020204" pitchFamily="34" charset="0"/>
              </a:rPr>
              <a:t>Could </a:t>
            </a:r>
            <a:r>
              <a:rPr lang="en-US" altLang="de-DE" dirty="0">
                <a:latin typeface="Arial" panose="020B0604020202020204" pitchFamily="34" charset="0"/>
              </a:rPr>
              <a:t>be required in order to perform </a:t>
            </a:r>
            <a:r>
              <a:rPr lang="en-US" altLang="de-DE" dirty="0" smtClean="0">
                <a:latin typeface="Arial" panose="020B0604020202020204" pitchFamily="34" charset="0"/>
              </a:rPr>
              <a:t>maintenance </a:t>
            </a:r>
            <a:r>
              <a:rPr lang="en-US" altLang="de-DE" dirty="0" smtClean="0">
                <a:latin typeface="Arial" panose="020B0604020202020204" pitchFamily="34" charset="0"/>
              </a:rPr>
              <a:t>activities</a:t>
            </a:r>
            <a:r>
              <a:rPr lang="en-US" altLang="de-DE" dirty="0">
                <a:latin typeface="Arial" panose="020B0604020202020204" pitchFamily="34" charset="0"/>
              </a:rPr>
              <a:t/>
            </a:r>
            <a:br>
              <a:rPr lang="en-US" altLang="de-DE" dirty="0">
                <a:latin typeface="Arial" panose="020B0604020202020204" pitchFamily="34" charset="0"/>
              </a:rPr>
            </a:br>
            <a:r>
              <a:rPr lang="en-US" altLang="de-DE" dirty="0">
                <a:latin typeface="Arial" panose="020B0604020202020204" pitchFamily="34" charset="0"/>
              </a:rPr>
              <a:t/>
            </a:r>
            <a:br>
              <a:rPr lang="en-US" altLang="de-DE" dirty="0">
                <a:latin typeface="Arial" panose="020B0604020202020204" pitchFamily="34" charset="0"/>
              </a:rPr>
            </a:br>
            <a:endParaRPr lang="en-US" altLang="de-DE" dirty="0">
              <a:latin typeface="Arial" panose="020B0604020202020204" pitchFamily="34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 err="1">
                <a:latin typeface="Arial" panose="020B0604020202020204" pitchFamily="34" charset="0"/>
              </a:rPr>
              <a:t>Functional</a:t>
            </a:r>
            <a:r>
              <a:rPr lang="de-DE" altLang="de-DE" dirty="0">
                <a:latin typeface="Arial" panose="020B0604020202020204" pitchFamily="34" charset="0"/>
              </a:rPr>
              <a:t> Location – Master </a:t>
            </a:r>
            <a:r>
              <a:rPr lang="de-DE" altLang="de-DE" dirty="0" err="1">
                <a:latin typeface="Arial" panose="020B0604020202020204" pitchFamily="34" charset="0"/>
              </a:rPr>
              <a:t>Record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139" y="2813572"/>
            <a:ext cx="9101810" cy="339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41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Individual and autonomous technical unit</a:t>
            </a: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Physical object for which maintenance tasks are planned and performed</a:t>
            </a: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Mobile character</a:t>
            </a: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Examples: pumps, personal computers, circulation fan, engines</a:t>
            </a: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Equipments can be placed in functional locations</a:t>
            </a:r>
          </a:p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>
                <a:latin typeface="Arial" panose="020B0604020202020204" pitchFamily="34" charset="0"/>
              </a:rPr>
              <a:t>Equipment – Definition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1704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altLang="de-DE" dirty="0">
                <a:latin typeface="Arial" panose="020B0604020202020204" pitchFamily="34" charset="0"/>
              </a:rPr>
              <a:t>Administration </a:t>
            </a:r>
            <a:r>
              <a:rPr lang="de-DE" altLang="de-DE" dirty="0" err="1">
                <a:latin typeface="Arial" panose="020B0604020202020204" pitchFamily="34" charset="0"/>
              </a:rPr>
              <a:t>of</a:t>
            </a:r>
            <a:r>
              <a:rPr lang="de-DE" altLang="de-DE" dirty="0">
                <a:latin typeface="Arial" panose="020B0604020202020204" pitchFamily="34" charset="0"/>
              </a:rPr>
              <a:t> individual </a:t>
            </a:r>
            <a:r>
              <a:rPr lang="de-DE" altLang="de-DE" dirty="0" err="1">
                <a:latin typeface="Arial" panose="020B0604020202020204" pitchFamily="34" charset="0"/>
              </a:rPr>
              <a:t>objects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and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data</a:t>
            </a:r>
            <a:endParaRPr lang="de-DE" altLang="de-DE" dirty="0">
              <a:latin typeface="Arial" panose="020B0604020202020204" pitchFamily="34" charset="0"/>
            </a:endParaRPr>
          </a:p>
          <a:p>
            <a:endParaRPr lang="de-DE" altLang="de-DE" dirty="0">
              <a:latin typeface="Arial" panose="020B0604020202020204" pitchFamily="34" charset="0"/>
            </a:endParaRPr>
          </a:p>
          <a:p>
            <a:r>
              <a:rPr lang="de-DE" altLang="de-DE" dirty="0" err="1">
                <a:latin typeface="Arial" panose="020B0604020202020204" pitchFamily="34" charset="0"/>
              </a:rPr>
              <a:t>Verification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of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maintenance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tasks</a:t>
            </a:r>
            <a:endParaRPr lang="de-DE" altLang="de-DE" dirty="0">
              <a:latin typeface="Arial" panose="020B0604020202020204" pitchFamily="34" charset="0"/>
            </a:endParaRPr>
          </a:p>
          <a:p>
            <a:endParaRPr lang="de-DE" altLang="de-DE" dirty="0">
              <a:latin typeface="Arial" panose="020B0604020202020204" pitchFamily="34" charset="0"/>
            </a:endParaRPr>
          </a:p>
          <a:p>
            <a:r>
              <a:rPr lang="de-DE" altLang="de-DE" dirty="0" err="1">
                <a:latin typeface="Arial" panose="020B0604020202020204" pitchFamily="34" charset="0"/>
              </a:rPr>
              <a:t>Object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oriented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cost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monitoring</a:t>
            </a:r>
            <a:endParaRPr lang="de-DE" altLang="de-DE" dirty="0">
              <a:latin typeface="Arial" panose="020B0604020202020204" pitchFamily="34" charset="0"/>
            </a:endParaRPr>
          </a:p>
          <a:p>
            <a:endParaRPr lang="de-DE" altLang="de-DE" dirty="0">
              <a:latin typeface="Arial" panose="020B0604020202020204" pitchFamily="34" charset="0"/>
            </a:endParaRPr>
          </a:p>
          <a:p>
            <a:r>
              <a:rPr lang="de-DE" altLang="de-DE" dirty="0">
                <a:latin typeface="Arial" panose="020B0604020202020204" pitchFamily="34" charset="0"/>
              </a:rPr>
              <a:t>Data </a:t>
            </a:r>
            <a:r>
              <a:rPr lang="de-DE" altLang="de-DE" dirty="0" err="1">
                <a:latin typeface="Arial" panose="020B0604020202020204" pitchFamily="34" charset="0"/>
              </a:rPr>
              <a:t>gathering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and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analysis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for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extended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periods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of</a:t>
            </a:r>
            <a:r>
              <a:rPr lang="de-DE" altLang="de-DE" dirty="0">
                <a:latin typeface="Arial" panose="020B0604020202020204" pitchFamily="34" charset="0"/>
              </a:rPr>
              <a:t> time</a:t>
            </a:r>
          </a:p>
          <a:p>
            <a:endParaRPr lang="de-DE" altLang="de-DE" dirty="0">
              <a:latin typeface="Arial" panose="020B0604020202020204" pitchFamily="34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>
                <a:latin typeface="Arial" panose="020B0604020202020204" pitchFamily="34" charset="0"/>
              </a:rPr>
              <a:t>Equipment – </a:t>
            </a:r>
            <a:r>
              <a:rPr lang="en-US" altLang="de-DE" dirty="0">
                <a:latin typeface="Arial" panose="020B0604020202020204" pitchFamily="34" charset="0"/>
              </a:rPr>
              <a:t>Advantages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95677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Equipment Master Data</a:t>
            </a:r>
          </a:p>
          <a:p>
            <a:pPr lvl="1"/>
            <a:r>
              <a:rPr lang="en-US" altLang="de-DE" dirty="0">
                <a:latin typeface="Arial" panose="020B0604020202020204" pitchFamily="34" charset="0"/>
              </a:rPr>
              <a:t>contains all information around </a:t>
            </a:r>
            <a:br>
              <a:rPr lang="en-US" altLang="de-DE" dirty="0">
                <a:latin typeface="Arial" panose="020B0604020202020204" pitchFamily="34" charset="0"/>
              </a:rPr>
            </a:br>
            <a:r>
              <a:rPr lang="en-US" altLang="de-DE" dirty="0">
                <a:latin typeface="Arial" panose="020B0604020202020204" pitchFamily="34" charset="0"/>
              </a:rPr>
              <a:t>equipment</a:t>
            </a:r>
            <a:br>
              <a:rPr lang="en-US" altLang="de-DE" dirty="0">
                <a:latin typeface="Arial" panose="020B0604020202020204" pitchFamily="34" charset="0"/>
              </a:rPr>
            </a:br>
            <a:r>
              <a:rPr lang="en-US" altLang="de-DE" dirty="0">
                <a:latin typeface="Arial" panose="020B0604020202020204" pitchFamily="34" charset="0"/>
              </a:rPr>
              <a:t/>
            </a:r>
            <a:br>
              <a:rPr lang="en-US" altLang="de-DE" dirty="0">
                <a:latin typeface="Arial" panose="020B0604020202020204" pitchFamily="34" charset="0"/>
              </a:rPr>
            </a:br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Information in four views:</a:t>
            </a:r>
          </a:p>
          <a:p>
            <a:pPr lvl="1"/>
            <a:r>
              <a:rPr lang="en-US" altLang="de-DE" dirty="0">
                <a:latin typeface="Arial" panose="020B0604020202020204" pitchFamily="34" charset="0"/>
              </a:rPr>
              <a:t>General</a:t>
            </a:r>
          </a:p>
          <a:p>
            <a:pPr lvl="1"/>
            <a:r>
              <a:rPr lang="en-US" altLang="de-DE" dirty="0">
                <a:latin typeface="Arial" panose="020B0604020202020204" pitchFamily="34" charset="0"/>
              </a:rPr>
              <a:t>Location</a:t>
            </a:r>
          </a:p>
          <a:p>
            <a:pPr lvl="1"/>
            <a:r>
              <a:rPr lang="en-US" altLang="de-DE" dirty="0">
                <a:latin typeface="Arial" panose="020B0604020202020204" pitchFamily="34" charset="0"/>
              </a:rPr>
              <a:t>Organization</a:t>
            </a:r>
          </a:p>
          <a:p>
            <a:pPr lvl="1"/>
            <a:r>
              <a:rPr lang="en-US" altLang="de-DE" dirty="0">
                <a:latin typeface="Arial" panose="020B0604020202020204" pitchFamily="34" charset="0"/>
              </a:rPr>
              <a:t>Structure</a:t>
            </a:r>
          </a:p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>
                <a:latin typeface="Arial" panose="020B0604020202020204" pitchFamily="34" charset="0"/>
              </a:rPr>
              <a:t>Equipment – Master </a:t>
            </a:r>
            <a:r>
              <a:rPr lang="de-DE" altLang="de-DE" dirty="0" err="1">
                <a:latin typeface="Arial" panose="020B0604020202020204" pitchFamily="34" charset="0"/>
              </a:rPr>
              <a:t>Record</a:t>
            </a:r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185" y="1691079"/>
            <a:ext cx="4760142" cy="4435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835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Complete formally structured list of all components</a:t>
            </a: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Material BOMs can be allocated to functional locations or equipment</a:t>
            </a: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Three types of BOMs in Enterprise Asset Management:</a:t>
            </a:r>
          </a:p>
          <a:p>
            <a:pPr lvl="1"/>
            <a:r>
              <a:rPr lang="en-US" altLang="de-DE" dirty="0">
                <a:latin typeface="Arial" panose="020B0604020202020204" pitchFamily="34" charset="0"/>
              </a:rPr>
              <a:t>Material BOMs</a:t>
            </a:r>
          </a:p>
          <a:p>
            <a:pPr lvl="1"/>
            <a:r>
              <a:rPr lang="en-US" altLang="de-DE" dirty="0">
                <a:latin typeface="Arial" panose="020B0604020202020204" pitchFamily="34" charset="0"/>
              </a:rPr>
              <a:t>Equipment BOMs</a:t>
            </a:r>
          </a:p>
          <a:p>
            <a:pPr lvl="1"/>
            <a:r>
              <a:rPr lang="en-US" altLang="de-DE" dirty="0">
                <a:latin typeface="Arial" panose="020B0604020202020204" pitchFamily="34" charset="0"/>
              </a:rPr>
              <a:t>Functional location BOMs</a:t>
            </a:r>
          </a:p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>
                <a:latin typeface="Arial" panose="020B0604020202020204" pitchFamily="34" charset="0"/>
              </a:rPr>
              <a:t>Bill </a:t>
            </a:r>
            <a:r>
              <a:rPr lang="de-DE" altLang="de-DE" dirty="0" err="1">
                <a:latin typeface="Arial" panose="020B0604020202020204" pitchFamily="34" charset="0"/>
              </a:rPr>
              <a:t>of</a:t>
            </a:r>
            <a:r>
              <a:rPr lang="de-DE" altLang="de-DE" dirty="0">
                <a:latin typeface="Arial" panose="020B0604020202020204" pitchFamily="34" charset="0"/>
              </a:rPr>
              <a:t> Material – Definition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4488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Structuring of objects</a:t>
            </a: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Service parts planning in maintenance orders and maintenance task lists </a:t>
            </a: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Within plant maintenance BOMs are used if there are similar objects that can be </a:t>
            </a:r>
            <a:r>
              <a:rPr lang="en-US" altLang="de-DE" dirty="0" smtClean="0">
                <a:latin typeface="Arial" panose="020B0604020202020204" pitchFamily="34" charset="0"/>
              </a:rPr>
              <a:t>maintained</a:t>
            </a:r>
            <a:endParaRPr lang="en-US" altLang="de-DE" dirty="0">
              <a:latin typeface="Arial" panose="020B0604020202020204" pitchFamily="34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Bill of Material – Advantages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81494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de-DE" altLang="de-DE" dirty="0">
                <a:solidFill>
                  <a:srgbClr val="B2B2B2"/>
                </a:solidFill>
                <a:latin typeface="Arial" panose="020B0604020202020204" pitchFamily="34" charset="0"/>
              </a:rPr>
              <a:t>EAM </a:t>
            </a:r>
            <a:r>
              <a:rPr lang="de-DE" altLang="de-DE" dirty="0" err="1">
                <a:solidFill>
                  <a:srgbClr val="B2B2B2"/>
                </a:solidFill>
                <a:latin typeface="Arial" panose="020B0604020202020204" pitchFamily="34" charset="0"/>
              </a:rPr>
              <a:t>Organizational</a:t>
            </a:r>
            <a:r>
              <a:rPr lang="de-DE" altLang="de-DE" dirty="0">
                <a:solidFill>
                  <a:srgbClr val="B2B2B2"/>
                </a:solidFill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solidFill>
                  <a:srgbClr val="B2B2B2"/>
                </a:solidFill>
                <a:latin typeface="Arial" panose="020B0604020202020204" pitchFamily="34" charset="0"/>
              </a:rPr>
              <a:t>Structure</a:t>
            </a:r>
            <a:endParaRPr lang="de-DE" altLang="de-DE" dirty="0">
              <a:solidFill>
                <a:srgbClr val="B2B2B2"/>
              </a:solidFill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endParaRPr lang="de-DE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de-DE" altLang="de-DE" dirty="0">
                <a:solidFill>
                  <a:srgbClr val="B2B2B2"/>
                </a:solidFill>
                <a:latin typeface="Arial" panose="020B0604020202020204" pitchFamily="34" charset="0"/>
              </a:rPr>
              <a:t>EAM Master Data</a:t>
            </a:r>
          </a:p>
          <a:p>
            <a:pPr>
              <a:tabLst>
                <a:tab pos="1971675" algn="l"/>
              </a:tabLst>
            </a:pPr>
            <a:endParaRPr lang="de-DE" altLang="de-DE" dirty="0">
              <a:solidFill>
                <a:srgbClr val="B2B2B2"/>
              </a:solidFill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r>
              <a:rPr lang="de-DE" altLang="de-DE" dirty="0">
                <a:latin typeface="Arial" panose="020B0604020202020204" pitchFamily="34" charset="0"/>
              </a:rPr>
              <a:t>EAM </a:t>
            </a:r>
            <a:r>
              <a:rPr lang="de-DE" altLang="de-DE" dirty="0" err="1">
                <a:latin typeface="Arial" panose="020B0604020202020204" pitchFamily="34" charset="0"/>
              </a:rPr>
              <a:t>Processes</a:t>
            </a:r>
            <a:endParaRPr lang="de-DE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endParaRPr lang="de-DE" altLang="de-DE" dirty="0">
              <a:latin typeface="Arial" panose="020B0604020202020204" pitchFamily="34" charset="0"/>
            </a:endParaRPr>
          </a:p>
          <a:p>
            <a:pPr>
              <a:tabLst>
                <a:tab pos="1971675" algn="l"/>
              </a:tabLst>
            </a:pPr>
            <a:endParaRPr lang="de-DE" altLang="de-DE" dirty="0">
              <a:latin typeface="Arial" panose="020B0604020202020204" pitchFamily="34" charset="0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086134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>
                <a:latin typeface="Arial" panose="020B0604020202020204" pitchFamily="34" charset="0"/>
              </a:rPr>
              <a:t>EAM </a:t>
            </a:r>
            <a:r>
              <a:rPr lang="de-DE" altLang="de-DE" dirty="0" err="1">
                <a:latin typeface="Arial" panose="020B0604020202020204" pitchFamily="34" charset="0"/>
              </a:rPr>
              <a:t>Process</a:t>
            </a:r>
            <a:r>
              <a:rPr lang="de-DE" altLang="de-DE" dirty="0">
                <a:latin typeface="Arial" panose="020B0604020202020204" pitchFamily="34" charset="0"/>
              </a:rPr>
              <a:t> (</a:t>
            </a:r>
            <a:r>
              <a:rPr lang="de-DE" altLang="de-DE" dirty="0" err="1">
                <a:latin typeface="Arial" panose="020B0604020202020204" pitchFamily="34" charset="0"/>
              </a:rPr>
              <a:t>Planned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Repair</a:t>
            </a:r>
            <a:r>
              <a:rPr lang="de-DE" altLang="de-DE" dirty="0">
                <a:latin typeface="Arial" panose="020B0604020202020204" pitchFamily="34" charset="0"/>
              </a:rPr>
              <a:t>)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</p:nvPr>
        </p:nvGraphicFramePr>
        <p:xfrm>
          <a:off x="323850" y="1690688"/>
          <a:ext cx="11545888" cy="4392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03074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Malfunctions and other</a:t>
            </a:r>
            <a:br>
              <a:rPr lang="en-US" altLang="de-DE" dirty="0">
                <a:latin typeface="Arial" panose="020B0604020202020204" pitchFamily="34" charset="0"/>
              </a:rPr>
            </a:br>
            <a:r>
              <a:rPr lang="en-US" altLang="de-DE" dirty="0">
                <a:latin typeface="Arial" panose="020B0604020202020204" pitchFamily="34" charset="0"/>
              </a:rPr>
              <a:t>requirements are gathered in</a:t>
            </a:r>
            <a:br>
              <a:rPr lang="en-US" altLang="de-DE" dirty="0">
                <a:latin typeface="Arial" panose="020B0604020202020204" pitchFamily="34" charset="0"/>
              </a:rPr>
            </a:br>
            <a:r>
              <a:rPr lang="en-US" altLang="de-DE" dirty="0">
                <a:latin typeface="Arial" panose="020B0604020202020204" pitchFamily="34" charset="0"/>
              </a:rPr>
              <a:t>notifications</a:t>
            </a:r>
          </a:p>
          <a:p>
            <a:pPr>
              <a:buNone/>
            </a:pPr>
            <a:r>
              <a:rPr lang="en-US" altLang="de-DE" dirty="0">
                <a:latin typeface="Arial" panose="020B0604020202020204" pitchFamily="34" charset="0"/>
              </a:rPr>
              <a:t/>
            </a:r>
            <a:br>
              <a:rPr lang="en-US" altLang="de-DE" dirty="0">
                <a:latin typeface="Arial" panose="020B0604020202020204" pitchFamily="34" charset="0"/>
              </a:rPr>
            </a:br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Content:</a:t>
            </a:r>
          </a:p>
          <a:p>
            <a:pPr lvl="1"/>
            <a:r>
              <a:rPr lang="en-US" altLang="de-DE" dirty="0">
                <a:latin typeface="Arial" panose="020B0604020202020204" pitchFamily="34" charset="0"/>
              </a:rPr>
              <a:t>Technical object</a:t>
            </a:r>
          </a:p>
          <a:p>
            <a:pPr lvl="1"/>
            <a:r>
              <a:rPr lang="en-US" altLang="de-DE" dirty="0" smtClean="0">
                <a:latin typeface="Arial" panose="020B0604020202020204" pitchFamily="34" charset="0"/>
              </a:rPr>
              <a:t>Reported by</a:t>
            </a:r>
          </a:p>
          <a:p>
            <a:pPr lvl="1"/>
            <a:r>
              <a:rPr lang="en-US" altLang="de-DE" dirty="0" smtClean="0">
                <a:latin typeface="Arial" panose="020B0604020202020204" pitchFamily="34" charset="0"/>
              </a:rPr>
              <a:t>Effect</a:t>
            </a:r>
            <a:endParaRPr lang="en-US" altLang="de-DE" dirty="0">
              <a:latin typeface="Arial" panose="020B0604020202020204" pitchFamily="34" charset="0"/>
            </a:endParaRPr>
          </a:p>
          <a:p>
            <a:pPr lvl="1"/>
            <a:r>
              <a:rPr lang="en-US" altLang="de-DE" dirty="0">
                <a:latin typeface="Arial" panose="020B0604020202020204" pitchFamily="34" charset="0"/>
              </a:rPr>
              <a:t>Description</a:t>
            </a:r>
          </a:p>
          <a:p>
            <a:pPr lvl="1"/>
            <a:r>
              <a:rPr lang="en-US" altLang="de-DE" dirty="0" smtClean="0">
                <a:latin typeface="Arial" panose="020B0604020202020204" pitchFamily="34" charset="0"/>
              </a:rPr>
              <a:t>Date</a:t>
            </a:r>
            <a:endParaRPr lang="en-US" altLang="de-DE" dirty="0">
              <a:latin typeface="Arial" panose="020B0604020202020204" pitchFamily="34" charset="0"/>
            </a:endParaRPr>
          </a:p>
          <a:p>
            <a:pPr lvl="1"/>
            <a:r>
              <a:rPr lang="en-US" altLang="de-DE" dirty="0" smtClean="0">
                <a:latin typeface="Arial" panose="020B0604020202020204" pitchFamily="34" charset="0"/>
              </a:rPr>
              <a:t>Breakdown</a:t>
            </a:r>
            <a:endParaRPr lang="en-US" altLang="de-DE" dirty="0">
              <a:latin typeface="Arial" panose="020B0604020202020204" pitchFamily="34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 err="1">
                <a:latin typeface="Arial" panose="020B0604020202020204" pitchFamily="34" charset="0"/>
              </a:rPr>
              <a:t>Notification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942" y="1691079"/>
            <a:ext cx="6643972" cy="428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2857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24000" y="1357250"/>
            <a:ext cx="11545200" cy="2590635"/>
          </a:xfrm>
        </p:spPr>
        <p:txBody>
          <a:bodyPr/>
          <a:lstStyle/>
          <a:p>
            <a:endParaRPr lang="en-US" altLang="de-DE" dirty="0" smtClean="0">
              <a:latin typeface="Arial" panose="020B0604020202020204" pitchFamily="34" charset="0"/>
            </a:endParaRPr>
          </a:p>
          <a:p>
            <a:r>
              <a:rPr lang="en-US" altLang="de-DE" dirty="0" smtClean="0">
                <a:latin typeface="Arial" panose="020B0604020202020204" pitchFamily="34" charset="0"/>
              </a:rPr>
              <a:t>Notifications </a:t>
            </a:r>
            <a:r>
              <a:rPr lang="en-US" altLang="de-DE" dirty="0">
                <a:latin typeface="Arial" panose="020B0604020202020204" pitchFamily="34" charset="0"/>
              </a:rPr>
              <a:t>are used to tell maintenance that something needs fixing </a:t>
            </a: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They may or may not contain technical information</a:t>
            </a: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They will often highlight a breakdown that needs to be actioned </a:t>
            </a:r>
            <a:r>
              <a:rPr lang="en-US" altLang="de-DE" dirty="0" smtClean="0">
                <a:latin typeface="Arial" panose="020B0604020202020204" pitchFamily="34" charset="0"/>
              </a:rPr>
              <a:t>quickly</a:t>
            </a:r>
          </a:p>
          <a:p>
            <a:endParaRPr lang="en-US" altLang="de-DE" dirty="0" smtClean="0">
              <a:latin typeface="Arial" panose="020B0604020202020204" pitchFamily="34" charset="0"/>
            </a:endParaRPr>
          </a:p>
          <a:p>
            <a:r>
              <a:rPr lang="en-US" dirty="0"/>
              <a:t>Requirement of necessary maintenance measures</a:t>
            </a:r>
            <a:r>
              <a:rPr lang="en-US" altLang="de-DE" dirty="0">
                <a:latin typeface="Arial" panose="020B0604020202020204" pitchFamily="34" charset="0"/>
              </a:rPr>
              <a:t/>
            </a:r>
            <a:br>
              <a:rPr lang="en-US" altLang="de-DE" dirty="0">
                <a:latin typeface="Arial" panose="020B0604020202020204" pitchFamily="34" charset="0"/>
              </a:rPr>
            </a:br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Notifications can also be used to record works already carried out because a history needs to be maintained</a:t>
            </a:r>
          </a:p>
          <a:p>
            <a:pPr>
              <a:buNone/>
            </a:pPr>
            <a:endParaRPr lang="de-DE" altLang="de-DE" dirty="0">
              <a:latin typeface="Arial" panose="020B0604020202020204" pitchFamily="34" charset="0"/>
            </a:endParaRPr>
          </a:p>
          <a:p>
            <a:pPr lvl="1"/>
            <a:endParaRPr lang="de-DE" altLang="de-DE" dirty="0">
              <a:latin typeface="Arial" panose="020B0604020202020204" pitchFamily="34" charset="0"/>
            </a:endParaRPr>
          </a:p>
          <a:p>
            <a:pPr>
              <a:buNone/>
            </a:pPr>
            <a:endParaRPr lang="de-DE" altLang="de-DE" dirty="0">
              <a:latin typeface="Arial" panose="020B0604020202020204" pitchFamily="34" charset="0"/>
            </a:endParaRPr>
          </a:p>
          <a:p>
            <a:pPr lvl="1"/>
            <a:endParaRPr lang="de-DE" altLang="de-DE" dirty="0">
              <a:latin typeface="Arial" panose="020B0604020202020204" pitchFamily="34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 err="1">
                <a:latin typeface="Arial" panose="020B0604020202020204" pitchFamily="34" charset="0"/>
              </a:rPr>
              <a:t>Notification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593473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Order creation and order </a:t>
            </a:r>
            <a:br>
              <a:rPr lang="en-US" altLang="de-DE" dirty="0">
                <a:latin typeface="Arial" panose="020B0604020202020204" pitchFamily="34" charset="0"/>
              </a:rPr>
            </a:br>
            <a:r>
              <a:rPr lang="en-US" altLang="de-DE" dirty="0">
                <a:latin typeface="Arial" panose="020B0604020202020204" pitchFamily="34" charset="0"/>
              </a:rPr>
              <a:t>planning is normally triggered from a notification</a:t>
            </a:r>
            <a:r>
              <a:rPr lang="de-DE" altLang="de-DE" dirty="0">
                <a:latin typeface="Arial" panose="020B0604020202020204" pitchFamily="34" charset="0"/>
              </a:rPr>
              <a:t/>
            </a:r>
            <a:br>
              <a:rPr lang="de-DE" altLang="de-DE" dirty="0">
                <a:latin typeface="Arial" panose="020B0604020202020204" pitchFamily="34" charset="0"/>
              </a:rPr>
            </a:br>
            <a:r>
              <a:rPr lang="de-DE" altLang="de-DE" dirty="0">
                <a:latin typeface="Arial" panose="020B0604020202020204" pitchFamily="34" charset="0"/>
              </a:rPr>
              <a:t/>
            </a:r>
            <a:br>
              <a:rPr lang="de-DE" altLang="de-DE" dirty="0">
                <a:latin typeface="Arial" panose="020B0604020202020204" pitchFamily="34" charset="0"/>
              </a:rPr>
            </a:br>
            <a:endParaRPr lang="de-DE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Order planning can </a:t>
            </a:r>
            <a:r>
              <a:rPr lang="en-US" altLang="de-DE" dirty="0" smtClean="0">
                <a:latin typeface="Arial" panose="020B0604020202020204" pitchFamily="34" charset="0"/>
              </a:rPr>
              <a:t>include:</a:t>
            </a:r>
          </a:p>
          <a:p>
            <a:pPr lvl="1"/>
            <a:r>
              <a:rPr lang="en-US" altLang="de-DE" dirty="0" smtClean="0">
                <a:latin typeface="Arial" panose="020B0604020202020204" pitchFamily="34" charset="0"/>
              </a:rPr>
              <a:t>The steps to be Performed (Work)</a:t>
            </a:r>
          </a:p>
          <a:p>
            <a:pPr lvl="1"/>
            <a:r>
              <a:rPr lang="en-US" altLang="de-DE" dirty="0" smtClean="0">
                <a:latin typeface="Arial" panose="020B0604020202020204" pitchFamily="34" charset="0"/>
              </a:rPr>
              <a:t>Required </a:t>
            </a:r>
            <a:r>
              <a:rPr lang="en-US" altLang="de-DE" dirty="0">
                <a:latin typeface="Arial" panose="020B0604020202020204" pitchFamily="34" charset="0"/>
              </a:rPr>
              <a:t>spare </a:t>
            </a:r>
            <a:r>
              <a:rPr lang="en-US" altLang="de-DE" dirty="0" smtClean="0">
                <a:latin typeface="Arial" panose="020B0604020202020204" pitchFamily="34" charset="0"/>
              </a:rPr>
              <a:t>parts (Part)</a:t>
            </a:r>
            <a:endParaRPr lang="en-US" altLang="de-DE" dirty="0">
              <a:latin typeface="Arial" panose="020B0604020202020204" pitchFamily="34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 err="1">
                <a:latin typeface="Arial" panose="020B0604020202020204" pitchFamily="34" charset="0"/>
              </a:rPr>
              <a:t>Planning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891" y="2669002"/>
            <a:ext cx="6925676" cy="368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4078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24000" y="1385664"/>
            <a:ext cx="11545200" cy="2489035"/>
          </a:xfrm>
        </p:spPr>
        <p:txBody>
          <a:bodyPr/>
          <a:lstStyle/>
          <a:p>
            <a:endParaRPr lang="en-US" altLang="de-DE" dirty="0" smtClean="0">
              <a:latin typeface="Arial" panose="020B0604020202020204" pitchFamily="34" charset="0"/>
            </a:endParaRPr>
          </a:p>
          <a:p>
            <a:r>
              <a:rPr lang="en-US" altLang="de-DE" dirty="0" smtClean="0">
                <a:latin typeface="Arial" panose="020B0604020202020204" pitchFamily="34" charset="0"/>
              </a:rPr>
              <a:t>Maintenance </a:t>
            </a:r>
            <a:r>
              <a:rPr lang="en-US" altLang="de-DE" dirty="0">
                <a:latin typeface="Arial" panose="020B0604020202020204" pitchFamily="34" charset="0"/>
              </a:rPr>
              <a:t>orders can be created from maintenance plans, notifications or created without any reference document</a:t>
            </a: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Responsibilities for external or internal work are defined</a:t>
            </a: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Material reservations take place order upon release</a:t>
            </a: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Production resources like protective clothing and specialist tooling can be listed</a:t>
            </a: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Planned costs are calculated based on internal activity rates and external service costs 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 err="1">
                <a:latin typeface="Arial" panose="020B0604020202020204" pitchFamily="34" charset="0"/>
              </a:rPr>
              <a:t>Planning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105761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24000" y="1298580"/>
            <a:ext cx="11545200" cy="2750292"/>
          </a:xfrm>
        </p:spPr>
        <p:txBody>
          <a:bodyPr/>
          <a:lstStyle/>
          <a:p>
            <a:endParaRPr lang="en-US" altLang="de-DE" dirty="0" smtClean="0">
              <a:latin typeface="Arial" panose="020B0604020202020204" pitchFamily="34" charset="0"/>
            </a:endParaRPr>
          </a:p>
          <a:p>
            <a:r>
              <a:rPr lang="en-US" altLang="de-DE" dirty="0" smtClean="0">
                <a:latin typeface="Arial" panose="020B0604020202020204" pitchFamily="34" charset="0"/>
              </a:rPr>
              <a:t>Control </a:t>
            </a:r>
            <a:r>
              <a:rPr lang="en-US" altLang="de-DE" dirty="0">
                <a:latin typeface="Arial" panose="020B0604020202020204" pitchFamily="34" charset="0"/>
              </a:rPr>
              <a:t>functions for maintenance orders can vary depending on the type of order </a:t>
            </a: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Order release is carried out once planning has been completed</a:t>
            </a: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Maintenance orders provide the following functions:</a:t>
            </a:r>
          </a:p>
          <a:p>
            <a:pPr lvl="1"/>
            <a:r>
              <a:rPr lang="en-US" altLang="de-DE" sz="1800" dirty="0">
                <a:latin typeface="Arial" panose="020B0604020202020204" pitchFamily="34" charset="0"/>
              </a:rPr>
              <a:t>Mass change or mass editing</a:t>
            </a:r>
          </a:p>
          <a:p>
            <a:pPr lvl="1"/>
            <a:r>
              <a:rPr lang="en-US" altLang="de-DE" sz="1800" dirty="0">
                <a:latin typeface="Arial" panose="020B0604020202020204" pitchFamily="34" charset="0"/>
              </a:rPr>
              <a:t>Availability check for spare parts</a:t>
            </a:r>
          </a:p>
          <a:p>
            <a:pPr lvl="1"/>
            <a:r>
              <a:rPr lang="en-US" altLang="de-DE" sz="1800" dirty="0">
                <a:latin typeface="Arial" panose="020B0604020202020204" pitchFamily="34" charset="0"/>
              </a:rPr>
              <a:t>Capacity requirements planning</a:t>
            </a:r>
          </a:p>
          <a:p>
            <a:pPr lvl="1"/>
            <a:r>
              <a:rPr lang="en-US" altLang="de-DE" sz="1800" dirty="0">
                <a:latin typeface="Arial" panose="020B0604020202020204" pitchFamily="34" charset="0"/>
              </a:rPr>
              <a:t>Printing work instruction papers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>
                <a:latin typeface="Arial" panose="020B0604020202020204" pitchFamily="34" charset="0"/>
              </a:rPr>
              <a:t>Maintenance Order Control </a:t>
            </a:r>
            <a:r>
              <a:rPr lang="de-DE" altLang="de-DE" dirty="0" err="1">
                <a:latin typeface="Arial" panose="020B0604020202020204" pitchFamily="34" charset="0"/>
              </a:rPr>
              <a:t>Functions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669017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24000" y="1691079"/>
            <a:ext cx="8506849" cy="3113150"/>
          </a:xfrm>
        </p:spPr>
        <p:txBody>
          <a:bodyPr/>
          <a:lstStyle/>
          <a:p>
            <a:r>
              <a:rPr lang="en-US" altLang="de-DE" dirty="0" smtClean="0">
                <a:latin typeface="Arial" panose="020B0604020202020204" pitchFamily="34" charset="0"/>
              </a:rPr>
              <a:t>Order Execution</a:t>
            </a:r>
            <a:endParaRPr lang="en-US" altLang="de-DE" dirty="0" smtClean="0">
              <a:latin typeface="Arial" panose="020B0604020202020204" pitchFamily="34" charset="0"/>
            </a:endParaRP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 smtClean="0">
                <a:latin typeface="Arial" panose="020B0604020202020204" pitchFamily="34" charset="0"/>
              </a:rPr>
              <a:t>Planned </a:t>
            </a:r>
            <a:r>
              <a:rPr lang="en-US" altLang="de-DE" dirty="0">
                <a:latin typeface="Arial" panose="020B0604020202020204" pitchFamily="34" charset="0"/>
              </a:rPr>
              <a:t>and unplanned material withdrawals (goods issue) are possible</a:t>
            </a:r>
          </a:p>
          <a:p>
            <a:endParaRPr lang="en-US" altLang="de-DE" dirty="0" smtClean="0">
              <a:latin typeface="Arial" panose="020B0604020202020204" pitchFamily="34" charset="0"/>
            </a:endParaRPr>
          </a:p>
          <a:p>
            <a:r>
              <a:rPr lang="en-US" altLang="de-DE" dirty="0" smtClean="0">
                <a:latin typeface="Arial" panose="020B0604020202020204" pitchFamily="34" charset="0"/>
              </a:rPr>
              <a:t>Order </a:t>
            </a:r>
            <a:r>
              <a:rPr lang="en-US" altLang="de-DE" dirty="0">
                <a:latin typeface="Arial" panose="020B0604020202020204" pitchFamily="34" charset="0"/>
              </a:rPr>
              <a:t>Completion Steps:</a:t>
            </a:r>
          </a:p>
          <a:p>
            <a:pPr lvl="1"/>
            <a:r>
              <a:rPr lang="en-US" altLang="de-DE" dirty="0">
                <a:latin typeface="Arial" panose="020B0604020202020204" pitchFamily="34" charset="0"/>
              </a:rPr>
              <a:t>Time confirmation</a:t>
            </a:r>
          </a:p>
          <a:p>
            <a:pPr lvl="1"/>
            <a:r>
              <a:rPr lang="en-US" altLang="de-DE" dirty="0">
                <a:latin typeface="Arial" panose="020B0604020202020204" pitchFamily="34" charset="0"/>
              </a:rPr>
              <a:t>Technical completion confirmation</a:t>
            </a:r>
          </a:p>
          <a:p>
            <a:pPr lvl="1"/>
            <a:r>
              <a:rPr lang="en-US" altLang="de-DE" dirty="0">
                <a:latin typeface="Arial" panose="020B0604020202020204" pitchFamily="34" charset="0"/>
              </a:rPr>
              <a:t>Technical completion</a:t>
            </a:r>
          </a:p>
          <a:p>
            <a:pPr lvl="1"/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Customer billing can be performed after successful technical completion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24000" y="324075"/>
            <a:ext cx="11545200" cy="756175"/>
          </a:xfrm>
        </p:spPr>
        <p:txBody>
          <a:bodyPr/>
          <a:lstStyle/>
          <a:p>
            <a:r>
              <a:rPr lang="de-DE" altLang="de-DE" dirty="0" err="1" smtClean="0">
                <a:latin typeface="Arial" panose="020B0604020202020204" pitchFamily="34" charset="0"/>
              </a:rPr>
              <a:t>Execution</a:t>
            </a:r>
            <a:r>
              <a:rPr lang="de-DE" altLang="de-DE" dirty="0" smtClean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and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Completion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91224210"/>
      </p:ext>
    </p:extLst>
  </p:cSld>
  <p:clrMapOvr>
    <a:masterClrMapping/>
  </p:clrMapOvr>
</p:sld>
</file>

<file path=ppt/theme/theme1.xml><?xml version="1.0" encoding="utf-8"?>
<a:theme xmlns:a="http://schemas.openxmlformats.org/drawingml/2006/main" name="SAP_2016_16x9_white">
  <a:themeElements>
    <a:clrScheme name="SAP_colors_white_template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1"/>
        </a:solidFill>
        <a:ln w="6350" algn="ctr">
          <a:noFill/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20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fontAlgn="base">
          <a:spcBef>
            <a:spcPts val="600"/>
          </a:spcBef>
          <a:spcAft>
            <a:spcPct val="0"/>
          </a:spcAft>
          <a:buClr>
            <a:srgbClr val="F0AB00"/>
          </a:buClr>
          <a:buSzPct val="80000"/>
          <a:defRPr sz="1800" kern="0" dirty="0" err="1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2696891-6260-4D8D-AB31-F1C204081A38}" vid="{B72584D7-7D1F-4BD9-9F01-A4F5E0412201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SAP_Template_169_en</Template>
  <TotalTime>0</TotalTime>
  <Words>1030</Words>
  <Application>Microsoft Office PowerPoint</Application>
  <PresentationFormat>Benutzerdefiniert</PresentationFormat>
  <Paragraphs>289</Paragraphs>
  <Slides>28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28</vt:i4>
      </vt:variant>
    </vt:vector>
  </HeadingPairs>
  <TitlesOfParts>
    <vt:vector size="37" baseType="lpstr">
      <vt:lpstr>Angsana New</vt:lpstr>
      <vt:lpstr>Arial</vt:lpstr>
      <vt:lpstr>Arial Unicode MS</vt:lpstr>
      <vt:lpstr>Courier New</vt:lpstr>
      <vt:lpstr>Symbol</vt:lpstr>
      <vt:lpstr>Times New Roman</vt:lpstr>
      <vt:lpstr>wingdings</vt:lpstr>
      <vt:lpstr>wingdings</vt:lpstr>
      <vt:lpstr>SAP_2016_16x9_white</vt:lpstr>
      <vt:lpstr>Enterprise Asset Management (EAM)</vt:lpstr>
      <vt:lpstr>PowerPoint-Präsentation</vt:lpstr>
      <vt:lpstr>PowerPoint-Präsentation</vt:lpstr>
      <vt:lpstr>PowerPoint-Präsentation</vt:lpstr>
      <vt:lpstr>Functionality</vt:lpstr>
      <vt:lpstr>Agenda</vt:lpstr>
      <vt:lpstr>GBI Structure for Enterprise Asset Management</vt:lpstr>
      <vt:lpstr>EAM Organizational Structure</vt:lpstr>
      <vt:lpstr>EAM Organizational Structure</vt:lpstr>
      <vt:lpstr>GBI Enterprise Structure in SAP ERP (EAM)</vt:lpstr>
      <vt:lpstr>Agenda</vt:lpstr>
      <vt:lpstr>EAM Master Data</vt:lpstr>
      <vt:lpstr>Functional Location – Definition</vt:lpstr>
      <vt:lpstr>Functional Location – Advantages</vt:lpstr>
      <vt:lpstr>Functional Location – Master Record</vt:lpstr>
      <vt:lpstr>Equipment – Definition</vt:lpstr>
      <vt:lpstr>Equipment – Advantages</vt:lpstr>
      <vt:lpstr>Equipment – Master Record</vt:lpstr>
      <vt:lpstr>Bill of Material – Definition</vt:lpstr>
      <vt:lpstr>Bill of Material – Advantages</vt:lpstr>
      <vt:lpstr>Agenda</vt:lpstr>
      <vt:lpstr>EAM Process (Planned Repair)</vt:lpstr>
      <vt:lpstr>Notification</vt:lpstr>
      <vt:lpstr>Notification</vt:lpstr>
      <vt:lpstr>Planning</vt:lpstr>
      <vt:lpstr>Planning</vt:lpstr>
      <vt:lpstr>Maintenance Order Control Functions </vt:lpstr>
      <vt:lpstr>Execution and Completion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SAP UCC Magdeburg</dc:creator>
  <cp:keywords>2016/16:9/white</cp:keywords>
  <cp:lastModifiedBy>Robert Häusler</cp:lastModifiedBy>
  <cp:revision>45</cp:revision>
  <dcterms:created xsi:type="dcterms:W3CDTF">2017-05-28T06:53:38Z</dcterms:created>
  <dcterms:modified xsi:type="dcterms:W3CDTF">2025-08-13T09:12:36Z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-1173631419</vt:i4>
  </property>
  <property fmtid="{D5CDD505-2E9C-101B-9397-08002B2CF9AE}" pid="3" name="_NewReviewCycle">
    <vt:lpwstr/>
  </property>
  <property fmtid="{D5CDD505-2E9C-101B-9397-08002B2CF9AE}" pid="4" name="_EmailSubject">
    <vt:lpwstr> UA Master Slides Diskussion</vt:lpwstr>
  </property>
  <property fmtid="{D5CDD505-2E9C-101B-9397-08002B2CF9AE}" pid="5" name="_AuthorEmail">
    <vt:lpwstr>kristof.schneider@sap.com</vt:lpwstr>
  </property>
  <property fmtid="{D5CDD505-2E9C-101B-9397-08002B2CF9AE}" pid="6" name="_AuthorEmailDisplayName">
    <vt:lpwstr>Schneider, Kristof</vt:lpwstr>
  </property>
  <property fmtid="{D5CDD505-2E9C-101B-9397-08002B2CF9AE}" pid="7" name="_PreviousAdHocReviewCycleID">
    <vt:i4>1357826825</vt:i4>
  </property>
</Properties>
</file>