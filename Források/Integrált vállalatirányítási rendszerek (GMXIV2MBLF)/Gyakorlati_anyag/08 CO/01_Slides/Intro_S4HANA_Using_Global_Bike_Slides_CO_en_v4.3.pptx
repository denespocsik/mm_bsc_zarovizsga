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36"/>
  </p:notesMasterIdLst>
  <p:handoutMasterIdLst>
    <p:handoutMasterId r:id="rId37"/>
  </p:handoutMasterIdLst>
  <p:sldIdLst>
    <p:sldId id="391" r:id="rId2"/>
    <p:sldId id="369" r:id="rId3"/>
    <p:sldId id="363" r:id="rId4"/>
    <p:sldId id="364" r:id="rId5"/>
    <p:sldId id="365" r:id="rId6"/>
    <p:sldId id="366" r:id="rId7"/>
    <p:sldId id="370" r:id="rId8"/>
    <p:sldId id="371" r:id="rId9"/>
    <p:sldId id="372" r:id="rId10"/>
    <p:sldId id="373" r:id="rId11"/>
    <p:sldId id="374" r:id="rId12"/>
    <p:sldId id="375" r:id="rId13"/>
    <p:sldId id="392" r:id="rId14"/>
    <p:sldId id="376" r:id="rId15"/>
    <p:sldId id="377" r:id="rId16"/>
    <p:sldId id="378" r:id="rId17"/>
    <p:sldId id="379" r:id="rId18"/>
    <p:sldId id="380" r:id="rId19"/>
    <p:sldId id="393" r:id="rId20"/>
    <p:sldId id="381" r:id="rId21"/>
    <p:sldId id="382" r:id="rId22"/>
    <p:sldId id="383" r:id="rId23"/>
    <p:sldId id="384" r:id="rId24"/>
    <p:sldId id="385" r:id="rId25"/>
    <p:sldId id="386" r:id="rId26"/>
    <p:sldId id="387" r:id="rId27"/>
    <p:sldId id="388" r:id="rId28"/>
    <p:sldId id="389" r:id="rId29"/>
    <p:sldId id="390" r:id="rId30"/>
    <p:sldId id="411" r:id="rId31"/>
    <p:sldId id="412" r:id="rId32"/>
    <p:sldId id="413" r:id="rId33"/>
    <p:sldId id="414" r:id="rId34"/>
    <p:sldId id="415" r:id="rId35"/>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85">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56" userDrawn="1">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t, Phillip" initials="DP" lastIdx="18" clrIdx="0">
    <p:extLst>
      <p:ext uri="{19B8F6BF-5375-455C-9EA6-DF929625EA0E}">
        <p15:presenceInfo xmlns:p15="http://schemas.microsoft.com/office/powerpoint/2012/main" userId="0c306e22-924d-4d2f-9b38-6bfb0b3c3bb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03" autoAdjust="0"/>
    <p:restoredTop sz="84388" autoAdjust="0"/>
  </p:normalViewPr>
  <p:slideViewPr>
    <p:cSldViewPr snapToGrid="0" showGuides="1">
      <p:cViewPr varScale="1">
        <p:scale>
          <a:sx n="85" d="100"/>
          <a:sy n="85" d="100"/>
        </p:scale>
        <p:origin x="126" y="1182"/>
      </p:cViewPr>
      <p:guideLst>
        <p:guide orient="horz" pos="1285"/>
        <p:guide orient="horz" pos="779"/>
        <p:guide pos="7478"/>
        <p:guide pos="205"/>
        <p:guide pos="3849"/>
        <p:guide pos="4708"/>
        <p:guide pos="4812"/>
        <p:guide pos="2865"/>
        <p:guide pos="295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85" d="100"/>
          <a:sy n="85" d="100"/>
        </p:scale>
        <p:origin x="-4200" y="-82"/>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91DD88-7448-42FD-8020-B3DBFDF20902}"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de-DE"/>
        </a:p>
      </dgm:t>
    </dgm:pt>
    <dgm:pt modelId="{1D11611A-36BE-436A-ADFB-4A9C211E682A}">
      <dgm:prSet phldrT="[Text]" custT="1"/>
      <dgm:spPr/>
      <dgm:t>
        <a:bodyPr/>
        <a:lstStyle/>
        <a:p>
          <a:r>
            <a:rPr lang="de-DE" sz="2000" b="1" i="0" dirty="0" err="1" smtClean="0"/>
            <a:t>Product</a:t>
          </a:r>
          <a:r>
            <a:rPr lang="de-DE" sz="2000" b="1" i="0" dirty="0" smtClean="0"/>
            <a:t> </a:t>
          </a:r>
          <a:r>
            <a:rPr lang="de-DE" sz="2000" b="1" i="0" dirty="0" err="1" smtClean="0"/>
            <a:t>Cost</a:t>
          </a:r>
          <a:r>
            <a:rPr lang="de-DE" sz="2000" b="1" i="0" dirty="0" smtClean="0"/>
            <a:t> Controlling</a:t>
          </a:r>
          <a:endParaRPr lang="de-DE" sz="2000" dirty="0"/>
        </a:p>
      </dgm:t>
    </dgm:pt>
    <dgm:pt modelId="{AFB15883-4F9C-4E3C-A020-3E25F73CEAA3}" type="parTrans" cxnId="{A03C3B46-7145-4A0B-81BF-A9077CF4F650}">
      <dgm:prSet/>
      <dgm:spPr/>
      <dgm:t>
        <a:bodyPr/>
        <a:lstStyle/>
        <a:p>
          <a:endParaRPr lang="de-DE"/>
        </a:p>
      </dgm:t>
    </dgm:pt>
    <dgm:pt modelId="{CCC0D262-E0B0-4C6D-A434-DE0019557BEE}" type="sibTrans" cxnId="{A03C3B46-7145-4A0B-81BF-A9077CF4F650}">
      <dgm:prSet/>
      <dgm:spPr/>
      <dgm:t>
        <a:bodyPr/>
        <a:lstStyle/>
        <a:p>
          <a:endParaRPr lang="de-DE"/>
        </a:p>
      </dgm:t>
    </dgm:pt>
    <dgm:pt modelId="{30B4B953-8F5E-4AF3-AF4B-8B0CE445CE6D}">
      <dgm:prSet phldrT="[Text]"/>
      <dgm:spPr/>
      <dgm:t>
        <a:bodyPr/>
        <a:lstStyle/>
        <a:p>
          <a:r>
            <a:rPr lang="de-DE" dirty="0" err="1" smtClean="0"/>
            <a:t>Product</a:t>
          </a:r>
          <a:r>
            <a:rPr lang="de-DE" dirty="0" smtClean="0"/>
            <a:t> </a:t>
          </a:r>
          <a:r>
            <a:rPr lang="de-DE" dirty="0" err="1" smtClean="0"/>
            <a:t>Cost</a:t>
          </a:r>
          <a:r>
            <a:rPr lang="de-DE" dirty="0" smtClean="0"/>
            <a:t> </a:t>
          </a:r>
          <a:r>
            <a:rPr lang="de-DE" dirty="0" err="1" smtClean="0"/>
            <a:t>Planning</a:t>
          </a:r>
          <a:endParaRPr lang="de-DE" dirty="0"/>
        </a:p>
      </dgm:t>
    </dgm:pt>
    <dgm:pt modelId="{9C304252-AD7D-44C1-A030-B176561BA01F}" type="parTrans" cxnId="{9F7451B5-8406-4291-A075-96E748512EFA}">
      <dgm:prSet/>
      <dgm:spPr/>
      <dgm:t>
        <a:bodyPr/>
        <a:lstStyle/>
        <a:p>
          <a:endParaRPr lang="de-DE"/>
        </a:p>
      </dgm:t>
    </dgm:pt>
    <dgm:pt modelId="{84125F6D-F305-4388-9BC6-84338C855764}" type="sibTrans" cxnId="{9F7451B5-8406-4291-A075-96E748512EFA}">
      <dgm:prSet/>
      <dgm:spPr/>
      <dgm:t>
        <a:bodyPr/>
        <a:lstStyle/>
        <a:p>
          <a:endParaRPr lang="de-DE"/>
        </a:p>
      </dgm:t>
    </dgm:pt>
    <dgm:pt modelId="{2B215387-7FA5-45E1-99B4-C3B80401833E}">
      <dgm:prSet phldrT="[Text]"/>
      <dgm:spPr/>
      <dgm:t>
        <a:bodyPr/>
        <a:lstStyle/>
        <a:p>
          <a:r>
            <a:rPr lang="de-DE" dirty="0" err="1" smtClean="0"/>
            <a:t>Cost</a:t>
          </a:r>
          <a:r>
            <a:rPr lang="de-DE" dirty="0" smtClean="0"/>
            <a:t> </a:t>
          </a:r>
          <a:r>
            <a:rPr lang="de-DE" dirty="0" err="1" smtClean="0"/>
            <a:t>Object</a:t>
          </a:r>
          <a:r>
            <a:rPr lang="de-DE" dirty="0" smtClean="0"/>
            <a:t> Controlling</a:t>
          </a:r>
          <a:endParaRPr lang="de-DE" dirty="0"/>
        </a:p>
      </dgm:t>
    </dgm:pt>
    <dgm:pt modelId="{1E20BA92-81C2-4BA9-9418-8DC01DBD2F2A}" type="parTrans" cxnId="{81E8B820-FC70-4BD5-802C-6328B16E4B38}">
      <dgm:prSet/>
      <dgm:spPr/>
      <dgm:t>
        <a:bodyPr/>
        <a:lstStyle/>
        <a:p>
          <a:endParaRPr lang="de-DE"/>
        </a:p>
      </dgm:t>
    </dgm:pt>
    <dgm:pt modelId="{05528605-B3B9-4C1B-BB90-0AAE2077957D}" type="sibTrans" cxnId="{81E8B820-FC70-4BD5-802C-6328B16E4B38}">
      <dgm:prSet/>
      <dgm:spPr/>
      <dgm:t>
        <a:bodyPr/>
        <a:lstStyle/>
        <a:p>
          <a:endParaRPr lang="de-DE"/>
        </a:p>
      </dgm:t>
    </dgm:pt>
    <dgm:pt modelId="{4C28D92E-8A07-47A2-B3E4-E8F5F2680B82}">
      <dgm:prSet phldrT="[Text]"/>
      <dgm:spPr/>
      <dgm:t>
        <a:bodyPr/>
        <a:lstStyle/>
        <a:p>
          <a:r>
            <a:rPr lang="de-DE" dirty="0" err="1" smtClean="0"/>
            <a:t>Actual</a:t>
          </a:r>
          <a:r>
            <a:rPr lang="de-DE" dirty="0" smtClean="0"/>
            <a:t> </a:t>
          </a:r>
          <a:r>
            <a:rPr lang="de-DE" dirty="0" err="1" smtClean="0"/>
            <a:t>Costing</a:t>
          </a:r>
          <a:r>
            <a:rPr lang="de-DE" dirty="0" smtClean="0"/>
            <a:t>/Material </a:t>
          </a:r>
          <a:r>
            <a:rPr lang="de-DE" dirty="0" err="1" smtClean="0"/>
            <a:t>Ledger</a:t>
          </a:r>
          <a:endParaRPr lang="de-DE" dirty="0"/>
        </a:p>
      </dgm:t>
    </dgm:pt>
    <dgm:pt modelId="{4F4442D3-3B64-4192-810B-0E39C56D2721}" type="parTrans" cxnId="{7650B4D6-FC32-473E-AF33-E24D93320DBB}">
      <dgm:prSet/>
      <dgm:spPr/>
      <dgm:t>
        <a:bodyPr/>
        <a:lstStyle/>
        <a:p>
          <a:endParaRPr lang="de-DE"/>
        </a:p>
      </dgm:t>
    </dgm:pt>
    <dgm:pt modelId="{43672EC9-3691-44EE-B79A-3F998DB6B566}" type="sibTrans" cxnId="{7650B4D6-FC32-473E-AF33-E24D93320DBB}">
      <dgm:prSet/>
      <dgm:spPr/>
      <dgm:t>
        <a:bodyPr/>
        <a:lstStyle/>
        <a:p>
          <a:endParaRPr lang="de-DE"/>
        </a:p>
      </dgm:t>
    </dgm:pt>
    <dgm:pt modelId="{B1C3F724-5228-4316-9121-8B742B93C421}" type="pres">
      <dgm:prSet presAssocID="{2B91DD88-7448-42FD-8020-B3DBFDF20902}" presName="Name0" presStyleCnt="0">
        <dgm:presLayoutVars>
          <dgm:chPref val="1"/>
          <dgm:dir/>
          <dgm:animOne val="branch"/>
          <dgm:animLvl val="lvl"/>
          <dgm:resizeHandles val="exact"/>
        </dgm:presLayoutVars>
      </dgm:prSet>
      <dgm:spPr/>
      <dgm:t>
        <a:bodyPr/>
        <a:lstStyle/>
        <a:p>
          <a:endParaRPr lang="de-DE"/>
        </a:p>
      </dgm:t>
    </dgm:pt>
    <dgm:pt modelId="{9C1A59AD-1260-427F-A167-6AC947C49600}" type="pres">
      <dgm:prSet presAssocID="{1D11611A-36BE-436A-ADFB-4A9C211E682A}" presName="root1" presStyleCnt="0"/>
      <dgm:spPr/>
    </dgm:pt>
    <dgm:pt modelId="{CA9BC6B9-48AF-478C-A007-40665F05C5FB}" type="pres">
      <dgm:prSet presAssocID="{1D11611A-36BE-436A-ADFB-4A9C211E682A}" presName="LevelOneTextNode" presStyleLbl="node0" presStyleIdx="0" presStyleCnt="1">
        <dgm:presLayoutVars>
          <dgm:chPref val="3"/>
        </dgm:presLayoutVars>
      </dgm:prSet>
      <dgm:spPr/>
      <dgm:t>
        <a:bodyPr/>
        <a:lstStyle/>
        <a:p>
          <a:endParaRPr lang="de-DE"/>
        </a:p>
      </dgm:t>
    </dgm:pt>
    <dgm:pt modelId="{20DCCDAE-70F9-4944-8439-084C8E500218}" type="pres">
      <dgm:prSet presAssocID="{1D11611A-36BE-436A-ADFB-4A9C211E682A}" presName="level2hierChild" presStyleCnt="0"/>
      <dgm:spPr/>
    </dgm:pt>
    <dgm:pt modelId="{2259D25B-D974-4963-ABA1-F1E6F2395084}" type="pres">
      <dgm:prSet presAssocID="{9C304252-AD7D-44C1-A030-B176561BA01F}" presName="conn2-1" presStyleLbl="parChTrans1D2" presStyleIdx="0" presStyleCnt="3"/>
      <dgm:spPr/>
      <dgm:t>
        <a:bodyPr/>
        <a:lstStyle/>
        <a:p>
          <a:endParaRPr lang="de-DE"/>
        </a:p>
      </dgm:t>
    </dgm:pt>
    <dgm:pt modelId="{AC52C188-65FC-4AE2-8DB6-A509554D9491}" type="pres">
      <dgm:prSet presAssocID="{9C304252-AD7D-44C1-A030-B176561BA01F}" presName="connTx" presStyleLbl="parChTrans1D2" presStyleIdx="0" presStyleCnt="3"/>
      <dgm:spPr/>
      <dgm:t>
        <a:bodyPr/>
        <a:lstStyle/>
        <a:p>
          <a:endParaRPr lang="de-DE"/>
        </a:p>
      </dgm:t>
    </dgm:pt>
    <dgm:pt modelId="{F2F263D2-1A29-460E-B9F5-9D475FA014DB}" type="pres">
      <dgm:prSet presAssocID="{30B4B953-8F5E-4AF3-AF4B-8B0CE445CE6D}" presName="root2" presStyleCnt="0"/>
      <dgm:spPr/>
    </dgm:pt>
    <dgm:pt modelId="{6ED15F97-BCAD-4E47-AAB4-CF8BC6164437}" type="pres">
      <dgm:prSet presAssocID="{30B4B953-8F5E-4AF3-AF4B-8B0CE445CE6D}" presName="LevelTwoTextNode" presStyleLbl="node2" presStyleIdx="0" presStyleCnt="3" custScaleX="222225" custScaleY="87135">
        <dgm:presLayoutVars>
          <dgm:chPref val="3"/>
        </dgm:presLayoutVars>
      </dgm:prSet>
      <dgm:spPr/>
      <dgm:t>
        <a:bodyPr/>
        <a:lstStyle/>
        <a:p>
          <a:endParaRPr lang="de-DE"/>
        </a:p>
      </dgm:t>
    </dgm:pt>
    <dgm:pt modelId="{DAB4AFBA-F685-465E-B6DF-4BA4BEA3D416}" type="pres">
      <dgm:prSet presAssocID="{30B4B953-8F5E-4AF3-AF4B-8B0CE445CE6D}" presName="level3hierChild" presStyleCnt="0"/>
      <dgm:spPr/>
    </dgm:pt>
    <dgm:pt modelId="{32BEF497-C1DF-42AB-B5CC-354FEA4C4CC1}" type="pres">
      <dgm:prSet presAssocID="{1E20BA92-81C2-4BA9-9418-8DC01DBD2F2A}" presName="conn2-1" presStyleLbl="parChTrans1D2" presStyleIdx="1" presStyleCnt="3"/>
      <dgm:spPr/>
      <dgm:t>
        <a:bodyPr/>
        <a:lstStyle/>
        <a:p>
          <a:endParaRPr lang="de-DE"/>
        </a:p>
      </dgm:t>
    </dgm:pt>
    <dgm:pt modelId="{ECC257E7-74EC-498F-B9FD-E79CDA63C3EE}" type="pres">
      <dgm:prSet presAssocID="{1E20BA92-81C2-4BA9-9418-8DC01DBD2F2A}" presName="connTx" presStyleLbl="parChTrans1D2" presStyleIdx="1" presStyleCnt="3"/>
      <dgm:spPr/>
      <dgm:t>
        <a:bodyPr/>
        <a:lstStyle/>
        <a:p>
          <a:endParaRPr lang="de-DE"/>
        </a:p>
      </dgm:t>
    </dgm:pt>
    <dgm:pt modelId="{1DBC0B75-9E6D-4D1A-8294-B9C5082EF394}" type="pres">
      <dgm:prSet presAssocID="{2B215387-7FA5-45E1-99B4-C3B80401833E}" presName="root2" presStyleCnt="0"/>
      <dgm:spPr/>
    </dgm:pt>
    <dgm:pt modelId="{9CAA49F6-B521-4A96-9FF2-48B342037E45}" type="pres">
      <dgm:prSet presAssocID="{2B215387-7FA5-45E1-99B4-C3B80401833E}" presName="LevelTwoTextNode" presStyleLbl="node2" presStyleIdx="1" presStyleCnt="3" custScaleX="222225" custScaleY="87135">
        <dgm:presLayoutVars>
          <dgm:chPref val="3"/>
        </dgm:presLayoutVars>
      </dgm:prSet>
      <dgm:spPr/>
      <dgm:t>
        <a:bodyPr/>
        <a:lstStyle/>
        <a:p>
          <a:endParaRPr lang="de-DE"/>
        </a:p>
      </dgm:t>
    </dgm:pt>
    <dgm:pt modelId="{1C23F924-C7E7-4A25-B9F9-F384020F5A08}" type="pres">
      <dgm:prSet presAssocID="{2B215387-7FA5-45E1-99B4-C3B80401833E}" presName="level3hierChild" presStyleCnt="0"/>
      <dgm:spPr/>
    </dgm:pt>
    <dgm:pt modelId="{ACB5734C-B74E-4E0C-915C-37B751980B02}" type="pres">
      <dgm:prSet presAssocID="{4F4442D3-3B64-4192-810B-0E39C56D2721}" presName="conn2-1" presStyleLbl="parChTrans1D2" presStyleIdx="2" presStyleCnt="3"/>
      <dgm:spPr/>
      <dgm:t>
        <a:bodyPr/>
        <a:lstStyle/>
        <a:p>
          <a:endParaRPr lang="de-DE"/>
        </a:p>
      </dgm:t>
    </dgm:pt>
    <dgm:pt modelId="{E7387A14-E77A-4C63-82FF-4B09331A9046}" type="pres">
      <dgm:prSet presAssocID="{4F4442D3-3B64-4192-810B-0E39C56D2721}" presName="connTx" presStyleLbl="parChTrans1D2" presStyleIdx="2" presStyleCnt="3"/>
      <dgm:spPr/>
      <dgm:t>
        <a:bodyPr/>
        <a:lstStyle/>
        <a:p>
          <a:endParaRPr lang="de-DE"/>
        </a:p>
      </dgm:t>
    </dgm:pt>
    <dgm:pt modelId="{1B58F349-1756-4FBE-8EBF-D958CF37A6A8}" type="pres">
      <dgm:prSet presAssocID="{4C28D92E-8A07-47A2-B3E4-E8F5F2680B82}" presName="root2" presStyleCnt="0"/>
      <dgm:spPr/>
    </dgm:pt>
    <dgm:pt modelId="{C9608220-8838-4A27-9AE4-4DAB3F872239}" type="pres">
      <dgm:prSet presAssocID="{4C28D92E-8A07-47A2-B3E4-E8F5F2680B82}" presName="LevelTwoTextNode" presStyleLbl="node2" presStyleIdx="2" presStyleCnt="3" custScaleX="222225" custScaleY="87135">
        <dgm:presLayoutVars>
          <dgm:chPref val="3"/>
        </dgm:presLayoutVars>
      </dgm:prSet>
      <dgm:spPr/>
      <dgm:t>
        <a:bodyPr/>
        <a:lstStyle/>
        <a:p>
          <a:endParaRPr lang="de-DE"/>
        </a:p>
      </dgm:t>
    </dgm:pt>
    <dgm:pt modelId="{9693854B-698F-4B85-8281-58A34EC49CBB}" type="pres">
      <dgm:prSet presAssocID="{4C28D92E-8A07-47A2-B3E4-E8F5F2680B82}" presName="level3hierChild" presStyleCnt="0"/>
      <dgm:spPr/>
    </dgm:pt>
  </dgm:ptLst>
  <dgm:cxnLst>
    <dgm:cxn modelId="{42B84FA7-2909-47E7-A161-34526213EAC0}" type="presOf" srcId="{1E20BA92-81C2-4BA9-9418-8DC01DBD2F2A}" destId="{ECC257E7-74EC-498F-B9FD-E79CDA63C3EE}" srcOrd="1" destOrd="0" presId="urn:microsoft.com/office/officeart/2008/layout/HorizontalMultiLevelHierarchy"/>
    <dgm:cxn modelId="{0943ACEE-909C-4AC1-B03F-58D588B26B49}" type="presOf" srcId="{9C304252-AD7D-44C1-A030-B176561BA01F}" destId="{2259D25B-D974-4963-ABA1-F1E6F2395084}" srcOrd="0" destOrd="0" presId="urn:microsoft.com/office/officeart/2008/layout/HorizontalMultiLevelHierarchy"/>
    <dgm:cxn modelId="{7650B4D6-FC32-473E-AF33-E24D93320DBB}" srcId="{1D11611A-36BE-436A-ADFB-4A9C211E682A}" destId="{4C28D92E-8A07-47A2-B3E4-E8F5F2680B82}" srcOrd="2" destOrd="0" parTransId="{4F4442D3-3B64-4192-810B-0E39C56D2721}" sibTransId="{43672EC9-3691-44EE-B79A-3F998DB6B566}"/>
    <dgm:cxn modelId="{ABB517B3-7CA3-4B31-96C4-319D4B96EFF4}" type="presOf" srcId="{4F4442D3-3B64-4192-810B-0E39C56D2721}" destId="{E7387A14-E77A-4C63-82FF-4B09331A9046}" srcOrd="1" destOrd="0" presId="urn:microsoft.com/office/officeart/2008/layout/HorizontalMultiLevelHierarchy"/>
    <dgm:cxn modelId="{BCCA6711-1A59-4FF2-9C28-D874AEDDABB3}" type="presOf" srcId="{1E20BA92-81C2-4BA9-9418-8DC01DBD2F2A}" destId="{32BEF497-C1DF-42AB-B5CC-354FEA4C4CC1}" srcOrd="0" destOrd="0" presId="urn:microsoft.com/office/officeart/2008/layout/HorizontalMultiLevelHierarchy"/>
    <dgm:cxn modelId="{3CA32CF0-ED3A-4FEF-86DF-1E9DEBCCB92B}" type="presOf" srcId="{2B215387-7FA5-45E1-99B4-C3B80401833E}" destId="{9CAA49F6-B521-4A96-9FF2-48B342037E45}" srcOrd="0" destOrd="0" presId="urn:microsoft.com/office/officeart/2008/layout/HorizontalMultiLevelHierarchy"/>
    <dgm:cxn modelId="{6CE85D96-3CC4-4454-ADC0-6089608035B2}" type="presOf" srcId="{2B91DD88-7448-42FD-8020-B3DBFDF20902}" destId="{B1C3F724-5228-4316-9121-8B742B93C421}" srcOrd="0" destOrd="0" presId="urn:microsoft.com/office/officeart/2008/layout/HorizontalMultiLevelHierarchy"/>
    <dgm:cxn modelId="{9F7451B5-8406-4291-A075-96E748512EFA}" srcId="{1D11611A-36BE-436A-ADFB-4A9C211E682A}" destId="{30B4B953-8F5E-4AF3-AF4B-8B0CE445CE6D}" srcOrd="0" destOrd="0" parTransId="{9C304252-AD7D-44C1-A030-B176561BA01F}" sibTransId="{84125F6D-F305-4388-9BC6-84338C855764}"/>
    <dgm:cxn modelId="{6434B478-4C19-4C18-B2FC-D44D55179AC6}" type="presOf" srcId="{9C304252-AD7D-44C1-A030-B176561BA01F}" destId="{AC52C188-65FC-4AE2-8DB6-A509554D9491}" srcOrd="1" destOrd="0" presId="urn:microsoft.com/office/officeart/2008/layout/HorizontalMultiLevelHierarchy"/>
    <dgm:cxn modelId="{A03C3B46-7145-4A0B-81BF-A9077CF4F650}" srcId="{2B91DD88-7448-42FD-8020-B3DBFDF20902}" destId="{1D11611A-36BE-436A-ADFB-4A9C211E682A}" srcOrd="0" destOrd="0" parTransId="{AFB15883-4F9C-4E3C-A020-3E25F73CEAA3}" sibTransId="{CCC0D262-E0B0-4C6D-A434-DE0019557BEE}"/>
    <dgm:cxn modelId="{81E8B820-FC70-4BD5-802C-6328B16E4B38}" srcId="{1D11611A-36BE-436A-ADFB-4A9C211E682A}" destId="{2B215387-7FA5-45E1-99B4-C3B80401833E}" srcOrd="1" destOrd="0" parTransId="{1E20BA92-81C2-4BA9-9418-8DC01DBD2F2A}" sibTransId="{05528605-B3B9-4C1B-BB90-0AAE2077957D}"/>
    <dgm:cxn modelId="{BD42B9E9-A409-4C34-A847-BF654FF5643E}" type="presOf" srcId="{30B4B953-8F5E-4AF3-AF4B-8B0CE445CE6D}" destId="{6ED15F97-BCAD-4E47-AAB4-CF8BC6164437}" srcOrd="0" destOrd="0" presId="urn:microsoft.com/office/officeart/2008/layout/HorizontalMultiLevelHierarchy"/>
    <dgm:cxn modelId="{D5D5197A-ACCB-4A66-A456-7CCA311789BA}" type="presOf" srcId="{4F4442D3-3B64-4192-810B-0E39C56D2721}" destId="{ACB5734C-B74E-4E0C-915C-37B751980B02}" srcOrd="0" destOrd="0" presId="urn:microsoft.com/office/officeart/2008/layout/HorizontalMultiLevelHierarchy"/>
    <dgm:cxn modelId="{18ED04EC-07FF-45C6-850D-2C24CA1E9D19}" type="presOf" srcId="{1D11611A-36BE-436A-ADFB-4A9C211E682A}" destId="{CA9BC6B9-48AF-478C-A007-40665F05C5FB}" srcOrd="0" destOrd="0" presId="urn:microsoft.com/office/officeart/2008/layout/HorizontalMultiLevelHierarchy"/>
    <dgm:cxn modelId="{857955E7-5832-464A-99B3-15A197B785C7}" type="presOf" srcId="{4C28D92E-8A07-47A2-B3E4-E8F5F2680B82}" destId="{C9608220-8838-4A27-9AE4-4DAB3F872239}" srcOrd="0" destOrd="0" presId="urn:microsoft.com/office/officeart/2008/layout/HorizontalMultiLevelHierarchy"/>
    <dgm:cxn modelId="{5E86C534-18E3-4E82-B371-3A47DA52EF3D}" type="presParOf" srcId="{B1C3F724-5228-4316-9121-8B742B93C421}" destId="{9C1A59AD-1260-427F-A167-6AC947C49600}" srcOrd="0" destOrd="0" presId="urn:microsoft.com/office/officeart/2008/layout/HorizontalMultiLevelHierarchy"/>
    <dgm:cxn modelId="{AB66A441-0513-416F-B953-D2FF7C37D3A9}" type="presParOf" srcId="{9C1A59AD-1260-427F-A167-6AC947C49600}" destId="{CA9BC6B9-48AF-478C-A007-40665F05C5FB}" srcOrd="0" destOrd="0" presId="urn:microsoft.com/office/officeart/2008/layout/HorizontalMultiLevelHierarchy"/>
    <dgm:cxn modelId="{8FD64D07-CE1F-4C01-87BA-4E521444A6EE}" type="presParOf" srcId="{9C1A59AD-1260-427F-A167-6AC947C49600}" destId="{20DCCDAE-70F9-4944-8439-084C8E500218}" srcOrd="1" destOrd="0" presId="urn:microsoft.com/office/officeart/2008/layout/HorizontalMultiLevelHierarchy"/>
    <dgm:cxn modelId="{8CA9CB5A-1451-428C-9281-0C20394ADDC9}" type="presParOf" srcId="{20DCCDAE-70F9-4944-8439-084C8E500218}" destId="{2259D25B-D974-4963-ABA1-F1E6F2395084}" srcOrd="0" destOrd="0" presId="urn:microsoft.com/office/officeart/2008/layout/HorizontalMultiLevelHierarchy"/>
    <dgm:cxn modelId="{48BF9004-61C6-4C4D-9B53-32C8BEC938B2}" type="presParOf" srcId="{2259D25B-D974-4963-ABA1-F1E6F2395084}" destId="{AC52C188-65FC-4AE2-8DB6-A509554D9491}" srcOrd="0" destOrd="0" presId="urn:microsoft.com/office/officeart/2008/layout/HorizontalMultiLevelHierarchy"/>
    <dgm:cxn modelId="{4E1161F3-396C-4369-BD9E-5D2DA59E76A3}" type="presParOf" srcId="{20DCCDAE-70F9-4944-8439-084C8E500218}" destId="{F2F263D2-1A29-460E-B9F5-9D475FA014DB}" srcOrd="1" destOrd="0" presId="urn:microsoft.com/office/officeart/2008/layout/HorizontalMultiLevelHierarchy"/>
    <dgm:cxn modelId="{8597A7D2-45E5-4D13-8F5C-3D06C42A9D72}" type="presParOf" srcId="{F2F263D2-1A29-460E-B9F5-9D475FA014DB}" destId="{6ED15F97-BCAD-4E47-AAB4-CF8BC6164437}" srcOrd="0" destOrd="0" presId="urn:microsoft.com/office/officeart/2008/layout/HorizontalMultiLevelHierarchy"/>
    <dgm:cxn modelId="{1B7DA19D-E8C1-49CF-A82E-E6BDEE6E631E}" type="presParOf" srcId="{F2F263D2-1A29-460E-B9F5-9D475FA014DB}" destId="{DAB4AFBA-F685-465E-B6DF-4BA4BEA3D416}" srcOrd="1" destOrd="0" presId="urn:microsoft.com/office/officeart/2008/layout/HorizontalMultiLevelHierarchy"/>
    <dgm:cxn modelId="{259DF724-5189-4CBD-8B45-504B1C29E17E}" type="presParOf" srcId="{20DCCDAE-70F9-4944-8439-084C8E500218}" destId="{32BEF497-C1DF-42AB-B5CC-354FEA4C4CC1}" srcOrd="2" destOrd="0" presId="urn:microsoft.com/office/officeart/2008/layout/HorizontalMultiLevelHierarchy"/>
    <dgm:cxn modelId="{CD370A4C-A1E0-4B27-A808-F249B9D1DC60}" type="presParOf" srcId="{32BEF497-C1DF-42AB-B5CC-354FEA4C4CC1}" destId="{ECC257E7-74EC-498F-B9FD-E79CDA63C3EE}" srcOrd="0" destOrd="0" presId="urn:microsoft.com/office/officeart/2008/layout/HorizontalMultiLevelHierarchy"/>
    <dgm:cxn modelId="{D809A8AD-79CC-4160-8F14-89F72D4A5389}" type="presParOf" srcId="{20DCCDAE-70F9-4944-8439-084C8E500218}" destId="{1DBC0B75-9E6D-4D1A-8294-B9C5082EF394}" srcOrd="3" destOrd="0" presId="urn:microsoft.com/office/officeart/2008/layout/HorizontalMultiLevelHierarchy"/>
    <dgm:cxn modelId="{9C6D55BC-78EA-4CEF-BDC4-5D0AAA0687BB}" type="presParOf" srcId="{1DBC0B75-9E6D-4D1A-8294-B9C5082EF394}" destId="{9CAA49F6-B521-4A96-9FF2-48B342037E45}" srcOrd="0" destOrd="0" presId="urn:microsoft.com/office/officeart/2008/layout/HorizontalMultiLevelHierarchy"/>
    <dgm:cxn modelId="{B10EF933-566D-446D-A183-C3E498CE3B2C}" type="presParOf" srcId="{1DBC0B75-9E6D-4D1A-8294-B9C5082EF394}" destId="{1C23F924-C7E7-4A25-B9F9-F384020F5A08}" srcOrd="1" destOrd="0" presId="urn:microsoft.com/office/officeart/2008/layout/HorizontalMultiLevelHierarchy"/>
    <dgm:cxn modelId="{8C6B49AA-5D1B-4B14-9F41-14D9EB4B5F89}" type="presParOf" srcId="{20DCCDAE-70F9-4944-8439-084C8E500218}" destId="{ACB5734C-B74E-4E0C-915C-37B751980B02}" srcOrd="4" destOrd="0" presId="urn:microsoft.com/office/officeart/2008/layout/HorizontalMultiLevelHierarchy"/>
    <dgm:cxn modelId="{EAD8C3EF-CC82-4838-979F-FDB12A3EF969}" type="presParOf" srcId="{ACB5734C-B74E-4E0C-915C-37B751980B02}" destId="{E7387A14-E77A-4C63-82FF-4B09331A9046}" srcOrd="0" destOrd="0" presId="urn:microsoft.com/office/officeart/2008/layout/HorizontalMultiLevelHierarchy"/>
    <dgm:cxn modelId="{9AA905DF-D643-4DBF-AA12-CEB2CD326E14}" type="presParOf" srcId="{20DCCDAE-70F9-4944-8439-084C8E500218}" destId="{1B58F349-1756-4FBE-8EBF-D958CF37A6A8}" srcOrd="5" destOrd="0" presId="urn:microsoft.com/office/officeart/2008/layout/HorizontalMultiLevelHierarchy"/>
    <dgm:cxn modelId="{589C6BB8-39CF-431C-8BB4-5B50A2EE4A9F}" type="presParOf" srcId="{1B58F349-1756-4FBE-8EBF-D958CF37A6A8}" destId="{C9608220-8838-4A27-9AE4-4DAB3F872239}" srcOrd="0" destOrd="0" presId="urn:microsoft.com/office/officeart/2008/layout/HorizontalMultiLevelHierarchy"/>
    <dgm:cxn modelId="{B6FB5E1A-03A8-4BA2-BBC3-38E75A57C80B}" type="presParOf" srcId="{1B58F349-1756-4FBE-8EBF-D958CF37A6A8}" destId="{9693854B-698F-4B85-8281-58A34EC49CBB}"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F74D7B-149A-4C61-96F7-A04933835AC2}"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de-DE"/>
        </a:p>
      </dgm:t>
    </dgm:pt>
    <dgm:pt modelId="{A54F9B4A-B9B6-4A24-85A4-FF4E0DA3D74D}">
      <dgm:prSet phldrT="[Text]"/>
      <dgm:spPr/>
      <dgm:t>
        <a:bodyPr/>
        <a:lstStyle/>
        <a:p>
          <a:r>
            <a:rPr lang="de-DE" dirty="0" smtClean="0"/>
            <a:t>Bill </a:t>
          </a:r>
          <a:r>
            <a:rPr lang="de-DE" dirty="0" err="1" smtClean="0"/>
            <a:t>of</a:t>
          </a:r>
          <a:r>
            <a:rPr lang="de-DE" dirty="0" smtClean="0"/>
            <a:t> </a:t>
          </a:r>
          <a:r>
            <a:rPr lang="de-DE" dirty="0" smtClean="0"/>
            <a:t>Materials </a:t>
          </a:r>
          <a:endParaRPr lang="de-DE" dirty="0"/>
        </a:p>
      </dgm:t>
    </dgm:pt>
    <dgm:pt modelId="{7B2A1CD5-6FE2-449A-B8A1-E3D75539BC33}" type="parTrans" cxnId="{FA5841D7-D65B-41F0-82E9-F8449C7B6453}">
      <dgm:prSet/>
      <dgm:spPr/>
      <dgm:t>
        <a:bodyPr/>
        <a:lstStyle/>
        <a:p>
          <a:endParaRPr lang="de-DE"/>
        </a:p>
      </dgm:t>
    </dgm:pt>
    <dgm:pt modelId="{EEED795A-6917-4604-9C55-E05C6AF6B9B0}" type="sibTrans" cxnId="{FA5841D7-D65B-41F0-82E9-F8449C7B6453}">
      <dgm:prSet/>
      <dgm:spPr/>
      <dgm:t>
        <a:bodyPr/>
        <a:lstStyle/>
        <a:p>
          <a:endParaRPr lang="de-DE"/>
        </a:p>
      </dgm:t>
    </dgm:pt>
    <dgm:pt modelId="{338EEDAE-827A-46D9-B3D4-B52BE0EBB1CB}">
      <dgm:prSet phldrT="[Text]"/>
      <dgm:spPr/>
      <dgm:t>
        <a:bodyPr/>
        <a:lstStyle/>
        <a:p>
          <a:r>
            <a:rPr lang="en-US" dirty="0" smtClean="0"/>
            <a:t>Contains the individual parts or components required to manufacture a product</a:t>
          </a:r>
          <a:endParaRPr lang="de-DE" dirty="0"/>
        </a:p>
      </dgm:t>
    </dgm:pt>
    <dgm:pt modelId="{941C92E0-2389-4C1E-B031-9458F8681566}" type="parTrans" cxnId="{EA067B32-CD96-4180-B92A-EC4FEBA69599}">
      <dgm:prSet/>
      <dgm:spPr/>
      <dgm:t>
        <a:bodyPr/>
        <a:lstStyle/>
        <a:p>
          <a:endParaRPr lang="de-DE"/>
        </a:p>
      </dgm:t>
    </dgm:pt>
    <dgm:pt modelId="{21BDC591-DD83-4A7B-8FF2-913F9364F1A4}" type="sibTrans" cxnId="{EA067B32-CD96-4180-B92A-EC4FEBA69599}">
      <dgm:prSet/>
      <dgm:spPr/>
      <dgm:t>
        <a:bodyPr/>
        <a:lstStyle/>
        <a:p>
          <a:endParaRPr lang="de-DE"/>
        </a:p>
      </dgm:t>
    </dgm:pt>
    <dgm:pt modelId="{39AA2754-F9D1-4273-A149-4074BBFABAF8}">
      <dgm:prSet phldrT="[Text]"/>
      <dgm:spPr/>
      <dgm:t>
        <a:bodyPr/>
        <a:lstStyle/>
        <a:p>
          <a:r>
            <a:rPr lang="de-DE" dirty="0" smtClean="0"/>
            <a:t>Routing</a:t>
          </a:r>
          <a:endParaRPr lang="de-DE" dirty="0"/>
        </a:p>
      </dgm:t>
    </dgm:pt>
    <dgm:pt modelId="{F69412CE-C724-4D97-8EB2-AD326079BF59}" type="parTrans" cxnId="{678B8458-FB63-4DD0-9023-DAAD769EBA51}">
      <dgm:prSet/>
      <dgm:spPr/>
      <dgm:t>
        <a:bodyPr/>
        <a:lstStyle/>
        <a:p>
          <a:endParaRPr lang="de-DE"/>
        </a:p>
      </dgm:t>
    </dgm:pt>
    <dgm:pt modelId="{06894A3A-2554-4D07-91D5-BD55B8AA7DC9}" type="sibTrans" cxnId="{678B8458-FB63-4DD0-9023-DAAD769EBA51}">
      <dgm:prSet/>
      <dgm:spPr/>
      <dgm:t>
        <a:bodyPr/>
        <a:lstStyle/>
        <a:p>
          <a:endParaRPr lang="de-DE"/>
        </a:p>
      </dgm:t>
    </dgm:pt>
    <dgm:pt modelId="{63144A98-64A0-40BC-8D20-BDA06253641F}">
      <dgm:prSet phldrT="[Text]"/>
      <dgm:spPr/>
      <dgm:t>
        <a:bodyPr/>
        <a:lstStyle/>
        <a:p>
          <a:r>
            <a:rPr lang="en-US" dirty="0" smtClean="0"/>
            <a:t>Specifies the individual production steps for manufacturing</a:t>
          </a:r>
          <a:endParaRPr lang="de-DE" dirty="0"/>
        </a:p>
      </dgm:t>
    </dgm:pt>
    <dgm:pt modelId="{7AD5FDD3-39B6-4FFD-9685-FDD47CDC7856}" type="parTrans" cxnId="{1802B9BA-3E32-4DF6-A8B8-025A2366FF50}">
      <dgm:prSet/>
      <dgm:spPr/>
      <dgm:t>
        <a:bodyPr/>
        <a:lstStyle/>
        <a:p>
          <a:endParaRPr lang="de-DE"/>
        </a:p>
      </dgm:t>
    </dgm:pt>
    <dgm:pt modelId="{EA1426E4-88FF-4A12-818C-1C2093322401}" type="sibTrans" cxnId="{1802B9BA-3E32-4DF6-A8B8-025A2366FF50}">
      <dgm:prSet/>
      <dgm:spPr/>
      <dgm:t>
        <a:bodyPr/>
        <a:lstStyle/>
        <a:p>
          <a:endParaRPr lang="de-DE"/>
        </a:p>
      </dgm:t>
    </dgm:pt>
    <dgm:pt modelId="{FFBE6190-AF00-4EEA-91C1-C6AF4405030F}" type="pres">
      <dgm:prSet presAssocID="{01F74D7B-149A-4C61-96F7-A04933835AC2}" presName="diagram" presStyleCnt="0">
        <dgm:presLayoutVars>
          <dgm:chPref val="1"/>
          <dgm:dir/>
          <dgm:animOne val="branch"/>
          <dgm:animLvl val="lvl"/>
          <dgm:resizeHandles/>
        </dgm:presLayoutVars>
      </dgm:prSet>
      <dgm:spPr/>
      <dgm:t>
        <a:bodyPr/>
        <a:lstStyle/>
        <a:p>
          <a:endParaRPr lang="de-DE"/>
        </a:p>
      </dgm:t>
    </dgm:pt>
    <dgm:pt modelId="{7F7F7A03-8BD6-4EBC-859D-8492706C9549}" type="pres">
      <dgm:prSet presAssocID="{A54F9B4A-B9B6-4A24-85A4-FF4E0DA3D74D}" presName="root" presStyleCnt="0"/>
      <dgm:spPr/>
    </dgm:pt>
    <dgm:pt modelId="{57849E61-0808-4B10-B46C-6282EC57F1F5}" type="pres">
      <dgm:prSet presAssocID="{A54F9B4A-B9B6-4A24-85A4-FF4E0DA3D74D}" presName="rootComposite" presStyleCnt="0"/>
      <dgm:spPr/>
    </dgm:pt>
    <dgm:pt modelId="{027357CB-E192-4582-B851-E7B2171CCE7D}" type="pres">
      <dgm:prSet presAssocID="{A54F9B4A-B9B6-4A24-85A4-FF4E0DA3D74D}" presName="rootText" presStyleLbl="node1" presStyleIdx="0" presStyleCnt="2" custScaleX="91613" custScaleY="40914"/>
      <dgm:spPr/>
      <dgm:t>
        <a:bodyPr/>
        <a:lstStyle/>
        <a:p>
          <a:endParaRPr lang="de-DE"/>
        </a:p>
      </dgm:t>
    </dgm:pt>
    <dgm:pt modelId="{C09D97A5-E69C-4350-B8DA-72E397016EBE}" type="pres">
      <dgm:prSet presAssocID="{A54F9B4A-B9B6-4A24-85A4-FF4E0DA3D74D}" presName="rootConnector" presStyleLbl="node1" presStyleIdx="0" presStyleCnt="2"/>
      <dgm:spPr/>
      <dgm:t>
        <a:bodyPr/>
        <a:lstStyle/>
        <a:p>
          <a:endParaRPr lang="de-DE"/>
        </a:p>
      </dgm:t>
    </dgm:pt>
    <dgm:pt modelId="{57BBDC1C-5785-4239-BD79-6AFCA07F10DC}" type="pres">
      <dgm:prSet presAssocID="{A54F9B4A-B9B6-4A24-85A4-FF4E0DA3D74D}" presName="childShape" presStyleCnt="0"/>
      <dgm:spPr/>
    </dgm:pt>
    <dgm:pt modelId="{8D2A43F9-2CC9-4F39-96DE-93C41E8CE49C}" type="pres">
      <dgm:prSet presAssocID="{941C92E0-2389-4C1E-B031-9458F8681566}" presName="Name13" presStyleLbl="parChTrans1D2" presStyleIdx="0" presStyleCnt="2"/>
      <dgm:spPr/>
      <dgm:t>
        <a:bodyPr/>
        <a:lstStyle/>
        <a:p>
          <a:endParaRPr lang="de-DE"/>
        </a:p>
      </dgm:t>
    </dgm:pt>
    <dgm:pt modelId="{7448CCD2-C29D-4AB2-BA9B-CA44828685AC}" type="pres">
      <dgm:prSet presAssocID="{338EEDAE-827A-46D9-B3D4-B52BE0EBB1CB}" presName="childText" presStyleLbl="bgAcc1" presStyleIdx="0" presStyleCnt="2" custScaleX="87403" custScaleY="182309">
        <dgm:presLayoutVars>
          <dgm:bulletEnabled val="1"/>
        </dgm:presLayoutVars>
      </dgm:prSet>
      <dgm:spPr/>
      <dgm:t>
        <a:bodyPr/>
        <a:lstStyle/>
        <a:p>
          <a:endParaRPr lang="de-DE"/>
        </a:p>
      </dgm:t>
    </dgm:pt>
    <dgm:pt modelId="{5DE153DD-707E-4E46-8821-4A572330C567}" type="pres">
      <dgm:prSet presAssocID="{39AA2754-F9D1-4273-A149-4074BBFABAF8}" presName="root" presStyleCnt="0"/>
      <dgm:spPr/>
    </dgm:pt>
    <dgm:pt modelId="{1C1E0523-E696-4237-AB54-9F75CCE37B83}" type="pres">
      <dgm:prSet presAssocID="{39AA2754-F9D1-4273-A149-4074BBFABAF8}" presName="rootComposite" presStyleCnt="0"/>
      <dgm:spPr/>
    </dgm:pt>
    <dgm:pt modelId="{197137F9-902C-4125-98B4-7EBD4022226E}" type="pres">
      <dgm:prSet presAssocID="{39AA2754-F9D1-4273-A149-4074BBFABAF8}" presName="rootText" presStyleLbl="node1" presStyleIdx="1" presStyleCnt="2" custScaleX="91613" custScaleY="40914"/>
      <dgm:spPr/>
      <dgm:t>
        <a:bodyPr/>
        <a:lstStyle/>
        <a:p>
          <a:endParaRPr lang="de-DE"/>
        </a:p>
      </dgm:t>
    </dgm:pt>
    <dgm:pt modelId="{D119EE64-5EAF-4072-A86C-776EC9E199C3}" type="pres">
      <dgm:prSet presAssocID="{39AA2754-F9D1-4273-A149-4074BBFABAF8}" presName="rootConnector" presStyleLbl="node1" presStyleIdx="1" presStyleCnt="2"/>
      <dgm:spPr/>
      <dgm:t>
        <a:bodyPr/>
        <a:lstStyle/>
        <a:p>
          <a:endParaRPr lang="de-DE"/>
        </a:p>
      </dgm:t>
    </dgm:pt>
    <dgm:pt modelId="{CDE1D42A-718C-4C0B-A458-939FD9626C90}" type="pres">
      <dgm:prSet presAssocID="{39AA2754-F9D1-4273-A149-4074BBFABAF8}" presName="childShape" presStyleCnt="0"/>
      <dgm:spPr/>
    </dgm:pt>
    <dgm:pt modelId="{BCE9AE38-A4FB-4B91-BD6F-24C5525D1F1F}" type="pres">
      <dgm:prSet presAssocID="{7AD5FDD3-39B6-4FFD-9685-FDD47CDC7856}" presName="Name13" presStyleLbl="parChTrans1D2" presStyleIdx="1" presStyleCnt="2"/>
      <dgm:spPr/>
      <dgm:t>
        <a:bodyPr/>
        <a:lstStyle/>
        <a:p>
          <a:endParaRPr lang="de-DE"/>
        </a:p>
      </dgm:t>
    </dgm:pt>
    <dgm:pt modelId="{47BD5A54-9CFD-42E8-ACB6-B975249FCCEE}" type="pres">
      <dgm:prSet presAssocID="{63144A98-64A0-40BC-8D20-BDA06253641F}" presName="childText" presStyleLbl="bgAcc1" presStyleIdx="1" presStyleCnt="2" custScaleX="87403" custScaleY="182309">
        <dgm:presLayoutVars>
          <dgm:bulletEnabled val="1"/>
        </dgm:presLayoutVars>
      </dgm:prSet>
      <dgm:spPr/>
      <dgm:t>
        <a:bodyPr/>
        <a:lstStyle/>
        <a:p>
          <a:endParaRPr lang="de-DE"/>
        </a:p>
      </dgm:t>
    </dgm:pt>
  </dgm:ptLst>
  <dgm:cxnLst>
    <dgm:cxn modelId="{D354DF25-8867-422A-B8BE-660CB5132B22}" type="presOf" srcId="{941C92E0-2389-4C1E-B031-9458F8681566}" destId="{8D2A43F9-2CC9-4F39-96DE-93C41E8CE49C}" srcOrd="0" destOrd="0" presId="urn:microsoft.com/office/officeart/2005/8/layout/hierarchy3"/>
    <dgm:cxn modelId="{A13D2B3E-AB3C-4802-ACFF-1BDFD8CCE539}" type="presOf" srcId="{7AD5FDD3-39B6-4FFD-9685-FDD47CDC7856}" destId="{BCE9AE38-A4FB-4B91-BD6F-24C5525D1F1F}" srcOrd="0" destOrd="0" presId="urn:microsoft.com/office/officeart/2005/8/layout/hierarchy3"/>
    <dgm:cxn modelId="{617DBB6B-6A5D-44F5-8311-497F4A4B8B96}" type="presOf" srcId="{39AA2754-F9D1-4273-A149-4074BBFABAF8}" destId="{197137F9-902C-4125-98B4-7EBD4022226E}" srcOrd="0" destOrd="0" presId="urn:microsoft.com/office/officeart/2005/8/layout/hierarchy3"/>
    <dgm:cxn modelId="{1802B9BA-3E32-4DF6-A8B8-025A2366FF50}" srcId="{39AA2754-F9D1-4273-A149-4074BBFABAF8}" destId="{63144A98-64A0-40BC-8D20-BDA06253641F}" srcOrd="0" destOrd="0" parTransId="{7AD5FDD3-39B6-4FFD-9685-FDD47CDC7856}" sibTransId="{EA1426E4-88FF-4A12-818C-1C2093322401}"/>
    <dgm:cxn modelId="{EA067B32-CD96-4180-B92A-EC4FEBA69599}" srcId="{A54F9B4A-B9B6-4A24-85A4-FF4E0DA3D74D}" destId="{338EEDAE-827A-46D9-B3D4-B52BE0EBB1CB}" srcOrd="0" destOrd="0" parTransId="{941C92E0-2389-4C1E-B031-9458F8681566}" sibTransId="{21BDC591-DD83-4A7B-8FF2-913F9364F1A4}"/>
    <dgm:cxn modelId="{89A89BC5-C515-4619-9313-3EADCA1B6710}" type="presOf" srcId="{A54F9B4A-B9B6-4A24-85A4-FF4E0DA3D74D}" destId="{C09D97A5-E69C-4350-B8DA-72E397016EBE}" srcOrd="1" destOrd="0" presId="urn:microsoft.com/office/officeart/2005/8/layout/hierarchy3"/>
    <dgm:cxn modelId="{FA5841D7-D65B-41F0-82E9-F8449C7B6453}" srcId="{01F74D7B-149A-4C61-96F7-A04933835AC2}" destId="{A54F9B4A-B9B6-4A24-85A4-FF4E0DA3D74D}" srcOrd="0" destOrd="0" parTransId="{7B2A1CD5-6FE2-449A-B8A1-E3D75539BC33}" sibTransId="{EEED795A-6917-4604-9C55-E05C6AF6B9B0}"/>
    <dgm:cxn modelId="{678B8458-FB63-4DD0-9023-DAAD769EBA51}" srcId="{01F74D7B-149A-4C61-96F7-A04933835AC2}" destId="{39AA2754-F9D1-4273-A149-4074BBFABAF8}" srcOrd="1" destOrd="0" parTransId="{F69412CE-C724-4D97-8EB2-AD326079BF59}" sibTransId="{06894A3A-2554-4D07-91D5-BD55B8AA7DC9}"/>
    <dgm:cxn modelId="{174FE58F-4DE3-41DB-98F9-DE774F8FD771}" type="presOf" srcId="{63144A98-64A0-40BC-8D20-BDA06253641F}" destId="{47BD5A54-9CFD-42E8-ACB6-B975249FCCEE}" srcOrd="0" destOrd="0" presId="urn:microsoft.com/office/officeart/2005/8/layout/hierarchy3"/>
    <dgm:cxn modelId="{FD358BE7-078A-4A14-BAA1-A0370188A8BB}" type="presOf" srcId="{39AA2754-F9D1-4273-A149-4074BBFABAF8}" destId="{D119EE64-5EAF-4072-A86C-776EC9E199C3}" srcOrd="1" destOrd="0" presId="urn:microsoft.com/office/officeart/2005/8/layout/hierarchy3"/>
    <dgm:cxn modelId="{2A335F63-9069-4C30-B5D8-A53E26F5391A}" type="presOf" srcId="{01F74D7B-149A-4C61-96F7-A04933835AC2}" destId="{FFBE6190-AF00-4EEA-91C1-C6AF4405030F}" srcOrd="0" destOrd="0" presId="urn:microsoft.com/office/officeart/2005/8/layout/hierarchy3"/>
    <dgm:cxn modelId="{AFD936F7-2898-4A02-A313-4FFFD997EA0E}" type="presOf" srcId="{338EEDAE-827A-46D9-B3D4-B52BE0EBB1CB}" destId="{7448CCD2-C29D-4AB2-BA9B-CA44828685AC}" srcOrd="0" destOrd="0" presId="urn:microsoft.com/office/officeart/2005/8/layout/hierarchy3"/>
    <dgm:cxn modelId="{795DE8F1-B2AB-4625-903F-8DBE3E3FAD86}" type="presOf" srcId="{A54F9B4A-B9B6-4A24-85A4-FF4E0DA3D74D}" destId="{027357CB-E192-4582-B851-E7B2171CCE7D}" srcOrd="0" destOrd="0" presId="urn:microsoft.com/office/officeart/2005/8/layout/hierarchy3"/>
    <dgm:cxn modelId="{6ECD8428-C3DC-41B9-960C-44A5E7C300AF}" type="presParOf" srcId="{FFBE6190-AF00-4EEA-91C1-C6AF4405030F}" destId="{7F7F7A03-8BD6-4EBC-859D-8492706C9549}" srcOrd="0" destOrd="0" presId="urn:microsoft.com/office/officeart/2005/8/layout/hierarchy3"/>
    <dgm:cxn modelId="{BEFBF12E-403E-4BAF-8168-A8372535D9B9}" type="presParOf" srcId="{7F7F7A03-8BD6-4EBC-859D-8492706C9549}" destId="{57849E61-0808-4B10-B46C-6282EC57F1F5}" srcOrd="0" destOrd="0" presId="urn:microsoft.com/office/officeart/2005/8/layout/hierarchy3"/>
    <dgm:cxn modelId="{E536FAF2-0441-452E-A62B-96CC488CD3CA}" type="presParOf" srcId="{57849E61-0808-4B10-B46C-6282EC57F1F5}" destId="{027357CB-E192-4582-B851-E7B2171CCE7D}" srcOrd="0" destOrd="0" presId="urn:microsoft.com/office/officeart/2005/8/layout/hierarchy3"/>
    <dgm:cxn modelId="{1FE5BD33-0A11-41CA-9BA5-0AD6C6FD6339}" type="presParOf" srcId="{57849E61-0808-4B10-B46C-6282EC57F1F5}" destId="{C09D97A5-E69C-4350-B8DA-72E397016EBE}" srcOrd="1" destOrd="0" presId="urn:microsoft.com/office/officeart/2005/8/layout/hierarchy3"/>
    <dgm:cxn modelId="{AE3438E1-B736-478D-87D7-0DB67123422B}" type="presParOf" srcId="{7F7F7A03-8BD6-4EBC-859D-8492706C9549}" destId="{57BBDC1C-5785-4239-BD79-6AFCA07F10DC}" srcOrd="1" destOrd="0" presId="urn:microsoft.com/office/officeart/2005/8/layout/hierarchy3"/>
    <dgm:cxn modelId="{EB837A85-E64A-4293-B0FB-52E56107DD75}" type="presParOf" srcId="{57BBDC1C-5785-4239-BD79-6AFCA07F10DC}" destId="{8D2A43F9-2CC9-4F39-96DE-93C41E8CE49C}" srcOrd="0" destOrd="0" presId="urn:microsoft.com/office/officeart/2005/8/layout/hierarchy3"/>
    <dgm:cxn modelId="{1CF20891-D7CE-4295-A9AD-A92B02725CF2}" type="presParOf" srcId="{57BBDC1C-5785-4239-BD79-6AFCA07F10DC}" destId="{7448CCD2-C29D-4AB2-BA9B-CA44828685AC}" srcOrd="1" destOrd="0" presId="urn:microsoft.com/office/officeart/2005/8/layout/hierarchy3"/>
    <dgm:cxn modelId="{E76F6A61-D53C-4F56-82CA-F4D041820E52}" type="presParOf" srcId="{FFBE6190-AF00-4EEA-91C1-C6AF4405030F}" destId="{5DE153DD-707E-4E46-8821-4A572330C567}" srcOrd="1" destOrd="0" presId="urn:microsoft.com/office/officeart/2005/8/layout/hierarchy3"/>
    <dgm:cxn modelId="{D80FF0D0-C73F-44D3-8E6C-D0FCF0F23DFD}" type="presParOf" srcId="{5DE153DD-707E-4E46-8821-4A572330C567}" destId="{1C1E0523-E696-4237-AB54-9F75CCE37B83}" srcOrd="0" destOrd="0" presId="urn:microsoft.com/office/officeart/2005/8/layout/hierarchy3"/>
    <dgm:cxn modelId="{8E62BAC3-9BA2-4A92-92D2-D188EF418704}" type="presParOf" srcId="{1C1E0523-E696-4237-AB54-9F75CCE37B83}" destId="{197137F9-902C-4125-98B4-7EBD4022226E}" srcOrd="0" destOrd="0" presId="urn:microsoft.com/office/officeart/2005/8/layout/hierarchy3"/>
    <dgm:cxn modelId="{26987D24-6607-4835-AB23-8D73B6C7DF80}" type="presParOf" srcId="{1C1E0523-E696-4237-AB54-9F75CCE37B83}" destId="{D119EE64-5EAF-4072-A86C-776EC9E199C3}" srcOrd="1" destOrd="0" presId="urn:microsoft.com/office/officeart/2005/8/layout/hierarchy3"/>
    <dgm:cxn modelId="{FB73E469-1AA8-4FE9-819E-4909D781CB86}" type="presParOf" srcId="{5DE153DD-707E-4E46-8821-4A572330C567}" destId="{CDE1D42A-718C-4C0B-A458-939FD9626C90}" srcOrd="1" destOrd="0" presId="urn:microsoft.com/office/officeart/2005/8/layout/hierarchy3"/>
    <dgm:cxn modelId="{825FEEAE-C4A7-4838-BB86-DFAF36AADB0F}" type="presParOf" srcId="{CDE1D42A-718C-4C0B-A458-939FD9626C90}" destId="{BCE9AE38-A4FB-4B91-BD6F-24C5525D1F1F}" srcOrd="0" destOrd="0" presId="urn:microsoft.com/office/officeart/2005/8/layout/hierarchy3"/>
    <dgm:cxn modelId="{27318552-51B6-42E3-BBE9-0CABBF039DBB}" type="presParOf" srcId="{CDE1D42A-718C-4C0B-A458-939FD9626C90}" destId="{47BD5A54-9CFD-42E8-ACB6-B975249FCCE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8D371A-98AB-443C-964F-F1B22383981E}" type="doc">
      <dgm:prSet loTypeId="urn:microsoft.com/office/officeart/2005/8/layout/bProcess3" loCatId="process" qsTypeId="urn:microsoft.com/office/officeart/2005/8/quickstyle/simple1" qsCatId="simple" csTypeId="urn:microsoft.com/office/officeart/2005/8/colors/accent1_1" csCatId="accent1" phldr="1"/>
      <dgm:spPr/>
      <dgm:t>
        <a:bodyPr/>
        <a:lstStyle/>
        <a:p>
          <a:endParaRPr lang="de-DE"/>
        </a:p>
      </dgm:t>
    </dgm:pt>
    <dgm:pt modelId="{444939D3-4EEC-420E-850A-9D6B5DC861E9}">
      <dgm:prSet phldrT="[Text]"/>
      <dgm:spPr/>
      <dgm:t>
        <a:bodyPr/>
        <a:lstStyle/>
        <a:p>
          <a:r>
            <a:rPr lang="de-DE" dirty="0" smtClean="0"/>
            <a:t>Create </a:t>
          </a:r>
          <a:r>
            <a:rPr lang="de-DE" dirty="0" smtClean="0"/>
            <a:t>Variant </a:t>
          </a:r>
          <a:br>
            <a:rPr lang="de-DE" dirty="0" smtClean="0"/>
          </a:br>
          <a:r>
            <a:rPr lang="de-DE" dirty="0" err="1" smtClean="0"/>
            <a:t>Raw</a:t>
          </a:r>
          <a:r>
            <a:rPr lang="de-DE" dirty="0" smtClean="0"/>
            <a:t> Material</a:t>
          </a:r>
          <a:endParaRPr lang="de-DE" dirty="0"/>
        </a:p>
      </dgm:t>
    </dgm:pt>
    <dgm:pt modelId="{FF24FA42-84E6-4E1D-8457-0F526CA25242}" type="parTrans" cxnId="{4976978B-A1D7-49F8-A96F-0959CD39E9DB}">
      <dgm:prSet/>
      <dgm:spPr/>
      <dgm:t>
        <a:bodyPr/>
        <a:lstStyle/>
        <a:p>
          <a:endParaRPr lang="de-DE"/>
        </a:p>
      </dgm:t>
    </dgm:pt>
    <dgm:pt modelId="{F3811A55-86B8-4FF1-AB67-B3669E00EFDF}" type="sibTrans" cxnId="{4976978B-A1D7-49F8-A96F-0959CD39E9DB}">
      <dgm:prSet/>
      <dgm:spPr/>
      <dgm:t>
        <a:bodyPr/>
        <a:lstStyle/>
        <a:p>
          <a:endParaRPr lang="de-DE"/>
        </a:p>
      </dgm:t>
    </dgm:pt>
    <dgm:pt modelId="{132EFDBC-F6F7-4244-BF3B-52DCFD6C18C7}">
      <dgm:prSet phldrT="[Text]"/>
      <dgm:spPr/>
      <dgm:t>
        <a:bodyPr/>
        <a:lstStyle/>
        <a:p>
          <a:r>
            <a:rPr lang="en-US" dirty="0" smtClean="0"/>
            <a:t>Extend </a:t>
          </a:r>
          <a:r>
            <a:rPr lang="en-US" dirty="0" smtClean="0"/>
            <a:t>Material Master </a:t>
          </a:r>
          <a:r>
            <a:rPr lang="en-US" dirty="0" smtClean="0"/>
            <a:t>for </a:t>
          </a:r>
          <a:r>
            <a:rPr lang="en-US" dirty="0" smtClean="0"/>
            <a:t>Costing </a:t>
          </a:r>
          <a:r>
            <a:rPr lang="en-US" dirty="0" smtClean="0"/>
            <a:t>(MRP, </a:t>
          </a:r>
          <a:r>
            <a:rPr lang="en-US" dirty="0" smtClean="0"/>
            <a:t>Accounting</a:t>
          </a:r>
          <a:r>
            <a:rPr lang="en-US" dirty="0" smtClean="0"/>
            <a:t>, and </a:t>
          </a:r>
          <a:r>
            <a:rPr lang="en-US" dirty="0" smtClean="0"/>
            <a:t>Costing Views</a:t>
          </a:r>
          <a:r>
            <a:rPr lang="en-US" dirty="0" smtClean="0"/>
            <a:t>)</a:t>
          </a:r>
          <a:endParaRPr lang="de-DE" dirty="0"/>
        </a:p>
      </dgm:t>
    </dgm:pt>
    <dgm:pt modelId="{EC0E7C88-3379-4F55-8E44-BBF9DBA87D2D}" type="parTrans" cxnId="{2BC56BCE-D572-43C9-8902-167AB3632A62}">
      <dgm:prSet/>
      <dgm:spPr/>
      <dgm:t>
        <a:bodyPr/>
        <a:lstStyle/>
        <a:p>
          <a:endParaRPr lang="de-DE"/>
        </a:p>
      </dgm:t>
    </dgm:pt>
    <dgm:pt modelId="{D0BF658E-2692-4438-ACF5-7E9F785E2D44}" type="sibTrans" cxnId="{2BC56BCE-D572-43C9-8902-167AB3632A62}">
      <dgm:prSet/>
      <dgm:spPr/>
      <dgm:t>
        <a:bodyPr/>
        <a:lstStyle/>
        <a:p>
          <a:endParaRPr lang="de-DE"/>
        </a:p>
      </dgm:t>
    </dgm:pt>
    <dgm:pt modelId="{D360D1FF-8D63-4365-92C3-E665721797F3}">
      <dgm:prSet phldrT="[Text]"/>
      <dgm:spPr/>
      <dgm:t>
        <a:bodyPr/>
        <a:lstStyle/>
        <a:p>
          <a:r>
            <a:rPr lang="de-DE" dirty="0" smtClean="0"/>
            <a:t>Create </a:t>
          </a:r>
          <a:r>
            <a:rPr lang="de-DE" dirty="0" smtClean="0"/>
            <a:t>Bill </a:t>
          </a:r>
          <a:r>
            <a:rPr lang="de-DE" dirty="0" err="1" smtClean="0"/>
            <a:t>of</a:t>
          </a:r>
          <a:r>
            <a:rPr lang="de-DE" dirty="0" smtClean="0"/>
            <a:t> </a:t>
          </a:r>
          <a:r>
            <a:rPr lang="de-DE" dirty="0" smtClean="0"/>
            <a:t>Material</a:t>
          </a:r>
          <a:endParaRPr lang="de-DE" dirty="0"/>
        </a:p>
      </dgm:t>
    </dgm:pt>
    <dgm:pt modelId="{0177626B-8FCC-412A-9C88-C42FC5D27BB4}" type="parTrans" cxnId="{34EADAC6-9513-4E36-9C0F-3A7930F8665F}">
      <dgm:prSet/>
      <dgm:spPr/>
      <dgm:t>
        <a:bodyPr/>
        <a:lstStyle/>
        <a:p>
          <a:endParaRPr lang="de-DE"/>
        </a:p>
      </dgm:t>
    </dgm:pt>
    <dgm:pt modelId="{AF42AA32-E90D-4AD2-A3EA-F6AFE5BABABD}" type="sibTrans" cxnId="{34EADAC6-9513-4E36-9C0F-3A7930F8665F}">
      <dgm:prSet/>
      <dgm:spPr/>
      <dgm:t>
        <a:bodyPr/>
        <a:lstStyle/>
        <a:p>
          <a:endParaRPr lang="de-DE"/>
        </a:p>
      </dgm:t>
    </dgm:pt>
    <dgm:pt modelId="{A41BFD47-E985-4458-9DE8-4DA363CB24A7}">
      <dgm:prSet phldrT="[Text]"/>
      <dgm:spPr/>
      <dgm:t>
        <a:bodyPr/>
        <a:lstStyle/>
        <a:p>
          <a:r>
            <a:rPr lang="de-DE" dirty="0" smtClean="0"/>
            <a:t>Create </a:t>
          </a:r>
          <a:r>
            <a:rPr lang="de-DE" dirty="0" smtClean="0"/>
            <a:t>Routing</a:t>
          </a:r>
          <a:endParaRPr lang="de-DE" dirty="0"/>
        </a:p>
      </dgm:t>
    </dgm:pt>
    <dgm:pt modelId="{8B0D3ABA-3749-444B-9451-16AAD201632F}" type="parTrans" cxnId="{9D814676-CBA7-4849-A238-5CF3FD4D5706}">
      <dgm:prSet/>
      <dgm:spPr/>
      <dgm:t>
        <a:bodyPr/>
        <a:lstStyle/>
        <a:p>
          <a:endParaRPr lang="de-DE"/>
        </a:p>
      </dgm:t>
    </dgm:pt>
    <dgm:pt modelId="{5F46F96F-A9F5-4365-A378-81FBF3F17A01}" type="sibTrans" cxnId="{9D814676-CBA7-4849-A238-5CF3FD4D5706}">
      <dgm:prSet/>
      <dgm:spPr/>
      <dgm:t>
        <a:bodyPr/>
        <a:lstStyle/>
        <a:p>
          <a:endParaRPr lang="de-DE"/>
        </a:p>
      </dgm:t>
    </dgm:pt>
    <dgm:pt modelId="{0B7A9FCC-F879-49F1-B970-F425389BD2FF}">
      <dgm:prSet phldrT="[Text]"/>
      <dgm:spPr>
        <a:ln>
          <a:solidFill>
            <a:schemeClr val="bg1">
              <a:lumMod val="50000"/>
            </a:schemeClr>
          </a:solidFill>
        </a:ln>
      </dgm:spPr>
      <dgm:t>
        <a:bodyPr/>
        <a:lstStyle/>
        <a:p>
          <a:r>
            <a:rPr lang="de-DE" dirty="0" err="1" smtClean="0"/>
            <a:t>Perform</a:t>
          </a:r>
          <a:r>
            <a:rPr lang="de-DE" dirty="0" smtClean="0"/>
            <a:t> </a:t>
          </a:r>
          <a:r>
            <a:rPr lang="de-DE" dirty="0" smtClean="0"/>
            <a:t>Material </a:t>
          </a:r>
          <a:r>
            <a:rPr lang="de-DE" dirty="0" err="1" smtClean="0"/>
            <a:t>Costing</a:t>
          </a:r>
          <a:endParaRPr lang="de-DE" dirty="0"/>
        </a:p>
      </dgm:t>
    </dgm:pt>
    <dgm:pt modelId="{326EA9D6-CD7B-4738-895F-8E18FED7E03A}" type="parTrans" cxnId="{FA5D1D1E-46B1-4499-9FC5-0A82DA64E08B}">
      <dgm:prSet/>
      <dgm:spPr/>
      <dgm:t>
        <a:bodyPr/>
        <a:lstStyle/>
        <a:p>
          <a:endParaRPr lang="de-DE"/>
        </a:p>
      </dgm:t>
    </dgm:pt>
    <dgm:pt modelId="{31B3E15D-7EA5-4898-A809-8542912C29C9}" type="sibTrans" cxnId="{FA5D1D1E-46B1-4499-9FC5-0A82DA64E08B}">
      <dgm:prSet/>
      <dgm:spPr/>
      <dgm:t>
        <a:bodyPr/>
        <a:lstStyle/>
        <a:p>
          <a:endParaRPr lang="de-DE"/>
        </a:p>
      </dgm:t>
    </dgm:pt>
    <dgm:pt modelId="{84C0D022-F679-4947-A87F-8C5E5B807AF2}">
      <dgm:prSet phldrT="[Text]"/>
      <dgm:spPr>
        <a:ln>
          <a:solidFill>
            <a:schemeClr val="bg1">
              <a:lumMod val="50000"/>
            </a:schemeClr>
          </a:solidFill>
        </a:ln>
      </dgm:spPr>
      <dgm:t>
        <a:bodyPr/>
        <a:lstStyle/>
        <a:p>
          <a:r>
            <a:rPr lang="de-DE" dirty="0" smtClean="0"/>
            <a:t>Mark </a:t>
          </a:r>
          <a:r>
            <a:rPr lang="de-DE" dirty="0" smtClean="0"/>
            <a:t>Price Updates</a:t>
          </a:r>
          <a:endParaRPr lang="de-DE" dirty="0"/>
        </a:p>
      </dgm:t>
    </dgm:pt>
    <dgm:pt modelId="{2A2AEE85-B8CF-41F9-90F2-AA52DE2EC101}" type="parTrans" cxnId="{2AE8DC2B-76B6-4051-8A5E-304C095D56E9}">
      <dgm:prSet/>
      <dgm:spPr/>
      <dgm:t>
        <a:bodyPr/>
        <a:lstStyle/>
        <a:p>
          <a:endParaRPr lang="de-DE"/>
        </a:p>
      </dgm:t>
    </dgm:pt>
    <dgm:pt modelId="{5E230A55-6720-4166-9DCA-02DB5251A983}" type="sibTrans" cxnId="{2AE8DC2B-76B6-4051-8A5E-304C095D56E9}">
      <dgm:prSet/>
      <dgm:spPr/>
      <dgm:t>
        <a:bodyPr/>
        <a:lstStyle/>
        <a:p>
          <a:endParaRPr lang="de-DE"/>
        </a:p>
      </dgm:t>
    </dgm:pt>
    <dgm:pt modelId="{533C1B7D-678B-47D4-8345-E815A6977A43}">
      <dgm:prSet phldrT="[Text]"/>
      <dgm:spPr>
        <a:ln>
          <a:solidFill>
            <a:schemeClr val="bg1">
              <a:lumMod val="50000"/>
            </a:schemeClr>
          </a:solidFill>
        </a:ln>
      </dgm:spPr>
      <dgm:t>
        <a:bodyPr/>
        <a:lstStyle/>
        <a:p>
          <a:r>
            <a:rPr lang="de-DE" dirty="0" err="1" smtClean="0"/>
            <a:t>Analyze</a:t>
          </a:r>
          <a:r>
            <a:rPr lang="de-DE" dirty="0" smtClean="0"/>
            <a:t> </a:t>
          </a:r>
          <a:r>
            <a:rPr lang="de-DE" dirty="0" smtClean="0"/>
            <a:t>Price </a:t>
          </a:r>
          <a:r>
            <a:rPr lang="de-DE" dirty="0" err="1" smtClean="0"/>
            <a:t>Changes</a:t>
          </a:r>
          <a:endParaRPr lang="de-DE" dirty="0" smtClean="0"/>
        </a:p>
      </dgm:t>
    </dgm:pt>
    <dgm:pt modelId="{72F5F5E2-9E5A-4597-8AE5-F01DD83A7A0E}" type="parTrans" cxnId="{EC16A702-EE6E-479F-80FF-1BA306CFE891}">
      <dgm:prSet/>
      <dgm:spPr/>
      <dgm:t>
        <a:bodyPr/>
        <a:lstStyle/>
        <a:p>
          <a:endParaRPr lang="de-DE"/>
        </a:p>
      </dgm:t>
    </dgm:pt>
    <dgm:pt modelId="{032CE7C6-4C49-4E4D-8ADC-FDDB3C47BEBE}" type="sibTrans" cxnId="{EC16A702-EE6E-479F-80FF-1BA306CFE891}">
      <dgm:prSet/>
      <dgm:spPr/>
      <dgm:t>
        <a:bodyPr/>
        <a:lstStyle/>
        <a:p>
          <a:endParaRPr lang="de-DE"/>
        </a:p>
      </dgm:t>
    </dgm:pt>
    <dgm:pt modelId="{32BDF188-0699-4B4B-8F2F-1042A4A63681}">
      <dgm:prSet phldrT="[Text]"/>
      <dgm:spPr/>
      <dgm:t>
        <a:bodyPr/>
        <a:lstStyle/>
        <a:p>
          <a:r>
            <a:rPr lang="de-DE" dirty="0" smtClean="0"/>
            <a:t>Create </a:t>
          </a:r>
          <a:r>
            <a:rPr lang="de-DE" dirty="0" smtClean="0"/>
            <a:t>Variant </a:t>
          </a:r>
          <a:r>
            <a:rPr lang="de-DE" dirty="0" err="1" smtClean="0"/>
            <a:t>Finished</a:t>
          </a:r>
          <a:r>
            <a:rPr lang="de-DE" dirty="0" smtClean="0"/>
            <a:t> </a:t>
          </a:r>
          <a:r>
            <a:rPr lang="de-DE" dirty="0" err="1" smtClean="0"/>
            <a:t>Good</a:t>
          </a:r>
          <a:endParaRPr lang="de-DE" dirty="0"/>
        </a:p>
      </dgm:t>
    </dgm:pt>
    <dgm:pt modelId="{7A07D081-D05C-4793-AE25-61DA5BC0398F}" type="parTrans" cxnId="{43198C29-97E6-480D-A3E8-C044752BCA75}">
      <dgm:prSet/>
      <dgm:spPr/>
      <dgm:t>
        <a:bodyPr/>
        <a:lstStyle/>
        <a:p>
          <a:endParaRPr lang="de-DE"/>
        </a:p>
      </dgm:t>
    </dgm:pt>
    <dgm:pt modelId="{1D4BFC88-F1D1-440C-ADF2-D6F0ED20D7C5}" type="sibTrans" cxnId="{43198C29-97E6-480D-A3E8-C044752BCA75}">
      <dgm:prSet/>
      <dgm:spPr/>
      <dgm:t>
        <a:bodyPr/>
        <a:lstStyle/>
        <a:p>
          <a:endParaRPr lang="de-DE"/>
        </a:p>
      </dgm:t>
    </dgm:pt>
    <dgm:pt modelId="{CCFFDB3F-0FAE-4A9F-B887-C2755456729C}">
      <dgm:prSet phldrT="[Text]"/>
      <dgm:spPr>
        <a:ln>
          <a:solidFill>
            <a:schemeClr val="bg1">
              <a:lumMod val="50000"/>
            </a:schemeClr>
          </a:solidFill>
        </a:ln>
      </dgm:spPr>
      <dgm:t>
        <a:bodyPr/>
        <a:lstStyle/>
        <a:p>
          <a:r>
            <a:rPr lang="de-DE" dirty="0" smtClean="0"/>
            <a:t>Release </a:t>
          </a:r>
          <a:r>
            <a:rPr lang="de-DE" dirty="0" smtClean="0"/>
            <a:t>Prices</a:t>
          </a:r>
          <a:endParaRPr lang="de-DE" dirty="0"/>
        </a:p>
      </dgm:t>
    </dgm:pt>
    <dgm:pt modelId="{AA2DCE88-491D-40E3-A88F-925BC7F10C81}" type="parTrans" cxnId="{59E6776B-B189-4132-9B98-D9B70BD5576A}">
      <dgm:prSet/>
      <dgm:spPr/>
      <dgm:t>
        <a:bodyPr/>
        <a:lstStyle/>
        <a:p>
          <a:endParaRPr lang="de-DE"/>
        </a:p>
      </dgm:t>
    </dgm:pt>
    <dgm:pt modelId="{1E7E62CD-8406-4B63-9663-5083031116D4}" type="sibTrans" cxnId="{59E6776B-B189-4132-9B98-D9B70BD5576A}">
      <dgm:prSet/>
      <dgm:spPr/>
      <dgm:t>
        <a:bodyPr/>
        <a:lstStyle/>
        <a:p>
          <a:endParaRPr lang="de-DE"/>
        </a:p>
      </dgm:t>
    </dgm:pt>
    <dgm:pt modelId="{65C71B97-792F-437A-8160-0343BFCECC32}" type="pres">
      <dgm:prSet presAssocID="{F58D371A-98AB-443C-964F-F1B22383981E}" presName="Name0" presStyleCnt="0">
        <dgm:presLayoutVars>
          <dgm:dir/>
          <dgm:resizeHandles val="exact"/>
        </dgm:presLayoutVars>
      </dgm:prSet>
      <dgm:spPr/>
      <dgm:t>
        <a:bodyPr/>
        <a:lstStyle/>
        <a:p>
          <a:endParaRPr lang="de-DE"/>
        </a:p>
      </dgm:t>
    </dgm:pt>
    <dgm:pt modelId="{1A74DA8B-6DCB-43DB-B5D9-45EAD801AD53}" type="pres">
      <dgm:prSet presAssocID="{32BDF188-0699-4B4B-8F2F-1042A4A63681}" presName="node" presStyleLbl="node1" presStyleIdx="0" presStyleCnt="9" custLinFactNeighborX="-374" custLinFactNeighborY="-45886">
        <dgm:presLayoutVars>
          <dgm:bulletEnabled val="1"/>
        </dgm:presLayoutVars>
      </dgm:prSet>
      <dgm:spPr/>
      <dgm:t>
        <a:bodyPr/>
        <a:lstStyle/>
        <a:p>
          <a:endParaRPr lang="de-DE"/>
        </a:p>
      </dgm:t>
    </dgm:pt>
    <dgm:pt modelId="{75C2FC1E-9F6B-4B9D-805F-EF5106877EC7}" type="pres">
      <dgm:prSet presAssocID="{1D4BFC88-F1D1-440C-ADF2-D6F0ED20D7C5}" presName="sibTrans" presStyleLbl="sibTrans1D1" presStyleIdx="0" presStyleCnt="8"/>
      <dgm:spPr/>
      <dgm:t>
        <a:bodyPr/>
        <a:lstStyle/>
        <a:p>
          <a:endParaRPr lang="de-DE"/>
        </a:p>
      </dgm:t>
    </dgm:pt>
    <dgm:pt modelId="{FDBEAF1E-16E5-4F6A-91DE-25B916C38A76}" type="pres">
      <dgm:prSet presAssocID="{1D4BFC88-F1D1-440C-ADF2-D6F0ED20D7C5}" presName="connectorText" presStyleLbl="sibTrans1D1" presStyleIdx="0" presStyleCnt="8"/>
      <dgm:spPr/>
      <dgm:t>
        <a:bodyPr/>
        <a:lstStyle/>
        <a:p>
          <a:endParaRPr lang="de-DE"/>
        </a:p>
      </dgm:t>
    </dgm:pt>
    <dgm:pt modelId="{E9ED1BA3-577E-4B62-AF55-A1FE153840CD}" type="pres">
      <dgm:prSet presAssocID="{444939D3-4EEC-420E-850A-9D6B5DC861E9}" presName="node" presStyleLbl="node1" presStyleIdx="1" presStyleCnt="9" custLinFactNeighborX="-374" custLinFactNeighborY="-45886">
        <dgm:presLayoutVars>
          <dgm:bulletEnabled val="1"/>
        </dgm:presLayoutVars>
      </dgm:prSet>
      <dgm:spPr/>
      <dgm:t>
        <a:bodyPr/>
        <a:lstStyle/>
        <a:p>
          <a:endParaRPr lang="de-DE"/>
        </a:p>
      </dgm:t>
    </dgm:pt>
    <dgm:pt modelId="{949A9BCB-53F1-4AAC-A667-65C73B544579}" type="pres">
      <dgm:prSet presAssocID="{F3811A55-86B8-4FF1-AB67-B3669E00EFDF}" presName="sibTrans" presStyleLbl="sibTrans1D1" presStyleIdx="1" presStyleCnt="8"/>
      <dgm:spPr/>
      <dgm:t>
        <a:bodyPr/>
        <a:lstStyle/>
        <a:p>
          <a:endParaRPr lang="de-DE"/>
        </a:p>
      </dgm:t>
    </dgm:pt>
    <dgm:pt modelId="{1EE4FB69-A111-416D-8DC8-2AAA8E619DD2}" type="pres">
      <dgm:prSet presAssocID="{F3811A55-86B8-4FF1-AB67-B3669E00EFDF}" presName="connectorText" presStyleLbl="sibTrans1D1" presStyleIdx="1" presStyleCnt="8"/>
      <dgm:spPr/>
      <dgm:t>
        <a:bodyPr/>
        <a:lstStyle/>
        <a:p>
          <a:endParaRPr lang="de-DE"/>
        </a:p>
      </dgm:t>
    </dgm:pt>
    <dgm:pt modelId="{331AE6CE-B358-4474-8C04-FA43B93412C5}" type="pres">
      <dgm:prSet presAssocID="{132EFDBC-F6F7-4244-BF3B-52DCFD6C18C7}" presName="node" presStyleLbl="node1" presStyleIdx="2" presStyleCnt="9" custLinFactNeighborX="-374" custLinFactNeighborY="-45886">
        <dgm:presLayoutVars>
          <dgm:bulletEnabled val="1"/>
        </dgm:presLayoutVars>
      </dgm:prSet>
      <dgm:spPr/>
      <dgm:t>
        <a:bodyPr/>
        <a:lstStyle/>
        <a:p>
          <a:endParaRPr lang="de-DE"/>
        </a:p>
      </dgm:t>
    </dgm:pt>
    <dgm:pt modelId="{68E7074C-3D67-4ED3-896F-50D02A7938F2}" type="pres">
      <dgm:prSet presAssocID="{D0BF658E-2692-4438-ACF5-7E9F785E2D44}" presName="sibTrans" presStyleLbl="sibTrans1D1" presStyleIdx="2" presStyleCnt="8"/>
      <dgm:spPr/>
      <dgm:t>
        <a:bodyPr/>
        <a:lstStyle/>
        <a:p>
          <a:endParaRPr lang="de-DE"/>
        </a:p>
      </dgm:t>
    </dgm:pt>
    <dgm:pt modelId="{032BDB1D-2A22-4C33-8C29-F8CFF650A99C}" type="pres">
      <dgm:prSet presAssocID="{D0BF658E-2692-4438-ACF5-7E9F785E2D44}" presName="connectorText" presStyleLbl="sibTrans1D1" presStyleIdx="2" presStyleCnt="8"/>
      <dgm:spPr/>
      <dgm:t>
        <a:bodyPr/>
        <a:lstStyle/>
        <a:p>
          <a:endParaRPr lang="de-DE"/>
        </a:p>
      </dgm:t>
    </dgm:pt>
    <dgm:pt modelId="{BAF0AA2D-4185-4134-B7A7-2E309C929E4C}" type="pres">
      <dgm:prSet presAssocID="{D360D1FF-8D63-4365-92C3-E665721797F3}" presName="node" presStyleLbl="node1" presStyleIdx="3" presStyleCnt="9" custLinFactNeighborX="-374" custLinFactNeighborY="-45886">
        <dgm:presLayoutVars>
          <dgm:bulletEnabled val="1"/>
        </dgm:presLayoutVars>
      </dgm:prSet>
      <dgm:spPr/>
      <dgm:t>
        <a:bodyPr/>
        <a:lstStyle/>
        <a:p>
          <a:endParaRPr lang="de-DE"/>
        </a:p>
      </dgm:t>
    </dgm:pt>
    <dgm:pt modelId="{2E0F1BC1-873D-403F-B8B0-949183C6953C}" type="pres">
      <dgm:prSet presAssocID="{AF42AA32-E90D-4AD2-A3EA-F6AFE5BABABD}" presName="sibTrans" presStyleLbl="sibTrans1D1" presStyleIdx="3" presStyleCnt="8"/>
      <dgm:spPr/>
      <dgm:t>
        <a:bodyPr/>
        <a:lstStyle/>
        <a:p>
          <a:endParaRPr lang="de-DE"/>
        </a:p>
      </dgm:t>
    </dgm:pt>
    <dgm:pt modelId="{EC33D22C-F3EE-4888-A64D-077298F2EEE1}" type="pres">
      <dgm:prSet presAssocID="{AF42AA32-E90D-4AD2-A3EA-F6AFE5BABABD}" presName="connectorText" presStyleLbl="sibTrans1D1" presStyleIdx="3" presStyleCnt="8"/>
      <dgm:spPr/>
      <dgm:t>
        <a:bodyPr/>
        <a:lstStyle/>
        <a:p>
          <a:endParaRPr lang="de-DE"/>
        </a:p>
      </dgm:t>
    </dgm:pt>
    <dgm:pt modelId="{B50EAD4D-B98F-41A0-A426-B83CB7472F09}" type="pres">
      <dgm:prSet presAssocID="{A41BFD47-E985-4458-9DE8-4DA363CB24A7}" presName="node" presStyleLbl="node1" presStyleIdx="4" presStyleCnt="9" custLinFactNeighborX="-374" custLinFactNeighborY="-45886">
        <dgm:presLayoutVars>
          <dgm:bulletEnabled val="1"/>
        </dgm:presLayoutVars>
      </dgm:prSet>
      <dgm:spPr/>
      <dgm:t>
        <a:bodyPr/>
        <a:lstStyle/>
        <a:p>
          <a:endParaRPr lang="de-DE"/>
        </a:p>
      </dgm:t>
    </dgm:pt>
    <dgm:pt modelId="{9E53A447-13E7-4D39-A393-22B465FE38CE}" type="pres">
      <dgm:prSet presAssocID="{5F46F96F-A9F5-4365-A378-81FBF3F17A01}" presName="sibTrans" presStyleLbl="sibTrans1D1" presStyleIdx="4" presStyleCnt="8"/>
      <dgm:spPr/>
      <dgm:t>
        <a:bodyPr/>
        <a:lstStyle/>
        <a:p>
          <a:endParaRPr lang="de-DE"/>
        </a:p>
      </dgm:t>
    </dgm:pt>
    <dgm:pt modelId="{D3E5FC07-3CA6-4BC1-B3C7-4C59FC8A3604}" type="pres">
      <dgm:prSet presAssocID="{5F46F96F-A9F5-4365-A378-81FBF3F17A01}" presName="connectorText" presStyleLbl="sibTrans1D1" presStyleIdx="4" presStyleCnt="8"/>
      <dgm:spPr/>
      <dgm:t>
        <a:bodyPr/>
        <a:lstStyle/>
        <a:p>
          <a:endParaRPr lang="de-DE"/>
        </a:p>
      </dgm:t>
    </dgm:pt>
    <dgm:pt modelId="{3C7B1FB1-98C2-457A-8A58-9F5F3BBBF1D0}" type="pres">
      <dgm:prSet presAssocID="{0B7A9FCC-F879-49F1-B970-F425389BD2FF}" presName="node" presStyleLbl="node1" presStyleIdx="5" presStyleCnt="9" custLinFactNeighborX="59653" custLinFactNeighborY="35886">
        <dgm:presLayoutVars>
          <dgm:bulletEnabled val="1"/>
        </dgm:presLayoutVars>
      </dgm:prSet>
      <dgm:spPr/>
      <dgm:t>
        <a:bodyPr/>
        <a:lstStyle/>
        <a:p>
          <a:endParaRPr lang="de-DE"/>
        </a:p>
      </dgm:t>
    </dgm:pt>
    <dgm:pt modelId="{7389A46B-701D-46A5-8556-E88A09B7ADCD}" type="pres">
      <dgm:prSet presAssocID="{31B3E15D-7EA5-4898-A809-8542912C29C9}" presName="sibTrans" presStyleLbl="sibTrans1D1" presStyleIdx="5" presStyleCnt="8"/>
      <dgm:spPr/>
      <dgm:t>
        <a:bodyPr/>
        <a:lstStyle/>
        <a:p>
          <a:endParaRPr lang="de-DE"/>
        </a:p>
      </dgm:t>
    </dgm:pt>
    <dgm:pt modelId="{43DE4480-2F69-4CFA-8DA4-90DEF0BFEB08}" type="pres">
      <dgm:prSet presAssocID="{31B3E15D-7EA5-4898-A809-8542912C29C9}" presName="connectorText" presStyleLbl="sibTrans1D1" presStyleIdx="5" presStyleCnt="8"/>
      <dgm:spPr/>
      <dgm:t>
        <a:bodyPr/>
        <a:lstStyle/>
        <a:p>
          <a:endParaRPr lang="de-DE"/>
        </a:p>
      </dgm:t>
    </dgm:pt>
    <dgm:pt modelId="{097F84D8-1F09-43F8-A8F0-7A5FD9A03F9D}" type="pres">
      <dgm:prSet presAssocID="{84C0D022-F679-4947-A87F-8C5E5B807AF2}" presName="node" presStyleLbl="node1" presStyleIdx="6" presStyleCnt="9" custLinFactNeighborX="59653" custLinFactNeighborY="35886">
        <dgm:presLayoutVars>
          <dgm:bulletEnabled val="1"/>
        </dgm:presLayoutVars>
      </dgm:prSet>
      <dgm:spPr/>
      <dgm:t>
        <a:bodyPr/>
        <a:lstStyle/>
        <a:p>
          <a:endParaRPr lang="de-DE"/>
        </a:p>
      </dgm:t>
    </dgm:pt>
    <dgm:pt modelId="{CFE40E08-E20F-4BBB-B73F-3437E812CA38}" type="pres">
      <dgm:prSet presAssocID="{5E230A55-6720-4166-9DCA-02DB5251A983}" presName="sibTrans" presStyleLbl="sibTrans1D1" presStyleIdx="6" presStyleCnt="8"/>
      <dgm:spPr/>
      <dgm:t>
        <a:bodyPr/>
        <a:lstStyle/>
        <a:p>
          <a:endParaRPr lang="de-DE"/>
        </a:p>
      </dgm:t>
    </dgm:pt>
    <dgm:pt modelId="{4C9A676D-F2BD-462F-9E5F-A6AD2FFFD153}" type="pres">
      <dgm:prSet presAssocID="{5E230A55-6720-4166-9DCA-02DB5251A983}" presName="connectorText" presStyleLbl="sibTrans1D1" presStyleIdx="6" presStyleCnt="8"/>
      <dgm:spPr/>
      <dgm:t>
        <a:bodyPr/>
        <a:lstStyle/>
        <a:p>
          <a:endParaRPr lang="de-DE"/>
        </a:p>
      </dgm:t>
    </dgm:pt>
    <dgm:pt modelId="{D8EF3583-3511-4EA6-B615-A8B4AD7E5F09}" type="pres">
      <dgm:prSet presAssocID="{533C1B7D-678B-47D4-8345-E815A6977A43}" presName="node" presStyleLbl="node1" presStyleIdx="7" presStyleCnt="9" custLinFactNeighborX="59653" custLinFactNeighborY="35886">
        <dgm:presLayoutVars>
          <dgm:bulletEnabled val="1"/>
        </dgm:presLayoutVars>
      </dgm:prSet>
      <dgm:spPr/>
      <dgm:t>
        <a:bodyPr/>
        <a:lstStyle/>
        <a:p>
          <a:endParaRPr lang="de-DE"/>
        </a:p>
      </dgm:t>
    </dgm:pt>
    <dgm:pt modelId="{F1F95FF0-FC3D-4598-8D43-40B2A9578FEA}" type="pres">
      <dgm:prSet presAssocID="{032CE7C6-4C49-4E4D-8ADC-FDDB3C47BEBE}" presName="sibTrans" presStyleLbl="sibTrans1D1" presStyleIdx="7" presStyleCnt="8"/>
      <dgm:spPr/>
      <dgm:t>
        <a:bodyPr/>
        <a:lstStyle/>
        <a:p>
          <a:endParaRPr lang="de-DE"/>
        </a:p>
      </dgm:t>
    </dgm:pt>
    <dgm:pt modelId="{7574FDAB-9A38-4906-B9C7-087B15B5C6EF}" type="pres">
      <dgm:prSet presAssocID="{032CE7C6-4C49-4E4D-8ADC-FDDB3C47BEBE}" presName="connectorText" presStyleLbl="sibTrans1D1" presStyleIdx="7" presStyleCnt="8"/>
      <dgm:spPr/>
      <dgm:t>
        <a:bodyPr/>
        <a:lstStyle/>
        <a:p>
          <a:endParaRPr lang="de-DE"/>
        </a:p>
      </dgm:t>
    </dgm:pt>
    <dgm:pt modelId="{A69BC87C-86BD-4AA3-A057-6DDC7C1E6D36}" type="pres">
      <dgm:prSet presAssocID="{CCFFDB3F-0FAE-4A9F-B887-C2755456729C}" presName="node" presStyleLbl="node1" presStyleIdx="8" presStyleCnt="9" custLinFactNeighborX="59653" custLinFactNeighborY="35886">
        <dgm:presLayoutVars>
          <dgm:bulletEnabled val="1"/>
        </dgm:presLayoutVars>
      </dgm:prSet>
      <dgm:spPr/>
      <dgm:t>
        <a:bodyPr/>
        <a:lstStyle/>
        <a:p>
          <a:endParaRPr lang="de-DE"/>
        </a:p>
      </dgm:t>
    </dgm:pt>
  </dgm:ptLst>
  <dgm:cxnLst>
    <dgm:cxn modelId="{1596E254-07AF-4B61-AA1C-13B5EB391790}" type="presOf" srcId="{CCFFDB3F-0FAE-4A9F-B887-C2755456729C}" destId="{A69BC87C-86BD-4AA3-A057-6DDC7C1E6D36}" srcOrd="0" destOrd="0" presId="urn:microsoft.com/office/officeart/2005/8/layout/bProcess3"/>
    <dgm:cxn modelId="{BEE6ED0A-0574-4792-8CC8-67BA45560402}" type="presOf" srcId="{132EFDBC-F6F7-4244-BF3B-52DCFD6C18C7}" destId="{331AE6CE-B358-4474-8C04-FA43B93412C5}" srcOrd="0" destOrd="0" presId="urn:microsoft.com/office/officeart/2005/8/layout/bProcess3"/>
    <dgm:cxn modelId="{43198C29-97E6-480D-A3E8-C044752BCA75}" srcId="{F58D371A-98AB-443C-964F-F1B22383981E}" destId="{32BDF188-0699-4B4B-8F2F-1042A4A63681}" srcOrd="0" destOrd="0" parTransId="{7A07D081-D05C-4793-AE25-61DA5BC0398F}" sibTransId="{1D4BFC88-F1D1-440C-ADF2-D6F0ED20D7C5}"/>
    <dgm:cxn modelId="{59E6776B-B189-4132-9B98-D9B70BD5576A}" srcId="{F58D371A-98AB-443C-964F-F1B22383981E}" destId="{CCFFDB3F-0FAE-4A9F-B887-C2755456729C}" srcOrd="8" destOrd="0" parTransId="{AA2DCE88-491D-40E3-A88F-925BC7F10C81}" sibTransId="{1E7E62CD-8406-4B63-9663-5083031116D4}"/>
    <dgm:cxn modelId="{A6668FE3-69C4-402A-86AD-C0353F020EE0}" type="presOf" srcId="{32BDF188-0699-4B4B-8F2F-1042A4A63681}" destId="{1A74DA8B-6DCB-43DB-B5D9-45EAD801AD53}" srcOrd="0" destOrd="0" presId="urn:microsoft.com/office/officeart/2005/8/layout/bProcess3"/>
    <dgm:cxn modelId="{980656D1-9AED-4A1E-B2D0-08091B1B2CDD}" type="presOf" srcId="{F3811A55-86B8-4FF1-AB67-B3669E00EFDF}" destId="{1EE4FB69-A111-416D-8DC8-2AAA8E619DD2}" srcOrd="1" destOrd="0" presId="urn:microsoft.com/office/officeart/2005/8/layout/bProcess3"/>
    <dgm:cxn modelId="{D0992A57-3A2C-431A-98C4-CE7D92D2BDAA}" type="presOf" srcId="{F58D371A-98AB-443C-964F-F1B22383981E}" destId="{65C71B97-792F-437A-8160-0343BFCECC32}" srcOrd="0" destOrd="0" presId="urn:microsoft.com/office/officeart/2005/8/layout/bProcess3"/>
    <dgm:cxn modelId="{2102768E-3EF4-40F9-8417-CB5DC4711E3F}" type="presOf" srcId="{D0BF658E-2692-4438-ACF5-7E9F785E2D44}" destId="{032BDB1D-2A22-4C33-8C29-F8CFF650A99C}" srcOrd="1" destOrd="0" presId="urn:microsoft.com/office/officeart/2005/8/layout/bProcess3"/>
    <dgm:cxn modelId="{EA660747-9801-4AC3-914C-BFD221AF83EF}" type="presOf" srcId="{D0BF658E-2692-4438-ACF5-7E9F785E2D44}" destId="{68E7074C-3D67-4ED3-896F-50D02A7938F2}" srcOrd="0" destOrd="0" presId="urn:microsoft.com/office/officeart/2005/8/layout/bProcess3"/>
    <dgm:cxn modelId="{C4B63BDA-73FA-4A5A-8AA5-0D26C006497B}" type="presOf" srcId="{533C1B7D-678B-47D4-8345-E815A6977A43}" destId="{D8EF3583-3511-4EA6-B615-A8B4AD7E5F09}" srcOrd="0" destOrd="0" presId="urn:microsoft.com/office/officeart/2005/8/layout/bProcess3"/>
    <dgm:cxn modelId="{99E1B8C3-A2D4-473C-A0CA-91C29BA6F1A8}" type="presOf" srcId="{84C0D022-F679-4947-A87F-8C5E5B807AF2}" destId="{097F84D8-1F09-43F8-A8F0-7A5FD9A03F9D}" srcOrd="0" destOrd="0" presId="urn:microsoft.com/office/officeart/2005/8/layout/bProcess3"/>
    <dgm:cxn modelId="{EC16A702-EE6E-479F-80FF-1BA306CFE891}" srcId="{F58D371A-98AB-443C-964F-F1B22383981E}" destId="{533C1B7D-678B-47D4-8345-E815A6977A43}" srcOrd="7" destOrd="0" parTransId="{72F5F5E2-9E5A-4597-8AE5-F01DD83A7A0E}" sibTransId="{032CE7C6-4C49-4E4D-8ADC-FDDB3C47BEBE}"/>
    <dgm:cxn modelId="{667148EB-8FA6-4154-95A6-EE65B1AD1DCF}" type="presOf" srcId="{5F46F96F-A9F5-4365-A378-81FBF3F17A01}" destId="{D3E5FC07-3CA6-4BC1-B3C7-4C59FC8A3604}" srcOrd="1" destOrd="0" presId="urn:microsoft.com/office/officeart/2005/8/layout/bProcess3"/>
    <dgm:cxn modelId="{2BC56BCE-D572-43C9-8902-167AB3632A62}" srcId="{F58D371A-98AB-443C-964F-F1B22383981E}" destId="{132EFDBC-F6F7-4244-BF3B-52DCFD6C18C7}" srcOrd="2" destOrd="0" parTransId="{EC0E7C88-3379-4F55-8E44-BBF9DBA87D2D}" sibTransId="{D0BF658E-2692-4438-ACF5-7E9F785E2D44}"/>
    <dgm:cxn modelId="{3AE2FE69-2706-4638-B345-1D8B680C0CCE}" type="presOf" srcId="{AF42AA32-E90D-4AD2-A3EA-F6AFE5BABABD}" destId="{2E0F1BC1-873D-403F-B8B0-949183C6953C}" srcOrd="0" destOrd="0" presId="urn:microsoft.com/office/officeart/2005/8/layout/bProcess3"/>
    <dgm:cxn modelId="{82215AA7-A318-41BD-8C26-90E9A9994F22}" type="presOf" srcId="{444939D3-4EEC-420E-850A-9D6B5DC861E9}" destId="{E9ED1BA3-577E-4B62-AF55-A1FE153840CD}" srcOrd="0" destOrd="0" presId="urn:microsoft.com/office/officeart/2005/8/layout/bProcess3"/>
    <dgm:cxn modelId="{92642D79-6CFA-4C90-A367-44F1C2B34EF1}" type="presOf" srcId="{5E230A55-6720-4166-9DCA-02DB5251A983}" destId="{4C9A676D-F2BD-462F-9E5F-A6AD2FFFD153}" srcOrd="1" destOrd="0" presId="urn:microsoft.com/office/officeart/2005/8/layout/bProcess3"/>
    <dgm:cxn modelId="{7FAE2A7F-E641-43E5-B61B-53B6A1D50FA7}" type="presOf" srcId="{1D4BFC88-F1D1-440C-ADF2-D6F0ED20D7C5}" destId="{75C2FC1E-9F6B-4B9D-805F-EF5106877EC7}" srcOrd="0" destOrd="0" presId="urn:microsoft.com/office/officeart/2005/8/layout/bProcess3"/>
    <dgm:cxn modelId="{28BADC1D-5933-4D42-AE24-FA268FB22A20}" type="presOf" srcId="{31B3E15D-7EA5-4898-A809-8542912C29C9}" destId="{7389A46B-701D-46A5-8556-E88A09B7ADCD}" srcOrd="0" destOrd="0" presId="urn:microsoft.com/office/officeart/2005/8/layout/bProcess3"/>
    <dgm:cxn modelId="{34EADAC6-9513-4E36-9C0F-3A7930F8665F}" srcId="{F58D371A-98AB-443C-964F-F1B22383981E}" destId="{D360D1FF-8D63-4365-92C3-E665721797F3}" srcOrd="3" destOrd="0" parTransId="{0177626B-8FCC-412A-9C88-C42FC5D27BB4}" sibTransId="{AF42AA32-E90D-4AD2-A3EA-F6AFE5BABABD}"/>
    <dgm:cxn modelId="{49364F8A-4C1C-4658-BC26-7B26CAE17611}" type="presOf" srcId="{032CE7C6-4C49-4E4D-8ADC-FDDB3C47BEBE}" destId="{F1F95FF0-FC3D-4598-8D43-40B2A9578FEA}" srcOrd="0" destOrd="0" presId="urn:microsoft.com/office/officeart/2005/8/layout/bProcess3"/>
    <dgm:cxn modelId="{1F968553-DA93-4A94-B7D5-3A9DF91CD87F}" type="presOf" srcId="{D360D1FF-8D63-4365-92C3-E665721797F3}" destId="{BAF0AA2D-4185-4134-B7A7-2E309C929E4C}" srcOrd="0" destOrd="0" presId="urn:microsoft.com/office/officeart/2005/8/layout/bProcess3"/>
    <dgm:cxn modelId="{A0DB774B-E4AF-4A17-AAEB-2285B37F0E5A}" type="presOf" srcId="{0B7A9FCC-F879-49F1-B970-F425389BD2FF}" destId="{3C7B1FB1-98C2-457A-8A58-9F5F3BBBF1D0}" srcOrd="0" destOrd="0" presId="urn:microsoft.com/office/officeart/2005/8/layout/bProcess3"/>
    <dgm:cxn modelId="{1C8D89C3-9285-489D-91FB-99F10B1BFE3B}" type="presOf" srcId="{AF42AA32-E90D-4AD2-A3EA-F6AFE5BABABD}" destId="{EC33D22C-F3EE-4888-A64D-077298F2EEE1}" srcOrd="1" destOrd="0" presId="urn:microsoft.com/office/officeart/2005/8/layout/bProcess3"/>
    <dgm:cxn modelId="{A8A83F15-6675-40B9-BF2A-060F625234CD}" type="presOf" srcId="{31B3E15D-7EA5-4898-A809-8542912C29C9}" destId="{43DE4480-2F69-4CFA-8DA4-90DEF0BFEB08}" srcOrd="1" destOrd="0" presId="urn:microsoft.com/office/officeart/2005/8/layout/bProcess3"/>
    <dgm:cxn modelId="{FA5D1D1E-46B1-4499-9FC5-0A82DA64E08B}" srcId="{F58D371A-98AB-443C-964F-F1B22383981E}" destId="{0B7A9FCC-F879-49F1-B970-F425389BD2FF}" srcOrd="5" destOrd="0" parTransId="{326EA9D6-CD7B-4738-895F-8E18FED7E03A}" sibTransId="{31B3E15D-7EA5-4898-A809-8542912C29C9}"/>
    <dgm:cxn modelId="{169FF292-495D-4170-926F-3E87285BD24C}" type="presOf" srcId="{A41BFD47-E985-4458-9DE8-4DA363CB24A7}" destId="{B50EAD4D-B98F-41A0-A426-B83CB7472F09}" srcOrd="0" destOrd="0" presId="urn:microsoft.com/office/officeart/2005/8/layout/bProcess3"/>
    <dgm:cxn modelId="{2AE8DC2B-76B6-4051-8A5E-304C095D56E9}" srcId="{F58D371A-98AB-443C-964F-F1B22383981E}" destId="{84C0D022-F679-4947-A87F-8C5E5B807AF2}" srcOrd="6" destOrd="0" parTransId="{2A2AEE85-B8CF-41F9-90F2-AA52DE2EC101}" sibTransId="{5E230A55-6720-4166-9DCA-02DB5251A983}"/>
    <dgm:cxn modelId="{F4A2E201-6B97-4FA0-97A7-DEE573388928}" type="presOf" srcId="{032CE7C6-4C49-4E4D-8ADC-FDDB3C47BEBE}" destId="{7574FDAB-9A38-4906-B9C7-087B15B5C6EF}" srcOrd="1" destOrd="0" presId="urn:microsoft.com/office/officeart/2005/8/layout/bProcess3"/>
    <dgm:cxn modelId="{9D814676-CBA7-4849-A238-5CF3FD4D5706}" srcId="{F58D371A-98AB-443C-964F-F1B22383981E}" destId="{A41BFD47-E985-4458-9DE8-4DA363CB24A7}" srcOrd="4" destOrd="0" parTransId="{8B0D3ABA-3749-444B-9451-16AAD201632F}" sibTransId="{5F46F96F-A9F5-4365-A378-81FBF3F17A01}"/>
    <dgm:cxn modelId="{DD5C90B9-3DC5-433F-87C7-228BC494642C}" type="presOf" srcId="{F3811A55-86B8-4FF1-AB67-B3669E00EFDF}" destId="{949A9BCB-53F1-4AAC-A667-65C73B544579}" srcOrd="0" destOrd="0" presId="urn:microsoft.com/office/officeart/2005/8/layout/bProcess3"/>
    <dgm:cxn modelId="{50380197-A1DD-492B-9784-0AAFB4227314}" type="presOf" srcId="{1D4BFC88-F1D1-440C-ADF2-D6F0ED20D7C5}" destId="{FDBEAF1E-16E5-4F6A-91DE-25B916C38A76}" srcOrd="1" destOrd="0" presId="urn:microsoft.com/office/officeart/2005/8/layout/bProcess3"/>
    <dgm:cxn modelId="{4976978B-A1D7-49F8-A96F-0959CD39E9DB}" srcId="{F58D371A-98AB-443C-964F-F1B22383981E}" destId="{444939D3-4EEC-420E-850A-9D6B5DC861E9}" srcOrd="1" destOrd="0" parTransId="{FF24FA42-84E6-4E1D-8457-0F526CA25242}" sibTransId="{F3811A55-86B8-4FF1-AB67-B3669E00EFDF}"/>
    <dgm:cxn modelId="{970F0EE0-4622-4596-89F9-DB9376455918}" type="presOf" srcId="{5F46F96F-A9F5-4365-A378-81FBF3F17A01}" destId="{9E53A447-13E7-4D39-A393-22B465FE38CE}" srcOrd="0" destOrd="0" presId="urn:microsoft.com/office/officeart/2005/8/layout/bProcess3"/>
    <dgm:cxn modelId="{D49B63AD-71D2-4767-B566-7C73017EA829}" type="presOf" srcId="{5E230A55-6720-4166-9DCA-02DB5251A983}" destId="{CFE40E08-E20F-4BBB-B73F-3437E812CA38}" srcOrd="0" destOrd="0" presId="urn:microsoft.com/office/officeart/2005/8/layout/bProcess3"/>
    <dgm:cxn modelId="{6EA778CB-DEC3-4755-8E2E-E47E833DD6EC}" type="presParOf" srcId="{65C71B97-792F-437A-8160-0343BFCECC32}" destId="{1A74DA8B-6DCB-43DB-B5D9-45EAD801AD53}" srcOrd="0" destOrd="0" presId="urn:microsoft.com/office/officeart/2005/8/layout/bProcess3"/>
    <dgm:cxn modelId="{7861F63D-3A7A-467D-8FE1-B431385C2A13}" type="presParOf" srcId="{65C71B97-792F-437A-8160-0343BFCECC32}" destId="{75C2FC1E-9F6B-4B9D-805F-EF5106877EC7}" srcOrd="1" destOrd="0" presId="urn:microsoft.com/office/officeart/2005/8/layout/bProcess3"/>
    <dgm:cxn modelId="{0537CC2F-800D-406B-9636-A1E643105074}" type="presParOf" srcId="{75C2FC1E-9F6B-4B9D-805F-EF5106877EC7}" destId="{FDBEAF1E-16E5-4F6A-91DE-25B916C38A76}" srcOrd="0" destOrd="0" presId="urn:microsoft.com/office/officeart/2005/8/layout/bProcess3"/>
    <dgm:cxn modelId="{5058F557-0D1A-4E40-B33F-453BC160E1CD}" type="presParOf" srcId="{65C71B97-792F-437A-8160-0343BFCECC32}" destId="{E9ED1BA3-577E-4B62-AF55-A1FE153840CD}" srcOrd="2" destOrd="0" presId="urn:microsoft.com/office/officeart/2005/8/layout/bProcess3"/>
    <dgm:cxn modelId="{8344F643-37A0-4D39-A629-DE3030EC23B6}" type="presParOf" srcId="{65C71B97-792F-437A-8160-0343BFCECC32}" destId="{949A9BCB-53F1-4AAC-A667-65C73B544579}" srcOrd="3" destOrd="0" presId="urn:microsoft.com/office/officeart/2005/8/layout/bProcess3"/>
    <dgm:cxn modelId="{A57C2EEA-7176-4440-B5D6-9FBCA0E42F1E}" type="presParOf" srcId="{949A9BCB-53F1-4AAC-A667-65C73B544579}" destId="{1EE4FB69-A111-416D-8DC8-2AAA8E619DD2}" srcOrd="0" destOrd="0" presId="urn:microsoft.com/office/officeart/2005/8/layout/bProcess3"/>
    <dgm:cxn modelId="{786F816F-518E-4D8B-889F-1C30E9005D00}" type="presParOf" srcId="{65C71B97-792F-437A-8160-0343BFCECC32}" destId="{331AE6CE-B358-4474-8C04-FA43B93412C5}" srcOrd="4" destOrd="0" presId="urn:microsoft.com/office/officeart/2005/8/layout/bProcess3"/>
    <dgm:cxn modelId="{F242E703-FC14-4903-942A-DC18BC6D3DCF}" type="presParOf" srcId="{65C71B97-792F-437A-8160-0343BFCECC32}" destId="{68E7074C-3D67-4ED3-896F-50D02A7938F2}" srcOrd="5" destOrd="0" presId="urn:microsoft.com/office/officeart/2005/8/layout/bProcess3"/>
    <dgm:cxn modelId="{BFCACC0E-1910-4F46-A4D6-3E57954FA021}" type="presParOf" srcId="{68E7074C-3D67-4ED3-896F-50D02A7938F2}" destId="{032BDB1D-2A22-4C33-8C29-F8CFF650A99C}" srcOrd="0" destOrd="0" presId="urn:microsoft.com/office/officeart/2005/8/layout/bProcess3"/>
    <dgm:cxn modelId="{529F4FA4-A482-4CBD-A4BC-B835B520C071}" type="presParOf" srcId="{65C71B97-792F-437A-8160-0343BFCECC32}" destId="{BAF0AA2D-4185-4134-B7A7-2E309C929E4C}" srcOrd="6" destOrd="0" presId="urn:microsoft.com/office/officeart/2005/8/layout/bProcess3"/>
    <dgm:cxn modelId="{5C435A54-DEDF-4392-B44F-2A81E78AA1EB}" type="presParOf" srcId="{65C71B97-792F-437A-8160-0343BFCECC32}" destId="{2E0F1BC1-873D-403F-B8B0-949183C6953C}" srcOrd="7" destOrd="0" presId="urn:microsoft.com/office/officeart/2005/8/layout/bProcess3"/>
    <dgm:cxn modelId="{342C1DAF-B99A-4DF2-A581-2A795975C692}" type="presParOf" srcId="{2E0F1BC1-873D-403F-B8B0-949183C6953C}" destId="{EC33D22C-F3EE-4888-A64D-077298F2EEE1}" srcOrd="0" destOrd="0" presId="urn:microsoft.com/office/officeart/2005/8/layout/bProcess3"/>
    <dgm:cxn modelId="{0561591C-4DA3-46CF-9EE0-5D9FF81482EB}" type="presParOf" srcId="{65C71B97-792F-437A-8160-0343BFCECC32}" destId="{B50EAD4D-B98F-41A0-A426-B83CB7472F09}" srcOrd="8" destOrd="0" presId="urn:microsoft.com/office/officeart/2005/8/layout/bProcess3"/>
    <dgm:cxn modelId="{017F2918-64E9-45E5-9E37-2FC53334C484}" type="presParOf" srcId="{65C71B97-792F-437A-8160-0343BFCECC32}" destId="{9E53A447-13E7-4D39-A393-22B465FE38CE}" srcOrd="9" destOrd="0" presId="urn:microsoft.com/office/officeart/2005/8/layout/bProcess3"/>
    <dgm:cxn modelId="{E37BA951-0CD9-4FD3-9AF9-6232F8E45423}" type="presParOf" srcId="{9E53A447-13E7-4D39-A393-22B465FE38CE}" destId="{D3E5FC07-3CA6-4BC1-B3C7-4C59FC8A3604}" srcOrd="0" destOrd="0" presId="urn:microsoft.com/office/officeart/2005/8/layout/bProcess3"/>
    <dgm:cxn modelId="{9C65D2CD-7DFE-4EA5-9C3D-EB75C8CDC130}" type="presParOf" srcId="{65C71B97-792F-437A-8160-0343BFCECC32}" destId="{3C7B1FB1-98C2-457A-8A58-9F5F3BBBF1D0}" srcOrd="10" destOrd="0" presId="urn:microsoft.com/office/officeart/2005/8/layout/bProcess3"/>
    <dgm:cxn modelId="{6F41DFF2-1D89-4A9E-B306-CBAFCAD70206}" type="presParOf" srcId="{65C71B97-792F-437A-8160-0343BFCECC32}" destId="{7389A46B-701D-46A5-8556-E88A09B7ADCD}" srcOrd="11" destOrd="0" presId="urn:microsoft.com/office/officeart/2005/8/layout/bProcess3"/>
    <dgm:cxn modelId="{89C3C80C-3925-48EF-B592-434196699913}" type="presParOf" srcId="{7389A46B-701D-46A5-8556-E88A09B7ADCD}" destId="{43DE4480-2F69-4CFA-8DA4-90DEF0BFEB08}" srcOrd="0" destOrd="0" presId="urn:microsoft.com/office/officeart/2005/8/layout/bProcess3"/>
    <dgm:cxn modelId="{DFEBE0E6-7B28-415E-B2FB-6D6397EEE986}" type="presParOf" srcId="{65C71B97-792F-437A-8160-0343BFCECC32}" destId="{097F84D8-1F09-43F8-A8F0-7A5FD9A03F9D}" srcOrd="12" destOrd="0" presId="urn:microsoft.com/office/officeart/2005/8/layout/bProcess3"/>
    <dgm:cxn modelId="{8DD94B2C-5A04-4E39-9A45-632E13F98438}" type="presParOf" srcId="{65C71B97-792F-437A-8160-0343BFCECC32}" destId="{CFE40E08-E20F-4BBB-B73F-3437E812CA38}" srcOrd="13" destOrd="0" presId="urn:microsoft.com/office/officeart/2005/8/layout/bProcess3"/>
    <dgm:cxn modelId="{F54222C6-6816-4DF7-913C-A2E8445EB564}" type="presParOf" srcId="{CFE40E08-E20F-4BBB-B73F-3437E812CA38}" destId="{4C9A676D-F2BD-462F-9E5F-A6AD2FFFD153}" srcOrd="0" destOrd="0" presId="urn:microsoft.com/office/officeart/2005/8/layout/bProcess3"/>
    <dgm:cxn modelId="{49448297-A97D-4BAC-8B0D-1F38BD799DD9}" type="presParOf" srcId="{65C71B97-792F-437A-8160-0343BFCECC32}" destId="{D8EF3583-3511-4EA6-B615-A8B4AD7E5F09}" srcOrd="14" destOrd="0" presId="urn:microsoft.com/office/officeart/2005/8/layout/bProcess3"/>
    <dgm:cxn modelId="{C1EAA411-1903-4D1F-871C-A39F42954390}" type="presParOf" srcId="{65C71B97-792F-437A-8160-0343BFCECC32}" destId="{F1F95FF0-FC3D-4598-8D43-40B2A9578FEA}" srcOrd="15" destOrd="0" presId="urn:microsoft.com/office/officeart/2005/8/layout/bProcess3"/>
    <dgm:cxn modelId="{11257582-70D7-42BC-9D6D-FB1EEBFA92B9}" type="presParOf" srcId="{F1F95FF0-FC3D-4598-8D43-40B2A9578FEA}" destId="{7574FDAB-9A38-4906-B9C7-087B15B5C6EF}" srcOrd="0" destOrd="0" presId="urn:microsoft.com/office/officeart/2005/8/layout/bProcess3"/>
    <dgm:cxn modelId="{2B633A85-E14E-4C21-8FA7-8A38FD7759BD}" type="presParOf" srcId="{65C71B97-792F-437A-8160-0343BFCECC32}" destId="{A69BC87C-86BD-4AA3-A057-6DDC7C1E6D36}" srcOrd="1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5734C-B74E-4E0C-915C-37B751980B02}">
      <dsp:nvSpPr>
        <dsp:cNvPr id="0" name=""/>
        <dsp:cNvSpPr/>
      </dsp:nvSpPr>
      <dsp:spPr>
        <a:xfrm>
          <a:off x="1078802" y="1717194"/>
          <a:ext cx="428062" cy="731718"/>
        </a:xfrm>
        <a:custGeom>
          <a:avLst/>
          <a:gdLst/>
          <a:ahLst/>
          <a:cxnLst/>
          <a:rect l="0" t="0" r="0" b="0"/>
          <a:pathLst>
            <a:path>
              <a:moveTo>
                <a:pt x="0" y="0"/>
              </a:moveTo>
              <a:lnTo>
                <a:pt x="214031" y="0"/>
              </a:lnTo>
              <a:lnTo>
                <a:pt x="214031" y="731718"/>
              </a:lnTo>
              <a:lnTo>
                <a:pt x="428062" y="731718"/>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1271640" y="2061860"/>
        <a:ext cx="42386" cy="42386"/>
      </dsp:txXfrm>
    </dsp:sp>
    <dsp:sp modelId="{32BEF497-C1DF-42AB-B5CC-354FEA4C4CC1}">
      <dsp:nvSpPr>
        <dsp:cNvPr id="0" name=""/>
        <dsp:cNvSpPr/>
      </dsp:nvSpPr>
      <dsp:spPr>
        <a:xfrm>
          <a:off x="1078802" y="1671474"/>
          <a:ext cx="428062" cy="91440"/>
        </a:xfrm>
        <a:custGeom>
          <a:avLst/>
          <a:gdLst/>
          <a:ahLst/>
          <a:cxnLst/>
          <a:rect l="0" t="0" r="0" b="0"/>
          <a:pathLst>
            <a:path>
              <a:moveTo>
                <a:pt x="0" y="45720"/>
              </a:moveTo>
              <a:lnTo>
                <a:pt x="428062" y="45720"/>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1282132" y="1706492"/>
        <a:ext cx="21403" cy="21403"/>
      </dsp:txXfrm>
    </dsp:sp>
    <dsp:sp modelId="{2259D25B-D974-4963-ABA1-F1E6F2395084}">
      <dsp:nvSpPr>
        <dsp:cNvPr id="0" name=""/>
        <dsp:cNvSpPr/>
      </dsp:nvSpPr>
      <dsp:spPr>
        <a:xfrm>
          <a:off x="1078802" y="985475"/>
          <a:ext cx="428062" cy="731718"/>
        </a:xfrm>
        <a:custGeom>
          <a:avLst/>
          <a:gdLst/>
          <a:ahLst/>
          <a:cxnLst/>
          <a:rect l="0" t="0" r="0" b="0"/>
          <a:pathLst>
            <a:path>
              <a:moveTo>
                <a:pt x="0" y="731718"/>
              </a:moveTo>
              <a:lnTo>
                <a:pt x="214031" y="731718"/>
              </a:lnTo>
              <a:lnTo>
                <a:pt x="214031" y="0"/>
              </a:lnTo>
              <a:lnTo>
                <a:pt x="428062" y="0"/>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1271640" y="1330141"/>
        <a:ext cx="42386" cy="42386"/>
      </dsp:txXfrm>
    </dsp:sp>
    <dsp:sp modelId="{CA9BC6B9-48AF-478C-A007-40665F05C5FB}">
      <dsp:nvSpPr>
        <dsp:cNvPr id="0" name=""/>
        <dsp:cNvSpPr/>
      </dsp:nvSpPr>
      <dsp:spPr>
        <a:xfrm rot="16200000">
          <a:off x="-964658" y="1390927"/>
          <a:ext cx="3434389" cy="65253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de-DE" sz="2000" b="1" i="0" kern="1200" dirty="0" err="1" smtClean="0"/>
            <a:t>Product</a:t>
          </a:r>
          <a:r>
            <a:rPr lang="de-DE" sz="2000" b="1" i="0" kern="1200" dirty="0" smtClean="0"/>
            <a:t> </a:t>
          </a:r>
          <a:r>
            <a:rPr lang="de-DE" sz="2000" b="1" i="0" kern="1200" dirty="0" err="1" smtClean="0"/>
            <a:t>Cost</a:t>
          </a:r>
          <a:r>
            <a:rPr lang="de-DE" sz="2000" b="1" i="0" kern="1200" dirty="0" smtClean="0"/>
            <a:t> Controlling</a:t>
          </a:r>
          <a:endParaRPr lang="de-DE" sz="2000" kern="1200" dirty="0"/>
        </a:p>
      </dsp:txBody>
      <dsp:txXfrm>
        <a:off x="-964658" y="1390927"/>
        <a:ext cx="3434389" cy="652533"/>
      </dsp:txXfrm>
    </dsp:sp>
    <dsp:sp modelId="{6ED15F97-BCAD-4E47-AAB4-CF8BC6164437}">
      <dsp:nvSpPr>
        <dsp:cNvPr id="0" name=""/>
        <dsp:cNvSpPr/>
      </dsp:nvSpPr>
      <dsp:spPr>
        <a:xfrm>
          <a:off x="1506864" y="701182"/>
          <a:ext cx="4756306" cy="56858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de-DE" sz="2300" kern="1200" dirty="0" err="1" smtClean="0"/>
            <a:t>Product</a:t>
          </a:r>
          <a:r>
            <a:rPr lang="de-DE" sz="2300" kern="1200" dirty="0" smtClean="0"/>
            <a:t> </a:t>
          </a:r>
          <a:r>
            <a:rPr lang="de-DE" sz="2300" kern="1200" dirty="0" err="1" smtClean="0"/>
            <a:t>Cost</a:t>
          </a:r>
          <a:r>
            <a:rPr lang="de-DE" sz="2300" kern="1200" dirty="0" smtClean="0"/>
            <a:t> </a:t>
          </a:r>
          <a:r>
            <a:rPr lang="de-DE" sz="2300" kern="1200" dirty="0" err="1" smtClean="0"/>
            <a:t>Planning</a:t>
          </a:r>
          <a:endParaRPr lang="de-DE" sz="2300" kern="1200" dirty="0"/>
        </a:p>
      </dsp:txBody>
      <dsp:txXfrm>
        <a:off x="1506864" y="701182"/>
        <a:ext cx="4756306" cy="568585"/>
      </dsp:txXfrm>
    </dsp:sp>
    <dsp:sp modelId="{9CAA49F6-B521-4A96-9FF2-48B342037E45}">
      <dsp:nvSpPr>
        <dsp:cNvPr id="0" name=""/>
        <dsp:cNvSpPr/>
      </dsp:nvSpPr>
      <dsp:spPr>
        <a:xfrm>
          <a:off x="1506864" y="1432901"/>
          <a:ext cx="4756306" cy="56858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de-DE" sz="2300" kern="1200" dirty="0" err="1" smtClean="0"/>
            <a:t>Cost</a:t>
          </a:r>
          <a:r>
            <a:rPr lang="de-DE" sz="2300" kern="1200" dirty="0" smtClean="0"/>
            <a:t> </a:t>
          </a:r>
          <a:r>
            <a:rPr lang="de-DE" sz="2300" kern="1200" dirty="0" err="1" smtClean="0"/>
            <a:t>Object</a:t>
          </a:r>
          <a:r>
            <a:rPr lang="de-DE" sz="2300" kern="1200" dirty="0" smtClean="0"/>
            <a:t> Controlling</a:t>
          </a:r>
          <a:endParaRPr lang="de-DE" sz="2300" kern="1200" dirty="0"/>
        </a:p>
      </dsp:txBody>
      <dsp:txXfrm>
        <a:off x="1506864" y="1432901"/>
        <a:ext cx="4756306" cy="568585"/>
      </dsp:txXfrm>
    </dsp:sp>
    <dsp:sp modelId="{C9608220-8838-4A27-9AE4-4DAB3F872239}">
      <dsp:nvSpPr>
        <dsp:cNvPr id="0" name=""/>
        <dsp:cNvSpPr/>
      </dsp:nvSpPr>
      <dsp:spPr>
        <a:xfrm>
          <a:off x="1506864" y="2164620"/>
          <a:ext cx="4756306" cy="56858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lvl="0" algn="ctr" defTabSz="1022350">
            <a:lnSpc>
              <a:spcPct val="90000"/>
            </a:lnSpc>
            <a:spcBef>
              <a:spcPct val="0"/>
            </a:spcBef>
            <a:spcAft>
              <a:spcPct val="35000"/>
            </a:spcAft>
          </a:pPr>
          <a:r>
            <a:rPr lang="de-DE" sz="2300" kern="1200" dirty="0" err="1" smtClean="0"/>
            <a:t>Actual</a:t>
          </a:r>
          <a:r>
            <a:rPr lang="de-DE" sz="2300" kern="1200" dirty="0" smtClean="0"/>
            <a:t> </a:t>
          </a:r>
          <a:r>
            <a:rPr lang="de-DE" sz="2300" kern="1200" dirty="0" err="1" smtClean="0"/>
            <a:t>Costing</a:t>
          </a:r>
          <a:r>
            <a:rPr lang="de-DE" sz="2300" kern="1200" dirty="0" smtClean="0"/>
            <a:t>/Material </a:t>
          </a:r>
          <a:r>
            <a:rPr lang="de-DE" sz="2300" kern="1200" dirty="0" err="1" smtClean="0"/>
            <a:t>Ledger</a:t>
          </a:r>
          <a:endParaRPr lang="de-DE" sz="2300" kern="1200" dirty="0"/>
        </a:p>
      </dsp:txBody>
      <dsp:txXfrm>
        <a:off x="1506864" y="2164620"/>
        <a:ext cx="4756306" cy="5685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7357CB-E192-4582-B851-E7B2171CCE7D}">
      <dsp:nvSpPr>
        <dsp:cNvPr id="0" name=""/>
        <dsp:cNvSpPr/>
      </dsp:nvSpPr>
      <dsp:spPr>
        <a:xfrm>
          <a:off x="1264" y="271821"/>
          <a:ext cx="1999814" cy="44655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de-DE" sz="2100" kern="1200" dirty="0" smtClean="0"/>
            <a:t>Bill </a:t>
          </a:r>
          <a:r>
            <a:rPr lang="de-DE" sz="2100" kern="1200" dirty="0" err="1" smtClean="0"/>
            <a:t>of</a:t>
          </a:r>
          <a:r>
            <a:rPr lang="de-DE" sz="2100" kern="1200" dirty="0" smtClean="0"/>
            <a:t> </a:t>
          </a:r>
          <a:r>
            <a:rPr lang="de-DE" sz="2100" kern="1200" dirty="0" smtClean="0"/>
            <a:t>Materials </a:t>
          </a:r>
          <a:endParaRPr lang="de-DE" sz="2100" kern="1200" dirty="0"/>
        </a:p>
      </dsp:txBody>
      <dsp:txXfrm>
        <a:off x="14343" y="284900"/>
        <a:ext cx="1973656" cy="420396"/>
      </dsp:txXfrm>
    </dsp:sp>
    <dsp:sp modelId="{8D2A43F9-2CC9-4F39-96DE-93C41E8CE49C}">
      <dsp:nvSpPr>
        <dsp:cNvPr id="0" name=""/>
        <dsp:cNvSpPr/>
      </dsp:nvSpPr>
      <dsp:spPr>
        <a:xfrm>
          <a:off x="201245" y="718376"/>
          <a:ext cx="199981" cy="1267764"/>
        </a:xfrm>
        <a:custGeom>
          <a:avLst/>
          <a:gdLst/>
          <a:ahLst/>
          <a:cxnLst/>
          <a:rect l="0" t="0" r="0" b="0"/>
          <a:pathLst>
            <a:path>
              <a:moveTo>
                <a:pt x="0" y="0"/>
              </a:moveTo>
              <a:lnTo>
                <a:pt x="0" y="1267764"/>
              </a:lnTo>
              <a:lnTo>
                <a:pt x="199981" y="1267764"/>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448CCD2-C29D-4AB2-BA9B-CA44828685AC}">
      <dsp:nvSpPr>
        <dsp:cNvPr id="0" name=""/>
        <dsp:cNvSpPr/>
      </dsp:nvSpPr>
      <dsp:spPr>
        <a:xfrm>
          <a:off x="401226" y="991237"/>
          <a:ext cx="1526331" cy="198980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smtClean="0"/>
            <a:t>Contains the individual parts or components required to manufacture a product</a:t>
          </a:r>
          <a:endParaRPr lang="de-DE" sz="1700" kern="1200" dirty="0"/>
        </a:p>
      </dsp:txBody>
      <dsp:txXfrm>
        <a:off x="445931" y="1035942"/>
        <a:ext cx="1436921" cy="1900395"/>
      </dsp:txXfrm>
    </dsp:sp>
    <dsp:sp modelId="{197137F9-902C-4125-98B4-7EBD4022226E}">
      <dsp:nvSpPr>
        <dsp:cNvPr id="0" name=""/>
        <dsp:cNvSpPr/>
      </dsp:nvSpPr>
      <dsp:spPr>
        <a:xfrm>
          <a:off x="2546801" y="271821"/>
          <a:ext cx="1999814" cy="44655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lvl="0" algn="ctr" defTabSz="933450">
            <a:lnSpc>
              <a:spcPct val="90000"/>
            </a:lnSpc>
            <a:spcBef>
              <a:spcPct val="0"/>
            </a:spcBef>
            <a:spcAft>
              <a:spcPct val="35000"/>
            </a:spcAft>
          </a:pPr>
          <a:r>
            <a:rPr lang="de-DE" sz="2100" kern="1200" dirty="0" smtClean="0"/>
            <a:t>Routing</a:t>
          </a:r>
          <a:endParaRPr lang="de-DE" sz="2100" kern="1200" dirty="0"/>
        </a:p>
      </dsp:txBody>
      <dsp:txXfrm>
        <a:off x="2559880" y="284900"/>
        <a:ext cx="1973656" cy="420396"/>
      </dsp:txXfrm>
    </dsp:sp>
    <dsp:sp modelId="{BCE9AE38-A4FB-4B91-BD6F-24C5525D1F1F}">
      <dsp:nvSpPr>
        <dsp:cNvPr id="0" name=""/>
        <dsp:cNvSpPr/>
      </dsp:nvSpPr>
      <dsp:spPr>
        <a:xfrm>
          <a:off x="2746783" y="718376"/>
          <a:ext cx="199981" cy="1267764"/>
        </a:xfrm>
        <a:custGeom>
          <a:avLst/>
          <a:gdLst/>
          <a:ahLst/>
          <a:cxnLst/>
          <a:rect l="0" t="0" r="0" b="0"/>
          <a:pathLst>
            <a:path>
              <a:moveTo>
                <a:pt x="0" y="0"/>
              </a:moveTo>
              <a:lnTo>
                <a:pt x="0" y="1267764"/>
              </a:lnTo>
              <a:lnTo>
                <a:pt x="199981" y="1267764"/>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BD5A54-9CFD-42E8-ACB6-B975249FCCEE}">
      <dsp:nvSpPr>
        <dsp:cNvPr id="0" name=""/>
        <dsp:cNvSpPr/>
      </dsp:nvSpPr>
      <dsp:spPr>
        <a:xfrm>
          <a:off x="2946764" y="991237"/>
          <a:ext cx="1526331" cy="198980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2385" tIns="21590" rIns="32385" bIns="21590" numCol="1" spcCol="1270" anchor="ctr" anchorCtr="0">
          <a:noAutofit/>
        </a:bodyPr>
        <a:lstStyle/>
        <a:p>
          <a:pPr lvl="0" algn="ctr" defTabSz="755650">
            <a:lnSpc>
              <a:spcPct val="90000"/>
            </a:lnSpc>
            <a:spcBef>
              <a:spcPct val="0"/>
            </a:spcBef>
            <a:spcAft>
              <a:spcPct val="35000"/>
            </a:spcAft>
          </a:pPr>
          <a:r>
            <a:rPr lang="en-US" sz="1700" kern="1200" dirty="0" smtClean="0"/>
            <a:t>Specifies the individual production steps for manufacturing</a:t>
          </a:r>
          <a:endParaRPr lang="de-DE" sz="1700" kern="1200" dirty="0"/>
        </a:p>
      </dsp:txBody>
      <dsp:txXfrm>
        <a:off x="2991469" y="1035942"/>
        <a:ext cx="1436921" cy="19003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2FC1E-9F6B-4B9D-805F-EF5106877EC7}">
      <dsp:nvSpPr>
        <dsp:cNvPr id="0" name=""/>
        <dsp:cNvSpPr/>
      </dsp:nvSpPr>
      <dsp:spPr>
        <a:xfrm>
          <a:off x="1946161" y="805985"/>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2143659" y="849465"/>
        <a:ext cx="22399" cy="4479"/>
      </dsp:txXfrm>
    </dsp:sp>
    <dsp:sp modelId="{1A74DA8B-6DCB-43DB-B5D9-45EAD801AD53}">
      <dsp:nvSpPr>
        <dsp:cNvPr id="0" name=""/>
        <dsp:cNvSpPr/>
      </dsp:nvSpPr>
      <dsp:spPr>
        <a:xfrm>
          <a:off x="156" y="267363"/>
          <a:ext cx="1947804" cy="116868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smtClean="0"/>
            <a:t>Create </a:t>
          </a:r>
          <a:r>
            <a:rPr lang="de-DE" sz="1500" kern="1200" dirty="0" smtClean="0"/>
            <a:t>Variant </a:t>
          </a:r>
          <a:r>
            <a:rPr lang="de-DE" sz="1500" kern="1200" dirty="0" err="1" smtClean="0"/>
            <a:t>Finished</a:t>
          </a:r>
          <a:r>
            <a:rPr lang="de-DE" sz="1500" kern="1200" dirty="0" smtClean="0"/>
            <a:t> </a:t>
          </a:r>
          <a:r>
            <a:rPr lang="de-DE" sz="1500" kern="1200" dirty="0" err="1" smtClean="0"/>
            <a:t>Good</a:t>
          </a:r>
          <a:endParaRPr lang="de-DE" sz="1500" kern="1200" dirty="0"/>
        </a:p>
      </dsp:txBody>
      <dsp:txXfrm>
        <a:off x="156" y="267363"/>
        <a:ext cx="1947804" cy="1168682"/>
      </dsp:txXfrm>
    </dsp:sp>
    <dsp:sp modelId="{949A9BCB-53F1-4AAC-A667-65C73B544579}">
      <dsp:nvSpPr>
        <dsp:cNvPr id="0" name=""/>
        <dsp:cNvSpPr/>
      </dsp:nvSpPr>
      <dsp:spPr>
        <a:xfrm>
          <a:off x="4341961" y="805985"/>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4539459" y="849465"/>
        <a:ext cx="22399" cy="4479"/>
      </dsp:txXfrm>
    </dsp:sp>
    <dsp:sp modelId="{E9ED1BA3-577E-4B62-AF55-A1FE153840CD}">
      <dsp:nvSpPr>
        <dsp:cNvPr id="0" name=""/>
        <dsp:cNvSpPr/>
      </dsp:nvSpPr>
      <dsp:spPr>
        <a:xfrm>
          <a:off x="2395956" y="267363"/>
          <a:ext cx="1947804" cy="116868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smtClean="0"/>
            <a:t>Create </a:t>
          </a:r>
          <a:r>
            <a:rPr lang="de-DE" sz="1500" kern="1200" dirty="0" smtClean="0"/>
            <a:t>Variant </a:t>
          </a:r>
          <a:br>
            <a:rPr lang="de-DE" sz="1500" kern="1200" dirty="0" smtClean="0"/>
          </a:br>
          <a:r>
            <a:rPr lang="de-DE" sz="1500" kern="1200" dirty="0" err="1" smtClean="0"/>
            <a:t>Raw</a:t>
          </a:r>
          <a:r>
            <a:rPr lang="de-DE" sz="1500" kern="1200" dirty="0" smtClean="0"/>
            <a:t> Material</a:t>
          </a:r>
          <a:endParaRPr lang="de-DE" sz="1500" kern="1200" dirty="0"/>
        </a:p>
      </dsp:txBody>
      <dsp:txXfrm>
        <a:off x="2395956" y="267363"/>
        <a:ext cx="1947804" cy="1168682"/>
      </dsp:txXfrm>
    </dsp:sp>
    <dsp:sp modelId="{68E7074C-3D67-4ED3-896F-50D02A7938F2}">
      <dsp:nvSpPr>
        <dsp:cNvPr id="0" name=""/>
        <dsp:cNvSpPr/>
      </dsp:nvSpPr>
      <dsp:spPr>
        <a:xfrm>
          <a:off x="6737761" y="805985"/>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6935259" y="849465"/>
        <a:ext cx="22399" cy="4479"/>
      </dsp:txXfrm>
    </dsp:sp>
    <dsp:sp modelId="{331AE6CE-B358-4474-8C04-FA43B93412C5}">
      <dsp:nvSpPr>
        <dsp:cNvPr id="0" name=""/>
        <dsp:cNvSpPr/>
      </dsp:nvSpPr>
      <dsp:spPr>
        <a:xfrm>
          <a:off x="4791756" y="267363"/>
          <a:ext cx="1947804" cy="116868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en-US" sz="1500" kern="1200" dirty="0" smtClean="0"/>
            <a:t>Extend </a:t>
          </a:r>
          <a:r>
            <a:rPr lang="en-US" sz="1500" kern="1200" dirty="0" smtClean="0"/>
            <a:t>Material Master </a:t>
          </a:r>
          <a:r>
            <a:rPr lang="en-US" sz="1500" kern="1200" dirty="0" smtClean="0"/>
            <a:t>for </a:t>
          </a:r>
          <a:r>
            <a:rPr lang="en-US" sz="1500" kern="1200" dirty="0" smtClean="0"/>
            <a:t>Costing </a:t>
          </a:r>
          <a:r>
            <a:rPr lang="en-US" sz="1500" kern="1200" dirty="0" smtClean="0"/>
            <a:t>(MRP, </a:t>
          </a:r>
          <a:r>
            <a:rPr lang="en-US" sz="1500" kern="1200" dirty="0" smtClean="0"/>
            <a:t>Accounting</a:t>
          </a:r>
          <a:r>
            <a:rPr lang="en-US" sz="1500" kern="1200" dirty="0" smtClean="0"/>
            <a:t>, and </a:t>
          </a:r>
          <a:r>
            <a:rPr lang="en-US" sz="1500" kern="1200" dirty="0" smtClean="0"/>
            <a:t>Costing Views</a:t>
          </a:r>
          <a:r>
            <a:rPr lang="en-US" sz="1500" kern="1200" dirty="0" smtClean="0"/>
            <a:t>)</a:t>
          </a:r>
          <a:endParaRPr lang="de-DE" sz="1500" kern="1200" dirty="0"/>
        </a:p>
      </dsp:txBody>
      <dsp:txXfrm>
        <a:off x="4791756" y="267363"/>
        <a:ext cx="1947804" cy="1168682"/>
      </dsp:txXfrm>
    </dsp:sp>
    <dsp:sp modelId="{2E0F1BC1-873D-403F-B8B0-949183C6953C}">
      <dsp:nvSpPr>
        <dsp:cNvPr id="0" name=""/>
        <dsp:cNvSpPr/>
      </dsp:nvSpPr>
      <dsp:spPr>
        <a:xfrm>
          <a:off x="9133561" y="805985"/>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9331059" y="849465"/>
        <a:ext cx="22399" cy="4479"/>
      </dsp:txXfrm>
    </dsp:sp>
    <dsp:sp modelId="{BAF0AA2D-4185-4134-B7A7-2E309C929E4C}">
      <dsp:nvSpPr>
        <dsp:cNvPr id="0" name=""/>
        <dsp:cNvSpPr/>
      </dsp:nvSpPr>
      <dsp:spPr>
        <a:xfrm>
          <a:off x="7187556" y="267363"/>
          <a:ext cx="1947804" cy="116868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smtClean="0"/>
            <a:t>Create </a:t>
          </a:r>
          <a:r>
            <a:rPr lang="de-DE" sz="1500" kern="1200" dirty="0" smtClean="0"/>
            <a:t>Bill </a:t>
          </a:r>
          <a:r>
            <a:rPr lang="de-DE" sz="1500" kern="1200" dirty="0" err="1" smtClean="0"/>
            <a:t>of</a:t>
          </a:r>
          <a:r>
            <a:rPr lang="de-DE" sz="1500" kern="1200" dirty="0" smtClean="0"/>
            <a:t> </a:t>
          </a:r>
          <a:r>
            <a:rPr lang="de-DE" sz="1500" kern="1200" dirty="0" smtClean="0"/>
            <a:t>Material</a:t>
          </a:r>
          <a:endParaRPr lang="de-DE" sz="1500" kern="1200" dirty="0"/>
        </a:p>
      </dsp:txBody>
      <dsp:txXfrm>
        <a:off x="7187556" y="267363"/>
        <a:ext cx="1947804" cy="1168682"/>
      </dsp:txXfrm>
    </dsp:sp>
    <dsp:sp modelId="{9E53A447-13E7-4D39-A393-22B465FE38CE}">
      <dsp:nvSpPr>
        <dsp:cNvPr id="0" name=""/>
        <dsp:cNvSpPr/>
      </dsp:nvSpPr>
      <dsp:spPr>
        <a:xfrm>
          <a:off x="2143268" y="1434246"/>
          <a:ext cx="8413990" cy="1373050"/>
        </a:xfrm>
        <a:custGeom>
          <a:avLst/>
          <a:gdLst/>
          <a:ahLst/>
          <a:cxnLst/>
          <a:rect l="0" t="0" r="0" b="0"/>
          <a:pathLst>
            <a:path>
              <a:moveTo>
                <a:pt x="8413990" y="0"/>
              </a:moveTo>
              <a:lnTo>
                <a:pt x="8413990" y="703625"/>
              </a:lnTo>
              <a:lnTo>
                <a:pt x="0" y="703625"/>
              </a:lnTo>
              <a:lnTo>
                <a:pt x="0" y="137305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6137006" y="2118531"/>
        <a:ext cx="426513" cy="4479"/>
      </dsp:txXfrm>
    </dsp:sp>
    <dsp:sp modelId="{B50EAD4D-B98F-41A0-A426-B83CB7472F09}">
      <dsp:nvSpPr>
        <dsp:cNvPr id="0" name=""/>
        <dsp:cNvSpPr/>
      </dsp:nvSpPr>
      <dsp:spPr>
        <a:xfrm>
          <a:off x="9583356" y="267363"/>
          <a:ext cx="1947804" cy="116868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smtClean="0"/>
            <a:t>Create </a:t>
          </a:r>
          <a:r>
            <a:rPr lang="de-DE" sz="1500" kern="1200" dirty="0" smtClean="0"/>
            <a:t>Routing</a:t>
          </a:r>
          <a:endParaRPr lang="de-DE" sz="1500" kern="1200" dirty="0"/>
        </a:p>
      </dsp:txBody>
      <dsp:txXfrm>
        <a:off x="9583356" y="267363"/>
        <a:ext cx="1947804" cy="1168682"/>
      </dsp:txXfrm>
    </dsp:sp>
    <dsp:sp modelId="{7389A46B-701D-46A5-8556-E88A09B7ADCD}">
      <dsp:nvSpPr>
        <dsp:cNvPr id="0" name=""/>
        <dsp:cNvSpPr/>
      </dsp:nvSpPr>
      <dsp:spPr>
        <a:xfrm>
          <a:off x="3115370" y="3378318"/>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3312868" y="3421798"/>
        <a:ext cx="22399" cy="4479"/>
      </dsp:txXfrm>
    </dsp:sp>
    <dsp:sp modelId="{3C7B1FB1-98C2-457A-8A58-9F5F3BBBF1D0}">
      <dsp:nvSpPr>
        <dsp:cNvPr id="0" name=""/>
        <dsp:cNvSpPr/>
      </dsp:nvSpPr>
      <dsp:spPr>
        <a:xfrm>
          <a:off x="1169365" y="2839697"/>
          <a:ext cx="1947804" cy="1168682"/>
        </a:xfrm>
        <a:prstGeom prst="rect">
          <a:avLst/>
        </a:prstGeom>
        <a:solidFill>
          <a:schemeClr val="lt1">
            <a:hueOff val="0"/>
            <a:satOff val="0"/>
            <a:lumOff val="0"/>
            <a:alphaOff val="0"/>
          </a:schemeClr>
        </a:solidFill>
        <a:ln w="1905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err="1" smtClean="0"/>
            <a:t>Perform</a:t>
          </a:r>
          <a:r>
            <a:rPr lang="de-DE" sz="1500" kern="1200" dirty="0" smtClean="0"/>
            <a:t> </a:t>
          </a:r>
          <a:r>
            <a:rPr lang="de-DE" sz="1500" kern="1200" dirty="0" smtClean="0"/>
            <a:t>Material </a:t>
          </a:r>
          <a:r>
            <a:rPr lang="de-DE" sz="1500" kern="1200" dirty="0" err="1" smtClean="0"/>
            <a:t>Costing</a:t>
          </a:r>
          <a:endParaRPr lang="de-DE" sz="1500" kern="1200" dirty="0"/>
        </a:p>
      </dsp:txBody>
      <dsp:txXfrm>
        <a:off x="1169365" y="2839697"/>
        <a:ext cx="1947804" cy="1168682"/>
      </dsp:txXfrm>
    </dsp:sp>
    <dsp:sp modelId="{CFE40E08-E20F-4BBB-B73F-3437E812CA38}">
      <dsp:nvSpPr>
        <dsp:cNvPr id="0" name=""/>
        <dsp:cNvSpPr/>
      </dsp:nvSpPr>
      <dsp:spPr>
        <a:xfrm>
          <a:off x="5511170" y="3378318"/>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5708668" y="3421798"/>
        <a:ext cx="22399" cy="4479"/>
      </dsp:txXfrm>
    </dsp:sp>
    <dsp:sp modelId="{097F84D8-1F09-43F8-A8F0-7A5FD9A03F9D}">
      <dsp:nvSpPr>
        <dsp:cNvPr id="0" name=""/>
        <dsp:cNvSpPr/>
      </dsp:nvSpPr>
      <dsp:spPr>
        <a:xfrm>
          <a:off x="3565165" y="2839697"/>
          <a:ext cx="1947804" cy="1168682"/>
        </a:xfrm>
        <a:prstGeom prst="rect">
          <a:avLst/>
        </a:prstGeom>
        <a:solidFill>
          <a:schemeClr val="lt1">
            <a:hueOff val="0"/>
            <a:satOff val="0"/>
            <a:lumOff val="0"/>
            <a:alphaOff val="0"/>
          </a:schemeClr>
        </a:solidFill>
        <a:ln w="1905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smtClean="0"/>
            <a:t>Mark </a:t>
          </a:r>
          <a:r>
            <a:rPr lang="de-DE" sz="1500" kern="1200" dirty="0" smtClean="0"/>
            <a:t>Price Updates</a:t>
          </a:r>
          <a:endParaRPr lang="de-DE" sz="1500" kern="1200" dirty="0"/>
        </a:p>
      </dsp:txBody>
      <dsp:txXfrm>
        <a:off x="3565165" y="2839697"/>
        <a:ext cx="1947804" cy="1168682"/>
      </dsp:txXfrm>
    </dsp:sp>
    <dsp:sp modelId="{F1F95FF0-FC3D-4598-8D43-40B2A9578FEA}">
      <dsp:nvSpPr>
        <dsp:cNvPr id="0" name=""/>
        <dsp:cNvSpPr/>
      </dsp:nvSpPr>
      <dsp:spPr>
        <a:xfrm>
          <a:off x="7906970" y="3378318"/>
          <a:ext cx="417395" cy="91440"/>
        </a:xfrm>
        <a:custGeom>
          <a:avLst/>
          <a:gdLst/>
          <a:ahLst/>
          <a:cxnLst/>
          <a:rect l="0" t="0" r="0" b="0"/>
          <a:pathLst>
            <a:path>
              <a:moveTo>
                <a:pt x="0" y="45720"/>
              </a:moveTo>
              <a:lnTo>
                <a:pt x="417395" y="45720"/>
              </a:lnTo>
            </a:path>
          </a:pathLst>
        </a:custGeom>
        <a:noFill/>
        <a:ln w="100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de-DE" sz="500" kern="1200"/>
        </a:p>
      </dsp:txBody>
      <dsp:txXfrm>
        <a:off x="8104468" y="3421798"/>
        <a:ext cx="22399" cy="4479"/>
      </dsp:txXfrm>
    </dsp:sp>
    <dsp:sp modelId="{D8EF3583-3511-4EA6-B615-A8B4AD7E5F09}">
      <dsp:nvSpPr>
        <dsp:cNvPr id="0" name=""/>
        <dsp:cNvSpPr/>
      </dsp:nvSpPr>
      <dsp:spPr>
        <a:xfrm>
          <a:off x="5960965" y="2839697"/>
          <a:ext cx="1947804" cy="1168682"/>
        </a:xfrm>
        <a:prstGeom prst="rect">
          <a:avLst/>
        </a:prstGeom>
        <a:solidFill>
          <a:schemeClr val="lt1">
            <a:hueOff val="0"/>
            <a:satOff val="0"/>
            <a:lumOff val="0"/>
            <a:alphaOff val="0"/>
          </a:schemeClr>
        </a:solidFill>
        <a:ln w="1905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err="1" smtClean="0"/>
            <a:t>Analyze</a:t>
          </a:r>
          <a:r>
            <a:rPr lang="de-DE" sz="1500" kern="1200" dirty="0" smtClean="0"/>
            <a:t> </a:t>
          </a:r>
          <a:r>
            <a:rPr lang="de-DE" sz="1500" kern="1200" dirty="0" smtClean="0"/>
            <a:t>Price </a:t>
          </a:r>
          <a:r>
            <a:rPr lang="de-DE" sz="1500" kern="1200" dirty="0" err="1" smtClean="0"/>
            <a:t>Changes</a:t>
          </a:r>
          <a:endParaRPr lang="de-DE" sz="1500" kern="1200" dirty="0" smtClean="0"/>
        </a:p>
      </dsp:txBody>
      <dsp:txXfrm>
        <a:off x="5960965" y="2839697"/>
        <a:ext cx="1947804" cy="1168682"/>
      </dsp:txXfrm>
    </dsp:sp>
    <dsp:sp modelId="{A69BC87C-86BD-4AA3-A057-6DDC7C1E6D36}">
      <dsp:nvSpPr>
        <dsp:cNvPr id="0" name=""/>
        <dsp:cNvSpPr/>
      </dsp:nvSpPr>
      <dsp:spPr>
        <a:xfrm>
          <a:off x="8356765" y="2839697"/>
          <a:ext cx="1947804" cy="1168682"/>
        </a:xfrm>
        <a:prstGeom prst="rect">
          <a:avLst/>
        </a:prstGeom>
        <a:solidFill>
          <a:schemeClr val="lt1">
            <a:hueOff val="0"/>
            <a:satOff val="0"/>
            <a:lumOff val="0"/>
            <a:alphaOff val="0"/>
          </a:schemeClr>
        </a:solidFill>
        <a:ln w="19050" cap="flat" cmpd="sng" algn="ctr">
          <a:solidFill>
            <a:schemeClr val="bg1">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de-DE" sz="1500" kern="1200" dirty="0" smtClean="0"/>
            <a:t>Release </a:t>
          </a:r>
          <a:r>
            <a:rPr lang="de-DE" sz="1500" kern="1200" dirty="0" smtClean="0"/>
            <a:t>Prices</a:t>
          </a:r>
          <a:endParaRPr lang="de-DE" sz="1500" kern="1200" dirty="0"/>
        </a:p>
      </dsp:txBody>
      <dsp:txXfrm>
        <a:off x="8356765" y="2839697"/>
        <a:ext cx="1947804" cy="1168682"/>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dirty="0"/>
              <a:t>Organizational units displayed in grey are not yet implemented, but are already planned in Global</a:t>
            </a:r>
            <a:r>
              <a:rPr lang="en-US" altLang="de-DE" baseline="0" dirty="0"/>
              <a:t> Bike</a:t>
            </a:r>
            <a:r>
              <a:rPr lang="en-US" altLang="de-DE" dirty="0"/>
              <a:t>.</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622886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This diagram shows the integration between Finance and Controlling:</a:t>
            </a:r>
          </a:p>
          <a:p>
            <a:r>
              <a:rPr lang="en-US" altLang="de-DE" dirty="0"/>
              <a:t>The expense accounts are managed in both the P&amp;L expense account and the primary cost element in controlling.  </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213339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This figure shows an example of statistical key figures.  A project cost center has 12 hours worth the activity.  The statistical key figure is hours and is split at:</a:t>
            </a:r>
          </a:p>
          <a:p>
            <a:r>
              <a:rPr lang="en-US" altLang="de-DE" dirty="0"/>
              <a:t>30% to the Work Center</a:t>
            </a:r>
          </a:p>
          <a:p>
            <a:r>
              <a:rPr lang="en-US" altLang="de-DE" dirty="0"/>
              <a:t>50% to maintenance</a:t>
            </a:r>
          </a:p>
          <a:p>
            <a:r>
              <a:rPr lang="en-US" altLang="de-DE" dirty="0"/>
              <a:t>20% to IS</a:t>
            </a:r>
          </a:p>
          <a:p>
            <a:r>
              <a:rPr lang="en-US" altLang="de-DE" dirty="0"/>
              <a:t>All costs for the labor will be allocated in this fashion</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3121274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Transactions can have an effect on both FI and CO.  </a:t>
            </a:r>
          </a:p>
          <a:p>
            <a:r>
              <a:rPr lang="en-US" altLang="de-DE" dirty="0"/>
              <a:t>The transaction will create a debit and a credit for FI (FI transaction)</a:t>
            </a:r>
          </a:p>
          <a:p>
            <a:r>
              <a:rPr lang="en-US" altLang="de-DE" dirty="0"/>
              <a:t>If CO is turned on a cost center or cost element bucket will be updated (CO transactions)</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21</a:t>
            </a:fld>
            <a:endParaRPr lang="de-DE"/>
          </a:p>
        </p:txBody>
      </p:sp>
    </p:spTree>
    <p:extLst>
      <p:ext uri="{BB962C8B-B14F-4D97-AF65-F5344CB8AC3E}">
        <p14:creationId xmlns:p14="http://schemas.microsoft.com/office/powerpoint/2010/main" val="2185421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r>
              <a:rPr lang="en-US" altLang="de-DE"/>
              <a:t>In Distribution and Assessment, you further allocate costs (or quantities for Indirect Activity Allocations) collected on a cost center during the accounting period to receivers, according to user-defined keys. These are therefore indirect allocation methods, because the exchange of activity is not the basis for allocating costs/quantities. Instead, user-defined keys such as percentage rates, amounts, statistical key figures, or posted amounts provide the cost/quantity assignment basis. </a:t>
            </a:r>
          </a:p>
          <a:p>
            <a:r>
              <a:rPr lang="en-US" altLang="de-DE"/>
              <a:t>The advantage of these methods is that they are easy to use. You usually define the keys and the sender/receiver relationships only once.</a:t>
            </a:r>
          </a:p>
          <a:p>
            <a:r>
              <a:rPr lang="en-US" altLang="de-DE"/>
              <a:t>Distribution and assessment are used primarily for cost centers. This is because direct cost allocation is not possible here due to the variety of transactions, the lack of clearly defined individual activity types and the fact that the entry of the activity is too time-consuming. For example, the costs of the company cafeteria may be assigned based on the number of employees in each cost center. Telephone costs are seldom allocated directly to the individual cost centers, but are collected on a clearing cost center for each period. They are then reposted or distributed at the end of the period according to the number of telephone units or telephone installations in each cost center. </a:t>
            </a:r>
          </a:p>
          <a:p>
            <a:r>
              <a:rPr lang="en-US" altLang="de-DE"/>
              <a:t>Assessment is a method of allocating primary and secondary costs in Cost Center Accounting and Activity-Based Costing. The following information is passed on to the receivers:</a:t>
            </a:r>
          </a:p>
          <a:p>
            <a:r>
              <a:rPr lang="en-US" altLang="de-DE"/>
              <a:t>The original cost elements are assigned cumulatively, or in groups, to assessment (secondary) cost elements. The original cost elements are not recorded on the receivers.</a:t>
            </a:r>
          </a:p>
          <a:p>
            <a:r>
              <a:rPr lang="en-US" altLang="de-DE"/>
              <a:t>Sender and receiver information (sender cost center, receiver cost center, or business process) appears in the Controlling (CO) document.</a:t>
            </a:r>
            <a:endParaRPr lang="de-DE" altLang="de-DE"/>
          </a:p>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24</a:t>
            </a:fld>
            <a:endParaRPr lang="de-DE"/>
          </a:p>
        </p:txBody>
      </p:sp>
    </p:spTree>
    <p:extLst>
      <p:ext uri="{BB962C8B-B14F-4D97-AF65-F5344CB8AC3E}">
        <p14:creationId xmlns:p14="http://schemas.microsoft.com/office/powerpoint/2010/main" val="1852296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a:t>Distribution and administration having most of the square footage thus have the majority of the distribution costs.  </a:t>
            </a:r>
          </a:p>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25</a:t>
            </a:fld>
            <a:endParaRPr lang="de-DE"/>
          </a:p>
        </p:txBody>
      </p:sp>
    </p:spTree>
    <p:extLst>
      <p:ext uri="{BB962C8B-B14F-4D97-AF65-F5344CB8AC3E}">
        <p14:creationId xmlns:p14="http://schemas.microsoft.com/office/powerpoint/2010/main" val="1544049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altLang="de-DE"/>
              <a:t>Distribution and administration having most of the square footage thus have the majority of the distribution costs.  </a:t>
            </a:r>
          </a:p>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26</a:t>
            </a:fld>
            <a:endParaRPr lang="de-DE"/>
          </a:p>
        </p:txBody>
      </p:sp>
    </p:spTree>
    <p:extLst>
      <p:ext uri="{BB962C8B-B14F-4D97-AF65-F5344CB8AC3E}">
        <p14:creationId xmlns:p14="http://schemas.microsoft.com/office/powerpoint/2010/main" val="214546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a:t>In this example IT expenses are accumulated.  Periodically, the costs are reallocated to the primary and secondary cost elements based upon the budgeting and expense policy of the company.  Notice how Sales now has a much larger portion than the other departments.</a:t>
            </a:r>
          </a:p>
          <a:p>
            <a:endParaRPr lang="de-DE" altLang="de-DE"/>
          </a:p>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27</a:t>
            </a:fld>
            <a:endParaRPr lang="de-DE"/>
          </a:p>
        </p:txBody>
      </p:sp>
    </p:spTree>
    <p:extLst>
      <p:ext uri="{BB962C8B-B14F-4D97-AF65-F5344CB8AC3E}">
        <p14:creationId xmlns:p14="http://schemas.microsoft.com/office/powerpoint/2010/main" val="1804469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34</a:t>
            </a:fld>
            <a:endParaRPr lang="de-DE"/>
          </a:p>
        </p:txBody>
      </p:sp>
    </p:spTree>
    <p:extLst>
      <p:ext uri="{BB962C8B-B14F-4D97-AF65-F5344CB8AC3E}">
        <p14:creationId xmlns:p14="http://schemas.microsoft.com/office/powerpoint/2010/main" val="20173661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spTree>
      <p:nvGrpSpPr>
        <p:cNvPr id="1" name=""/>
        <p:cNvGrpSpPr/>
        <p:nvPr/>
      </p:nvGrpSpPr>
      <p:grpSpPr>
        <a:xfrm>
          <a:off x="0" y="0"/>
          <a:ext cx="0" cy="0"/>
          <a:chOff x="0" y="0"/>
          <a:chExt cx="0" cy="0"/>
        </a:xfrm>
      </p:grpSpPr>
      <p:pic>
        <p:nvPicPr>
          <p:cNvPr id="13" name="Grafik 12"/>
          <p:cNvPicPr>
            <a:picLocks noChangeAspect="1"/>
          </p:cNvPicPr>
          <p:nvPr userDrawn="1"/>
        </p:nvPicPr>
        <p:blipFill rotWithShape="1">
          <a:blip r:embed="rId2">
            <a:extLst>
              <a:ext uri="{28A0092B-C50C-407E-A947-70E740481C1C}">
                <a14:useLocalDpi xmlns:a14="http://schemas.microsoft.com/office/drawing/2010/main" val="0"/>
              </a:ext>
            </a:extLst>
          </a:blip>
          <a:srcRect b="20533"/>
          <a:stretch/>
        </p:blipFill>
        <p:spPr>
          <a:xfrm>
            <a:off x="5059" y="0"/>
            <a:ext cx="12190116" cy="6852342"/>
          </a:xfrm>
          <a:prstGeom prst="rect">
            <a:avLst/>
          </a:prstGeom>
        </p:spPr>
      </p:pic>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grpSp>
        <p:nvGrpSpPr>
          <p:cNvPr id="9" name="Gruppieren 8"/>
          <p:cNvGrpSpPr/>
          <p:nvPr userDrawn="1"/>
        </p:nvGrpSpPr>
        <p:grpSpPr>
          <a:xfrm>
            <a:off x="10518759" y="6066338"/>
            <a:ext cx="1352566" cy="470987"/>
            <a:chOff x="10518759" y="6066338"/>
            <a:chExt cx="1352566" cy="470987"/>
          </a:xfrm>
        </p:grpSpPr>
        <p:sp>
          <p:nvSpPr>
            <p:cNvPr id="10" name="Rectangle 15"/>
            <p:cNvSpPr/>
            <p:nvPr/>
          </p:nvSpPr>
          <p:spPr bwMode="gray">
            <a:xfrm>
              <a:off x="10518759" y="6088062"/>
              <a:ext cx="1352566" cy="449263"/>
            </a:xfrm>
            <a:prstGeom prst="rect">
              <a:avLst/>
            </a:prstGeom>
            <a:solidFill>
              <a:schemeClr val="bg1"/>
            </a:solidFill>
            <a:ln w="12700" cmpd="sng" algn="ctr">
              <a:noFill/>
              <a:prstDash val="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a:ln>
                  <a:noFill/>
                </a:ln>
                <a:effectLst/>
                <a:uLnTx/>
                <a:uFillTx/>
                <a:ea typeface="Arial Unicode MS" pitchFamily="34" charset="-128"/>
                <a:cs typeface="Arial Unicode MS" pitchFamily="34" charset="-128"/>
              </a:endParaRP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8759" y="6066338"/>
              <a:ext cx="1288232" cy="470987"/>
            </a:xfrm>
            <a:prstGeom prst="rect">
              <a:avLst/>
            </a:prstGeom>
          </p:spPr>
        </p:pic>
      </p:grpSp>
      <p:pic>
        <p:nvPicPr>
          <p:cNvPr id="12" name="Picture 8" descr="M:\Dokumente\UCC_Partner\Logos\SAP UA Logo\SAP_University_Alliances_Logo_2013_Februar\RGB\SAP_UniversityAlliances_scrn_R_pos_stac3.png"/>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000" y="6184900"/>
            <a:ext cx="647700" cy="352425"/>
          </a:xfrm>
          <a:prstGeom prst="rect">
            <a:avLst/>
          </a:prstGeom>
          <a:noFill/>
          <a:ln>
            <a:noFill/>
          </a:ln>
          <a:extLst/>
        </p:spPr>
      </p:pic>
    </p:spTree>
    <p:extLst>
      <p:ext uri="{BB962C8B-B14F-4D97-AF65-F5344CB8AC3E}">
        <p14:creationId xmlns:p14="http://schemas.microsoft.com/office/powerpoint/2010/main" val="429330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sz="1800" kern="0">
                <a:solidFill>
                  <a:schemeClr val="tx1"/>
                </a:solidFill>
                <a:ea typeface="Arial Unicode MS" pitchFamily="34" charset="-128"/>
                <a:cs typeface="Arial Unicode MS" pitchFamily="34" charset="-128"/>
              </a:rPr>
              <a:t>Use this title slide only with an</a:t>
            </a:r>
            <a:r>
              <a:rPr lang="en-US" sz="1800" kern="0" baseline="0">
                <a:solidFill>
                  <a:schemeClr val="tx1"/>
                </a:solidFill>
                <a:ea typeface="Arial Unicode MS" pitchFamily="34" charset="-128"/>
                <a:cs typeface="Arial Unicode MS" pitchFamily="34" charset="-128"/>
              </a:rPr>
              <a:t> image</a:t>
            </a:r>
            <a:endParaRPr lang="en-US" sz="1800" ker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57490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7829706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22420099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Curriculum</a:t>
            </a:r>
            <a:r>
              <a:rPr lang="en-US" sz="2400" b="1" kern="0" baseline="0" noProof="0">
                <a:solidFill>
                  <a:schemeClr val="accent2"/>
                </a:solidFill>
                <a:latin typeface="+mj-lt"/>
                <a:ea typeface="Arial Unicode MS" pitchFamily="34" charset="-128"/>
                <a:cs typeface="Arial Unicode MS" pitchFamily="34" charset="-128"/>
              </a:rPr>
              <a:t> Information</a:t>
            </a:r>
            <a:endParaRPr lang="en-US" sz="2400" b="1" kern="0" noProof="0">
              <a:solidFill>
                <a:schemeClr val="accent2"/>
              </a:solidFill>
              <a:latin typeface="+mj-lt"/>
              <a:ea typeface="Arial Unicode MS" pitchFamily="34" charset="-128"/>
              <a:cs typeface="Arial Unicode MS" pitchFamily="34" charset="-128"/>
            </a:endParaRP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&lt;Curriculum version + last update&gt;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a:solidFill>
                    <a:schemeClr val="tx1"/>
                  </a:solidFill>
                  <a:latin typeface="+mj-lt"/>
                </a:rPr>
                <a:t>Curriculum </a:t>
              </a:r>
              <a:r>
                <a:rPr lang="en-US" sz="1800" b="1" baseline="0" noProof="0">
                  <a:solidFill>
                    <a:schemeClr val="tx1"/>
                  </a:solidFill>
                  <a:latin typeface="+mj-lt"/>
                </a:rPr>
                <a:t>Version</a:t>
              </a:r>
              <a:endParaRPr lang="en-US" sz="1200" b="1" noProof="0">
                <a:solidFill>
                  <a:schemeClr val="tx1"/>
                </a:solidFill>
                <a:latin typeface="+mj-lt"/>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mn-lt"/>
                <a:ea typeface="+mn-ea"/>
                <a:cs typeface="+mn-cs"/>
              </a:rPr>
              <a:t>Software used</a:t>
            </a:r>
          </a:p>
        </p:txBody>
      </p:sp>
      <p:sp>
        <p:nvSpPr>
          <p:cNvPr id="20" name="Textfeld 19"/>
          <p:cNvSpPr txBox="1"/>
          <p:nvPr userDrawn="1"/>
        </p:nvSpPr>
        <p:spPr>
          <a:xfrm>
            <a:off x="2043658" y="4533142"/>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mn-lt"/>
                <a:ea typeface="+mn-ea"/>
                <a:cs typeface="+mn-cs"/>
              </a:rPr>
              <a:t>Prerequisites</a:t>
            </a:r>
          </a:p>
        </p:txBody>
      </p:sp>
      <p:sp>
        <p:nvSpPr>
          <p:cNvPr id="21" name="Textplatzhalter 21"/>
          <p:cNvSpPr>
            <a:spLocks noGrp="1"/>
          </p:cNvSpPr>
          <p:nvPr>
            <p:ph type="body" sz="quarter" idx="13" hasCustomPrompt="1"/>
          </p:nvPr>
        </p:nvSpPr>
        <p:spPr>
          <a:xfrm>
            <a:off x="2327107" y="4845892"/>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Tree>
    <p:extLst>
      <p:ext uri="{BB962C8B-B14F-4D97-AF65-F5344CB8AC3E}">
        <p14:creationId xmlns:p14="http://schemas.microsoft.com/office/powerpoint/2010/main" val="178408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dule information 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Module</a:t>
            </a:r>
            <a:r>
              <a:rPr lang="en-US" sz="2400" b="1" kern="0" baseline="0" noProof="0">
                <a:solidFill>
                  <a:schemeClr val="accent2"/>
                </a:solidFill>
                <a:latin typeface="+mj-lt"/>
                <a:ea typeface="Arial Unicode MS" pitchFamily="34" charset="-128"/>
                <a:cs typeface="Arial Unicode MS" pitchFamily="34" charset="-128"/>
              </a:rPr>
              <a:t> Information</a:t>
            </a:r>
            <a:endParaRPr lang="en-US" sz="2400" b="1" kern="0" noProof="0">
              <a:solidFill>
                <a:schemeClr val="accent2"/>
              </a:solidFill>
              <a:latin typeface="+mj-lt"/>
              <a:ea typeface="Arial Unicode MS" pitchFamily="34" charset="-128"/>
              <a:cs typeface="Arial Unicode MS" pitchFamily="34" charset="-128"/>
            </a:endParaRPr>
          </a:p>
        </p:txBody>
      </p:sp>
      <p:grpSp>
        <p:nvGrpSpPr>
          <p:cNvPr id="22" name="Gruppieren 21"/>
          <p:cNvGrpSpPr/>
          <p:nvPr userDrawn="1"/>
        </p:nvGrpSpPr>
        <p:grpSpPr>
          <a:xfrm>
            <a:off x="324000" y="1499007"/>
            <a:ext cx="1299600" cy="1299600"/>
            <a:chOff x="214040" y="1152039"/>
            <a:chExt cx="765542" cy="765543"/>
          </a:xfrm>
        </p:grpSpPr>
        <p:grpSp>
          <p:nvGrpSpPr>
            <p:cNvPr id="23" name="Gruppieren 22"/>
            <p:cNvGrpSpPr/>
            <p:nvPr userDrawn="1"/>
          </p:nvGrpSpPr>
          <p:grpSpPr>
            <a:xfrm>
              <a:off x="361780" y="1456593"/>
              <a:ext cx="464587" cy="191753"/>
              <a:chOff x="1642324" y="4884196"/>
              <a:chExt cx="660745" cy="294992"/>
            </a:xfrm>
          </p:grpSpPr>
          <p:sp>
            <p:nvSpPr>
              <p:cNvPr id="25" name="Richtungspfeil 24"/>
              <p:cNvSpPr/>
              <p:nvPr userDrawn="1"/>
            </p:nvSpPr>
            <p:spPr bwMode="gray">
              <a:xfrm rot="8100000">
                <a:off x="1767471" y="4884196"/>
                <a:ext cx="535598" cy="221844"/>
              </a:xfrm>
              <a:prstGeom prst="homePlate">
                <a:avLst/>
              </a:prstGeom>
              <a:solidFill>
                <a:schemeClr val="tx1">
                  <a:lumMod val="65000"/>
                  <a:lumOff val="35000"/>
                </a:schemeClr>
              </a:solidFill>
              <a:ln w="6350" algn="ctr">
                <a:solidFill>
                  <a:schemeClr val="tx1">
                    <a:lumMod val="65000"/>
                    <a:lumOff val="3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26" name="Rechteck 25"/>
              <p:cNvSpPr/>
              <p:nvPr/>
            </p:nvSpPr>
            <p:spPr bwMode="gray">
              <a:xfrm rot="8100000">
                <a:off x="1920613" y="4887121"/>
                <a:ext cx="305780" cy="129124"/>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cxnSp>
            <p:nvCxnSpPr>
              <p:cNvPr id="27" name="Gerade Verbindung 25"/>
              <p:cNvCxnSpPr/>
              <p:nvPr userDrawn="1"/>
            </p:nvCxnSpPr>
            <p:spPr>
              <a:xfrm>
                <a:off x="1642324" y="5179188"/>
                <a:ext cx="140109" cy="0"/>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28" name="Gruppieren 27"/>
          <p:cNvGrpSpPr/>
          <p:nvPr userDrawn="1"/>
        </p:nvGrpSpPr>
        <p:grpSpPr>
          <a:xfrm>
            <a:off x="324000" y="3809388"/>
            <a:ext cx="1299600" cy="1299600"/>
            <a:chOff x="216000" y="2969382"/>
            <a:chExt cx="765542" cy="765543"/>
          </a:xfrm>
        </p:grpSpPr>
        <p:pic>
          <p:nvPicPr>
            <p:cNvPr id="2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3714" y="3133080"/>
              <a:ext cx="361950" cy="43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Donut 11"/>
            <p:cNvSpPr/>
            <p:nvPr userDrawn="1"/>
          </p:nvSpPr>
          <p:spPr bwMode="gray">
            <a:xfrm>
              <a:off x="216000" y="2969382"/>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31" name="Gruppieren 30"/>
          <p:cNvGrpSpPr/>
          <p:nvPr userDrawn="1"/>
        </p:nvGrpSpPr>
        <p:grpSpPr>
          <a:xfrm>
            <a:off x="1951753" y="1927906"/>
            <a:ext cx="9917447" cy="500901"/>
            <a:chOff x="1108399" y="1396713"/>
            <a:chExt cx="7030682" cy="404566"/>
          </a:xfrm>
        </p:grpSpPr>
        <p:sp>
          <p:nvSpPr>
            <p:cNvPr id="32"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a:solidFill>
                    <a:schemeClr val="tx1"/>
                  </a:solidFill>
                  <a:latin typeface="+mj-lt"/>
                </a:rPr>
                <a:t>Authors</a:t>
              </a:r>
              <a:endParaRPr lang="en-US" sz="1200" b="1" noProof="0">
                <a:solidFill>
                  <a:schemeClr val="tx1"/>
                </a:solidFill>
                <a:latin typeface="+mj-lt"/>
              </a:endParaRPr>
            </a:p>
          </p:txBody>
        </p:sp>
        <p:cxnSp>
          <p:nvCxnSpPr>
            <p:cNvPr id="33"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&lt;Author&gt;</a:t>
            </a:r>
          </a:p>
          <a:p>
            <a:pPr lvl="0"/>
            <a:r>
              <a:rPr lang="en-US" dirty="0"/>
              <a:t>&lt;Author&gt;</a:t>
            </a:r>
          </a:p>
          <a:p>
            <a:pPr lvl="0"/>
            <a:r>
              <a:rPr lang="en-US" dirty="0"/>
              <a:t>&lt;Author&gt;</a:t>
            </a:r>
          </a:p>
        </p:txBody>
      </p:sp>
      <p:grpSp>
        <p:nvGrpSpPr>
          <p:cNvPr id="35" name="Gruppieren 34"/>
          <p:cNvGrpSpPr/>
          <p:nvPr userDrawn="1"/>
        </p:nvGrpSpPr>
        <p:grpSpPr>
          <a:xfrm>
            <a:off x="1957853" y="4230977"/>
            <a:ext cx="9911347" cy="500901"/>
            <a:chOff x="1108399" y="1396713"/>
            <a:chExt cx="7030682" cy="404566"/>
          </a:xfrm>
        </p:grpSpPr>
        <p:sp>
          <p:nvSpPr>
            <p:cNvPr id="36"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a:solidFill>
                    <a:schemeClr val="tx1"/>
                  </a:solidFill>
                  <a:latin typeface="+mj-lt"/>
                </a:rPr>
                <a:t>Target Audience</a:t>
              </a:r>
              <a:endParaRPr lang="en-US" sz="1200" b="1" noProof="0">
                <a:solidFill>
                  <a:schemeClr val="tx1"/>
                </a:solidFill>
                <a:latin typeface="+mj-lt"/>
              </a:endParaRPr>
            </a:p>
          </p:txBody>
        </p:sp>
        <p:cxnSp>
          <p:nvCxnSpPr>
            <p:cNvPr id="37"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8" name="Textplatzhalter 21"/>
          <p:cNvSpPr>
            <a:spLocks noGrp="1"/>
          </p:cNvSpPr>
          <p:nvPr>
            <p:ph type="body" sz="quarter" idx="16" hasCustomPrompt="1"/>
          </p:nvPr>
        </p:nvSpPr>
        <p:spPr>
          <a:xfrm>
            <a:off x="2044953" y="4927509"/>
            <a:ext cx="9824247"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&lt;Target audience&gt;</a:t>
            </a:r>
          </a:p>
          <a:p>
            <a:pPr lvl="0"/>
            <a:r>
              <a:rPr lang="en-US" dirty="0"/>
              <a:t>&lt;Target audience&gt;</a:t>
            </a:r>
          </a:p>
          <a:p>
            <a:pPr lvl="0"/>
            <a:r>
              <a:rPr lang="en-US" dirty="0"/>
              <a:t>&lt;Target audience&gt;</a:t>
            </a:r>
          </a:p>
        </p:txBody>
      </p:sp>
    </p:spTree>
    <p:extLst>
      <p:ext uri="{BB962C8B-B14F-4D97-AF65-F5344CB8AC3E}">
        <p14:creationId xmlns:p14="http://schemas.microsoft.com/office/powerpoint/2010/main" val="27388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dule information I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Module</a:t>
            </a:r>
            <a:r>
              <a:rPr lang="en-US" sz="2400" b="1" kern="0" baseline="0" noProof="0">
                <a:solidFill>
                  <a:schemeClr val="accent2"/>
                </a:solidFill>
                <a:latin typeface="+mj-lt"/>
                <a:ea typeface="Arial Unicode MS" pitchFamily="34" charset="-128"/>
                <a:cs typeface="Arial Unicode MS" pitchFamily="34" charset="-128"/>
              </a:rPr>
              <a:t> Information</a:t>
            </a:r>
            <a:endParaRPr lang="en-US" sz="2400" b="1" kern="0" noProof="0">
              <a:solidFill>
                <a:schemeClr val="accent2"/>
              </a:solidFill>
              <a:latin typeface="+mj-lt"/>
              <a:ea typeface="Arial Unicode MS" pitchFamily="34" charset="-128"/>
              <a:cs typeface="Arial Unicode MS" pitchFamily="34" charset="-128"/>
            </a:endParaRPr>
          </a:p>
        </p:txBody>
      </p:sp>
      <p:grpSp>
        <p:nvGrpSpPr>
          <p:cNvPr id="3" name="Gruppieren 2"/>
          <p:cNvGrpSpPr/>
          <p:nvPr userDrawn="1"/>
        </p:nvGrpSpPr>
        <p:grpSpPr>
          <a:xfrm>
            <a:off x="324000" y="1503256"/>
            <a:ext cx="1299600" cy="1299600"/>
            <a:chOff x="214040" y="1152039"/>
            <a:chExt cx="765542" cy="765543"/>
          </a:xfrm>
        </p:grpSpPr>
        <p:sp>
          <p:nvSpPr>
            <p:cNvPr id="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pic>
          <p:nvPicPr>
            <p:cNvPr id="6"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487" y="1313261"/>
              <a:ext cx="352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4"/>
            </a:xfrm>
            <a:prstGeom prst="rect">
              <a:avLst/>
            </a:prstGeom>
          </p:spPr>
          <p:txBody>
            <a:bodyPr wrap="square" lIns="91302" tIns="45630" rIns="91302" bIns="45630">
              <a:spAutoFit/>
            </a:bodyPr>
            <a:lstStyle/>
            <a:p>
              <a:r>
                <a:rPr lang="en-US" sz="1800" b="1" kern="1200" noProof="0">
                  <a:solidFill>
                    <a:schemeClr val="tx1"/>
                  </a:solidFill>
                  <a:latin typeface="Arial"/>
                  <a:ea typeface="+mn-ea"/>
                  <a:cs typeface="+mn-cs"/>
                </a:rPr>
                <a:t>Learning Objectives</a:t>
              </a: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&lt;Learning objective&gt;</a:t>
            </a:r>
          </a:p>
          <a:p>
            <a:pPr lvl="0"/>
            <a:r>
              <a:rPr lang="en-US" dirty="0"/>
              <a:t>&lt;Learning objective&gt;</a:t>
            </a:r>
          </a:p>
          <a:p>
            <a:pPr lvl="0"/>
            <a:r>
              <a:rPr lang="en-US" dirty="0"/>
              <a:t>&lt;Learning objective&gt;</a:t>
            </a:r>
          </a:p>
        </p:txBody>
      </p:sp>
    </p:spTree>
    <p:extLst>
      <p:ext uri="{BB962C8B-B14F-4D97-AF65-F5344CB8AC3E}">
        <p14:creationId xmlns:p14="http://schemas.microsoft.com/office/powerpoint/2010/main" val="101486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&lt;Agenda&gt;</a:t>
            </a:r>
          </a:p>
        </p:txBody>
      </p:sp>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Tree>
    <p:extLst>
      <p:ext uri="{BB962C8B-B14F-4D97-AF65-F5344CB8AC3E}">
        <p14:creationId xmlns:p14="http://schemas.microsoft.com/office/powerpoint/2010/main" val="268060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lvl1pPr>
              <a:defRPr/>
            </a:lvl1pPr>
          </a:lstStyle>
          <a:p>
            <a:r>
              <a:rPr lang="en-US" noProof="0" dirty="0"/>
              <a:t>&lt;Page title&gt;</a:t>
            </a:r>
            <a:endParaRPr lang="en-US" dirty="0"/>
          </a:p>
        </p:txBody>
      </p:sp>
    </p:spTree>
    <p:extLst>
      <p:ext uri="{BB962C8B-B14F-4D97-AF65-F5344CB8AC3E}">
        <p14:creationId xmlns:p14="http://schemas.microsoft.com/office/powerpoint/2010/main" val="387103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7" name="Text Placeholder 2"/>
          <p:cNvSpPr>
            <a:spLocks noGrp="1"/>
          </p:cNvSpPr>
          <p:nvPr>
            <p:ph idx="12"/>
          </p:nvPr>
        </p:nvSpPr>
        <p:spPr bwMode="gray">
          <a:xfrm>
            <a:off x="6208016" y="1691079"/>
            <a:ext cx="5661184"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Tree>
    <p:extLst>
      <p:ext uri="{BB962C8B-B14F-4D97-AF65-F5344CB8AC3E}">
        <p14:creationId xmlns:p14="http://schemas.microsoft.com/office/powerpoint/2010/main" val="10805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9" name="Text Placeholder 2"/>
          <p:cNvSpPr>
            <a:spLocks noGrp="1"/>
          </p:cNvSpPr>
          <p:nvPr>
            <p:ph idx="14"/>
          </p:nvPr>
        </p:nvSpPr>
        <p:spPr bwMode="gray">
          <a:xfrm>
            <a:off x="8133316" y="1691079"/>
            <a:ext cx="3735883"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8" name="Text Placeholder 2"/>
          <p:cNvSpPr>
            <a:spLocks noGrp="1"/>
          </p:cNvSpPr>
          <p:nvPr>
            <p:ph idx="13"/>
          </p:nvPr>
        </p:nvSpPr>
        <p:spPr bwMode="gray">
          <a:xfrm>
            <a:off x="4228658" y="1691079"/>
            <a:ext cx="37404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3740399"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a:xfrm>
            <a:off x="324000" y="324075"/>
            <a:ext cx="11545200" cy="756175"/>
          </a:xfrm>
        </p:spPr>
        <p:txBody>
          <a:bodyPr/>
          <a:lstStyle/>
          <a:p>
            <a:r>
              <a:rPr lang="en-US" noProof="0" dirty="0"/>
              <a:t>&lt;Page title&gt;</a:t>
            </a:r>
            <a:endParaRPr lang="en-US" dirty="0"/>
          </a:p>
        </p:txBody>
      </p:sp>
    </p:spTree>
    <p:extLst>
      <p:ext uri="{BB962C8B-B14F-4D97-AF65-F5344CB8AC3E}">
        <p14:creationId xmlns:p14="http://schemas.microsoft.com/office/powerpoint/2010/main" val="680077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714995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de-DE"/>
              <a:t>Bild durch Klicken auf Symbol hinzufügen</a:t>
            </a:r>
            <a:endParaRPr lang="en-US"/>
          </a:p>
        </p:txBody>
      </p:sp>
    </p:spTree>
    <p:extLst>
      <p:ext uri="{BB962C8B-B14F-4D97-AF65-F5344CB8AC3E}">
        <p14:creationId xmlns:p14="http://schemas.microsoft.com/office/powerpoint/2010/main" val="132269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2">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a:p>
        </p:txBody>
      </p:sp>
    </p:spTree>
    <p:extLst>
      <p:ext uri="{BB962C8B-B14F-4D97-AF65-F5344CB8AC3E}">
        <p14:creationId xmlns:p14="http://schemas.microsoft.com/office/powerpoint/2010/main" val="2717079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3">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4224188"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a:p>
        </p:txBody>
      </p:sp>
    </p:spTree>
    <p:extLst>
      <p:ext uri="{BB962C8B-B14F-4D97-AF65-F5344CB8AC3E}">
        <p14:creationId xmlns:p14="http://schemas.microsoft.com/office/powerpoint/2010/main" val="252588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8" name="Text Placeholder 2"/>
          <p:cNvSpPr>
            <a:spLocks noGrp="1"/>
          </p:cNvSpPr>
          <p:nvPr>
            <p:ph idx="17"/>
          </p:nvPr>
        </p:nvSpPr>
        <p:spPr bwMode="gray">
          <a:xfrm>
            <a:off x="6208016" y="1691079"/>
            <a:ext cx="5661184"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7" name="Text Placeholder 2"/>
          <p:cNvSpPr>
            <a:spLocks noGrp="1"/>
          </p:cNvSpPr>
          <p:nvPr>
            <p:ph idx="1"/>
          </p:nvPr>
        </p:nvSpPr>
        <p:spPr bwMode="gray">
          <a:xfrm>
            <a:off x="324000" y="1691079"/>
            <a:ext cx="5662800"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a:p>
        </p:txBody>
      </p:sp>
    </p:spTree>
    <p:extLst>
      <p:ext uri="{BB962C8B-B14F-4D97-AF65-F5344CB8AC3E}">
        <p14:creationId xmlns:p14="http://schemas.microsoft.com/office/powerpoint/2010/main" val="2720293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feld 7"/>
          <p:cNvSpPr txBox="1"/>
          <p:nvPr userDrawn="1"/>
        </p:nvSpPr>
        <p:spPr>
          <a:xfrm>
            <a:off x="324000" y="2061275"/>
            <a:ext cx="11545200" cy="923330"/>
          </a:xfrm>
          <a:prstGeom prst="rect">
            <a:avLst/>
          </a:prstGeom>
          <a:noFill/>
        </p:spPr>
        <p:txBody>
          <a:bodyPr wrap="square" lIns="0" tIns="0" rIns="0" bIns="0" rtlCol="0">
            <a:spAutoFit/>
          </a:bodyPr>
          <a:lstStyle/>
          <a:p>
            <a:pPr algn="ctr" fontAlgn="base">
              <a:spcBef>
                <a:spcPts val="600"/>
              </a:spcBef>
              <a:spcAft>
                <a:spcPct val="0"/>
              </a:spcAft>
              <a:buClr>
                <a:srgbClr val="F0AB00"/>
              </a:buClr>
              <a:buSzPct val="80000"/>
            </a:pPr>
            <a:r>
              <a:rPr lang="en-US" sz="6000" noProof="0"/>
              <a:t>Thank</a:t>
            </a:r>
            <a:r>
              <a:rPr lang="en-US" sz="6000" baseline="0" noProof="0"/>
              <a:t> you</a:t>
            </a:r>
            <a:r>
              <a:rPr lang="en-US" sz="6000" noProof="0"/>
              <a:t>!</a:t>
            </a:r>
            <a:endParaRPr lang="en-US" sz="6000" kern="0" noProof="0">
              <a:ea typeface="Arial Unicode MS" pitchFamily="34" charset="-128"/>
              <a:cs typeface="Arial Unicode MS" pitchFamily="34" charset="-128"/>
            </a:endParaRPr>
          </a:p>
        </p:txBody>
      </p:sp>
      <p:sp>
        <p:nvSpPr>
          <p:cNvPr id="9" name="Textplatzhalter 5"/>
          <p:cNvSpPr>
            <a:spLocks noGrp="1"/>
          </p:cNvSpPr>
          <p:nvPr>
            <p:ph type="body" sz="quarter" idx="10" hasCustomPrompt="1"/>
          </p:nvPr>
        </p:nvSpPr>
        <p:spPr>
          <a:xfrm>
            <a:off x="3925792" y="3659939"/>
            <a:ext cx="4341615" cy="2141713"/>
          </a:xfrm>
          <a:noFill/>
          <a:ln>
            <a:solidFill>
              <a:schemeClr val="accent1"/>
            </a:solidFill>
          </a:ln>
        </p:spPr>
        <p:txBody>
          <a:bodyPr lIns="108000" tIns="108000" rIns="108000" bIns="108000"/>
          <a:lstStyle>
            <a:lvl1pPr marL="0" indent="0" fontAlgn="base">
              <a:spcBef>
                <a:spcPts val="600"/>
              </a:spcBef>
              <a:spcAft>
                <a:spcPct val="0"/>
              </a:spcAft>
              <a:buClr>
                <a:srgbClr val="F0AB00"/>
              </a:buClr>
              <a:buSzPct val="80000"/>
              <a:buNone/>
              <a:defRPr sz="2400" b="1" baseline="0">
                <a:solidFill>
                  <a:schemeClr val="tx1"/>
                </a:solidFill>
              </a:defRPr>
            </a:lvl1pPr>
            <a:lvl2pPr marL="201600" indent="0">
              <a:buNone/>
              <a:defRPr/>
            </a:lvl2pPr>
            <a:lvl3pPr marL="324000" indent="0">
              <a:buNone/>
              <a:defRPr/>
            </a:lvl3pPr>
            <a:lvl4pPr marL="504000" indent="0">
              <a:buNone/>
              <a:defRPr/>
            </a:lvl4pPr>
            <a:lvl5pPr marL="361338" indent="0">
              <a:buNone/>
              <a:defRPr/>
            </a:lvl5pPr>
          </a:lstStyle>
          <a:p>
            <a:pPr lvl="0"/>
            <a:r>
              <a:rPr lang="en-US" noProof="0" dirty="0"/>
              <a:t>Contact</a:t>
            </a:r>
          </a:p>
          <a:p>
            <a:pPr lvl="0"/>
            <a:endParaRPr lang="en-US" noProof="0" dirty="0"/>
          </a:p>
          <a:p>
            <a:pPr fontAlgn="base">
              <a:spcBef>
                <a:spcPts val="600"/>
              </a:spcBef>
              <a:spcAft>
                <a:spcPct val="0"/>
              </a:spcAft>
              <a:buClr>
                <a:srgbClr val="F0AB00"/>
              </a:buClr>
              <a:buSzPct val="80000"/>
            </a:pPr>
            <a:r>
              <a:rPr lang="en-US" sz="1400" kern="0" noProof="0" dirty="0">
                <a:ea typeface="Arial Unicode MS" pitchFamily="34" charset="-128"/>
                <a:cs typeface="Arial Unicode MS" pitchFamily="34" charset="-128"/>
              </a:rPr>
              <a:t> &lt;First name&gt; &lt;Last name&gt;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&lt;Position, Organization&gt;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&lt;Contact information&gt;</a:t>
            </a:r>
            <a:endParaRPr lang="en-US" sz="1800" kern="0" noProof="0" dirty="0">
              <a:ea typeface="Arial Unicode MS" pitchFamily="34" charset="-128"/>
              <a:cs typeface="Arial Unicode MS" pitchFamily="34" charset="-128"/>
            </a:endParaRPr>
          </a:p>
          <a:p>
            <a:pPr lvl="0"/>
            <a:endParaRPr lang="en-US" noProof="0" dirty="0"/>
          </a:p>
        </p:txBody>
      </p:sp>
    </p:spTree>
    <p:extLst>
      <p:ext uri="{BB962C8B-B14F-4D97-AF65-F5344CB8AC3E}">
        <p14:creationId xmlns:p14="http://schemas.microsoft.com/office/powerpoint/2010/main" val="120474467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uthors">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Authors</a:t>
            </a:r>
          </a:p>
        </p:txBody>
      </p:sp>
    </p:spTree>
    <p:extLst>
      <p:ext uri="{BB962C8B-B14F-4D97-AF65-F5344CB8AC3E}">
        <p14:creationId xmlns:p14="http://schemas.microsoft.com/office/powerpoint/2010/main" val="1787256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urces">
    <p:spTree>
      <p:nvGrpSpPr>
        <p:cNvPr id="1" name=""/>
        <p:cNvGrpSpPr/>
        <p:nvPr/>
      </p:nvGrpSpPr>
      <p:grpSpPr>
        <a:xfrm>
          <a:off x="0" y="0"/>
          <a:ext cx="0" cy="0"/>
          <a:chOff x="0" y="0"/>
          <a:chExt cx="0" cy="0"/>
        </a:xfrm>
      </p:grpSpPr>
      <p:sp>
        <p:nvSpPr>
          <p:cNvPr id="6" name="Text Placeholder 2"/>
          <p:cNvSpPr>
            <a:spLocks noGrp="1"/>
          </p:cNvSpPr>
          <p:nvPr>
            <p:ph idx="1" hasCustomPrompt="1"/>
          </p:nvPr>
        </p:nvSpPr>
        <p:spPr bwMode="gray">
          <a:xfrm>
            <a:off x="324000" y="1691079"/>
            <a:ext cx="11545200" cy="4392042"/>
          </a:xfrm>
          <a:prstGeom prst="rect">
            <a:avLst/>
          </a:prstGeom>
        </p:spPr>
        <p:txBody>
          <a:bodyPr vert="horz" lIns="0" tIns="0" rIns="0" bIns="0" rtlCol="0">
            <a:noAutofit/>
          </a:bodyPr>
          <a:lstStyle>
            <a:lvl1pPr>
              <a:buClr>
                <a:schemeClr val="bg1">
                  <a:lumMod val="65000"/>
                </a:schemeClr>
              </a:buClr>
              <a:defRPr sz="1600">
                <a:solidFill>
                  <a:schemeClr val="bg1">
                    <a:lumMod val="65000"/>
                  </a:schemeClr>
                </a:solidFill>
              </a:defRPr>
            </a:lvl1pPr>
          </a:lstStyle>
          <a:p>
            <a:pPr lvl="0"/>
            <a:r>
              <a:rPr lang="en-US" noProof="0" dirty="0"/>
              <a:t>&lt;level 1&gt;</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Sources</a:t>
            </a:r>
          </a:p>
        </p:txBody>
      </p:sp>
    </p:spTree>
    <p:extLst>
      <p:ext uri="{BB962C8B-B14F-4D97-AF65-F5344CB8AC3E}">
        <p14:creationId xmlns:p14="http://schemas.microsoft.com/office/powerpoint/2010/main" val="3879883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Arial"/>
                <a:ea typeface="Arial Unicode MS" pitchFamily="34" charset="-128"/>
                <a:cs typeface="Arial Unicode MS" pitchFamily="34" charset="-128"/>
              </a:rPr>
              <a:t>Teaching material - Information</a:t>
            </a: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&lt;3.1 (</a:t>
            </a:r>
            <a:r>
              <a:rPr lang="de-DE" noProof="0" dirty="0" err="1"/>
              <a:t>July</a:t>
            </a:r>
            <a:r>
              <a:rPr lang="de-DE" noProof="0" dirty="0"/>
              <a:t> 2017)&gt;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kern="1200" noProof="0">
                  <a:solidFill>
                    <a:schemeClr val="tx1"/>
                  </a:solidFill>
                  <a:latin typeface="Arial"/>
                  <a:ea typeface="+mn-ea"/>
                  <a:cs typeface="+mn-cs"/>
                </a:rPr>
                <a:t>Teaching</a:t>
              </a:r>
              <a:r>
                <a:rPr lang="en-US" sz="1800" b="1" kern="1200" baseline="0" noProof="0">
                  <a:solidFill>
                    <a:schemeClr val="tx1"/>
                  </a:solidFill>
                  <a:latin typeface="Arial"/>
                  <a:ea typeface="+mn-ea"/>
                  <a:cs typeface="+mn-cs"/>
                </a:rPr>
                <a:t> </a:t>
              </a:r>
              <a:r>
                <a:rPr lang="en-US" sz="1800" b="1" kern="1200" noProof="0">
                  <a:solidFill>
                    <a:schemeClr val="tx1"/>
                  </a:solidFill>
                  <a:latin typeface="Arial"/>
                  <a:ea typeface="+mn-ea"/>
                  <a:cs typeface="+mn-cs"/>
                </a:rPr>
                <a:t>material </a:t>
              </a:r>
              <a:r>
                <a:rPr lang="en-US" sz="1800" b="1" kern="1200" baseline="0" noProof="0">
                  <a:solidFill>
                    <a:schemeClr val="tx1"/>
                  </a:solidFill>
                  <a:latin typeface="Arial"/>
                  <a:ea typeface="+mn-ea"/>
                  <a:cs typeface="+mn-cs"/>
                </a:rPr>
                <a:t>- Version</a:t>
              </a:r>
              <a:endParaRPr lang="en-US" sz="1200" b="1" kern="1200" noProof="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Arial"/>
                <a:ea typeface="+mn-ea"/>
                <a:cs typeface="+mn-cs"/>
              </a:rPr>
              <a:t>Software used</a:t>
            </a:r>
          </a:p>
        </p:txBody>
      </p:sp>
      <p:sp>
        <p:nvSpPr>
          <p:cNvPr id="20" name="Textfeld 19"/>
          <p:cNvSpPr txBox="1"/>
          <p:nvPr userDrawn="1"/>
        </p:nvSpPr>
        <p:spPr>
          <a:xfrm>
            <a:off x="2043658" y="5176323"/>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Arial"/>
                <a:ea typeface="+mn-ea"/>
                <a:cs typeface="+mn-cs"/>
              </a:rPr>
              <a:t>Prerequisites</a:t>
            </a:r>
            <a:endParaRPr lang="de-DE" sz="1800" b="0" kern="1200" baseline="0" noProof="0">
              <a:solidFill>
                <a:schemeClr val="tx1"/>
              </a:solidFill>
              <a:latin typeface="+mn-lt"/>
              <a:ea typeface="+mn-ea"/>
              <a:cs typeface="+mn-cs"/>
            </a:endParaRPr>
          </a:p>
        </p:txBody>
      </p:sp>
      <p:sp>
        <p:nvSpPr>
          <p:cNvPr id="21" name="Textplatzhalter 21"/>
          <p:cNvSpPr>
            <a:spLocks noGrp="1"/>
          </p:cNvSpPr>
          <p:nvPr>
            <p:ph type="body" sz="quarter" idx="13" hasCustomPrompt="1"/>
          </p:nvPr>
        </p:nvSpPr>
        <p:spPr>
          <a:xfrm>
            <a:off x="2327107" y="5489073"/>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
        <p:nvSpPr>
          <p:cNvPr id="22" name="Textfeld 21"/>
          <p:cNvSpPr txBox="1"/>
          <p:nvPr userDrawn="1"/>
        </p:nvSpPr>
        <p:spPr>
          <a:xfrm>
            <a:off x="2046605" y="4184140"/>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de-DE" sz="1800" b="0" kern="1200" baseline="0" noProof="0">
                <a:solidFill>
                  <a:schemeClr val="tx1"/>
                </a:solidFill>
                <a:latin typeface="+mn-lt"/>
                <a:ea typeface="+mn-ea"/>
                <a:cs typeface="+mn-cs"/>
              </a:rPr>
              <a:t>Model</a:t>
            </a:r>
          </a:p>
        </p:txBody>
      </p:sp>
      <p:sp>
        <p:nvSpPr>
          <p:cNvPr id="23" name="Textplatzhalter 21"/>
          <p:cNvSpPr>
            <a:spLocks noGrp="1"/>
          </p:cNvSpPr>
          <p:nvPr>
            <p:ph type="body" sz="quarter" idx="16" hasCustomPrompt="1"/>
          </p:nvPr>
        </p:nvSpPr>
        <p:spPr>
          <a:xfrm>
            <a:off x="2327108" y="4583195"/>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a:t>
            </a:r>
            <a:r>
              <a:rPr lang="de-DE" noProof="0" dirty="0" err="1"/>
              <a:t>server</a:t>
            </a:r>
            <a:r>
              <a:rPr lang="de-DE" noProof="0" dirty="0"/>
              <a:t>&gt;</a:t>
            </a:r>
          </a:p>
        </p:txBody>
      </p:sp>
    </p:spTree>
    <p:extLst>
      <p:ext uri="{BB962C8B-B14F-4D97-AF65-F5344CB8AC3E}">
        <p14:creationId xmlns:p14="http://schemas.microsoft.com/office/powerpoint/2010/main" val="4168921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&lt;level 1&gt;</a:t>
            </a:r>
          </a:p>
          <a:p>
            <a:pPr lvl="1"/>
            <a:r>
              <a:rPr lang="en-US" noProof="0" dirty="0"/>
              <a:t>&lt;level 2&gt;</a:t>
            </a:r>
          </a:p>
          <a:p>
            <a:pPr lvl="2"/>
            <a:r>
              <a:rPr lang="en-US" noProof="0" dirty="0"/>
              <a:t>&lt;level 3&gt;</a:t>
            </a:r>
          </a:p>
          <a:p>
            <a:pPr lvl="3"/>
            <a:r>
              <a:rPr lang="en-US" noProof="0" dirty="0"/>
              <a:t>&lt;level 4&gt;</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0" name="TextBox 9"/>
          <p:cNvSpPr txBox="1"/>
          <p:nvPr userDrawn="1"/>
        </p:nvSpPr>
        <p:spPr bwMode="black">
          <a:xfrm>
            <a:off x="324000" y="6630039"/>
            <a:ext cx="3153112" cy="138499"/>
          </a:xfrm>
          <a:prstGeom prst="rect">
            <a:avLst/>
          </a:prstGeom>
          <a:noFill/>
        </p:spPr>
        <p:txBody>
          <a:bodyPr wrap="none" lIns="85730" tIns="0" rIns="0" bIns="0" rtlCol="0">
            <a:spAutoFit/>
          </a:bodyPr>
          <a:lstStyle/>
          <a:p>
            <a:pPr marL="0" indent="0" algn="l" defTabSz="816226">
              <a:buClr>
                <a:srgbClr val="000000"/>
              </a:buClr>
              <a:buFont typeface="Arial" pitchFamily="34" charset="0"/>
              <a:buNone/>
            </a:pPr>
            <a:r>
              <a:rPr lang="en-US" sz="900" dirty="0">
                <a:solidFill>
                  <a:srgbClr val="FFFFFF"/>
                </a:solidFill>
              </a:rPr>
              <a:t>© </a:t>
            </a:r>
            <a:r>
              <a:rPr lang="en-US" sz="900" dirty="0" smtClean="0">
                <a:solidFill>
                  <a:srgbClr val="FFFFFF"/>
                </a:solidFill>
              </a:rPr>
              <a:t>2025 </a:t>
            </a:r>
            <a:r>
              <a:rPr lang="en-US" sz="900" dirty="0">
                <a:solidFill>
                  <a:srgbClr val="FFFFFF"/>
                </a:solidFill>
              </a:rPr>
              <a:t>SAP</a:t>
            </a:r>
            <a:r>
              <a:rPr lang="en-US" sz="900" baseline="0" dirty="0">
                <a:solidFill>
                  <a:srgbClr val="FFFFFF"/>
                </a:solidFill>
              </a:rPr>
              <a:t> SE / SAP UCC Magdeburg</a:t>
            </a:r>
            <a:r>
              <a:rPr lang="en-US" sz="900" dirty="0">
                <a:solidFill>
                  <a:srgbClr val="FFFFFF"/>
                </a:solidFill>
              </a:rPr>
              <a:t>. All rights reserved.</a:t>
            </a: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chemeClr val="accent2"/>
              </a:buClr>
              <a:buFont typeface="Arial" pitchFamily="34" charset="0"/>
              <a:buNone/>
            </a:pPr>
            <a:fld id="{0BDC132A-5C91-4078-9777-31DA19A62E0A}" type="slidenum">
              <a:rPr lang="en-US" sz="900" baseline="0" noProof="0" smtClean="0">
                <a:solidFill>
                  <a:schemeClr val="bg1"/>
                </a:solidFill>
              </a:rPr>
              <a:pPr marL="111525" indent="-111525" algn="r">
                <a:buClr>
                  <a:schemeClr val="accent2"/>
                </a:buClr>
                <a:buFont typeface="Arial" pitchFamily="34" charset="0"/>
                <a:buNone/>
              </a:pPr>
              <a:t>‹Nr.›</a:t>
            </a:fld>
            <a:endParaRPr lang="en-US" sz="900" noProof="0">
              <a:solidFill>
                <a:schemeClr val="bg1"/>
              </a:solidFill>
            </a:endParaRPr>
          </a:p>
        </p:txBody>
      </p:sp>
    </p:spTree>
    <p:extLst>
      <p:ext uri="{BB962C8B-B14F-4D97-AF65-F5344CB8AC3E}">
        <p14:creationId xmlns:p14="http://schemas.microsoft.com/office/powerpoint/2010/main" val="383640044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56" r:id="rId5"/>
    <p:sldLayoutId id="2147483759" r:id="rId6"/>
    <p:sldLayoutId id="2147483760" r:id="rId7"/>
    <p:sldLayoutId id="2147483746" r:id="rId8"/>
    <p:sldLayoutId id="2147483749" r:id="rId9"/>
    <p:sldLayoutId id="2147483750" r:id="rId10"/>
    <p:sldLayoutId id="2147483751" r:id="rId11"/>
    <p:sldLayoutId id="2147483752" r:id="rId12"/>
    <p:sldLayoutId id="2147483753" r:id="rId13"/>
    <p:sldLayoutId id="2147483754" r:id="rId14"/>
    <p:sldLayoutId id="2147483755" r:id="rId15"/>
    <p:sldLayoutId id="2147483745" r:id="rId16"/>
    <p:sldLayoutId id="2147483757" r:id="rId17"/>
    <p:sldLayoutId id="2147483758" r:id="rId18"/>
    <p:sldLayoutId id="2147483762" r:id="rId19"/>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9.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latin typeface="Arial" panose="020B0604020202020204" pitchFamily="34" charset="0"/>
              </a:rPr>
              <a:t>Controlling (CO)</a:t>
            </a:r>
            <a:endParaRPr lang="de-DE" dirty="0"/>
          </a:p>
        </p:txBody>
      </p:sp>
      <p:sp>
        <p:nvSpPr>
          <p:cNvPr id="3" name="Untertitel 2"/>
          <p:cNvSpPr>
            <a:spLocks noGrp="1"/>
          </p:cNvSpPr>
          <p:nvPr>
            <p:ph type="subTitle" idx="1"/>
          </p:nvPr>
        </p:nvSpPr>
        <p:spPr/>
        <p:txBody>
          <a:bodyPr/>
          <a:lstStyle/>
          <a:p>
            <a:r>
              <a:rPr lang="en-US" dirty="0"/>
              <a:t>Curriculum: Introduction to S/4HANA using Global Bike </a:t>
            </a:r>
            <a:endParaRPr lang="de-DE" dirty="0"/>
          </a:p>
          <a:p>
            <a:endParaRPr lang="de-DE" dirty="0"/>
          </a:p>
        </p:txBody>
      </p:sp>
    </p:spTree>
    <p:extLst>
      <p:ext uri="{BB962C8B-B14F-4D97-AF65-F5344CB8AC3E}">
        <p14:creationId xmlns:p14="http://schemas.microsoft.com/office/powerpoint/2010/main" val="3658766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2"/>
          </p:nvPr>
        </p:nvSpPr>
        <p:spPr>
          <a:xfrm>
            <a:off x="2327108" y="3568361"/>
            <a:ext cx="9542092" cy="530990"/>
          </a:xfrm>
        </p:spPr>
        <p:txBody>
          <a:bodyPr/>
          <a:lstStyle/>
          <a:p>
            <a:r>
              <a:rPr lang="en-US" dirty="0"/>
              <a:t>S/4HANA </a:t>
            </a:r>
            <a:r>
              <a:rPr lang="en-US" dirty="0" smtClean="0"/>
              <a:t>2023</a:t>
            </a:r>
            <a:endParaRPr lang="en-US" dirty="0"/>
          </a:p>
          <a:p>
            <a:r>
              <a:rPr lang="en-US" dirty="0"/>
              <a:t>Fiori </a:t>
            </a:r>
            <a:r>
              <a:rPr lang="en-US" dirty="0" smtClean="0"/>
              <a:t>3.0</a:t>
            </a:r>
            <a:endParaRPr lang="en-US" dirty="0"/>
          </a:p>
        </p:txBody>
      </p:sp>
      <p:sp>
        <p:nvSpPr>
          <p:cNvPr id="4" name="Textplatzhalter 3"/>
          <p:cNvSpPr>
            <a:spLocks noGrp="1"/>
          </p:cNvSpPr>
          <p:nvPr>
            <p:ph type="body" sz="quarter" idx="13"/>
          </p:nvPr>
        </p:nvSpPr>
        <p:spPr/>
        <p:txBody>
          <a:bodyPr/>
          <a:lstStyle/>
          <a:p>
            <a:r>
              <a:rPr lang="en-US" dirty="0"/>
              <a:t>No Prerequisites needed</a:t>
            </a:r>
          </a:p>
          <a:p>
            <a:endParaRPr lang="en-US" dirty="0"/>
          </a:p>
        </p:txBody>
      </p:sp>
      <p:sp>
        <p:nvSpPr>
          <p:cNvPr id="5" name="Textplatzhalter 21"/>
          <p:cNvSpPr>
            <a:spLocks noGrp="1"/>
          </p:cNvSpPr>
          <p:nvPr>
            <p:ph type="body" sz="quarter" idx="16" hasCustomPrompt="1"/>
          </p:nvPr>
        </p:nvSpPr>
        <p:spPr>
          <a:xfrm>
            <a:off x="2327108" y="4520696"/>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Global Bike</a:t>
            </a:r>
          </a:p>
        </p:txBody>
      </p:sp>
      <p:sp>
        <p:nvSpPr>
          <p:cNvPr id="6" name="Textplatzhalter 5"/>
          <p:cNvSpPr>
            <a:spLocks noGrp="1"/>
          </p:cNvSpPr>
          <p:nvPr>
            <p:ph type="body" sz="quarter" idx="15"/>
          </p:nvPr>
        </p:nvSpPr>
        <p:spPr/>
        <p:txBody>
          <a:bodyPr/>
          <a:lstStyle/>
          <a:p>
            <a:r>
              <a:rPr lang="en-US" dirty="0" smtClean="0"/>
              <a:t>4.3 </a:t>
            </a:r>
            <a:r>
              <a:rPr lang="en-US" dirty="0" smtClean="0"/>
              <a:t>(July </a:t>
            </a:r>
            <a:r>
              <a:rPr lang="en-US" dirty="0" smtClean="0"/>
              <a:t>2025)</a:t>
            </a:r>
            <a:endParaRPr lang="en-US" dirty="0"/>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0000" y="3240000"/>
            <a:ext cx="4858331" cy="1800000"/>
          </a:xfrm>
          <a:prstGeom prst="rect">
            <a:avLst/>
          </a:prstGeom>
        </p:spPr>
      </p:pic>
    </p:spTree>
    <p:extLst>
      <p:ext uri="{BB962C8B-B14F-4D97-AF65-F5344CB8AC3E}">
        <p14:creationId xmlns:p14="http://schemas.microsoft.com/office/powerpoint/2010/main" val="1679816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de-DE" dirty="0"/>
              <a:t>Bret Wagner</a:t>
            </a:r>
          </a:p>
          <a:p>
            <a:r>
              <a:rPr lang="de-DE" dirty="0"/>
              <a:t>Stefan Weidner</a:t>
            </a:r>
          </a:p>
          <a:p>
            <a:r>
              <a:rPr lang="de-DE" dirty="0"/>
              <a:t>Michael Boldau</a:t>
            </a:r>
          </a:p>
          <a:p>
            <a:r>
              <a:rPr lang="de-DE" dirty="0"/>
              <a:t>Babett Ruß</a:t>
            </a:r>
          </a:p>
          <a:p>
            <a:endParaRPr lang="de-DE" dirty="0"/>
          </a:p>
        </p:txBody>
      </p:sp>
      <p:sp>
        <p:nvSpPr>
          <p:cNvPr id="3" name="Textplatzhalter 2"/>
          <p:cNvSpPr>
            <a:spLocks noGrp="1"/>
          </p:cNvSpPr>
          <p:nvPr>
            <p:ph type="body" sz="quarter" idx="16"/>
          </p:nvPr>
        </p:nvSpPr>
        <p:spPr/>
        <p:txBody>
          <a:bodyPr/>
          <a:lstStyle/>
          <a:p>
            <a:r>
              <a:rPr lang="de-DE" dirty="0"/>
              <a:t>Beginner</a:t>
            </a:r>
          </a:p>
        </p:txBody>
      </p:sp>
    </p:spTree>
    <p:extLst>
      <p:ext uri="{BB962C8B-B14F-4D97-AF65-F5344CB8AC3E}">
        <p14:creationId xmlns:p14="http://schemas.microsoft.com/office/powerpoint/2010/main" val="188111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pPr marL="72000" indent="0">
              <a:buNone/>
            </a:pPr>
            <a:r>
              <a:rPr lang="en-US" dirty="0"/>
              <a:t>You are able to</a:t>
            </a:r>
          </a:p>
          <a:p>
            <a:r>
              <a:rPr lang="en-US" dirty="0"/>
              <a:t>define the central organizational structures of the CO module.</a:t>
            </a:r>
          </a:p>
          <a:p>
            <a:r>
              <a:rPr lang="en-US" dirty="0"/>
              <a:t>summarize the master data which is most important for the CO module.</a:t>
            </a:r>
          </a:p>
          <a:p>
            <a:r>
              <a:rPr lang="en-US" dirty="0"/>
              <a:t>explain standard controlling processes.</a:t>
            </a:r>
          </a:p>
        </p:txBody>
      </p:sp>
    </p:spTree>
    <p:extLst>
      <p:ext uri="{BB962C8B-B14F-4D97-AF65-F5344CB8AC3E}">
        <p14:creationId xmlns:p14="http://schemas.microsoft.com/office/powerpoint/2010/main" val="176007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latin typeface="Arial" panose="020B0604020202020204" pitchFamily="34" charset="0"/>
              </a:rPr>
              <a:t>Agenda</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pPr>
              <a:tabLst>
                <a:tab pos="1971675" algn="l"/>
              </a:tabLst>
            </a:pPr>
            <a:r>
              <a:rPr lang="en-US" altLang="de-DE" dirty="0">
                <a:latin typeface="Arial" panose="020B0604020202020204" pitchFamily="34" charset="0"/>
              </a:rPr>
              <a:t>CO Organizational Structure</a:t>
            </a:r>
          </a:p>
          <a:p>
            <a:pPr>
              <a:tabLst>
                <a:tab pos="1971675" algn="l"/>
              </a:tabLst>
            </a:pPr>
            <a:endParaRPr lang="en-US" altLang="de-DE" dirty="0">
              <a:solidFill>
                <a:srgbClr val="B2B2B2"/>
              </a:solidFill>
              <a:latin typeface="Arial" panose="020B0604020202020204" pitchFamily="34" charset="0"/>
            </a:endParaRPr>
          </a:p>
          <a:p>
            <a:pPr>
              <a:tabLst>
                <a:tab pos="1971675" algn="l"/>
              </a:tabLst>
            </a:pPr>
            <a:r>
              <a:rPr lang="en-US" altLang="de-DE" dirty="0">
                <a:solidFill>
                  <a:srgbClr val="B2B2B2"/>
                </a:solidFill>
                <a:latin typeface="Arial" panose="020B0604020202020204" pitchFamily="34" charset="0"/>
              </a:rPr>
              <a:t>CO Master Data</a:t>
            </a:r>
          </a:p>
          <a:p>
            <a:pPr>
              <a:tabLst>
                <a:tab pos="1971675" algn="l"/>
              </a:tabLst>
            </a:pPr>
            <a:endParaRPr lang="en-US" altLang="de-DE" dirty="0">
              <a:solidFill>
                <a:srgbClr val="B2B2B2"/>
              </a:solidFill>
              <a:latin typeface="Arial" panose="020B0604020202020204" pitchFamily="34" charset="0"/>
            </a:endParaRPr>
          </a:p>
          <a:p>
            <a:pPr>
              <a:tabLst>
                <a:tab pos="1971675" algn="l"/>
              </a:tabLst>
            </a:pPr>
            <a:r>
              <a:rPr lang="en-US" altLang="de-DE" dirty="0">
                <a:solidFill>
                  <a:srgbClr val="B2B2B2"/>
                </a:solidFill>
                <a:latin typeface="Arial" panose="020B0604020202020204" pitchFamily="34" charset="0"/>
              </a:rPr>
              <a:t>CO </a:t>
            </a:r>
            <a:r>
              <a:rPr lang="en-US" altLang="de-DE" dirty="0" smtClean="0">
                <a:solidFill>
                  <a:srgbClr val="B2B2B2"/>
                </a:solidFill>
                <a:latin typeface="Arial" panose="020B0604020202020204" pitchFamily="34" charset="0"/>
              </a:rPr>
              <a:t>Processes</a:t>
            </a:r>
            <a:endParaRPr lang="en-US" altLang="de-DE" dirty="0">
              <a:solidFill>
                <a:srgbClr val="B2B2B2"/>
              </a:solidFill>
              <a:latin typeface="Arial" panose="020B0604020202020204" pitchFamily="34" charset="0"/>
            </a:endParaRPr>
          </a:p>
        </p:txBody>
      </p:sp>
    </p:spTree>
    <p:extLst>
      <p:ext uri="{BB962C8B-B14F-4D97-AF65-F5344CB8AC3E}">
        <p14:creationId xmlns:p14="http://schemas.microsoft.com/office/powerpoint/2010/main" val="84631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latin typeface="Arial" panose="020B0604020202020204" pitchFamily="34" charset="0"/>
              </a:rPr>
              <a:t>Goal of Controlling (CO)</a:t>
            </a:r>
            <a:endParaRPr lang="de-DE" dirty="0"/>
          </a:p>
        </p:txBody>
      </p:sp>
      <p:sp>
        <p:nvSpPr>
          <p:cNvPr id="3" name="Textplatzhalter 2"/>
          <p:cNvSpPr>
            <a:spLocks noGrp="1"/>
          </p:cNvSpPr>
          <p:nvPr>
            <p:ph type="body" sz="quarter" idx="4294967295"/>
          </p:nvPr>
        </p:nvSpPr>
        <p:spPr>
          <a:xfrm>
            <a:off x="324000" y="1691078"/>
            <a:ext cx="11545200" cy="4392043"/>
          </a:xfrm>
        </p:spPr>
        <p:txBody>
          <a:bodyPr/>
          <a:lstStyle/>
          <a:p>
            <a:r>
              <a:rPr lang="en-US" altLang="de-DE" sz="2000" dirty="0">
                <a:latin typeface="Arial" panose="020B0604020202020204" pitchFamily="34" charset="0"/>
              </a:rPr>
              <a:t>Managerial Accounting – also termed Controlling – is designed to collect transactional data that provides a foundation for preparing internal reports that support decision-making within the enterprise.</a:t>
            </a:r>
          </a:p>
          <a:p>
            <a:endParaRPr lang="en-US" altLang="de-DE" sz="2000" dirty="0">
              <a:latin typeface="Arial" panose="020B0604020202020204" pitchFamily="34" charset="0"/>
            </a:endParaRPr>
          </a:p>
          <a:p>
            <a:r>
              <a:rPr lang="en-US" altLang="de-DE" sz="2000" dirty="0">
                <a:latin typeface="Arial" panose="020B0604020202020204" pitchFamily="34" charset="0"/>
              </a:rPr>
              <a:t>These reports are exclusively for use within the enterprise and include:</a:t>
            </a:r>
          </a:p>
          <a:p>
            <a:pPr lvl="1"/>
            <a:r>
              <a:rPr lang="en-US" altLang="de-DE" sz="1800" dirty="0">
                <a:latin typeface="Arial" panose="020B0604020202020204" pitchFamily="34" charset="0"/>
              </a:rPr>
              <a:t>Cost center performance</a:t>
            </a:r>
          </a:p>
          <a:p>
            <a:pPr lvl="1"/>
            <a:r>
              <a:rPr lang="en-US" altLang="de-DE" sz="1800" dirty="0">
                <a:latin typeface="Arial" panose="020B0604020202020204" pitchFamily="34" charset="0"/>
              </a:rPr>
              <a:t>Profit center performance</a:t>
            </a:r>
          </a:p>
          <a:p>
            <a:pPr lvl="1"/>
            <a:r>
              <a:rPr lang="en-US" altLang="de-DE" sz="1800" dirty="0">
                <a:latin typeface="Arial" panose="020B0604020202020204" pitchFamily="34" charset="0"/>
              </a:rPr>
              <a:t>Budgets analyses</a:t>
            </a:r>
          </a:p>
        </p:txBody>
      </p:sp>
    </p:spTree>
    <p:extLst>
      <p:ext uri="{BB962C8B-B14F-4D97-AF65-F5344CB8AC3E}">
        <p14:creationId xmlns:p14="http://schemas.microsoft.com/office/powerpoint/2010/main" val="3236349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Executives</a:t>
            </a:r>
          </a:p>
          <a:p>
            <a:endParaRPr lang="en-US" altLang="de-DE" dirty="0">
              <a:latin typeface="Arial" panose="020B0604020202020204" pitchFamily="34" charset="0"/>
            </a:endParaRPr>
          </a:p>
          <a:p>
            <a:r>
              <a:rPr lang="en-US" altLang="de-DE" dirty="0">
                <a:latin typeface="Arial" panose="020B0604020202020204" pitchFamily="34" charset="0"/>
              </a:rPr>
              <a:t>Senior Management</a:t>
            </a:r>
          </a:p>
          <a:p>
            <a:endParaRPr lang="en-US" altLang="de-DE" dirty="0">
              <a:latin typeface="Arial" panose="020B0604020202020204" pitchFamily="34" charset="0"/>
            </a:endParaRPr>
          </a:p>
          <a:p>
            <a:r>
              <a:rPr lang="en-US" altLang="de-DE" dirty="0">
                <a:latin typeface="Arial" panose="020B0604020202020204" pitchFamily="34" charset="0"/>
              </a:rPr>
              <a:t>Department Managers</a:t>
            </a:r>
          </a:p>
          <a:p>
            <a:endParaRPr lang="en-US" altLang="de-DE" dirty="0">
              <a:latin typeface="Arial" panose="020B0604020202020204" pitchFamily="34" charset="0"/>
            </a:endParaRPr>
          </a:p>
          <a:p>
            <a:r>
              <a:rPr lang="en-US" altLang="de-DE" dirty="0">
                <a:latin typeface="Arial" panose="020B0604020202020204" pitchFamily="34" charset="0"/>
              </a:rPr>
              <a:t>Controllers</a:t>
            </a:r>
          </a:p>
          <a:p>
            <a:endParaRPr lang="en-US" altLang="de-DE" dirty="0">
              <a:latin typeface="Arial" panose="020B0604020202020204" pitchFamily="34" charset="0"/>
            </a:endParaRPr>
          </a:p>
          <a:p>
            <a:r>
              <a:rPr lang="en-US" altLang="de-DE" dirty="0">
                <a:latin typeface="Arial" panose="020B0604020202020204" pitchFamily="34" charset="0"/>
              </a:rPr>
              <a:t>Cost Accountants</a:t>
            </a:r>
          </a:p>
        </p:txBody>
      </p:sp>
      <p:sp>
        <p:nvSpPr>
          <p:cNvPr id="3" name="Titel 2"/>
          <p:cNvSpPr>
            <a:spLocks noGrp="1"/>
          </p:cNvSpPr>
          <p:nvPr>
            <p:ph type="title"/>
          </p:nvPr>
        </p:nvSpPr>
        <p:spPr/>
        <p:txBody>
          <a:bodyPr/>
          <a:lstStyle/>
          <a:p>
            <a:r>
              <a:rPr lang="en-US" altLang="de-DE" dirty="0">
                <a:latin typeface="Arial" panose="020B0604020202020204" pitchFamily="34" charset="0"/>
              </a:rPr>
              <a:t>Target Audience</a:t>
            </a:r>
            <a:endParaRPr lang="de-DE" dirty="0"/>
          </a:p>
        </p:txBody>
      </p:sp>
    </p:spTree>
    <p:extLst>
      <p:ext uri="{BB962C8B-B14F-4D97-AF65-F5344CB8AC3E}">
        <p14:creationId xmlns:p14="http://schemas.microsoft.com/office/powerpoint/2010/main" val="2738743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Represents the legal and/or organizational views of an enterprise</a:t>
            </a:r>
          </a:p>
          <a:p>
            <a:endParaRPr lang="en-US" altLang="de-DE" dirty="0">
              <a:latin typeface="Arial" panose="020B0604020202020204" pitchFamily="34" charset="0"/>
            </a:endParaRPr>
          </a:p>
          <a:p>
            <a:r>
              <a:rPr lang="en-US" altLang="de-DE" dirty="0">
                <a:latin typeface="Arial" panose="020B0604020202020204" pitchFamily="34" charset="0"/>
              </a:rPr>
              <a:t>Forms a framework that supports the activities of a business in the manner desired by management</a:t>
            </a:r>
          </a:p>
          <a:p>
            <a:endParaRPr lang="en-US" altLang="de-DE" dirty="0">
              <a:latin typeface="Arial" panose="020B0604020202020204" pitchFamily="34" charset="0"/>
            </a:endParaRPr>
          </a:p>
          <a:p>
            <a:r>
              <a:rPr lang="en-US" altLang="de-DE" dirty="0">
                <a:latin typeface="Arial" panose="020B0604020202020204" pitchFamily="34" charset="0"/>
              </a:rPr>
              <a:t>Permits the accurate and organized collection of business information</a:t>
            </a:r>
          </a:p>
          <a:p>
            <a:endParaRPr lang="en-US" altLang="de-DE" dirty="0">
              <a:latin typeface="Arial" panose="020B0604020202020204" pitchFamily="34" charset="0"/>
            </a:endParaRPr>
          </a:p>
          <a:p>
            <a:r>
              <a:rPr lang="en-US" altLang="de-DE" dirty="0">
                <a:latin typeface="Arial" panose="020B0604020202020204" pitchFamily="34" charset="0"/>
              </a:rPr>
              <a:t>Supports the development and presentation of relevant information in order to enable and support business decisions</a:t>
            </a:r>
          </a:p>
        </p:txBody>
      </p:sp>
      <p:sp>
        <p:nvSpPr>
          <p:cNvPr id="3" name="Titel 2"/>
          <p:cNvSpPr>
            <a:spLocks noGrp="1"/>
          </p:cNvSpPr>
          <p:nvPr>
            <p:ph type="title"/>
          </p:nvPr>
        </p:nvSpPr>
        <p:spPr/>
        <p:txBody>
          <a:bodyPr/>
          <a:lstStyle/>
          <a:p>
            <a:r>
              <a:rPr lang="en-US" altLang="de-DE" dirty="0">
                <a:latin typeface="Arial" panose="020B0604020202020204" pitchFamily="34" charset="0"/>
              </a:rPr>
              <a:t>CO Organizational Structure</a:t>
            </a:r>
            <a:endParaRPr lang="de-DE" dirty="0"/>
          </a:p>
        </p:txBody>
      </p:sp>
    </p:spTree>
    <p:extLst>
      <p:ext uri="{BB962C8B-B14F-4D97-AF65-F5344CB8AC3E}">
        <p14:creationId xmlns:p14="http://schemas.microsoft.com/office/powerpoint/2010/main" val="3038996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Client</a:t>
            </a:r>
          </a:p>
          <a:p>
            <a:pPr lvl="1"/>
            <a:r>
              <a:rPr lang="en-US" altLang="de-DE" dirty="0">
                <a:latin typeface="Arial" panose="020B0604020202020204" pitchFamily="34" charset="0"/>
              </a:rPr>
              <a:t>Largest </a:t>
            </a:r>
            <a:r>
              <a:rPr lang="en-US" altLang="de-DE" dirty="0" smtClean="0">
                <a:latin typeface="Arial" panose="020B0604020202020204" pitchFamily="34" charset="0"/>
              </a:rPr>
              <a:t>organizational </a:t>
            </a:r>
            <a:r>
              <a:rPr lang="en-US" altLang="de-DE" dirty="0">
                <a:latin typeface="Arial" panose="020B0604020202020204" pitchFamily="34" charset="0"/>
              </a:rPr>
              <a:t>unit in an SAP system from a business </a:t>
            </a:r>
            <a:r>
              <a:rPr lang="en-US" altLang="de-DE" dirty="0" smtClean="0">
                <a:latin typeface="Arial" panose="020B0604020202020204" pitchFamily="34" charset="0"/>
              </a:rPr>
              <a:t>perspective</a:t>
            </a:r>
          </a:p>
          <a:p>
            <a:pPr lvl="1"/>
            <a:endParaRPr lang="en-US" altLang="de-DE" dirty="0">
              <a:latin typeface="Arial" panose="020B0604020202020204" pitchFamily="34" charset="0"/>
            </a:endParaRPr>
          </a:p>
          <a:p>
            <a:r>
              <a:rPr lang="en-US" altLang="de-DE" dirty="0">
                <a:latin typeface="Arial" panose="020B0604020202020204" pitchFamily="34" charset="0"/>
              </a:rPr>
              <a:t>Company Code</a:t>
            </a:r>
          </a:p>
          <a:p>
            <a:pPr lvl="1"/>
            <a:r>
              <a:rPr lang="en-US" altLang="de-DE" dirty="0">
                <a:latin typeface="Arial" panose="020B0604020202020204" pitchFamily="34" charset="0"/>
              </a:rPr>
              <a:t>Represents an independent legal accounting unit</a:t>
            </a:r>
          </a:p>
          <a:p>
            <a:pPr lvl="1"/>
            <a:r>
              <a:rPr lang="en-US" altLang="de-DE" dirty="0">
                <a:latin typeface="Arial" panose="020B0604020202020204" pitchFamily="34" charset="0"/>
              </a:rPr>
              <a:t>Balanced set of books, as required by law, are prepared at this level.</a:t>
            </a:r>
          </a:p>
          <a:p>
            <a:pPr lvl="1"/>
            <a:r>
              <a:rPr lang="en-US" altLang="de-DE" dirty="0">
                <a:latin typeface="Arial" panose="020B0604020202020204" pitchFamily="34" charset="0"/>
              </a:rPr>
              <a:t>A client may have more than one company code</a:t>
            </a:r>
          </a:p>
          <a:p>
            <a:pPr lvl="2"/>
            <a:r>
              <a:rPr lang="en-US" altLang="de-DE" dirty="0">
                <a:latin typeface="Arial" panose="020B0604020202020204" pitchFamily="34" charset="0"/>
              </a:rPr>
              <a:t>United States</a:t>
            </a:r>
          </a:p>
          <a:p>
            <a:pPr lvl="2"/>
            <a:r>
              <a:rPr lang="en-US" altLang="de-DE" dirty="0">
                <a:latin typeface="Arial" panose="020B0604020202020204" pitchFamily="34" charset="0"/>
              </a:rPr>
              <a:t>Germany</a:t>
            </a:r>
          </a:p>
          <a:p>
            <a:pPr lvl="2"/>
            <a:r>
              <a:rPr lang="en-US" altLang="de-DE" dirty="0">
                <a:latin typeface="Arial" panose="020B0604020202020204" pitchFamily="34" charset="0"/>
              </a:rPr>
              <a:t>United Kingdom</a:t>
            </a:r>
          </a:p>
          <a:p>
            <a:pPr lvl="2"/>
            <a:r>
              <a:rPr lang="en-US" altLang="de-DE" dirty="0">
                <a:latin typeface="Arial" panose="020B0604020202020204" pitchFamily="34" charset="0"/>
              </a:rPr>
              <a:t>Australia</a:t>
            </a:r>
          </a:p>
          <a:p>
            <a:pPr lvl="2"/>
            <a:r>
              <a:rPr lang="en-US" altLang="de-DE" dirty="0">
                <a:latin typeface="Arial" panose="020B0604020202020204" pitchFamily="34" charset="0"/>
              </a:rPr>
              <a:t>…</a:t>
            </a:r>
          </a:p>
        </p:txBody>
      </p:sp>
      <p:sp>
        <p:nvSpPr>
          <p:cNvPr id="3" name="Titel 2"/>
          <p:cNvSpPr>
            <a:spLocks noGrp="1"/>
          </p:cNvSpPr>
          <p:nvPr>
            <p:ph type="title"/>
          </p:nvPr>
        </p:nvSpPr>
        <p:spPr/>
        <p:txBody>
          <a:bodyPr/>
          <a:lstStyle/>
          <a:p>
            <a:r>
              <a:rPr lang="en-US" altLang="de-DE" dirty="0">
                <a:latin typeface="Arial" panose="020B0604020202020204" pitchFamily="34" charset="0"/>
              </a:rPr>
              <a:t>CO Organizational Structure</a:t>
            </a:r>
            <a:endParaRPr lang="de-DE" dirty="0"/>
          </a:p>
        </p:txBody>
      </p:sp>
      <p:grpSp>
        <p:nvGrpSpPr>
          <p:cNvPr id="4" name="Group 4"/>
          <p:cNvGrpSpPr>
            <a:grpSpLocks/>
          </p:cNvGrpSpPr>
          <p:nvPr/>
        </p:nvGrpSpPr>
        <p:grpSpPr bwMode="auto">
          <a:xfrm>
            <a:off x="7819273" y="3283869"/>
            <a:ext cx="3060700" cy="2376487"/>
            <a:chOff x="2928" y="1469"/>
            <a:chExt cx="2640" cy="1766"/>
          </a:xfrm>
        </p:grpSpPr>
        <p:graphicFrame>
          <p:nvGraphicFramePr>
            <p:cNvPr id="5" name="Object 5"/>
            <p:cNvGraphicFramePr>
              <a:graphicFrameLocks noChangeAspect="1"/>
            </p:cNvGraphicFramePr>
            <p:nvPr/>
          </p:nvGraphicFramePr>
          <p:xfrm>
            <a:off x="2928" y="1469"/>
            <a:ext cx="2400" cy="1766"/>
          </p:xfrm>
          <a:graphic>
            <a:graphicData uri="http://schemas.openxmlformats.org/presentationml/2006/ole">
              <mc:AlternateContent xmlns:mc="http://schemas.openxmlformats.org/markup-compatibility/2006">
                <mc:Choice xmlns:v="urn:schemas-microsoft-com:vml" Requires="v">
                  <p:oleObj spid="_x0000_s1121" name="Clip" r:id="rId3" imgW="4762440" imgH="3504600" progId="MS_ClipArt_Gallery.2">
                    <p:embed/>
                  </p:oleObj>
                </mc:Choice>
                <mc:Fallback>
                  <p:oleObj name="Clip" r:id="rId3" imgW="4762440" imgH="350460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2928" y="1469"/>
                          <a:ext cx="2400" cy="1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6"/>
            <p:cNvSpPr txBox="1">
              <a:spLocks noChangeArrowheads="1"/>
            </p:cNvSpPr>
            <p:nvPr/>
          </p:nvSpPr>
          <p:spPr bwMode="auto">
            <a:xfrm>
              <a:off x="4181" y="2207"/>
              <a:ext cx="13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i="1" dirty="0">
                  <a:solidFill>
                    <a:srgbClr val="000066"/>
                  </a:solidFill>
                </a:rPr>
                <a:t>Liabilities &amp;</a:t>
              </a:r>
            </a:p>
            <a:p>
              <a:pPr algn="ctr">
                <a:spcBef>
                  <a:spcPct val="0"/>
                </a:spcBef>
                <a:buClrTx/>
                <a:buFontTx/>
                <a:buNone/>
              </a:pPr>
              <a:r>
                <a:rPr lang="en-US" altLang="de-DE" sz="1600" i="1" dirty="0">
                  <a:solidFill>
                    <a:srgbClr val="000066"/>
                  </a:solidFill>
                </a:rPr>
                <a:t>Owners Equity</a:t>
              </a:r>
              <a:endParaRPr lang="en-US" altLang="de-DE" sz="1600" i="1" dirty="0">
                <a:latin typeface="Times New Roman" panose="02020603050405020304" pitchFamily="18" charset="0"/>
              </a:endParaRPr>
            </a:p>
          </p:txBody>
        </p:sp>
        <p:sp>
          <p:nvSpPr>
            <p:cNvPr id="7" name="Text Box 7"/>
            <p:cNvSpPr txBox="1">
              <a:spLocks noChangeArrowheads="1"/>
            </p:cNvSpPr>
            <p:nvPr/>
          </p:nvSpPr>
          <p:spPr bwMode="auto">
            <a:xfrm>
              <a:off x="3022" y="2304"/>
              <a:ext cx="7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i="1" dirty="0">
                  <a:solidFill>
                    <a:srgbClr val="000066"/>
                  </a:solidFill>
                </a:rPr>
                <a:t>Assets</a:t>
              </a:r>
              <a:endParaRPr lang="en-US" altLang="de-DE" sz="1600" i="1" dirty="0">
                <a:latin typeface="Times New Roman" panose="02020603050405020304" pitchFamily="18" charset="0"/>
              </a:endParaRPr>
            </a:p>
          </p:txBody>
        </p:sp>
      </p:grpSp>
    </p:spTree>
    <p:extLst>
      <p:ext uri="{BB962C8B-B14F-4D97-AF65-F5344CB8AC3E}">
        <p14:creationId xmlns:p14="http://schemas.microsoft.com/office/powerpoint/2010/main" val="1638057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lnSpc>
                <a:spcPct val="90000"/>
              </a:lnSpc>
            </a:pPr>
            <a:r>
              <a:rPr lang="en-US" altLang="de-DE" dirty="0">
                <a:latin typeface="Arial" panose="020B0604020202020204" pitchFamily="34" charset="0"/>
              </a:rPr>
              <a:t>Controlling Area</a:t>
            </a:r>
          </a:p>
          <a:p>
            <a:pPr lvl="1">
              <a:lnSpc>
                <a:spcPct val="90000"/>
              </a:lnSpc>
            </a:pPr>
            <a:r>
              <a:rPr lang="en-US" altLang="de-DE" dirty="0">
                <a:latin typeface="Arial" panose="020B0604020202020204" pitchFamily="34" charset="0"/>
              </a:rPr>
              <a:t>A self-contained, organizational unit for which the management of revenues and expenses can be performed</a:t>
            </a:r>
          </a:p>
          <a:p>
            <a:pPr lvl="1">
              <a:lnSpc>
                <a:spcPct val="90000"/>
              </a:lnSpc>
            </a:pPr>
            <a:r>
              <a:rPr lang="en-US" altLang="de-DE" dirty="0">
                <a:latin typeface="Arial" panose="020B0604020202020204" pitchFamily="34" charset="0"/>
              </a:rPr>
              <a:t>May include one or more company codes; therefore, an enterprise can perform management accounting analyses and reports across several companies</a:t>
            </a:r>
          </a:p>
          <a:p>
            <a:pPr lvl="1">
              <a:lnSpc>
                <a:spcPct val="90000"/>
              </a:lnSpc>
            </a:pPr>
            <a:r>
              <a:rPr lang="en-US" altLang="de-DE" dirty="0">
                <a:latin typeface="Arial" panose="020B0604020202020204" pitchFamily="34" charset="0"/>
              </a:rPr>
              <a:t>A way to identify and track where revenues and costs are incurred for evaluation purposes</a:t>
            </a:r>
          </a:p>
          <a:p>
            <a:pPr lvl="1">
              <a:lnSpc>
                <a:spcPct val="90000"/>
              </a:lnSpc>
            </a:pPr>
            <a:endParaRPr lang="en-US" altLang="de-DE" dirty="0">
              <a:latin typeface="Arial" panose="020B0604020202020204" pitchFamily="34" charset="0"/>
            </a:endParaRPr>
          </a:p>
          <a:p>
            <a:pPr>
              <a:lnSpc>
                <a:spcPct val="90000"/>
              </a:lnSpc>
            </a:pPr>
            <a:r>
              <a:rPr lang="en-US" altLang="de-DE" dirty="0">
                <a:latin typeface="Arial" panose="020B0604020202020204" pitchFamily="34" charset="0"/>
              </a:rPr>
              <a:t>Operating Concern</a:t>
            </a:r>
          </a:p>
          <a:p>
            <a:pPr lvl="1">
              <a:lnSpc>
                <a:spcPct val="90000"/>
              </a:lnSpc>
            </a:pPr>
            <a:r>
              <a:rPr lang="en-US" altLang="de-DE" dirty="0">
                <a:latin typeface="Arial" panose="020B0604020202020204" pitchFamily="34" charset="0"/>
              </a:rPr>
              <a:t>Represents a part of an organization for which the sales market is structured in a uniform manner</a:t>
            </a:r>
          </a:p>
          <a:p>
            <a:pPr lvl="1">
              <a:lnSpc>
                <a:spcPct val="90000"/>
              </a:lnSpc>
            </a:pPr>
            <a:r>
              <a:rPr lang="en-US" altLang="de-DE" dirty="0">
                <a:latin typeface="Arial" panose="020B0604020202020204" pitchFamily="34" charset="0"/>
              </a:rPr>
              <a:t>A operating profit for the individual market segments can be calculated.</a:t>
            </a:r>
          </a:p>
          <a:p>
            <a:pPr lvl="1">
              <a:lnSpc>
                <a:spcPct val="90000"/>
              </a:lnSpc>
            </a:pPr>
            <a:r>
              <a:rPr lang="en-US" altLang="de-DE" dirty="0">
                <a:latin typeface="Arial" panose="020B0604020202020204" pitchFamily="34" charset="0"/>
              </a:rPr>
              <a:t>Multiple controlling areas can be assigned to one operating concern.</a:t>
            </a:r>
          </a:p>
        </p:txBody>
      </p:sp>
      <p:sp>
        <p:nvSpPr>
          <p:cNvPr id="3" name="Titel 2"/>
          <p:cNvSpPr>
            <a:spLocks noGrp="1"/>
          </p:cNvSpPr>
          <p:nvPr>
            <p:ph type="title"/>
          </p:nvPr>
        </p:nvSpPr>
        <p:spPr/>
        <p:txBody>
          <a:bodyPr/>
          <a:lstStyle/>
          <a:p>
            <a:r>
              <a:rPr lang="en-US" altLang="de-DE" dirty="0">
                <a:latin typeface="Arial" panose="020B0604020202020204" pitchFamily="34" charset="0"/>
              </a:rPr>
              <a:t>CO Organizational Structure</a:t>
            </a:r>
            <a:endParaRPr lang="de-DE" dirty="0"/>
          </a:p>
        </p:txBody>
      </p:sp>
    </p:spTree>
    <p:extLst>
      <p:ext uri="{BB962C8B-B14F-4D97-AF65-F5344CB8AC3E}">
        <p14:creationId xmlns:p14="http://schemas.microsoft.com/office/powerpoint/2010/main" val="3676092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latin typeface="Arial" panose="020B0604020202020204" pitchFamily="34" charset="0"/>
              </a:rPr>
              <a:t>Global Bike Structure for Controlling</a:t>
            </a:r>
            <a:endParaRPr lang="de-DE" dirty="0"/>
          </a:p>
        </p:txBody>
      </p:sp>
      <p:grpSp>
        <p:nvGrpSpPr>
          <p:cNvPr id="21" name="Gruppieren 20"/>
          <p:cNvGrpSpPr/>
          <p:nvPr/>
        </p:nvGrpSpPr>
        <p:grpSpPr>
          <a:xfrm>
            <a:off x="2369150" y="2398819"/>
            <a:ext cx="7454900" cy="2976562"/>
            <a:chOff x="1042988" y="1557338"/>
            <a:chExt cx="7454900" cy="2976562"/>
          </a:xfrm>
        </p:grpSpPr>
        <p:sp>
          <p:nvSpPr>
            <p:cNvPr id="4" name="Rectangle 5"/>
            <p:cNvSpPr>
              <a:spLocks noChangeArrowheads="1"/>
            </p:cNvSpPr>
            <p:nvPr/>
          </p:nvSpPr>
          <p:spPr bwMode="white">
            <a:xfrm>
              <a:off x="3114675" y="1557338"/>
              <a:ext cx="1312863"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Global Bike</a:t>
              </a:r>
              <a:endParaRPr lang="de-DE" altLang="de-DE" sz="1600" dirty="0">
                <a:solidFill>
                  <a:schemeClr val="bg1"/>
                </a:solidFill>
                <a:ea typeface="Arial Unicode MS" panose="020B0604020202020204" pitchFamily="34" charset="-128"/>
                <a:cs typeface="Arial Unicode MS" panose="020B0604020202020204" pitchFamily="34" charset="-128"/>
              </a:endParaRPr>
            </a:p>
          </p:txBody>
        </p:sp>
        <p:sp>
          <p:nvSpPr>
            <p:cNvPr id="5" name="Line 10"/>
            <p:cNvSpPr>
              <a:spLocks noChangeShapeType="1"/>
            </p:cNvSpPr>
            <p:nvPr/>
          </p:nvSpPr>
          <p:spPr bwMode="white">
            <a:xfrm>
              <a:off x="1835150" y="2997200"/>
              <a:ext cx="3816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6" name="Line 8"/>
            <p:cNvSpPr>
              <a:spLocks noChangeShapeType="1"/>
            </p:cNvSpPr>
            <p:nvPr/>
          </p:nvSpPr>
          <p:spPr bwMode="white">
            <a:xfrm>
              <a:off x="1835150" y="2997200"/>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7" name="Line 8"/>
            <p:cNvSpPr>
              <a:spLocks noChangeShapeType="1"/>
            </p:cNvSpPr>
            <p:nvPr/>
          </p:nvSpPr>
          <p:spPr bwMode="white">
            <a:xfrm>
              <a:off x="5651500" y="2997200"/>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8" name="Rectangle 5"/>
            <p:cNvSpPr>
              <a:spLocks noChangeArrowheads="1"/>
            </p:cNvSpPr>
            <p:nvPr/>
          </p:nvSpPr>
          <p:spPr bwMode="white">
            <a:xfrm>
              <a:off x="7918450" y="1557338"/>
              <a:ext cx="568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Client</a:t>
              </a:r>
              <a:endParaRPr lang="de-DE" altLang="de-DE" sz="1200" b="0" dirty="0">
                <a:ea typeface="Arial Unicode MS" panose="020B0604020202020204" pitchFamily="34" charset="-128"/>
                <a:cs typeface="Arial Unicode MS" panose="020B0604020202020204" pitchFamily="34" charset="-128"/>
              </a:endParaRPr>
            </a:p>
          </p:txBody>
        </p:sp>
        <p:sp>
          <p:nvSpPr>
            <p:cNvPr id="9" name="Rectangle 5"/>
            <p:cNvSpPr>
              <a:spLocks noChangeArrowheads="1"/>
            </p:cNvSpPr>
            <p:nvPr/>
          </p:nvSpPr>
          <p:spPr bwMode="white">
            <a:xfrm>
              <a:off x="7629525" y="4076700"/>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Company</a:t>
              </a:r>
            </a:p>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Code</a:t>
              </a:r>
              <a:endParaRPr lang="de-DE" altLang="de-DE" sz="1200" b="0" dirty="0">
                <a:ea typeface="Arial Unicode MS" panose="020B0604020202020204" pitchFamily="34" charset="-128"/>
                <a:cs typeface="Arial Unicode MS" panose="020B0604020202020204" pitchFamily="34" charset="-128"/>
              </a:endParaRPr>
            </a:p>
          </p:txBody>
        </p:sp>
        <p:sp>
          <p:nvSpPr>
            <p:cNvPr id="10" name="Line 8"/>
            <p:cNvSpPr>
              <a:spLocks noChangeShapeType="1"/>
            </p:cNvSpPr>
            <p:nvPr/>
          </p:nvSpPr>
          <p:spPr bwMode="white">
            <a:xfrm>
              <a:off x="3779838" y="1916113"/>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11" name="Rectangle 5"/>
            <p:cNvSpPr>
              <a:spLocks noChangeArrowheads="1"/>
            </p:cNvSpPr>
            <p:nvPr/>
          </p:nvSpPr>
          <p:spPr bwMode="white">
            <a:xfrm>
              <a:off x="1042988" y="2276475"/>
              <a:ext cx="6049962" cy="349250"/>
            </a:xfrm>
            <a:prstGeom prst="rect">
              <a:avLst/>
            </a:prstGeom>
            <a:solidFill>
              <a:schemeClr val="tx2"/>
            </a:solidFill>
            <a:ln w="12700" algn="ctr">
              <a:solidFill>
                <a:schemeClr val="tx1"/>
              </a:solidFill>
              <a:miter lim="800000"/>
              <a:headEnd/>
              <a:tailEnd/>
            </a:ln>
          </p:spPr>
          <p:txBody>
            <a:bodyPr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Global Concern</a:t>
              </a:r>
            </a:p>
          </p:txBody>
        </p:sp>
        <p:sp>
          <p:nvSpPr>
            <p:cNvPr id="12" name="Rectangle 5"/>
            <p:cNvSpPr>
              <a:spLocks noChangeArrowheads="1"/>
            </p:cNvSpPr>
            <p:nvPr/>
          </p:nvSpPr>
          <p:spPr bwMode="white">
            <a:xfrm>
              <a:off x="7650163" y="2205038"/>
              <a:ext cx="84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Operating</a:t>
              </a:r>
            </a:p>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Concern</a:t>
              </a:r>
              <a:endParaRPr lang="de-DE" altLang="de-DE" sz="1200" b="0" dirty="0">
                <a:ea typeface="Arial Unicode MS" panose="020B0604020202020204" pitchFamily="34" charset="-128"/>
                <a:cs typeface="Arial Unicode MS" panose="020B0604020202020204" pitchFamily="34" charset="-128"/>
              </a:endParaRPr>
            </a:p>
          </p:txBody>
        </p:sp>
        <p:sp>
          <p:nvSpPr>
            <p:cNvPr id="13" name="Rectangle 5"/>
            <p:cNvSpPr>
              <a:spLocks noChangeArrowheads="1"/>
            </p:cNvSpPr>
            <p:nvPr/>
          </p:nvSpPr>
          <p:spPr bwMode="white">
            <a:xfrm>
              <a:off x="1042988" y="4149725"/>
              <a:ext cx="1720850"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Global Bike Inc.</a:t>
              </a:r>
              <a:endParaRPr lang="de-DE" altLang="de-DE" sz="1600" dirty="0">
                <a:solidFill>
                  <a:schemeClr val="bg1"/>
                </a:solidFill>
                <a:ea typeface="Arial Unicode MS" panose="020B0604020202020204" pitchFamily="34" charset="-128"/>
                <a:cs typeface="Arial Unicode MS" panose="020B0604020202020204" pitchFamily="34" charset="-128"/>
              </a:endParaRPr>
            </a:p>
          </p:txBody>
        </p:sp>
        <p:sp>
          <p:nvSpPr>
            <p:cNvPr id="14" name="Rectangle 5"/>
            <p:cNvSpPr>
              <a:spLocks noChangeArrowheads="1"/>
            </p:cNvSpPr>
            <p:nvPr/>
          </p:nvSpPr>
          <p:spPr bwMode="white">
            <a:xfrm>
              <a:off x="4140200" y="4149725"/>
              <a:ext cx="2917825"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Global Bike Germany GmbH</a:t>
              </a:r>
              <a:endParaRPr lang="de-DE" altLang="de-DE" sz="1600" dirty="0">
                <a:solidFill>
                  <a:schemeClr val="bg1"/>
                </a:solidFill>
                <a:ea typeface="Arial Unicode MS" panose="020B0604020202020204" pitchFamily="34" charset="-128"/>
                <a:cs typeface="Arial Unicode MS" panose="020B0604020202020204" pitchFamily="34" charset="-128"/>
              </a:endParaRPr>
            </a:p>
          </p:txBody>
        </p:sp>
        <p:sp>
          <p:nvSpPr>
            <p:cNvPr id="15" name="Line 8"/>
            <p:cNvSpPr>
              <a:spLocks noChangeShapeType="1"/>
            </p:cNvSpPr>
            <p:nvPr/>
          </p:nvSpPr>
          <p:spPr bwMode="white">
            <a:xfrm>
              <a:off x="1835150" y="3860800"/>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16" name="Line 8"/>
            <p:cNvSpPr>
              <a:spLocks noChangeShapeType="1"/>
            </p:cNvSpPr>
            <p:nvPr/>
          </p:nvSpPr>
          <p:spPr bwMode="white">
            <a:xfrm>
              <a:off x="5651500" y="3860800"/>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17" name="Line 8"/>
            <p:cNvSpPr>
              <a:spLocks noChangeShapeType="1"/>
            </p:cNvSpPr>
            <p:nvPr/>
          </p:nvSpPr>
          <p:spPr bwMode="white">
            <a:xfrm>
              <a:off x="3779838" y="2636838"/>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dirty="0"/>
            </a:p>
          </p:txBody>
        </p:sp>
        <p:sp>
          <p:nvSpPr>
            <p:cNvPr id="18" name="Rectangle 5"/>
            <p:cNvSpPr>
              <a:spLocks noChangeArrowheads="1"/>
            </p:cNvSpPr>
            <p:nvPr/>
          </p:nvSpPr>
          <p:spPr bwMode="white">
            <a:xfrm>
              <a:off x="1109663" y="3286125"/>
              <a:ext cx="1593850" cy="59372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Controlling </a:t>
              </a:r>
            </a:p>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North America</a:t>
              </a:r>
              <a:endParaRPr lang="de-DE" altLang="de-DE" sz="1600" dirty="0">
                <a:solidFill>
                  <a:schemeClr val="bg1"/>
                </a:solidFill>
                <a:ea typeface="Arial Unicode MS" panose="020B0604020202020204" pitchFamily="34" charset="-128"/>
                <a:cs typeface="Arial Unicode MS" panose="020B0604020202020204" pitchFamily="34" charset="-128"/>
              </a:endParaRPr>
            </a:p>
          </p:txBody>
        </p:sp>
        <p:sp>
          <p:nvSpPr>
            <p:cNvPr id="19" name="Rectangle 5"/>
            <p:cNvSpPr>
              <a:spLocks noChangeArrowheads="1"/>
            </p:cNvSpPr>
            <p:nvPr/>
          </p:nvSpPr>
          <p:spPr bwMode="white">
            <a:xfrm>
              <a:off x="4933950" y="3286125"/>
              <a:ext cx="1335088" cy="59372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Controlling </a:t>
              </a:r>
            </a:p>
            <a:p>
              <a:pPr algn="ctr" eaLnBrk="1" hangingPunct="1">
                <a:spcBef>
                  <a:spcPct val="0"/>
                </a:spcBef>
                <a:buClr>
                  <a:schemeClr val="accent1"/>
                </a:buClr>
                <a:buSzPct val="80000"/>
              </a:pPr>
              <a:r>
                <a:rPr lang="en-US" altLang="de-DE" sz="1600" dirty="0">
                  <a:solidFill>
                    <a:schemeClr val="bg1"/>
                  </a:solidFill>
                  <a:ea typeface="Arial Unicode MS" panose="020B0604020202020204" pitchFamily="34" charset="-128"/>
                  <a:cs typeface="Arial Unicode MS" panose="020B0604020202020204" pitchFamily="34" charset="-128"/>
                </a:rPr>
                <a:t>Europe</a:t>
              </a:r>
              <a:endParaRPr lang="de-DE" altLang="de-DE" sz="1600" dirty="0">
                <a:solidFill>
                  <a:schemeClr val="bg1"/>
                </a:solidFill>
                <a:ea typeface="Arial Unicode MS" panose="020B0604020202020204" pitchFamily="34" charset="-128"/>
                <a:cs typeface="Arial Unicode MS" panose="020B0604020202020204" pitchFamily="34" charset="-128"/>
              </a:endParaRPr>
            </a:p>
          </p:txBody>
        </p:sp>
        <p:sp>
          <p:nvSpPr>
            <p:cNvPr id="20" name="Rectangle 5"/>
            <p:cNvSpPr>
              <a:spLocks noChangeArrowheads="1"/>
            </p:cNvSpPr>
            <p:nvPr/>
          </p:nvSpPr>
          <p:spPr bwMode="white">
            <a:xfrm>
              <a:off x="7554913" y="3357563"/>
              <a:ext cx="904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Controlling</a:t>
              </a:r>
            </a:p>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Area</a:t>
              </a:r>
              <a:endParaRPr lang="de-DE" altLang="de-DE" sz="1200" b="0" dirty="0">
                <a:ea typeface="Arial Unicode MS" panose="020B0604020202020204" pitchFamily="34" charset="-128"/>
                <a:cs typeface="Arial Unicode MS" panose="020B0604020202020204" pitchFamily="34" charset="-128"/>
              </a:endParaRPr>
            </a:p>
          </p:txBody>
        </p:sp>
      </p:grpSp>
    </p:spTree>
    <p:extLst>
      <p:ext uri="{BB962C8B-B14F-4D97-AF65-F5344CB8AC3E}">
        <p14:creationId xmlns:p14="http://schemas.microsoft.com/office/powerpoint/2010/main" val="63945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latin typeface="Arial" panose="020B0604020202020204" pitchFamily="34" charset="0"/>
              </a:rPr>
              <a:t>Global Bike Enterprise Structure in SAP ERP (Accounting)</a:t>
            </a:r>
            <a:endParaRPr lang="de-DE" dirty="0"/>
          </a:p>
        </p:txBody>
      </p:sp>
      <p:grpSp>
        <p:nvGrpSpPr>
          <p:cNvPr id="35" name="Gruppieren 34"/>
          <p:cNvGrpSpPr/>
          <p:nvPr/>
        </p:nvGrpSpPr>
        <p:grpSpPr>
          <a:xfrm>
            <a:off x="1638900" y="1410600"/>
            <a:ext cx="8915400" cy="4953000"/>
            <a:chOff x="76200" y="1219200"/>
            <a:chExt cx="8915400" cy="4953000"/>
          </a:xfrm>
        </p:grpSpPr>
        <p:sp>
          <p:nvSpPr>
            <p:cNvPr id="4" name="Rectangle 5"/>
            <p:cNvSpPr>
              <a:spLocks noChangeArrowheads="1"/>
            </p:cNvSpPr>
            <p:nvPr/>
          </p:nvSpPr>
          <p:spPr bwMode="white">
            <a:xfrm>
              <a:off x="7335838" y="5170488"/>
              <a:ext cx="12684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Controlling Area</a:t>
              </a:r>
              <a:endParaRPr lang="de-DE" altLang="de-DE" sz="800" b="0" dirty="0">
                <a:ea typeface="Arial Unicode MS" panose="020B0604020202020204" pitchFamily="34" charset="-128"/>
                <a:cs typeface="Arial Unicode MS" panose="020B0604020202020204" pitchFamily="34" charset="-128"/>
              </a:endParaRPr>
            </a:p>
          </p:txBody>
        </p:sp>
        <p:sp>
          <p:nvSpPr>
            <p:cNvPr id="5" name="AutoShape 6"/>
            <p:cNvSpPr>
              <a:spLocks noChangeArrowheads="1"/>
            </p:cNvSpPr>
            <p:nvPr/>
          </p:nvSpPr>
          <p:spPr bwMode="auto">
            <a:xfrm>
              <a:off x="76200" y="1219200"/>
              <a:ext cx="8915400" cy="4953000"/>
            </a:xfrm>
            <a:prstGeom prst="parallelogram">
              <a:avLst>
                <a:gd name="adj" fmla="val 45000"/>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6" name="Rectangle 7"/>
            <p:cNvSpPr>
              <a:spLocks noChangeArrowheads="1"/>
            </p:cNvSpPr>
            <p:nvPr/>
          </p:nvSpPr>
          <p:spPr bwMode="auto">
            <a:xfrm>
              <a:off x="177799" y="5862638"/>
              <a:ext cx="2060223" cy="293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t>Client Global Bike</a:t>
              </a:r>
            </a:p>
          </p:txBody>
        </p:sp>
        <p:sp>
          <p:nvSpPr>
            <p:cNvPr id="7" name="AutoShape 8"/>
            <p:cNvSpPr>
              <a:spLocks noChangeArrowheads="1"/>
            </p:cNvSpPr>
            <p:nvPr/>
          </p:nvSpPr>
          <p:spPr bwMode="auto">
            <a:xfrm>
              <a:off x="304800" y="1293813"/>
              <a:ext cx="8534400" cy="4568825"/>
            </a:xfrm>
            <a:prstGeom prst="parallelogram">
              <a:avLst>
                <a:gd name="adj" fmla="val 45065"/>
              </a:avLst>
            </a:prstGeom>
            <a:gradFill rotWithShape="0">
              <a:gsLst>
                <a:gs pos="0">
                  <a:srgbClr val="D9395F"/>
                </a:gs>
                <a:gs pos="100000">
                  <a:srgbClr val="641A2C"/>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D9395F"/>
              </a:extrusionClr>
              <a:contourClr>
                <a:srgbClr val="D9395F"/>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solidFill>
                  <a:srgbClr val="F8F8F8"/>
                </a:solidFill>
              </a:endParaRPr>
            </a:p>
          </p:txBody>
        </p:sp>
        <p:sp>
          <p:nvSpPr>
            <p:cNvPr id="8" name="Text Box 9"/>
            <p:cNvSpPr txBox="1">
              <a:spLocks noChangeArrowheads="1"/>
            </p:cNvSpPr>
            <p:nvPr/>
          </p:nvSpPr>
          <p:spPr bwMode="auto">
            <a:xfrm>
              <a:off x="228600" y="5572125"/>
              <a:ext cx="36957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cs typeface="Times New Roman" panose="02020603050405020304" pitchFamily="18" charset="0"/>
                </a:rPr>
                <a:t>  Operating Concern (global) GL00</a:t>
              </a:r>
            </a:p>
          </p:txBody>
        </p:sp>
        <p:sp>
          <p:nvSpPr>
            <p:cNvPr id="9" name="AutoShape 10"/>
            <p:cNvSpPr>
              <a:spLocks noChangeArrowheads="1"/>
            </p:cNvSpPr>
            <p:nvPr/>
          </p:nvSpPr>
          <p:spPr bwMode="auto">
            <a:xfrm>
              <a:off x="2924175" y="1365250"/>
              <a:ext cx="3952875" cy="4121150"/>
            </a:xfrm>
            <a:prstGeom prst="parallelogram">
              <a:avLst>
                <a:gd name="adj" fmla="val 46384"/>
              </a:avLst>
            </a:prstGeom>
            <a:solidFill>
              <a:srgbClr val="FFCC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CC99"/>
              </a:extrusionClr>
              <a:contourClr>
                <a:srgbClr val="FFCC99"/>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solidFill>
                  <a:srgbClr val="F8F8F8"/>
                </a:solidFill>
              </a:endParaRPr>
            </a:p>
          </p:txBody>
        </p:sp>
        <p:sp>
          <p:nvSpPr>
            <p:cNvPr id="10" name="Text Box 11"/>
            <p:cNvSpPr txBox="1">
              <a:spLocks noChangeArrowheads="1"/>
            </p:cNvSpPr>
            <p:nvPr/>
          </p:nvSpPr>
          <p:spPr bwMode="auto">
            <a:xfrm>
              <a:off x="2924175" y="5195888"/>
              <a:ext cx="2376488"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cs typeface="Times New Roman" panose="02020603050405020304" pitchFamily="18" charset="0"/>
                </a:rPr>
                <a:t>CA Europe EU00</a:t>
              </a:r>
            </a:p>
          </p:txBody>
        </p:sp>
        <p:sp>
          <p:nvSpPr>
            <p:cNvPr id="11" name="AutoShape 12"/>
            <p:cNvSpPr>
              <a:spLocks noChangeArrowheads="1"/>
            </p:cNvSpPr>
            <p:nvPr/>
          </p:nvSpPr>
          <p:spPr bwMode="auto">
            <a:xfrm>
              <a:off x="539750" y="1370013"/>
              <a:ext cx="3960813" cy="4121150"/>
            </a:xfrm>
            <a:prstGeom prst="parallelogram">
              <a:avLst>
                <a:gd name="adj" fmla="val 46894"/>
              </a:avLst>
            </a:prstGeom>
            <a:solidFill>
              <a:srgbClr val="FFCC99"/>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CC99"/>
              </a:extrusionClr>
              <a:contourClr>
                <a:srgbClr val="FFCC99"/>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solidFill>
                  <a:srgbClr val="F8F8F8"/>
                </a:solidFill>
              </a:endParaRPr>
            </a:p>
          </p:txBody>
        </p:sp>
        <p:sp>
          <p:nvSpPr>
            <p:cNvPr id="12" name="Text Box 13"/>
            <p:cNvSpPr txBox="1">
              <a:spLocks noChangeArrowheads="1"/>
            </p:cNvSpPr>
            <p:nvPr/>
          </p:nvSpPr>
          <p:spPr bwMode="auto">
            <a:xfrm>
              <a:off x="539750" y="5200650"/>
              <a:ext cx="216058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cs typeface="Times New Roman" panose="02020603050405020304" pitchFamily="18" charset="0"/>
                </a:rPr>
                <a:t>CA North Am. NA00</a:t>
              </a:r>
            </a:p>
          </p:txBody>
        </p:sp>
        <p:sp>
          <p:nvSpPr>
            <p:cNvPr id="13" name="AutoShape 14"/>
            <p:cNvSpPr>
              <a:spLocks noChangeArrowheads="1"/>
            </p:cNvSpPr>
            <p:nvPr/>
          </p:nvSpPr>
          <p:spPr bwMode="auto">
            <a:xfrm>
              <a:off x="5370513" y="1360488"/>
              <a:ext cx="3305175" cy="4121150"/>
            </a:xfrm>
            <a:prstGeom prst="parallelogram">
              <a:avLst>
                <a:gd name="adj" fmla="val 57060"/>
              </a:avLst>
            </a:prstGeom>
            <a:solidFill>
              <a:srgbClr val="96969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solidFill>
                  <a:srgbClr val="969696"/>
                </a:solidFill>
              </a:endParaRPr>
            </a:p>
          </p:txBody>
        </p:sp>
        <p:sp>
          <p:nvSpPr>
            <p:cNvPr id="14" name="Text Box 15"/>
            <p:cNvSpPr txBox="1">
              <a:spLocks noChangeArrowheads="1"/>
            </p:cNvSpPr>
            <p:nvPr/>
          </p:nvSpPr>
          <p:spPr bwMode="auto">
            <a:xfrm>
              <a:off x="5372100" y="5191125"/>
              <a:ext cx="172085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solidFill>
                    <a:srgbClr val="DDDDDD"/>
                  </a:solidFill>
                  <a:cs typeface="Times New Roman" panose="02020603050405020304" pitchFamily="18" charset="0"/>
                </a:rPr>
                <a:t>CA Asia AS00</a:t>
              </a:r>
            </a:p>
          </p:txBody>
        </p:sp>
        <p:sp>
          <p:nvSpPr>
            <p:cNvPr id="15" name="AutoShape 16"/>
            <p:cNvSpPr>
              <a:spLocks noChangeArrowheads="1"/>
            </p:cNvSpPr>
            <p:nvPr/>
          </p:nvSpPr>
          <p:spPr bwMode="auto">
            <a:xfrm>
              <a:off x="755650" y="1484313"/>
              <a:ext cx="7704138" cy="3600450"/>
            </a:xfrm>
            <a:prstGeom prst="parallelogram">
              <a:avLst>
                <a:gd name="adj" fmla="val 45530"/>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16" name="Text Box 17"/>
            <p:cNvSpPr txBox="1">
              <a:spLocks noChangeArrowheads="1"/>
            </p:cNvSpPr>
            <p:nvPr/>
          </p:nvSpPr>
          <p:spPr bwMode="auto">
            <a:xfrm>
              <a:off x="827088" y="4797425"/>
              <a:ext cx="4321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cs typeface="Times New Roman" panose="02020603050405020304" pitchFamily="18" charset="0"/>
                </a:rPr>
                <a:t>Credit Control Area (global) GL00</a:t>
              </a:r>
            </a:p>
          </p:txBody>
        </p:sp>
        <p:sp>
          <p:nvSpPr>
            <p:cNvPr id="17" name="AutoShape 18"/>
            <p:cNvSpPr>
              <a:spLocks noChangeArrowheads="1"/>
            </p:cNvSpPr>
            <p:nvPr/>
          </p:nvSpPr>
          <p:spPr bwMode="auto">
            <a:xfrm>
              <a:off x="971550" y="1557338"/>
              <a:ext cx="7345363" cy="3167062"/>
            </a:xfrm>
            <a:prstGeom prst="parallelogram">
              <a:avLst>
                <a:gd name="adj" fmla="val 46365"/>
              </a:avLst>
            </a:prstGeom>
            <a:gradFill rotWithShape="0">
              <a:gsLst>
                <a:gs pos="0">
                  <a:srgbClr val="D6A4F4"/>
                </a:gs>
                <a:gs pos="100000">
                  <a:srgbClr val="634C71"/>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D6A4F4"/>
              </a:extrusionClr>
              <a:contourClr>
                <a:srgbClr val="D6A4F4"/>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solidFill>
                  <a:srgbClr val="F8F8F8"/>
                </a:solidFill>
              </a:endParaRPr>
            </a:p>
          </p:txBody>
        </p:sp>
        <p:sp>
          <p:nvSpPr>
            <p:cNvPr id="18" name="Text Box 19"/>
            <p:cNvSpPr txBox="1">
              <a:spLocks noChangeArrowheads="1"/>
            </p:cNvSpPr>
            <p:nvPr/>
          </p:nvSpPr>
          <p:spPr bwMode="auto">
            <a:xfrm>
              <a:off x="1042988" y="4437063"/>
              <a:ext cx="442277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50000"/>
                </a:spcBef>
                <a:buClrTx/>
                <a:buFontTx/>
                <a:buNone/>
              </a:pPr>
              <a:r>
                <a:rPr lang="en-US" altLang="de-DE" sz="1600" dirty="0">
                  <a:cs typeface="Times New Roman" panose="02020603050405020304" pitchFamily="18" charset="0"/>
                </a:rPr>
                <a:t>Chart of Accounts (global) GL00</a:t>
              </a:r>
            </a:p>
          </p:txBody>
        </p:sp>
        <p:sp>
          <p:nvSpPr>
            <p:cNvPr id="19" name="AutoShape 20"/>
            <p:cNvSpPr>
              <a:spLocks noChangeArrowheads="1"/>
            </p:cNvSpPr>
            <p:nvPr/>
          </p:nvSpPr>
          <p:spPr bwMode="auto">
            <a:xfrm>
              <a:off x="1258888" y="1628775"/>
              <a:ext cx="2233612" cy="2663825"/>
            </a:xfrm>
            <a:prstGeom prst="parallelogram">
              <a:avLst>
                <a:gd name="adj" fmla="val 54685"/>
              </a:avLst>
            </a:prstGeom>
            <a:gradFill rotWithShape="0">
              <a:gsLst>
                <a:gs pos="0">
                  <a:srgbClr val="99FF66"/>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20" name="Text Box 21"/>
            <p:cNvSpPr txBox="1">
              <a:spLocks noChangeArrowheads="1"/>
            </p:cNvSpPr>
            <p:nvPr/>
          </p:nvSpPr>
          <p:spPr bwMode="auto">
            <a:xfrm>
              <a:off x="1331913" y="4005263"/>
              <a:ext cx="1282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t>CC US00</a:t>
              </a:r>
              <a:r>
                <a:rPr lang="en-US" altLang="de-DE" sz="1400" dirty="0"/>
                <a:t>     </a:t>
              </a:r>
            </a:p>
          </p:txBody>
        </p:sp>
        <p:sp>
          <p:nvSpPr>
            <p:cNvPr id="21" name="AutoShape 22"/>
            <p:cNvSpPr>
              <a:spLocks noChangeArrowheads="1"/>
            </p:cNvSpPr>
            <p:nvPr/>
          </p:nvSpPr>
          <p:spPr bwMode="auto">
            <a:xfrm>
              <a:off x="2411413" y="1628775"/>
              <a:ext cx="1800225" cy="2663825"/>
            </a:xfrm>
            <a:prstGeom prst="parallelogram">
              <a:avLst>
                <a:gd name="adj" fmla="val 67514"/>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22" name="Text Box 23"/>
            <p:cNvSpPr txBox="1">
              <a:spLocks noChangeArrowheads="1"/>
            </p:cNvSpPr>
            <p:nvPr/>
          </p:nvSpPr>
          <p:spPr bwMode="auto">
            <a:xfrm rot="-3927524">
              <a:off x="2366963" y="3638550"/>
              <a:ext cx="1047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solidFill>
                    <a:srgbClr val="DDDDDD"/>
                  </a:solidFill>
                </a:rPr>
                <a:t>CC CA00</a:t>
              </a:r>
              <a:endParaRPr lang="en-US" altLang="de-DE" sz="1400" dirty="0">
                <a:solidFill>
                  <a:srgbClr val="DDDDDD"/>
                </a:solidFill>
              </a:endParaRPr>
            </a:p>
          </p:txBody>
        </p:sp>
        <p:sp>
          <p:nvSpPr>
            <p:cNvPr id="23" name="AutoShape 24"/>
            <p:cNvSpPr>
              <a:spLocks noChangeArrowheads="1"/>
            </p:cNvSpPr>
            <p:nvPr/>
          </p:nvSpPr>
          <p:spPr bwMode="auto">
            <a:xfrm>
              <a:off x="3419475" y="1628775"/>
              <a:ext cx="2233613" cy="2663825"/>
            </a:xfrm>
            <a:prstGeom prst="parallelogram">
              <a:avLst>
                <a:gd name="adj" fmla="val 54685"/>
              </a:avLst>
            </a:prstGeom>
            <a:gradFill rotWithShape="0">
              <a:gsLst>
                <a:gs pos="0">
                  <a:srgbClr val="99FF66"/>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24" name="Text Box 25"/>
            <p:cNvSpPr txBox="1">
              <a:spLocks noChangeArrowheads="1"/>
            </p:cNvSpPr>
            <p:nvPr/>
          </p:nvSpPr>
          <p:spPr bwMode="auto">
            <a:xfrm>
              <a:off x="3482975" y="4000500"/>
              <a:ext cx="1282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t>CC DE00</a:t>
              </a:r>
              <a:r>
                <a:rPr lang="en-US" altLang="de-DE" sz="1400" dirty="0"/>
                <a:t>     </a:t>
              </a:r>
            </a:p>
          </p:txBody>
        </p:sp>
        <p:sp>
          <p:nvSpPr>
            <p:cNvPr id="25" name="AutoShape 26"/>
            <p:cNvSpPr>
              <a:spLocks noChangeArrowheads="1"/>
            </p:cNvSpPr>
            <p:nvPr/>
          </p:nvSpPr>
          <p:spPr bwMode="auto">
            <a:xfrm>
              <a:off x="4572000" y="1628775"/>
              <a:ext cx="1800225" cy="2663825"/>
            </a:xfrm>
            <a:prstGeom prst="parallelogram">
              <a:avLst>
                <a:gd name="adj" fmla="val 67514"/>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26" name="Text Box 27"/>
            <p:cNvSpPr txBox="1">
              <a:spLocks noChangeArrowheads="1"/>
            </p:cNvSpPr>
            <p:nvPr/>
          </p:nvSpPr>
          <p:spPr bwMode="auto">
            <a:xfrm rot="-3927524">
              <a:off x="4521200" y="3665538"/>
              <a:ext cx="1060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solidFill>
                    <a:srgbClr val="DDDDDD"/>
                  </a:solidFill>
                </a:rPr>
                <a:t>CC GB00</a:t>
              </a:r>
              <a:endParaRPr lang="en-US" altLang="de-DE" sz="1400" dirty="0">
                <a:solidFill>
                  <a:srgbClr val="DDDDDD"/>
                </a:solidFill>
              </a:endParaRPr>
            </a:p>
          </p:txBody>
        </p:sp>
        <p:sp>
          <p:nvSpPr>
            <p:cNvPr id="27" name="AutoShape 28"/>
            <p:cNvSpPr>
              <a:spLocks noChangeArrowheads="1"/>
            </p:cNvSpPr>
            <p:nvPr/>
          </p:nvSpPr>
          <p:spPr bwMode="auto">
            <a:xfrm>
              <a:off x="5651500" y="1700213"/>
              <a:ext cx="1800225" cy="2663825"/>
            </a:xfrm>
            <a:prstGeom prst="parallelogram">
              <a:avLst>
                <a:gd name="adj" fmla="val 67514"/>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28" name="AutoShape 29"/>
            <p:cNvSpPr>
              <a:spLocks noChangeArrowheads="1"/>
            </p:cNvSpPr>
            <p:nvPr/>
          </p:nvSpPr>
          <p:spPr bwMode="auto">
            <a:xfrm>
              <a:off x="6324600" y="1700213"/>
              <a:ext cx="1800225" cy="2663825"/>
            </a:xfrm>
            <a:prstGeom prst="parallelogram">
              <a:avLst>
                <a:gd name="adj" fmla="val 67514"/>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endParaRPr lang="de-DE" altLang="de-DE" sz="1400" dirty="0"/>
            </a:p>
          </p:txBody>
        </p:sp>
        <p:sp>
          <p:nvSpPr>
            <p:cNvPr id="29" name="AutoShape 30"/>
            <p:cNvSpPr>
              <a:spLocks noChangeArrowheads="1"/>
            </p:cNvSpPr>
            <p:nvPr/>
          </p:nvSpPr>
          <p:spPr bwMode="auto">
            <a:xfrm>
              <a:off x="1600200" y="1941513"/>
              <a:ext cx="7239000" cy="381000"/>
            </a:xfrm>
            <a:prstGeom prst="parallelogram">
              <a:avLst>
                <a:gd name="adj" fmla="val 43894"/>
              </a:avLst>
            </a:prstGeom>
            <a:gradFill rotWithShape="0">
              <a:gsLst>
                <a:gs pos="0">
                  <a:srgbClr val="1FD985"/>
                </a:gs>
                <a:gs pos="100000">
                  <a:srgbClr val="12824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1FD985"/>
              </a:extrusionClr>
              <a:contourClr>
                <a:srgbClr val="1FD985"/>
              </a:contourClr>
            </a:sp3d>
          </p:spPr>
          <p:txBody>
            <a:bodyPr wrap="none" lIns="0" tIns="0" rIns="0" bIns="0" anchor="ctr">
              <a:flatTx/>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solidFill>
                    <a:srgbClr val="FFFF66"/>
                  </a:solidFill>
                </a:rPr>
                <a:t>Business Area – Bikes BI00</a:t>
              </a:r>
            </a:p>
          </p:txBody>
        </p:sp>
        <p:sp>
          <p:nvSpPr>
            <p:cNvPr id="30" name="Text Box 31"/>
            <p:cNvSpPr txBox="1">
              <a:spLocks noChangeArrowheads="1"/>
            </p:cNvSpPr>
            <p:nvPr/>
          </p:nvSpPr>
          <p:spPr bwMode="auto">
            <a:xfrm rot="-3927524">
              <a:off x="5584825" y="3711575"/>
              <a:ext cx="1047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solidFill>
                    <a:srgbClr val="DDDDDD"/>
                  </a:solidFill>
                </a:rPr>
                <a:t>CC AU00</a:t>
              </a:r>
              <a:endParaRPr lang="en-US" altLang="de-DE" sz="1400" dirty="0">
                <a:solidFill>
                  <a:srgbClr val="DDDDDD"/>
                </a:solidFill>
              </a:endParaRPr>
            </a:p>
          </p:txBody>
        </p:sp>
        <p:sp>
          <p:nvSpPr>
            <p:cNvPr id="31" name="Text Box 32"/>
            <p:cNvSpPr txBox="1">
              <a:spLocks noChangeArrowheads="1"/>
            </p:cNvSpPr>
            <p:nvPr/>
          </p:nvSpPr>
          <p:spPr bwMode="auto">
            <a:xfrm rot="-3927524">
              <a:off x="6327775" y="3727450"/>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Tx/>
                <a:buFontTx/>
                <a:buNone/>
              </a:pPr>
              <a:r>
                <a:rPr lang="en-US" altLang="de-DE" sz="1600" dirty="0">
                  <a:solidFill>
                    <a:srgbClr val="DDDDDD"/>
                  </a:solidFill>
                </a:rPr>
                <a:t>CC JP00</a:t>
              </a:r>
              <a:endParaRPr lang="en-US" altLang="de-DE" sz="1400" dirty="0">
                <a:solidFill>
                  <a:srgbClr val="DDDDDD"/>
                </a:solidFill>
              </a:endParaRPr>
            </a:p>
          </p:txBody>
        </p:sp>
        <p:sp>
          <p:nvSpPr>
            <p:cNvPr id="32" name="Rectangle 5"/>
            <p:cNvSpPr>
              <a:spLocks noChangeArrowheads="1"/>
            </p:cNvSpPr>
            <p:nvPr/>
          </p:nvSpPr>
          <p:spPr bwMode="white">
            <a:xfrm>
              <a:off x="7747000" y="3933825"/>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Company</a:t>
              </a:r>
            </a:p>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Code</a:t>
              </a:r>
              <a:endParaRPr lang="de-DE" altLang="de-DE" sz="800" b="0" dirty="0">
                <a:ea typeface="Arial Unicode MS" panose="020B0604020202020204" pitchFamily="34" charset="-128"/>
                <a:cs typeface="Arial Unicode MS" panose="020B0604020202020204" pitchFamily="34" charset="-128"/>
              </a:endParaRPr>
            </a:p>
          </p:txBody>
        </p:sp>
        <p:sp>
          <p:nvSpPr>
            <p:cNvPr id="33" name="Rectangle 5"/>
            <p:cNvSpPr>
              <a:spLocks noChangeArrowheads="1"/>
            </p:cNvSpPr>
            <p:nvPr/>
          </p:nvSpPr>
          <p:spPr bwMode="white">
            <a:xfrm>
              <a:off x="7486650" y="4581525"/>
              <a:ext cx="111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Credit Control</a:t>
              </a:r>
            </a:p>
            <a:p>
              <a:pPr algn="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Area</a:t>
              </a:r>
            </a:p>
            <a:p>
              <a:pPr algn="r" eaLnBrk="1" hangingPunct="1">
                <a:spcBef>
                  <a:spcPct val="0"/>
                </a:spcBef>
                <a:buClr>
                  <a:schemeClr val="accent1"/>
                </a:buClr>
                <a:buSzPct val="80000"/>
              </a:pPr>
              <a:r>
                <a:rPr lang="en-US" altLang="de-DE" sz="800" b="0" dirty="0">
                  <a:ea typeface="Arial Unicode MS" panose="020B0604020202020204" pitchFamily="34" charset="-128"/>
                  <a:cs typeface="Arial Unicode MS" panose="020B0604020202020204" pitchFamily="34" charset="-128"/>
                </a:rPr>
                <a:t>(see FI unit)</a:t>
              </a:r>
              <a:endParaRPr lang="de-DE" altLang="de-DE" sz="800" b="0" dirty="0">
                <a:ea typeface="Arial Unicode MS" panose="020B0604020202020204" pitchFamily="34" charset="-128"/>
                <a:cs typeface="Arial Unicode MS" panose="020B0604020202020204" pitchFamily="34" charset="-128"/>
              </a:endParaRPr>
            </a:p>
          </p:txBody>
        </p:sp>
        <p:sp>
          <p:nvSpPr>
            <p:cNvPr id="34" name="Rectangle 5"/>
            <p:cNvSpPr>
              <a:spLocks noChangeArrowheads="1"/>
            </p:cNvSpPr>
            <p:nvPr/>
          </p:nvSpPr>
          <p:spPr bwMode="white">
            <a:xfrm>
              <a:off x="539750" y="1930400"/>
              <a:ext cx="1160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spcBef>
                  <a:spcPct val="0"/>
                </a:spcBef>
                <a:buClr>
                  <a:schemeClr val="accent1"/>
                </a:buClr>
                <a:buSzPct val="80000"/>
              </a:pPr>
              <a:r>
                <a:rPr lang="en-US" altLang="de-DE" sz="1200" b="0" dirty="0">
                  <a:ea typeface="Arial Unicode MS" panose="020B0604020202020204" pitchFamily="34" charset="-128"/>
                  <a:cs typeface="Arial Unicode MS" panose="020B0604020202020204" pitchFamily="34" charset="-128"/>
                </a:rPr>
                <a:t>Business Area</a:t>
              </a:r>
            </a:p>
            <a:p>
              <a:pPr eaLnBrk="1" hangingPunct="1">
                <a:spcBef>
                  <a:spcPct val="0"/>
                </a:spcBef>
                <a:buClr>
                  <a:schemeClr val="accent1"/>
                </a:buClr>
                <a:buSzPct val="80000"/>
              </a:pPr>
              <a:r>
                <a:rPr lang="en-US" altLang="de-DE" sz="800" b="0" dirty="0">
                  <a:ea typeface="Arial Unicode MS" panose="020B0604020202020204" pitchFamily="34" charset="-128"/>
                  <a:cs typeface="Arial Unicode MS" panose="020B0604020202020204" pitchFamily="34" charset="-128"/>
                </a:rPr>
                <a:t>(see FI unit)</a:t>
              </a:r>
              <a:endParaRPr lang="de-DE" altLang="de-DE" sz="800" b="0" dirty="0">
                <a:ea typeface="Arial Unicode MS" panose="020B0604020202020204" pitchFamily="34" charset="-128"/>
                <a:cs typeface="Arial Unicode MS" panose="020B0604020202020204" pitchFamily="34" charset="-128"/>
              </a:endParaRPr>
            </a:p>
          </p:txBody>
        </p:sp>
      </p:grpSp>
    </p:spTree>
    <p:extLst>
      <p:ext uri="{BB962C8B-B14F-4D97-AF65-F5344CB8AC3E}">
        <p14:creationId xmlns:p14="http://schemas.microsoft.com/office/powerpoint/2010/main" val="1196017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latin typeface="Arial" panose="020B0604020202020204" pitchFamily="34" charset="0"/>
              </a:rPr>
              <a:t>Agenda</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pPr>
              <a:tabLst>
                <a:tab pos="1971675" algn="l"/>
              </a:tabLst>
            </a:pPr>
            <a:r>
              <a:rPr lang="en-US" altLang="de-DE" dirty="0">
                <a:solidFill>
                  <a:srgbClr val="B2B2B2"/>
                </a:solidFill>
                <a:latin typeface="Arial" panose="020B0604020202020204" pitchFamily="34" charset="0"/>
              </a:rPr>
              <a:t>CO Organizational Structure</a:t>
            </a:r>
          </a:p>
          <a:p>
            <a:pPr>
              <a:tabLst>
                <a:tab pos="1971675" algn="l"/>
              </a:tabLst>
            </a:pPr>
            <a:endParaRPr lang="en-US" altLang="de-DE" dirty="0">
              <a:solidFill>
                <a:srgbClr val="B2B2B2"/>
              </a:solidFill>
              <a:latin typeface="Arial" panose="020B0604020202020204" pitchFamily="34" charset="0"/>
            </a:endParaRPr>
          </a:p>
          <a:p>
            <a:pPr>
              <a:tabLst>
                <a:tab pos="1971675" algn="l"/>
              </a:tabLst>
            </a:pPr>
            <a:r>
              <a:rPr lang="en-US" altLang="de-DE" dirty="0">
                <a:latin typeface="Arial" panose="020B0604020202020204" pitchFamily="34" charset="0"/>
              </a:rPr>
              <a:t>CO Master Data</a:t>
            </a:r>
          </a:p>
          <a:p>
            <a:pPr>
              <a:tabLst>
                <a:tab pos="1971675" algn="l"/>
              </a:tabLst>
            </a:pPr>
            <a:endParaRPr lang="en-US" altLang="de-DE" dirty="0">
              <a:solidFill>
                <a:srgbClr val="B2B2B2"/>
              </a:solidFill>
              <a:latin typeface="Arial" panose="020B0604020202020204" pitchFamily="34" charset="0"/>
            </a:endParaRPr>
          </a:p>
          <a:p>
            <a:pPr>
              <a:tabLst>
                <a:tab pos="1971675" algn="l"/>
              </a:tabLst>
            </a:pPr>
            <a:r>
              <a:rPr lang="en-US" altLang="de-DE" dirty="0">
                <a:solidFill>
                  <a:srgbClr val="B2B2B2"/>
                </a:solidFill>
                <a:latin typeface="Arial" panose="020B0604020202020204" pitchFamily="34" charset="0"/>
              </a:rPr>
              <a:t>CO Processes</a:t>
            </a:r>
          </a:p>
          <a:p>
            <a:endParaRPr lang="de-DE" dirty="0"/>
          </a:p>
          <a:p>
            <a:endParaRPr lang="de-DE" dirty="0"/>
          </a:p>
        </p:txBody>
      </p:sp>
    </p:spTree>
    <p:extLst>
      <p:ext uri="{BB962C8B-B14F-4D97-AF65-F5344CB8AC3E}">
        <p14:creationId xmlns:p14="http://schemas.microsoft.com/office/powerpoint/2010/main" val="1061992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Profit Center</a:t>
            </a:r>
          </a:p>
          <a:p>
            <a:pPr lvl="1"/>
            <a:r>
              <a:rPr lang="en-US" altLang="de-DE" dirty="0">
                <a:latin typeface="Arial" panose="020B0604020202020204" pitchFamily="34" charset="0"/>
              </a:rPr>
              <a:t>Responsible for revenue generation and cost containment</a:t>
            </a:r>
          </a:p>
          <a:p>
            <a:pPr lvl="1"/>
            <a:r>
              <a:rPr lang="en-US" altLang="de-DE" dirty="0">
                <a:latin typeface="Arial" panose="020B0604020202020204" pitchFamily="34" charset="0"/>
              </a:rPr>
              <a:t>Evaluated on profit or return on investment </a:t>
            </a:r>
          </a:p>
          <a:p>
            <a:pPr lvl="1"/>
            <a:r>
              <a:rPr lang="en-US" altLang="de-DE" dirty="0">
                <a:latin typeface="Arial" panose="020B0604020202020204" pitchFamily="34" charset="0"/>
              </a:rPr>
              <a:t>Enterprises are commonly divided into profit centers based on</a:t>
            </a:r>
          </a:p>
          <a:p>
            <a:pPr lvl="2"/>
            <a:r>
              <a:rPr lang="en-US" altLang="de-DE" dirty="0">
                <a:latin typeface="Arial" panose="020B0604020202020204" pitchFamily="34" charset="0"/>
              </a:rPr>
              <a:t>Region</a:t>
            </a:r>
          </a:p>
          <a:p>
            <a:pPr lvl="2"/>
            <a:r>
              <a:rPr lang="en-US" altLang="de-DE" dirty="0">
                <a:latin typeface="Arial" panose="020B0604020202020204" pitchFamily="34" charset="0"/>
              </a:rPr>
              <a:t>Function</a:t>
            </a:r>
          </a:p>
          <a:p>
            <a:pPr lvl="2"/>
            <a:r>
              <a:rPr lang="en-US" altLang="de-DE" dirty="0">
                <a:latin typeface="Arial" panose="020B0604020202020204" pitchFamily="34" charset="0"/>
              </a:rPr>
              <a:t>Product</a:t>
            </a:r>
          </a:p>
          <a:p>
            <a:pPr lvl="2"/>
            <a:endParaRPr lang="en-US" altLang="de-DE" dirty="0">
              <a:latin typeface="Arial" panose="020B0604020202020204" pitchFamily="34" charset="0"/>
            </a:endParaRPr>
          </a:p>
          <a:p>
            <a:r>
              <a:rPr lang="en-US" altLang="de-DE" dirty="0">
                <a:latin typeface="Arial" panose="020B0604020202020204" pitchFamily="34" charset="0"/>
              </a:rPr>
              <a:t>Cost Center</a:t>
            </a:r>
          </a:p>
          <a:p>
            <a:pPr lvl="1"/>
            <a:r>
              <a:rPr lang="en-US" altLang="de-DE" dirty="0">
                <a:latin typeface="Arial" panose="020B0604020202020204" pitchFamily="34" charset="0"/>
              </a:rPr>
              <a:t>Responsible for cost containment, not responsible for revenue generation</a:t>
            </a:r>
          </a:p>
          <a:p>
            <a:pPr lvl="2"/>
            <a:r>
              <a:rPr lang="en-US" altLang="de-DE" dirty="0">
                <a:latin typeface="Arial" panose="020B0604020202020204" pitchFamily="34" charset="0"/>
              </a:rPr>
              <a:t>One or more value-added activities are performed within each cost center.</a:t>
            </a:r>
          </a:p>
          <a:p>
            <a:pPr lvl="2"/>
            <a:r>
              <a:rPr lang="en-US" altLang="de-DE" dirty="0">
                <a:latin typeface="Arial" panose="020B0604020202020204" pitchFamily="34" charset="0"/>
              </a:rPr>
              <a:t>Unit that is distinguished, for example, by area of responsibility, location, or type of activity</a:t>
            </a:r>
          </a:p>
          <a:p>
            <a:pPr lvl="3"/>
            <a:r>
              <a:rPr lang="en-US" altLang="de-DE" dirty="0">
                <a:latin typeface="Arial" panose="020B0604020202020204" pitchFamily="34" charset="0"/>
              </a:rPr>
              <a:t>Copy center</a:t>
            </a:r>
          </a:p>
          <a:p>
            <a:pPr lvl="3"/>
            <a:r>
              <a:rPr lang="en-US" altLang="de-DE" dirty="0">
                <a:latin typeface="Arial" panose="020B0604020202020204" pitchFamily="34" charset="0"/>
              </a:rPr>
              <a:t>Security department</a:t>
            </a:r>
          </a:p>
          <a:p>
            <a:pPr lvl="3"/>
            <a:r>
              <a:rPr lang="en-US" altLang="de-DE" dirty="0">
                <a:latin typeface="Arial" panose="020B0604020202020204" pitchFamily="34" charset="0"/>
              </a:rPr>
              <a:t>Maintenance department</a:t>
            </a:r>
          </a:p>
        </p:txBody>
      </p:sp>
      <p:sp>
        <p:nvSpPr>
          <p:cNvPr id="3" name="Titel 2"/>
          <p:cNvSpPr>
            <a:spLocks noGrp="1"/>
          </p:cNvSpPr>
          <p:nvPr>
            <p:ph type="title"/>
          </p:nvPr>
        </p:nvSpPr>
        <p:spPr/>
        <p:txBody>
          <a:bodyPr/>
          <a:lstStyle/>
          <a:p>
            <a:r>
              <a:rPr lang="en-US" altLang="de-DE" dirty="0">
                <a:latin typeface="Arial" panose="020B0604020202020204" pitchFamily="34" charset="0"/>
              </a:rPr>
              <a:t>CO Master Data</a:t>
            </a:r>
            <a:endParaRPr lang="de-DE" dirty="0"/>
          </a:p>
        </p:txBody>
      </p:sp>
    </p:spTree>
    <p:extLst>
      <p:ext uri="{BB962C8B-B14F-4D97-AF65-F5344CB8AC3E}">
        <p14:creationId xmlns:p14="http://schemas.microsoft.com/office/powerpoint/2010/main" val="2294638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Internal Order</a:t>
            </a:r>
            <a:r>
              <a:rPr lang="en-US" altLang="de-DE" u="sng" dirty="0">
                <a:latin typeface="Arial" panose="020B0604020202020204" pitchFamily="34" charset="0"/>
              </a:rPr>
              <a:t> </a:t>
            </a:r>
          </a:p>
          <a:p>
            <a:pPr lvl="1"/>
            <a:r>
              <a:rPr lang="en-US" altLang="de-DE" u="sng" dirty="0">
                <a:latin typeface="Arial" panose="020B0604020202020204" pitchFamily="34" charset="0"/>
              </a:rPr>
              <a:t>Temporary</a:t>
            </a:r>
            <a:r>
              <a:rPr lang="en-US" altLang="de-DE" dirty="0">
                <a:latin typeface="Arial" panose="020B0604020202020204" pitchFamily="34" charset="0"/>
              </a:rPr>
              <a:t> cost </a:t>
            </a:r>
            <a:r>
              <a:rPr lang="en-US" altLang="de-DE" dirty="0" smtClean="0">
                <a:latin typeface="Arial" panose="020B0604020202020204" pitchFamily="34" charset="0"/>
              </a:rPr>
              <a:t>collector responsible </a:t>
            </a:r>
            <a:r>
              <a:rPr lang="en-US" altLang="de-DE" dirty="0">
                <a:latin typeface="Arial" panose="020B0604020202020204" pitchFamily="34" charset="0"/>
              </a:rPr>
              <a:t>for cost containment, not responsible for revenue generation </a:t>
            </a:r>
          </a:p>
          <a:p>
            <a:pPr lvl="1"/>
            <a:r>
              <a:rPr lang="en-US" altLang="de-DE" dirty="0">
                <a:latin typeface="Arial" panose="020B0604020202020204" pitchFamily="34" charset="0"/>
              </a:rPr>
              <a:t>It is used to plan, collect, and monitor the costs associated with a distinct short-term event, activity, or project</a:t>
            </a:r>
          </a:p>
          <a:p>
            <a:pPr lvl="2"/>
            <a:r>
              <a:rPr lang="en-US" altLang="de-DE" dirty="0">
                <a:latin typeface="Arial" panose="020B0604020202020204" pitchFamily="34" charset="0"/>
              </a:rPr>
              <a:t>Company picnic</a:t>
            </a:r>
          </a:p>
          <a:p>
            <a:pPr lvl="2"/>
            <a:r>
              <a:rPr lang="en-US" altLang="de-DE" dirty="0">
                <a:latin typeface="Arial" panose="020B0604020202020204" pitchFamily="34" charset="0"/>
              </a:rPr>
              <a:t>Trade show/Fair</a:t>
            </a:r>
          </a:p>
          <a:p>
            <a:pPr lvl="2"/>
            <a:r>
              <a:rPr lang="en-US" altLang="de-DE" dirty="0">
                <a:latin typeface="Arial" panose="020B0604020202020204" pitchFamily="34" charset="0"/>
              </a:rPr>
              <a:t>Recruiting campaign</a:t>
            </a:r>
          </a:p>
          <a:p>
            <a:pPr lvl="2"/>
            <a:endParaRPr lang="en-US" altLang="de-DE" dirty="0">
              <a:latin typeface="Arial" panose="020B0604020202020204" pitchFamily="34" charset="0"/>
            </a:endParaRPr>
          </a:p>
          <a:p>
            <a:r>
              <a:rPr lang="en-US" altLang="de-DE" dirty="0">
                <a:latin typeface="Arial" panose="020B0604020202020204" pitchFamily="34" charset="0"/>
              </a:rPr>
              <a:t>Revenue Element </a:t>
            </a:r>
          </a:p>
          <a:p>
            <a:pPr lvl="1"/>
            <a:r>
              <a:rPr lang="en-US" altLang="de-DE" dirty="0">
                <a:latin typeface="Arial" panose="020B0604020202020204" pitchFamily="34" charset="0"/>
              </a:rPr>
              <a:t>A one-to-one linkage (mapping) between General Ledger revenue accounts and CO revenue elements is established to permit the transfer of FI revenue information to CO.</a:t>
            </a:r>
          </a:p>
          <a:p>
            <a:pPr lvl="1"/>
            <a:r>
              <a:rPr lang="en-US" altLang="de-DE" dirty="0">
                <a:latin typeface="Arial" panose="020B0604020202020204" pitchFamily="34" charset="0"/>
              </a:rPr>
              <a:t>Posting in FI that impact revenue accounts lead to a posting in CO to a revenue element.</a:t>
            </a:r>
          </a:p>
          <a:p>
            <a:pPr lvl="1"/>
            <a:r>
              <a:rPr lang="en-US" altLang="de-DE" dirty="0">
                <a:latin typeface="Arial" panose="020B0604020202020204" pitchFamily="34" charset="0"/>
              </a:rPr>
              <a:t>In other words, revenue account = revenue element – just different words depending on whether FI object or CO object.</a:t>
            </a:r>
          </a:p>
        </p:txBody>
      </p:sp>
      <p:sp>
        <p:nvSpPr>
          <p:cNvPr id="3" name="Titel 2"/>
          <p:cNvSpPr>
            <a:spLocks noGrp="1"/>
          </p:cNvSpPr>
          <p:nvPr>
            <p:ph type="title"/>
          </p:nvPr>
        </p:nvSpPr>
        <p:spPr/>
        <p:txBody>
          <a:bodyPr/>
          <a:lstStyle/>
          <a:p>
            <a:r>
              <a:rPr lang="en-US" altLang="de-DE" dirty="0">
                <a:latin typeface="Arial" panose="020B0604020202020204" pitchFamily="34" charset="0"/>
              </a:rPr>
              <a:t>CO Master Data</a:t>
            </a:r>
            <a:endParaRPr lang="de-DE" dirty="0"/>
          </a:p>
        </p:txBody>
      </p:sp>
    </p:spTree>
    <p:extLst>
      <p:ext uri="{BB962C8B-B14F-4D97-AF65-F5344CB8AC3E}">
        <p14:creationId xmlns:p14="http://schemas.microsoft.com/office/powerpoint/2010/main" val="3543484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Cost </a:t>
            </a:r>
            <a:r>
              <a:rPr lang="en-US" altLang="de-DE" dirty="0" smtClean="0">
                <a:latin typeface="Arial" panose="020B0604020202020204" pitchFamily="34" charset="0"/>
              </a:rPr>
              <a:t>Elements describe the origin of costs</a:t>
            </a:r>
          </a:p>
          <a:p>
            <a:pPr lvl="1"/>
            <a:r>
              <a:rPr lang="en-US" altLang="de-DE" dirty="0" smtClean="0">
                <a:latin typeface="Arial" panose="020B0604020202020204" pitchFamily="34" charset="0"/>
              </a:rPr>
              <a:t>One-to-one </a:t>
            </a:r>
            <a:r>
              <a:rPr lang="en-US" altLang="de-DE" dirty="0">
                <a:latin typeface="Arial" panose="020B0604020202020204" pitchFamily="34" charset="0"/>
              </a:rPr>
              <a:t>linkage (mapping) between General Ledger expense accounts and CO cost elements is established to permit the transfer of FI expense information to CO.</a:t>
            </a:r>
          </a:p>
          <a:p>
            <a:pPr lvl="1"/>
            <a:r>
              <a:rPr lang="en-US" altLang="de-DE" dirty="0">
                <a:latin typeface="Arial" panose="020B0604020202020204" pitchFamily="34" charset="0"/>
              </a:rPr>
              <a:t>Postings in FI that impact cost accounts lead to a posting in CO to a cost element.</a:t>
            </a:r>
          </a:p>
          <a:p>
            <a:pPr lvl="1"/>
            <a:r>
              <a:rPr lang="en-US" altLang="de-DE" dirty="0">
                <a:latin typeface="Arial" panose="020B0604020202020204" pitchFamily="34" charset="0"/>
              </a:rPr>
              <a:t>In other words, expense account = cost element – just different words depending on whether FI object or CO object. </a:t>
            </a:r>
            <a:endParaRPr lang="en-US" altLang="de-DE" dirty="0" smtClean="0">
              <a:latin typeface="Arial" panose="020B0604020202020204" pitchFamily="34" charset="0"/>
            </a:endParaRPr>
          </a:p>
          <a:p>
            <a:pPr lvl="1"/>
            <a:endParaRPr lang="en-US" altLang="de-DE" dirty="0" smtClean="0">
              <a:latin typeface="Arial" panose="020B0604020202020204" pitchFamily="34" charset="0"/>
            </a:endParaRPr>
          </a:p>
          <a:p>
            <a:pPr lvl="1"/>
            <a:endParaRPr lang="en-US" altLang="de-DE" dirty="0">
              <a:latin typeface="Arial" panose="020B0604020202020204" pitchFamily="34" charset="0"/>
            </a:endParaRPr>
          </a:p>
          <a:p>
            <a:r>
              <a:rPr lang="en-US" dirty="0"/>
              <a:t>Cost elements are defined as </a:t>
            </a:r>
            <a:r>
              <a:rPr lang="en-US" dirty="0" smtClean="0"/>
              <a:t>either</a:t>
            </a:r>
            <a:endParaRPr lang="en-US" altLang="de-DE" dirty="0">
              <a:latin typeface="Arial" panose="020B0604020202020204" pitchFamily="34" charset="0"/>
            </a:endParaRPr>
          </a:p>
          <a:p>
            <a:pPr lvl="1"/>
            <a:r>
              <a:rPr lang="en-US" altLang="de-DE" dirty="0" smtClean="0">
                <a:latin typeface="Arial" panose="020B0604020202020204" pitchFamily="34" charset="0"/>
              </a:rPr>
              <a:t>Primary </a:t>
            </a:r>
            <a:r>
              <a:rPr lang="en-US" altLang="de-DE" dirty="0">
                <a:latin typeface="Arial" panose="020B0604020202020204" pitchFamily="34" charset="0"/>
              </a:rPr>
              <a:t>Cost </a:t>
            </a:r>
            <a:r>
              <a:rPr lang="en-US" altLang="de-DE" dirty="0" smtClean="0">
                <a:latin typeface="Arial" panose="020B0604020202020204" pitchFamily="34" charset="0"/>
              </a:rPr>
              <a:t>Elements</a:t>
            </a:r>
            <a:endParaRPr lang="en-US" altLang="de-DE" dirty="0">
              <a:latin typeface="Arial" panose="020B0604020202020204" pitchFamily="34" charset="0"/>
            </a:endParaRPr>
          </a:p>
          <a:p>
            <a:pPr lvl="2"/>
            <a:r>
              <a:rPr lang="en-US" dirty="0"/>
              <a:t>Primary cost elements arise through the consumption of production factors that are sourced externally</a:t>
            </a:r>
            <a:endParaRPr lang="en-US" altLang="de-DE" dirty="0" smtClean="0">
              <a:latin typeface="Arial" panose="020B0604020202020204" pitchFamily="34" charset="0"/>
            </a:endParaRPr>
          </a:p>
          <a:p>
            <a:pPr lvl="2"/>
            <a:r>
              <a:rPr lang="en-US" altLang="de-DE" dirty="0" smtClean="0">
                <a:latin typeface="Arial" panose="020B0604020202020204" pitchFamily="34" charset="0"/>
              </a:rPr>
              <a:t>Originate </a:t>
            </a:r>
            <a:r>
              <a:rPr lang="en-US" altLang="de-DE" dirty="0">
                <a:latin typeface="Arial" panose="020B0604020202020204" pitchFamily="34" charset="0"/>
              </a:rPr>
              <a:t>in the </a:t>
            </a:r>
            <a:r>
              <a:rPr lang="en-US" altLang="de-DE" dirty="0" smtClean="0">
                <a:latin typeface="Arial" panose="020B0604020202020204" pitchFamily="34" charset="0"/>
              </a:rPr>
              <a:t>GL within </a:t>
            </a:r>
            <a:r>
              <a:rPr lang="en-US" altLang="de-DE" dirty="0">
                <a:latin typeface="Arial" panose="020B0604020202020204" pitchFamily="34" charset="0"/>
              </a:rPr>
              <a:t>FI and are automatically transferred to CO when an FI transaction is recorded in the </a:t>
            </a:r>
            <a:r>
              <a:rPr lang="en-US" altLang="de-DE" dirty="0" smtClean="0">
                <a:latin typeface="Arial" panose="020B0604020202020204" pitchFamily="34" charset="0"/>
              </a:rPr>
              <a:t>GL</a:t>
            </a:r>
            <a:endParaRPr lang="en-US" altLang="de-DE" dirty="0">
              <a:latin typeface="Arial" panose="020B0604020202020204" pitchFamily="34" charset="0"/>
            </a:endParaRPr>
          </a:p>
          <a:p>
            <a:pPr lvl="1"/>
            <a:r>
              <a:rPr lang="en-US" altLang="de-DE" dirty="0" smtClean="0">
                <a:latin typeface="Arial" panose="020B0604020202020204" pitchFamily="34" charset="0"/>
              </a:rPr>
              <a:t>Secondary </a:t>
            </a:r>
            <a:r>
              <a:rPr lang="en-US" altLang="de-DE" dirty="0">
                <a:latin typeface="Arial" panose="020B0604020202020204" pitchFamily="34" charset="0"/>
              </a:rPr>
              <a:t>Cost </a:t>
            </a:r>
            <a:r>
              <a:rPr lang="en-US" altLang="de-DE" dirty="0" smtClean="0">
                <a:latin typeface="Arial" panose="020B0604020202020204" pitchFamily="34" charset="0"/>
              </a:rPr>
              <a:t>Elements</a:t>
            </a:r>
            <a:endParaRPr lang="en-US" altLang="de-DE" dirty="0">
              <a:latin typeface="Arial" panose="020B0604020202020204" pitchFamily="34" charset="0"/>
            </a:endParaRPr>
          </a:p>
          <a:p>
            <a:pPr lvl="2"/>
            <a:r>
              <a:rPr lang="en-US" dirty="0"/>
              <a:t>Secondary cost elements arise through the consumption of production factors that are provided internally.</a:t>
            </a:r>
          </a:p>
          <a:p>
            <a:pPr lvl="2"/>
            <a:r>
              <a:rPr lang="en-US" altLang="de-DE" dirty="0" smtClean="0">
                <a:latin typeface="Arial" panose="020B0604020202020204" pitchFamily="34" charset="0"/>
              </a:rPr>
              <a:t>Used </a:t>
            </a:r>
            <a:r>
              <a:rPr lang="en-US" altLang="de-DE" dirty="0">
                <a:latin typeface="Arial" panose="020B0604020202020204" pitchFamily="34" charset="0"/>
              </a:rPr>
              <a:t>exclusively in CO </a:t>
            </a:r>
            <a:r>
              <a:rPr lang="en-US" dirty="0"/>
              <a:t>to identify internal cost flows such as assessments or settlements</a:t>
            </a:r>
            <a:r>
              <a:rPr lang="en-US" altLang="de-DE" dirty="0" smtClean="0">
                <a:latin typeface="Arial" panose="020B0604020202020204" pitchFamily="34" charset="0"/>
              </a:rPr>
              <a:t> </a:t>
            </a:r>
            <a:r>
              <a:rPr lang="en-US" altLang="de-DE" dirty="0">
                <a:latin typeface="Arial" panose="020B0604020202020204" pitchFamily="34" charset="0"/>
              </a:rPr>
              <a:t>between </a:t>
            </a:r>
            <a:r>
              <a:rPr lang="en-US" altLang="de-DE" dirty="0" smtClean="0">
                <a:latin typeface="Arial" panose="020B0604020202020204" pitchFamily="34" charset="0"/>
              </a:rPr>
              <a:t>cost centers</a:t>
            </a:r>
          </a:p>
          <a:p>
            <a:pPr lvl="2"/>
            <a:r>
              <a:rPr lang="en-US" dirty="0"/>
              <a:t>They do not have corresponding General ledger accounts in FI and are defined in CO only.</a:t>
            </a:r>
            <a:endParaRPr lang="en-US" altLang="de-DE" dirty="0">
              <a:latin typeface="Arial" panose="020B0604020202020204" pitchFamily="34" charset="0"/>
            </a:endParaRPr>
          </a:p>
        </p:txBody>
      </p:sp>
      <p:sp>
        <p:nvSpPr>
          <p:cNvPr id="3" name="Titel 2"/>
          <p:cNvSpPr>
            <a:spLocks noGrp="1"/>
          </p:cNvSpPr>
          <p:nvPr>
            <p:ph type="title"/>
          </p:nvPr>
        </p:nvSpPr>
        <p:spPr/>
        <p:txBody>
          <a:bodyPr/>
          <a:lstStyle/>
          <a:p>
            <a:r>
              <a:rPr lang="en-US" altLang="de-DE" dirty="0">
                <a:latin typeface="Arial" panose="020B0604020202020204" pitchFamily="34" charset="0"/>
              </a:rPr>
              <a:t>CO Master Data</a:t>
            </a:r>
            <a:endParaRPr lang="de-DE" dirty="0"/>
          </a:p>
        </p:txBody>
      </p:sp>
    </p:spTree>
    <p:extLst>
      <p:ext uri="{BB962C8B-B14F-4D97-AF65-F5344CB8AC3E}">
        <p14:creationId xmlns:p14="http://schemas.microsoft.com/office/powerpoint/2010/main" val="999535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latin typeface="Arial" panose="020B0604020202020204" pitchFamily="34" charset="0"/>
              </a:rPr>
              <a:t>Primary vs. Secondary Cost Elements</a:t>
            </a:r>
            <a:endParaRPr lang="de-DE" dirty="0"/>
          </a:p>
        </p:txBody>
      </p:sp>
      <p:grpSp>
        <p:nvGrpSpPr>
          <p:cNvPr id="23" name="Gruppieren 22"/>
          <p:cNvGrpSpPr/>
          <p:nvPr/>
        </p:nvGrpSpPr>
        <p:grpSpPr>
          <a:xfrm>
            <a:off x="1780981" y="1563000"/>
            <a:ext cx="8631237" cy="4648200"/>
            <a:chOff x="268288" y="1557338"/>
            <a:chExt cx="8631237" cy="4648200"/>
          </a:xfrm>
        </p:grpSpPr>
        <p:sp>
          <p:nvSpPr>
            <p:cNvPr id="4" name="AutoShape 3"/>
            <p:cNvSpPr>
              <a:spLocks noChangeArrowheads="1"/>
            </p:cNvSpPr>
            <p:nvPr/>
          </p:nvSpPr>
          <p:spPr bwMode="auto">
            <a:xfrm>
              <a:off x="6211888" y="1557338"/>
              <a:ext cx="1828800" cy="838200"/>
            </a:xfrm>
            <a:prstGeom prst="flowChartAlternateProcess">
              <a:avLst/>
            </a:prstGeom>
            <a:solidFill>
              <a:schemeClr val="tx2"/>
            </a:solidFill>
            <a:ln w="25400" algn="ctr">
              <a:solidFill>
                <a:schemeClr val="tx1"/>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chemeClr val="bg1"/>
                  </a:solidFill>
                </a:rPr>
                <a:t>Financial</a:t>
              </a:r>
            </a:p>
            <a:p>
              <a:pPr algn="ctr">
                <a:spcBef>
                  <a:spcPct val="0"/>
                </a:spcBef>
                <a:buClrTx/>
                <a:buFontTx/>
                <a:buNone/>
              </a:pPr>
              <a:r>
                <a:rPr lang="en-US" altLang="de-DE" sz="1600" dirty="0">
                  <a:solidFill>
                    <a:schemeClr val="bg1"/>
                  </a:solidFill>
                </a:rPr>
                <a:t>Accounting</a:t>
              </a:r>
            </a:p>
            <a:p>
              <a:pPr algn="ctr">
                <a:spcBef>
                  <a:spcPct val="0"/>
                </a:spcBef>
                <a:buClrTx/>
                <a:buFontTx/>
                <a:buNone/>
              </a:pPr>
              <a:r>
                <a:rPr lang="en-US" altLang="de-DE" sz="1600" dirty="0">
                  <a:solidFill>
                    <a:schemeClr val="bg1"/>
                  </a:solidFill>
                </a:rPr>
                <a:t>(FI)</a:t>
              </a:r>
            </a:p>
          </p:txBody>
        </p:sp>
        <p:sp>
          <p:nvSpPr>
            <p:cNvPr id="5" name="AutoShape 4"/>
            <p:cNvSpPr>
              <a:spLocks noChangeArrowheads="1"/>
            </p:cNvSpPr>
            <p:nvPr/>
          </p:nvSpPr>
          <p:spPr bwMode="auto">
            <a:xfrm>
              <a:off x="5754688" y="3081338"/>
              <a:ext cx="2743200" cy="381000"/>
            </a:xfrm>
            <a:prstGeom prst="flowChartAlternateProcess">
              <a:avLst/>
            </a:prstGeom>
            <a:solidFill>
              <a:srgbClr val="DBB40D"/>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rgbClr val="000000"/>
                  </a:solidFill>
                </a:rPr>
                <a:t>General Ledger Accounts</a:t>
              </a:r>
            </a:p>
          </p:txBody>
        </p:sp>
        <p:sp>
          <p:nvSpPr>
            <p:cNvPr id="6" name="AutoShape 5"/>
            <p:cNvSpPr>
              <a:spLocks noChangeArrowheads="1"/>
            </p:cNvSpPr>
            <p:nvPr/>
          </p:nvSpPr>
          <p:spPr bwMode="auto">
            <a:xfrm>
              <a:off x="4535488" y="5595938"/>
              <a:ext cx="1620837" cy="609600"/>
            </a:xfrm>
            <a:prstGeom prst="flowChartAlternateProcess">
              <a:avLst/>
            </a:prstGeom>
            <a:solidFill>
              <a:srgbClr val="DBB40D"/>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rgbClr val="000000"/>
                  </a:solidFill>
                </a:rPr>
                <a:t>Revenue</a:t>
              </a:r>
            </a:p>
            <a:p>
              <a:pPr algn="ctr">
                <a:spcBef>
                  <a:spcPct val="0"/>
                </a:spcBef>
                <a:buClrTx/>
                <a:buFontTx/>
                <a:buNone/>
              </a:pPr>
              <a:r>
                <a:rPr lang="en-US" altLang="de-DE" sz="1600" dirty="0">
                  <a:solidFill>
                    <a:srgbClr val="000000"/>
                  </a:solidFill>
                </a:rPr>
                <a:t>Accounts</a:t>
              </a:r>
            </a:p>
          </p:txBody>
        </p:sp>
        <p:sp>
          <p:nvSpPr>
            <p:cNvPr id="7" name="AutoShape 6"/>
            <p:cNvSpPr>
              <a:spLocks noChangeArrowheads="1"/>
            </p:cNvSpPr>
            <p:nvPr/>
          </p:nvSpPr>
          <p:spPr bwMode="auto">
            <a:xfrm>
              <a:off x="7278688" y="3843338"/>
              <a:ext cx="1620837" cy="609600"/>
            </a:xfrm>
            <a:prstGeom prst="flowChartAlternateProcess">
              <a:avLst/>
            </a:prstGeom>
            <a:solidFill>
              <a:srgbClr val="DBB40D"/>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rgbClr val="000000"/>
                  </a:solidFill>
                </a:rPr>
                <a:t>Balance</a:t>
              </a:r>
            </a:p>
            <a:p>
              <a:pPr algn="ctr">
                <a:spcBef>
                  <a:spcPct val="0"/>
                </a:spcBef>
                <a:buClrTx/>
                <a:buFontTx/>
                <a:buNone/>
              </a:pPr>
              <a:r>
                <a:rPr lang="en-US" altLang="de-DE" sz="1600" dirty="0">
                  <a:solidFill>
                    <a:srgbClr val="000000"/>
                  </a:solidFill>
                </a:rPr>
                <a:t>Sheet</a:t>
              </a:r>
            </a:p>
          </p:txBody>
        </p:sp>
        <p:sp>
          <p:nvSpPr>
            <p:cNvPr id="8" name="AutoShape 7"/>
            <p:cNvSpPr>
              <a:spLocks noChangeArrowheads="1"/>
            </p:cNvSpPr>
            <p:nvPr/>
          </p:nvSpPr>
          <p:spPr bwMode="auto">
            <a:xfrm>
              <a:off x="5526088" y="3843338"/>
              <a:ext cx="1620837" cy="609600"/>
            </a:xfrm>
            <a:prstGeom prst="flowChartAlternateProcess">
              <a:avLst/>
            </a:prstGeom>
            <a:solidFill>
              <a:srgbClr val="DBB40D"/>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rgbClr val="000000"/>
                  </a:solidFill>
                </a:rPr>
                <a:t>Income </a:t>
              </a:r>
            </a:p>
            <a:p>
              <a:pPr algn="ctr">
                <a:spcBef>
                  <a:spcPct val="0"/>
                </a:spcBef>
                <a:buClrTx/>
                <a:buFontTx/>
                <a:buNone/>
              </a:pPr>
              <a:r>
                <a:rPr lang="en-US" altLang="de-DE" sz="1600" dirty="0">
                  <a:solidFill>
                    <a:srgbClr val="000000"/>
                  </a:solidFill>
                </a:rPr>
                <a:t>Statement</a:t>
              </a:r>
            </a:p>
          </p:txBody>
        </p:sp>
        <p:sp>
          <p:nvSpPr>
            <p:cNvPr id="9" name="AutoShape 8"/>
            <p:cNvSpPr>
              <a:spLocks noChangeArrowheads="1"/>
            </p:cNvSpPr>
            <p:nvPr/>
          </p:nvSpPr>
          <p:spPr bwMode="auto">
            <a:xfrm>
              <a:off x="4535488" y="4833938"/>
              <a:ext cx="1620837" cy="609600"/>
            </a:xfrm>
            <a:prstGeom prst="flowChartAlternateProcess">
              <a:avLst/>
            </a:prstGeom>
            <a:solidFill>
              <a:schemeClr val="tx2"/>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chemeClr val="bg1"/>
                  </a:solidFill>
                </a:rPr>
                <a:t>Expense</a:t>
              </a:r>
            </a:p>
            <a:p>
              <a:pPr algn="ctr">
                <a:spcBef>
                  <a:spcPct val="0"/>
                </a:spcBef>
                <a:buClrTx/>
                <a:buFontTx/>
                <a:buNone/>
              </a:pPr>
              <a:r>
                <a:rPr lang="en-US" altLang="de-DE" sz="1600" dirty="0">
                  <a:solidFill>
                    <a:schemeClr val="bg1"/>
                  </a:solidFill>
                </a:rPr>
                <a:t>Accounts</a:t>
              </a:r>
            </a:p>
          </p:txBody>
        </p:sp>
        <p:sp>
          <p:nvSpPr>
            <p:cNvPr id="10" name="AutoShape 9"/>
            <p:cNvSpPr>
              <a:spLocks noChangeArrowheads="1"/>
            </p:cNvSpPr>
            <p:nvPr/>
          </p:nvSpPr>
          <p:spPr bwMode="auto">
            <a:xfrm>
              <a:off x="1258888" y="1557338"/>
              <a:ext cx="1752600" cy="838200"/>
            </a:xfrm>
            <a:prstGeom prst="flowChartAlternateProcess">
              <a:avLst/>
            </a:prstGeom>
            <a:solidFill>
              <a:schemeClr val="tx2"/>
            </a:solidFill>
            <a:ln w="25400" algn="ctr">
              <a:solidFill>
                <a:schemeClr val="tx1"/>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chemeClr val="bg1"/>
                  </a:solidFill>
                </a:rPr>
                <a:t>Managerial</a:t>
              </a:r>
            </a:p>
            <a:p>
              <a:pPr algn="ctr">
                <a:spcBef>
                  <a:spcPct val="0"/>
                </a:spcBef>
                <a:buClrTx/>
                <a:buFontTx/>
                <a:buNone/>
              </a:pPr>
              <a:r>
                <a:rPr lang="en-US" altLang="de-DE" sz="1600" dirty="0">
                  <a:solidFill>
                    <a:schemeClr val="bg1"/>
                  </a:solidFill>
                </a:rPr>
                <a:t>Accounting</a:t>
              </a:r>
            </a:p>
            <a:p>
              <a:pPr algn="ctr">
                <a:spcBef>
                  <a:spcPct val="0"/>
                </a:spcBef>
                <a:buClrTx/>
                <a:buFontTx/>
                <a:buNone/>
              </a:pPr>
              <a:r>
                <a:rPr lang="en-US" altLang="de-DE" sz="1600" dirty="0">
                  <a:solidFill>
                    <a:schemeClr val="bg1"/>
                  </a:solidFill>
                </a:rPr>
                <a:t>(CO)</a:t>
              </a:r>
            </a:p>
          </p:txBody>
        </p:sp>
        <p:sp>
          <p:nvSpPr>
            <p:cNvPr id="11" name="AutoShape 10"/>
            <p:cNvSpPr>
              <a:spLocks noChangeArrowheads="1"/>
            </p:cNvSpPr>
            <p:nvPr/>
          </p:nvSpPr>
          <p:spPr bwMode="auto">
            <a:xfrm>
              <a:off x="801688" y="3081338"/>
              <a:ext cx="2667000" cy="381000"/>
            </a:xfrm>
            <a:prstGeom prst="flowChartAlternateProcess">
              <a:avLst/>
            </a:prstGeom>
            <a:solidFill>
              <a:srgbClr val="DBB40D"/>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rgbClr val="000000"/>
                  </a:solidFill>
                </a:rPr>
                <a:t>Aggregated Cost Elements</a:t>
              </a:r>
            </a:p>
          </p:txBody>
        </p:sp>
        <p:sp>
          <p:nvSpPr>
            <p:cNvPr id="12" name="AutoShape 11"/>
            <p:cNvSpPr>
              <a:spLocks noChangeArrowheads="1"/>
            </p:cNvSpPr>
            <p:nvPr/>
          </p:nvSpPr>
          <p:spPr bwMode="auto">
            <a:xfrm>
              <a:off x="2325688" y="4833938"/>
              <a:ext cx="1620837" cy="609600"/>
            </a:xfrm>
            <a:prstGeom prst="flowChartAlternateProcess">
              <a:avLst/>
            </a:prstGeom>
            <a:solidFill>
              <a:schemeClr val="tx2"/>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chemeClr val="bg1"/>
                  </a:solidFill>
                </a:rPr>
                <a:t>Primary Cost</a:t>
              </a:r>
            </a:p>
            <a:p>
              <a:pPr algn="ctr">
                <a:spcBef>
                  <a:spcPct val="0"/>
                </a:spcBef>
                <a:buClrTx/>
                <a:buFontTx/>
                <a:buNone/>
              </a:pPr>
              <a:r>
                <a:rPr lang="en-US" altLang="de-DE" sz="1600" dirty="0">
                  <a:solidFill>
                    <a:schemeClr val="bg1"/>
                  </a:solidFill>
                </a:rPr>
                <a:t>Elements</a:t>
              </a:r>
            </a:p>
          </p:txBody>
        </p:sp>
        <p:sp>
          <p:nvSpPr>
            <p:cNvPr id="13" name="AutoShape 12"/>
            <p:cNvSpPr>
              <a:spLocks noChangeArrowheads="1"/>
            </p:cNvSpPr>
            <p:nvPr/>
          </p:nvSpPr>
          <p:spPr bwMode="auto">
            <a:xfrm>
              <a:off x="268288" y="4833938"/>
              <a:ext cx="1620837" cy="609600"/>
            </a:xfrm>
            <a:prstGeom prst="flowChartAlternateProcess">
              <a:avLst/>
            </a:prstGeom>
            <a:solidFill>
              <a:srgbClr val="DBB40D"/>
            </a:solidFill>
            <a:ln w="25400" algn="ctr">
              <a:solidFill>
                <a:srgbClr val="000000"/>
              </a:solidFill>
              <a:miter lim="800000"/>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600" dirty="0">
                  <a:solidFill>
                    <a:srgbClr val="000000"/>
                  </a:solidFill>
                </a:rPr>
                <a:t>Secondary Cost</a:t>
              </a:r>
            </a:p>
            <a:p>
              <a:pPr algn="ctr">
                <a:spcBef>
                  <a:spcPct val="0"/>
                </a:spcBef>
                <a:buClrTx/>
                <a:buFontTx/>
                <a:buNone/>
              </a:pPr>
              <a:r>
                <a:rPr lang="en-US" altLang="de-DE" sz="1600" dirty="0">
                  <a:solidFill>
                    <a:srgbClr val="000000"/>
                  </a:solidFill>
                </a:rPr>
                <a:t>Elements</a:t>
              </a:r>
            </a:p>
          </p:txBody>
        </p:sp>
        <p:cxnSp>
          <p:nvCxnSpPr>
            <p:cNvPr id="14" name="AutoShape 13"/>
            <p:cNvCxnSpPr>
              <a:cxnSpLocks noChangeShapeType="1"/>
              <a:stCxn id="4" idx="2"/>
              <a:endCxn id="5" idx="0"/>
            </p:cNvCxnSpPr>
            <p:nvPr/>
          </p:nvCxnSpPr>
          <p:spPr bwMode="auto">
            <a:xfrm>
              <a:off x="7126288" y="2408238"/>
              <a:ext cx="0" cy="660400"/>
            </a:xfrm>
            <a:prstGeom prst="straightConnector1">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cxnSp>
        <p:cxnSp>
          <p:nvCxnSpPr>
            <p:cNvPr id="15" name="AutoShape 14"/>
            <p:cNvCxnSpPr>
              <a:cxnSpLocks noChangeShapeType="1"/>
              <a:stCxn id="5" idx="2"/>
              <a:endCxn id="8" idx="0"/>
            </p:cNvCxnSpPr>
            <p:nvPr/>
          </p:nvCxnSpPr>
          <p:spPr bwMode="auto">
            <a:xfrm rot="5400000">
              <a:off x="6553994" y="3258344"/>
              <a:ext cx="355600" cy="788988"/>
            </a:xfrm>
            <a:prstGeom prst="bentConnector3">
              <a:avLst>
                <a:gd name="adj1" fmla="val 50000"/>
              </a:avLst>
            </a:prstGeom>
            <a:noFill/>
            <a:ln w="38100">
              <a:solidFill>
                <a:srgbClr val="000000"/>
              </a:solidFill>
              <a:miter lim="800000"/>
              <a:headEnd/>
              <a:tailEnd type="none" w="lg" len="lg"/>
            </a:ln>
            <a:extLst>
              <a:ext uri="{909E8E84-426E-40DD-AFC4-6F175D3DCCD1}">
                <a14:hiddenFill xmlns:a14="http://schemas.microsoft.com/office/drawing/2010/main">
                  <a:noFill/>
                </a14:hiddenFill>
              </a:ext>
            </a:extLst>
          </p:spPr>
        </p:cxnSp>
        <p:cxnSp>
          <p:nvCxnSpPr>
            <p:cNvPr id="16" name="AutoShape 15"/>
            <p:cNvCxnSpPr>
              <a:cxnSpLocks noChangeShapeType="1"/>
              <a:stCxn id="5" idx="2"/>
              <a:endCxn id="7" idx="0"/>
            </p:cNvCxnSpPr>
            <p:nvPr/>
          </p:nvCxnSpPr>
          <p:spPr bwMode="auto">
            <a:xfrm rot="16200000" flipH="1">
              <a:off x="7430294" y="3171032"/>
              <a:ext cx="355600" cy="963612"/>
            </a:xfrm>
            <a:prstGeom prst="bentConnector3">
              <a:avLst>
                <a:gd name="adj1" fmla="val 50000"/>
              </a:avLst>
            </a:prstGeom>
            <a:noFill/>
            <a:ln w="38100">
              <a:solidFill>
                <a:srgbClr val="000000"/>
              </a:solidFill>
              <a:miter lim="800000"/>
              <a:headEnd/>
              <a:tailEnd type="none" w="lg" len="lg"/>
            </a:ln>
            <a:extLst>
              <a:ext uri="{909E8E84-426E-40DD-AFC4-6F175D3DCCD1}">
                <a14:hiddenFill xmlns:a14="http://schemas.microsoft.com/office/drawing/2010/main">
                  <a:noFill/>
                </a14:hiddenFill>
              </a:ext>
            </a:extLst>
          </p:spPr>
        </p:cxnSp>
        <p:cxnSp>
          <p:nvCxnSpPr>
            <p:cNvPr id="17" name="AutoShape 16"/>
            <p:cNvCxnSpPr>
              <a:cxnSpLocks noChangeShapeType="1"/>
              <a:stCxn id="8" idx="2"/>
              <a:endCxn id="9" idx="3"/>
            </p:cNvCxnSpPr>
            <p:nvPr/>
          </p:nvCxnSpPr>
          <p:spPr bwMode="auto">
            <a:xfrm rot="5400000">
              <a:off x="5916613" y="4718050"/>
              <a:ext cx="673100" cy="168275"/>
            </a:xfrm>
            <a:prstGeom prst="bentConnector2">
              <a:avLst/>
            </a:prstGeom>
            <a:noFill/>
            <a:ln w="38100">
              <a:solidFill>
                <a:srgbClr val="000000"/>
              </a:solidFill>
              <a:miter lim="800000"/>
              <a:headEnd/>
              <a:tailEnd type="none" w="lg" len="lg"/>
            </a:ln>
            <a:extLst>
              <a:ext uri="{909E8E84-426E-40DD-AFC4-6F175D3DCCD1}">
                <a14:hiddenFill xmlns:a14="http://schemas.microsoft.com/office/drawing/2010/main">
                  <a:noFill/>
                </a14:hiddenFill>
              </a:ext>
            </a:extLst>
          </p:spPr>
        </p:cxnSp>
        <p:cxnSp>
          <p:nvCxnSpPr>
            <p:cNvPr id="18" name="AutoShape 17"/>
            <p:cNvCxnSpPr>
              <a:cxnSpLocks noChangeShapeType="1"/>
              <a:stCxn id="8" idx="2"/>
              <a:endCxn id="6" idx="3"/>
            </p:cNvCxnSpPr>
            <p:nvPr/>
          </p:nvCxnSpPr>
          <p:spPr bwMode="auto">
            <a:xfrm rot="5400000">
              <a:off x="5535613" y="5099050"/>
              <a:ext cx="1435100" cy="168275"/>
            </a:xfrm>
            <a:prstGeom prst="bentConnector2">
              <a:avLst/>
            </a:prstGeom>
            <a:noFill/>
            <a:ln w="38100">
              <a:solidFill>
                <a:srgbClr val="000000"/>
              </a:solidFill>
              <a:miter lim="800000"/>
              <a:headEnd/>
              <a:tailEnd type="none" w="lg" len="lg"/>
            </a:ln>
            <a:extLst>
              <a:ext uri="{909E8E84-426E-40DD-AFC4-6F175D3DCCD1}">
                <a14:hiddenFill xmlns:a14="http://schemas.microsoft.com/office/drawing/2010/main">
                  <a:noFill/>
                </a14:hiddenFill>
              </a:ext>
            </a:extLst>
          </p:spPr>
        </p:cxnSp>
        <p:cxnSp>
          <p:nvCxnSpPr>
            <p:cNvPr id="19" name="AutoShape 18"/>
            <p:cNvCxnSpPr>
              <a:cxnSpLocks noChangeShapeType="1"/>
              <a:stCxn id="12" idx="3"/>
              <a:endCxn id="9" idx="1"/>
            </p:cNvCxnSpPr>
            <p:nvPr/>
          </p:nvCxnSpPr>
          <p:spPr bwMode="auto">
            <a:xfrm>
              <a:off x="3959225" y="5138738"/>
              <a:ext cx="563563" cy="0"/>
            </a:xfrm>
            <a:prstGeom prst="straightConnector1">
              <a:avLst/>
            </a:prstGeom>
            <a:noFill/>
            <a:ln w="38100">
              <a:solidFill>
                <a:schemeClr val="tx1"/>
              </a:solidFill>
              <a:round/>
              <a:headEnd type="triangle" w="lg" len="med"/>
              <a:tailEnd type="triangle" w="lg" len="med"/>
            </a:ln>
            <a:extLst>
              <a:ext uri="{909E8E84-426E-40DD-AFC4-6F175D3DCCD1}">
                <a14:hiddenFill xmlns:a14="http://schemas.microsoft.com/office/drawing/2010/main">
                  <a:noFill/>
                </a14:hiddenFill>
              </a:ext>
            </a:extLst>
          </p:spPr>
        </p:cxnSp>
        <p:cxnSp>
          <p:nvCxnSpPr>
            <p:cNvPr id="20" name="AutoShape 19"/>
            <p:cNvCxnSpPr>
              <a:cxnSpLocks noChangeShapeType="1"/>
              <a:stCxn id="10" idx="2"/>
              <a:endCxn id="11" idx="0"/>
            </p:cNvCxnSpPr>
            <p:nvPr/>
          </p:nvCxnSpPr>
          <p:spPr bwMode="auto">
            <a:xfrm>
              <a:off x="2135188" y="2408238"/>
              <a:ext cx="0" cy="660400"/>
            </a:xfrm>
            <a:prstGeom prst="straightConnector1">
              <a:avLst/>
            </a:prstGeom>
            <a:noFill/>
            <a:ln w="38100">
              <a:solidFill>
                <a:srgbClr val="000000"/>
              </a:solidFill>
              <a:round/>
              <a:headEnd/>
              <a:tailEnd type="none" w="lg" len="lg"/>
            </a:ln>
            <a:extLst>
              <a:ext uri="{909E8E84-426E-40DD-AFC4-6F175D3DCCD1}">
                <a14:hiddenFill xmlns:a14="http://schemas.microsoft.com/office/drawing/2010/main">
                  <a:noFill/>
                </a14:hiddenFill>
              </a:ext>
            </a:extLst>
          </p:spPr>
        </p:cxnSp>
        <p:cxnSp>
          <p:nvCxnSpPr>
            <p:cNvPr id="21" name="AutoShape 20"/>
            <p:cNvCxnSpPr>
              <a:cxnSpLocks noChangeShapeType="1"/>
              <a:stCxn id="11" idx="2"/>
              <a:endCxn id="13" idx="0"/>
            </p:cNvCxnSpPr>
            <p:nvPr/>
          </p:nvCxnSpPr>
          <p:spPr bwMode="auto">
            <a:xfrm rot="5400000">
              <a:off x="934244" y="3620294"/>
              <a:ext cx="1346200" cy="1055688"/>
            </a:xfrm>
            <a:prstGeom prst="bentConnector3">
              <a:avLst>
                <a:gd name="adj1" fmla="val 50000"/>
              </a:avLst>
            </a:prstGeom>
            <a:noFill/>
            <a:ln w="38100">
              <a:solidFill>
                <a:srgbClr val="000000"/>
              </a:solidFill>
              <a:miter lim="800000"/>
              <a:headEnd/>
              <a:tailEnd type="none" w="lg" len="lg"/>
            </a:ln>
            <a:extLst>
              <a:ext uri="{909E8E84-426E-40DD-AFC4-6F175D3DCCD1}">
                <a14:hiddenFill xmlns:a14="http://schemas.microsoft.com/office/drawing/2010/main">
                  <a:noFill/>
                </a14:hiddenFill>
              </a:ext>
            </a:extLst>
          </p:spPr>
        </p:cxnSp>
        <p:cxnSp>
          <p:nvCxnSpPr>
            <p:cNvPr id="22" name="AutoShape 21"/>
            <p:cNvCxnSpPr>
              <a:cxnSpLocks noChangeShapeType="1"/>
              <a:stCxn id="11" idx="2"/>
              <a:endCxn id="12" idx="0"/>
            </p:cNvCxnSpPr>
            <p:nvPr/>
          </p:nvCxnSpPr>
          <p:spPr bwMode="auto">
            <a:xfrm rot="16200000" flipH="1">
              <a:off x="1962944" y="3647282"/>
              <a:ext cx="1346200" cy="1001712"/>
            </a:xfrm>
            <a:prstGeom prst="bentConnector3">
              <a:avLst>
                <a:gd name="adj1" fmla="val 50000"/>
              </a:avLst>
            </a:prstGeom>
            <a:noFill/>
            <a:ln w="38100">
              <a:solidFill>
                <a:srgbClr val="000000"/>
              </a:solidFill>
              <a:miter lim="800000"/>
              <a:headEnd/>
              <a:tailEnd type="non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000312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Statistical Key Figures </a:t>
            </a:r>
          </a:p>
          <a:p>
            <a:pPr lvl="1"/>
            <a:r>
              <a:rPr lang="en-US" altLang="de-DE" dirty="0">
                <a:latin typeface="Arial" panose="020B0604020202020204" pitchFamily="34" charset="0"/>
              </a:rPr>
              <a:t>Provide the foundation for accurate and effective cost allocations between cost objects</a:t>
            </a:r>
          </a:p>
          <a:p>
            <a:pPr lvl="1"/>
            <a:r>
              <a:rPr lang="en-US" altLang="de-DE" dirty="0">
                <a:latin typeface="Arial" panose="020B0604020202020204" pitchFamily="34" charset="0"/>
              </a:rPr>
              <a:t>Utilized to support internal cost allocations involving allocations, assessments, and distributions</a:t>
            </a:r>
          </a:p>
          <a:p>
            <a:pPr lvl="1"/>
            <a:r>
              <a:rPr lang="en-US" altLang="de-DE" dirty="0">
                <a:latin typeface="Arial" panose="020B0604020202020204" pitchFamily="34" charset="0"/>
              </a:rPr>
              <a:t>Examples: </a:t>
            </a:r>
          </a:p>
          <a:p>
            <a:pPr lvl="2"/>
            <a:r>
              <a:rPr lang="en-US" altLang="de-DE" dirty="0">
                <a:latin typeface="Arial" panose="020B0604020202020204" pitchFamily="34" charset="0"/>
              </a:rPr>
              <a:t>number of employees</a:t>
            </a:r>
          </a:p>
          <a:p>
            <a:pPr lvl="2"/>
            <a:r>
              <a:rPr lang="en-US" altLang="de-DE" dirty="0">
                <a:latin typeface="Arial" panose="020B0604020202020204" pitchFamily="34" charset="0"/>
              </a:rPr>
              <a:t>square footage</a:t>
            </a:r>
          </a:p>
          <a:p>
            <a:pPr lvl="2"/>
            <a:r>
              <a:rPr lang="en-US" altLang="de-DE" dirty="0">
                <a:latin typeface="Arial" panose="020B0604020202020204" pitchFamily="34" charset="0"/>
              </a:rPr>
              <a:t>minutes of computer usage</a:t>
            </a:r>
          </a:p>
        </p:txBody>
      </p:sp>
      <p:sp>
        <p:nvSpPr>
          <p:cNvPr id="3" name="Titel 2"/>
          <p:cNvSpPr>
            <a:spLocks noGrp="1"/>
          </p:cNvSpPr>
          <p:nvPr>
            <p:ph type="title"/>
          </p:nvPr>
        </p:nvSpPr>
        <p:spPr/>
        <p:txBody>
          <a:bodyPr/>
          <a:lstStyle/>
          <a:p>
            <a:r>
              <a:rPr lang="en-US" altLang="de-DE" dirty="0">
                <a:latin typeface="Arial" panose="020B0604020202020204" pitchFamily="34" charset="0"/>
              </a:rPr>
              <a:t>CO Master Data</a:t>
            </a:r>
            <a:endParaRPr lang="de-DE" dirty="0"/>
          </a:p>
        </p:txBody>
      </p:sp>
      <p:grpSp>
        <p:nvGrpSpPr>
          <p:cNvPr id="4" name="Group 4"/>
          <p:cNvGrpSpPr>
            <a:grpSpLocks/>
          </p:cNvGrpSpPr>
          <p:nvPr/>
        </p:nvGrpSpPr>
        <p:grpSpPr bwMode="auto">
          <a:xfrm>
            <a:off x="3086700" y="3801883"/>
            <a:ext cx="6019800" cy="2281238"/>
            <a:chOff x="624" y="864"/>
            <a:chExt cx="3792" cy="2544"/>
          </a:xfrm>
        </p:grpSpPr>
        <p:sp>
          <p:nvSpPr>
            <p:cNvPr id="5" name="Rectangle 5"/>
            <p:cNvSpPr>
              <a:spLocks noChangeArrowheads="1"/>
            </p:cNvSpPr>
            <p:nvPr/>
          </p:nvSpPr>
          <p:spPr bwMode="auto">
            <a:xfrm>
              <a:off x="624" y="864"/>
              <a:ext cx="720" cy="2544"/>
            </a:xfrm>
            <a:prstGeom prst="rect">
              <a:avLst/>
            </a:prstGeom>
            <a:solidFill>
              <a:schemeClr val="tx2"/>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chemeClr val="bg1"/>
                  </a:solidFill>
                </a:rPr>
                <a:t>Copy </a:t>
              </a:r>
            </a:p>
            <a:p>
              <a:pPr algn="ctr">
                <a:spcBef>
                  <a:spcPct val="0"/>
                </a:spcBef>
                <a:buClrTx/>
                <a:buFontTx/>
                <a:buNone/>
              </a:pPr>
              <a:r>
                <a:rPr lang="en-US" altLang="de-DE" sz="1800" b="0" dirty="0">
                  <a:solidFill>
                    <a:schemeClr val="bg1"/>
                  </a:solidFill>
                </a:rPr>
                <a:t>Center</a:t>
              </a:r>
            </a:p>
            <a:p>
              <a:pPr algn="ctr">
                <a:spcBef>
                  <a:spcPct val="0"/>
                </a:spcBef>
                <a:buClrTx/>
                <a:buFontTx/>
                <a:buNone/>
              </a:pPr>
              <a:r>
                <a:rPr lang="en-US" altLang="de-DE" sz="1800" b="0" dirty="0">
                  <a:solidFill>
                    <a:schemeClr val="bg1"/>
                  </a:solidFill>
                </a:rPr>
                <a:t>Activity</a:t>
              </a:r>
            </a:p>
            <a:p>
              <a:pPr algn="ctr">
                <a:spcBef>
                  <a:spcPct val="0"/>
                </a:spcBef>
                <a:buClrTx/>
                <a:buFontTx/>
                <a:buNone/>
              </a:pPr>
              <a:r>
                <a:rPr lang="en-US" altLang="de-DE" sz="1800" b="0" dirty="0">
                  <a:solidFill>
                    <a:schemeClr val="bg1"/>
                  </a:solidFill>
                </a:rPr>
                <a:t>(20 Hours)</a:t>
              </a:r>
            </a:p>
          </p:txBody>
        </p:sp>
        <p:sp>
          <p:nvSpPr>
            <p:cNvPr id="6" name="AutoShape 6"/>
            <p:cNvSpPr>
              <a:spLocks noChangeArrowheads="1"/>
            </p:cNvSpPr>
            <p:nvPr/>
          </p:nvSpPr>
          <p:spPr bwMode="auto">
            <a:xfrm>
              <a:off x="1488" y="1680"/>
              <a:ext cx="1104" cy="768"/>
            </a:xfrm>
            <a:prstGeom prst="rightArrow">
              <a:avLst>
                <a:gd name="adj1" fmla="val 50000"/>
                <a:gd name="adj2" fmla="val 35938"/>
              </a:avLst>
            </a:prstGeom>
            <a:solidFill>
              <a:srgbClr val="DBB40D"/>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rgbClr val="000000"/>
                  </a:solidFill>
                </a:rPr>
                <a:t>10 Hours</a:t>
              </a:r>
            </a:p>
          </p:txBody>
        </p:sp>
        <p:sp>
          <p:nvSpPr>
            <p:cNvPr id="7" name="AutoShape 7"/>
            <p:cNvSpPr>
              <a:spLocks noChangeArrowheads="1"/>
            </p:cNvSpPr>
            <p:nvPr/>
          </p:nvSpPr>
          <p:spPr bwMode="auto">
            <a:xfrm>
              <a:off x="1488" y="864"/>
              <a:ext cx="1104" cy="768"/>
            </a:xfrm>
            <a:prstGeom prst="rightArrow">
              <a:avLst>
                <a:gd name="adj1" fmla="val 50000"/>
                <a:gd name="adj2" fmla="val 35938"/>
              </a:avLst>
            </a:prstGeom>
            <a:solidFill>
              <a:srgbClr val="DBB40D"/>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rgbClr val="000000"/>
                  </a:solidFill>
                </a:rPr>
                <a:t>6 Hours</a:t>
              </a:r>
            </a:p>
          </p:txBody>
        </p:sp>
        <p:sp>
          <p:nvSpPr>
            <p:cNvPr id="8" name="AutoShape 8"/>
            <p:cNvSpPr>
              <a:spLocks noChangeArrowheads="1"/>
            </p:cNvSpPr>
            <p:nvPr/>
          </p:nvSpPr>
          <p:spPr bwMode="auto">
            <a:xfrm>
              <a:off x="1488" y="2496"/>
              <a:ext cx="1104" cy="768"/>
            </a:xfrm>
            <a:prstGeom prst="rightArrow">
              <a:avLst>
                <a:gd name="adj1" fmla="val 50000"/>
                <a:gd name="adj2" fmla="val 35938"/>
              </a:avLst>
            </a:prstGeom>
            <a:solidFill>
              <a:srgbClr val="DBB40D"/>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rgbClr val="000000"/>
                  </a:solidFill>
                </a:rPr>
                <a:t>4 Hours</a:t>
              </a:r>
            </a:p>
          </p:txBody>
        </p:sp>
        <p:sp>
          <p:nvSpPr>
            <p:cNvPr id="9" name="AutoShape 9"/>
            <p:cNvSpPr>
              <a:spLocks noChangeArrowheads="1"/>
            </p:cNvSpPr>
            <p:nvPr/>
          </p:nvSpPr>
          <p:spPr bwMode="auto">
            <a:xfrm>
              <a:off x="2736" y="912"/>
              <a:ext cx="1680" cy="672"/>
            </a:xfrm>
            <a:prstGeom prst="roundRect">
              <a:avLst>
                <a:gd name="adj" fmla="val 16667"/>
              </a:avLst>
            </a:prstGeom>
            <a:solidFill>
              <a:schemeClr val="tx2"/>
            </a:solidFill>
            <a:ln w="12700">
              <a:solidFill>
                <a:srgbClr val="000000"/>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chemeClr val="bg1"/>
                  </a:solidFill>
                </a:rPr>
                <a:t>Executive Offices</a:t>
              </a:r>
            </a:p>
          </p:txBody>
        </p:sp>
        <p:sp>
          <p:nvSpPr>
            <p:cNvPr id="10" name="AutoShape 10"/>
            <p:cNvSpPr>
              <a:spLocks noChangeArrowheads="1"/>
            </p:cNvSpPr>
            <p:nvPr/>
          </p:nvSpPr>
          <p:spPr bwMode="auto">
            <a:xfrm>
              <a:off x="2736" y="1728"/>
              <a:ext cx="1680" cy="672"/>
            </a:xfrm>
            <a:prstGeom prst="roundRect">
              <a:avLst>
                <a:gd name="adj" fmla="val 16667"/>
              </a:avLst>
            </a:prstGeom>
            <a:solidFill>
              <a:schemeClr val="tx2"/>
            </a:solidFill>
            <a:ln w="12700">
              <a:solidFill>
                <a:srgbClr val="000000"/>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chemeClr val="bg1"/>
                  </a:solidFill>
                </a:rPr>
                <a:t>Maintenance</a:t>
              </a:r>
            </a:p>
            <a:p>
              <a:pPr algn="ctr">
                <a:spcBef>
                  <a:spcPct val="0"/>
                </a:spcBef>
                <a:buClrTx/>
                <a:buFontTx/>
                <a:buNone/>
              </a:pPr>
              <a:r>
                <a:rPr lang="en-US" altLang="de-DE" sz="1800" b="0" dirty="0">
                  <a:solidFill>
                    <a:schemeClr val="bg1"/>
                  </a:solidFill>
                </a:rPr>
                <a:t>Department</a:t>
              </a:r>
            </a:p>
          </p:txBody>
        </p:sp>
        <p:sp>
          <p:nvSpPr>
            <p:cNvPr id="11" name="AutoShape 11"/>
            <p:cNvSpPr>
              <a:spLocks noChangeArrowheads="1"/>
            </p:cNvSpPr>
            <p:nvPr/>
          </p:nvSpPr>
          <p:spPr bwMode="auto">
            <a:xfrm>
              <a:off x="2736" y="2544"/>
              <a:ext cx="1680" cy="672"/>
            </a:xfrm>
            <a:prstGeom prst="roundRect">
              <a:avLst>
                <a:gd name="adj" fmla="val 16667"/>
              </a:avLst>
            </a:prstGeom>
            <a:solidFill>
              <a:schemeClr val="tx2"/>
            </a:solidFill>
            <a:ln w="12700">
              <a:solidFill>
                <a:srgbClr val="000000"/>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dirty="0">
                  <a:solidFill>
                    <a:schemeClr val="bg1"/>
                  </a:solidFill>
                </a:rPr>
                <a:t>IT Department</a:t>
              </a:r>
            </a:p>
          </p:txBody>
        </p:sp>
      </p:grpSp>
    </p:spTree>
    <p:extLst>
      <p:ext uri="{BB962C8B-B14F-4D97-AF65-F5344CB8AC3E}">
        <p14:creationId xmlns:p14="http://schemas.microsoft.com/office/powerpoint/2010/main" val="2797940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latin typeface="Arial" panose="020B0604020202020204" pitchFamily="34" charset="0"/>
              </a:rPr>
              <a:t>Agenda</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pPr>
              <a:tabLst>
                <a:tab pos="1971675" algn="l"/>
              </a:tabLst>
            </a:pPr>
            <a:r>
              <a:rPr lang="en-US" altLang="de-DE" dirty="0">
                <a:solidFill>
                  <a:srgbClr val="B2B2B2"/>
                </a:solidFill>
                <a:latin typeface="Arial" panose="020B0604020202020204" pitchFamily="34" charset="0"/>
              </a:rPr>
              <a:t>CO Organizational Structure</a:t>
            </a:r>
          </a:p>
          <a:p>
            <a:pPr>
              <a:tabLst>
                <a:tab pos="1971675" algn="l"/>
              </a:tabLst>
            </a:pPr>
            <a:endParaRPr lang="en-US" altLang="de-DE" dirty="0">
              <a:solidFill>
                <a:srgbClr val="B2B2B2"/>
              </a:solidFill>
              <a:latin typeface="Arial" panose="020B0604020202020204" pitchFamily="34" charset="0"/>
            </a:endParaRPr>
          </a:p>
          <a:p>
            <a:pPr>
              <a:tabLst>
                <a:tab pos="1971675" algn="l"/>
              </a:tabLst>
            </a:pPr>
            <a:r>
              <a:rPr lang="en-US" altLang="de-DE" dirty="0">
                <a:solidFill>
                  <a:srgbClr val="B2B2B2"/>
                </a:solidFill>
                <a:latin typeface="Arial" panose="020B0604020202020204" pitchFamily="34" charset="0"/>
              </a:rPr>
              <a:t>CO Master Data</a:t>
            </a:r>
          </a:p>
          <a:p>
            <a:pPr>
              <a:tabLst>
                <a:tab pos="1971675" algn="l"/>
              </a:tabLst>
            </a:pPr>
            <a:endParaRPr lang="en-US" altLang="de-DE" dirty="0">
              <a:solidFill>
                <a:srgbClr val="B2B2B2"/>
              </a:solidFill>
              <a:latin typeface="Arial" panose="020B0604020202020204" pitchFamily="34" charset="0"/>
            </a:endParaRPr>
          </a:p>
          <a:p>
            <a:pPr>
              <a:tabLst>
                <a:tab pos="1971675" algn="l"/>
              </a:tabLst>
            </a:pPr>
            <a:r>
              <a:rPr lang="en-US" altLang="de-DE" dirty="0">
                <a:latin typeface="Arial" panose="020B0604020202020204" pitchFamily="34" charset="0"/>
              </a:rPr>
              <a:t>CO Processes</a:t>
            </a:r>
          </a:p>
          <a:p>
            <a:pPr marL="0" indent="0">
              <a:buNone/>
              <a:tabLst>
                <a:tab pos="1971675" algn="l"/>
              </a:tabLst>
            </a:pPr>
            <a:endParaRPr lang="en-US" altLang="de-DE" dirty="0">
              <a:latin typeface="Arial" panose="020B0604020202020204" pitchFamily="34" charset="0"/>
            </a:endParaRPr>
          </a:p>
          <a:p>
            <a:endParaRPr lang="de-DE" dirty="0"/>
          </a:p>
        </p:txBody>
      </p:sp>
    </p:spTree>
    <p:extLst>
      <p:ext uri="{BB962C8B-B14F-4D97-AF65-F5344CB8AC3E}">
        <p14:creationId xmlns:p14="http://schemas.microsoft.com/office/powerpoint/2010/main" val="1633748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err="1"/>
              <a:t>Posting</a:t>
            </a:r>
            <a:r>
              <a:rPr lang="de-DE" dirty="0"/>
              <a:t> Primary </a:t>
            </a:r>
            <a:r>
              <a:rPr lang="de-DE" dirty="0" err="1"/>
              <a:t>Cost</a:t>
            </a:r>
            <a:r>
              <a:rPr lang="de-DE" dirty="0"/>
              <a:t> </a:t>
            </a:r>
            <a:r>
              <a:rPr lang="de-DE" dirty="0" smtClean="0"/>
              <a:t>Element</a:t>
            </a:r>
            <a:endParaRPr lang="de-DE" dirty="0"/>
          </a:p>
        </p:txBody>
      </p:sp>
      <p:sp>
        <p:nvSpPr>
          <p:cNvPr id="3" name="Titel 2"/>
          <p:cNvSpPr>
            <a:spLocks noGrp="1"/>
          </p:cNvSpPr>
          <p:nvPr>
            <p:ph type="title"/>
          </p:nvPr>
        </p:nvSpPr>
        <p:spPr/>
        <p:txBody>
          <a:bodyPr/>
          <a:lstStyle/>
          <a:p>
            <a:r>
              <a:rPr lang="en-US" altLang="de-DE" dirty="0">
                <a:latin typeface="Arial" panose="020B0604020202020204" pitchFamily="34" charset="0"/>
              </a:rPr>
              <a:t>CO Processes</a:t>
            </a:r>
            <a:endParaRPr lang="de-DE" dirty="0"/>
          </a:p>
        </p:txBody>
      </p:sp>
      <p:grpSp>
        <p:nvGrpSpPr>
          <p:cNvPr id="27" name="Gruppieren 26"/>
          <p:cNvGrpSpPr/>
          <p:nvPr/>
        </p:nvGrpSpPr>
        <p:grpSpPr>
          <a:xfrm>
            <a:off x="4073859" y="2013368"/>
            <a:ext cx="5257800" cy="4271962"/>
            <a:chOff x="1908175" y="1820863"/>
            <a:chExt cx="5257800" cy="4271962"/>
          </a:xfrm>
        </p:grpSpPr>
        <p:sp>
          <p:nvSpPr>
            <p:cNvPr id="4" name="Rectangle 3"/>
            <p:cNvSpPr>
              <a:spLocks noChangeArrowheads="1"/>
            </p:cNvSpPr>
            <p:nvPr/>
          </p:nvSpPr>
          <p:spPr bwMode="auto">
            <a:xfrm>
              <a:off x="1908175" y="4873625"/>
              <a:ext cx="5257800" cy="1219200"/>
            </a:xfrm>
            <a:prstGeom prst="rect">
              <a:avLst/>
            </a:prstGeom>
            <a:solidFill>
              <a:schemeClr val="tx2"/>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                              Primary Cost Element</a:t>
              </a:r>
            </a:p>
          </p:txBody>
        </p:sp>
        <p:sp>
          <p:nvSpPr>
            <p:cNvPr id="5" name="Rectangle 4"/>
            <p:cNvSpPr>
              <a:spLocks noChangeArrowheads="1"/>
            </p:cNvSpPr>
            <p:nvPr/>
          </p:nvSpPr>
          <p:spPr bwMode="auto">
            <a:xfrm>
              <a:off x="1908175" y="2346325"/>
              <a:ext cx="5257800" cy="2057400"/>
            </a:xfrm>
            <a:prstGeom prst="rect">
              <a:avLst/>
            </a:prstGeom>
            <a:solidFill>
              <a:schemeClr val="tx2"/>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   </a:t>
              </a:r>
              <a:r>
                <a:rPr lang="en-US" altLang="de-DE" sz="1800" b="0">
                  <a:solidFill>
                    <a:srgbClr val="FF5050"/>
                  </a:solidFill>
                </a:rPr>
                <a:t>	</a:t>
              </a:r>
            </a:p>
          </p:txBody>
        </p:sp>
        <p:grpSp>
          <p:nvGrpSpPr>
            <p:cNvPr id="6" name="Group 5"/>
            <p:cNvGrpSpPr>
              <a:grpSpLocks/>
            </p:cNvGrpSpPr>
            <p:nvPr/>
          </p:nvGrpSpPr>
          <p:grpSpPr bwMode="auto">
            <a:xfrm>
              <a:off x="2362200" y="2879725"/>
              <a:ext cx="1692275" cy="1182688"/>
              <a:chOff x="2534" y="2279"/>
              <a:chExt cx="1066" cy="745"/>
            </a:xfrm>
          </p:grpSpPr>
          <p:grpSp>
            <p:nvGrpSpPr>
              <p:cNvPr id="7" name="Group 6"/>
              <p:cNvGrpSpPr>
                <a:grpSpLocks/>
              </p:cNvGrpSpPr>
              <p:nvPr/>
            </p:nvGrpSpPr>
            <p:grpSpPr bwMode="auto">
              <a:xfrm>
                <a:off x="2544" y="2279"/>
                <a:ext cx="1056" cy="745"/>
                <a:chOff x="2544" y="2279"/>
                <a:chExt cx="1056" cy="745"/>
              </a:xfrm>
            </p:grpSpPr>
            <p:grpSp>
              <p:nvGrpSpPr>
                <p:cNvPr id="10" name="Group 7"/>
                <p:cNvGrpSpPr>
                  <a:grpSpLocks/>
                </p:cNvGrpSpPr>
                <p:nvPr/>
              </p:nvGrpSpPr>
              <p:grpSpPr bwMode="auto">
                <a:xfrm>
                  <a:off x="2544" y="2544"/>
                  <a:ext cx="1056" cy="480"/>
                  <a:chOff x="2496" y="2400"/>
                  <a:chExt cx="1056" cy="480"/>
                </a:xfrm>
              </p:grpSpPr>
              <p:sp>
                <p:nvSpPr>
                  <p:cNvPr id="12" name="Line 8"/>
                  <p:cNvSpPr>
                    <a:spLocks noChangeShapeType="1"/>
                  </p:cNvSpPr>
                  <p:nvPr/>
                </p:nvSpPr>
                <p:spPr bwMode="auto">
                  <a:xfrm>
                    <a:off x="2496" y="2400"/>
                    <a:ext cx="1056"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13" name="Line 9"/>
                  <p:cNvSpPr>
                    <a:spLocks noChangeShapeType="1"/>
                  </p:cNvSpPr>
                  <p:nvPr/>
                </p:nvSpPr>
                <p:spPr bwMode="auto">
                  <a:xfrm>
                    <a:off x="3024" y="2400"/>
                    <a:ext cx="0" cy="48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11" name="Text Box 10"/>
                <p:cNvSpPr txBox="1">
                  <a:spLocks noChangeArrowheads="1"/>
                </p:cNvSpPr>
                <p:nvPr/>
              </p:nvSpPr>
              <p:spPr bwMode="auto">
                <a:xfrm>
                  <a:off x="2582" y="2279"/>
                  <a:ext cx="9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Debit    Credit</a:t>
                  </a:r>
                </a:p>
              </p:txBody>
            </p:sp>
          </p:grpSp>
          <p:sp>
            <p:nvSpPr>
              <p:cNvPr id="8" name="Text Box 11"/>
              <p:cNvSpPr txBox="1">
                <a:spLocks noChangeArrowheads="1"/>
              </p:cNvSpPr>
              <p:nvPr/>
            </p:nvSpPr>
            <p:spPr bwMode="auto">
              <a:xfrm>
                <a:off x="2534" y="2567"/>
                <a:ext cx="4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1,500</a:t>
                </a:r>
              </a:p>
            </p:txBody>
          </p:sp>
          <p:sp>
            <p:nvSpPr>
              <p:cNvPr id="9" name="Text Box 12"/>
              <p:cNvSpPr txBox="1">
                <a:spLocks noChangeArrowheads="1"/>
              </p:cNvSpPr>
              <p:nvPr/>
            </p:nvSpPr>
            <p:spPr bwMode="auto">
              <a:xfrm>
                <a:off x="3120" y="2736"/>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endParaRPr lang="de-DE" altLang="de-DE" sz="1800" b="0">
                  <a:solidFill>
                    <a:schemeClr val="bg1"/>
                  </a:solidFill>
                </a:endParaRPr>
              </a:p>
            </p:txBody>
          </p:sp>
        </p:grpSp>
        <p:sp>
          <p:nvSpPr>
            <p:cNvPr id="14" name="Oval 13"/>
            <p:cNvSpPr>
              <a:spLocks noChangeArrowheads="1"/>
            </p:cNvSpPr>
            <p:nvPr/>
          </p:nvSpPr>
          <p:spPr bwMode="auto">
            <a:xfrm>
              <a:off x="2339975" y="5018088"/>
              <a:ext cx="1828800" cy="914400"/>
            </a:xfrm>
            <a:prstGeom prst="ellipse">
              <a:avLst/>
            </a:prstGeom>
            <a:solidFill>
              <a:srgbClr val="B2E6B2"/>
            </a:solidFill>
            <a:ln w="12700">
              <a:solidFill>
                <a:srgbClr val="000000"/>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Cost Center</a:t>
              </a:r>
            </a:p>
            <a:p>
              <a:pPr algn="ctr">
                <a:spcBef>
                  <a:spcPct val="0"/>
                </a:spcBef>
                <a:buClrTx/>
                <a:buFontTx/>
                <a:buNone/>
              </a:pPr>
              <a:r>
                <a:rPr lang="en-US" altLang="de-DE" sz="1800" b="0">
                  <a:solidFill>
                    <a:srgbClr val="000000"/>
                  </a:solidFill>
                </a:rPr>
                <a:t>A</a:t>
              </a:r>
            </a:p>
          </p:txBody>
        </p:sp>
        <p:grpSp>
          <p:nvGrpSpPr>
            <p:cNvPr id="15" name="Group 14"/>
            <p:cNvGrpSpPr>
              <a:grpSpLocks/>
            </p:cNvGrpSpPr>
            <p:nvPr/>
          </p:nvGrpSpPr>
          <p:grpSpPr bwMode="auto">
            <a:xfrm>
              <a:off x="5181600" y="2879725"/>
              <a:ext cx="1676400" cy="1182688"/>
              <a:chOff x="2544" y="2279"/>
              <a:chExt cx="1056" cy="745"/>
            </a:xfrm>
          </p:grpSpPr>
          <p:grpSp>
            <p:nvGrpSpPr>
              <p:cNvPr id="16" name="Group 15"/>
              <p:cNvGrpSpPr>
                <a:grpSpLocks/>
              </p:cNvGrpSpPr>
              <p:nvPr/>
            </p:nvGrpSpPr>
            <p:grpSpPr bwMode="auto">
              <a:xfrm>
                <a:off x="2544" y="2544"/>
                <a:ext cx="1056" cy="480"/>
                <a:chOff x="2496" y="2400"/>
                <a:chExt cx="1056" cy="480"/>
              </a:xfrm>
            </p:grpSpPr>
            <p:sp>
              <p:nvSpPr>
                <p:cNvPr id="18" name="Line 16"/>
                <p:cNvSpPr>
                  <a:spLocks noChangeShapeType="1"/>
                </p:cNvSpPr>
                <p:nvPr/>
              </p:nvSpPr>
              <p:spPr bwMode="auto">
                <a:xfrm>
                  <a:off x="2496" y="2400"/>
                  <a:ext cx="1056"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19" name="Line 17"/>
                <p:cNvSpPr>
                  <a:spLocks noChangeShapeType="1"/>
                </p:cNvSpPr>
                <p:nvPr/>
              </p:nvSpPr>
              <p:spPr bwMode="auto">
                <a:xfrm>
                  <a:off x="3024" y="2400"/>
                  <a:ext cx="0" cy="48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17" name="Text Box 18"/>
              <p:cNvSpPr txBox="1">
                <a:spLocks noChangeArrowheads="1"/>
              </p:cNvSpPr>
              <p:nvPr/>
            </p:nvSpPr>
            <p:spPr bwMode="auto">
              <a:xfrm>
                <a:off x="2582" y="2279"/>
                <a:ext cx="9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Debit    Credit</a:t>
                </a:r>
              </a:p>
            </p:txBody>
          </p:sp>
        </p:grpSp>
        <p:sp>
          <p:nvSpPr>
            <p:cNvPr id="20" name="Text Box 19"/>
            <p:cNvSpPr txBox="1">
              <a:spLocks noChangeArrowheads="1"/>
            </p:cNvSpPr>
            <p:nvPr/>
          </p:nvSpPr>
          <p:spPr bwMode="auto">
            <a:xfrm>
              <a:off x="5181600" y="28797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endParaRPr lang="de-DE" altLang="de-DE" sz="1800" b="0"/>
            </a:p>
          </p:txBody>
        </p:sp>
        <p:sp>
          <p:nvSpPr>
            <p:cNvPr id="21" name="Text Box 20"/>
            <p:cNvSpPr txBox="1">
              <a:spLocks noChangeArrowheads="1"/>
            </p:cNvSpPr>
            <p:nvPr/>
          </p:nvSpPr>
          <p:spPr bwMode="auto">
            <a:xfrm>
              <a:off x="6096000" y="3260725"/>
              <a:ext cx="75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1,500</a:t>
              </a:r>
            </a:p>
          </p:txBody>
        </p:sp>
        <p:sp>
          <p:nvSpPr>
            <p:cNvPr id="22" name="Text Box 21"/>
            <p:cNvSpPr txBox="1">
              <a:spLocks noChangeArrowheads="1"/>
            </p:cNvSpPr>
            <p:nvPr/>
          </p:nvSpPr>
          <p:spPr bwMode="auto">
            <a:xfrm>
              <a:off x="2057400" y="2498725"/>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solidFill>
                    <a:schemeClr val="bg1"/>
                  </a:solidFill>
                </a:rPr>
                <a:t>Supplies Expense</a:t>
              </a:r>
              <a:endParaRPr lang="en-US" altLang="de-DE" sz="1800">
                <a:solidFill>
                  <a:schemeClr val="bg1"/>
                </a:solidFill>
              </a:endParaRPr>
            </a:p>
          </p:txBody>
        </p:sp>
        <p:sp>
          <p:nvSpPr>
            <p:cNvPr id="23" name="Text Box 22"/>
            <p:cNvSpPr txBox="1">
              <a:spLocks noChangeArrowheads="1"/>
            </p:cNvSpPr>
            <p:nvPr/>
          </p:nvSpPr>
          <p:spPr bwMode="auto">
            <a:xfrm>
              <a:off x="5181600" y="249872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solidFill>
                    <a:schemeClr val="bg1"/>
                  </a:solidFill>
                </a:rPr>
                <a:t>Cash</a:t>
              </a:r>
            </a:p>
          </p:txBody>
        </p:sp>
        <p:sp>
          <p:nvSpPr>
            <p:cNvPr id="24" name="Rectangle 23"/>
            <p:cNvSpPr>
              <a:spLocks noChangeArrowheads="1"/>
            </p:cNvSpPr>
            <p:nvPr/>
          </p:nvSpPr>
          <p:spPr bwMode="auto">
            <a:xfrm>
              <a:off x="1908175" y="1820863"/>
              <a:ext cx="5257800" cy="533400"/>
            </a:xfrm>
            <a:prstGeom prst="rect">
              <a:avLst/>
            </a:prstGeom>
            <a:solidFill>
              <a:srgbClr val="DBB40D"/>
            </a:solidFill>
            <a:ln w="25400" algn="ctr">
              <a:solidFill>
                <a:schemeClr val="tx1"/>
              </a:solidFill>
              <a:miter lim="800000"/>
              <a:headEnd/>
              <a:tailEnd/>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Financial Accounting (FI)</a:t>
              </a:r>
            </a:p>
          </p:txBody>
        </p:sp>
        <p:sp>
          <p:nvSpPr>
            <p:cNvPr id="25" name="Rectangle 24"/>
            <p:cNvSpPr>
              <a:spLocks noChangeArrowheads="1"/>
            </p:cNvSpPr>
            <p:nvPr/>
          </p:nvSpPr>
          <p:spPr bwMode="auto">
            <a:xfrm>
              <a:off x="1908175" y="4368800"/>
              <a:ext cx="5257800" cy="533400"/>
            </a:xfrm>
            <a:prstGeom prst="rect">
              <a:avLst/>
            </a:prstGeom>
            <a:solidFill>
              <a:srgbClr val="DBB40D"/>
            </a:solidFill>
            <a:ln w="25400" algn="ctr">
              <a:solidFill>
                <a:schemeClr val="tx1"/>
              </a:solidFill>
              <a:miter lim="800000"/>
              <a:headEnd/>
              <a:tailEnd/>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Managerial Accounting (CO)</a:t>
              </a:r>
            </a:p>
          </p:txBody>
        </p:sp>
        <p:cxnSp>
          <p:nvCxnSpPr>
            <p:cNvPr id="26" name="AutoShape 25"/>
            <p:cNvCxnSpPr>
              <a:cxnSpLocks noChangeShapeType="1"/>
              <a:stCxn id="8" idx="1"/>
            </p:cNvCxnSpPr>
            <p:nvPr/>
          </p:nvCxnSpPr>
          <p:spPr bwMode="auto">
            <a:xfrm rot="10800000" flipV="1">
              <a:off x="2339975" y="3521075"/>
              <a:ext cx="22225" cy="1954213"/>
            </a:xfrm>
            <a:prstGeom prst="bentConnector3">
              <a:avLst>
                <a:gd name="adj1" fmla="val 1128569"/>
              </a:avLst>
            </a:prstGeom>
            <a:noFill/>
            <a:ln w="38100">
              <a:solidFill>
                <a:schemeClr val="bg1"/>
              </a:solidFill>
              <a:miter lim="800000"/>
              <a:headEnd/>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644917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err="1"/>
              <a:t>Posting</a:t>
            </a:r>
            <a:r>
              <a:rPr lang="de-DE"/>
              <a:t> Primary </a:t>
            </a:r>
            <a:r>
              <a:rPr lang="de-DE" err="1"/>
              <a:t>Cost</a:t>
            </a:r>
            <a:r>
              <a:rPr lang="de-DE"/>
              <a:t> Element</a:t>
            </a:r>
          </a:p>
        </p:txBody>
      </p:sp>
      <p:sp>
        <p:nvSpPr>
          <p:cNvPr id="3" name="Titel 2"/>
          <p:cNvSpPr>
            <a:spLocks noGrp="1"/>
          </p:cNvSpPr>
          <p:nvPr>
            <p:ph type="title"/>
          </p:nvPr>
        </p:nvSpPr>
        <p:spPr/>
        <p:txBody>
          <a:bodyPr/>
          <a:lstStyle/>
          <a:p>
            <a:r>
              <a:rPr lang="en-US" altLang="de-DE" dirty="0">
                <a:latin typeface="Arial" panose="020B0604020202020204" pitchFamily="34" charset="0"/>
              </a:rPr>
              <a:t>CO Processes</a:t>
            </a:r>
            <a:endParaRPr lang="de-DE" dirty="0"/>
          </a:p>
        </p:txBody>
      </p:sp>
      <p:grpSp>
        <p:nvGrpSpPr>
          <p:cNvPr id="26" name="Gruppieren 25"/>
          <p:cNvGrpSpPr/>
          <p:nvPr/>
        </p:nvGrpSpPr>
        <p:grpSpPr>
          <a:xfrm>
            <a:off x="2384231" y="2204871"/>
            <a:ext cx="7424738" cy="4103687"/>
            <a:chOff x="755650" y="1916113"/>
            <a:chExt cx="7424738" cy="4103687"/>
          </a:xfrm>
        </p:grpSpPr>
        <p:sp>
          <p:nvSpPr>
            <p:cNvPr id="4" name="AutoShape 3"/>
            <p:cNvSpPr>
              <a:spLocks noChangeArrowheads="1"/>
            </p:cNvSpPr>
            <p:nvPr/>
          </p:nvSpPr>
          <p:spPr bwMode="auto">
            <a:xfrm>
              <a:off x="3124200" y="2490788"/>
              <a:ext cx="5048250" cy="1522412"/>
            </a:xfrm>
            <a:prstGeom prst="roundRect">
              <a:avLst>
                <a:gd name="adj" fmla="val 16667"/>
              </a:avLst>
            </a:prstGeom>
            <a:solidFill>
              <a:schemeClr val="tx2"/>
            </a:solidFill>
            <a:ln w="12700" algn="ctr">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endParaRPr lang="en-US" altLang="de-DE" b="0">
                <a:solidFill>
                  <a:schemeClr val="bg1"/>
                </a:solidFill>
              </a:endParaRPr>
            </a:p>
            <a:p>
              <a:pPr algn="ctr">
                <a:spcBef>
                  <a:spcPct val="0"/>
                </a:spcBef>
                <a:buClrTx/>
                <a:buFontTx/>
                <a:buNone/>
              </a:pPr>
              <a:endParaRPr lang="en-US" altLang="de-DE" sz="2000" b="0">
                <a:solidFill>
                  <a:schemeClr val="bg1"/>
                </a:solidFill>
              </a:endParaRPr>
            </a:p>
            <a:p>
              <a:pPr algn="ctr">
                <a:spcBef>
                  <a:spcPct val="0"/>
                </a:spcBef>
                <a:buClrTx/>
                <a:buFontTx/>
                <a:buNone/>
              </a:pPr>
              <a:endParaRPr lang="en-US" altLang="de-DE" sz="2000" b="0">
                <a:solidFill>
                  <a:schemeClr val="bg1"/>
                </a:solidFill>
              </a:endParaRPr>
            </a:p>
            <a:p>
              <a:pPr algn="ctr">
                <a:spcBef>
                  <a:spcPct val="0"/>
                </a:spcBef>
                <a:buClrTx/>
                <a:buFontTx/>
                <a:buNone/>
              </a:pPr>
              <a:endParaRPr lang="en-US" altLang="de-DE" sz="2000" b="0">
                <a:solidFill>
                  <a:schemeClr val="bg1"/>
                </a:solidFill>
              </a:endParaRPr>
            </a:p>
            <a:p>
              <a:pPr algn="ctr">
                <a:spcBef>
                  <a:spcPct val="0"/>
                </a:spcBef>
                <a:buClrTx/>
                <a:buFontTx/>
                <a:buNone/>
              </a:pPr>
              <a:endParaRPr lang="en-US" altLang="de-DE" sz="2400" b="0">
                <a:solidFill>
                  <a:schemeClr val="bg1"/>
                </a:solidFill>
              </a:endParaRPr>
            </a:p>
          </p:txBody>
        </p:sp>
        <p:sp>
          <p:nvSpPr>
            <p:cNvPr id="5" name="Rectangle 4"/>
            <p:cNvSpPr>
              <a:spLocks noChangeArrowheads="1"/>
            </p:cNvSpPr>
            <p:nvPr/>
          </p:nvSpPr>
          <p:spPr bwMode="auto">
            <a:xfrm>
              <a:off x="755650" y="1916113"/>
              <a:ext cx="2216150" cy="4103687"/>
            </a:xfrm>
            <a:prstGeom prst="rect">
              <a:avLst/>
            </a:prstGeom>
            <a:solidFill>
              <a:schemeClr val="tx2"/>
            </a:solidFill>
            <a:ln w="12700" algn="ctr">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u="sng">
                  <a:solidFill>
                    <a:schemeClr val="bg1"/>
                  </a:solidFill>
                </a:rPr>
                <a:t>(FI) Transaction</a:t>
              </a:r>
            </a:p>
            <a:p>
              <a:pPr algn="ctr">
                <a:spcBef>
                  <a:spcPct val="0"/>
                </a:spcBef>
                <a:buClrTx/>
                <a:buFontTx/>
                <a:buNone/>
              </a:pPr>
              <a:r>
                <a:rPr lang="en-US" altLang="de-DE" sz="1800" u="sng">
                  <a:solidFill>
                    <a:schemeClr val="bg1"/>
                  </a:solidFill>
                </a:rPr>
                <a:t>Document</a:t>
              </a:r>
            </a:p>
            <a:p>
              <a:pPr algn="ctr">
                <a:spcBef>
                  <a:spcPct val="0"/>
                </a:spcBef>
                <a:buClrTx/>
                <a:buFontTx/>
                <a:buNone/>
              </a:pPr>
              <a:r>
                <a:rPr lang="en-US" altLang="de-DE" sz="1800" b="0">
                  <a:solidFill>
                    <a:schemeClr val="bg1"/>
                  </a:solidFill>
                </a:rPr>
                <a:t>Amount</a:t>
              </a:r>
            </a:p>
            <a:p>
              <a:pPr algn="ctr">
                <a:spcBef>
                  <a:spcPct val="0"/>
                </a:spcBef>
                <a:buClrTx/>
                <a:buFontTx/>
                <a:buNone/>
              </a:pPr>
              <a:r>
                <a:rPr lang="en-US" altLang="de-DE" sz="1800" b="0">
                  <a:solidFill>
                    <a:schemeClr val="bg1"/>
                  </a:solidFill>
                </a:rPr>
                <a:t>G/L Account #</a:t>
              </a:r>
            </a:p>
            <a:p>
              <a:pPr algn="ctr">
                <a:spcBef>
                  <a:spcPct val="0"/>
                </a:spcBef>
                <a:buClrTx/>
                <a:buFontTx/>
                <a:buNone/>
              </a:pPr>
              <a:r>
                <a:rPr lang="en-US" altLang="de-DE" sz="1800" b="0">
                  <a:solidFill>
                    <a:schemeClr val="bg1"/>
                  </a:solidFill>
                </a:rPr>
                <a:t>Cost Center</a:t>
              </a:r>
            </a:p>
            <a:p>
              <a:pPr algn="ctr">
                <a:spcBef>
                  <a:spcPct val="0"/>
                </a:spcBef>
                <a:buClrTx/>
                <a:buFontTx/>
                <a:buNone/>
              </a:pPr>
              <a:r>
                <a:rPr lang="en-US" altLang="de-DE" sz="1800" b="0">
                  <a:solidFill>
                    <a:schemeClr val="bg1"/>
                  </a:solidFill>
                </a:rPr>
                <a:t>1900012432 </a:t>
              </a:r>
            </a:p>
            <a:p>
              <a:pPr algn="ctr">
                <a:spcBef>
                  <a:spcPct val="0"/>
                </a:spcBef>
                <a:buClrTx/>
                <a:buFontTx/>
                <a:buNone/>
              </a:pPr>
              <a:endParaRPr lang="en-US" altLang="de-DE" sz="1800" b="0">
                <a:solidFill>
                  <a:schemeClr val="bg1"/>
                </a:solidFill>
              </a:endParaRPr>
            </a:p>
            <a:p>
              <a:pPr algn="ctr">
                <a:spcBef>
                  <a:spcPct val="0"/>
                </a:spcBef>
                <a:buClrTx/>
                <a:buFontTx/>
                <a:buNone/>
              </a:pPr>
              <a:r>
                <a:rPr lang="en-US" altLang="de-DE" sz="1800" u="sng">
                  <a:solidFill>
                    <a:schemeClr val="bg1"/>
                  </a:solidFill>
                </a:rPr>
                <a:t>(CO) Transaction </a:t>
              </a:r>
            </a:p>
            <a:p>
              <a:pPr algn="ctr">
                <a:spcBef>
                  <a:spcPct val="0"/>
                </a:spcBef>
                <a:buClrTx/>
                <a:buFontTx/>
                <a:buNone/>
              </a:pPr>
              <a:r>
                <a:rPr lang="en-US" altLang="de-DE" sz="1800" u="sng">
                  <a:solidFill>
                    <a:schemeClr val="bg1"/>
                  </a:solidFill>
                </a:rPr>
                <a:t>Document</a:t>
              </a:r>
            </a:p>
            <a:p>
              <a:pPr algn="ctr">
                <a:spcBef>
                  <a:spcPct val="0"/>
                </a:spcBef>
                <a:buClrTx/>
                <a:buFontTx/>
                <a:buNone/>
              </a:pPr>
              <a:r>
                <a:rPr lang="en-US" altLang="de-DE" sz="1800" b="0">
                  <a:solidFill>
                    <a:schemeClr val="bg1"/>
                  </a:solidFill>
                </a:rPr>
                <a:t>Cost Center </a:t>
              </a:r>
            </a:p>
            <a:p>
              <a:pPr algn="ctr">
                <a:spcBef>
                  <a:spcPct val="0"/>
                </a:spcBef>
                <a:buClrTx/>
                <a:buFontTx/>
                <a:buNone/>
              </a:pPr>
              <a:r>
                <a:rPr lang="en-US" altLang="de-DE" sz="1800" b="0">
                  <a:solidFill>
                    <a:schemeClr val="bg1"/>
                  </a:solidFill>
                </a:rPr>
                <a:t>Cost Element</a:t>
              </a:r>
            </a:p>
            <a:p>
              <a:pPr algn="ctr">
                <a:spcBef>
                  <a:spcPct val="0"/>
                </a:spcBef>
                <a:buClrTx/>
                <a:buFontTx/>
                <a:buNone/>
              </a:pPr>
              <a:r>
                <a:rPr lang="en-US" altLang="de-DE" sz="1800" b="0">
                  <a:solidFill>
                    <a:schemeClr val="bg1"/>
                  </a:solidFill>
                </a:rPr>
                <a:t>20000657</a:t>
              </a:r>
            </a:p>
          </p:txBody>
        </p:sp>
        <p:sp>
          <p:nvSpPr>
            <p:cNvPr id="6" name="AutoShape 5"/>
            <p:cNvSpPr>
              <a:spLocks noChangeArrowheads="1"/>
            </p:cNvSpPr>
            <p:nvPr/>
          </p:nvSpPr>
          <p:spPr bwMode="auto">
            <a:xfrm>
              <a:off x="3124200" y="4546600"/>
              <a:ext cx="5048250" cy="1473200"/>
            </a:xfrm>
            <a:prstGeom prst="roundRect">
              <a:avLst>
                <a:gd name="adj" fmla="val 16667"/>
              </a:avLst>
            </a:prstGeom>
            <a:solidFill>
              <a:schemeClr val="tx2"/>
            </a:solidFill>
            <a:ln w="12700" algn="ctr">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endParaRPr lang="en-US" altLang="de-DE" sz="4400" b="0">
                <a:solidFill>
                  <a:schemeClr val="bg1"/>
                </a:solidFill>
              </a:endParaRPr>
            </a:p>
            <a:p>
              <a:pPr algn="ctr">
                <a:spcBef>
                  <a:spcPct val="0"/>
                </a:spcBef>
                <a:buClrTx/>
                <a:buFontTx/>
                <a:buNone/>
              </a:pPr>
              <a:endParaRPr lang="en-US" altLang="de-DE" sz="4400" b="0">
                <a:solidFill>
                  <a:schemeClr val="bg1"/>
                </a:solidFill>
              </a:endParaRPr>
            </a:p>
            <a:p>
              <a:pPr algn="ctr">
                <a:spcBef>
                  <a:spcPct val="0"/>
                </a:spcBef>
                <a:buClrTx/>
                <a:buFontTx/>
                <a:buNone/>
              </a:pPr>
              <a:endParaRPr lang="en-US" altLang="de-DE" sz="2400" b="0">
                <a:solidFill>
                  <a:schemeClr val="bg1"/>
                </a:solidFill>
              </a:endParaRPr>
            </a:p>
          </p:txBody>
        </p:sp>
        <p:grpSp>
          <p:nvGrpSpPr>
            <p:cNvPr id="7" name="Group 6"/>
            <p:cNvGrpSpPr>
              <a:grpSpLocks/>
            </p:cNvGrpSpPr>
            <p:nvPr/>
          </p:nvGrpSpPr>
          <p:grpSpPr bwMode="auto">
            <a:xfrm>
              <a:off x="4589463" y="3079750"/>
              <a:ext cx="1066800" cy="779463"/>
              <a:chOff x="2352" y="1584"/>
              <a:chExt cx="1056" cy="912"/>
            </a:xfrm>
          </p:grpSpPr>
          <p:sp>
            <p:nvSpPr>
              <p:cNvPr id="8" name="Line 7"/>
              <p:cNvSpPr>
                <a:spLocks noChangeShapeType="1"/>
              </p:cNvSpPr>
              <p:nvPr/>
            </p:nvSpPr>
            <p:spPr bwMode="auto">
              <a:xfrm>
                <a:off x="2880" y="1584"/>
                <a:ext cx="0" cy="912"/>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sp>
            <p:nvSpPr>
              <p:cNvPr id="9" name="Line 8"/>
              <p:cNvSpPr>
                <a:spLocks noChangeShapeType="1"/>
              </p:cNvSpPr>
              <p:nvPr/>
            </p:nvSpPr>
            <p:spPr bwMode="auto">
              <a:xfrm flipH="1">
                <a:off x="2352" y="1584"/>
                <a:ext cx="1056" cy="0"/>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grpSp>
        <p:sp>
          <p:nvSpPr>
            <p:cNvPr id="10" name="Text Box 9"/>
            <p:cNvSpPr txBox="1">
              <a:spLocks noChangeArrowheads="1"/>
            </p:cNvSpPr>
            <p:nvPr/>
          </p:nvSpPr>
          <p:spPr bwMode="auto">
            <a:xfrm>
              <a:off x="6669088" y="30670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400">
                  <a:solidFill>
                    <a:schemeClr val="bg1"/>
                  </a:solidFill>
                </a:rPr>
                <a:t>1,500</a:t>
              </a:r>
            </a:p>
          </p:txBody>
        </p:sp>
        <p:sp>
          <p:nvSpPr>
            <p:cNvPr id="11" name="Text Box 10"/>
            <p:cNvSpPr txBox="1">
              <a:spLocks noChangeArrowheads="1"/>
            </p:cNvSpPr>
            <p:nvPr/>
          </p:nvSpPr>
          <p:spPr bwMode="auto">
            <a:xfrm>
              <a:off x="4395788" y="306705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400">
                  <a:solidFill>
                    <a:schemeClr val="bg1"/>
                  </a:solidFill>
                </a:rPr>
                <a:t>1,500</a:t>
              </a:r>
            </a:p>
          </p:txBody>
        </p:sp>
        <p:grpSp>
          <p:nvGrpSpPr>
            <p:cNvPr id="12" name="Group 11"/>
            <p:cNvGrpSpPr>
              <a:grpSpLocks/>
            </p:cNvGrpSpPr>
            <p:nvPr/>
          </p:nvGrpSpPr>
          <p:grpSpPr bwMode="auto">
            <a:xfrm>
              <a:off x="6189663" y="3079750"/>
              <a:ext cx="1066800" cy="779463"/>
              <a:chOff x="2352" y="1584"/>
              <a:chExt cx="1056" cy="912"/>
            </a:xfrm>
          </p:grpSpPr>
          <p:sp>
            <p:nvSpPr>
              <p:cNvPr id="13" name="Line 12"/>
              <p:cNvSpPr>
                <a:spLocks noChangeShapeType="1"/>
              </p:cNvSpPr>
              <p:nvPr/>
            </p:nvSpPr>
            <p:spPr bwMode="auto">
              <a:xfrm>
                <a:off x="2880" y="1584"/>
                <a:ext cx="0" cy="912"/>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sp>
            <p:nvSpPr>
              <p:cNvPr id="14" name="Line 13"/>
              <p:cNvSpPr>
                <a:spLocks noChangeShapeType="1"/>
              </p:cNvSpPr>
              <p:nvPr/>
            </p:nvSpPr>
            <p:spPr bwMode="auto">
              <a:xfrm flipH="1">
                <a:off x="2352" y="1584"/>
                <a:ext cx="1056" cy="0"/>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grpSp>
        <p:sp>
          <p:nvSpPr>
            <p:cNvPr id="15" name="Text Box 14"/>
            <p:cNvSpPr txBox="1">
              <a:spLocks noChangeArrowheads="1"/>
            </p:cNvSpPr>
            <p:nvPr/>
          </p:nvSpPr>
          <p:spPr bwMode="auto">
            <a:xfrm>
              <a:off x="5656263" y="2470150"/>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400">
                  <a:solidFill>
                    <a:schemeClr val="bg1"/>
                  </a:solidFill>
                </a:rPr>
                <a:t> Cash</a:t>
              </a:r>
            </a:p>
            <a:p>
              <a:pPr algn="ctr">
                <a:spcBef>
                  <a:spcPct val="0"/>
                </a:spcBef>
                <a:buClrTx/>
                <a:buFontTx/>
                <a:buNone/>
              </a:pPr>
              <a:r>
                <a:rPr lang="en-US" altLang="de-DE" sz="1400">
                  <a:solidFill>
                    <a:schemeClr val="bg1"/>
                  </a:solidFill>
                </a:rPr>
                <a:t>   Debit    Credit</a:t>
              </a:r>
            </a:p>
          </p:txBody>
        </p:sp>
        <p:sp>
          <p:nvSpPr>
            <p:cNvPr id="16" name="Text Box 15"/>
            <p:cNvSpPr txBox="1">
              <a:spLocks noChangeArrowheads="1"/>
            </p:cNvSpPr>
            <p:nvPr/>
          </p:nvSpPr>
          <p:spPr bwMode="auto">
            <a:xfrm>
              <a:off x="4284663" y="2470150"/>
              <a:ext cx="175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400">
                  <a:solidFill>
                    <a:schemeClr val="bg1"/>
                  </a:solidFill>
                </a:rPr>
                <a:t>Supplies Expense</a:t>
              </a:r>
            </a:p>
            <a:p>
              <a:pPr algn="ctr">
                <a:spcBef>
                  <a:spcPct val="0"/>
                </a:spcBef>
                <a:buClrTx/>
                <a:buFontTx/>
                <a:buNone/>
              </a:pPr>
              <a:r>
                <a:rPr lang="en-US" altLang="de-DE" sz="1400">
                  <a:solidFill>
                    <a:schemeClr val="bg1"/>
                  </a:solidFill>
                </a:rPr>
                <a:t>Debit   Credit</a:t>
              </a:r>
            </a:p>
          </p:txBody>
        </p:sp>
        <p:sp>
          <p:nvSpPr>
            <p:cNvPr id="17" name="Text Box 16"/>
            <p:cNvSpPr txBox="1">
              <a:spLocks noChangeArrowheads="1"/>
            </p:cNvSpPr>
            <p:nvPr/>
          </p:nvSpPr>
          <p:spPr bwMode="auto">
            <a:xfrm>
              <a:off x="5334000" y="4622800"/>
              <a:ext cx="1371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600">
                  <a:solidFill>
                    <a:schemeClr val="bg1"/>
                  </a:solidFill>
                </a:rPr>
                <a:t>Cost Center</a:t>
              </a:r>
            </a:p>
          </p:txBody>
        </p:sp>
        <p:grpSp>
          <p:nvGrpSpPr>
            <p:cNvPr id="18" name="Group 17"/>
            <p:cNvGrpSpPr>
              <a:grpSpLocks/>
            </p:cNvGrpSpPr>
            <p:nvPr/>
          </p:nvGrpSpPr>
          <p:grpSpPr bwMode="auto">
            <a:xfrm>
              <a:off x="5486400" y="4927600"/>
              <a:ext cx="1066800" cy="731838"/>
              <a:chOff x="2544" y="2880"/>
              <a:chExt cx="672" cy="672"/>
            </a:xfrm>
          </p:grpSpPr>
          <p:sp>
            <p:nvSpPr>
              <p:cNvPr id="19" name="Line 18"/>
              <p:cNvSpPr>
                <a:spLocks noChangeShapeType="1"/>
              </p:cNvSpPr>
              <p:nvPr/>
            </p:nvSpPr>
            <p:spPr bwMode="auto">
              <a:xfrm>
                <a:off x="2544" y="2880"/>
                <a:ext cx="0" cy="672"/>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sp>
            <p:nvSpPr>
              <p:cNvPr id="20" name="Line 19"/>
              <p:cNvSpPr>
                <a:spLocks noChangeShapeType="1"/>
              </p:cNvSpPr>
              <p:nvPr/>
            </p:nvSpPr>
            <p:spPr bwMode="auto">
              <a:xfrm flipH="1">
                <a:off x="2544" y="3552"/>
                <a:ext cx="672" cy="0"/>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sp>
            <p:nvSpPr>
              <p:cNvPr id="21" name="Line 20"/>
              <p:cNvSpPr>
                <a:spLocks noChangeShapeType="1"/>
              </p:cNvSpPr>
              <p:nvPr/>
            </p:nvSpPr>
            <p:spPr bwMode="auto">
              <a:xfrm>
                <a:off x="3216" y="2880"/>
                <a:ext cx="0" cy="672"/>
              </a:xfrm>
              <a:prstGeom prst="line">
                <a:avLst/>
              </a:prstGeom>
              <a:noFill/>
              <a:ln w="508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de-DE"/>
              </a:p>
            </p:txBody>
          </p:sp>
        </p:grpSp>
        <p:sp>
          <p:nvSpPr>
            <p:cNvPr id="22" name="Text Box 21"/>
            <p:cNvSpPr txBox="1">
              <a:spLocks noChangeArrowheads="1"/>
            </p:cNvSpPr>
            <p:nvPr/>
          </p:nvSpPr>
          <p:spPr bwMode="auto">
            <a:xfrm>
              <a:off x="5562600" y="53086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400">
                  <a:solidFill>
                    <a:schemeClr val="bg1"/>
                  </a:solidFill>
                </a:rPr>
                <a:t>1,500</a:t>
              </a:r>
            </a:p>
          </p:txBody>
        </p:sp>
        <p:sp>
          <p:nvSpPr>
            <p:cNvPr id="23" name="Rectangle 22"/>
            <p:cNvSpPr>
              <a:spLocks noChangeArrowheads="1"/>
            </p:cNvSpPr>
            <p:nvPr/>
          </p:nvSpPr>
          <p:spPr bwMode="auto">
            <a:xfrm>
              <a:off x="3132138" y="1958975"/>
              <a:ext cx="5048250" cy="533400"/>
            </a:xfrm>
            <a:prstGeom prst="rect">
              <a:avLst/>
            </a:prstGeom>
            <a:solidFill>
              <a:srgbClr val="DBB40D"/>
            </a:solidFill>
            <a:ln w="25400" algn="ctr">
              <a:solidFill>
                <a:schemeClr val="tx1"/>
              </a:solidFill>
              <a:miter lim="800000"/>
              <a:headEnd/>
              <a:tailEnd/>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t>Financial Accounting (FI)</a:t>
              </a:r>
            </a:p>
          </p:txBody>
        </p:sp>
        <p:sp>
          <p:nvSpPr>
            <p:cNvPr id="24" name="Rectangle 23"/>
            <p:cNvSpPr>
              <a:spLocks noChangeArrowheads="1"/>
            </p:cNvSpPr>
            <p:nvPr/>
          </p:nvSpPr>
          <p:spPr bwMode="auto">
            <a:xfrm>
              <a:off x="3132138" y="4002088"/>
              <a:ext cx="5048250" cy="533400"/>
            </a:xfrm>
            <a:prstGeom prst="rect">
              <a:avLst/>
            </a:prstGeom>
            <a:solidFill>
              <a:srgbClr val="DBB40D"/>
            </a:solidFill>
            <a:ln w="25400" algn="ctr">
              <a:solidFill>
                <a:schemeClr val="tx1"/>
              </a:solidFill>
              <a:miter lim="800000"/>
              <a:headEnd/>
              <a:tailEnd/>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t>Managerial Accounting (CO)</a:t>
              </a:r>
            </a:p>
          </p:txBody>
        </p:sp>
        <p:cxnSp>
          <p:nvCxnSpPr>
            <p:cNvPr id="25" name="AutoShape 24"/>
            <p:cNvCxnSpPr>
              <a:cxnSpLocks noChangeShapeType="1"/>
              <a:stCxn id="11" idx="1"/>
              <a:endCxn id="22" idx="1"/>
            </p:cNvCxnSpPr>
            <p:nvPr/>
          </p:nvCxnSpPr>
          <p:spPr bwMode="auto">
            <a:xfrm rot="10800000" flipH="1" flipV="1">
              <a:off x="4395788" y="3219450"/>
              <a:ext cx="1166812" cy="2241550"/>
            </a:xfrm>
            <a:prstGeom prst="bentConnector3">
              <a:avLst>
                <a:gd name="adj1" fmla="val -19593"/>
              </a:avLst>
            </a:prstGeom>
            <a:noFill/>
            <a:ln w="38100">
              <a:solidFill>
                <a:schemeClr val="bg1"/>
              </a:solidFill>
              <a:miter lim="800000"/>
              <a:headEnd/>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269744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err="1"/>
              <a:t>Posting</a:t>
            </a:r>
            <a:r>
              <a:rPr lang="de-DE"/>
              <a:t> </a:t>
            </a:r>
            <a:r>
              <a:rPr lang="de-DE" err="1"/>
              <a:t>Secondary</a:t>
            </a:r>
            <a:r>
              <a:rPr lang="de-DE"/>
              <a:t> </a:t>
            </a:r>
            <a:r>
              <a:rPr lang="de-DE" err="1"/>
              <a:t>Cost</a:t>
            </a:r>
            <a:r>
              <a:rPr lang="de-DE"/>
              <a:t> Element</a:t>
            </a:r>
          </a:p>
        </p:txBody>
      </p:sp>
      <p:sp>
        <p:nvSpPr>
          <p:cNvPr id="3" name="Titel 2"/>
          <p:cNvSpPr>
            <a:spLocks noGrp="1"/>
          </p:cNvSpPr>
          <p:nvPr>
            <p:ph type="title"/>
          </p:nvPr>
        </p:nvSpPr>
        <p:spPr/>
        <p:txBody>
          <a:bodyPr/>
          <a:lstStyle/>
          <a:p>
            <a:r>
              <a:rPr lang="en-US" altLang="de-DE">
                <a:latin typeface="Arial" panose="020B0604020202020204" pitchFamily="34" charset="0"/>
              </a:rPr>
              <a:t>CO Processes</a:t>
            </a:r>
            <a:endParaRPr lang="de-DE"/>
          </a:p>
        </p:txBody>
      </p:sp>
      <p:grpSp>
        <p:nvGrpSpPr>
          <p:cNvPr id="31" name="Gruppieren 30"/>
          <p:cNvGrpSpPr/>
          <p:nvPr/>
        </p:nvGrpSpPr>
        <p:grpSpPr>
          <a:xfrm>
            <a:off x="3467700" y="1989305"/>
            <a:ext cx="5257800" cy="4419600"/>
            <a:chOff x="1908175" y="1820863"/>
            <a:chExt cx="5257800" cy="4419600"/>
          </a:xfrm>
        </p:grpSpPr>
        <p:sp>
          <p:nvSpPr>
            <p:cNvPr id="4" name="Rectangle 3"/>
            <p:cNvSpPr>
              <a:spLocks noChangeArrowheads="1"/>
            </p:cNvSpPr>
            <p:nvPr/>
          </p:nvSpPr>
          <p:spPr bwMode="auto">
            <a:xfrm>
              <a:off x="1908175" y="4868863"/>
              <a:ext cx="5257800" cy="1371600"/>
            </a:xfrm>
            <a:prstGeom prst="rect">
              <a:avLst/>
            </a:prstGeom>
            <a:solidFill>
              <a:schemeClr val="tx2"/>
            </a:solidFill>
            <a:ln w="12700">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                                                 Secondary Cost</a:t>
              </a:r>
            </a:p>
            <a:p>
              <a:pPr algn="ctr">
                <a:spcBef>
                  <a:spcPct val="0"/>
                </a:spcBef>
                <a:buClrTx/>
                <a:buFontTx/>
                <a:buNone/>
              </a:pPr>
              <a:r>
                <a:rPr lang="en-US" altLang="de-DE" sz="1800" b="0">
                  <a:solidFill>
                    <a:schemeClr val="bg1"/>
                  </a:solidFill>
                </a:rPr>
                <a:t>                                    Element</a:t>
              </a:r>
            </a:p>
          </p:txBody>
        </p:sp>
        <p:sp>
          <p:nvSpPr>
            <p:cNvPr id="5" name="Oval 22"/>
            <p:cNvSpPr>
              <a:spLocks noChangeArrowheads="1"/>
            </p:cNvSpPr>
            <p:nvPr/>
          </p:nvSpPr>
          <p:spPr bwMode="auto">
            <a:xfrm>
              <a:off x="4267200" y="5197475"/>
              <a:ext cx="838200" cy="304800"/>
            </a:xfrm>
            <a:prstGeom prst="ellipse">
              <a:avLst/>
            </a:prstGeom>
            <a:solidFill>
              <a:srgbClr val="B2E6B2"/>
            </a:solidFill>
            <a:ln w="12700">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t>CC 1</a:t>
              </a:r>
            </a:p>
          </p:txBody>
        </p:sp>
        <p:sp>
          <p:nvSpPr>
            <p:cNvPr id="6" name="Oval 23"/>
            <p:cNvSpPr>
              <a:spLocks noChangeArrowheads="1"/>
            </p:cNvSpPr>
            <p:nvPr/>
          </p:nvSpPr>
          <p:spPr bwMode="auto">
            <a:xfrm>
              <a:off x="4267200" y="5572125"/>
              <a:ext cx="838200" cy="304800"/>
            </a:xfrm>
            <a:prstGeom prst="ellipse">
              <a:avLst/>
            </a:prstGeom>
            <a:solidFill>
              <a:srgbClr val="B2E6B2"/>
            </a:solidFill>
            <a:ln w="12700">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t>CC 2</a:t>
              </a:r>
            </a:p>
          </p:txBody>
        </p:sp>
        <p:cxnSp>
          <p:nvCxnSpPr>
            <p:cNvPr id="7" name="AutoShape 24"/>
            <p:cNvCxnSpPr>
              <a:cxnSpLocks noChangeShapeType="1"/>
            </p:cNvCxnSpPr>
            <p:nvPr/>
          </p:nvCxnSpPr>
          <p:spPr bwMode="auto">
            <a:xfrm rot="-5400000">
              <a:off x="4201319" y="4806156"/>
              <a:ext cx="57150" cy="839788"/>
            </a:xfrm>
            <a:prstGeom prst="bentConnector3">
              <a:avLst>
                <a:gd name="adj1" fmla="val 349995"/>
              </a:avLst>
            </a:prstGeom>
            <a:noFill/>
            <a:ln w="38100">
              <a:solidFill>
                <a:schemeClr val="bg1"/>
              </a:solidFill>
              <a:miter lim="800000"/>
              <a:headEnd type="none" w="sm" len="sm"/>
              <a:tailEnd type="triangle" w="lg" len="med"/>
            </a:ln>
            <a:extLst>
              <a:ext uri="{909E8E84-426E-40DD-AFC4-6F175D3DCCD1}">
                <a14:hiddenFill xmlns:a14="http://schemas.microsoft.com/office/drawing/2010/main">
                  <a:noFill/>
                </a14:hiddenFill>
              </a:ext>
            </a:extLst>
          </p:spPr>
        </p:cxnSp>
        <p:cxnSp>
          <p:nvCxnSpPr>
            <p:cNvPr id="8" name="AutoShape 25"/>
            <p:cNvCxnSpPr>
              <a:cxnSpLocks noChangeShapeType="1"/>
            </p:cNvCxnSpPr>
            <p:nvPr/>
          </p:nvCxnSpPr>
          <p:spPr bwMode="auto">
            <a:xfrm rot="16200000" flipH="1">
              <a:off x="4239419" y="5376069"/>
              <a:ext cx="57150" cy="915988"/>
            </a:xfrm>
            <a:prstGeom prst="bentConnector3">
              <a:avLst>
                <a:gd name="adj1" fmla="val 633333"/>
              </a:avLst>
            </a:prstGeom>
            <a:noFill/>
            <a:ln w="38100">
              <a:solidFill>
                <a:schemeClr val="bg1"/>
              </a:solidFill>
              <a:miter lim="800000"/>
              <a:headEnd type="none" w="sm" len="sm"/>
              <a:tailEnd type="triangle" w="lg" len="med"/>
            </a:ln>
            <a:extLst>
              <a:ext uri="{909E8E84-426E-40DD-AFC4-6F175D3DCCD1}">
                <a14:hiddenFill xmlns:a14="http://schemas.microsoft.com/office/drawing/2010/main">
                  <a:noFill/>
                </a14:hiddenFill>
              </a:ext>
            </a:extLst>
          </p:spPr>
        </p:cxnSp>
        <p:sp>
          <p:nvSpPr>
            <p:cNvPr id="9" name="Rectangle 4"/>
            <p:cNvSpPr>
              <a:spLocks noChangeArrowheads="1"/>
            </p:cNvSpPr>
            <p:nvPr/>
          </p:nvSpPr>
          <p:spPr bwMode="auto">
            <a:xfrm>
              <a:off x="1908175" y="2346325"/>
              <a:ext cx="5257800" cy="2057400"/>
            </a:xfrm>
            <a:prstGeom prst="rect">
              <a:avLst/>
            </a:prstGeom>
            <a:solidFill>
              <a:schemeClr val="tx2"/>
            </a:solidFill>
            <a:ln w="12700">
              <a:solidFill>
                <a:srgbClr val="000000"/>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   	</a:t>
              </a:r>
            </a:p>
          </p:txBody>
        </p:sp>
        <p:grpSp>
          <p:nvGrpSpPr>
            <p:cNvPr id="10" name="Group 5"/>
            <p:cNvGrpSpPr>
              <a:grpSpLocks/>
            </p:cNvGrpSpPr>
            <p:nvPr/>
          </p:nvGrpSpPr>
          <p:grpSpPr bwMode="auto">
            <a:xfrm>
              <a:off x="2362200" y="2879725"/>
              <a:ext cx="1692275" cy="1182688"/>
              <a:chOff x="2534" y="2279"/>
              <a:chExt cx="1066" cy="745"/>
            </a:xfrm>
          </p:grpSpPr>
          <p:grpSp>
            <p:nvGrpSpPr>
              <p:cNvPr id="11" name="Group 6"/>
              <p:cNvGrpSpPr>
                <a:grpSpLocks/>
              </p:cNvGrpSpPr>
              <p:nvPr/>
            </p:nvGrpSpPr>
            <p:grpSpPr bwMode="auto">
              <a:xfrm>
                <a:off x="2544" y="2279"/>
                <a:ext cx="1056" cy="745"/>
                <a:chOff x="2544" y="2279"/>
                <a:chExt cx="1056" cy="745"/>
              </a:xfrm>
            </p:grpSpPr>
            <p:grpSp>
              <p:nvGrpSpPr>
                <p:cNvPr id="14" name="Group 7"/>
                <p:cNvGrpSpPr>
                  <a:grpSpLocks/>
                </p:cNvGrpSpPr>
                <p:nvPr/>
              </p:nvGrpSpPr>
              <p:grpSpPr bwMode="auto">
                <a:xfrm>
                  <a:off x="2544" y="2544"/>
                  <a:ext cx="1056" cy="480"/>
                  <a:chOff x="2496" y="2400"/>
                  <a:chExt cx="1056" cy="480"/>
                </a:xfrm>
              </p:grpSpPr>
              <p:sp>
                <p:nvSpPr>
                  <p:cNvPr id="16" name="Line 8"/>
                  <p:cNvSpPr>
                    <a:spLocks noChangeShapeType="1"/>
                  </p:cNvSpPr>
                  <p:nvPr/>
                </p:nvSpPr>
                <p:spPr bwMode="auto">
                  <a:xfrm>
                    <a:off x="2496" y="2400"/>
                    <a:ext cx="1056"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17" name="Line 9"/>
                  <p:cNvSpPr>
                    <a:spLocks noChangeShapeType="1"/>
                  </p:cNvSpPr>
                  <p:nvPr/>
                </p:nvSpPr>
                <p:spPr bwMode="auto">
                  <a:xfrm>
                    <a:off x="3024" y="2400"/>
                    <a:ext cx="0" cy="48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15" name="Text Box 10"/>
                <p:cNvSpPr txBox="1">
                  <a:spLocks noChangeArrowheads="1"/>
                </p:cNvSpPr>
                <p:nvPr/>
              </p:nvSpPr>
              <p:spPr bwMode="auto">
                <a:xfrm>
                  <a:off x="2582" y="2279"/>
                  <a:ext cx="9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Debit    Credit</a:t>
                  </a:r>
                </a:p>
              </p:txBody>
            </p:sp>
          </p:grpSp>
          <p:sp>
            <p:nvSpPr>
              <p:cNvPr id="12" name="Text Box 11"/>
              <p:cNvSpPr txBox="1">
                <a:spLocks noChangeArrowheads="1"/>
              </p:cNvSpPr>
              <p:nvPr/>
            </p:nvSpPr>
            <p:spPr bwMode="auto">
              <a:xfrm>
                <a:off x="2534" y="2567"/>
                <a:ext cx="4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1,500</a:t>
                </a:r>
              </a:p>
            </p:txBody>
          </p:sp>
          <p:sp>
            <p:nvSpPr>
              <p:cNvPr id="13" name="Text Box 12"/>
              <p:cNvSpPr txBox="1">
                <a:spLocks noChangeArrowheads="1"/>
              </p:cNvSpPr>
              <p:nvPr/>
            </p:nvSpPr>
            <p:spPr bwMode="auto">
              <a:xfrm>
                <a:off x="3120" y="2736"/>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endParaRPr lang="de-DE" altLang="de-DE" sz="1800" b="0">
                  <a:solidFill>
                    <a:schemeClr val="bg1"/>
                  </a:solidFill>
                </a:endParaRPr>
              </a:p>
            </p:txBody>
          </p:sp>
        </p:grpSp>
        <p:sp>
          <p:nvSpPr>
            <p:cNvPr id="18" name="Oval 13"/>
            <p:cNvSpPr>
              <a:spLocks noChangeArrowheads="1"/>
            </p:cNvSpPr>
            <p:nvPr/>
          </p:nvSpPr>
          <p:spPr bwMode="auto">
            <a:xfrm>
              <a:off x="2339975" y="5018088"/>
              <a:ext cx="1828800" cy="914400"/>
            </a:xfrm>
            <a:prstGeom prst="ellipse">
              <a:avLst/>
            </a:prstGeom>
            <a:solidFill>
              <a:srgbClr val="B2E6B2"/>
            </a:solidFill>
            <a:ln w="12700">
              <a:solidFill>
                <a:srgbClr val="000000"/>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Cost Center</a:t>
              </a:r>
            </a:p>
            <a:p>
              <a:pPr algn="ctr">
                <a:spcBef>
                  <a:spcPct val="0"/>
                </a:spcBef>
                <a:buClrTx/>
                <a:buFontTx/>
                <a:buNone/>
              </a:pPr>
              <a:r>
                <a:rPr lang="en-US" altLang="de-DE" sz="1800" b="0">
                  <a:solidFill>
                    <a:srgbClr val="000000"/>
                  </a:solidFill>
                </a:rPr>
                <a:t>A</a:t>
              </a:r>
            </a:p>
          </p:txBody>
        </p:sp>
        <p:grpSp>
          <p:nvGrpSpPr>
            <p:cNvPr id="19" name="Group 14"/>
            <p:cNvGrpSpPr>
              <a:grpSpLocks/>
            </p:cNvGrpSpPr>
            <p:nvPr/>
          </p:nvGrpSpPr>
          <p:grpSpPr bwMode="auto">
            <a:xfrm>
              <a:off x="5181600" y="2879725"/>
              <a:ext cx="1676400" cy="1182688"/>
              <a:chOff x="2544" y="2279"/>
              <a:chExt cx="1056" cy="745"/>
            </a:xfrm>
          </p:grpSpPr>
          <p:grpSp>
            <p:nvGrpSpPr>
              <p:cNvPr id="20" name="Group 15"/>
              <p:cNvGrpSpPr>
                <a:grpSpLocks/>
              </p:cNvGrpSpPr>
              <p:nvPr/>
            </p:nvGrpSpPr>
            <p:grpSpPr bwMode="auto">
              <a:xfrm>
                <a:off x="2544" y="2544"/>
                <a:ext cx="1056" cy="480"/>
                <a:chOff x="2496" y="2400"/>
                <a:chExt cx="1056" cy="480"/>
              </a:xfrm>
            </p:grpSpPr>
            <p:sp>
              <p:nvSpPr>
                <p:cNvPr id="22" name="Line 16"/>
                <p:cNvSpPr>
                  <a:spLocks noChangeShapeType="1"/>
                </p:cNvSpPr>
                <p:nvPr/>
              </p:nvSpPr>
              <p:spPr bwMode="auto">
                <a:xfrm>
                  <a:off x="2496" y="2400"/>
                  <a:ext cx="1056" cy="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23" name="Line 17"/>
                <p:cNvSpPr>
                  <a:spLocks noChangeShapeType="1"/>
                </p:cNvSpPr>
                <p:nvPr/>
              </p:nvSpPr>
              <p:spPr bwMode="auto">
                <a:xfrm>
                  <a:off x="3024" y="2400"/>
                  <a:ext cx="0" cy="480"/>
                </a:xfrm>
                <a:prstGeom prst="line">
                  <a:avLst/>
                </a:prstGeom>
                <a:noFill/>
                <a:ln w="38100">
                  <a:solidFill>
                    <a:schemeClr val="bg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21" name="Text Box 18"/>
              <p:cNvSpPr txBox="1">
                <a:spLocks noChangeArrowheads="1"/>
              </p:cNvSpPr>
              <p:nvPr/>
            </p:nvSpPr>
            <p:spPr bwMode="auto">
              <a:xfrm>
                <a:off x="2582" y="2279"/>
                <a:ext cx="9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Debit    Credit</a:t>
                </a:r>
              </a:p>
            </p:txBody>
          </p:sp>
        </p:grpSp>
        <p:sp>
          <p:nvSpPr>
            <p:cNvPr id="24" name="Text Box 19"/>
            <p:cNvSpPr txBox="1">
              <a:spLocks noChangeArrowheads="1"/>
            </p:cNvSpPr>
            <p:nvPr/>
          </p:nvSpPr>
          <p:spPr bwMode="auto">
            <a:xfrm>
              <a:off x="5181600" y="28797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endParaRPr lang="de-DE" altLang="de-DE" sz="1800" b="0"/>
            </a:p>
          </p:txBody>
        </p:sp>
        <p:sp>
          <p:nvSpPr>
            <p:cNvPr id="25" name="Text Box 20"/>
            <p:cNvSpPr txBox="1">
              <a:spLocks noChangeArrowheads="1"/>
            </p:cNvSpPr>
            <p:nvPr/>
          </p:nvSpPr>
          <p:spPr bwMode="auto">
            <a:xfrm>
              <a:off x="6096000" y="3260725"/>
              <a:ext cx="75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chemeClr val="bg1"/>
                  </a:solidFill>
                </a:rPr>
                <a:t>1,500</a:t>
              </a:r>
            </a:p>
          </p:txBody>
        </p:sp>
        <p:sp>
          <p:nvSpPr>
            <p:cNvPr id="26" name="Text Box 21"/>
            <p:cNvSpPr txBox="1">
              <a:spLocks noChangeArrowheads="1"/>
            </p:cNvSpPr>
            <p:nvPr/>
          </p:nvSpPr>
          <p:spPr bwMode="auto">
            <a:xfrm>
              <a:off x="2057400" y="2498725"/>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solidFill>
                    <a:schemeClr val="bg1"/>
                  </a:solidFill>
                </a:rPr>
                <a:t>Supplies Expense</a:t>
              </a:r>
              <a:endParaRPr lang="en-US" altLang="de-DE" sz="1800">
                <a:solidFill>
                  <a:schemeClr val="bg1"/>
                </a:solidFill>
              </a:endParaRPr>
            </a:p>
          </p:txBody>
        </p:sp>
        <p:sp>
          <p:nvSpPr>
            <p:cNvPr id="27" name="Text Box 22"/>
            <p:cNvSpPr txBox="1">
              <a:spLocks noChangeArrowheads="1"/>
            </p:cNvSpPr>
            <p:nvPr/>
          </p:nvSpPr>
          <p:spPr bwMode="auto">
            <a:xfrm>
              <a:off x="5181600" y="249872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solidFill>
                    <a:schemeClr val="bg1"/>
                  </a:solidFill>
                </a:rPr>
                <a:t>Cash</a:t>
              </a:r>
            </a:p>
          </p:txBody>
        </p:sp>
        <p:sp>
          <p:nvSpPr>
            <p:cNvPr id="28" name="Rectangle 23"/>
            <p:cNvSpPr>
              <a:spLocks noChangeArrowheads="1"/>
            </p:cNvSpPr>
            <p:nvPr/>
          </p:nvSpPr>
          <p:spPr bwMode="auto">
            <a:xfrm>
              <a:off x="1908175" y="1820863"/>
              <a:ext cx="5257800" cy="533400"/>
            </a:xfrm>
            <a:prstGeom prst="rect">
              <a:avLst/>
            </a:prstGeom>
            <a:solidFill>
              <a:srgbClr val="DBB40D"/>
            </a:solidFill>
            <a:ln w="25400" algn="ctr">
              <a:solidFill>
                <a:schemeClr val="tx1"/>
              </a:solidFill>
              <a:miter lim="800000"/>
              <a:headEnd/>
              <a:tailEnd/>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Financial Accounting (FI)</a:t>
              </a:r>
            </a:p>
          </p:txBody>
        </p:sp>
        <p:sp>
          <p:nvSpPr>
            <p:cNvPr id="29" name="Rectangle 24"/>
            <p:cNvSpPr>
              <a:spLocks noChangeArrowheads="1"/>
            </p:cNvSpPr>
            <p:nvPr/>
          </p:nvSpPr>
          <p:spPr bwMode="auto">
            <a:xfrm>
              <a:off x="1908175" y="4368800"/>
              <a:ext cx="5257800" cy="533400"/>
            </a:xfrm>
            <a:prstGeom prst="rect">
              <a:avLst/>
            </a:prstGeom>
            <a:solidFill>
              <a:srgbClr val="DBB40D"/>
            </a:solidFill>
            <a:ln w="25400" algn="ctr">
              <a:solidFill>
                <a:schemeClr val="tx1"/>
              </a:solidFill>
              <a:miter lim="800000"/>
              <a:headEnd/>
              <a:tailEnd/>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Managerial Accounting (CO)</a:t>
              </a:r>
            </a:p>
          </p:txBody>
        </p:sp>
        <p:cxnSp>
          <p:nvCxnSpPr>
            <p:cNvPr id="30" name="AutoShape 25"/>
            <p:cNvCxnSpPr>
              <a:cxnSpLocks noChangeShapeType="1"/>
              <a:stCxn id="12" idx="1"/>
              <a:endCxn id="18" idx="2"/>
            </p:cNvCxnSpPr>
            <p:nvPr/>
          </p:nvCxnSpPr>
          <p:spPr bwMode="auto">
            <a:xfrm rot="10800000" flipV="1">
              <a:off x="2339975" y="3521075"/>
              <a:ext cx="22225" cy="1954213"/>
            </a:xfrm>
            <a:prstGeom prst="bentConnector3">
              <a:avLst>
                <a:gd name="adj1" fmla="val 1128569"/>
              </a:avLst>
            </a:prstGeom>
            <a:noFill/>
            <a:ln w="38100">
              <a:solidFill>
                <a:schemeClr val="bg1"/>
              </a:solidFill>
              <a:miter lim="800000"/>
              <a:headEnd/>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280691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1505850" cy="4392042"/>
          </a:xfrm>
        </p:spPr>
        <p:txBody>
          <a:bodyPr/>
          <a:lstStyle/>
          <a:p>
            <a:r>
              <a:rPr lang="de-DE" err="1"/>
              <a:t>Posting</a:t>
            </a:r>
            <a:r>
              <a:rPr lang="de-DE"/>
              <a:t> </a:t>
            </a:r>
            <a:r>
              <a:rPr lang="de-DE" err="1"/>
              <a:t>Secondary</a:t>
            </a:r>
            <a:r>
              <a:rPr lang="de-DE"/>
              <a:t> </a:t>
            </a:r>
            <a:r>
              <a:rPr lang="de-DE" err="1"/>
              <a:t>Cost</a:t>
            </a:r>
            <a:r>
              <a:rPr lang="de-DE"/>
              <a:t> Element</a:t>
            </a:r>
          </a:p>
        </p:txBody>
      </p:sp>
      <p:sp>
        <p:nvSpPr>
          <p:cNvPr id="3" name="Titel 2"/>
          <p:cNvSpPr>
            <a:spLocks noGrp="1"/>
          </p:cNvSpPr>
          <p:nvPr>
            <p:ph type="title"/>
          </p:nvPr>
        </p:nvSpPr>
        <p:spPr/>
        <p:txBody>
          <a:bodyPr/>
          <a:lstStyle/>
          <a:p>
            <a:r>
              <a:rPr lang="en-US" altLang="de-DE">
                <a:latin typeface="Arial" panose="020B0604020202020204" pitchFamily="34" charset="0"/>
              </a:rPr>
              <a:t>CO Processes</a:t>
            </a:r>
            <a:endParaRPr lang="de-DE"/>
          </a:p>
        </p:txBody>
      </p:sp>
      <p:grpSp>
        <p:nvGrpSpPr>
          <p:cNvPr id="46" name="Gruppieren 45"/>
          <p:cNvGrpSpPr/>
          <p:nvPr/>
        </p:nvGrpSpPr>
        <p:grpSpPr>
          <a:xfrm>
            <a:off x="2804408" y="1352371"/>
            <a:ext cx="7981950" cy="4730750"/>
            <a:chOff x="812800" y="1473200"/>
            <a:chExt cx="7981950" cy="4730750"/>
          </a:xfrm>
        </p:grpSpPr>
        <p:grpSp>
          <p:nvGrpSpPr>
            <p:cNvPr id="4" name="Group 3"/>
            <p:cNvGrpSpPr>
              <a:grpSpLocks/>
            </p:cNvGrpSpPr>
            <p:nvPr/>
          </p:nvGrpSpPr>
          <p:grpSpPr bwMode="auto">
            <a:xfrm>
              <a:off x="965200" y="1782763"/>
              <a:ext cx="1752600" cy="1487487"/>
              <a:chOff x="336" y="960"/>
              <a:chExt cx="1104" cy="937"/>
            </a:xfrm>
          </p:grpSpPr>
          <p:grpSp>
            <p:nvGrpSpPr>
              <p:cNvPr id="5" name="Group 4"/>
              <p:cNvGrpSpPr>
                <a:grpSpLocks/>
              </p:cNvGrpSpPr>
              <p:nvPr/>
            </p:nvGrpSpPr>
            <p:grpSpPr bwMode="auto">
              <a:xfrm>
                <a:off x="336" y="1152"/>
                <a:ext cx="1066" cy="745"/>
                <a:chOff x="2534" y="2279"/>
                <a:chExt cx="1066" cy="745"/>
              </a:xfrm>
            </p:grpSpPr>
            <p:grpSp>
              <p:nvGrpSpPr>
                <p:cNvPr id="7" name="Group 5"/>
                <p:cNvGrpSpPr>
                  <a:grpSpLocks/>
                </p:cNvGrpSpPr>
                <p:nvPr/>
              </p:nvGrpSpPr>
              <p:grpSpPr bwMode="auto">
                <a:xfrm>
                  <a:off x="2544" y="2279"/>
                  <a:ext cx="1056" cy="745"/>
                  <a:chOff x="2544" y="2279"/>
                  <a:chExt cx="1056" cy="745"/>
                </a:xfrm>
              </p:grpSpPr>
              <p:grpSp>
                <p:nvGrpSpPr>
                  <p:cNvPr id="10" name="Group 6"/>
                  <p:cNvGrpSpPr>
                    <a:grpSpLocks/>
                  </p:cNvGrpSpPr>
                  <p:nvPr/>
                </p:nvGrpSpPr>
                <p:grpSpPr bwMode="auto">
                  <a:xfrm>
                    <a:off x="2544" y="2544"/>
                    <a:ext cx="1056" cy="480"/>
                    <a:chOff x="2496" y="2400"/>
                    <a:chExt cx="1056" cy="480"/>
                  </a:xfrm>
                </p:grpSpPr>
                <p:sp>
                  <p:nvSpPr>
                    <p:cNvPr id="12" name="Line 7"/>
                    <p:cNvSpPr>
                      <a:spLocks noChangeShapeType="1"/>
                    </p:cNvSpPr>
                    <p:nvPr/>
                  </p:nvSpPr>
                  <p:spPr bwMode="auto">
                    <a:xfrm>
                      <a:off x="2496" y="2400"/>
                      <a:ext cx="105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13" name="Line 8"/>
                    <p:cNvSpPr>
                      <a:spLocks noChangeShapeType="1"/>
                    </p:cNvSpPr>
                    <p:nvPr/>
                  </p:nvSpPr>
                  <p:spPr bwMode="auto">
                    <a:xfrm>
                      <a:off x="3024" y="2400"/>
                      <a:ext cx="0" cy="48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11" name="Text Box 9"/>
                  <p:cNvSpPr txBox="1">
                    <a:spLocks noChangeArrowheads="1"/>
                  </p:cNvSpPr>
                  <p:nvPr/>
                </p:nvSpPr>
                <p:spPr bwMode="auto">
                  <a:xfrm>
                    <a:off x="2582" y="2279"/>
                    <a:ext cx="9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t>Debit    Credit</a:t>
                    </a:r>
                  </a:p>
                </p:txBody>
              </p:sp>
            </p:grpSp>
            <p:sp>
              <p:nvSpPr>
                <p:cNvPr id="8" name="Text Box 10"/>
                <p:cNvSpPr txBox="1">
                  <a:spLocks noChangeArrowheads="1"/>
                </p:cNvSpPr>
                <p:nvPr/>
              </p:nvSpPr>
              <p:spPr bwMode="auto">
                <a:xfrm>
                  <a:off x="2534" y="2567"/>
                  <a:ext cx="5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t>  1,500</a:t>
                  </a:r>
                </a:p>
              </p:txBody>
            </p:sp>
            <p:sp>
              <p:nvSpPr>
                <p:cNvPr id="9" name="Text Box 11"/>
                <p:cNvSpPr txBox="1">
                  <a:spLocks noChangeArrowheads="1"/>
                </p:cNvSpPr>
                <p:nvPr/>
              </p:nvSpPr>
              <p:spPr bwMode="auto">
                <a:xfrm>
                  <a:off x="3120" y="2736"/>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endParaRPr lang="de-DE" altLang="de-DE" sz="1800" b="0"/>
                </a:p>
              </p:txBody>
            </p:sp>
          </p:grpSp>
          <p:sp>
            <p:nvSpPr>
              <p:cNvPr id="6" name="Text Box 12"/>
              <p:cNvSpPr txBox="1">
                <a:spLocks noChangeArrowheads="1"/>
              </p:cNvSpPr>
              <p:nvPr/>
            </p:nvSpPr>
            <p:spPr bwMode="auto">
              <a:xfrm>
                <a:off x="384" y="960"/>
                <a:ext cx="10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600"/>
                  <a:t>Rent Expense</a:t>
                </a:r>
              </a:p>
            </p:txBody>
          </p:sp>
        </p:grpSp>
        <p:grpSp>
          <p:nvGrpSpPr>
            <p:cNvPr id="14" name="Group 14"/>
            <p:cNvGrpSpPr>
              <a:grpSpLocks/>
            </p:cNvGrpSpPr>
            <p:nvPr/>
          </p:nvGrpSpPr>
          <p:grpSpPr bwMode="auto">
            <a:xfrm>
              <a:off x="981075" y="4413250"/>
              <a:ext cx="1676400" cy="528638"/>
              <a:chOff x="2496" y="2400"/>
              <a:chExt cx="1056" cy="480"/>
            </a:xfrm>
          </p:grpSpPr>
          <p:sp>
            <p:nvSpPr>
              <p:cNvPr id="15" name="Line 15"/>
              <p:cNvSpPr>
                <a:spLocks noChangeShapeType="1"/>
              </p:cNvSpPr>
              <p:nvPr/>
            </p:nvSpPr>
            <p:spPr bwMode="auto">
              <a:xfrm>
                <a:off x="2496" y="2400"/>
                <a:ext cx="105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16" name="Line 16"/>
              <p:cNvSpPr>
                <a:spLocks noChangeShapeType="1"/>
              </p:cNvSpPr>
              <p:nvPr/>
            </p:nvSpPr>
            <p:spPr bwMode="auto">
              <a:xfrm>
                <a:off x="3024" y="2400"/>
                <a:ext cx="0" cy="48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17" name="Text Box 17"/>
            <p:cNvSpPr txBox="1">
              <a:spLocks noChangeArrowheads="1"/>
            </p:cNvSpPr>
            <p:nvPr/>
          </p:nvSpPr>
          <p:spPr bwMode="auto">
            <a:xfrm>
              <a:off x="1041400" y="3992563"/>
              <a:ext cx="158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t>Debit    Credit</a:t>
              </a:r>
            </a:p>
          </p:txBody>
        </p:sp>
        <p:sp>
          <p:nvSpPr>
            <p:cNvPr id="18" name="Text Box 18"/>
            <p:cNvSpPr txBox="1">
              <a:spLocks noChangeArrowheads="1"/>
            </p:cNvSpPr>
            <p:nvPr/>
          </p:nvSpPr>
          <p:spPr bwMode="auto">
            <a:xfrm>
              <a:off x="812800" y="4449763"/>
              <a:ext cx="990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r">
                <a:spcBef>
                  <a:spcPct val="0"/>
                </a:spcBef>
                <a:buClrTx/>
                <a:buFontTx/>
                <a:buNone/>
              </a:pPr>
              <a:r>
                <a:rPr lang="en-US" altLang="de-DE" sz="1800" b="0"/>
                <a:t>  2,500</a:t>
              </a:r>
            </a:p>
          </p:txBody>
        </p:sp>
        <p:sp>
          <p:nvSpPr>
            <p:cNvPr id="19" name="Text Box 19"/>
            <p:cNvSpPr txBox="1">
              <a:spLocks noChangeArrowheads="1"/>
            </p:cNvSpPr>
            <p:nvPr/>
          </p:nvSpPr>
          <p:spPr bwMode="auto">
            <a:xfrm>
              <a:off x="889000" y="3687763"/>
              <a:ext cx="1981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600"/>
                <a:t>Supplies Expense</a:t>
              </a:r>
            </a:p>
          </p:txBody>
        </p:sp>
        <p:grpSp>
          <p:nvGrpSpPr>
            <p:cNvPr id="20" name="Group 22"/>
            <p:cNvGrpSpPr>
              <a:grpSpLocks/>
            </p:cNvGrpSpPr>
            <p:nvPr/>
          </p:nvGrpSpPr>
          <p:grpSpPr bwMode="auto">
            <a:xfrm>
              <a:off x="981075" y="5765800"/>
              <a:ext cx="1676400" cy="341313"/>
              <a:chOff x="2496" y="2400"/>
              <a:chExt cx="1056" cy="480"/>
            </a:xfrm>
          </p:grpSpPr>
          <p:sp>
            <p:nvSpPr>
              <p:cNvPr id="21" name="Line 23"/>
              <p:cNvSpPr>
                <a:spLocks noChangeShapeType="1"/>
              </p:cNvSpPr>
              <p:nvPr/>
            </p:nvSpPr>
            <p:spPr bwMode="auto">
              <a:xfrm>
                <a:off x="2496" y="2400"/>
                <a:ext cx="1056"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sp>
            <p:nvSpPr>
              <p:cNvPr id="22" name="Line 24"/>
              <p:cNvSpPr>
                <a:spLocks noChangeShapeType="1"/>
              </p:cNvSpPr>
              <p:nvPr/>
            </p:nvSpPr>
            <p:spPr bwMode="auto">
              <a:xfrm>
                <a:off x="3024" y="2400"/>
                <a:ext cx="0" cy="48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de-DE"/>
              </a:p>
            </p:txBody>
          </p:sp>
        </p:grpSp>
        <p:sp>
          <p:nvSpPr>
            <p:cNvPr id="23" name="Text Box 25"/>
            <p:cNvSpPr txBox="1">
              <a:spLocks noChangeArrowheads="1"/>
            </p:cNvSpPr>
            <p:nvPr/>
          </p:nvSpPr>
          <p:spPr bwMode="auto">
            <a:xfrm>
              <a:off x="1041400" y="5462588"/>
              <a:ext cx="158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t>Debit    Credit</a:t>
              </a:r>
            </a:p>
          </p:txBody>
        </p:sp>
        <p:sp>
          <p:nvSpPr>
            <p:cNvPr id="24" name="Text Box 26"/>
            <p:cNvSpPr txBox="1">
              <a:spLocks noChangeArrowheads="1"/>
            </p:cNvSpPr>
            <p:nvPr/>
          </p:nvSpPr>
          <p:spPr bwMode="auto">
            <a:xfrm>
              <a:off x="965200" y="5791200"/>
              <a:ext cx="882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t>  2,000</a:t>
              </a:r>
            </a:p>
          </p:txBody>
        </p:sp>
        <p:sp>
          <p:nvSpPr>
            <p:cNvPr id="25" name="Text Box 28"/>
            <p:cNvSpPr txBox="1">
              <a:spLocks noChangeArrowheads="1"/>
            </p:cNvSpPr>
            <p:nvPr/>
          </p:nvSpPr>
          <p:spPr bwMode="auto">
            <a:xfrm>
              <a:off x="1041400" y="5157788"/>
              <a:ext cx="1676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600"/>
                <a:t>Labor Expense</a:t>
              </a:r>
            </a:p>
          </p:txBody>
        </p:sp>
        <p:sp>
          <p:nvSpPr>
            <p:cNvPr id="26" name="Oval 29"/>
            <p:cNvSpPr>
              <a:spLocks noChangeArrowheads="1"/>
            </p:cNvSpPr>
            <p:nvPr/>
          </p:nvSpPr>
          <p:spPr bwMode="auto">
            <a:xfrm>
              <a:off x="3924300" y="3273425"/>
              <a:ext cx="1447800" cy="1857375"/>
            </a:xfrm>
            <a:prstGeom prst="ellipse">
              <a:avLst/>
            </a:prstGeom>
            <a:solidFill>
              <a:schemeClr val="tx2"/>
            </a:solidFill>
            <a:ln w="38100" algn="ctr">
              <a:solidFill>
                <a:schemeClr val="tx2"/>
              </a:solidFill>
              <a:round/>
              <a:headEnd/>
              <a:tailEnd type="none" w="lg" len="lg"/>
            </a:ln>
          </p:spPr>
          <p:txBody>
            <a:bodyPr anchor="ct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2000" b="0">
                  <a:solidFill>
                    <a:schemeClr val="bg1"/>
                  </a:solidFill>
                </a:rPr>
                <a:t>1,500</a:t>
              </a:r>
            </a:p>
            <a:p>
              <a:pPr algn="ctr">
                <a:spcBef>
                  <a:spcPct val="50000"/>
                </a:spcBef>
                <a:buClrTx/>
                <a:buFontTx/>
                <a:buNone/>
              </a:pPr>
              <a:r>
                <a:rPr lang="en-US" altLang="de-DE" sz="2000" b="0">
                  <a:solidFill>
                    <a:schemeClr val="bg1"/>
                  </a:solidFill>
                </a:rPr>
                <a:t>2,500</a:t>
              </a:r>
            </a:p>
            <a:p>
              <a:pPr algn="ctr">
                <a:spcBef>
                  <a:spcPct val="50000"/>
                </a:spcBef>
                <a:buClrTx/>
                <a:buFontTx/>
                <a:buNone/>
              </a:pPr>
              <a:r>
                <a:rPr lang="en-US" altLang="de-DE" sz="2000" b="0">
                  <a:solidFill>
                    <a:schemeClr val="bg1"/>
                  </a:solidFill>
                </a:rPr>
                <a:t>2,000</a:t>
              </a:r>
            </a:p>
          </p:txBody>
        </p:sp>
        <p:sp>
          <p:nvSpPr>
            <p:cNvPr id="27" name="Oval 30"/>
            <p:cNvSpPr>
              <a:spLocks noChangeArrowheads="1"/>
            </p:cNvSpPr>
            <p:nvPr/>
          </p:nvSpPr>
          <p:spPr bwMode="auto">
            <a:xfrm>
              <a:off x="6804025" y="1905000"/>
              <a:ext cx="1676400" cy="914400"/>
            </a:xfrm>
            <a:prstGeom prst="ellipse">
              <a:avLst/>
            </a:prstGeom>
            <a:solidFill>
              <a:schemeClr val="tx2"/>
            </a:solidFill>
            <a:ln w="38100" algn="ctr">
              <a:solidFill>
                <a:schemeClr val="tx2"/>
              </a:solidFill>
              <a:round/>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2000" b="0">
                  <a:solidFill>
                    <a:schemeClr val="bg1"/>
                  </a:solidFill>
                </a:rPr>
                <a:t>1,800</a:t>
              </a:r>
            </a:p>
          </p:txBody>
        </p:sp>
        <p:sp>
          <p:nvSpPr>
            <p:cNvPr id="28" name="Oval 31"/>
            <p:cNvSpPr>
              <a:spLocks noChangeArrowheads="1"/>
            </p:cNvSpPr>
            <p:nvPr/>
          </p:nvSpPr>
          <p:spPr bwMode="auto">
            <a:xfrm>
              <a:off x="6804025" y="3776663"/>
              <a:ext cx="1676400" cy="914400"/>
            </a:xfrm>
            <a:prstGeom prst="ellipse">
              <a:avLst/>
            </a:prstGeom>
            <a:solidFill>
              <a:schemeClr val="tx2"/>
            </a:solidFill>
            <a:ln w="38100" algn="ctr">
              <a:solidFill>
                <a:schemeClr val="tx2"/>
              </a:solidFill>
              <a:round/>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2000" b="0">
                  <a:solidFill>
                    <a:schemeClr val="bg1"/>
                  </a:solidFill>
                </a:rPr>
                <a:t>3,000</a:t>
              </a:r>
            </a:p>
          </p:txBody>
        </p:sp>
        <p:sp>
          <p:nvSpPr>
            <p:cNvPr id="29" name="Oval 32"/>
            <p:cNvSpPr>
              <a:spLocks noChangeArrowheads="1"/>
            </p:cNvSpPr>
            <p:nvPr/>
          </p:nvSpPr>
          <p:spPr bwMode="auto">
            <a:xfrm>
              <a:off x="6804025" y="5289550"/>
              <a:ext cx="1676400" cy="914400"/>
            </a:xfrm>
            <a:prstGeom prst="ellipse">
              <a:avLst/>
            </a:prstGeom>
            <a:solidFill>
              <a:schemeClr val="tx2"/>
            </a:solidFill>
            <a:ln w="38100" algn="ctr">
              <a:solidFill>
                <a:schemeClr val="tx2"/>
              </a:solidFill>
              <a:round/>
              <a:headEnd/>
              <a:tailEnd type="none" w="lg" len="lg"/>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2000" b="0">
                  <a:solidFill>
                    <a:schemeClr val="bg1"/>
                  </a:solidFill>
                </a:rPr>
                <a:t>1,200</a:t>
              </a:r>
            </a:p>
          </p:txBody>
        </p:sp>
        <p:sp>
          <p:nvSpPr>
            <p:cNvPr id="30" name="Text Box 33"/>
            <p:cNvSpPr txBox="1">
              <a:spLocks noChangeArrowheads="1"/>
            </p:cNvSpPr>
            <p:nvPr/>
          </p:nvSpPr>
          <p:spPr bwMode="auto">
            <a:xfrm rot="1140000">
              <a:off x="2112963" y="3154363"/>
              <a:ext cx="1981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200">
                  <a:solidFill>
                    <a:srgbClr val="000000"/>
                  </a:solidFill>
                </a:rPr>
                <a:t>Primary Cost Element</a:t>
              </a:r>
            </a:p>
          </p:txBody>
        </p:sp>
        <p:sp>
          <p:nvSpPr>
            <p:cNvPr id="31" name="Text Box 34"/>
            <p:cNvSpPr txBox="1">
              <a:spLocks noChangeArrowheads="1"/>
            </p:cNvSpPr>
            <p:nvPr/>
          </p:nvSpPr>
          <p:spPr bwMode="auto">
            <a:xfrm rot="-656711">
              <a:off x="1908175" y="443865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200">
                  <a:solidFill>
                    <a:srgbClr val="000000"/>
                  </a:solidFill>
                </a:rPr>
                <a:t>Primary Cost Element</a:t>
              </a:r>
            </a:p>
          </p:txBody>
        </p:sp>
        <p:sp>
          <p:nvSpPr>
            <p:cNvPr id="32" name="Text Box 35"/>
            <p:cNvSpPr txBox="1">
              <a:spLocks noChangeArrowheads="1"/>
            </p:cNvSpPr>
            <p:nvPr/>
          </p:nvSpPr>
          <p:spPr bwMode="auto">
            <a:xfrm rot="-1595544">
              <a:off x="2519363" y="5229225"/>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200">
                  <a:solidFill>
                    <a:srgbClr val="000000"/>
                  </a:solidFill>
                </a:rPr>
                <a:t>Primary Cost Element</a:t>
              </a:r>
            </a:p>
          </p:txBody>
        </p:sp>
        <p:sp>
          <p:nvSpPr>
            <p:cNvPr id="33" name="Text Box 36"/>
            <p:cNvSpPr txBox="1">
              <a:spLocks noChangeArrowheads="1"/>
            </p:cNvSpPr>
            <p:nvPr/>
          </p:nvSpPr>
          <p:spPr bwMode="auto">
            <a:xfrm rot="-2255284">
              <a:off x="5148263" y="2840038"/>
              <a:ext cx="1981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200">
                  <a:solidFill>
                    <a:srgbClr val="000000"/>
                  </a:solidFill>
                </a:rPr>
                <a:t>Sec. Cost Element</a:t>
              </a:r>
            </a:p>
          </p:txBody>
        </p:sp>
        <p:cxnSp>
          <p:nvCxnSpPr>
            <p:cNvPr id="34" name="AutoShape 37"/>
            <p:cNvCxnSpPr>
              <a:cxnSpLocks noChangeShapeType="1"/>
              <a:stCxn id="8" idx="3"/>
              <a:endCxn id="26" idx="1"/>
            </p:cNvCxnSpPr>
            <p:nvPr/>
          </p:nvCxnSpPr>
          <p:spPr bwMode="auto">
            <a:xfrm>
              <a:off x="1847850" y="2728913"/>
              <a:ext cx="2289175" cy="796925"/>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5" name="AutoShape 38"/>
            <p:cNvCxnSpPr>
              <a:cxnSpLocks noChangeShapeType="1"/>
              <a:stCxn id="18" idx="3"/>
              <a:endCxn id="26" idx="2"/>
            </p:cNvCxnSpPr>
            <p:nvPr/>
          </p:nvCxnSpPr>
          <p:spPr bwMode="auto">
            <a:xfrm flipV="1">
              <a:off x="1803400" y="4202113"/>
              <a:ext cx="2101850" cy="431800"/>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6" name="AutoShape 39"/>
            <p:cNvCxnSpPr>
              <a:cxnSpLocks noChangeShapeType="1"/>
              <a:stCxn id="24" idx="3"/>
              <a:endCxn id="26" idx="3"/>
            </p:cNvCxnSpPr>
            <p:nvPr/>
          </p:nvCxnSpPr>
          <p:spPr bwMode="auto">
            <a:xfrm flipV="1">
              <a:off x="1847850" y="4878388"/>
              <a:ext cx="2289175" cy="1096962"/>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7" name="AutoShape 40"/>
            <p:cNvCxnSpPr>
              <a:cxnSpLocks noChangeShapeType="1"/>
              <a:stCxn id="26" idx="6"/>
              <a:endCxn id="28" idx="2"/>
            </p:cNvCxnSpPr>
            <p:nvPr/>
          </p:nvCxnSpPr>
          <p:spPr bwMode="auto">
            <a:xfrm>
              <a:off x="5391150" y="4202113"/>
              <a:ext cx="1393825" cy="31750"/>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8" name="AutoShape 41"/>
            <p:cNvCxnSpPr>
              <a:cxnSpLocks noChangeShapeType="1"/>
              <a:stCxn id="26" idx="5"/>
              <a:endCxn id="29" idx="2"/>
            </p:cNvCxnSpPr>
            <p:nvPr/>
          </p:nvCxnSpPr>
          <p:spPr bwMode="auto">
            <a:xfrm>
              <a:off x="5159375" y="4878388"/>
              <a:ext cx="1625600" cy="868362"/>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9" name="AutoShape 42"/>
            <p:cNvCxnSpPr>
              <a:cxnSpLocks noChangeShapeType="1"/>
              <a:stCxn id="26" idx="7"/>
              <a:endCxn id="27" idx="2"/>
            </p:cNvCxnSpPr>
            <p:nvPr/>
          </p:nvCxnSpPr>
          <p:spPr bwMode="auto">
            <a:xfrm flipV="1">
              <a:off x="5159375" y="2362200"/>
              <a:ext cx="1625600" cy="1163638"/>
            </a:xfrm>
            <a:prstGeom prst="straightConnector1">
              <a:avLst/>
            </a:prstGeom>
            <a:noFill/>
            <a:ln w="38100">
              <a:solidFill>
                <a:schemeClr val="tx1"/>
              </a:solidFill>
              <a:round/>
              <a:headEnd/>
              <a:tailEnd type="triangle" w="lg" len="lg"/>
            </a:ln>
            <a:extLst>
              <a:ext uri="{909E8E84-426E-40DD-AFC4-6F175D3DCCD1}">
                <a14:hiddenFill xmlns:a14="http://schemas.microsoft.com/office/drawing/2010/main">
                  <a:noFill/>
                </a14:hiddenFill>
              </a:ext>
            </a:extLst>
          </p:spPr>
        </p:cxnSp>
        <p:sp>
          <p:nvSpPr>
            <p:cNvPr id="40" name="Text Box 43"/>
            <p:cNvSpPr txBox="1">
              <a:spLocks noChangeArrowheads="1"/>
            </p:cNvSpPr>
            <p:nvPr/>
          </p:nvSpPr>
          <p:spPr bwMode="auto">
            <a:xfrm>
              <a:off x="5111750" y="422275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200">
                  <a:solidFill>
                    <a:srgbClr val="000000"/>
                  </a:solidFill>
                </a:rPr>
                <a:t>Sec. Cost Element</a:t>
              </a:r>
            </a:p>
          </p:txBody>
        </p:sp>
        <p:sp>
          <p:nvSpPr>
            <p:cNvPr id="41" name="Text Box 44"/>
            <p:cNvSpPr txBox="1">
              <a:spLocks noChangeArrowheads="1"/>
            </p:cNvSpPr>
            <p:nvPr/>
          </p:nvSpPr>
          <p:spPr bwMode="auto">
            <a:xfrm rot="1650086">
              <a:off x="4859338" y="5289550"/>
              <a:ext cx="1981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200">
                  <a:solidFill>
                    <a:srgbClr val="000000"/>
                  </a:solidFill>
                </a:rPr>
                <a:t>Sec. Cost Element</a:t>
              </a:r>
            </a:p>
          </p:txBody>
        </p:sp>
        <p:sp>
          <p:nvSpPr>
            <p:cNvPr id="42" name="Text Box 45"/>
            <p:cNvSpPr txBox="1">
              <a:spLocks noChangeArrowheads="1"/>
            </p:cNvSpPr>
            <p:nvPr/>
          </p:nvSpPr>
          <p:spPr bwMode="auto">
            <a:xfrm>
              <a:off x="4318000" y="2468563"/>
              <a:ext cx="1371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2400" b="0"/>
                <a:t>Copy Center</a:t>
              </a:r>
            </a:p>
          </p:txBody>
        </p:sp>
        <p:sp>
          <p:nvSpPr>
            <p:cNvPr id="43" name="Text Box 46"/>
            <p:cNvSpPr txBox="1">
              <a:spLocks noChangeArrowheads="1"/>
            </p:cNvSpPr>
            <p:nvPr/>
          </p:nvSpPr>
          <p:spPr bwMode="auto">
            <a:xfrm>
              <a:off x="6443663" y="1473200"/>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t>Executive Offices</a:t>
              </a:r>
            </a:p>
          </p:txBody>
        </p:sp>
        <p:sp>
          <p:nvSpPr>
            <p:cNvPr id="44" name="Text Box 47"/>
            <p:cNvSpPr txBox="1">
              <a:spLocks noChangeArrowheads="1"/>
            </p:cNvSpPr>
            <p:nvPr/>
          </p:nvSpPr>
          <p:spPr bwMode="auto">
            <a:xfrm>
              <a:off x="6084888" y="4856163"/>
              <a:ext cx="27098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t>Information Services</a:t>
              </a:r>
            </a:p>
          </p:txBody>
        </p:sp>
        <p:sp>
          <p:nvSpPr>
            <p:cNvPr id="45" name="Text Box 48"/>
            <p:cNvSpPr txBox="1">
              <a:spLocks noChangeArrowheads="1"/>
            </p:cNvSpPr>
            <p:nvPr/>
          </p:nvSpPr>
          <p:spPr bwMode="auto">
            <a:xfrm>
              <a:off x="6588125" y="3055938"/>
              <a:ext cx="2133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type="none" w="lg" len="lg"/>
                </a14:hiddenLine>
              </a:ext>
            </a:extLst>
          </p:spPr>
          <p:txBody>
            <a:bodyPr>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50000"/>
                </a:spcBef>
                <a:buClrTx/>
                <a:buFontTx/>
                <a:buNone/>
              </a:pPr>
              <a:r>
                <a:rPr lang="en-US" altLang="de-DE" sz="1800" b="0"/>
                <a:t>Maintenance Department</a:t>
              </a:r>
            </a:p>
          </p:txBody>
        </p:sp>
      </p:grpSp>
    </p:spTree>
    <p:extLst>
      <p:ext uri="{BB962C8B-B14F-4D97-AF65-F5344CB8AC3E}">
        <p14:creationId xmlns:p14="http://schemas.microsoft.com/office/powerpoint/2010/main" val="2523412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a:latin typeface="Arial" panose="020B0604020202020204" pitchFamily="34" charset="0"/>
              </a:rPr>
              <a:t>Distribution</a:t>
            </a:r>
          </a:p>
          <a:p>
            <a:pPr lvl="1"/>
            <a:r>
              <a:rPr lang="en-US" altLang="de-DE">
                <a:latin typeface="Arial" panose="020B0604020202020204" pitchFamily="34" charset="0"/>
              </a:rPr>
              <a:t>Method for periodically allocating primary cost elements</a:t>
            </a:r>
          </a:p>
          <a:p>
            <a:pPr lvl="1"/>
            <a:r>
              <a:rPr lang="en-US" altLang="de-DE">
                <a:latin typeface="Arial" panose="020B0604020202020204" pitchFamily="34" charset="0"/>
              </a:rPr>
              <a:t>Primary cost elements maintain their identities in both the sending and receiving objects</a:t>
            </a:r>
          </a:p>
          <a:p>
            <a:pPr lvl="1"/>
            <a:r>
              <a:rPr lang="en-US" altLang="de-DE">
                <a:latin typeface="Arial" panose="020B0604020202020204" pitchFamily="34" charset="0"/>
              </a:rPr>
              <a:t>Sender and receiver cost centers are fully documented in a unique Controlling (CO) document.</a:t>
            </a:r>
          </a:p>
          <a:p>
            <a:pPr lvl="1"/>
            <a:endParaRPr lang="en-US" altLang="de-DE">
              <a:latin typeface="Arial" panose="020B0604020202020204" pitchFamily="34" charset="0"/>
            </a:endParaRPr>
          </a:p>
          <a:p>
            <a:r>
              <a:rPr lang="en-US" altLang="de-DE">
                <a:latin typeface="Arial" panose="020B0604020202020204" pitchFamily="34" charset="0"/>
              </a:rPr>
              <a:t>Assessment</a:t>
            </a:r>
          </a:p>
          <a:p>
            <a:pPr lvl="1"/>
            <a:r>
              <a:rPr lang="en-US" altLang="de-DE">
                <a:latin typeface="Arial" panose="020B0604020202020204" pitchFamily="34" charset="0"/>
              </a:rPr>
              <a:t>A method of allocating both primary and secondary cost elements</a:t>
            </a:r>
          </a:p>
          <a:p>
            <a:pPr lvl="1"/>
            <a:r>
              <a:rPr lang="en-US" altLang="de-DE">
                <a:latin typeface="Arial" panose="020B0604020202020204" pitchFamily="34" charset="0"/>
              </a:rPr>
              <a:t>Primary and/or secondary cost elements are grouped together and transferred to receiver cost centers through use of a secondary cost element.</a:t>
            </a:r>
          </a:p>
          <a:p>
            <a:pPr lvl="1"/>
            <a:r>
              <a:rPr lang="en-US" altLang="de-DE">
                <a:latin typeface="Arial" panose="020B0604020202020204" pitchFamily="34" charset="0"/>
              </a:rPr>
              <a:t>Sender and receiver cost centers are fully documented in a unique Controlling (CO) document.</a:t>
            </a:r>
          </a:p>
        </p:txBody>
      </p:sp>
      <p:sp>
        <p:nvSpPr>
          <p:cNvPr id="3" name="Titel 2"/>
          <p:cNvSpPr>
            <a:spLocks noGrp="1"/>
          </p:cNvSpPr>
          <p:nvPr>
            <p:ph type="title"/>
          </p:nvPr>
        </p:nvSpPr>
        <p:spPr/>
        <p:txBody>
          <a:bodyPr/>
          <a:lstStyle/>
          <a:p>
            <a:r>
              <a:rPr lang="en-US" altLang="de-DE">
                <a:latin typeface="Arial" panose="020B0604020202020204" pitchFamily="34" charset="0"/>
              </a:rPr>
              <a:t>Types of Allocation</a:t>
            </a:r>
            <a:endParaRPr lang="de-DE"/>
          </a:p>
        </p:txBody>
      </p:sp>
    </p:spTree>
    <p:extLst>
      <p:ext uri="{BB962C8B-B14F-4D97-AF65-F5344CB8AC3E}">
        <p14:creationId xmlns:p14="http://schemas.microsoft.com/office/powerpoint/2010/main" val="1493159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a:latin typeface="Arial" panose="020B0604020202020204" pitchFamily="34" charset="0"/>
              </a:rPr>
              <a:t>Distribution</a:t>
            </a:r>
            <a:endParaRPr lang="de-DE"/>
          </a:p>
        </p:txBody>
      </p:sp>
      <p:grpSp>
        <p:nvGrpSpPr>
          <p:cNvPr id="40" name="Gruppieren 39"/>
          <p:cNvGrpSpPr/>
          <p:nvPr/>
        </p:nvGrpSpPr>
        <p:grpSpPr>
          <a:xfrm>
            <a:off x="2231037" y="1572525"/>
            <a:ext cx="7731125" cy="4629150"/>
            <a:chOff x="684213" y="1412875"/>
            <a:chExt cx="7731125" cy="4629150"/>
          </a:xfrm>
        </p:grpSpPr>
        <p:sp>
          <p:nvSpPr>
            <p:cNvPr id="4" name="Freeform 50"/>
            <p:cNvSpPr>
              <a:spLocks/>
            </p:cNvSpPr>
            <p:nvPr/>
          </p:nvSpPr>
          <p:spPr bwMode="auto">
            <a:xfrm>
              <a:off x="6588125" y="2133600"/>
              <a:ext cx="1343025" cy="1782763"/>
            </a:xfrm>
            <a:custGeom>
              <a:avLst/>
              <a:gdLst>
                <a:gd name="T0" fmla="*/ 2147483647 w 84"/>
                <a:gd name="T1" fmla="*/ 2147483647 h 114"/>
                <a:gd name="T2" fmla="*/ 0 w 84"/>
                <a:gd name="T3" fmla="*/ 0 h 114"/>
                <a:gd name="T4" fmla="*/ 0 w 84"/>
                <a:gd name="T5" fmla="*/ 2147483647 h 114"/>
                <a:gd name="T6" fmla="*/ 2147483647 w 84"/>
                <a:gd name="T7" fmla="*/ 2147483647 h 114"/>
                <a:gd name="T8" fmla="*/ 0 60000 65536"/>
                <a:gd name="T9" fmla="*/ 0 60000 65536"/>
                <a:gd name="T10" fmla="*/ 0 60000 65536"/>
                <a:gd name="T11" fmla="*/ 0 60000 65536"/>
                <a:gd name="T12" fmla="*/ 0 w 84"/>
                <a:gd name="T13" fmla="*/ 0 h 114"/>
                <a:gd name="T14" fmla="*/ 84 w 84"/>
                <a:gd name="T15" fmla="*/ 114 h 114"/>
              </a:gdLst>
              <a:ahLst/>
              <a:cxnLst>
                <a:cxn ang="T8">
                  <a:pos x="T0" y="T1"/>
                </a:cxn>
                <a:cxn ang="T9">
                  <a:pos x="T2" y="T3"/>
                </a:cxn>
                <a:cxn ang="T10">
                  <a:pos x="T4" y="T5"/>
                </a:cxn>
                <a:cxn ang="T11">
                  <a:pos x="T6" y="T7"/>
                </a:cxn>
              </a:cxnLst>
              <a:rect l="T12" t="T13" r="T14" b="T15"/>
              <a:pathLst>
                <a:path w="84" h="114">
                  <a:moveTo>
                    <a:pt x="84" y="38"/>
                  </a:moveTo>
                  <a:cubicBezTo>
                    <a:pt x="63" y="13"/>
                    <a:pt x="32" y="0"/>
                    <a:pt x="0" y="0"/>
                  </a:cubicBezTo>
                  <a:lnTo>
                    <a:pt x="0" y="114"/>
                  </a:lnTo>
                  <a:lnTo>
                    <a:pt x="84" y="38"/>
                  </a:lnTo>
                  <a:close/>
                </a:path>
              </a:pathLst>
            </a:custGeom>
            <a:solidFill>
              <a:schemeClr val="accent2"/>
            </a:solidFill>
            <a:ln w="15875">
              <a:solidFill>
                <a:srgbClr val="000000"/>
              </a:solidFill>
              <a:prstDash val="solid"/>
              <a:round/>
              <a:headEnd/>
              <a:tailEnd/>
            </a:ln>
          </p:spPr>
          <p:txBody>
            <a:bodyPr/>
            <a:lstStyle/>
            <a:p>
              <a:endParaRPr lang="de-DE"/>
            </a:p>
          </p:txBody>
        </p:sp>
        <p:sp>
          <p:nvSpPr>
            <p:cNvPr id="5" name="Freeform 51"/>
            <p:cNvSpPr>
              <a:spLocks/>
            </p:cNvSpPr>
            <p:nvPr/>
          </p:nvSpPr>
          <p:spPr bwMode="auto">
            <a:xfrm>
              <a:off x="6592888" y="2720975"/>
              <a:ext cx="1822450" cy="2063750"/>
            </a:xfrm>
            <a:custGeom>
              <a:avLst/>
              <a:gdLst>
                <a:gd name="T0" fmla="*/ 2147483647 w 114"/>
                <a:gd name="T1" fmla="*/ 2147483647 h 132"/>
                <a:gd name="T2" fmla="*/ 2147483647 w 114"/>
                <a:gd name="T3" fmla="*/ 2147483647 h 132"/>
                <a:gd name="T4" fmla="*/ 2147483647 w 114"/>
                <a:gd name="T5" fmla="*/ 0 h 132"/>
                <a:gd name="T6" fmla="*/ 0 w 114"/>
                <a:gd name="T7" fmla="*/ 2147483647 h 132"/>
                <a:gd name="T8" fmla="*/ 2147483647 w 114"/>
                <a:gd name="T9" fmla="*/ 2147483647 h 132"/>
                <a:gd name="T10" fmla="*/ 0 60000 65536"/>
                <a:gd name="T11" fmla="*/ 0 60000 65536"/>
                <a:gd name="T12" fmla="*/ 0 60000 65536"/>
                <a:gd name="T13" fmla="*/ 0 60000 65536"/>
                <a:gd name="T14" fmla="*/ 0 60000 65536"/>
                <a:gd name="T15" fmla="*/ 0 w 114"/>
                <a:gd name="T16" fmla="*/ 0 h 132"/>
                <a:gd name="T17" fmla="*/ 114 w 114"/>
                <a:gd name="T18" fmla="*/ 132 h 132"/>
              </a:gdLst>
              <a:ahLst/>
              <a:cxnLst>
                <a:cxn ang="T10">
                  <a:pos x="T0" y="T1"/>
                </a:cxn>
                <a:cxn ang="T11">
                  <a:pos x="T2" y="T3"/>
                </a:cxn>
                <a:cxn ang="T12">
                  <a:pos x="T4" y="T5"/>
                </a:cxn>
                <a:cxn ang="T13">
                  <a:pos x="T6" y="T7"/>
                </a:cxn>
                <a:cxn ang="T14">
                  <a:pos x="T8" y="T9"/>
                </a:cxn>
              </a:cxnLst>
              <a:rect l="T15" t="T16" r="T17" b="T18"/>
              <a:pathLst>
                <a:path w="114" h="132">
                  <a:moveTo>
                    <a:pt x="98" y="132"/>
                  </a:moveTo>
                  <a:cubicBezTo>
                    <a:pt x="108" y="115"/>
                    <a:pt x="114" y="95"/>
                    <a:pt x="114" y="76"/>
                  </a:cubicBezTo>
                  <a:cubicBezTo>
                    <a:pt x="114" y="47"/>
                    <a:pt x="103" y="20"/>
                    <a:pt x="84" y="0"/>
                  </a:cubicBezTo>
                  <a:lnTo>
                    <a:pt x="0" y="76"/>
                  </a:lnTo>
                  <a:lnTo>
                    <a:pt x="98" y="132"/>
                  </a:lnTo>
                  <a:close/>
                </a:path>
              </a:pathLst>
            </a:custGeom>
            <a:solidFill>
              <a:schemeClr val="folHlink"/>
            </a:solidFill>
            <a:ln w="15875">
              <a:solidFill>
                <a:srgbClr val="000000"/>
              </a:solidFill>
              <a:prstDash val="solid"/>
              <a:round/>
              <a:headEnd/>
              <a:tailEnd/>
            </a:ln>
          </p:spPr>
          <p:txBody>
            <a:bodyPr/>
            <a:lstStyle/>
            <a:p>
              <a:endParaRPr lang="de-DE"/>
            </a:p>
          </p:txBody>
        </p:sp>
        <p:sp>
          <p:nvSpPr>
            <p:cNvPr id="6" name="Freeform 52"/>
            <p:cNvSpPr>
              <a:spLocks/>
            </p:cNvSpPr>
            <p:nvPr/>
          </p:nvSpPr>
          <p:spPr bwMode="auto">
            <a:xfrm>
              <a:off x="6592888" y="3910013"/>
              <a:ext cx="1566862" cy="1312862"/>
            </a:xfrm>
            <a:custGeom>
              <a:avLst/>
              <a:gdLst>
                <a:gd name="T0" fmla="*/ 2147483647 w 98"/>
                <a:gd name="T1" fmla="*/ 2147483647 h 84"/>
                <a:gd name="T2" fmla="*/ 2147483647 w 98"/>
                <a:gd name="T3" fmla="*/ 2147483647 h 84"/>
                <a:gd name="T4" fmla="*/ 0 w 98"/>
                <a:gd name="T5" fmla="*/ 0 h 84"/>
                <a:gd name="T6" fmla="*/ 2147483647 w 98"/>
                <a:gd name="T7" fmla="*/ 2147483647 h 84"/>
                <a:gd name="T8" fmla="*/ 0 60000 65536"/>
                <a:gd name="T9" fmla="*/ 0 60000 65536"/>
                <a:gd name="T10" fmla="*/ 0 60000 65536"/>
                <a:gd name="T11" fmla="*/ 0 60000 65536"/>
                <a:gd name="T12" fmla="*/ 0 w 98"/>
                <a:gd name="T13" fmla="*/ 0 h 84"/>
                <a:gd name="T14" fmla="*/ 98 w 98"/>
                <a:gd name="T15" fmla="*/ 84 h 84"/>
              </a:gdLst>
              <a:ahLst/>
              <a:cxnLst>
                <a:cxn ang="T8">
                  <a:pos x="T0" y="T1"/>
                </a:cxn>
                <a:cxn ang="T9">
                  <a:pos x="T2" y="T3"/>
                </a:cxn>
                <a:cxn ang="T10">
                  <a:pos x="T4" y="T5"/>
                </a:cxn>
                <a:cxn ang="T11">
                  <a:pos x="T6" y="T7"/>
                </a:cxn>
              </a:cxnLst>
              <a:rect l="T12" t="T13" r="T14" b="T15"/>
              <a:pathLst>
                <a:path w="98" h="84">
                  <a:moveTo>
                    <a:pt x="75" y="84"/>
                  </a:moveTo>
                  <a:cubicBezTo>
                    <a:pt x="85" y="76"/>
                    <a:pt x="92" y="67"/>
                    <a:pt x="98" y="56"/>
                  </a:cubicBezTo>
                  <a:lnTo>
                    <a:pt x="0" y="0"/>
                  </a:lnTo>
                  <a:lnTo>
                    <a:pt x="75" y="84"/>
                  </a:lnTo>
                  <a:close/>
                </a:path>
              </a:pathLst>
            </a:custGeom>
            <a:solidFill>
              <a:srgbClr val="FCEB6A"/>
            </a:solidFill>
            <a:ln w="15875">
              <a:solidFill>
                <a:srgbClr val="000000"/>
              </a:solidFill>
              <a:prstDash val="solid"/>
              <a:round/>
              <a:headEnd/>
              <a:tailEnd/>
            </a:ln>
          </p:spPr>
          <p:txBody>
            <a:bodyPr/>
            <a:lstStyle/>
            <a:p>
              <a:endParaRPr lang="de-DE"/>
            </a:p>
          </p:txBody>
        </p:sp>
        <p:sp>
          <p:nvSpPr>
            <p:cNvPr id="7" name="Freeform 53"/>
            <p:cNvSpPr>
              <a:spLocks/>
            </p:cNvSpPr>
            <p:nvPr/>
          </p:nvSpPr>
          <p:spPr bwMode="auto">
            <a:xfrm>
              <a:off x="6592888" y="3910013"/>
              <a:ext cx="1198562" cy="1530350"/>
            </a:xfrm>
            <a:custGeom>
              <a:avLst/>
              <a:gdLst>
                <a:gd name="T0" fmla="*/ 2147483647 w 75"/>
                <a:gd name="T1" fmla="*/ 2147483647 h 98"/>
                <a:gd name="T2" fmla="*/ 2147483647 w 75"/>
                <a:gd name="T3" fmla="*/ 2147483647 h 98"/>
                <a:gd name="T4" fmla="*/ 0 w 75"/>
                <a:gd name="T5" fmla="*/ 0 h 98"/>
                <a:gd name="T6" fmla="*/ 2147483647 w 75"/>
                <a:gd name="T7" fmla="*/ 2147483647 h 98"/>
                <a:gd name="T8" fmla="*/ 0 60000 65536"/>
                <a:gd name="T9" fmla="*/ 0 60000 65536"/>
                <a:gd name="T10" fmla="*/ 0 60000 65536"/>
                <a:gd name="T11" fmla="*/ 0 60000 65536"/>
                <a:gd name="T12" fmla="*/ 0 w 75"/>
                <a:gd name="T13" fmla="*/ 0 h 98"/>
                <a:gd name="T14" fmla="*/ 75 w 75"/>
                <a:gd name="T15" fmla="*/ 98 h 98"/>
              </a:gdLst>
              <a:ahLst/>
              <a:cxnLst>
                <a:cxn ang="T8">
                  <a:pos x="T0" y="T1"/>
                </a:cxn>
                <a:cxn ang="T9">
                  <a:pos x="T2" y="T3"/>
                </a:cxn>
                <a:cxn ang="T10">
                  <a:pos x="T4" y="T5"/>
                </a:cxn>
                <a:cxn ang="T11">
                  <a:pos x="T6" y="T7"/>
                </a:cxn>
              </a:cxnLst>
              <a:rect l="T12" t="T13" r="T14" b="T15"/>
              <a:pathLst>
                <a:path w="75" h="98">
                  <a:moveTo>
                    <a:pt x="56" y="98"/>
                  </a:moveTo>
                  <a:cubicBezTo>
                    <a:pt x="63" y="94"/>
                    <a:pt x="70" y="90"/>
                    <a:pt x="75" y="84"/>
                  </a:cubicBezTo>
                  <a:lnTo>
                    <a:pt x="0" y="0"/>
                  </a:lnTo>
                  <a:lnTo>
                    <a:pt x="56" y="98"/>
                  </a:lnTo>
                  <a:close/>
                </a:path>
              </a:pathLst>
            </a:custGeom>
            <a:solidFill>
              <a:srgbClr val="DBB40D"/>
            </a:solidFill>
            <a:ln w="15875">
              <a:solidFill>
                <a:srgbClr val="000000"/>
              </a:solidFill>
              <a:prstDash val="solid"/>
              <a:round/>
              <a:headEnd/>
              <a:tailEnd/>
            </a:ln>
          </p:spPr>
          <p:txBody>
            <a:bodyPr/>
            <a:lstStyle/>
            <a:p>
              <a:endParaRPr lang="de-DE"/>
            </a:p>
          </p:txBody>
        </p:sp>
        <p:sp>
          <p:nvSpPr>
            <p:cNvPr id="8" name="Freeform 54"/>
            <p:cNvSpPr>
              <a:spLocks/>
            </p:cNvSpPr>
            <p:nvPr/>
          </p:nvSpPr>
          <p:spPr bwMode="auto">
            <a:xfrm>
              <a:off x="6592888" y="3910013"/>
              <a:ext cx="895350" cy="1765300"/>
            </a:xfrm>
            <a:custGeom>
              <a:avLst/>
              <a:gdLst>
                <a:gd name="T0" fmla="*/ 2147483647 w 56"/>
                <a:gd name="T1" fmla="*/ 2147483647 h 113"/>
                <a:gd name="T2" fmla="*/ 2147483647 w 56"/>
                <a:gd name="T3" fmla="*/ 2147483647 h 113"/>
                <a:gd name="T4" fmla="*/ 0 w 56"/>
                <a:gd name="T5" fmla="*/ 0 h 113"/>
                <a:gd name="T6" fmla="*/ 2147483647 w 56"/>
                <a:gd name="T7" fmla="*/ 2147483647 h 113"/>
                <a:gd name="T8" fmla="*/ 0 60000 65536"/>
                <a:gd name="T9" fmla="*/ 0 60000 65536"/>
                <a:gd name="T10" fmla="*/ 0 60000 65536"/>
                <a:gd name="T11" fmla="*/ 0 60000 65536"/>
                <a:gd name="T12" fmla="*/ 0 w 56"/>
                <a:gd name="T13" fmla="*/ 0 h 113"/>
                <a:gd name="T14" fmla="*/ 56 w 56"/>
                <a:gd name="T15" fmla="*/ 113 h 113"/>
              </a:gdLst>
              <a:ahLst/>
              <a:cxnLst>
                <a:cxn ang="T8">
                  <a:pos x="T0" y="T1"/>
                </a:cxn>
                <a:cxn ang="T9">
                  <a:pos x="T2" y="T3"/>
                </a:cxn>
                <a:cxn ang="T10">
                  <a:pos x="T4" y="T5"/>
                </a:cxn>
                <a:cxn ang="T11">
                  <a:pos x="T6" y="T7"/>
                </a:cxn>
              </a:cxnLst>
              <a:rect l="T12" t="T13" r="T14" b="T15"/>
              <a:pathLst>
                <a:path w="56" h="113">
                  <a:moveTo>
                    <a:pt x="12" y="113"/>
                  </a:moveTo>
                  <a:cubicBezTo>
                    <a:pt x="27" y="111"/>
                    <a:pt x="43" y="106"/>
                    <a:pt x="56" y="98"/>
                  </a:cubicBezTo>
                  <a:lnTo>
                    <a:pt x="0" y="0"/>
                  </a:lnTo>
                  <a:lnTo>
                    <a:pt x="12" y="113"/>
                  </a:lnTo>
                  <a:close/>
                </a:path>
              </a:pathLst>
            </a:custGeom>
            <a:solidFill>
              <a:srgbClr val="B2E6B2"/>
            </a:solidFill>
            <a:ln w="15875">
              <a:solidFill>
                <a:srgbClr val="000000"/>
              </a:solidFill>
              <a:prstDash val="solid"/>
              <a:round/>
              <a:headEnd/>
              <a:tailEnd/>
            </a:ln>
          </p:spPr>
          <p:txBody>
            <a:bodyPr/>
            <a:lstStyle/>
            <a:p>
              <a:endParaRPr lang="de-DE"/>
            </a:p>
          </p:txBody>
        </p:sp>
        <p:sp>
          <p:nvSpPr>
            <p:cNvPr id="9" name="Freeform 55"/>
            <p:cNvSpPr>
              <a:spLocks/>
            </p:cNvSpPr>
            <p:nvPr/>
          </p:nvSpPr>
          <p:spPr bwMode="auto">
            <a:xfrm>
              <a:off x="6384925" y="3910013"/>
              <a:ext cx="400050" cy="1765300"/>
            </a:xfrm>
            <a:custGeom>
              <a:avLst/>
              <a:gdLst>
                <a:gd name="T0" fmla="*/ 0 w 25"/>
                <a:gd name="T1" fmla="*/ 2147483647 h 113"/>
                <a:gd name="T2" fmla="*/ 2147483647 w 25"/>
                <a:gd name="T3" fmla="*/ 2147483647 h 113"/>
                <a:gd name="T4" fmla="*/ 2147483647 w 25"/>
                <a:gd name="T5" fmla="*/ 2147483647 h 113"/>
                <a:gd name="T6" fmla="*/ 2147483647 w 25"/>
                <a:gd name="T7" fmla="*/ 0 h 113"/>
                <a:gd name="T8" fmla="*/ 0 w 25"/>
                <a:gd name="T9" fmla="*/ 2147483647 h 113"/>
                <a:gd name="T10" fmla="*/ 0 60000 65536"/>
                <a:gd name="T11" fmla="*/ 0 60000 65536"/>
                <a:gd name="T12" fmla="*/ 0 60000 65536"/>
                <a:gd name="T13" fmla="*/ 0 60000 65536"/>
                <a:gd name="T14" fmla="*/ 0 60000 65536"/>
                <a:gd name="T15" fmla="*/ 0 w 25"/>
                <a:gd name="T16" fmla="*/ 0 h 113"/>
                <a:gd name="T17" fmla="*/ 25 w 25"/>
                <a:gd name="T18" fmla="*/ 113 h 113"/>
              </a:gdLst>
              <a:ahLst/>
              <a:cxnLst>
                <a:cxn ang="T10">
                  <a:pos x="T0" y="T1"/>
                </a:cxn>
                <a:cxn ang="T11">
                  <a:pos x="T2" y="T3"/>
                </a:cxn>
                <a:cxn ang="T12">
                  <a:pos x="T4" y="T5"/>
                </a:cxn>
                <a:cxn ang="T13">
                  <a:pos x="T6" y="T7"/>
                </a:cxn>
                <a:cxn ang="T14">
                  <a:pos x="T8" y="T9"/>
                </a:cxn>
              </a:cxnLst>
              <a:rect l="T15" t="T16" r="T17" b="T18"/>
              <a:pathLst>
                <a:path w="25" h="113">
                  <a:moveTo>
                    <a:pt x="0" y="113"/>
                  </a:moveTo>
                  <a:cubicBezTo>
                    <a:pt x="4" y="113"/>
                    <a:pt x="8" y="113"/>
                    <a:pt x="13" y="113"/>
                  </a:cubicBezTo>
                  <a:cubicBezTo>
                    <a:pt x="17" y="113"/>
                    <a:pt x="21" y="113"/>
                    <a:pt x="25" y="113"/>
                  </a:cubicBezTo>
                  <a:lnTo>
                    <a:pt x="13" y="0"/>
                  </a:lnTo>
                  <a:lnTo>
                    <a:pt x="0" y="113"/>
                  </a:lnTo>
                  <a:close/>
                </a:path>
              </a:pathLst>
            </a:custGeom>
            <a:solidFill>
              <a:schemeClr val="hlink"/>
            </a:solidFill>
            <a:ln w="15875">
              <a:solidFill>
                <a:srgbClr val="000000"/>
              </a:solidFill>
              <a:prstDash val="solid"/>
              <a:round/>
              <a:headEnd/>
              <a:tailEnd/>
            </a:ln>
          </p:spPr>
          <p:txBody>
            <a:bodyPr/>
            <a:lstStyle/>
            <a:p>
              <a:endParaRPr lang="de-DE"/>
            </a:p>
          </p:txBody>
        </p:sp>
        <p:sp>
          <p:nvSpPr>
            <p:cNvPr id="10" name="Freeform 56"/>
            <p:cNvSpPr>
              <a:spLocks/>
            </p:cNvSpPr>
            <p:nvPr/>
          </p:nvSpPr>
          <p:spPr bwMode="auto">
            <a:xfrm>
              <a:off x="4754563" y="3175000"/>
              <a:ext cx="1838325" cy="2500313"/>
            </a:xfrm>
            <a:custGeom>
              <a:avLst/>
              <a:gdLst>
                <a:gd name="T0" fmla="*/ 2147483647 w 115"/>
                <a:gd name="T1" fmla="*/ 0 h 160"/>
                <a:gd name="T2" fmla="*/ 2147483647 w 115"/>
                <a:gd name="T3" fmla="*/ 2147483647 h 160"/>
                <a:gd name="T4" fmla="*/ 2147483647 w 115"/>
                <a:gd name="T5" fmla="*/ 2147483647 h 160"/>
                <a:gd name="T6" fmla="*/ 2147483647 w 115"/>
                <a:gd name="T7" fmla="*/ 2147483647 h 160"/>
                <a:gd name="T8" fmla="*/ 2147483647 w 115"/>
                <a:gd name="T9" fmla="*/ 0 h 160"/>
                <a:gd name="T10" fmla="*/ 0 60000 65536"/>
                <a:gd name="T11" fmla="*/ 0 60000 65536"/>
                <a:gd name="T12" fmla="*/ 0 60000 65536"/>
                <a:gd name="T13" fmla="*/ 0 60000 65536"/>
                <a:gd name="T14" fmla="*/ 0 60000 65536"/>
                <a:gd name="T15" fmla="*/ 0 w 115"/>
                <a:gd name="T16" fmla="*/ 0 h 160"/>
                <a:gd name="T17" fmla="*/ 115 w 115"/>
                <a:gd name="T18" fmla="*/ 160 h 160"/>
              </a:gdLst>
              <a:ahLst/>
              <a:cxnLst>
                <a:cxn ang="T10">
                  <a:pos x="T0" y="T1"/>
                </a:cxn>
                <a:cxn ang="T11">
                  <a:pos x="T2" y="T3"/>
                </a:cxn>
                <a:cxn ang="T12">
                  <a:pos x="T4" y="T5"/>
                </a:cxn>
                <a:cxn ang="T13">
                  <a:pos x="T6" y="T7"/>
                </a:cxn>
                <a:cxn ang="T14">
                  <a:pos x="T8" y="T9"/>
                </a:cxn>
              </a:cxnLst>
              <a:rect l="T15" t="T16" r="T17" b="T18"/>
              <a:pathLst>
                <a:path w="115" h="160">
                  <a:moveTo>
                    <a:pt x="10" y="0"/>
                  </a:moveTo>
                  <a:cubicBezTo>
                    <a:pt x="4" y="15"/>
                    <a:pt x="1" y="31"/>
                    <a:pt x="1" y="46"/>
                  </a:cubicBezTo>
                  <a:cubicBezTo>
                    <a:pt x="0" y="105"/>
                    <a:pt x="44" y="154"/>
                    <a:pt x="102" y="160"/>
                  </a:cubicBezTo>
                  <a:lnTo>
                    <a:pt x="115" y="47"/>
                  </a:lnTo>
                  <a:lnTo>
                    <a:pt x="10" y="0"/>
                  </a:lnTo>
                  <a:close/>
                </a:path>
              </a:pathLst>
            </a:custGeom>
            <a:solidFill>
              <a:schemeClr val="tx2"/>
            </a:solidFill>
            <a:ln w="15875">
              <a:solidFill>
                <a:srgbClr val="000000"/>
              </a:solidFill>
              <a:prstDash val="solid"/>
              <a:round/>
              <a:headEnd/>
              <a:tailEnd/>
            </a:ln>
          </p:spPr>
          <p:txBody>
            <a:bodyPr/>
            <a:lstStyle/>
            <a:p>
              <a:endParaRPr lang="de-DE"/>
            </a:p>
          </p:txBody>
        </p:sp>
        <p:sp>
          <p:nvSpPr>
            <p:cNvPr id="11" name="Freeform 57"/>
            <p:cNvSpPr>
              <a:spLocks/>
            </p:cNvSpPr>
            <p:nvPr/>
          </p:nvSpPr>
          <p:spPr bwMode="auto">
            <a:xfrm>
              <a:off x="4913313" y="2127250"/>
              <a:ext cx="1679575" cy="1782763"/>
            </a:xfrm>
            <a:custGeom>
              <a:avLst/>
              <a:gdLst>
                <a:gd name="T0" fmla="*/ 2147483647 w 105"/>
                <a:gd name="T1" fmla="*/ 0 h 114"/>
                <a:gd name="T2" fmla="*/ 0 w 105"/>
                <a:gd name="T3" fmla="*/ 2147483647 h 114"/>
                <a:gd name="T4" fmla="*/ 2147483647 w 105"/>
                <a:gd name="T5" fmla="*/ 2147483647 h 114"/>
                <a:gd name="T6" fmla="*/ 2147483647 w 105"/>
                <a:gd name="T7" fmla="*/ 0 h 114"/>
                <a:gd name="T8" fmla="*/ 0 60000 65536"/>
                <a:gd name="T9" fmla="*/ 0 60000 65536"/>
                <a:gd name="T10" fmla="*/ 0 60000 65536"/>
                <a:gd name="T11" fmla="*/ 0 60000 65536"/>
                <a:gd name="T12" fmla="*/ 0 w 105"/>
                <a:gd name="T13" fmla="*/ 0 h 114"/>
                <a:gd name="T14" fmla="*/ 105 w 105"/>
                <a:gd name="T15" fmla="*/ 114 h 114"/>
              </a:gdLst>
              <a:ahLst/>
              <a:cxnLst>
                <a:cxn ang="T8">
                  <a:pos x="T0" y="T1"/>
                </a:cxn>
                <a:cxn ang="T9">
                  <a:pos x="T2" y="T3"/>
                </a:cxn>
                <a:cxn ang="T10">
                  <a:pos x="T4" y="T5"/>
                </a:cxn>
                <a:cxn ang="T11">
                  <a:pos x="T6" y="T7"/>
                </a:cxn>
              </a:cxnLst>
              <a:rect l="T12" t="T13" r="T14" b="T15"/>
              <a:pathLst>
                <a:path w="105" h="114">
                  <a:moveTo>
                    <a:pt x="104" y="0"/>
                  </a:moveTo>
                  <a:cubicBezTo>
                    <a:pt x="59" y="0"/>
                    <a:pt x="18" y="26"/>
                    <a:pt x="0" y="67"/>
                  </a:cubicBezTo>
                  <a:lnTo>
                    <a:pt x="105" y="114"/>
                  </a:lnTo>
                  <a:lnTo>
                    <a:pt x="104" y="0"/>
                  </a:lnTo>
                  <a:close/>
                </a:path>
              </a:pathLst>
            </a:custGeom>
            <a:solidFill>
              <a:schemeClr val="accent1"/>
            </a:solidFill>
            <a:ln w="15875">
              <a:solidFill>
                <a:srgbClr val="000000"/>
              </a:solidFill>
              <a:prstDash val="solid"/>
              <a:round/>
              <a:headEnd/>
              <a:tailEnd/>
            </a:ln>
          </p:spPr>
          <p:txBody>
            <a:bodyPr/>
            <a:lstStyle/>
            <a:p>
              <a:endParaRPr lang="de-DE"/>
            </a:p>
          </p:txBody>
        </p:sp>
        <p:sp>
          <p:nvSpPr>
            <p:cNvPr id="12" name="Oval 7"/>
            <p:cNvSpPr>
              <a:spLocks noChangeArrowheads="1"/>
            </p:cNvSpPr>
            <p:nvPr/>
          </p:nvSpPr>
          <p:spPr bwMode="auto">
            <a:xfrm>
              <a:off x="684213" y="2593975"/>
              <a:ext cx="2457450" cy="2441575"/>
            </a:xfrm>
            <a:prstGeom prst="ellipse">
              <a:avLst/>
            </a:prstGeom>
            <a:solidFill>
              <a:schemeClr val="tx2"/>
            </a:solidFill>
            <a:ln w="12700">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A010 – Administration</a:t>
              </a:r>
            </a:p>
            <a:p>
              <a:pPr algn="ctr">
                <a:spcBef>
                  <a:spcPct val="0"/>
                </a:spcBef>
                <a:buClrTx/>
                <a:buFontTx/>
                <a:buNone/>
              </a:pPr>
              <a:r>
                <a:rPr lang="en-US" altLang="de-DE" sz="1800" b="0">
                  <a:solidFill>
                    <a:schemeClr val="bg1"/>
                  </a:solidFill>
                </a:rPr>
                <a:t>Rent Expense</a:t>
              </a:r>
            </a:p>
            <a:p>
              <a:pPr algn="ctr">
                <a:spcBef>
                  <a:spcPct val="0"/>
                </a:spcBef>
                <a:buClrTx/>
                <a:buFontTx/>
                <a:buNone/>
              </a:pPr>
              <a:r>
                <a:rPr lang="en-US" altLang="de-DE" sz="1800" b="0">
                  <a:solidFill>
                    <a:schemeClr val="bg1"/>
                  </a:solidFill>
                </a:rPr>
                <a:t>$1,500</a:t>
              </a:r>
            </a:p>
          </p:txBody>
        </p:sp>
        <p:sp>
          <p:nvSpPr>
            <p:cNvPr id="13" name="AutoShape 8"/>
            <p:cNvSpPr>
              <a:spLocks noChangeArrowheads="1"/>
            </p:cNvSpPr>
            <p:nvPr/>
          </p:nvSpPr>
          <p:spPr bwMode="auto">
            <a:xfrm>
              <a:off x="3294063" y="3308350"/>
              <a:ext cx="1371600" cy="1066800"/>
            </a:xfrm>
            <a:prstGeom prst="rightArrow">
              <a:avLst>
                <a:gd name="adj1" fmla="val 50000"/>
                <a:gd name="adj2" fmla="val 32143"/>
              </a:avLst>
            </a:prstGeom>
            <a:solidFill>
              <a:schemeClr val="tx2"/>
            </a:solidFill>
            <a:ln w="12700">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Distribution</a:t>
              </a:r>
            </a:p>
          </p:txBody>
        </p:sp>
        <p:sp>
          <p:nvSpPr>
            <p:cNvPr id="14" name="Rectangle 4"/>
            <p:cNvSpPr>
              <a:spLocks noChangeArrowheads="1"/>
            </p:cNvSpPr>
            <p:nvPr/>
          </p:nvSpPr>
          <p:spPr bwMode="auto">
            <a:xfrm>
              <a:off x="755650" y="1412875"/>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Sending cost center</a:t>
              </a:r>
            </a:p>
          </p:txBody>
        </p:sp>
        <p:sp>
          <p:nvSpPr>
            <p:cNvPr id="15" name="Rectangle 5"/>
            <p:cNvSpPr>
              <a:spLocks noChangeArrowheads="1"/>
            </p:cNvSpPr>
            <p:nvPr/>
          </p:nvSpPr>
          <p:spPr bwMode="auto">
            <a:xfrm>
              <a:off x="2771775" y="1989138"/>
              <a:ext cx="23764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Primary cost element specifies allocation type </a:t>
              </a:r>
            </a:p>
          </p:txBody>
        </p:sp>
        <p:sp>
          <p:nvSpPr>
            <p:cNvPr id="16" name="Rectangle 6"/>
            <p:cNvSpPr>
              <a:spLocks noChangeArrowheads="1"/>
            </p:cNvSpPr>
            <p:nvPr/>
          </p:nvSpPr>
          <p:spPr bwMode="auto">
            <a:xfrm>
              <a:off x="5219700" y="1412875"/>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Receiving cost centers</a:t>
              </a:r>
            </a:p>
          </p:txBody>
        </p:sp>
        <p:sp>
          <p:nvSpPr>
            <p:cNvPr id="17" name="Rectangle 27"/>
            <p:cNvSpPr>
              <a:spLocks noChangeArrowheads="1"/>
            </p:cNvSpPr>
            <p:nvPr/>
          </p:nvSpPr>
          <p:spPr bwMode="auto">
            <a:xfrm>
              <a:off x="7808913" y="4687888"/>
              <a:ext cx="534987"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18" name="Rectangle 28"/>
            <p:cNvSpPr>
              <a:spLocks noChangeArrowheads="1"/>
            </p:cNvSpPr>
            <p:nvPr/>
          </p:nvSpPr>
          <p:spPr bwMode="auto">
            <a:xfrm>
              <a:off x="7839075" y="4735513"/>
              <a:ext cx="541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A015 </a:t>
              </a:r>
              <a:endParaRPr lang="de-DE" altLang="de-DE"/>
            </a:p>
          </p:txBody>
        </p:sp>
        <p:sp>
          <p:nvSpPr>
            <p:cNvPr id="19" name="Rectangle 29"/>
            <p:cNvSpPr>
              <a:spLocks noChangeArrowheads="1"/>
            </p:cNvSpPr>
            <p:nvPr/>
          </p:nvSpPr>
          <p:spPr bwMode="auto">
            <a:xfrm>
              <a:off x="7886700" y="5002213"/>
              <a:ext cx="3952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 150</a:t>
              </a:r>
              <a:endParaRPr lang="de-DE" altLang="de-DE"/>
            </a:p>
          </p:txBody>
        </p:sp>
        <p:sp>
          <p:nvSpPr>
            <p:cNvPr id="20" name="Rectangle 30"/>
            <p:cNvSpPr>
              <a:spLocks noChangeArrowheads="1"/>
            </p:cNvSpPr>
            <p:nvPr/>
          </p:nvSpPr>
          <p:spPr bwMode="auto">
            <a:xfrm>
              <a:off x="7304088" y="4986338"/>
              <a:ext cx="534987"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1" name="Rectangle 31"/>
            <p:cNvSpPr>
              <a:spLocks noChangeArrowheads="1"/>
            </p:cNvSpPr>
            <p:nvPr/>
          </p:nvSpPr>
          <p:spPr bwMode="auto">
            <a:xfrm>
              <a:off x="7335838" y="5033963"/>
              <a:ext cx="5413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A020 </a:t>
              </a:r>
              <a:endParaRPr lang="de-DE" altLang="de-DE"/>
            </a:p>
          </p:txBody>
        </p:sp>
        <p:sp>
          <p:nvSpPr>
            <p:cNvPr id="22" name="Rectangle 32"/>
            <p:cNvSpPr>
              <a:spLocks noChangeArrowheads="1"/>
            </p:cNvSpPr>
            <p:nvPr/>
          </p:nvSpPr>
          <p:spPr bwMode="auto">
            <a:xfrm>
              <a:off x="7473950" y="5302250"/>
              <a:ext cx="3381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100</a:t>
              </a:r>
              <a:endParaRPr lang="de-DE" altLang="de-DE"/>
            </a:p>
          </p:txBody>
        </p:sp>
        <p:sp>
          <p:nvSpPr>
            <p:cNvPr id="23" name="Rectangle 33"/>
            <p:cNvSpPr>
              <a:spLocks noChangeArrowheads="1"/>
            </p:cNvSpPr>
            <p:nvPr/>
          </p:nvSpPr>
          <p:spPr bwMode="auto">
            <a:xfrm>
              <a:off x="6800850" y="5395913"/>
              <a:ext cx="708025"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4" name="Rectangle 34"/>
            <p:cNvSpPr>
              <a:spLocks noChangeArrowheads="1"/>
            </p:cNvSpPr>
            <p:nvPr/>
          </p:nvSpPr>
          <p:spPr bwMode="auto">
            <a:xfrm>
              <a:off x="6831013" y="5443538"/>
              <a:ext cx="7000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S005 – </a:t>
              </a:r>
              <a:endParaRPr lang="de-DE" altLang="de-DE"/>
            </a:p>
          </p:txBody>
        </p:sp>
        <p:sp>
          <p:nvSpPr>
            <p:cNvPr id="25" name="Rectangle 35"/>
            <p:cNvSpPr>
              <a:spLocks noChangeArrowheads="1"/>
            </p:cNvSpPr>
            <p:nvPr/>
          </p:nvSpPr>
          <p:spPr bwMode="auto">
            <a:xfrm>
              <a:off x="6942138" y="5711825"/>
              <a:ext cx="3381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200</a:t>
              </a:r>
              <a:endParaRPr lang="de-DE" altLang="de-DE"/>
            </a:p>
          </p:txBody>
        </p:sp>
        <p:sp>
          <p:nvSpPr>
            <p:cNvPr id="26" name="Rectangle 36"/>
            <p:cNvSpPr>
              <a:spLocks noChangeArrowheads="1"/>
            </p:cNvSpPr>
            <p:nvPr/>
          </p:nvSpPr>
          <p:spPr bwMode="auto">
            <a:xfrm>
              <a:off x="5413375" y="5459413"/>
              <a:ext cx="1103313" cy="377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7" name="Rectangle 37"/>
            <p:cNvSpPr>
              <a:spLocks noChangeArrowheads="1"/>
            </p:cNvSpPr>
            <p:nvPr/>
          </p:nvSpPr>
          <p:spPr bwMode="auto">
            <a:xfrm>
              <a:off x="5445125" y="5507038"/>
              <a:ext cx="1038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S010 – 100</a:t>
              </a:r>
              <a:endParaRPr lang="de-DE" altLang="de-DE"/>
            </a:p>
          </p:txBody>
        </p:sp>
        <p:sp>
          <p:nvSpPr>
            <p:cNvPr id="28" name="Rectangle 38"/>
            <p:cNvSpPr>
              <a:spLocks noChangeArrowheads="1"/>
            </p:cNvSpPr>
            <p:nvPr/>
          </p:nvSpPr>
          <p:spPr bwMode="auto">
            <a:xfrm>
              <a:off x="6973888" y="3475038"/>
              <a:ext cx="708025"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9" name="Rectangle 39"/>
            <p:cNvSpPr>
              <a:spLocks noChangeArrowheads="1"/>
            </p:cNvSpPr>
            <p:nvPr/>
          </p:nvSpPr>
          <p:spPr bwMode="auto">
            <a:xfrm>
              <a:off x="7005638" y="3522663"/>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A010 – </a:t>
              </a:r>
              <a:endParaRPr lang="de-DE" altLang="de-DE"/>
            </a:p>
          </p:txBody>
        </p:sp>
        <p:sp>
          <p:nvSpPr>
            <p:cNvPr id="30" name="Rectangle 40"/>
            <p:cNvSpPr>
              <a:spLocks noChangeArrowheads="1"/>
            </p:cNvSpPr>
            <p:nvPr/>
          </p:nvSpPr>
          <p:spPr bwMode="auto">
            <a:xfrm>
              <a:off x="7023100" y="3789363"/>
              <a:ext cx="644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600 sft</a:t>
              </a:r>
              <a:endParaRPr lang="de-DE" altLang="de-DE"/>
            </a:p>
          </p:txBody>
        </p:sp>
        <p:sp>
          <p:nvSpPr>
            <p:cNvPr id="31" name="Rectangle 41"/>
            <p:cNvSpPr>
              <a:spLocks noChangeArrowheads="1"/>
            </p:cNvSpPr>
            <p:nvPr/>
          </p:nvSpPr>
          <p:spPr bwMode="auto">
            <a:xfrm>
              <a:off x="5476875" y="3946525"/>
              <a:ext cx="709613" cy="646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2" name="Rectangle 42"/>
            <p:cNvSpPr>
              <a:spLocks noChangeArrowheads="1"/>
            </p:cNvSpPr>
            <p:nvPr/>
          </p:nvSpPr>
          <p:spPr bwMode="auto">
            <a:xfrm>
              <a:off x="5508625" y="3994150"/>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D005 – </a:t>
              </a:r>
              <a:endParaRPr lang="de-DE" altLang="de-DE"/>
            </a:p>
          </p:txBody>
        </p:sp>
        <p:sp>
          <p:nvSpPr>
            <p:cNvPr id="33" name="Rectangle 43"/>
            <p:cNvSpPr>
              <a:spLocks noChangeArrowheads="1"/>
            </p:cNvSpPr>
            <p:nvPr/>
          </p:nvSpPr>
          <p:spPr bwMode="auto">
            <a:xfrm>
              <a:off x="5508625" y="4262438"/>
              <a:ext cx="644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900 sft</a:t>
              </a:r>
              <a:endParaRPr lang="de-DE" altLang="de-DE"/>
            </a:p>
          </p:txBody>
        </p:sp>
        <p:sp>
          <p:nvSpPr>
            <p:cNvPr id="34" name="Rectangle 44"/>
            <p:cNvSpPr>
              <a:spLocks noChangeArrowheads="1"/>
            </p:cNvSpPr>
            <p:nvPr/>
          </p:nvSpPr>
          <p:spPr bwMode="auto">
            <a:xfrm>
              <a:off x="5634038" y="2717800"/>
              <a:ext cx="709612" cy="646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5" name="Rectangle 45"/>
            <p:cNvSpPr>
              <a:spLocks noChangeArrowheads="1"/>
            </p:cNvSpPr>
            <p:nvPr/>
          </p:nvSpPr>
          <p:spPr bwMode="auto">
            <a:xfrm>
              <a:off x="5665788" y="2765425"/>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D010 – </a:t>
              </a:r>
              <a:endParaRPr lang="de-DE" altLang="de-DE"/>
            </a:p>
          </p:txBody>
        </p:sp>
        <p:sp>
          <p:nvSpPr>
            <p:cNvPr id="36" name="Rectangle 46"/>
            <p:cNvSpPr>
              <a:spLocks noChangeArrowheads="1"/>
            </p:cNvSpPr>
            <p:nvPr/>
          </p:nvSpPr>
          <p:spPr bwMode="auto">
            <a:xfrm>
              <a:off x="5651500" y="3033713"/>
              <a:ext cx="644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550 sft</a:t>
              </a:r>
              <a:endParaRPr lang="de-DE" altLang="de-DE"/>
            </a:p>
          </p:txBody>
        </p:sp>
        <p:sp>
          <p:nvSpPr>
            <p:cNvPr id="37" name="Rectangle 47"/>
            <p:cNvSpPr>
              <a:spLocks noChangeArrowheads="1"/>
            </p:cNvSpPr>
            <p:nvPr/>
          </p:nvSpPr>
          <p:spPr bwMode="auto">
            <a:xfrm>
              <a:off x="6532563" y="2528888"/>
              <a:ext cx="708025"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8" name="Rectangle 48"/>
            <p:cNvSpPr>
              <a:spLocks noChangeArrowheads="1"/>
            </p:cNvSpPr>
            <p:nvPr/>
          </p:nvSpPr>
          <p:spPr bwMode="auto">
            <a:xfrm>
              <a:off x="6564313" y="2576513"/>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A005 – </a:t>
              </a:r>
              <a:endParaRPr lang="de-DE" altLang="de-DE"/>
            </a:p>
          </p:txBody>
        </p:sp>
        <p:sp>
          <p:nvSpPr>
            <p:cNvPr id="39" name="Rectangle 49"/>
            <p:cNvSpPr>
              <a:spLocks noChangeArrowheads="1"/>
            </p:cNvSpPr>
            <p:nvPr/>
          </p:nvSpPr>
          <p:spPr bwMode="auto">
            <a:xfrm>
              <a:off x="6591300" y="2844800"/>
              <a:ext cx="6445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400 sft</a:t>
              </a:r>
              <a:endParaRPr lang="de-DE" altLang="de-DE"/>
            </a:p>
          </p:txBody>
        </p:sp>
      </p:grpSp>
    </p:spTree>
    <p:extLst>
      <p:ext uri="{BB962C8B-B14F-4D97-AF65-F5344CB8AC3E}">
        <p14:creationId xmlns:p14="http://schemas.microsoft.com/office/powerpoint/2010/main" val="4208963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a:latin typeface="Arial" panose="020B0604020202020204" pitchFamily="34" charset="0"/>
              </a:rPr>
              <a:t>Distribution</a:t>
            </a:r>
            <a:endParaRPr lang="de-DE"/>
          </a:p>
        </p:txBody>
      </p:sp>
      <p:grpSp>
        <p:nvGrpSpPr>
          <p:cNvPr id="40" name="Gruppieren 39"/>
          <p:cNvGrpSpPr/>
          <p:nvPr/>
        </p:nvGrpSpPr>
        <p:grpSpPr>
          <a:xfrm>
            <a:off x="2231037" y="1605380"/>
            <a:ext cx="7731125" cy="4629150"/>
            <a:chOff x="684213" y="1412875"/>
            <a:chExt cx="7731125" cy="4629150"/>
          </a:xfrm>
        </p:grpSpPr>
        <p:sp>
          <p:nvSpPr>
            <p:cNvPr id="4" name="Freeform 2"/>
            <p:cNvSpPr>
              <a:spLocks/>
            </p:cNvSpPr>
            <p:nvPr/>
          </p:nvSpPr>
          <p:spPr bwMode="auto">
            <a:xfrm>
              <a:off x="6588125" y="2133600"/>
              <a:ext cx="1343025" cy="1782763"/>
            </a:xfrm>
            <a:custGeom>
              <a:avLst/>
              <a:gdLst>
                <a:gd name="T0" fmla="*/ 2147483647 w 84"/>
                <a:gd name="T1" fmla="*/ 2147483647 h 114"/>
                <a:gd name="T2" fmla="*/ 0 w 84"/>
                <a:gd name="T3" fmla="*/ 0 h 114"/>
                <a:gd name="T4" fmla="*/ 0 w 84"/>
                <a:gd name="T5" fmla="*/ 2147483647 h 114"/>
                <a:gd name="T6" fmla="*/ 2147483647 w 84"/>
                <a:gd name="T7" fmla="*/ 2147483647 h 114"/>
                <a:gd name="T8" fmla="*/ 0 60000 65536"/>
                <a:gd name="T9" fmla="*/ 0 60000 65536"/>
                <a:gd name="T10" fmla="*/ 0 60000 65536"/>
                <a:gd name="T11" fmla="*/ 0 60000 65536"/>
                <a:gd name="T12" fmla="*/ 0 w 84"/>
                <a:gd name="T13" fmla="*/ 0 h 114"/>
                <a:gd name="T14" fmla="*/ 84 w 84"/>
                <a:gd name="T15" fmla="*/ 114 h 114"/>
              </a:gdLst>
              <a:ahLst/>
              <a:cxnLst>
                <a:cxn ang="T8">
                  <a:pos x="T0" y="T1"/>
                </a:cxn>
                <a:cxn ang="T9">
                  <a:pos x="T2" y="T3"/>
                </a:cxn>
                <a:cxn ang="T10">
                  <a:pos x="T4" y="T5"/>
                </a:cxn>
                <a:cxn ang="T11">
                  <a:pos x="T6" y="T7"/>
                </a:cxn>
              </a:cxnLst>
              <a:rect l="T12" t="T13" r="T14" b="T15"/>
              <a:pathLst>
                <a:path w="84" h="114">
                  <a:moveTo>
                    <a:pt x="84" y="38"/>
                  </a:moveTo>
                  <a:cubicBezTo>
                    <a:pt x="63" y="13"/>
                    <a:pt x="32" y="0"/>
                    <a:pt x="0" y="0"/>
                  </a:cubicBezTo>
                  <a:lnTo>
                    <a:pt x="0" y="114"/>
                  </a:lnTo>
                  <a:lnTo>
                    <a:pt x="84" y="38"/>
                  </a:lnTo>
                  <a:close/>
                </a:path>
              </a:pathLst>
            </a:custGeom>
            <a:solidFill>
              <a:schemeClr val="accent2"/>
            </a:solidFill>
            <a:ln w="15875">
              <a:solidFill>
                <a:srgbClr val="000000"/>
              </a:solidFill>
              <a:prstDash val="solid"/>
              <a:round/>
              <a:headEnd/>
              <a:tailEnd/>
            </a:ln>
          </p:spPr>
          <p:txBody>
            <a:bodyPr/>
            <a:lstStyle/>
            <a:p>
              <a:endParaRPr lang="de-DE"/>
            </a:p>
          </p:txBody>
        </p:sp>
        <p:sp>
          <p:nvSpPr>
            <p:cNvPr id="5" name="Freeform 3"/>
            <p:cNvSpPr>
              <a:spLocks/>
            </p:cNvSpPr>
            <p:nvPr/>
          </p:nvSpPr>
          <p:spPr bwMode="auto">
            <a:xfrm>
              <a:off x="6592888" y="2720975"/>
              <a:ext cx="1822450" cy="2063750"/>
            </a:xfrm>
            <a:custGeom>
              <a:avLst/>
              <a:gdLst>
                <a:gd name="T0" fmla="*/ 2147483647 w 114"/>
                <a:gd name="T1" fmla="*/ 2147483647 h 132"/>
                <a:gd name="T2" fmla="*/ 2147483647 w 114"/>
                <a:gd name="T3" fmla="*/ 2147483647 h 132"/>
                <a:gd name="T4" fmla="*/ 2147483647 w 114"/>
                <a:gd name="T5" fmla="*/ 0 h 132"/>
                <a:gd name="T6" fmla="*/ 0 w 114"/>
                <a:gd name="T7" fmla="*/ 2147483647 h 132"/>
                <a:gd name="T8" fmla="*/ 2147483647 w 114"/>
                <a:gd name="T9" fmla="*/ 2147483647 h 132"/>
                <a:gd name="T10" fmla="*/ 0 60000 65536"/>
                <a:gd name="T11" fmla="*/ 0 60000 65536"/>
                <a:gd name="T12" fmla="*/ 0 60000 65536"/>
                <a:gd name="T13" fmla="*/ 0 60000 65536"/>
                <a:gd name="T14" fmla="*/ 0 60000 65536"/>
                <a:gd name="T15" fmla="*/ 0 w 114"/>
                <a:gd name="T16" fmla="*/ 0 h 132"/>
                <a:gd name="T17" fmla="*/ 114 w 114"/>
                <a:gd name="T18" fmla="*/ 132 h 132"/>
              </a:gdLst>
              <a:ahLst/>
              <a:cxnLst>
                <a:cxn ang="T10">
                  <a:pos x="T0" y="T1"/>
                </a:cxn>
                <a:cxn ang="T11">
                  <a:pos x="T2" y="T3"/>
                </a:cxn>
                <a:cxn ang="T12">
                  <a:pos x="T4" y="T5"/>
                </a:cxn>
                <a:cxn ang="T13">
                  <a:pos x="T6" y="T7"/>
                </a:cxn>
                <a:cxn ang="T14">
                  <a:pos x="T8" y="T9"/>
                </a:cxn>
              </a:cxnLst>
              <a:rect l="T15" t="T16" r="T17" b="T18"/>
              <a:pathLst>
                <a:path w="114" h="132">
                  <a:moveTo>
                    <a:pt x="98" y="132"/>
                  </a:moveTo>
                  <a:cubicBezTo>
                    <a:pt x="108" y="115"/>
                    <a:pt x="114" y="95"/>
                    <a:pt x="114" y="76"/>
                  </a:cubicBezTo>
                  <a:cubicBezTo>
                    <a:pt x="114" y="47"/>
                    <a:pt x="103" y="20"/>
                    <a:pt x="84" y="0"/>
                  </a:cubicBezTo>
                  <a:lnTo>
                    <a:pt x="0" y="76"/>
                  </a:lnTo>
                  <a:lnTo>
                    <a:pt x="98" y="132"/>
                  </a:lnTo>
                  <a:close/>
                </a:path>
              </a:pathLst>
            </a:custGeom>
            <a:solidFill>
              <a:schemeClr val="folHlink"/>
            </a:solidFill>
            <a:ln w="15875">
              <a:solidFill>
                <a:srgbClr val="000000"/>
              </a:solidFill>
              <a:prstDash val="solid"/>
              <a:round/>
              <a:headEnd/>
              <a:tailEnd/>
            </a:ln>
          </p:spPr>
          <p:txBody>
            <a:bodyPr/>
            <a:lstStyle/>
            <a:p>
              <a:endParaRPr lang="de-DE"/>
            </a:p>
          </p:txBody>
        </p:sp>
        <p:sp>
          <p:nvSpPr>
            <p:cNvPr id="6" name="Freeform 4"/>
            <p:cNvSpPr>
              <a:spLocks/>
            </p:cNvSpPr>
            <p:nvPr/>
          </p:nvSpPr>
          <p:spPr bwMode="auto">
            <a:xfrm>
              <a:off x="6592888" y="3910013"/>
              <a:ext cx="1566862" cy="1312862"/>
            </a:xfrm>
            <a:custGeom>
              <a:avLst/>
              <a:gdLst>
                <a:gd name="T0" fmla="*/ 2147483647 w 98"/>
                <a:gd name="T1" fmla="*/ 2147483647 h 84"/>
                <a:gd name="T2" fmla="*/ 2147483647 w 98"/>
                <a:gd name="T3" fmla="*/ 2147483647 h 84"/>
                <a:gd name="T4" fmla="*/ 0 w 98"/>
                <a:gd name="T5" fmla="*/ 0 h 84"/>
                <a:gd name="T6" fmla="*/ 2147483647 w 98"/>
                <a:gd name="T7" fmla="*/ 2147483647 h 84"/>
                <a:gd name="T8" fmla="*/ 0 60000 65536"/>
                <a:gd name="T9" fmla="*/ 0 60000 65536"/>
                <a:gd name="T10" fmla="*/ 0 60000 65536"/>
                <a:gd name="T11" fmla="*/ 0 60000 65536"/>
                <a:gd name="T12" fmla="*/ 0 w 98"/>
                <a:gd name="T13" fmla="*/ 0 h 84"/>
                <a:gd name="T14" fmla="*/ 98 w 98"/>
                <a:gd name="T15" fmla="*/ 84 h 84"/>
              </a:gdLst>
              <a:ahLst/>
              <a:cxnLst>
                <a:cxn ang="T8">
                  <a:pos x="T0" y="T1"/>
                </a:cxn>
                <a:cxn ang="T9">
                  <a:pos x="T2" y="T3"/>
                </a:cxn>
                <a:cxn ang="T10">
                  <a:pos x="T4" y="T5"/>
                </a:cxn>
                <a:cxn ang="T11">
                  <a:pos x="T6" y="T7"/>
                </a:cxn>
              </a:cxnLst>
              <a:rect l="T12" t="T13" r="T14" b="T15"/>
              <a:pathLst>
                <a:path w="98" h="84">
                  <a:moveTo>
                    <a:pt x="75" y="84"/>
                  </a:moveTo>
                  <a:cubicBezTo>
                    <a:pt x="85" y="76"/>
                    <a:pt x="92" y="67"/>
                    <a:pt x="98" y="56"/>
                  </a:cubicBezTo>
                  <a:lnTo>
                    <a:pt x="0" y="0"/>
                  </a:lnTo>
                  <a:lnTo>
                    <a:pt x="75" y="84"/>
                  </a:lnTo>
                  <a:close/>
                </a:path>
              </a:pathLst>
            </a:custGeom>
            <a:solidFill>
              <a:srgbClr val="FCEB6A"/>
            </a:solidFill>
            <a:ln w="15875">
              <a:solidFill>
                <a:srgbClr val="000000"/>
              </a:solidFill>
              <a:prstDash val="solid"/>
              <a:round/>
              <a:headEnd/>
              <a:tailEnd/>
            </a:ln>
          </p:spPr>
          <p:txBody>
            <a:bodyPr/>
            <a:lstStyle/>
            <a:p>
              <a:endParaRPr lang="de-DE"/>
            </a:p>
          </p:txBody>
        </p:sp>
        <p:sp>
          <p:nvSpPr>
            <p:cNvPr id="7" name="Freeform 5"/>
            <p:cNvSpPr>
              <a:spLocks/>
            </p:cNvSpPr>
            <p:nvPr/>
          </p:nvSpPr>
          <p:spPr bwMode="auto">
            <a:xfrm>
              <a:off x="6592888" y="3910013"/>
              <a:ext cx="1198562" cy="1530350"/>
            </a:xfrm>
            <a:custGeom>
              <a:avLst/>
              <a:gdLst>
                <a:gd name="T0" fmla="*/ 2147483647 w 75"/>
                <a:gd name="T1" fmla="*/ 2147483647 h 98"/>
                <a:gd name="T2" fmla="*/ 2147483647 w 75"/>
                <a:gd name="T3" fmla="*/ 2147483647 h 98"/>
                <a:gd name="T4" fmla="*/ 0 w 75"/>
                <a:gd name="T5" fmla="*/ 0 h 98"/>
                <a:gd name="T6" fmla="*/ 2147483647 w 75"/>
                <a:gd name="T7" fmla="*/ 2147483647 h 98"/>
                <a:gd name="T8" fmla="*/ 0 60000 65536"/>
                <a:gd name="T9" fmla="*/ 0 60000 65536"/>
                <a:gd name="T10" fmla="*/ 0 60000 65536"/>
                <a:gd name="T11" fmla="*/ 0 60000 65536"/>
                <a:gd name="T12" fmla="*/ 0 w 75"/>
                <a:gd name="T13" fmla="*/ 0 h 98"/>
                <a:gd name="T14" fmla="*/ 75 w 75"/>
                <a:gd name="T15" fmla="*/ 98 h 98"/>
              </a:gdLst>
              <a:ahLst/>
              <a:cxnLst>
                <a:cxn ang="T8">
                  <a:pos x="T0" y="T1"/>
                </a:cxn>
                <a:cxn ang="T9">
                  <a:pos x="T2" y="T3"/>
                </a:cxn>
                <a:cxn ang="T10">
                  <a:pos x="T4" y="T5"/>
                </a:cxn>
                <a:cxn ang="T11">
                  <a:pos x="T6" y="T7"/>
                </a:cxn>
              </a:cxnLst>
              <a:rect l="T12" t="T13" r="T14" b="T15"/>
              <a:pathLst>
                <a:path w="75" h="98">
                  <a:moveTo>
                    <a:pt x="56" y="98"/>
                  </a:moveTo>
                  <a:cubicBezTo>
                    <a:pt x="63" y="94"/>
                    <a:pt x="70" y="90"/>
                    <a:pt x="75" y="84"/>
                  </a:cubicBezTo>
                  <a:lnTo>
                    <a:pt x="0" y="0"/>
                  </a:lnTo>
                  <a:lnTo>
                    <a:pt x="56" y="98"/>
                  </a:lnTo>
                  <a:close/>
                </a:path>
              </a:pathLst>
            </a:custGeom>
            <a:solidFill>
              <a:srgbClr val="DBB40D"/>
            </a:solidFill>
            <a:ln w="15875">
              <a:solidFill>
                <a:srgbClr val="000000"/>
              </a:solidFill>
              <a:prstDash val="solid"/>
              <a:round/>
              <a:headEnd/>
              <a:tailEnd/>
            </a:ln>
          </p:spPr>
          <p:txBody>
            <a:bodyPr/>
            <a:lstStyle/>
            <a:p>
              <a:endParaRPr lang="de-DE"/>
            </a:p>
          </p:txBody>
        </p:sp>
        <p:sp>
          <p:nvSpPr>
            <p:cNvPr id="8" name="Freeform 6"/>
            <p:cNvSpPr>
              <a:spLocks/>
            </p:cNvSpPr>
            <p:nvPr/>
          </p:nvSpPr>
          <p:spPr bwMode="auto">
            <a:xfrm>
              <a:off x="6592888" y="3910013"/>
              <a:ext cx="895350" cy="1765300"/>
            </a:xfrm>
            <a:custGeom>
              <a:avLst/>
              <a:gdLst>
                <a:gd name="T0" fmla="*/ 2147483647 w 56"/>
                <a:gd name="T1" fmla="*/ 2147483647 h 113"/>
                <a:gd name="T2" fmla="*/ 2147483647 w 56"/>
                <a:gd name="T3" fmla="*/ 2147483647 h 113"/>
                <a:gd name="T4" fmla="*/ 0 w 56"/>
                <a:gd name="T5" fmla="*/ 0 h 113"/>
                <a:gd name="T6" fmla="*/ 2147483647 w 56"/>
                <a:gd name="T7" fmla="*/ 2147483647 h 113"/>
                <a:gd name="T8" fmla="*/ 0 60000 65536"/>
                <a:gd name="T9" fmla="*/ 0 60000 65536"/>
                <a:gd name="T10" fmla="*/ 0 60000 65536"/>
                <a:gd name="T11" fmla="*/ 0 60000 65536"/>
                <a:gd name="T12" fmla="*/ 0 w 56"/>
                <a:gd name="T13" fmla="*/ 0 h 113"/>
                <a:gd name="T14" fmla="*/ 56 w 56"/>
                <a:gd name="T15" fmla="*/ 113 h 113"/>
              </a:gdLst>
              <a:ahLst/>
              <a:cxnLst>
                <a:cxn ang="T8">
                  <a:pos x="T0" y="T1"/>
                </a:cxn>
                <a:cxn ang="T9">
                  <a:pos x="T2" y="T3"/>
                </a:cxn>
                <a:cxn ang="T10">
                  <a:pos x="T4" y="T5"/>
                </a:cxn>
                <a:cxn ang="T11">
                  <a:pos x="T6" y="T7"/>
                </a:cxn>
              </a:cxnLst>
              <a:rect l="T12" t="T13" r="T14" b="T15"/>
              <a:pathLst>
                <a:path w="56" h="113">
                  <a:moveTo>
                    <a:pt x="12" y="113"/>
                  </a:moveTo>
                  <a:cubicBezTo>
                    <a:pt x="27" y="111"/>
                    <a:pt x="43" y="106"/>
                    <a:pt x="56" y="98"/>
                  </a:cubicBezTo>
                  <a:lnTo>
                    <a:pt x="0" y="0"/>
                  </a:lnTo>
                  <a:lnTo>
                    <a:pt x="12" y="113"/>
                  </a:lnTo>
                  <a:close/>
                </a:path>
              </a:pathLst>
            </a:custGeom>
            <a:solidFill>
              <a:srgbClr val="B2E6B2"/>
            </a:solidFill>
            <a:ln w="15875">
              <a:solidFill>
                <a:srgbClr val="000000"/>
              </a:solidFill>
              <a:prstDash val="solid"/>
              <a:round/>
              <a:headEnd/>
              <a:tailEnd/>
            </a:ln>
          </p:spPr>
          <p:txBody>
            <a:bodyPr/>
            <a:lstStyle/>
            <a:p>
              <a:endParaRPr lang="de-DE"/>
            </a:p>
          </p:txBody>
        </p:sp>
        <p:sp>
          <p:nvSpPr>
            <p:cNvPr id="9" name="Freeform 7"/>
            <p:cNvSpPr>
              <a:spLocks/>
            </p:cNvSpPr>
            <p:nvPr/>
          </p:nvSpPr>
          <p:spPr bwMode="auto">
            <a:xfrm>
              <a:off x="6384925" y="3910013"/>
              <a:ext cx="400050" cy="1765300"/>
            </a:xfrm>
            <a:custGeom>
              <a:avLst/>
              <a:gdLst>
                <a:gd name="T0" fmla="*/ 0 w 25"/>
                <a:gd name="T1" fmla="*/ 2147483647 h 113"/>
                <a:gd name="T2" fmla="*/ 2147483647 w 25"/>
                <a:gd name="T3" fmla="*/ 2147483647 h 113"/>
                <a:gd name="T4" fmla="*/ 2147483647 w 25"/>
                <a:gd name="T5" fmla="*/ 2147483647 h 113"/>
                <a:gd name="T6" fmla="*/ 2147483647 w 25"/>
                <a:gd name="T7" fmla="*/ 0 h 113"/>
                <a:gd name="T8" fmla="*/ 0 w 25"/>
                <a:gd name="T9" fmla="*/ 2147483647 h 113"/>
                <a:gd name="T10" fmla="*/ 0 60000 65536"/>
                <a:gd name="T11" fmla="*/ 0 60000 65536"/>
                <a:gd name="T12" fmla="*/ 0 60000 65536"/>
                <a:gd name="T13" fmla="*/ 0 60000 65536"/>
                <a:gd name="T14" fmla="*/ 0 60000 65536"/>
                <a:gd name="T15" fmla="*/ 0 w 25"/>
                <a:gd name="T16" fmla="*/ 0 h 113"/>
                <a:gd name="T17" fmla="*/ 25 w 25"/>
                <a:gd name="T18" fmla="*/ 113 h 113"/>
              </a:gdLst>
              <a:ahLst/>
              <a:cxnLst>
                <a:cxn ang="T10">
                  <a:pos x="T0" y="T1"/>
                </a:cxn>
                <a:cxn ang="T11">
                  <a:pos x="T2" y="T3"/>
                </a:cxn>
                <a:cxn ang="T12">
                  <a:pos x="T4" y="T5"/>
                </a:cxn>
                <a:cxn ang="T13">
                  <a:pos x="T6" y="T7"/>
                </a:cxn>
                <a:cxn ang="T14">
                  <a:pos x="T8" y="T9"/>
                </a:cxn>
              </a:cxnLst>
              <a:rect l="T15" t="T16" r="T17" b="T18"/>
              <a:pathLst>
                <a:path w="25" h="113">
                  <a:moveTo>
                    <a:pt x="0" y="113"/>
                  </a:moveTo>
                  <a:cubicBezTo>
                    <a:pt x="4" y="113"/>
                    <a:pt x="8" y="113"/>
                    <a:pt x="13" y="113"/>
                  </a:cubicBezTo>
                  <a:cubicBezTo>
                    <a:pt x="17" y="113"/>
                    <a:pt x="21" y="113"/>
                    <a:pt x="25" y="113"/>
                  </a:cubicBezTo>
                  <a:lnTo>
                    <a:pt x="13" y="0"/>
                  </a:lnTo>
                  <a:lnTo>
                    <a:pt x="0" y="113"/>
                  </a:lnTo>
                  <a:close/>
                </a:path>
              </a:pathLst>
            </a:custGeom>
            <a:solidFill>
              <a:schemeClr val="hlink"/>
            </a:solidFill>
            <a:ln w="15875">
              <a:solidFill>
                <a:srgbClr val="000000"/>
              </a:solidFill>
              <a:prstDash val="solid"/>
              <a:round/>
              <a:headEnd/>
              <a:tailEnd/>
            </a:ln>
          </p:spPr>
          <p:txBody>
            <a:bodyPr/>
            <a:lstStyle/>
            <a:p>
              <a:endParaRPr lang="de-DE"/>
            </a:p>
          </p:txBody>
        </p:sp>
        <p:sp>
          <p:nvSpPr>
            <p:cNvPr id="10" name="Freeform 8"/>
            <p:cNvSpPr>
              <a:spLocks/>
            </p:cNvSpPr>
            <p:nvPr/>
          </p:nvSpPr>
          <p:spPr bwMode="auto">
            <a:xfrm>
              <a:off x="4754563" y="3175000"/>
              <a:ext cx="1838325" cy="2500313"/>
            </a:xfrm>
            <a:custGeom>
              <a:avLst/>
              <a:gdLst>
                <a:gd name="T0" fmla="*/ 2147483647 w 115"/>
                <a:gd name="T1" fmla="*/ 0 h 160"/>
                <a:gd name="T2" fmla="*/ 2147483647 w 115"/>
                <a:gd name="T3" fmla="*/ 2147483647 h 160"/>
                <a:gd name="T4" fmla="*/ 2147483647 w 115"/>
                <a:gd name="T5" fmla="*/ 2147483647 h 160"/>
                <a:gd name="T6" fmla="*/ 2147483647 w 115"/>
                <a:gd name="T7" fmla="*/ 2147483647 h 160"/>
                <a:gd name="T8" fmla="*/ 2147483647 w 115"/>
                <a:gd name="T9" fmla="*/ 0 h 160"/>
                <a:gd name="T10" fmla="*/ 0 60000 65536"/>
                <a:gd name="T11" fmla="*/ 0 60000 65536"/>
                <a:gd name="T12" fmla="*/ 0 60000 65536"/>
                <a:gd name="T13" fmla="*/ 0 60000 65536"/>
                <a:gd name="T14" fmla="*/ 0 60000 65536"/>
                <a:gd name="T15" fmla="*/ 0 w 115"/>
                <a:gd name="T16" fmla="*/ 0 h 160"/>
                <a:gd name="T17" fmla="*/ 115 w 115"/>
                <a:gd name="T18" fmla="*/ 160 h 160"/>
              </a:gdLst>
              <a:ahLst/>
              <a:cxnLst>
                <a:cxn ang="T10">
                  <a:pos x="T0" y="T1"/>
                </a:cxn>
                <a:cxn ang="T11">
                  <a:pos x="T2" y="T3"/>
                </a:cxn>
                <a:cxn ang="T12">
                  <a:pos x="T4" y="T5"/>
                </a:cxn>
                <a:cxn ang="T13">
                  <a:pos x="T6" y="T7"/>
                </a:cxn>
                <a:cxn ang="T14">
                  <a:pos x="T8" y="T9"/>
                </a:cxn>
              </a:cxnLst>
              <a:rect l="T15" t="T16" r="T17" b="T18"/>
              <a:pathLst>
                <a:path w="115" h="160">
                  <a:moveTo>
                    <a:pt x="10" y="0"/>
                  </a:moveTo>
                  <a:cubicBezTo>
                    <a:pt x="4" y="15"/>
                    <a:pt x="1" y="31"/>
                    <a:pt x="1" y="46"/>
                  </a:cubicBezTo>
                  <a:cubicBezTo>
                    <a:pt x="0" y="105"/>
                    <a:pt x="44" y="154"/>
                    <a:pt x="102" y="160"/>
                  </a:cubicBezTo>
                  <a:lnTo>
                    <a:pt x="115" y="47"/>
                  </a:lnTo>
                  <a:lnTo>
                    <a:pt x="10" y="0"/>
                  </a:lnTo>
                  <a:close/>
                </a:path>
              </a:pathLst>
            </a:custGeom>
            <a:solidFill>
              <a:schemeClr val="tx2"/>
            </a:solidFill>
            <a:ln w="15875">
              <a:solidFill>
                <a:srgbClr val="000000"/>
              </a:solidFill>
              <a:prstDash val="solid"/>
              <a:round/>
              <a:headEnd/>
              <a:tailEnd/>
            </a:ln>
          </p:spPr>
          <p:txBody>
            <a:bodyPr/>
            <a:lstStyle/>
            <a:p>
              <a:endParaRPr lang="de-DE"/>
            </a:p>
          </p:txBody>
        </p:sp>
        <p:sp>
          <p:nvSpPr>
            <p:cNvPr id="11" name="Freeform 9"/>
            <p:cNvSpPr>
              <a:spLocks/>
            </p:cNvSpPr>
            <p:nvPr/>
          </p:nvSpPr>
          <p:spPr bwMode="auto">
            <a:xfrm>
              <a:off x="4913313" y="2127250"/>
              <a:ext cx="1679575" cy="1782763"/>
            </a:xfrm>
            <a:custGeom>
              <a:avLst/>
              <a:gdLst>
                <a:gd name="T0" fmla="*/ 2147483647 w 105"/>
                <a:gd name="T1" fmla="*/ 0 h 114"/>
                <a:gd name="T2" fmla="*/ 0 w 105"/>
                <a:gd name="T3" fmla="*/ 2147483647 h 114"/>
                <a:gd name="T4" fmla="*/ 2147483647 w 105"/>
                <a:gd name="T5" fmla="*/ 2147483647 h 114"/>
                <a:gd name="T6" fmla="*/ 2147483647 w 105"/>
                <a:gd name="T7" fmla="*/ 0 h 114"/>
                <a:gd name="T8" fmla="*/ 0 60000 65536"/>
                <a:gd name="T9" fmla="*/ 0 60000 65536"/>
                <a:gd name="T10" fmla="*/ 0 60000 65536"/>
                <a:gd name="T11" fmla="*/ 0 60000 65536"/>
                <a:gd name="T12" fmla="*/ 0 w 105"/>
                <a:gd name="T13" fmla="*/ 0 h 114"/>
                <a:gd name="T14" fmla="*/ 105 w 105"/>
                <a:gd name="T15" fmla="*/ 114 h 114"/>
              </a:gdLst>
              <a:ahLst/>
              <a:cxnLst>
                <a:cxn ang="T8">
                  <a:pos x="T0" y="T1"/>
                </a:cxn>
                <a:cxn ang="T9">
                  <a:pos x="T2" y="T3"/>
                </a:cxn>
                <a:cxn ang="T10">
                  <a:pos x="T4" y="T5"/>
                </a:cxn>
                <a:cxn ang="T11">
                  <a:pos x="T6" y="T7"/>
                </a:cxn>
              </a:cxnLst>
              <a:rect l="T12" t="T13" r="T14" b="T15"/>
              <a:pathLst>
                <a:path w="105" h="114">
                  <a:moveTo>
                    <a:pt x="104" y="0"/>
                  </a:moveTo>
                  <a:cubicBezTo>
                    <a:pt x="59" y="0"/>
                    <a:pt x="18" y="26"/>
                    <a:pt x="0" y="67"/>
                  </a:cubicBezTo>
                  <a:lnTo>
                    <a:pt x="105" y="114"/>
                  </a:lnTo>
                  <a:lnTo>
                    <a:pt x="104" y="0"/>
                  </a:lnTo>
                  <a:close/>
                </a:path>
              </a:pathLst>
            </a:custGeom>
            <a:solidFill>
              <a:schemeClr val="accent1"/>
            </a:solidFill>
            <a:ln w="15875">
              <a:solidFill>
                <a:srgbClr val="000000"/>
              </a:solidFill>
              <a:prstDash val="solid"/>
              <a:round/>
              <a:headEnd/>
              <a:tailEnd/>
            </a:ln>
          </p:spPr>
          <p:txBody>
            <a:bodyPr/>
            <a:lstStyle/>
            <a:p>
              <a:endParaRPr lang="de-DE"/>
            </a:p>
          </p:txBody>
        </p:sp>
        <p:sp>
          <p:nvSpPr>
            <p:cNvPr id="12" name="Oval 7"/>
            <p:cNvSpPr>
              <a:spLocks noChangeArrowheads="1"/>
            </p:cNvSpPr>
            <p:nvPr/>
          </p:nvSpPr>
          <p:spPr bwMode="auto">
            <a:xfrm>
              <a:off x="684213" y="2593975"/>
              <a:ext cx="2457450" cy="2441575"/>
            </a:xfrm>
            <a:prstGeom prst="ellipse">
              <a:avLst/>
            </a:prstGeom>
            <a:solidFill>
              <a:schemeClr val="tx2"/>
            </a:solidFill>
            <a:ln w="12700">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A010 – Administration</a:t>
              </a:r>
            </a:p>
            <a:p>
              <a:pPr algn="ctr">
                <a:spcBef>
                  <a:spcPct val="0"/>
                </a:spcBef>
                <a:buClrTx/>
                <a:buFontTx/>
                <a:buNone/>
              </a:pPr>
              <a:r>
                <a:rPr lang="en-US" altLang="de-DE" sz="1800" b="0">
                  <a:solidFill>
                    <a:schemeClr val="bg1"/>
                  </a:solidFill>
                </a:rPr>
                <a:t>Rent Expense</a:t>
              </a:r>
            </a:p>
            <a:p>
              <a:pPr algn="ctr">
                <a:spcBef>
                  <a:spcPct val="0"/>
                </a:spcBef>
                <a:buClrTx/>
                <a:buFontTx/>
                <a:buNone/>
              </a:pPr>
              <a:r>
                <a:rPr lang="en-US" altLang="de-DE" sz="1800" b="0">
                  <a:solidFill>
                    <a:schemeClr val="bg1"/>
                  </a:solidFill>
                </a:rPr>
                <a:t>$1,500</a:t>
              </a:r>
            </a:p>
          </p:txBody>
        </p:sp>
        <p:sp>
          <p:nvSpPr>
            <p:cNvPr id="13" name="AutoShape 8"/>
            <p:cNvSpPr>
              <a:spLocks noChangeArrowheads="1"/>
            </p:cNvSpPr>
            <p:nvPr/>
          </p:nvSpPr>
          <p:spPr bwMode="auto">
            <a:xfrm>
              <a:off x="3294063" y="3308350"/>
              <a:ext cx="1371600" cy="1066800"/>
            </a:xfrm>
            <a:prstGeom prst="rightArrow">
              <a:avLst>
                <a:gd name="adj1" fmla="val 50000"/>
                <a:gd name="adj2" fmla="val 32143"/>
              </a:avLst>
            </a:prstGeom>
            <a:solidFill>
              <a:schemeClr val="tx2"/>
            </a:solidFill>
            <a:ln w="12700">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chemeClr val="bg1"/>
                  </a:solidFill>
                </a:rPr>
                <a:t>Distribution</a:t>
              </a:r>
            </a:p>
          </p:txBody>
        </p:sp>
        <p:sp>
          <p:nvSpPr>
            <p:cNvPr id="14" name="Rectangle 4"/>
            <p:cNvSpPr>
              <a:spLocks noChangeArrowheads="1"/>
            </p:cNvSpPr>
            <p:nvPr/>
          </p:nvSpPr>
          <p:spPr bwMode="auto">
            <a:xfrm>
              <a:off x="755650" y="1412875"/>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Sending cost center</a:t>
              </a:r>
            </a:p>
          </p:txBody>
        </p:sp>
        <p:sp>
          <p:nvSpPr>
            <p:cNvPr id="15" name="Rectangle 5"/>
            <p:cNvSpPr>
              <a:spLocks noChangeArrowheads="1"/>
            </p:cNvSpPr>
            <p:nvPr/>
          </p:nvSpPr>
          <p:spPr bwMode="auto">
            <a:xfrm>
              <a:off x="2771775" y="1989138"/>
              <a:ext cx="23764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Primary cost element specifies allocation type</a:t>
              </a:r>
            </a:p>
          </p:txBody>
        </p:sp>
        <p:sp>
          <p:nvSpPr>
            <p:cNvPr id="16" name="Rectangle 6"/>
            <p:cNvSpPr>
              <a:spLocks noChangeArrowheads="1"/>
            </p:cNvSpPr>
            <p:nvPr/>
          </p:nvSpPr>
          <p:spPr bwMode="auto">
            <a:xfrm>
              <a:off x="5219700" y="1412875"/>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Receiving cost centers</a:t>
              </a:r>
            </a:p>
          </p:txBody>
        </p:sp>
        <p:sp>
          <p:nvSpPr>
            <p:cNvPr id="17" name="Rectangle 17"/>
            <p:cNvSpPr>
              <a:spLocks noChangeArrowheads="1"/>
            </p:cNvSpPr>
            <p:nvPr/>
          </p:nvSpPr>
          <p:spPr bwMode="auto">
            <a:xfrm>
              <a:off x="7808913" y="4687888"/>
              <a:ext cx="534987"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18" name="Rectangle 18"/>
            <p:cNvSpPr>
              <a:spLocks noChangeArrowheads="1"/>
            </p:cNvSpPr>
            <p:nvPr/>
          </p:nvSpPr>
          <p:spPr bwMode="auto">
            <a:xfrm>
              <a:off x="7839075" y="4735513"/>
              <a:ext cx="5413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A015 </a:t>
              </a:r>
              <a:endParaRPr lang="de-DE" altLang="de-DE"/>
            </a:p>
          </p:txBody>
        </p:sp>
        <p:sp>
          <p:nvSpPr>
            <p:cNvPr id="19" name="Rectangle 19"/>
            <p:cNvSpPr>
              <a:spLocks noChangeArrowheads="1"/>
            </p:cNvSpPr>
            <p:nvPr/>
          </p:nvSpPr>
          <p:spPr bwMode="auto">
            <a:xfrm>
              <a:off x="7886700" y="5002213"/>
              <a:ext cx="3952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 $75</a:t>
              </a:r>
              <a:endParaRPr lang="de-DE" altLang="de-DE"/>
            </a:p>
          </p:txBody>
        </p:sp>
        <p:sp>
          <p:nvSpPr>
            <p:cNvPr id="20" name="Rectangle 20"/>
            <p:cNvSpPr>
              <a:spLocks noChangeArrowheads="1"/>
            </p:cNvSpPr>
            <p:nvPr/>
          </p:nvSpPr>
          <p:spPr bwMode="auto">
            <a:xfrm>
              <a:off x="7304088" y="4986338"/>
              <a:ext cx="534987"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1" name="Rectangle 21"/>
            <p:cNvSpPr>
              <a:spLocks noChangeArrowheads="1"/>
            </p:cNvSpPr>
            <p:nvPr/>
          </p:nvSpPr>
          <p:spPr bwMode="auto">
            <a:xfrm>
              <a:off x="7335838" y="5033963"/>
              <a:ext cx="5413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A020 </a:t>
              </a:r>
              <a:endParaRPr lang="de-DE" altLang="de-DE"/>
            </a:p>
          </p:txBody>
        </p:sp>
        <p:sp>
          <p:nvSpPr>
            <p:cNvPr id="22" name="Rectangle 22"/>
            <p:cNvSpPr>
              <a:spLocks noChangeArrowheads="1"/>
            </p:cNvSpPr>
            <p:nvPr/>
          </p:nvSpPr>
          <p:spPr bwMode="auto">
            <a:xfrm>
              <a:off x="7383463" y="5302250"/>
              <a:ext cx="3952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 $50</a:t>
              </a:r>
              <a:endParaRPr lang="de-DE" altLang="de-DE"/>
            </a:p>
          </p:txBody>
        </p:sp>
        <p:sp>
          <p:nvSpPr>
            <p:cNvPr id="23" name="Rectangle 23"/>
            <p:cNvSpPr>
              <a:spLocks noChangeArrowheads="1"/>
            </p:cNvSpPr>
            <p:nvPr/>
          </p:nvSpPr>
          <p:spPr bwMode="auto">
            <a:xfrm>
              <a:off x="6800850" y="5395913"/>
              <a:ext cx="708025"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4" name="Rectangle 24"/>
            <p:cNvSpPr>
              <a:spLocks noChangeArrowheads="1"/>
            </p:cNvSpPr>
            <p:nvPr/>
          </p:nvSpPr>
          <p:spPr bwMode="auto">
            <a:xfrm>
              <a:off x="6831013" y="5443538"/>
              <a:ext cx="7000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S005 – </a:t>
              </a:r>
              <a:endParaRPr lang="de-DE" altLang="de-DE"/>
            </a:p>
          </p:txBody>
        </p:sp>
        <p:sp>
          <p:nvSpPr>
            <p:cNvPr id="25" name="Rectangle 25"/>
            <p:cNvSpPr>
              <a:spLocks noChangeArrowheads="1"/>
            </p:cNvSpPr>
            <p:nvPr/>
          </p:nvSpPr>
          <p:spPr bwMode="auto">
            <a:xfrm>
              <a:off x="6942138" y="5711825"/>
              <a:ext cx="4508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$100</a:t>
              </a:r>
              <a:endParaRPr lang="de-DE" altLang="de-DE"/>
            </a:p>
          </p:txBody>
        </p:sp>
        <p:sp>
          <p:nvSpPr>
            <p:cNvPr id="26" name="Rectangle 26"/>
            <p:cNvSpPr>
              <a:spLocks noChangeArrowheads="1"/>
            </p:cNvSpPr>
            <p:nvPr/>
          </p:nvSpPr>
          <p:spPr bwMode="auto">
            <a:xfrm>
              <a:off x="5413375" y="5459413"/>
              <a:ext cx="1103313" cy="3778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7" name="Rectangle 27"/>
            <p:cNvSpPr>
              <a:spLocks noChangeArrowheads="1"/>
            </p:cNvSpPr>
            <p:nvPr/>
          </p:nvSpPr>
          <p:spPr bwMode="auto">
            <a:xfrm>
              <a:off x="5445125" y="5507038"/>
              <a:ext cx="10382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S010 – $50</a:t>
              </a:r>
              <a:endParaRPr lang="de-DE" altLang="de-DE"/>
            </a:p>
          </p:txBody>
        </p:sp>
        <p:sp>
          <p:nvSpPr>
            <p:cNvPr id="28" name="Rectangle 28"/>
            <p:cNvSpPr>
              <a:spLocks noChangeArrowheads="1"/>
            </p:cNvSpPr>
            <p:nvPr/>
          </p:nvSpPr>
          <p:spPr bwMode="auto">
            <a:xfrm>
              <a:off x="6973888" y="3475038"/>
              <a:ext cx="708025"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9" name="Rectangle 29"/>
            <p:cNvSpPr>
              <a:spLocks noChangeArrowheads="1"/>
            </p:cNvSpPr>
            <p:nvPr/>
          </p:nvSpPr>
          <p:spPr bwMode="auto">
            <a:xfrm>
              <a:off x="7005638" y="3522663"/>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A010 – </a:t>
              </a:r>
              <a:endParaRPr lang="de-DE" altLang="de-DE"/>
            </a:p>
          </p:txBody>
        </p:sp>
        <p:sp>
          <p:nvSpPr>
            <p:cNvPr id="30" name="Rectangle 30"/>
            <p:cNvSpPr>
              <a:spLocks noChangeArrowheads="1"/>
            </p:cNvSpPr>
            <p:nvPr/>
          </p:nvSpPr>
          <p:spPr bwMode="auto">
            <a:xfrm>
              <a:off x="7115175" y="3789363"/>
              <a:ext cx="4508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$300</a:t>
              </a:r>
              <a:endParaRPr lang="de-DE" altLang="de-DE"/>
            </a:p>
          </p:txBody>
        </p:sp>
        <p:sp>
          <p:nvSpPr>
            <p:cNvPr id="31" name="Rectangle 31"/>
            <p:cNvSpPr>
              <a:spLocks noChangeArrowheads="1"/>
            </p:cNvSpPr>
            <p:nvPr/>
          </p:nvSpPr>
          <p:spPr bwMode="auto">
            <a:xfrm>
              <a:off x="5476875" y="3946525"/>
              <a:ext cx="709613" cy="646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2" name="Rectangle 32"/>
            <p:cNvSpPr>
              <a:spLocks noChangeArrowheads="1"/>
            </p:cNvSpPr>
            <p:nvPr/>
          </p:nvSpPr>
          <p:spPr bwMode="auto">
            <a:xfrm>
              <a:off x="5508625" y="3994150"/>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D005 – </a:t>
              </a:r>
              <a:endParaRPr lang="de-DE" altLang="de-DE"/>
            </a:p>
          </p:txBody>
        </p:sp>
        <p:sp>
          <p:nvSpPr>
            <p:cNvPr id="33" name="Rectangle 33"/>
            <p:cNvSpPr>
              <a:spLocks noChangeArrowheads="1"/>
            </p:cNvSpPr>
            <p:nvPr/>
          </p:nvSpPr>
          <p:spPr bwMode="auto">
            <a:xfrm>
              <a:off x="5618163" y="4262438"/>
              <a:ext cx="4508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$450</a:t>
              </a:r>
              <a:endParaRPr lang="de-DE" altLang="de-DE"/>
            </a:p>
          </p:txBody>
        </p:sp>
        <p:sp>
          <p:nvSpPr>
            <p:cNvPr id="34" name="Rectangle 34"/>
            <p:cNvSpPr>
              <a:spLocks noChangeArrowheads="1"/>
            </p:cNvSpPr>
            <p:nvPr/>
          </p:nvSpPr>
          <p:spPr bwMode="auto">
            <a:xfrm>
              <a:off x="5634038" y="2717800"/>
              <a:ext cx="709612" cy="646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5" name="Rectangle 35"/>
            <p:cNvSpPr>
              <a:spLocks noChangeArrowheads="1"/>
            </p:cNvSpPr>
            <p:nvPr/>
          </p:nvSpPr>
          <p:spPr bwMode="auto">
            <a:xfrm>
              <a:off x="5665788" y="2765425"/>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D010 – </a:t>
              </a:r>
              <a:endParaRPr lang="de-DE" altLang="de-DE"/>
            </a:p>
          </p:txBody>
        </p:sp>
        <p:sp>
          <p:nvSpPr>
            <p:cNvPr id="36" name="Rectangle 36"/>
            <p:cNvSpPr>
              <a:spLocks noChangeArrowheads="1"/>
            </p:cNvSpPr>
            <p:nvPr/>
          </p:nvSpPr>
          <p:spPr bwMode="auto">
            <a:xfrm>
              <a:off x="5776913" y="3033713"/>
              <a:ext cx="4508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$275</a:t>
              </a:r>
              <a:endParaRPr lang="de-DE" altLang="de-DE"/>
            </a:p>
          </p:txBody>
        </p:sp>
        <p:sp>
          <p:nvSpPr>
            <p:cNvPr id="37" name="Rectangle 37"/>
            <p:cNvSpPr>
              <a:spLocks noChangeArrowheads="1"/>
            </p:cNvSpPr>
            <p:nvPr/>
          </p:nvSpPr>
          <p:spPr bwMode="auto">
            <a:xfrm>
              <a:off x="6532563" y="2528888"/>
              <a:ext cx="708025" cy="646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8" name="Rectangle 38"/>
            <p:cNvSpPr>
              <a:spLocks noChangeArrowheads="1"/>
            </p:cNvSpPr>
            <p:nvPr/>
          </p:nvSpPr>
          <p:spPr bwMode="auto">
            <a:xfrm>
              <a:off x="6564313" y="2576513"/>
              <a:ext cx="711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A005 – </a:t>
              </a:r>
              <a:endParaRPr lang="de-DE" altLang="de-DE"/>
            </a:p>
          </p:txBody>
        </p:sp>
        <p:sp>
          <p:nvSpPr>
            <p:cNvPr id="39" name="Rectangle 39"/>
            <p:cNvSpPr>
              <a:spLocks noChangeArrowheads="1"/>
            </p:cNvSpPr>
            <p:nvPr/>
          </p:nvSpPr>
          <p:spPr bwMode="auto">
            <a:xfrm>
              <a:off x="6673850" y="2844800"/>
              <a:ext cx="4508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$200</a:t>
              </a:r>
              <a:endParaRPr lang="de-DE" altLang="de-DE"/>
            </a:p>
          </p:txBody>
        </p:sp>
      </p:grpSp>
    </p:spTree>
    <p:extLst>
      <p:ext uri="{BB962C8B-B14F-4D97-AF65-F5344CB8AC3E}">
        <p14:creationId xmlns:p14="http://schemas.microsoft.com/office/powerpoint/2010/main" val="2711363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a:latin typeface="Arial" panose="020B0604020202020204" pitchFamily="34" charset="0"/>
              </a:rPr>
              <a:t>Assessment</a:t>
            </a:r>
            <a:endParaRPr lang="de-DE"/>
          </a:p>
        </p:txBody>
      </p:sp>
      <p:grpSp>
        <p:nvGrpSpPr>
          <p:cNvPr id="32" name="Gruppieren 31"/>
          <p:cNvGrpSpPr/>
          <p:nvPr/>
        </p:nvGrpSpPr>
        <p:grpSpPr>
          <a:xfrm>
            <a:off x="2013550" y="1653507"/>
            <a:ext cx="8166100" cy="4316413"/>
            <a:chOff x="539750" y="1412875"/>
            <a:chExt cx="8166100" cy="4316413"/>
          </a:xfrm>
        </p:grpSpPr>
        <p:sp>
          <p:nvSpPr>
            <p:cNvPr id="4" name="Freeform 41"/>
            <p:cNvSpPr>
              <a:spLocks/>
            </p:cNvSpPr>
            <p:nvPr/>
          </p:nvSpPr>
          <p:spPr bwMode="auto">
            <a:xfrm>
              <a:off x="6454775" y="2317750"/>
              <a:ext cx="1333500" cy="1666875"/>
            </a:xfrm>
            <a:custGeom>
              <a:avLst/>
              <a:gdLst>
                <a:gd name="T0" fmla="*/ 2147483647 w 84"/>
                <a:gd name="T1" fmla="*/ 2147483647 h 105"/>
                <a:gd name="T2" fmla="*/ 0 w 84"/>
                <a:gd name="T3" fmla="*/ 2147483647 h 105"/>
                <a:gd name="T4" fmla="*/ 0 w 84"/>
                <a:gd name="T5" fmla="*/ 2147483647 h 105"/>
                <a:gd name="T6" fmla="*/ 0 w 84"/>
                <a:gd name="T7" fmla="*/ 2147483647 h 105"/>
                <a:gd name="T8" fmla="*/ 2147483647 w 84"/>
                <a:gd name="T9" fmla="*/ 2147483647 h 105"/>
                <a:gd name="T10" fmla="*/ 0 60000 65536"/>
                <a:gd name="T11" fmla="*/ 0 60000 65536"/>
                <a:gd name="T12" fmla="*/ 0 60000 65536"/>
                <a:gd name="T13" fmla="*/ 0 60000 65536"/>
                <a:gd name="T14" fmla="*/ 0 60000 65536"/>
                <a:gd name="T15" fmla="*/ 0 w 84"/>
                <a:gd name="T16" fmla="*/ 0 h 105"/>
                <a:gd name="T17" fmla="*/ 84 w 84"/>
                <a:gd name="T18" fmla="*/ 105 h 105"/>
              </a:gdLst>
              <a:ahLst/>
              <a:cxnLst>
                <a:cxn ang="T10">
                  <a:pos x="T0" y="T1"/>
                </a:cxn>
                <a:cxn ang="T11">
                  <a:pos x="T2" y="T3"/>
                </a:cxn>
                <a:cxn ang="T12">
                  <a:pos x="T4" y="T5"/>
                </a:cxn>
                <a:cxn ang="T13">
                  <a:pos x="T6" y="T7"/>
                </a:cxn>
                <a:cxn ang="T14">
                  <a:pos x="T8" y="T9"/>
                </a:cxn>
              </a:cxnLst>
              <a:rect l="T15" t="T16" r="T17" b="T18"/>
              <a:pathLst>
                <a:path w="84" h="105">
                  <a:moveTo>
                    <a:pt x="84" y="43"/>
                  </a:moveTo>
                  <a:cubicBezTo>
                    <a:pt x="64" y="16"/>
                    <a:pt x="33" y="1"/>
                    <a:pt x="0" y="1"/>
                  </a:cubicBezTo>
                  <a:cubicBezTo>
                    <a:pt x="0" y="0"/>
                    <a:pt x="0" y="1"/>
                    <a:pt x="0" y="1"/>
                  </a:cubicBezTo>
                  <a:lnTo>
                    <a:pt x="0" y="105"/>
                  </a:lnTo>
                  <a:lnTo>
                    <a:pt x="84" y="43"/>
                  </a:lnTo>
                  <a:close/>
                </a:path>
              </a:pathLst>
            </a:custGeom>
            <a:solidFill>
              <a:schemeClr val="accent2"/>
            </a:solidFill>
            <a:ln w="15875">
              <a:solidFill>
                <a:srgbClr val="000000"/>
              </a:solidFill>
              <a:prstDash val="solid"/>
              <a:round/>
              <a:headEnd/>
              <a:tailEnd/>
            </a:ln>
          </p:spPr>
          <p:txBody>
            <a:bodyPr/>
            <a:lstStyle/>
            <a:p>
              <a:endParaRPr lang="de-DE"/>
            </a:p>
          </p:txBody>
        </p:sp>
        <p:sp>
          <p:nvSpPr>
            <p:cNvPr id="5" name="Freeform 42"/>
            <p:cNvSpPr>
              <a:spLocks/>
            </p:cNvSpPr>
            <p:nvPr/>
          </p:nvSpPr>
          <p:spPr bwMode="auto">
            <a:xfrm>
              <a:off x="6486525" y="3032125"/>
              <a:ext cx="1571625" cy="982663"/>
            </a:xfrm>
            <a:custGeom>
              <a:avLst/>
              <a:gdLst>
                <a:gd name="T0" fmla="*/ 2147483647 w 99"/>
                <a:gd name="T1" fmla="*/ 2147483647 h 62"/>
                <a:gd name="T2" fmla="*/ 2147483647 w 99"/>
                <a:gd name="T3" fmla="*/ 0 h 62"/>
                <a:gd name="T4" fmla="*/ 0 w 99"/>
                <a:gd name="T5" fmla="*/ 2147483647 h 62"/>
                <a:gd name="T6" fmla="*/ 2147483647 w 99"/>
                <a:gd name="T7" fmla="*/ 2147483647 h 62"/>
                <a:gd name="T8" fmla="*/ 0 60000 65536"/>
                <a:gd name="T9" fmla="*/ 0 60000 65536"/>
                <a:gd name="T10" fmla="*/ 0 60000 65536"/>
                <a:gd name="T11" fmla="*/ 0 60000 65536"/>
                <a:gd name="T12" fmla="*/ 0 w 99"/>
                <a:gd name="T13" fmla="*/ 0 h 62"/>
                <a:gd name="T14" fmla="*/ 99 w 99"/>
                <a:gd name="T15" fmla="*/ 62 h 62"/>
              </a:gdLst>
              <a:ahLst/>
              <a:cxnLst>
                <a:cxn ang="T8">
                  <a:pos x="T0" y="T1"/>
                </a:cxn>
                <a:cxn ang="T9">
                  <a:pos x="T2" y="T3"/>
                </a:cxn>
                <a:cxn ang="T10">
                  <a:pos x="T4" y="T5"/>
                </a:cxn>
                <a:cxn ang="T11">
                  <a:pos x="T6" y="T7"/>
                </a:cxn>
              </a:cxnLst>
              <a:rect l="T12" t="T13" r="T14" b="T15"/>
              <a:pathLst>
                <a:path w="99" h="62">
                  <a:moveTo>
                    <a:pt x="99" y="29"/>
                  </a:moveTo>
                  <a:cubicBezTo>
                    <a:pt x="96" y="19"/>
                    <a:pt x="91" y="9"/>
                    <a:pt x="84" y="0"/>
                  </a:cubicBezTo>
                  <a:lnTo>
                    <a:pt x="0" y="62"/>
                  </a:lnTo>
                  <a:lnTo>
                    <a:pt x="99" y="29"/>
                  </a:lnTo>
                  <a:close/>
                </a:path>
              </a:pathLst>
            </a:custGeom>
            <a:solidFill>
              <a:srgbClr val="FCEB6A"/>
            </a:solidFill>
            <a:ln w="15875">
              <a:solidFill>
                <a:srgbClr val="000000"/>
              </a:solidFill>
              <a:prstDash val="solid"/>
              <a:round/>
              <a:headEnd/>
              <a:tailEnd/>
            </a:ln>
          </p:spPr>
          <p:txBody>
            <a:bodyPr/>
            <a:lstStyle/>
            <a:p>
              <a:endParaRPr lang="de-DE"/>
            </a:p>
          </p:txBody>
        </p:sp>
        <p:sp>
          <p:nvSpPr>
            <p:cNvPr id="6" name="Freeform 43"/>
            <p:cNvSpPr>
              <a:spLocks/>
            </p:cNvSpPr>
            <p:nvPr/>
          </p:nvSpPr>
          <p:spPr bwMode="auto">
            <a:xfrm>
              <a:off x="6486525" y="3532188"/>
              <a:ext cx="1666875" cy="1030287"/>
            </a:xfrm>
            <a:custGeom>
              <a:avLst/>
              <a:gdLst>
                <a:gd name="T0" fmla="*/ 2147483647 w 105"/>
                <a:gd name="T1" fmla="*/ 2147483647 h 65"/>
                <a:gd name="T2" fmla="*/ 2147483647 w 105"/>
                <a:gd name="T3" fmla="*/ 2147483647 h 65"/>
                <a:gd name="T4" fmla="*/ 2147483647 w 105"/>
                <a:gd name="T5" fmla="*/ 0 h 65"/>
                <a:gd name="T6" fmla="*/ 0 w 105"/>
                <a:gd name="T7" fmla="*/ 2147483647 h 65"/>
                <a:gd name="T8" fmla="*/ 2147483647 w 105"/>
                <a:gd name="T9" fmla="*/ 2147483647 h 65"/>
                <a:gd name="T10" fmla="*/ 0 60000 65536"/>
                <a:gd name="T11" fmla="*/ 0 60000 65536"/>
                <a:gd name="T12" fmla="*/ 0 60000 65536"/>
                <a:gd name="T13" fmla="*/ 0 60000 65536"/>
                <a:gd name="T14" fmla="*/ 0 60000 65536"/>
                <a:gd name="T15" fmla="*/ 0 w 105"/>
                <a:gd name="T16" fmla="*/ 0 h 65"/>
                <a:gd name="T17" fmla="*/ 105 w 105"/>
                <a:gd name="T18" fmla="*/ 65 h 65"/>
              </a:gdLst>
              <a:ahLst/>
              <a:cxnLst>
                <a:cxn ang="T10">
                  <a:pos x="T0" y="T1"/>
                </a:cxn>
                <a:cxn ang="T11">
                  <a:pos x="T2" y="T3"/>
                </a:cxn>
                <a:cxn ang="T12">
                  <a:pos x="T4" y="T5"/>
                </a:cxn>
                <a:cxn ang="T13">
                  <a:pos x="T6" y="T7"/>
                </a:cxn>
                <a:cxn ang="T14">
                  <a:pos x="T8" y="T9"/>
                </a:cxn>
              </a:cxnLst>
              <a:rect l="T15" t="T16" r="T17" b="T18"/>
              <a:pathLst>
                <a:path w="105" h="65">
                  <a:moveTo>
                    <a:pt x="100" y="65"/>
                  </a:moveTo>
                  <a:cubicBezTo>
                    <a:pt x="103" y="55"/>
                    <a:pt x="105" y="44"/>
                    <a:pt x="105" y="33"/>
                  </a:cubicBezTo>
                  <a:cubicBezTo>
                    <a:pt x="105" y="22"/>
                    <a:pt x="103" y="11"/>
                    <a:pt x="99" y="0"/>
                  </a:cubicBezTo>
                  <a:lnTo>
                    <a:pt x="0" y="33"/>
                  </a:lnTo>
                  <a:lnTo>
                    <a:pt x="100" y="65"/>
                  </a:lnTo>
                  <a:close/>
                </a:path>
              </a:pathLst>
            </a:custGeom>
            <a:solidFill>
              <a:srgbClr val="DBB40D"/>
            </a:solidFill>
            <a:ln w="15875">
              <a:solidFill>
                <a:srgbClr val="000000"/>
              </a:solidFill>
              <a:prstDash val="solid"/>
              <a:round/>
              <a:headEnd/>
              <a:tailEnd/>
            </a:ln>
          </p:spPr>
          <p:txBody>
            <a:bodyPr/>
            <a:lstStyle/>
            <a:p>
              <a:endParaRPr lang="de-DE"/>
            </a:p>
          </p:txBody>
        </p:sp>
        <p:sp>
          <p:nvSpPr>
            <p:cNvPr id="7" name="Freeform 44"/>
            <p:cNvSpPr>
              <a:spLocks/>
            </p:cNvSpPr>
            <p:nvPr/>
          </p:nvSpPr>
          <p:spPr bwMode="auto">
            <a:xfrm>
              <a:off x="5470525" y="4078288"/>
              <a:ext cx="2571750" cy="1651000"/>
            </a:xfrm>
            <a:custGeom>
              <a:avLst/>
              <a:gdLst>
                <a:gd name="T0" fmla="*/ 0 w 162"/>
                <a:gd name="T1" fmla="*/ 2147483647 h 104"/>
                <a:gd name="T2" fmla="*/ 2147483647 w 162"/>
                <a:gd name="T3" fmla="*/ 2147483647 h 104"/>
                <a:gd name="T4" fmla="*/ 2147483647 w 162"/>
                <a:gd name="T5" fmla="*/ 2147483647 h 104"/>
                <a:gd name="T6" fmla="*/ 2147483647 w 162"/>
                <a:gd name="T7" fmla="*/ 0 h 104"/>
                <a:gd name="T8" fmla="*/ 0 w 162"/>
                <a:gd name="T9" fmla="*/ 2147483647 h 104"/>
                <a:gd name="T10" fmla="*/ 0 60000 65536"/>
                <a:gd name="T11" fmla="*/ 0 60000 65536"/>
                <a:gd name="T12" fmla="*/ 0 60000 65536"/>
                <a:gd name="T13" fmla="*/ 0 60000 65536"/>
                <a:gd name="T14" fmla="*/ 0 60000 65536"/>
                <a:gd name="T15" fmla="*/ 0 w 162"/>
                <a:gd name="T16" fmla="*/ 0 h 104"/>
                <a:gd name="T17" fmla="*/ 162 w 162"/>
                <a:gd name="T18" fmla="*/ 104 h 104"/>
              </a:gdLst>
              <a:ahLst/>
              <a:cxnLst>
                <a:cxn ang="T10">
                  <a:pos x="T0" y="T1"/>
                </a:cxn>
                <a:cxn ang="T11">
                  <a:pos x="T2" y="T3"/>
                </a:cxn>
                <a:cxn ang="T12">
                  <a:pos x="T4" y="T5"/>
                </a:cxn>
                <a:cxn ang="T13">
                  <a:pos x="T6" y="T7"/>
                </a:cxn>
                <a:cxn ang="T14">
                  <a:pos x="T8" y="T9"/>
                </a:cxn>
              </a:cxnLst>
              <a:rect l="T15" t="T16" r="T17" b="T18"/>
              <a:pathLst>
                <a:path w="162" h="104">
                  <a:moveTo>
                    <a:pt x="0" y="84"/>
                  </a:moveTo>
                  <a:cubicBezTo>
                    <a:pt x="18" y="97"/>
                    <a:pt x="40" y="104"/>
                    <a:pt x="62" y="104"/>
                  </a:cubicBezTo>
                  <a:cubicBezTo>
                    <a:pt x="107" y="104"/>
                    <a:pt x="148" y="75"/>
                    <a:pt x="162" y="32"/>
                  </a:cubicBezTo>
                  <a:lnTo>
                    <a:pt x="62" y="0"/>
                  </a:lnTo>
                  <a:lnTo>
                    <a:pt x="0" y="84"/>
                  </a:lnTo>
                  <a:close/>
                </a:path>
              </a:pathLst>
            </a:custGeom>
            <a:solidFill>
              <a:srgbClr val="B2E6B2"/>
            </a:solidFill>
            <a:ln w="15875">
              <a:solidFill>
                <a:srgbClr val="000000"/>
              </a:solidFill>
              <a:prstDash val="solid"/>
              <a:round/>
              <a:headEnd/>
              <a:tailEnd/>
            </a:ln>
          </p:spPr>
          <p:txBody>
            <a:bodyPr/>
            <a:lstStyle/>
            <a:p>
              <a:endParaRPr lang="de-DE"/>
            </a:p>
          </p:txBody>
        </p:sp>
        <p:sp>
          <p:nvSpPr>
            <p:cNvPr id="8" name="Freeform 45"/>
            <p:cNvSpPr>
              <a:spLocks/>
            </p:cNvSpPr>
            <p:nvPr/>
          </p:nvSpPr>
          <p:spPr bwMode="auto">
            <a:xfrm>
              <a:off x="4819650" y="4062413"/>
              <a:ext cx="1587500" cy="1333500"/>
            </a:xfrm>
            <a:custGeom>
              <a:avLst/>
              <a:gdLst>
                <a:gd name="T0" fmla="*/ 0 w 100"/>
                <a:gd name="T1" fmla="*/ 2147483647 h 84"/>
                <a:gd name="T2" fmla="*/ 2147483647 w 100"/>
                <a:gd name="T3" fmla="*/ 2147483647 h 84"/>
                <a:gd name="T4" fmla="*/ 2147483647 w 100"/>
                <a:gd name="T5" fmla="*/ 0 h 84"/>
                <a:gd name="T6" fmla="*/ 0 w 100"/>
                <a:gd name="T7" fmla="*/ 2147483647 h 84"/>
                <a:gd name="T8" fmla="*/ 0 60000 65536"/>
                <a:gd name="T9" fmla="*/ 0 60000 65536"/>
                <a:gd name="T10" fmla="*/ 0 60000 65536"/>
                <a:gd name="T11" fmla="*/ 0 60000 65536"/>
                <a:gd name="T12" fmla="*/ 0 w 100"/>
                <a:gd name="T13" fmla="*/ 0 h 84"/>
                <a:gd name="T14" fmla="*/ 100 w 100"/>
                <a:gd name="T15" fmla="*/ 84 h 84"/>
              </a:gdLst>
              <a:ahLst/>
              <a:cxnLst>
                <a:cxn ang="T8">
                  <a:pos x="T0" y="T1"/>
                </a:cxn>
                <a:cxn ang="T9">
                  <a:pos x="T2" y="T3"/>
                </a:cxn>
                <a:cxn ang="T10">
                  <a:pos x="T4" y="T5"/>
                </a:cxn>
                <a:cxn ang="T11">
                  <a:pos x="T6" y="T7"/>
                </a:cxn>
              </a:cxnLst>
              <a:rect l="T12" t="T13" r="T14" b="T15"/>
              <a:pathLst>
                <a:path w="100" h="84">
                  <a:moveTo>
                    <a:pt x="0" y="32"/>
                  </a:moveTo>
                  <a:cubicBezTo>
                    <a:pt x="7" y="53"/>
                    <a:pt x="20" y="71"/>
                    <a:pt x="38" y="84"/>
                  </a:cubicBezTo>
                  <a:lnTo>
                    <a:pt x="100" y="0"/>
                  </a:lnTo>
                  <a:lnTo>
                    <a:pt x="0" y="32"/>
                  </a:lnTo>
                  <a:close/>
                </a:path>
              </a:pathLst>
            </a:custGeom>
            <a:solidFill>
              <a:schemeClr val="hlink"/>
            </a:solidFill>
            <a:ln w="15875">
              <a:solidFill>
                <a:srgbClr val="000000"/>
              </a:solidFill>
              <a:prstDash val="solid"/>
              <a:round/>
              <a:headEnd/>
              <a:tailEnd/>
            </a:ln>
          </p:spPr>
          <p:txBody>
            <a:bodyPr/>
            <a:lstStyle/>
            <a:p>
              <a:endParaRPr lang="de-DE"/>
            </a:p>
          </p:txBody>
        </p:sp>
        <p:sp>
          <p:nvSpPr>
            <p:cNvPr id="9" name="Freeform 46"/>
            <p:cNvSpPr>
              <a:spLocks/>
            </p:cNvSpPr>
            <p:nvPr/>
          </p:nvSpPr>
          <p:spPr bwMode="auto">
            <a:xfrm>
              <a:off x="4724400" y="2682875"/>
              <a:ext cx="1666875" cy="1839913"/>
            </a:xfrm>
            <a:custGeom>
              <a:avLst/>
              <a:gdLst>
                <a:gd name="T0" fmla="*/ 2147483647 w 105"/>
                <a:gd name="T1" fmla="*/ 0 h 116"/>
                <a:gd name="T2" fmla="*/ 2147483647 w 105"/>
                <a:gd name="T3" fmla="*/ 2147483647 h 116"/>
                <a:gd name="T4" fmla="*/ 2147483647 w 105"/>
                <a:gd name="T5" fmla="*/ 2147483647 h 116"/>
                <a:gd name="T6" fmla="*/ 2147483647 w 105"/>
                <a:gd name="T7" fmla="*/ 2147483647 h 116"/>
                <a:gd name="T8" fmla="*/ 2147483647 w 105"/>
                <a:gd name="T9" fmla="*/ 0 h 116"/>
                <a:gd name="T10" fmla="*/ 0 60000 65536"/>
                <a:gd name="T11" fmla="*/ 0 60000 65536"/>
                <a:gd name="T12" fmla="*/ 0 60000 65536"/>
                <a:gd name="T13" fmla="*/ 0 60000 65536"/>
                <a:gd name="T14" fmla="*/ 0 60000 65536"/>
                <a:gd name="T15" fmla="*/ 0 w 105"/>
                <a:gd name="T16" fmla="*/ 0 h 116"/>
                <a:gd name="T17" fmla="*/ 105 w 105"/>
                <a:gd name="T18" fmla="*/ 116 h 116"/>
              </a:gdLst>
              <a:ahLst/>
              <a:cxnLst>
                <a:cxn ang="T10">
                  <a:pos x="T0" y="T1"/>
                </a:cxn>
                <a:cxn ang="T11">
                  <a:pos x="T2" y="T3"/>
                </a:cxn>
                <a:cxn ang="T12">
                  <a:pos x="T4" y="T5"/>
                </a:cxn>
                <a:cxn ang="T13">
                  <a:pos x="T6" y="T7"/>
                </a:cxn>
                <a:cxn ang="T14">
                  <a:pos x="T8" y="T9"/>
                </a:cxn>
              </a:cxnLst>
              <a:rect l="T15" t="T16" r="T17" b="T18"/>
              <a:pathLst>
                <a:path w="105" h="116">
                  <a:moveTo>
                    <a:pt x="44" y="0"/>
                  </a:moveTo>
                  <a:cubicBezTo>
                    <a:pt x="16" y="19"/>
                    <a:pt x="1" y="51"/>
                    <a:pt x="1" y="84"/>
                  </a:cubicBezTo>
                  <a:cubicBezTo>
                    <a:pt x="0" y="95"/>
                    <a:pt x="2" y="105"/>
                    <a:pt x="5" y="116"/>
                  </a:cubicBezTo>
                  <a:lnTo>
                    <a:pt x="105" y="84"/>
                  </a:lnTo>
                  <a:lnTo>
                    <a:pt x="44" y="0"/>
                  </a:lnTo>
                  <a:close/>
                </a:path>
              </a:pathLst>
            </a:custGeom>
            <a:solidFill>
              <a:schemeClr val="tx2"/>
            </a:solidFill>
            <a:ln w="15875">
              <a:solidFill>
                <a:srgbClr val="000000"/>
              </a:solidFill>
              <a:prstDash val="solid"/>
              <a:round/>
              <a:headEnd/>
              <a:tailEnd/>
            </a:ln>
          </p:spPr>
          <p:txBody>
            <a:bodyPr/>
            <a:lstStyle/>
            <a:p>
              <a:endParaRPr lang="de-DE"/>
            </a:p>
          </p:txBody>
        </p:sp>
        <p:sp>
          <p:nvSpPr>
            <p:cNvPr id="10" name="Freeform 47"/>
            <p:cNvSpPr>
              <a:spLocks/>
            </p:cNvSpPr>
            <p:nvPr/>
          </p:nvSpPr>
          <p:spPr bwMode="auto">
            <a:xfrm>
              <a:off x="5454650" y="2333625"/>
              <a:ext cx="968375" cy="1651000"/>
            </a:xfrm>
            <a:custGeom>
              <a:avLst/>
              <a:gdLst>
                <a:gd name="T0" fmla="*/ 2147483647 w 61"/>
                <a:gd name="T1" fmla="*/ 0 h 104"/>
                <a:gd name="T2" fmla="*/ 0 w 61"/>
                <a:gd name="T3" fmla="*/ 2147483647 h 104"/>
                <a:gd name="T4" fmla="*/ 2147483647 w 61"/>
                <a:gd name="T5" fmla="*/ 2147483647 h 104"/>
                <a:gd name="T6" fmla="*/ 2147483647 w 61"/>
                <a:gd name="T7" fmla="*/ 0 h 104"/>
                <a:gd name="T8" fmla="*/ 0 60000 65536"/>
                <a:gd name="T9" fmla="*/ 0 60000 65536"/>
                <a:gd name="T10" fmla="*/ 0 60000 65536"/>
                <a:gd name="T11" fmla="*/ 0 60000 65536"/>
                <a:gd name="T12" fmla="*/ 0 w 61"/>
                <a:gd name="T13" fmla="*/ 0 h 104"/>
                <a:gd name="T14" fmla="*/ 61 w 61"/>
                <a:gd name="T15" fmla="*/ 104 h 104"/>
              </a:gdLst>
              <a:ahLst/>
              <a:cxnLst>
                <a:cxn ang="T8">
                  <a:pos x="T0" y="T1"/>
                </a:cxn>
                <a:cxn ang="T9">
                  <a:pos x="T2" y="T3"/>
                </a:cxn>
                <a:cxn ang="T10">
                  <a:pos x="T4" y="T5"/>
                </a:cxn>
                <a:cxn ang="T11">
                  <a:pos x="T6" y="T7"/>
                </a:cxn>
              </a:cxnLst>
              <a:rect l="T12" t="T13" r="T14" b="T15"/>
              <a:pathLst>
                <a:path w="61" h="104">
                  <a:moveTo>
                    <a:pt x="61" y="0"/>
                  </a:moveTo>
                  <a:cubicBezTo>
                    <a:pt x="39" y="0"/>
                    <a:pt x="17" y="7"/>
                    <a:pt x="0" y="20"/>
                  </a:cubicBezTo>
                  <a:lnTo>
                    <a:pt x="61" y="104"/>
                  </a:lnTo>
                  <a:lnTo>
                    <a:pt x="61" y="0"/>
                  </a:lnTo>
                  <a:close/>
                </a:path>
              </a:pathLst>
            </a:custGeom>
            <a:solidFill>
              <a:schemeClr val="accent1"/>
            </a:solidFill>
            <a:ln w="15875">
              <a:solidFill>
                <a:srgbClr val="000000"/>
              </a:solidFill>
              <a:prstDash val="solid"/>
              <a:round/>
              <a:headEnd/>
              <a:tailEnd/>
            </a:ln>
          </p:spPr>
          <p:txBody>
            <a:bodyPr/>
            <a:lstStyle/>
            <a:p>
              <a:endParaRPr lang="de-DE"/>
            </a:p>
          </p:txBody>
        </p:sp>
        <p:sp>
          <p:nvSpPr>
            <p:cNvPr id="11" name="Oval 4"/>
            <p:cNvSpPr>
              <a:spLocks noChangeArrowheads="1"/>
            </p:cNvSpPr>
            <p:nvPr/>
          </p:nvSpPr>
          <p:spPr bwMode="auto">
            <a:xfrm>
              <a:off x="539750" y="2708275"/>
              <a:ext cx="2601913" cy="2592388"/>
            </a:xfrm>
            <a:prstGeom prst="ellipse">
              <a:avLst/>
            </a:prstGeom>
            <a:solidFill>
              <a:srgbClr val="DBB40D"/>
            </a:solidFill>
            <a:ln w="12700">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A020 – IT</a:t>
              </a:r>
            </a:p>
            <a:p>
              <a:pPr algn="ctr">
                <a:spcBef>
                  <a:spcPct val="0"/>
                </a:spcBef>
                <a:buClrTx/>
                <a:buFontTx/>
                <a:buNone/>
              </a:pPr>
              <a:r>
                <a:rPr lang="en-US" altLang="de-DE" sz="1800" b="0">
                  <a:solidFill>
                    <a:srgbClr val="000000"/>
                  </a:solidFill>
                </a:rPr>
                <a:t>Software Expense</a:t>
              </a:r>
            </a:p>
            <a:p>
              <a:pPr algn="ctr">
                <a:spcBef>
                  <a:spcPct val="0"/>
                </a:spcBef>
                <a:buClrTx/>
                <a:buFontTx/>
                <a:buNone/>
              </a:pPr>
              <a:r>
                <a:rPr lang="en-US" altLang="de-DE" sz="1800" b="0">
                  <a:solidFill>
                    <a:srgbClr val="000000"/>
                  </a:solidFill>
                </a:rPr>
                <a:t>$4,200</a:t>
              </a:r>
            </a:p>
            <a:p>
              <a:pPr algn="ctr">
                <a:spcBef>
                  <a:spcPct val="0"/>
                </a:spcBef>
                <a:buClrTx/>
                <a:buFontTx/>
                <a:buNone/>
              </a:pPr>
              <a:endParaRPr lang="en-US" altLang="de-DE" sz="1800" b="0">
                <a:solidFill>
                  <a:srgbClr val="000000"/>
                </a:solidFill>
              </a:endParaRPr>
            </a:p>
            <a:p>
              <a:pPr algn="ctr">
                <a:spcBef>
                  <a:spcPct val="0"/>
                </a:spcBef>
                <a:buClrTx/>
                <a:buFontTx/>
                <a:buNone/>
              </a:pPr>
              <a:r>
                <a:rPr lang="en-US" altLang="de-DE" sz="1800" b="0">
                  <a:solidFill>
                    <a:srgbClr val="000000"/>
                  </a:solidFill>
                </a:rPr>
                <a:t>A020 – IT</a:t>
              </a:r>
            </a:p>
            <a:p>
              <a:pPr algn="ctr">
                <a:spcBef>
                  <a:spcPct val="0"/>
                </a:spcBef>
                <a:buClrTx/>
                <a:buFontTx/>
                <a:buNone/>
              </a:pPr>
              <a:r>
                <a:rPr lang="en-US" altLang="de-DE" sz="1800" b="0">
                  <a:solidFill>
                    <a:srgbClr val="000000"/>
                  </a:solidFill>
                </a:rPr>
                <a:t>Supplies Expense</a:t>
              </a:r>
            </a:p>
            <a:p>
              <a:pPr algn="ctr">
                <a:spcBef>
                  <a:spcPct val="0"/>
                </a:spcBef>
                <a:buClrTx/>
                <a:buFontTx/>
                <a:buNone/>
              </a:pPr>
              <a:r>
                <a:rPr lang="en-US" altLang="de-DE" sz="1800" b="0">
                  <a:solidFill>
                    <a:srgbClr val="000000"/>
                  </a:solidFill>
                </a:rPr>
                <a:t>$500</a:t>
              </a:r>
            </a:p>
          </p:txBody>
        </p:sp>
        <p:sp>
          <p:nvSpPr>
            <p:cNvPr id="12" name="AutoShape 5"/>
            <p:cNvSpPr>
              <a:spLocks noChangeArrowheads="1"/>
            </p:cNvSpPr>
            <p:nvPr/>
          </p:nvSpPr>
          <p:spPr bwMode="auto">
            <a:xfrm>
              <a:off x="3289300" y="3495675"/>
              <a:ext cx="1371600" cy="1066800"/>
            </a:xfrm>
            <a:prstGeom prst="rightArrow">
              <a:avLst>
                <a:gd name="adj1" fmla="val 50000"/>
                <a:gd name="adj2" fmla="val 32143"/>
              </a:avLst>
            </a:prstGeom>
            <a:solidFill>
              <a:srgbClr val="DBB40D"/>
            </a:solidFill>
            <a:ln w="12700">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Assessment</a:t>
              </a:r>
            </a:p>
          </p:txBody>
        </p:sp>
        <p:sp>
          <p:nvSpPr>
            <p:cNvPr id="13" name="Rectangle 4"/>
            <p:cNvSpPr>
              <a:spLocks noChangeArrowheads="1"/>
            </p:cNvSpPr>
            <p:nvPr/>
          </p:nvSpPr>
          <p:spPr bwMode="auto">
            <a:xfrm>
              <a:off x="755650" y="1412875"/>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Sending cost center</a:t>
              </a:r>
            </a:p>
          </p:txBody>
        </p:sp>
        <p:sp>
          <p:nvSpPr>
            <p:cNvPr id="14" name="Rectangle 5"/>
            <p:cNvSpPr>
              <a:spLocks noChangeArrowheads="1"/>
            </p:cNvSpPr>
            <p:nvPr/>
          </p:nvSpPr>
          <p:spPr bwMode="auto">
            <a:xfrm>
              <a:off x="2771775" y="1989138"/>
              <a:ext cx="23764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Primary and secondary cost elements</a:t>
              </a:r>
            </a:p>
          </p:txBody>
        </p:sp>
        <p:sp>
          <p:nvSpPr>
            <p:cNvPr id="15" name="Rectangle 6"/>
            <p:cNvSpPr>
              <a:spLocks noChangeArrowheads="1"/>
            </p:cNvSpPr>
            <p:nvPr/>
          </p:nvSpPr>
          <p:spPr bwMode="auto">
            <a:xfrm>
              <a:off x="5219700" y="1412875"/>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Receiving cost centers</a:t>
              </a:r>
            </a:p>
          </p:txBody>
        </p:sp>
        <p:sp>
          <p:nvSpPr>
            <p:cNvPr id="16" name="Rectangle 25"/>
            <p:cNvSpPr>
              <a:spLocks noChangeArrowheads="1"/>
            </p:cNvSpPr>
            <p:nvPr/>
          </p:nvSpPr>
          <p:spPr bwMode="auto">
            <a:xfrm>
              <a:off x="7651750" y="4302125"/>
              <a:ext cx="1054100" cy="384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17" name="Rectangle 26"/>
            <p:cNvSpPr>
              <a:spLocks noChangeArrowheads="1"/>
            </p:cNvSpPr>
            <p:nvPr/>
          </p:nvSpPr>
          <p:spPr bwMode="auto">
            <a:xfrm>
              <a:off x="7683500" y="4351338"/>
              <a:ext cx="10048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A020 – 0%</a:t>
              </a:r>
              <a:endParaRPr lang="de-DE" altLang="de-DE"/>
            </a:p>
          </p:txBody>
        </p:sp>
        <p:sp>
          <p:nvSpPr>
            <p:cNvPr id="18" name="Rectangle 27"/>
            <p:cNvSpPr>
              <a:spLocks noChangeArrowheads="1"/>
            </p:cNvSpPr>
            <p:nvPr/>
          </p:nvSpPr>
          <p:spPr bwMode="auto">
            <a:xfrm>
              <a:off x="6643688" y="2671763"/>
              <a:ext cx="1168400" cy="384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19" name="Rectangle 28"/>
            <p:cNvSpPr>
              <a:spLocks noChangeArrowheads="1"/>
            </p:cNvSpPr>
            <p:nvPr/>
          </p:nvSpPr>
          <p:spPr bwMode="auto">
            <a:xfrm>
              <a:off x="6677025" y="2719388"/>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A005 – 15%</a:t>
              </a:r>
              <a:endParaRPr lang="de-DE" altLang="de-DE"/>
            </a:p>
          </p:txBody>
        </p:sp>
        <p:sp>
          <p:nvSpPr>
            <p:cNvPr id="20" name="Rectangle 29"/>
            <p:cNvSpPr>
              <a:spLocks noChangeArrowheads="1"/>
            </p:cNvSpPr>
            <p:nvPr/>
          </p:nvSpPr>
          <p:spPr bwMode="auto">
            <a:xfrm>
              <a:off x="7364413" y="3182938"/>
              <a:ext cx="1054100" cy="384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1" name="Rectangle 30"/>
            <p:cNvSpPr>
              <a:spLocks noChangeArrowheads="1"/>
            </p:cNvSpPr>
            <p:nvPr/>
          </p:nvSpPr>
          <p:spPr bwMode="auto">
            <a:xfrm>
              <a:off x="7396163" y="3232150"/>
              <a:ext cx="10048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A010 – 5%</a:t>
              </a:r>
              <a:endParaRPr lang="de-DE" altLang="de-DE"/>
            </a:p>
          </p:txBody>
        </p:sp>
        <p:sp>
          <p:nvSpPr>
            <p:cNvPr id="22" name="Rectangle 31"/>
            <p:cNvSpPr>
              <a:spLocks noChangeArrowheads="1"/>
            </p:cNvSpPr>
            <p:nvPr/>
          </p:nvSpPr>
          <p:spPr bwMode="auto">
            <a:xfrm>
              <a:off x="7396163" y="3790950"/>
              <a:ext cx="1166812" cy="384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3" name="Rectangle 32"/>
            <p:cNvSpPr>
              <a:spLocks noChangeArrowheads="1"/>
            </p:cNvSpPr>
            <p:nvPr/>
          </p:nvSpPr>
          <p:spPr bwMode="auto">
            <a:xfrm>
              <a:off x="7427913" y="3838575"/>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A015 – 10%</a:t>
              </a:r>
              <a:endParaRPr lang="de-DE" altLang="de-DE"/>
            </a:p>
          </p:txBody>
        </p:sp>
        <p:sp>
          <p:nvSpPr>
            <p:cNvPr id="24" name="Rectangle 33"/>
            <p:cNvSpPr>
              <a:spLocks noChangeArrowheads="1"/>
            </p:cNvSpPr>
            <p:nvPr/>
          </p:nvSpPr>
          <p:spPr bwMode="auto">
            <a:xfrm>
              <a:off x="6548438" y="4654550"/>
              <a:ext cx="1166812" cy="384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5" name="Rectangle 34"/>
            <p:cNvSpPr>
              <a:spLocks noChangeArrowheads="1"/>
            </p:cNvSpPr>
            <p:nvPr/>
          </p:nvSpPr>
          <p:spPr bwMode="auto">
            <a:xfrm>
              <a:off x="6580188" y="4702175"/>
              <a:ext cx="11064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S005 – 30%</a:t>
              </a:r>
              <a:endParaRPr lang="de-DE" altLang="de-DE"/>
            </a:p>
          </p:txBody>
        </p:sp>
        <p:sp>
          <p:nvSpPr>
            <p:cNvPr id="26" name="Rectangle 35"/>
            <p:cNvSpPr>
              <a:spLocks noChangeArrowheads="1"/>
            </p:cNvSpPr>
            <p:nvPr/>
          </p:nvSpPr>
          <p:spPr bwMode="auto">
            <a:xfrm>
              <a:off x="4918075" y="4559300"/>
              <a:ext cx="1166813" cy="38258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7" name="Rectangle 36"/>
            <p:cNvSpPr>
              <a:spLocks noChangeArrowheads="1"/>
            </p:cNvSpPr>
            <p:nvPr/>
          </p:nvSpPr>
          <p:spPr bwMode="auto">
            <a:xfrm>
              <a:off x="4949825" y="4606925"/>
              <a:ext cx="11064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S010 – 10%</a:t>
              </a:r>
              <a:endParaRPr lang="de-DE" altLang="de-DE"/>
            </a:p>
          </p:txBody>
        </p:sp>
        <p:sp>
          <p:nvSpPr>
            <p:cNvPr id="28" name="Rectangle 37"/>
            <p:cNvSpPr>
              <a:spLocks noChangeArrowheads="1"/>
            </p:cNvSpPr>
            <p:nvPr/>
          </p:nvSpPr>
          <p:spPr bwMode="auto">
            <a:xfrm>
              <a:off x="4886325" y="3471863"/>
              <a:ext cx="1166813" cy="382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9" name="Rectangle 38"/>
            <p:cNvSpPr>
              <a:spLocks noChangeArrowheads="1"/>
            </p:cNvSpPr>
            <p:nvPr/>
          </p:nvSpPr>
          <p:spPr bwMode="auto">
            <a:xfrm>
              <a:off x="4918075" y="3519488"/>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D005 – 20%</a:t>
              </a:r>
              <a:endParaRPr lang="de-DE" altLang="de-DE"/>
            </a:p>
          </p:txBody>
        </p:sp>
        <p:sp>
          <p:nvSpPr>
            <p:cNvPr id="30" name="Rectangle 39"/>
            <p:cNvSpPr>
              <a:spLocks noChangeArrowheads="1"/>
            </p:cNvSpPr>
            <p:nvPr/>
          </p:nvSpPr>
          <p:spPr bwMode="auto">
            <a:xfrm>
              <a:off x="5492750" y="2511425"/>
              <a:ext cx="1168400" cy="384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1" name="Rectangle 40"/>
            <p:cNvSpPr>
              <a:spLocks noChangeArrowheads="1"/>
            </p:cNvSpPr>
            <p:nvPr/>
          </p:nvSpPr>
          <p:spPr bwMode="auto">
            <a:xfrm>
              <a:off x="5526088" y="2560638"/>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D010 – 10%</a:t>
              </a:r>
              <a:endParaRPr lang="de-DE" altLang="de-DE"/>
            </a:p>
          </p:txBody>
        </p:sp>
      </p:grpSp>
    </p:spTree>
    <p:extLst>
      <p:ext uri="{BB962C8B-B14F-4D97-AF65-F5344CB8AC3E}">
        <p14:creationId xmlns:p14="http://schemas.microsoft.com/office/powerpoint/2010/main" val="3750426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a:latin typeface="Arial" panose="020B0604020202020204" pitchFamily="34" charset="0"/>
              </a:rPr>
              <a:t>Assessment</a:t>
            </a:r>
            <a:endParaRPr lang="de-DE"/>
          </a:p>
        </p:txBody>
      </p:sp>
      <p:grpSp>
        <p:nvGrpSpPr>
          <p:cNvPr id="32" name="Gruppieren 31"/>
          <p:cNvGrpSpPr/>
          <p:nvPr/>
        </p:nvGrpSpPr>
        <p:grpSpPr>
          <a:xfrm>
            <a:off x="2083400" y="1677570"/>
            <a:ext cx="8026400" cy="4316413"/>
            <a:chOff x="539750" y="1412875"/>
            <a:chExt cx="8026400" cy="4316413"/>
          </a:xfrm>
        </p:grpSpPr>
        <p:sp>
          <p:nvSpPr>
            <p:cNvPr id="4" name="Oval 4"/>
            <p:cNvSpPr>
              <a:spLocks noChangeArrowheads="1"/>
            </p:cNvSpPr>
            <p:nvPr/>
          </p:nvSpPr>
          <p:spPr bwMode="auto">
            <a:xfrm>
              <a:off x="539750" y="2708275"/>
              <a:ext cx="2601913" cy="2592388"/>
            </a:xfrm>
            <a:prstGeom prst="ellipse">
              <a:avLst/>
            </a:prstGeom>
            <a:solidFill>
              <a:srgbClr val="DBB40D"/>
            </a:solidFill>
            <a:ln w="12700">
              <a:solidFill>
                <a:schemeClr val="tx1"/>
              </a:solidFill>
              <a:round/>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A020 – IT</a:t>
              </a:r>
            </a:p>
            <a:p>
              <a:pPr algn="ctr">
                <a:spcBef>
                  <a:spcPct val="0"/>
                </a:spcBef>
                <a:buClrTx/>
                <a:buFontTx/>
                <a:buNone/>
              </a:pPr>
              <a:r>
                <a:rPr lang="en-US" altLang="de-DE" sz="1800" b="0">
                  <a:solidFill>
                    <a:srgbClr val="000000"/>
                  </a:solidFill>
                </a:rPr>
                <a:t>Software Expense</a:t>
              </a:r>
            </a:p>
            <a:p>
              <a:pPr algn="ctr">
                <a:spcBef>
                  <a:spcPct val="0"/>
                </a:spcBef>
                <a:buClrTx/>
                <a:buFontTx/>
                <a:buNone/>
              </a:pPr>
              <a:r>
                <a:rPr lang="en-US" altLang="de-DE" sz="1800" b="0">
                  <a:solidFill>
                    <a:srgbClr val="000000"/>
                  </a:solidFill>
                </a:rPr>
                <a:t>$4,200</a:t>
              </a:r>
            </a:p>
            <a:p>
              <a:pPr algn="ctr">
                <a:spcBef>
                  <a:spcPct val="0"/>
                </a:spcBef>
                <a:buClrTx/>
                <a:buFontTx/>
                <a:buNone/>
              </a:pPr>
              <a:endParaRPr lang="en-US" altLang="de-DE" sz="1800" b="0">
                <a:solidFill>
                  <a:srgbClr val="000000"/>
                </a:solidFill>
              </a:endParaRPr>
            </a:p>
            <a:p>
              <a:pPr algn="ctr">
                <a:spcBef>
                  <a:spcPct val="0"/>
                </a:spcBef>
                <a:buClrTx/>
                <a:buFontTx/>
                <a:buNone/>
              </a:pPr>
              <a:r>
                <a:rPr lang="en-US" altLang="de-DE" sz="1800" b="0">
                  <a:solidFill>
                    <a:srgbClr val="000000"/>
                  </a:solidFill>
                </a:rPr>
                <a:t>A020 – IT</a:t>
              </a:r>
            </a:p>
            <a:p>
              <a:pPr algn="ctr">
                <a:spcBef>
                  <a:spcPct val="0"/>
                </a:spcBef>
                <a:buClrTx/>
                <a:buFontTx/>
                <a:buNone/>
              </a:pPr>
              <a:r>
                <a:rPr lang="en-US" altLang="de-DE" sz="1800" b="0">
                  <a:solidFill>
                    <a:srgbClr val="000000"/>
                  </a:solidFill>
                </a:rPr>
                <a:t>Supplies Expense</a:t>
              </a:r>
            </a:p>
            <a:p>
              <a:pPr algn="ctr">
                <a:spcBef>
                  <a:spcPct val="0"/>
                </a:spcBef>
                <a:buClrTx/>
                <a:buFontTx/>
                <a:buNone/>
              </a:pPr>
              <a:r>
                <a:rPr lang="en-US" altLang="de-DE" sz="1800" b="0">
                  <a:solidFill>
                    <a:srgbClr val="000000"/>
                  </a:solidFill>
                </a:rPr>
                <a:t>$500</a:t>
              </a:r>
            </a:p>
          </p:txBody>
        </p:sp>
        <p:sp>
          <p:nvSpPr>
            <p:cNvPr id="5" name="AutoShape 5"/>
            <p:cNvSpPr>
              <a:spLocks noChangeArrowheads="1"/>
            </p:cNvSpPr>
            <p:nvPr/>
          </p:nvSpPr>
          <p:spPr bwMode="auto">
            <a:xfrm>
              <a:off x="3289300" y="3495675"/>
              <a:ext cx="1371600" cy="1066800"/>
            </a:xfrm>
            <a:prstGeom prst="rightArrow">
              <a:avLst>
                <a:gd name="adj1" fmla="val 50000"/>
                <a:gd name="adj2" fmla="val 32143"/>
              </a:avLst>
            </a:prstGeom>
            <a:solidFill>
              <a:srgbClr val="DBB40D"/>
            </a:solidFill>
            <a:ln w="12700">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Assessment</a:t>
              </a:r>
            </a:p>
          </p:txBody>
        </p:sp>
        <p:sp>
          <p:nvSpPr>
            <p:cNvPr id="6" name="Rectangle 4"/>
            <p:cNvSpPr>
              <a:spLocks noChangeArrowheads="1"/>
            </p:cNvSpPr>
            <p:nvPr/>
          </p:nvSpPr>
          <p:spPr bwMode="auto">
            <a:xfrm>
              <a:off x="755650" y="1412875"/>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Sending cost center</a:t>
              </a:r>
            </a:p>
          </p:txBody>
        </p:sp>
        <p:sp>
          <p:nvSpPr>
            <p:cNvPr id="7" name="Rectangle 5"/>
            <p:cNvSpPr>
              <a:spLocks noChangeArrowheads="1"/>
            </p:cNvSpPr>
            <p:nvPr/>
          </p:nvSpPr>
          <p:spPr bwMode="auto">
            <a:xfrm>
              <a:off x="2771775" y="1989138"/>
              <a:ext cx="2376488"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lgn="ctr">
                <a:spcBef>
                  <a:spcPct val="0"/>
                </a:spcBef>
                <a:buClrTx/>
                <a:buFontTx/>
                <a:buNone/>
              </a:pPr>
              <a:r>
                <a:rPr lang="en-US" altLang="de-DE" sz="1800" b="0">
                  <a:solidFill>
                    <a:srgbClr val="000000"/>
                  </a:solidFill>
                </a:rPr>
                <a:t>Primary and secondary cost elements</a:t>
              </a:r>
            </a:p>
          </p:txBody>
        </p:sp>
        <p:sp>
          <p:nvSpPr>
            <p:cNvPr id="8" name="Rectangle 6"/>
            <p:cNvSpPr>
              <a:spLocks noChangeArrowheads="1"/>
            </p:cNvSpPr>
            <p:nvPr/>
          </p:nvSpPr>
          <p:spPr bwMode="auto">
            <a:xfrm>
              <a:off x="5219700" y="1412875"/>
              <a:ext cx="2736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a:spcBef>
                  <a:spcPct val="0"/>
                </a:spcBef>
                <a:buClrTx/>
                <a:buFontTx/>
                <a:buNone/>
              </a:pPr>
              <a:r>
                <a:rPr lang="en-US" altLang="de-DE" sz="1800" b="0">
                  <a:solidFill>
                    <a:srgbClr val="000000"/>
                  </a:solidFill>
                </a:rPr>
                <a:t>Receiving cost centers</a:t>
              </a:r>
            </a:p>
          </p:txBody>
        </p:sp>
        <p:sp>
          <p:nvSpPr>
            <p:cNvPr id="9" name="Freeform 19"/>
            <p:cNvSpPr>
              <a:spLocks/>
            </p:cNvSpPr>
            <p:nvPr/>
          </p:nvSpPr>
          <p:spPr bwMode="auto">
            <a:xfrm>
              <a:off x="6454775" y="2317750"/>
              <a:ext cx="1333500" cy="1666875"/>
            </a:xfrm>
            <a:custGeom>
              <a:avLst/>
              <a:gdLst>
                <a:gd name="T0" fmla="*/ 2147483647 w 84"/>
                <a:gd name="T1" fmla="*/ 2147483647 h 105"/>
                <a:gd name="T2" fmla="*/ 0 w 84"/>
                <a:gd name="T3" fmla="*/ 2147483647 h 105"/>
                <a:gd name="T4" fmla="*/ 0 w 84"/>
                <a:gd name="T5" fmla="*/ 2147483647 h 105"/>
                <a:gd name="T6" fmla="*/ 0 w 84"/>
                <a:gd name="T7" fmla="*/ 2147483647 h 105"/>
                <a:gd name="T8" fmla="*/ 2147483647 w 84"/>
                <a:gd name="T9" fmla="*/ 2147483647 h 105"/>
                <a:gd name="T10" fmla="*/ 0 60000 65536"/>
                <a:gd name="T11" fmla="*/ 0 60000 65536"/>
                <a:gd name="T12" fmla="*/ 0 60000 65536"/>
                <a:gd name="T13" fmla="*/ 0 60000 65536"/>
                <a:gd name="T14" fmla="*/ 0 60000 65536"/>
                <a:gd name="T15" fmla="*/ 0 w 84"/>
                <a:gd name="T16" fmla="*/ 0 h 105"/>
                <a:gd name="T17" fmla="*/ 84 w 84"/>
                <a:gd name="T18" fmla="*/ 105 h 105"/>
              </a:gdLst>
              <a:ahLst/>
              <a:cxnLst>
                <a:cxn ang="T10">
                  <a:pos x="T0" y="T1"/>
                </a:cxn>
                <a:cxn ang="T11">
                  <a:pos x="T2" y="T3"/>
                </a:cxn>
                <a:cxn ang="T12">
                  <a:pos x="T4" y="T5"/>
                </a:cxn>
                <a:cxn ang="T13">
                  <a:pos x="T6" y="T7"/>
                </a:cxn>
                <a:cxn ang="T14">
                  <a:pos x="T8" y="T9"/>
                </a:cxn>
              </a:cxnLst>
              <a:rect l="T15" t="T16" r="T17" b="T18"/>
              <a:pathLst>
                <a:path w="84" h="105">
                  <a:moveTo>
                    <a:pt x="84" y="43"/>
                  </a:moveTo>
                  <a:cubicBezTo>
                    <a:pt x="64" y="16"/>
                    <a:pt x="33" y="1"/>
                    <a:pt x="0" y="1"/>
                  </a:cubicBezTo>
                  <a:cubicBezTo>
                    <a:pt x="0" y="0"/>
                    <a:pt x="0" y="1"/>
                    <a:pt x="0" y="1"/>
                  </a:cubicBezTo>
                  <a:lnTo>
                    <a:pt x="0" y="105"/>
                  </a:lnTo>
                  <a:lnTo>
                    <a:pt x="84" y="43"/>
                  </a:lnTo>
                  <a:close/>
                </a:path>
              </a:pathLst>
            </a:custGeom>
            <a:solidFill>
              <a:schemeClr val="accent2"/>
            </a:solidFill>
            <a:ln w="15875">
              <a:solidFill>
                <a:srgbClr val="000000"/>
              </a:solidFill>
              <a:prstDash val="solid"/>
              <a:round/>
              <a:headEnd/>
              <a:tailEnd/>
            </a:ln>
          </p:spPr>
          <p:txBody>
            <a:bodyPr/>
            <a:lstStyle/>
            <a:p>
              <a:endParaRPr lang="de-DE"/>
            </a:p>
          </p:txBody>
        </p:sp>
        <p:sp>
          <p:nvSpPr>
            <p:cNvPr id="10" name="Freeform 20"/>
            <p:cNvSpPr>
              <a:spLocks/>
            </p:cNvSpPr>
            <p:nvPr/>
          </p:nvSpPr>
          <p:spPr bwMode="auto">
            <a:xfrm>
              <a:off x="6486525" y="3032125"/>
              <a:ext cx="1571625" cy="982663"/>
            </a:xfrm>
            <a:custGeom>
              <a:avLst/>
              <a:gdLst>
                <a:gd name="T0" fmla="*/ 2147483647 w 99"/>
                <a:gd name="T1" fmla="*/ 2147483647 h 62"/>
                <a:gd name="T2" fmla="*/ 2147483647 w 99"/>
                <a:gd name="T3" fmla="*/ 0 h 62"/>
                <a:gd name="T4" fmla="*/ 0 w 99"/>
                <a:gd name="T5" fmla="*/ 2147483647 h 62"/>
                <a:gd name="T6" fmla="*/ 2147483647 w 99"/>
                <a:gd name="T7" fmla="*/ 2147483647 h 62"/>
                <a:gd name="T8" fmla="*/ 0 60000 65536"/>
                <a:gd name="T9" fmla="*/ 0 60000 65536"/>
                <a:gd name="T10" fmla="*/ 0 60000 65536"/>
                <a:gd name="T11" fmla="*/ 0 60000 65536"/>
                <a:gd name="T12" fmla="*/ 0 w 99"/>
                <a:gd name="T13" fmla="*/ 0 h 62"/>
                <a:gd name="T14" fmla="*/ 99 w 99"/>
                <a:gd name="T15" fmla="*/ 62 h 62"/>
              </a:gdLst>
              <a:ahLst/>
              <a:cxnLst>
                <a:cxn ang="T8">
                  <a:pos x="T0" y="T1"/>
                </a:cxn>
                <a:cxn ang="T9">
                  <a:pos x="T2" y="T3"/>
                </a:cxn>
                <a:cxn ang="T10">
                  <a:pos x="T4" y="T5"/>
                </a:cxn>
                <a:cxn ang="T11">
                  <a:pos x="T6" y="T7"/>
                </a:cxn>
              </a:cxnLst>
              <a:rect l="T12" t="T13" r="T14" b="T15"/>
              <a:pathLst>
                <a:path w="99" h="62">
                  <a:moveTo>
                    <a:pt x="99" y="29"/>
                  </a:moveTo>
                  <a:cubicBezTo>
                    <a:pt x="96" y="19"/>
                    <a:pt x="91" y="9"/>
                    <a:pt x="84" y="0"/>
                  </a:cubicBezTo>
                  <a:lnTo>
                    <a:pt x="0" y="62"/>
                  </a:lnTo>
                  <a:lnTo>
                    <a:pt x="99" y="29"/>
                  </a:lnTo>
                  <a:close/>
                </a:path>
              </a:pathLst>
            </a:custGeom>
            <a:solidFill>
              <a:srgbClr val="FCEB6A"/>
            </a:solidFill>
            <a:ln w="15875">
              <a:solidFill>
                <a:srgbClr val="000000"/>
              </a:solidFill>
              <a:prstDash val="solid"/>
              <a:round/>
              <a:headEnd/>
              <a:tailEnd/>
            </a:ln>
          </p:spPr>
          <p:txBody>
            <a:bodyPr/>
            <a:lstStyle/>
            <a:p>
              <a:endParaRPr lang="de-DE"/>
            </a:p>
          </p:txBody>
        </p:sp>
        <p:sp>
          <p:nvSpPr>
            <p:cNvPr id="11" name="Freeform 21"/>
            <p:cNvSpPr>
              <a:spLocks/>
            </p:cNvSpPr>
            <p:nvPr/>
          </p:nvSpPr>
          <p:spPr bwMode="auto">
            <a:xfrm>
              <a:off x="6486525" y="3532188"/>
              <a:ext cx="1666875" cy="1030287"/>
            </a:xfrm>
            <a:custGeom>
              <a:avLst/>
              <a:gdLst>
                <a:gd name="T0" fmla="*/ 2147483647 w 105"/>
                <a:gd name="T1" fmla="*/ 2147483647 h 65"/>
                <a:gd name="T2" fmla="*/ 2147483647 w 105"/>
                <a:gd name="T3" fmla="*/ 2147483647 h 65"/>
                <a:gd name="T4" fmla="*/ 2147483647 w 105"/>
                <a:gd name="T5" fmla="*/ 0 h 65"/>
                <a:gd name="T6" fmla="*/ 0 w 105"/>
                <a:gd name="T7" fmla="*/ 2147483647 h 65"/>
                <a:gd name="T8" fmla="*/ 2147483647 w 105"/>
                <a:gd name="T9" fmla="*/ 2147483647 h 65"/>
                <a:gd name="T10" fmla="*/ 0 60000 65536"/>
                <a:gd name="T11" fmla="*/ 0 60000 65536"/>
                <a:gd name="T12" fmla="*/ 0 60000 65536"/>
                <a:gd name="T13" fmla="*/ 0 60000 65536"/>
                <a:gd name="T14" fmla="*/ 0 60000 65536"/>
                <a:gd name="T15" fmla="*/ 0 w 105"/>
                <a:gd name="T16" fmla="*/ 0 h 65"/>
                <a:gd name="T17" fmla="*/ 105 w 105"/>
                <a:gd name="T18" fmla="*/ 65 h 65"/>
              </a:gdLst>
              <a:ahLst/>
              <a:cxnLst>
                <a:cxn ang="T10">
                  <a:pos x="T0" y="T1"/>
                </a:cxn>
                <a:cxn ang="T11">
                  <a:pos x="T2" y="T3"/>
                </a:cxn>
                <a:cxn ang="T12">
                  <a:pos x="T4" y="T5"/>
                </a:cxn>
                <a:cxn ang="T13">
                  <a:pos x="T6" y="T7"/>
                </a:cxn>
                <a:cxn ang="T14">
                  <a:pos x="T8" y="T9"/>
                </a:cxn>
              </a:cxnLst>
              <a:rect l="T15" t="T16" r="T17" b="T18"/>
              <a:pathLst>
                <a:path w="105" h="65">
                  <a:moveTo>
                    <a:pt x="100" y="65"/>
                  </a:moveTo>
                  <a:cubicBezTo>
                    <a:pt x="103" y="55"/>
                    <a:pt x="105" y="44"/>
                    <a:pt x="105" y="33"/>
                  </a:cubicBezTo>
                  <a:cubicBezTo>
                    <a:pt x="105" y="22"/>
                    <a:pt x="103" y="11"/>
                    <a:pt x="99" y="0"/>
                  </a:cubicBezTo>
                  <a:lnTo>
                    <a:pt x="0" y="33"/>
                  </a:lnTo>
                  <a:lnTo>
                    <a:pt x="100" y="65"/>
                  </a:lnTo>
                  <a:close/>
                </a:path>
              </a:pathLst>
            </a:custGeom>
            <a:solidFill>
              <a:srgbClr val="DBB40D"/>
            </a:solidFill>
            <a:ln w="15875">
              <a:solidFill>
                <a:srgbClr val="000000"/>
              </a:solidFill>
              <a:prstDash val="solid"/>
              <a:round/>
              <a:headEnd/>
              <a:tailEnd/>
            </a:ln>
          </p:spPr>
          <p:txBody>
            <a:bodyPr/>
            <a:lstStyle/>
            <a:p>
              <a:endParaRPr lang="de-DE"/>
            </a:p>
          </p:txBody>
        </p:sp>
        <p:sp>
          <p:nvSpPr>
            <p:cNvPr id="12" name="Freeform 23"/>
            <p:cNvSpPr>
              <a:spLocks/>
            </p:cNvSpPr>
            <p:nvPr/>
          </p:nvSpPr>
          <p:spPr bwMode="auto">
            <a:xfrm>
              <a:off x="5470525" y="4078288"/>
              <a:ext cx="2571750" cy="1651000"/>
            </a:xfrm>
            <a:custGeom>
              <a:avLst/>
              <a:gdLst>
                <a:gd name="T0" fmla="*/ 0 w 162"/>
                <a:gd name="T1" fmla="*/ 2147483647 h 104"/>
                <a:gd name="T2" fmla="*/ 2147483647 w 162"/>
                <a:gd name="T3" fmla="*/ 2147483647 h 104"/>
                <a:gd name="T4" fmla="*/ 2147483647 w 162"/>
                <a:gd name="T5" fmla="*/ 2147483647 h 104"/>
                <a:gd name="T6" fmla="*/ 2147483647 w 162"/>
                <a:gd name="T7" fmla="*/ 0 h 104"/>
                <a:gd name="T8" fmla="*/ 0 w 162"/>
                <a:gd name="T9" fmla="*/ 2147483647 h 104"/>
                <a:gd name="T10" fmla="*/ 0 60000 65536"/>
                <a:gd name="T11" fmla="*/ 0 60000 65536"/>
                <a:gd name="T12" fmla="*/ 0 60000 65536"/>
                <a:gd name="T13" fmla="*/ 0 60000 65536"/>
                <a:gd name="T14" fmla="*/ 0 60000 65536"/>
                <a:gd name="T15" fmla="*/ 0 w 162"/>
                <a:gd name="T16" fmla="*/ 0 h 104"/>
                <a:gd name="T17" fmla="*/ 162 w 162"/>
                <a:gd name="T18" fmla="*/ 104 h 104"/>
              </a:gdLst>
              <a:ahLst/>
              <a:cxnLst>
                <a:cxn ang="T10">
                  <a:pos x="T0" y="T1"/>
                </a:cxn>
                <a:cxn ang="T11">
                  <a:pos x="T2" y="T3"/>
                </a:cxn>
                <a:cxn ang="T12">
                  <a:pos x="T4" y="T5"/>
                </a:cxn>
                <a:cxn ang="T13">
                  <a:pos x="T6" y="T7"/>
                </a:cxn>
                <a:cxn ang="T14">
                  <a:pos x="T8" y="T9"/>
                </a:cxn>
              </a:cxnLst>
              <a:rect l="T15" t="T16" r="T17" b="T18"/>
              <a:pathLst>
                <a:path w="162" h="104">
                  <a:moveTo>
                    <a:pt x="0" y="84"/>
                  </a:moveTo>
                  <a:cubicBezTo>
                    <a:pt x="18" y="97"/>
                    <a:pt x="40" y="104"/>
                    <a:pt x="62" y="104"/>
                  </a:cubicBezTo>
                  <a:cubicBezTo>
                    <a:pt x="107" y="104"/>
                    <a:pt x="148" y="75"/>
                    <a:pt x="162" y="32"/>
                  </a:cubicBezTo>
                  <a:lnTo>
                    <a:pt x="62" y="0"/>
                  </a:lnTo>
                  <a:lnTo>
                    <a:pt x="0" y="84"/>
                  </a:lnTo>
                  <a:close/>
                </a:path>
              </a:pathLst>
            </a:custGeom>
            <a:solidFill>
              <a:srgbClr val="B2E6B2"/>
            </a:solidFill>
            <a:ln w="15875">
              <a:solidFill>
                <a:srgbClr val="000000"/>
              </a:solidFill>
              <a:prstDash val="solid"/>
              <a:round/>
              <a:headEnd/>
              <a:tailEnd/>
            </a:ln>
          </p:spPr>
          <p:txBody>
            <a:bodyPr/>
            <a:lstStyle/>
            <a:p>
              <a:endParaRPr lang="de-DE"/>
            </a:p>
          </p:txBody>
        </p:sp>
        <p:sp>
          <p:nvSpPr>
            <p:cNvPr id="13" name="Freeform 24"/>
            <p:cNvSpPr>
              <a:spLocks/>
            </p:cNvSpPr>
            <p:nvPr/>
          </p:nvSpPr>
          <p:spPr bwMode="auto">
            <a:xfrm>
              <a:off x="4819650" y="4062413"/>
              <a:ext cx="1587500" cy="1333500"/>
            </a:xfrm>
            <a:custGeom>
              <a:avLst/>
              <a:gdLst>
                <a:gd name="T0" fmla="*/ 0 w 100"/>
                <a:gd name="T1" fmla="*/ 2147483647 h 84"/>
                <a:gd name="T2" fmla="*/ 2147483647 w 100"/>
                <a:gd name="T3" fmla="*/ 2147483647 h 84"/>
                <a:gd name="T4" fmla="*/ 2147483647 w 100"/>
                <a:gd name="T5" fmla="*/ 0 h 84"/>
                <a:gd name="T6" fmla="*/ 0 w 100"/>
                <a:gd name="T7" fmla="*/ 2147483647 h 84"/>
                <a:gd name="T8" fmla="*/ 0 60000 65536"/>
                <a:gd name="T9" fmla="*/ 0 60000 65536"/>
                <a:gd name="T10" fmla="*/ 0 60000 65536"/>
                <a:gd name="T11" fmla="*/ 0 60000 65536"/>
                <a:gd name="T12" fmla="*/ 0 w 100"/>
                <a:gd name="T13" fmla="*/ 0 h 84"/>
                <a:gd name="T14" fmla="*/ 100 w 100"/>
                <a:gd name="T15" fmla="*/ 84 h 84"/>
              </a:gdLst>
              <a:ahLst/>
              <a:cxnLst>
                <a:cxn ang="T8">
                  <a:pos x="T0" y="T1"/>
                </a:cxn>
                <a:cxn ang="T9">
                  <a:pos x="T2" y="T3"/>
                </a:cxn>
                <a:cxn ang="T10">
                  <a:pos x="T4" y="T5"/>
                </a:cxn>
                <a:cxn ang="T11">
                  <a:pos x="T6" y="T7"/>
                </a:cxn>
              </a:cxnLst>
              <a:rect l="T12" t="T13" r="T14" b="T15"/>
              <a:pathLst>
                <a:path w="100" h="84">
                  <a:moveTo>
                    <a:pt x="0" y="32"/>
                  </a:moveTo>
                  <a:cubicBezTo>
                    <a:pt x="7" y="53"/>
                    <a:pt x="20" y="71"/>
                    <a:pt x="38" y="84"/>
                  </a:cubicBezTo>
                  <a:lnTo>
                    <a:pt x="100" y="0"/>
                  </a:lnTo>
                  <a:lnTo>
                    <a:pt x="0" y="32"/>
                  </a:lnTo>
                  <a:close/>
                </a:path>
              </a:pathLst>
            </a:custGeom>
            <a:solidFill>
              <a:schemeClr val="hlink"/>
            </a:solidFill>
            <a:ln w="15875">
              <a:solidFill>
                <a:srgbClr val="000000"/>
              </a:solidFill>
              <a:prstDash val="solid"/>
              <a:round/>
              <a:headEnd/>
              <a:tailEnd/>
            </a:ln>
          </p:spPr>
          <p:txBody>
            <a:bodyPr/>
            <a:lstStyle/>
            <a:p>
              <a:endParaRPr lang="de-DE"/>
            </a:p>
          </p:txBody>
        </p:sp>
        <p:sp>
          <p:nvSpPr>
            <p:cNvPr id="14" name="Freeform 25"/>
            <p:cNvSpPr>
              <a:spLocks/>
            </p:cNvSpPr>
            <p:nvPr/>
          </p:nvSpPr>
          <p:spPr bwMode="auto">
            <a:xfrm>
              <a:off x="4724400" y="2682875"/>
              <a:ext cx="1666875" cy="1839913"/>
            </a:xfrm>
            <a:custGeom>
              <a:avLst/>
              <a:gdLst>
                <a:gd name="T0" fmla="*/ 2147483647 w 105"/>
                <a:gd name="T1" fmla="*/ 0 h 116"/>
                <a:gd name="T2" fmla="*/ 2147483647 w 105"/>
                <a:gd name="T3" fmla="*/ 2147483647 h 116"/>
                <a:gd name="T4" fmla="*/ 2147483647 w 105"/>
                <a:gd name="T5" fmla="*/ 2147483647 h 116"/>
                <a:gd name="T6" fmla="*/ 2147483647 w 105"/>
                <a:gd name="T7" fmla="*/ 2147483647 h 116"/>
                <a:gd name="T8" fmla="*/ 2147483647 w 105"/>
                <a:gd name="T9" fmla="*/ 0 h 116"/>
                <a:gd name="T10" fmla="*/ 0 60000 65536"/>
                <a:gd name="T11" fmla="*/ 0 60000 65536"/>
                <a:gd name="T12" fmla="*/ 0 60000 65536"/>
                <a:gd name="T13" fmla="*/ 0 60000 65536"/>
                <a:gd name="T14" fmla="*/ 0 60000 65536"/>
                <a:gd name="T15" fmla="*/ 0 w 105"/>
                <a:gd name="T16" fmla="*/ 0 h 116"/>
                <a:gd name="T17" fmla="*/ 105 w 105"/>
                <a:gd name="T18" fmla="*/ 116 h 116"/>
              </a:gdLst>
              <a:ahLst/>
              <a:cxnLst>
                <a:cxn ang="T10">
                  <a:pos x="T0" y="T1"/>
                </a:cxn>
                <a:cxn ang="T11">
                  <a:pos x="T2" y="T3"/>
                </a:cxn>
                <a:cxn ang="T12">
                  <a:pos x="T4" y="T5"/>
                </a:cxn>
                <a:cxn ang="T13">
                  <a:pos x="T6" y="T7"/>
                </a:cxn>
                <a:cxn ang="T14">
                  <a:pos x="T8" y="T9"/>
                </a:cxn>
              </a:cxnLst>
              <a:rect l="T15" t="T16" r="T17" b="T18"/>
              <a:pathLst>
                <a:path w="105" h="116">
                  <a:moveTo>
                    <a:pt x="44" y="0"/>
                  </a:moveTo>
                  <a:cubicBezTo>
                    <a:pt x="16" y="19"/>
                    <a:pt x="1" y="51"/>
                    <a:pt x="1" y="84"/>
                  </a:cubicBezTo>
                  <a:cubicBezTo>
                    <a:pt x="0" y="95"/>
                    <a:pt x="2" y="105"/>
                    <a:pt x="5" y="116"/>
                  </a:cubicBezTo>
                  <a:lnTo>
                    <a:pt x="105" y="84"/>
                  </a:lnTo>
                  <a:lnTo>
                    <a:pt x="44" y="0"/>
                  </a:lnTo>
                  <a:close/>
                </a:path>
              </a:pathLst>
            </a:custGeom>
            <a:solidFill>
              <a:schemeClr val="tx2"/>
            </a:solidFill>
            <a:ln w="15875">
              <a:solidFill>
                <a:srgbClr val="000000"/>
              </a:solidFill>
              <a:prstDash val="solid"/>
              <a:round/>
              <a:headEnd/>
              <a:tailEnd/>
            </a:ln>
          </p:spPr>
          <p:txBody>
            <a:bodyPr/>
            <a:lstStyle/>
            <a:p>
              <a:endParaRPr lang="de-DE"/>
            </a:p>
          </p:txBody>
        </p:sp>
        <p:sp>
          <p:nvSpPr>
            <p:cNvPr id="15" name="Freeform 26"/>
            <p:cNvSpPr>
              <a:spLocks/>
            </p:cNvSpPr>
            <p:nvPr/>
          </p:nvSpPr>
          <p:spPr bwMode="auto">
            <a:xfrm>
              <a:off x="5454650" y="2333625"/>
              <a:ext cx="968375" cy="1651000"/>
            </a:xfrm>
            <a:custGeom>
              <a:avLst/>
              <a:gdLst>
                <a:gd name="T0" fmla="*/ 2147483647 w 61"/>
                <a:gd name="T1" fmla="*/ 0 h 104"/>
                <a:gd name="T2" fmla="*/ 0 w 61"/>
                <a:gd name="T3" fmla="*/ 2147483647 h 104"/>
                <a:gd name="T4" fmla="*/ 2147483647 w 61"/>
                <a:gd name="T5" fmla="*/ 2147483647 h 104"/>
                <a:gd name="T6" fmla="*/ 2147483647 w 61"/>
                <a:gd name="T7" fmla="*/ 0 h 104"/>
                <a:gd name="T8" fmla="*/ 0 60000 65536"/>
                <a:gd name="T9" fmla="*/ 0 60000 65536"/>
                <a:gd name="T10" fmla="*/ 0 60000 65536"/>
                <a:gd name="T11" fmla="*/ 0 60000 65536"/>
                <a:gd name="T12" fmla="*/ 0 w 61"/>
                <a:gd name="T13" fmla="*/ 0 h 104"/>
                <a:gd name="T14" fmla="*/ 61 w 61"/>
                <a:gd name="T15" fmla="*/ 104 h 104"/>
              </a:gdLst>
              <a:ahLst/>
              <a:cxnLst>
                <a:cxn ang="T8">
                  <a:pos x="T0" y="T1"/>
                </a:cxn>
                <a:cxn ang="T9">
                  <a:pos x="T2" y="T3"/>
                </a:cxn>
                <a:cxn ang="T10">
                  <a:pos x="T4" y="T5"/>
                </a:cxn>
                <a:cxn ang="T11">
                  <a:pos x="T6" y="T7"/>
                </a:cxn>
              </a:cxnLst>
              <a:rect l="T12" t="T13" r="T14" b="T15"/>
              <a:pathLst>
                <a:path w="61" h="104">
                  <a:moveTo>
                    <a:pt x="61" y="0"/>
                  </a:moveTo>
                  <a:cubicBezTo>
                    <a:pt x="39" y="0"/>
                    <a:pt x="17" y="7"/>
                    <a:pt x="0" y="20"/>
                  </a:cubicBezTo>
                  <a:lnTo>
                    <a:pt x="61" y="104"/>
                  </a:lnTo>
                  <a:lnTo>
                    <a:pt x="61" y="0"/>
                  </a:lnTo>
                  <a:close/>
                </a:path>
              </a:pathLst>
            </a:custGeom>
            <a:solidFill>
              <a:schemeClr val="accent1"/>
            </a:solidFill>
            <a:ln w="15875">
              <a:solidFill>
                <a:srgbClr val="000000"/>
              </a:solidFill>
              <a:prstDash val="solid"/>
              <a:round/>
              <a:headEnd/>
              <a:tailEnd/>
            </a:ln>
          </p:spPr>
          <p:txBody>
            <a:bodyPr/>
            <a:lstStyle/>
            <a:p>
              <a:endParaRPr lang="de-DE"/>
            </a:p>
          </p:txBody>
        </p:sp>
        <p:sp>
          <p:nvSpPr>
            <p:cNvPr id="16" name="Rectangle 27"/>
            <p:cNvSpPr>
              <a:spLocks noChangeArrowheads="1"/>
            </p:cNvSpPr>
            <p:nvPr/>
          </p:nvSpPr>
          <p:spPr bwMode="auto">
            <a:xfrm>
              <a:off x="4660900" y="4665663"/>
              <a:ext cx="1222375" cy="3810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17" name="Rectangle 28"/>
            <p:cNvSpPr>
              <a:spLocks noChangeArrowheads="1"/>
            </p:cNvSpPr>
            <p:nvPr/>
          </p:nvSpPr>
          <p:spPr bwMode="auto">
            <a:xfrm>
              <a:off x="4692650" y="4713288"/>
              <a:ext cx="11509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S010 – $470</a:t>
              </a:r>
              <a:endParaRPr lang="de-DE" altLang="de-DE"/>
            </a:p>
          </p:txBody>
        </p:sp>
        <p:sp>
          <p:nvSpPr>
            <p:cNvPr id="18" name="Rectangle 29"/>
            <p:cNvSpPr>
              <a:spLocks noChangeArrowheads="1"/>
            </p:cNvSpPr>
            <p:nvPr/>
          </p:nvSpPr>
          <p:spPr bwMode="auto">
            <a:xfrm>
              <a:off x="5422900" y="3016250"/>
              <a:ext cx="1285875" cy="3810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19" name="Rectangle 30"/>
            <p:cNvSpPr>
              <a:spLocks noChangeArrowheads="1"/>
            </p:cNvSpPr>
            <p:nvPr/>
          </p:nvSpPr>
          <p:spPr bwMode="auto">
            <a:xfrm>
              <a:off x="5454650" y="3063875"/>
              <a:ext cx="1219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D010 –  $470</a:t>
              </a:r>
              <a:endParaRPr lang="de-DE" altLang="de-DE"/>
            </a:p>
          </p:txBody>
        </p:sp>
        <p:sp>
          <p:nvSpPr>
            <p:cNvPr id="20" name="Rectangle 31"/>
            <p:cNvSpPr>
              <a:spLocks noChangeArrowheads="1"/>
            </p:cNvSpPr>
            <p:nvPr/>
          </p:nvSpPr>
          <p:spPr bwMode="auto">
            <a:xfrm>
              <a:off x="6565900" y="2778125"/>
              <a:ext cx="1222375" cy="3810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1" name="Rectangle 32"/>
            <p:cNvSpPr>
              <a:spLocks noChangeArrowheads="1"/>
            </p:cNvSpPr>
            <p:nvPr/>
          </p:nvSpPr>
          <p:spPr bwMode="auto">
            <a:xfrm>
              <a:off x="6597650" y="2825750"/>
              <a:ext cx="1162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A005 – $705</a:t>
              </a:r>
              <a:endParaRPr lang="de-DE" altLang="de-DE"/>
            </a:p>
          </p:txBody>
        </p:sp>
        <p:sp>
          <p:nvSpPr>
            <p:cNvPr id="22" name="Rectangle 33"/>
            <p:cNvSpPr>
              <a:spLocks noChangeArrowheads="1"/>
            </p:cNvSpPr>
            <p:nvPr/>
          </p:nvSpPr>
          <p:spPr bwMode="auto">
            <a:xfrm>
              <a:off x="6978650" y="3444875"/>
              <a:ext cx="1222375" cy="3810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3" name="Rectangle 34"/>
            <p:cNvSpPr>
              <a:spLocks noChangeArrowheads="1"/>
            </p:cNvSpPr>
            <p:nvPr/>
          </p:nvSpPr>
          <p:spPr bwMode="auto">
            <a:xfrm>
              <a:off x="7010400" y="3492500"/>
              <a:ext cx="1162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A010 – $235</a:t>
              </a:r>
              <a:endParaRPr lang="de-DE" altLang="de-DE"/>
            </a:p>
          </p:txBody>
        </p:sp>
        <p:sp>
          <p:nvSpPr>
            <p:cNvPr id="24" name="Rectangle 35"/>
            <p:cNvSpPr>
              <a:spLocks noChangeArrowheads="1"/>
            </p:cNvSpPr>
            <p:nvPr/>
          </p:nvSpPr>
          <p:spPr bwMode="auto">
            <a:xfrm>
              <a:off x="7343775" y="3905250"/>
              <a:ext cx="1222375" cy="3794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5" name="Rectangle 36"/>
            <p:cNvSpPr>
              <a:spLocks noChangeArrowheads="1"/>
            </p:cNvSpPr>
            <p:nvPr/>
          </p:nvSpPr>
          <p:spPr bwMode="auto">
            <a:xfrm>
              <a:off x="7375525" y="3952875"/>
              <a:ext cx="1162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A015 – $470</a:t>
              </a:r>
              <a:endParaRPr lang="de-DE" altLang="de-DE"/>
            </a:p>
          </p:txBody>
        </p:sp>
        <p:sp>
          <p:nvSpPr>
            <p:cNvPr id="26" name="Rectangle 37"/>
            <p:cNvSpPr>
              <a:spLocks noChangeArrowheads="1"/>
            </p:cNvSpPr>
            <p:nvPr/>
          </p:nvSpPr>
          <p:spPr bwMode="auto">
            <a:xfrm>
              <a:off x="7264400" y="4284663"/>
              <a:ext cx="936625" cy="3810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7" name="Rectangle 38"/>
            <p:cNvSpPr>
              <a:spLocks noChangeArrowheads="1"/>
            </p:cNvSpPr>
            <p:nvPr/>
          </p:nvSpPr>
          <p:spPr bwMode="auto">
            <a:xfrm>
              <a:off x="7296150" y="4332288"/>
              <a:ext cx="8794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A020 –$0</a:t>
              </a:r>
              <a:endParaRPr lang="de-DE" altLang="de-DE"/>
            </a:p>
          </p:txBody>
        </p:sp>
        <p:sp>
          <p:nvSpPr>
            <p:cNvPr id="28" name="Rectangle 39"/>
            <p:cNvSpPr>
              <a:spLocks noChangeArrowheads="1"/>
            </p:cNvSpPr>
            <p:nvPr/>
          </p:nvSpPr>
          <p:spPr bwMode="auto">
            <a:xfrm>
              <a:off x="6264275" y="4840288"/>
              <a:ext cx="1397000" cy="3810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29" name="Rectangle 40"/>
            <p:cNvSpPr>
              <a:spLocks noChangeArrowheads="1"/>
            </p:cNvSpPr>
            <p:nvPr/>
          </p:nvSpPr>
          <p:spPr bwMode="auto">
            <a:xfrm>
              <a:off x="6296025" y="4887913"/>
              <a:ext cx="13208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S005 – $1,410</a:t>
              </a:r>
              <a:endParaRPr lang="de-DE" altLang="de-DE"/>
            </a:p>
          </p:txBody>
        </p:sp>
        <p:sp>
          <p:nvSpPr>
            <p:cNvPr id="30" name="Rectangle 41"/>
            <p:cNvSpPr>
              <a:spLocks noChangeArrowheads="1"/>
            </p:cNvSpPr>
            <p:nvPr/>
          </p:nvSpPr>
          <p:spPr bwMode="auto">
            <a:xfrm>
              <a:off x="5041900" y="3635375"/>
              <a:ext cx="1222375" cy="3794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endParaRPr lang="de-DE" altLang="de-DE"/>
            </a:p>
          </p:txBody>
        </p:sp>
        <p:sp>
          <p:nvSpPr>
            <p:cNvPr id="31" name="Rectangle 42"/>
            <p:cNvSpPr>
              <a:spLocks noChangeArrowheads="1"/>
            </p:cNvSpPr>
            <p:nvPr/>
          </p:nvSpPr>
          <p:spPr bwMode="auto">
            <a:xfrm>
              <a:off x="5073650" y="3683000"/>
              <a:ext cx="11620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800" b="1">
                  <a:solidFill>
                    <a:schemeClr val="tx1"/>
                  </a:solidFill>
                  <a:latin typeface="Arial" panose="020B0604020202020204" pitchFamily="34" charset="0"/>
                </a:defRPr>
              </a:lvl1pPr>
              <a:lvl2pPr marL="742950" indent="-285750" eaLnBrk="0" hangingPunct="0">
                <a:defRPr sz="2800" b="1">
                  <a:solidFill>
                    <a:schemeClr val="tx1"/>
                  </a:solidFill>
                  <a:latin typeface="Arial" panose="020B0604020202020204" pitchFamily="34" charset="0"/>
                </a:defRPr>
              </a:lvl2pPr>
              <a:lvl3pPr marL="1143000" indent="-228600" eaLnBrk="0" hangingPunct="0">
                <a:defRPr sz="2800" b="1">
                  <a:solidFill>
                    <a:schemeClr val="tx1"/>
                  </a:solidFill>
                  <a:latin typeface="Arial" panose="020B0604020202020204" pitchFamily="34" charset="0"/>
                </a:defRPr>
              </a:lvl3pPr>
              <a:lvl4pPr marL="1600200" indent="-228600" eaLnBrk="0" hangingPunct="0">
                <a:defRPr sz="2800" b="1">
                  <a:solidFill>
                    <a:schemeClr val="tx1"/>
                  </a:solidFill>
                  <a:latin typeface="Arial" panose="020B0604020202020204" pitchFamily="34" charset="0"/>
                </a:defRPr>
              </a:lvl4pPr>
              <a:lvl5pPr marL="2057400" indent="-228600" eaLnBrk="0" hangingPunct="0">
                <a:defRPr sz="28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2800" b="1">
                  <a:solidFill>
                    <a:schemeClr val="tx1"/>
                  </a:solidFill>
                  <a:latin typeface="Arial" panose="020B0604020202020204" pitchFamily="34" charset="0"/>
                </a:defRPr>
              </a:lvl9pPr>
            </a:lstStyle>
            <a:p>
              <a:pPr eaLnBrk="1" hangingPunct="1"/>
              <a:r>
                <a:rPr lang="de-DE" altLang="de-DE" sz="1600">
                  <a:solidFill>
                    <a:srgbClr val="FFFFFF"/>
                  </a:solidFill>
                </a:rPr>
                <a:t>D005 – $940</a:t>
              </a:r>
              <a:endParaRPr lang="de-DE" altLang="de-DE"/>
            </a:p>
          </p:txBody>
        </p:sp>
      </p:grpSp>
    </p:spTree>
    <p:extLst>
      <p:ext uri="{BB962C8B-B14F-4D97-AF65-F5344CB8AC3E}">
        <p14:creationId xmlns:p14="http://schemas.microsoft.com/office/powerpoint/2010/main" val="2331988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altLang="de-DE" dirty="0">
                <a:latin typeface="Arial" panose="020B0604020202020204" pitchFamily="34" charset="0"/>
              </a:rPr>
              <a:t>Fully integrated with other SAP modules  including, but not limited to</a:t>
            </a:r>
            <a:r>
              <a:rPr lang="en-US" altLang="de-DE" dirty="0" smtClean="0">
                <a:latin typeface="Arial" panose="020B0604020202020204" pitchFamily="34" charset="0"/>
              </a:rPr>
              <a:t>:</a:t>
            </a:r>
          </a:p>
          <a:p>
            <a:pPr lvl="1"/>
            <a:endParaRPr lang="en-US" altLang="de-DE" dirty="0">
              <a:latin typeface="Arial" panose="020B0604020202020204" pitchFamily="34" charset="0"/>
            </a:endParaRPr>
          </a:p>
          <a:p>
            <a:pPr lvl="1"/>
            <a:r>
              <a:rPr lang="en-US" altLang="de-DE" dirty="0" smtClean="0">
                <a:latin typeface="Arial" panose="020B0604020202020204" pitchFamily="34" charset="0"/>
              </a:rPr>
              <a:t>Financial </a:t>
            </a:r>
            <a:r>
              <a:rPr lang="en-US" altLang="de-DE" dirty="0">
                <a:latin typeface="Arial" panose="020B0604020202020204" pitchFamily="34" charset="0"/>
              </a:rPr>
              <a:t>Accounting (FI</a:t>
            </a:r>
            <a:r>
              <a:rPr lang="en-US" altLang="de-DE" dirty="0" smtClean="0">
                <a:latin typeface="Arial" panose="020B0604020202020204" pitchFamily="34" charset="0"/>
              </a:rPr>
              <a:t>)</a:t>
            </a:r>
          </a:p>
          <a:p>
            <a:pPr lvl="1"/>
            <a:endParaRPr lang="en-US" altLang="de-DE" dirty="0">
              <a:latin typeface="Arial" panose="020B0604020202020204" pitchFamily="34" charset="0"/>
            </a:endParaRPr>
          </a:p>
          <a:p>
            <a:pPr lvl="1"/>
            <a:r>
              <a:rPr lang="en-US" altLang="de-DE" dirty="0">
                <a:latin typeface="Arial" panose="020B0604020202020204" pitchFamily="34" charset="0"/>
              </a:rPr>
              <a:t>Materials Management (MM</a:t>
            </a:r>
            <a:r>
              <a:rPr lang="en-US" altLang="de-DE" dirty="0" smtClean="0">
                <a:latin typeface="Arial" panose="020B0604020202020204" pitchFamily="34" charset="0"/>
              </a:rPr>
              <a:t>)</a:t>
            </a:r>
          </a:p>
          <a:p>
            <a:pPr lvl="1"/>
            <a:endParaRPr lang="en-US" altLang="de-DE" dirty="0">
              <a:latin typeface="Arial" panose="020B0604020202020204" pitchFamily="34" charset="0"/>
            </a:endParaRPr>
          </a:p>
          <a:p>
            <a:pPr lvl="1"/>
            <a:r>
              <a:rPr lang="en-US" altLang="de-DE" dirty="0">
                <a:latin typeface="Arial" panose="020B0604020202020204" pitchFamily="34" charset="0"/>
              </a:rPr>
              <a:t>Sales and Distribution (SD)	</a:t>
            </a:r>
            <a:endParaRPr lang="en-US" altLang="de-DE" dirty="0" smtClean="0">
              <a:latin typeface="Arial" panose="020B0604020202020204" pitchFamily="34" charset="0"/>
            </a:endParaRPr>
          </a:p>
          <a:p>
            <a:pPr lvl="1"/>
            <a:endParaRPr lang="en-US" altLang="de-DE" dirty="0">
              <a:latin typeface="Arial" panose="020B0604020202020204" pitchFamily="34" charset="0"/>
            </a:endParaRPr>
          </a:p>
          <a:p>
            <a:pPr lvl="1"/>
            <a:r>
              <a:rPr lang="en-US" altLang="de-DE" dirty="0">
                <a:latin typeface="Arial" panose="020B0604020202020204" pitchFamily="34" charset="0"/>
              </a:rPr>
              <a:t>Production Planning and Execution (PP)</a:t>
            </a:r>
          </a:p>
        </p:txBody>
      </p:sp>
      <p:sp>
        <p:nvSpPr>
          <p:cNvPr id="3" name="Titel 2"/>
          <p:cNvSpPr>
            <a:spLocks noGrp="1"/>
          </p:cNvSpPr>
          <p:nvPr>
            <p:ph type="title"/>
          </p:nvPr>
        </p:nvSpPr>
        <p:spPr/>
        <p:txBody>
          <a:bodyPr/>
          <a:lstStyle/>
          <a:p>
            <a:r>
              <a:rPr lang="en-US" altLang="de-DE">
                <a:latin typeface="Arial" panose="020B0604020202020204" pitchFamily="34" charset="0"/>
              </a:rPr>
              <a:t>SAP CO Module</a:t>
            </a:r>
            <a:endParaRPr lang="de-DE"/>
          </a:p>
        </p:txBody>
      </p:sp>
    </p:spTree>
    <p:extLst>
      <p:ext uri="{BB962C8B-B14F-4D97-AF65-F5344CB8AC3E}">
        <p14:creationId xmlns:p14="http://schemas.microsoft.com/office/powerpoint/2010/main" val="1579821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Product</a:t>
            </a:r>
            <a:r>
              <a:rPr lang="de-DE" dirty="0"/>
              <a:t> </a:t>
            </a:r>
            <a:r>
              <a:rPr lang="de-DE" dirty="0" err="1"/>
              <a:t>Cost</a:t>
            </a:r>
            <a:r>
              <a:rPr lang="de-DE" dirty="0"/>
              <a:t> Controlling (CO-PC)</a:t>
            </a:r>
          </a:p>
        </p:txBody>
      </p:sp>
      <p:sp>
        <p:nvSpPr>
          <p:cNvPr id="3" name="Inhaltsplatzhalter 2"/>
          <p:cNvSpPr>
            <a:spLocks noGrp="1"/>
          </p:cNvSpPr>
          <p:nvPr>
            <p:ph idx="1"/>
          </p:nvPr>
        </p:nvSpPr>
        <p:spPr>
          <a:xfrm>
            <a:off x="324000" y="1629532"/>
            <a:ext cx="11545200" cy="4392042"/>
          </a:xfrm>
        </p:spPr>
        <p:txBody>
          <a:bodyPr/>
          <a:lstStyle/>
          <a:p>
            <a:r>
              <a:rPr lang="en-US" dirty="0"/>
              <a:t>is based on the organizational units of financial accounting, controlling and logistics</a:t>
            </a:r>
          </a:p>
          <a:p>
            <a:endParaRPr lang="en-US" dirty="0" smtClean="0"/>
          </a:p>
          <a:p>
            <a:r>
              <a:rPr lang="en-US" dirty="0" smtClean="0"/>
              <a:t>is </a:t>
            </a:r>
            <a:r>
              <a:rPr lang="en-US" dirty="0"/>
              <a:t>used to value purchased and produced goods and services</a:t>
            </a:r>
            <a:endParaRPr lang="de-DE" dirty="0"/>
          </a:p>
        </p:txBody>
      </p:sp>
      <p:graphicFrame>
        <p:nvGraphicFramePr>
          <p:cNvPr id="6" name="Diagramm 5"/>
          <p:cNvGraphicFramePr/>
          <p:nvPr>
            <p:extLst>
              <p:ext uri="{D42A27DB-BD31-4B8C-83A1-F6EECF244321}">
                <p14:modId xmlns:p14="http://schemas.microsoft.com/office/powerpoint/2010/main" val="2774867609"/>
              </p:ext>
            </p:extLst>
          </p:nvPr>
        </p:nvGraphicFramePr>
        <p:xfrm>
          <a:off x="2751880" y="2812962"/>
          <a:ext cx="6689440" cy="3434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1334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Product</a:t>
            </a:r>
            <a:r>
              <a:rPr lang="de-DE" dirty="0"/>
              <a:t> </a:t>
            </a:r>
            <a:r>
              <a:rPr lang="de-DE" dirty="0" err="1"/>
              <a:t>Cost</a:t>
            </a:r>
            <a:r>
              <a:rPr lang="de-DE" dirty="0"/>
              <a:t> Controlling (CO-PC)</a:t>
            </a:r>
          </a:p>
        </p:txBody>
      </p:sp>
      <p:sp>
        <p:nvSpPr>
          <p:cNvPr id="3" name="Inhaltsplatzhalter 2"/>
          <p:cNvSpPr>
            <a:spLocks noGrp="1"/>
          </p:cNvSpPr>
          <p:nvPr>
            <p:ph idx="1"/>
          </p:nvPr>
        </p:nvSpPr>
        <p:spPr/>
        <p:txBody>
          <a:bodyPr/>
          <a:lstStyle/>
          <a:p>
            <a:r>
              <a:rPr lang="de-DE" dirty="0"/>
              <a:t> </a:t>
            </a:r>
            <a:r>
              <a:rPr lang="de-DE" dirty="0" err="1"/>
              <a:t>Product</a:t>
            </a:r>
            <a:r>
              <a:rPr lang="de-DE" dirty="0"/>
              <a:t> </a:t>
            </a:r>
            <a:r>
              <a:rPr lang="de-DE" dirty="0" err="1"/>
              <a:t>Cost</a:t>
            </a:r>
            <a:r>
              <a:rPr lang="de-DE" dirty="0"/>
              <a:t> </a:t>
            </a:r>
            <a:r>
              <a:rPr lang="de-DE" dirty="0" err="1"/>
              <a:t>Planning</a:t>
            </a:r>
            <a:endParaRPr lang="de-DE" dirty="0" smtClean="0"/>
          </a:p>
          <a:p>
            <a:pPr lvl="1"/>
            <a:r>
              <a:rPr lang="en-US" dirty="0"/>
              <a:t>Product cost planning for price determination and evaluation with or without quantity structure</a:t>
            </a:r>
          </a:p>
          <a:p>
            <a:pPr lvl="1"/>
            <a:r>
              <a:rPr lang="en-US" dirty="0"/>
              <a:t>Analysis and breakdown of costs by different cost </a:t>
            </a:r>
            <a:r>
              <a:rPr lang="en-US" dirty="0" smtClean="0"/>
              <a:t>types</a:t>
            </a:r>
          </a:p>
          <a:p>
            <a:pPr lvl="1"/>
            <a:endParaRPr lang="de-DE" dirty="0"/>
          </a:p>
          <a:p>
            <a:r>
              <a:rPr lang="de-DE" dirty="0" err="1" smtClean="0"/>
              <a:t>Cost</a:t>
            </a:r>
            <a:r>
              <a:rPr lang="de-DE" dirty="0" smtClean="0"/>
              <a:t> Unit Accounting </a:t>
            </a:r>
            <a:endParaRPr lang="de-DE" dirty="0"/>
          </a:p>
          <a:p>
            <a:pPr lvl="1"/>
            <a:r>
              <a:rPr lang="en-US" dirty="0"/>
              <a:t>Value creation process and variance analysis between planned and actual costs</a:t>
            </a:r>
          </a:p>
          <a:p>
            <a:pPr lvl="1"/>
            <a:r>
              <a:rPr lang="en-US" dirty="0"/>
              <a:t>Determination of margins for individual customer orders and calculation of contribution </a:t>
            </a:r>
            <a:r>
              <a:rPr lang="en-US" dirty="0" smtClean="0"/>
              <a:t>margins</a:t>
            </a:r>
          </a:p>
          <a:p>
            <a:pPr lvl="1"/>
            <a:endParaRPr lang="de-DE" dirty="0" smtClean="0"/>
          </a:p>
          <a:p>
            <a:r>
              <a:rPr lang="de-DE" dirty="0" err="1"/>
              <a:t>Actual</a:t>
            </a:r>
            <a:r>
              <a:rPr lang="de-DE" dirty="0"/>
              <a:t> </a:t>
            </a:r>
            <a:r>
              <a:rPr lang="de-DE" dirty="0" err="1"/>
              <a:t>Costing</a:t>
            </a:r>
            <a:endParaRPr lang="de-DE" dirty="0" smtClean="0"/>
          </a:p>
          <a:p>
            <a:pPr lvl="1"/>
            <a:r>
              <a:rPr lang="en-US" dirty="0"/>
              <a:t>Determination of the actual costs incurred for the provision or manufacture of </a:t>
            </a:r>
            <a:r>
              <a:rPr lang="en-US" dirty="0" smtClean="0"/>
              <a:t>goods</a:t>
            </a:r>
          </a:p>
          <a:p>
            <a:pPr lvl="1"/>
            <a:endParaRPr lang="de-DE" dirty="0" smtClean="0"/>
          </a:p>
          <a:p>
            <a:r>
              <a:rPr lang="de-DE" dirty="0" err="1"/>
              <a:t>Product</a:t>
            </a:r>
            <a:r>
              <a:rPr lang="de-DE" dirty="0"/>
              <a:t> </a:t>
            </a:r>
            <a:r>
              <a:rPr lang="de-DE" dirty="0" err="1"/>
              <a:t>Cost</a:t>
            </a:r>
            <a:r>
              <a:rPr lang="de-DE" dirty="0"/>
              <a:t> </a:t>
            </a:r>
            <a:r>
              <a:rPr lang="de-DE" dirty="0" err="1"/>
              <a:t>Planning</a:t>
            </a:r>
            <a:r>
              <a:rPr lang="de-DE" dirty="0"/>
              <a:t> </a:t>
            </a:r>
            <a:endParaRPr lang="de-DE" dirty="0" smtClean="0"/>
          </a:p>
          <a:p>
            <a:pPr lvl="1"/>
            <a:r>
              <a:rPr lang="en-US" dirty="0"/>
              <a:t>Calculating the prices of materials in parallel currencies and valuation approaches</a:t>
            </a:r>
            <a:endParaRPr lang="de-DE" dirty="0" smtClean="0"/>
          </a:p>
        </p:txBody>
      </p:sp>
    </p:spTree>
    <p:extLst>
      <p:ext uri="{BB962C8B-B14F-4D97-AF65-F5344CB8AC3E}">
        <p14:creationId xmlns:p14="http://schemas.microsoft.com/office/powerpoint/2010/main" val="676768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Product</a:t>
            </a:r>
            <a:r>
              <a:rPr lang="de-DE" dirty="0"/>
              <a:t> </a:t>
            </a:r>
            <a:r>
              <a:rPr lang="de-DE" dirty="0" err="1"/>
              <a:t>Cost</a:t>
            </a:r>
            <a:r>
              <a:rPr lang="de-DE" dirty="0"/>
              <a:t> Controlling (CO-PC)</a:t>
            </a:r>
          </a:p>
        </p:txBody>
      </p:sp>
      <p:sp>
        <p:nvSpPr>
          <p:cNvPr id="3" name="Inhaltsplatzhalter 2"/>
          <p:cNvSpPr>
            <a:spLocks noGrp="1"/>
          </p:cNvSpPr>
          <p:nvPr>
            <p:ph idx="1"/>
          </p:nvPr>
        </p:nvSpPr>
        <p:spPr/>
        <p:txBody>
          <a:bodyPr/>
          <a:lstStyle/>
          <a:p>
            <a:pPr marL="285750" indent="-285750"/>
            <a:r>
              <a:rPr lang="de-DE" dirty="0" err="1"/>
              <a:t>Product</a:t>
            </a:r>
            <a:r>
              <a:rPr lang="de-DE" dirty="0"/>
              <a:t> </a:t>
            </a:r>
            <a:r>
              <a:rPr lang="de-DE" dirty="0" err="1"/>
              <a:t>Cost</a:t>
            </a:r>
            <a:r>
              <a:rPr lang="de-DE" dirty="0"/>
              <a:t> </a:t>
            </a:r>
            <a:r>
              <a:rPr lang="de-DE" dirty="0" err="1"/>
              <a:t>Planning</a:t>
            </a:r>
            <a:r>
              <a:rPr lang="de-DE" dirty="0"/>
              <a:t>  </a:t>
            </a:r>
          </a:p>
          <a:p>
            <a:pPr lvl="1"/>
            <a:r>
              <a:rPr lang="en-US" dirty="0"/>
              <a:t>Provides basic data for controlling decisions </a:t>
            </a:r>
            <a:endParaRPr lang="en-US" dirty="0" smtClean="0"/>
          </a:p>
          <a:p>
            <a:pPr lvl="1"/>
            <a:r>
              <a:rPr lang="en-US" dirty="0" smtClean="0"/>
              <a:t>Basis </a:t>
            </a:r>
            <a:r>
              <a:rPr lang="en-US" dirty="0"/>
              <a:t>for determining standard </a:t>
            </a:r>
            <a:r>
              <a:rPr lang="en-US" dirty="0" smtClean="0"/>
              <a:t>prices</a:t>
            </a:r>
          </a:p>
          <a:p>
            <a:pPr lvl="1"/>
            <a:r>
              <a:rPr lang="en-US" dirty="0" smtClean="0"/>
              <a:t>Manual </a:t>
            </a:r>
            <a:r>
              <a:rPr lang="en-US" dirty="0"/>
              <a:t>costing (unit costing) or automatic costing (with quantity structure) </a:t>
            </a:r>
            <a:endParaRPr lang="en-US" dirty="0" smtClean="0"/>
          </a:p>
          <a:p>
            <a:pPr lvl="1"/>
            <a:r>
              <a:rPr lang="en-US" dirty="0" smtClean="0"/>
              <a:t>Determination </a:t>
            </a:r>
            <a:r>
              <a:rPr lang="en-US" dirty="0"/>
              <a:t>via costing variant</a:t>
            </a:r>
            <a:endParaRPr lang="de-DE" dirty="0" smtClean="0"/>
          </a:p>
          <a:p>
            <a:endParaRPr lang="de-DE" dirty="0" smtClean="0"/>
          </a:p>
          <a:p>
            <a:r>
              <a:rPr lang="de-DE" dirty="0" err="1"/>
              <a:t>Types</a:t>
            </a:r>
            <a:r>
              <a:rPr lang="de-DE" dirty="0"/>
              <a:t> </a:t>
            </a:r>
            <a:r>
              <a:rPr lang="de-DE" dirty="0" err="1"/>
              <a:t>of</a:t>
            </a:r>
            <a:r>
              <a:rPr lang="de-DE" dirty="0"/>
              <a:t> </a:t>
            </a:r>
            <a:r>
              <a:rPr lang="de-DE" dirty="0" err="1"/>
              <a:t>Product</a:t>
            </a:r>
            <a:r>
              <a:rPr lang="de-DE" dirty="0"/>
              <a:t> </a:t>
            </a:r>
            <a:r>
              <a:rPr lang="de-DE" dirty="0" err="1" smtClean="0"/>
              <a:t>Costing</a:t>
            </a:r>
            <a:endParaRPr lang="de-DE" dirty="0" smtClean="0"/>
          </a:p>
          <a:p>
            <a:pPr lvl="1"/>
            <a:r>
              <a:rPr lang="en-US" dirty="0" smtClean="0"/>
              <a:t>Reference </a:t>
            </a:r>
            <a:r>
              <a:rPr lang="en-US" dirty="0"/>
              <a:t>Costing – Planning and simulation of costs for new products</a:t>
            </a:r>
          </a:p>
          <a:p>
            <a:pPr lvl="1"/>
            <a:r>
              <a:rPr lang="en-US" dirty="0"/>
              <a:t>Planned Costing – Valuation of planned quantities using planned prices</a:t>
            </a:r>
          </a:p>
          <a:p>
            <a:pPr lvl="1"/>
            <a:r>
              <a:rPr lang="en-US" dirty="0"/>
              <a:t>Target Costing – Valuation of actual quantities using planned prices</a:t>
            </a:r>
          </a:p>
          <a:p>
            <a:pPr lvl="1"/>
            <a:r>
              <a:rPr lang="en-US" dirty="0"/>
              <a:t>Actual Costing – Valuation of actual quantities using actual prices</a:t>
            </a:r>
          </a:p>
          <a:p>
            <a:pPr lvl="1"/>
            <a:r>
              <a:rPr lang="en-US" dirty="0"/>
              <a:t>Inventory Costing – Valuation of actual quantities using tax and legal prices</a:t>
            </a:r>
          </a:p>
          <a:p>
            <a:endParaRPr lang="de-DE" dirty="0"/>
          </a:p>
        </p:txBody>
      </p:sp>
    </p:spTree>
    <p:extLst>
      <p:ext uri="{BB962C8B-B14F-4D97-AF65-F5344CB8AC3E}">
        <p14:creationId xmlns:p14="http://schemas.microsoft.com/office/powerpoint/2010/main" val="520855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a:t>Product</a:t>
            </a:r>
            <a:r>
              <a:rPr lang="de-DE" dirty="0"/>
              <a:t> </a:t>
            </a:r>
            <a:r>
              <a:rPr lang="de-DE" dirty="0" err="1"/>
              <a:t>Cost</a:t>
            </a:r>
            <a:r>
              <a:rPr lang="de-DE" dirty="0"/>
              <a:t> Controlling (CO-PC)</a:t>
            </a:r>
          </a:p>
        </p:txBody>
      </p:sp>
      <p:sp>
        <p:nvSpPr>
          <p:cNvPr id="3" name="Inhaltsplatzhalter 2"/>
          <p:cNvSpPr>
            <a:spLocks noGrp="1"/>
          </p:cNvSpPr>
          <p:nvPr>
            <p:ph idx="1"/>
          </p:nvPr>
        </p:nvSpPr>
        <p:spPr/>
        <p:txBody>
          <a:bodyPr/>
          <a:lstStyle/>
          <a:p>
            <a:r>
              <a:rPr lang="en-US" dirty="0"/>
              <a:t>The costing variant defines the rules according to which the production costs per product are calculated</a:t>
            </a:r>
            <a:r>
              <a:rPr lang="en-US" dirty="0" smtClean="0"/>
              <a:t>.</a:t>
            </a:r>
          </a:p>
          <a:p>
            <a:endParaRPr lang="de-DE" dirty="0"/>
          </a:p>
          <a:p>
            <a:r>
              <a:rPr lang="en-US" dirty="0"/>
              <a:t>The costing variant defines the rules according to which the production costs per product are calculated</a:t>
            </a:r>
            <a:r>
              <a:rPr lang="en-US" dirty="0" smtClean="0"/>
              <a:t>.</a:t>
            </a:r>
          </a:p>
          <a:p>
            <a:pPr lvl="1"/>
            <a:r>
              <a:rPr lang="en-US" dirty="0"/>
              <a:t>Always: Lot size from the material master for each component </a:t>
            </a:r>
          </a:p>
          <a:p>
            <a:pPr lvl="1"/>
            <a:r>
              <a:rPr lang="en-US" dirty="0"/>
              <a:t>Only with individual requirements Lot size is passed on only if needed</a:t>
            </a:r>
          </a:p>
          <a:p>
            <a:pPr lvl="1"/>
            <a:r>
              <a:rPr lang="en-US" dirty="0"/>
              <a:t>No: The entire structure uses the lot size of the top-level material</a:t>
            </a:r>
          </a:p>
          <a:p>
            <a:endParaRPr lang="en-US" dirty="0"/>
          </a:p>
          <a:p>
            <a:endParaRPr lang="de-DE" dirty="0" smtClean="0"/>
          </a:p>
          <a:p>
            <a:pPr marL="0" indent="0">
              <a:buNone/>
            </a:pPr>
            <a:endParaRPr lang="de-DE" dirty="0" err="1" smtClean="0"/>
          </a:p>
        </p:txBody>
      </p:sp>
      <p:graphicFrame>
        <p:nvGraphicFramePr>
          <p:cNvPr id="5" name="Diagramm 4"/>
          <p:cNvGraphicFramePr/>
          <p:nvPr>
            <p:extLst>
              <p:ext uri="{D42A27DB-BD31-4B8C-83A1-F6EECF244321}">
                <p14:modId xmlns:p14="http://schemas.microsoft.com/office/powerpoint/2010/main" val="585134237"/>
              </p:ext>
            </p:extLst>
          </p:nvPr>
        </p:nvGraphicFramePr>
        <p:xfrm>
          <a:off x="7069065" y="3170512"/>
          <a:ext cx="4547880" cy="3252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Inhaltsplatzhalter 2"/>
          <p:cNvSpPr txBox="1">
            <a:spLocks/>
          </p:cNvSpPr>
          <p:nvPr/>
        </p:nvSpPr>
        <p:spPr bwMode="gray">
          <a:xfrm>
            <a:off x="324000" y="4235387"/>
            <a:ext cx="5372690" cy="1847734"/>
          </a:xfrm>
          <a:prstGeom prst="rect">
            <a:avLst/>
          </a:prstGeom>
        </p:spPr>
        <p:txBody>
          <a:bodyPr vert="horz" lIns="0" tIns="0" rIns="0" bIns="0" rtlCol="0">
            <a:noAutofit/>
          </a:bodyPr>
          <a:lstStyle>
            <a:lvl1pPr marL="201600" indent="-2160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5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smtClean="0"/>
              <a:t>The </a:t>
            </a:r>
            <a:r>
              <a:rPr lang="en-US" dirty="0"/>
              <a:t>quantity structure costing is created based on bills of materials and routings.</a:t>
            </a:r>
            <a:endParaRPr lang="de-DE" dirty="0" err="1" smtClean="0"/>
          </a:p>
        </p:txBody>
      </p:sp>
    </p:spTree>
    <p:extLst>
      <p:ext uri="{BB962C8B-B14F-4D97-AF65-F5344CB8AC3E}">
        <p14:creationId xmlns:p14="http://schemas.microsoft.com/office/powerpoint/2010/main" val="1775979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bwMode="gray">
          <a:xfrm>
            <a:off x="323850" y="1347537"/>
            <a:ext cx="11693979" cy="467513"/>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2000" kern="0" dirty="0">
                <a:ea typeface="Arial Unicode MS" pitchFamily="34" charset="-128"/>
                <a:cs typeface="Arial Unicode MS" pitchFamily="34" charset="-128"/>
              </a:rPr>
              <a:t>Material </a:t>
            </a:r>
            <a:r>
              <a:rPr lang="de-DE" sz="2000" kern="0" dirty="0" err="1">
                <a:ea typeface="Arial Unicode MS" pitchFamily="34" charset="-128"/>
                <a:cs typeface="Arial Unicode MS" pitchFamily="34" charset="-128"/>
              </a:rPr>
              <a:t>and</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Production</a:t>
            </a:r>
            <a:r>
              <a:rPr lang="de-DE" sz="2000" kern="0" dirty="0">
                <a:ea typeface="Arial Unicode MS" pitchFamily="34" charset="-128"/>
                <a:cs typeface="Arial Unicode MS" pitchFamily="34" charset="-128"/>
              </a:rPr>
              <a:t> Data</a:t>
            </a:r>
            <a:endParaRPr kumimoji="0" lang="de-DE" sz="2000" b="0" i="0" u="none" strike="noStrike" kern="0" cap="none" spc="0" normalizeH="0" baseline="0" noProof="0" dirty="0" smtClean="0">
              <a:ln>
                <a:noFill/>
              </a:ln>
              <a:effectLst/>
              <a:uLnTx/>
              <a:uFillTx/>
              <a:ea typeface="Arial Unicode MS" pitchFamily="34" charset="-128"/>
              <a:cs typeface="Arial Unicode MS" pitchFamily="34" charset="-128"/>
            </a:endParaRPr>
          </a:p>
        </p:txBody>
      </p:sp>
      <p:sp>
        <p:nvSpPr>
          <p:cNvPr id="2" name="Titel 1"/>
          <p:cNvSpPr>
            <a:spLocks noGrp="1"/>
          </p:cNvSpPr>
          <p:nvPr>
            <p:ph type="title"/>
          </p:nvPr>
        </p:nvSpPr>
        <p:spPr/>
        <p:txBody>
          <a:bodyPr/>
          <a:lstStyle/>
          <a:p>
            <a:r>
              <a:rPr lang="de-DE" dirty="0" err="1"/>
              <a:t>Product</a:t>
            </a:r>
            <a:r>
              <a:rPr lang="de-DE" dirty="0"/>
              <a:t> </a:t>
            </a:r>
            <a:r>
              <a:rPr lang="de-DE" dirty="0" err="1"/>
              <a:t>Cost</a:t>
            </a:r>
            <a:r>
              <a:rPr lang="de-DE" dirty="0"/>
              <a:t> Controlling (CO-PC) </a:t>
            </a:r>
            <a:r>
              <a:rPr lang="de-DE" dirty="0" smtClean="0"/>
              <a:t>– </a:t>
            </a:r>
            <a:r>
              <a:rPr lang="de-DE" dirty="0" err="1" smtClean="0"/>
              <a:t>Calculation</a:t>
            </a:r>
            <a:r>
              <a:rPr lang="de-DE" dirty="0" smtClean="0"/>
              <a:t> </a:t>
            </a:r>
            <a:r>
              <a:rPr lang="de-DE" dirty="0" err="1" smtClean="0"/>
              <a:t>P</a:t>
            </a:r>
            <a:r>
              <a:rPr lang="de-DE" dirty="0" err="1" smtClean="0"/>
              <a:t>rocess</a:t>
            </a:r>
            <a:endParaRPr lang="de-DE" dirty="0"/>
          </a:p>
        </p:txBody>
      </p:sp>
      <p:graphicFrame>
        <p:nvGraphicFramePr>
          <p:cNvPr id="4" name="Inhaltsplatzhalter 3"/>
          <p:cNvGraphicFramePr>
            <a:graphicFrameLocks noGrp="1"/>
          </p:cNvGraphicFramePr>
          <p:nvPr>
            <p:ph idx="1"/>
            <p:extLst>
              <p:ext uri="{D42A27DB-BD31-4B8C-83A1-F6EECF244321}">
                <p14:modId xmlns:p14="http://schemas.microsoft.com/office/powerpoint/2010/main" val="1499782273"/>
              </p:ext>
            </p:extLst>
          </p:nvPr>
        </p:nvGraphicFramePr>
        <p:xfrm>
          <a:off x="323850" y="1690688"/>
          <a:ext cx="11545888" cy="4392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hteck 5"/>
          <p:cNvSpPr/>
          <p:nvPr/>
        </p:nvSpPr>
        <p:spPr bwMode="gray">
          <a:xfrm>
            <a:off x="323850" y="5958938"/>
            <a:ext cx="11693979" cy="46751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de-DE" sz="2000" kern="0" dirty="0" err="1">
                <a:ea typeface="Arial Unicode MS" pitchFamily="34" charset="-128"/>
                <a:cs typeface="Arial Unicode MS" pitchFamily="34" charset="-128"/>
              </a:rPr>
              <a:t>Costing</a:t>
            </a:r>
            <a:endParaRPr kumimoji="0" lang="de-DE" sz="2000" b="0" i="0" u="none" strike="noStrike" kern="0" cap="none" spc="0" normalizeH="0" baseline="0" noProof="0" dirty="0" smtClean="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132876255"/>
      </p:ext>
    </p:extLst>
  </p:cSld>
  <p:clrMapOvr>
    <a:masterClrMapping/>
  </p:clrMapOvr>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äsentation1" id="{32696891-6260-4D8D-AB31-F1C204081A38}" vid="{B72584D7-7D1F-4BD9-9F01-A4F5E0412201}"/>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SAP_Template_169_en</Template>
  <TotalTime>0</TotalTime>
  <Words>2421</Words>
  <Application>Microsoft Office PowerPoint</Application>
  <PresentationFormat>Benutzerdefiniert</PresentationFormat>
  <Paragraphs>488</Paragraphs>
  <Slides>34</Slides>
  <Notes>9</Notes>
  <HiddenSlides>0</HiddenSlides>
  <MMClips>0</MMClips>
  <ScaleCrop>false</ScaleCrop>
  <HeadingPairs>
    <vt:vector size="8" baseType="variant">
      <vt:variant>
        <vt:lpstr>Verwendete Schriftarten</vt:lpstr>
      </vt:variant>
      <vt:variant>
        <vt:i4>8</vt:i4>
      </vt:variant>
      <vt:variant>
        <vt:lpstr>Design</vt:lpstr>
      </vt:variant>
      <vt:variant>
        <vt:i4>1</vt:i4>
      </vt:variant>
      <vt:variant>
        <vt:lpstr>Eingebettete OLE-Server</vt:lpstr>
      </vt:variant>
      <vt:variant>
        <vt:i4>1</vt:i4>
      </vt:variant>
      <vt:variant>
        <vt:lpstr>Folientitel</vt:lpstr>
      </vt:variant>
      <vt:variant>
        <vt:i4>34</vt:i4>
      </vt:variant>
    </vt:vector>
  </HeadingPairs>
  <TitlesOfParts>
    <vt:vector size="44" baseType="lpstr">
      <vt:lpstr>Angsana New</vt:lpstr>
      <vt:lpstr>Arial</vt:lpstr>
      <vt:lpstr>Arial Unicode MS</vt:lpstr>
      <vt:lpstr>Courier New</vt:lpstr>
      <vt:lpstr>Symbol</vt:lpstr>
      <vt:lpstr>Times New Roman</vt:lpstr>
      <vt:lpstr>wingdings</vt:lpstr>
      <vt:lpstr>wingdings</vt:lpstr>
      <vt:lpstr>SAP_2016_16x9_white</vt:lpstr>
      <vt:lpstr>Clip</vt:lpstr>
      <vt:lpstr>Controlling (CO)</vt:lpstr>
      <vt:lpstr>PowerPoint-Präsentation</vt:lpstr>
      <vt:lpstr>PowerPoint-Präsentation</vt:lpstr>
      <vt:lpstr>PowerPoint-Präsentation</vt:lpstr>
      <vt:lpstr>Agenda</vt:lpstr>
      <vt:lpstr>Goal of Controlling (CO)</vt:lpstr>
      <vt:lpstr>Target Audience</vt:lpstr>
      <vt:lpstr>CO Organizational Structure</vt:lpstr>
      <vt:lpstr>CO Organizational Structure</vt:lpstr>
      <vt:lpstr>CO Organizational Structure</vt:lpstr>
      <vt:lpstr>Global Bike Structure for Controlling</vt:lpstr>
      <vt:lpstr>Global Bike Enterprise Structure in SAP ERP (Accounting)</vt:lpstr>
      <vt:lpstr>Agenda</vt:lpstr>
      <vt:lpstr>CO Master Data</vt:lpstr>
      <vt:lpstr>CO Master Data</vt:lpstr>
      <vt:lpstr>CO Master Data</vt:lpstr>
      <vt:lpstr>Primary vs. Secondary Cost Elements</vt:lpstr>
      <vt:lpstr>CO Master Data</vt:lpstr>
      <vt:lpstr>Agenda</vt:lpstr>
      <vt:lpstr>CO Processes</vt:lpstr>
      <vt:lpstr>CO Processes</vt:lpstr>
      <vt:lpstr>CO Processes</vt:lpstr>
      <vt:lpstr>CO Processes</vt:lpstr>
      <vt:lpstr>Types of Allocation</vt:lpstr>
      <vt:lpstr>Distribution</vt:lpstr>
      <vt:lpstr>Distribution</vt:lpstr>
      <vt:lpstr>Assessment</vt:lpstr>
      <vt:lpstr>Assessment</vt:lpstr>
      <vt:lpstr>SAP CO Module</vt:lpstr>
      <vt:lpstr>Product Cost Controlling (CO-PC)</vt:lpstr>
      <vt:lpstr>Product Cost Controlling (CO-PC)</vt:lpstr>
      <vt:lpstr>Product Cost Controlling (CO-PC)</vt:lpstr>
      <vt:lpstr>Product Cost Controlling (CO-PC)</vt:lpstr>
      <vt:lpstr>Product Cost Controlling (CO-PC) – Calculation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SAP UCC Magdeburg</dc:creator>
  <cp:keywords>2016/16:9/white</cp:keywords>
  <cp:lastModifiedBy>Robert Häusler</cp:lastModifiedBy>
  <cp:revision>89</cp:revision>
  <dcterms:created xsi:type="dcterms:W3CDTF">2017-05-28T06:47:48Z</dcterms:created>
  <dcterms:modified xsi:type="dcterms:W3CDTF">2025-08-08T09:20:48Z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-1173631419</vt:i4>
  </property>
  <property fmtid="{D5CDD505-2E9C-101B-9397-08002B2CF9AE}" pid="3" name="_NewReviewCycle">
    <vt:lpwstr/>
  </property>
  <property fmtid="{D5CDD505-2E9C-101B-9397-08002B2CF9AE}" pid="4" name="_EmailSubject">
    <vt:lpwstr> UA Master Slides Diskussion</vt:lpwstr>
  </property>
  <property fmtid="{D5CDD505-2E9C-101B-9397-08002B2CF9AE}" pid="5" name="_AuthorEmail">
    <vt:lpwstr>kristof.schneider@sap.com</vt:lpwstr>
  </property>
  <property fmtid="{D5CDD505-2E9C-101B-9397-08002B2CF9AE}" pid="6" name="_AuthorEmailDisplayName">
    <vt:lpwstr>Schneider, Kristof</vt:lpwstr>
  </property>
  <property fmtid="{D5CDD505-2E9C-101B-9397-08002B2CF9AE}" pid="7" name="_PreviousAdHocReviewCycleID">
    <vt:i4>1357826825</vt:i4>
  </property>
</Properties>
</file>