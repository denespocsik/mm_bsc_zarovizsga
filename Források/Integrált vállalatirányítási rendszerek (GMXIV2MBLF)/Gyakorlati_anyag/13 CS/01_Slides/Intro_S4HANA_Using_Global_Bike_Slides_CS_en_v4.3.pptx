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6"/>
  </p:notesMasterIdLst>
  <p:handoutMasterIdLst>
    <p:handoutMasterId r:id="rId37"/>
  </p:handoutMasterIdLst>
  <p:sldIdLst>
    <p:sldId id="397" r:id="rId2"/>
    <p:sldId id="369" r:id="rId3"/>
    <p:sldId id="363" r:id="rId4"/>
    <p:sldId id="364" r:id="rId5"/>
    <p:sldId id="388" r:id="rId6"/>
    <p:sldId id="398" r:id="rId7"/>
    <p:sldId id="365" r:id="rId8"/>
    <p:sldId id="366" r:id="rId9"/>
    <p:sldId id="370" r:id="rId10"/>
    <p:sldId id="371" r:id="rId11"/>
    <p:sldId id="372" r:id="rId12"/>
    <p:sldId id="373" r:id="rId13"/>
    <p:sldId id="399" r:id="rId14"/>
    <p:sldId id="374" r:id="rId15"/>
    <p:sldId id="380" r:id="rId16"/>
    <p:sldId id="378" r:id="rId17"/>
    <p:sldId id="379" r:id="rId18"/>
    <p:sldId id="377" r:id="rId19"/>
    <p:sldId id="382" r:id="rId20"/>
    <p:sldId id="381" r:id="rId21"/>
    <p:sldId id="375" r:id="rId22"/>
    <p:sldId id="383" r:id="rId23"/>
    <p:sldId id="384" r:id="rId24"/>
    <p:sldId id="385" r:id="rId25"/>
    <p:sldId id="386" r:id="rId26"/>
    <p:sldId id="387" r:id="rId27"/>
    <p:sldId id="400" r:id="rId28"/>
    <p:sldId id="389" r:id="rId29"/>
    <p:sldId id="394" r:id="rId30"/>
    <p:sldId id="391" r:id="rId31"/>
    <p:sldId id="392" r:id="rId32"/>
    <p:sldId id="393" r:id="rId33"/>
    <p:sldId id="396" r:id="rId34"/>
    <p:sldId id="395" r:id="rId35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285">
          <p15:clr>
            <a:srgbClr val="A4A3A4"/>
          </p15:clr>
        </p15:guide>
        <p15:guide id="4" orient="horz" pos="779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3283"/>
    <a:srgbClr val="FF0000"/>
    <a:srgbClr val="666666"/>
    <a:srgbClr val="2B3F7B"/>
    <a:srgbClr val="9C277B"/>
    <a:srgbClr val="D4652D"/>
    <a:srgbClr val="9E3039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90" autoAdjust="0"/>
  </p:normalViewPr>
  <p:slideViewPr>
    <p:cSldViewPr snapToGrid="0" showGuides="1">
      <p:cViewPr varScale="1">
        <p:scale>
          <a:sx n="79" d="100"/>
          <a:sy n="79" d="100"/>
        </p:scale>
        <p:origin x="114" y="1692"/>
      </p:cViewPr>
      <p:guideLst>
        <p:guide orient="horz" pos="1285"/>
        <p:guide orient="horz" pos="779"/>
        <p:guide pos="7478"/>
        <p:guide pos="205"/>
        <p:guide pos="3849"/>
        <p:guide pos="4708"/>
        <p:guide pos="4812"/>
        <p:guide pos="2865"/>
        <p:guide pos="29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E08E5-E757-45CD-8DF3-761DE8D323FD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</dgm:pt>
    <dgm:pt modelId="{7CECA7A5-8FFB-4925-8E9E-9D835DFD5142}">
      <dgm:prSet phldrT="[Text]"/>
      <dgm:spPr/>
      <dgm:t>
        <a:bodyPr/>
        <a:lstStyle/>
        <a:p>
          <a:r>
            <a:rPr lang="en-US" noProof="0" dirty="0" smtClean="0"/>
            <a:t>Service Order</a:t>
          </a:r>
          <a:endParaRPr lang="en-US" noProof="0" dirty="0"/>
        </a:p>
      </dgm:t>
    </dgm:pt>
    <dgm:pt modelId="{9A6D614A-03CA-4804-A913-EB4B1FBC72B2}" type="parTrans" cxnId="{5715C46A-6254-45D6-9D6E-835866C8B2DE}">
      <dgm:prSet/>
      <dgm:spPr/>
      <dgm:t>
        <a:bodyPr/>
        <a:lstStyle/>
        <a:p>
          <a:endParaRPr lang="de-DE"/>
        </a:p>
      </dgm:t>
    </dgm:pt>
    <dgm:pt modelId="{07406A7F-704B-475D-9301-834C4CF07281}" type="sibTrans" cxnId="{5715C46A-6254-45D6-9D6E-835866C8B2DE}">
      <dgm:prSet/>
      <dgm:spPr/>
      <dgm:t>
        <a:bodyPr/>
        <a:lstStyle/>
        <a:p>
          <a:endParaRPr lang="de-DE"/>
        </a:p>
      </dgm:t>
    </dgm:pt>
    <dgm:pt modelId="{7E0E30E2-473C-4A08-BE2B-975E3652D3DA}">
      <dgm:prSet phldrT="[Text]"/>
      <dgm:spPr/>
      <dgm:t>
        <a:bodyPr/>
        <a:lstStyle/>
        <a:p>
          <a:r>
            <a:rPr lang="en-US" noProof="0" dirty="0" smtClean="0"/>
            <a:t>Planning and release</a:t>
          </a:r>
          <a:endParaRPr lang="en-US" noProof="0" dirty="0"/>
        </a:p>
      </dgm:t>
    </dgm:pt>
    <dgm:pt modelId="{DEFEE8BD-178E-407E-AC29-CE233B1713C1}" type="parTrans" cxnId="{EF0137D9-ED47-47CB-A49A-914E6CE18F18}">
      <dgm:prSet/>
      <dgm:spPr/>
      <dgm:t>
        <a:bodyPr/>
        <a:lstStyle/>
        <a:p>
          <a:endParaRPr lang="de-DE"/>
        </a:p>
      </dgm:t>
    </dgm:pt>
    <dgm:pt modelId="{1FD22C14-9155-4AF4-BF0C-1D034CE382FB}" type="sibTrans" cxnId="{EF0137D9-ED47-47CB-A49A-914E6CE18F18}">
      <dgm:prSet/>
      <dgm:spPr/>
      <dgm:t>
        <a:bodyPr/>
        <a:lstStyle/>
        <a:p>
          <a:endParaRPr lang="de-DE"/>
        </a:p>
      </dgm:t>
    </dgm:pt>
    <dgm:pt modelId="{3A1EB62B-91C2-4327-B73B-203CEE920E4D}">
      <dgm:prSet phldrT="[Text]"/>
      <dgm:spPr/>
      <dgm:t>
        <a:bodyPr/>
        <a:lstStyle/>
        <a:p>
          <a:r>
            <a:rPr lang="en-US" noProof="0" dirty="0" smtClean="0"/>
            <a:t>Business completion</a:t>
          </a:r>
          <a:endParaRPr lang="en-US" noProof="0" dirty="0"/>
        </a:p>
      </dgm:t>
    </dgm:pt>
    <dgm:pt modelId="{9C972956-ED85-4C89-A9E1-4B4DAA9F4FAF}" type="parTrans" cxnId="{C5B97159-62DC-4277-B5B2-C5CB427F1CEA}">
      <dgm:prSet/>
      <dgm:spPr/>
      <dgm:t>
        <a:bodyPr/>
        <a:lstStyle/>
        <a:p>
          <a:endParaRPr lang="de-DE"/>
        </a:p>
      </dgm:t>
    </dgm:pt>
    <dgm:pt modelId="{4272690A-56BA-46DB-9550-FB64EE2661BC}" type="sibTrans" cxnId="{C5B97159-62DC-4277-B5B2-C5CB427F1CEA}">
      <dgm:prSet/>
      <dgm:spPr/>
      <dgm:t>
        <a:bodyPr/>
        <a:lstStyle/>
        <a:p>
          <a:endParaRPr lang="de-DE"/>
        </a:p>
      </dgm:t>
    </dgm:pt>
    <dgm:pt modelId="{9ACFCBF4-34E6-46D4-B905-C40CE625C079}">
      <dgm:prSet/>
      <dgm:spPr/>
      <dgm:t>
        <a:bodyPr/>
        <a:lstStyle/>
        <a:p>
          <a:r>
            <a:rPr lang="en-US" noProof="0" dirty="0" smtClean="0"/>
            <a:t>Execution of activities</a:t>
          </a:r>
          <a:endParaRPr lang="en-US" noProof="0" dirty="0"/>
        </a:p>
      </dgm:t>
    </dgm:pt>
    <dgm:pt modelId="{FBFD2F47-5D6D-44AB-9D28-2027C02A2B1E}" type="parTrans" cxnId="{E0A95088-63C9-42ED-BBFD-D2C33A8006A9}">
      <dgm:prSet/>
      <dgm:spPr/>
      <dgm:t>
        <a:bodyPr/>
        <a:lstStyle/>
        <a:p>
          <a:endParaRPr lang="de-DE"/>
        </a:p>
      </dgm:t>
    </dgm:pt>
    <dgm:pt modelId="{B5BEE261-7E32-47CF-870C-BE5C7876F06F}" type="sibTrans" cxnId="{E0A95088-63C9-42ED-BBFD-D2C33A8006A9}">
      <dgm:prSet/>
      <dgm:spPr/>
      <dgm:t>
        <a:bodyPr/>
        <a:lstStyle/>
        <a:p>
          <a:endParaRPr lang="de-DE"/>
        </a:p>
      </dgm:t>
    </dgm:pt>
    <dgm:pt modelId="{3812B14E-31DD-4E03-A8F9-083088684570}">
      <dgm:prSet/>
      <dgm:spPr/>
      <dgm:t>
        <a:bodyPr/>
        <a:lstStyle/>
        <a:p>
          <a:r>
            <a:rPr lang="en-US" noProof="0" dirty="0" smtClean="0"/>
            <a:t>Confirmation and technical completion</a:t>
          </a:r>
          <a:endParaRPr lang="en-US" noProof="0" dirty="0"/>
        </a:p>
      </dgm:t>
    </dgm:pt>
    <dgm:pt modelId="{BC6B5006-66E3-454D-8D7A-F1545CD4446F}" type="parTrans" cxnId="{DE8D4288-4C64-4A20-86E6-6B0DEC7CB9B9}">
      <dgm:prSet/>
      <dgm:spPr/>
      <dgm:t>
        <a:bodyPr/>
        <a:lstStyle/>
        <a:p>
          <a:endParaRPr lang="de-DE"/>
        </a:p>
      </dgm:t>
    </dgm:pt>
    <dgm:pt modelId="{D6D7FA2A-D1A4-4DF9-A766-DC347D75AF3D}" type="sibTrans" cxnId="{DE8D4288-4C64-4A20-86E6-6B0DEC7CB9B9}">
      <dgm:prSet/>
      <dgm:spPr/>
      <dgm:t>
        <a:bodyPr/>
        <a:lstStyle/>
        <a:p>
          <a:endParaRPr lang="de-DE"/>
        </a:p>
      </dgm:t>
    </dgm:pt>
    <dgm:pt modelId="{FB95E682-1387-4C0C-BEEF-D097CC52B59D}">
      <dgm:prSet/>
      <dgm:spPr/>
      <dgm:t>
        <a:bodyPr/>
        <a:lstStyle/>
        <a:p>
          <a:r>
            <a:rPr lang="en-US" noProof="0" dirty="0" smtClean="0"/>
            <a:t>Billing</a:t>
          </a:r>
          <a:endParaRPr lang="en-US" noProof="0" dirty="0"/>
        </a:p>
      </dgm:t>
    </dgm:pt>
    <dgm:pt modelId="{C74F3C18-DEAA-48CB-B2C1-4163164ACEA7}" type="parTrans" cxnId="{6301B286-9031-4E91-8EFA-BBF324CDBE04}">
      <dgm:prSet/>
      <dgm:spPr/>
      <dgm:t>
        <a:bodyPr/>
        <a:lstStyle/>
        <a:p>
          <a:endParaRPr lang="de-DE"/>
        </a:p>
      </dgm:t>
    </dgm:pt>
    <dgm:pt modelId="{79377823-D3C5-45F6-B380-B9F119034108}" type="sibTrans" cxnId="{6301B286-9031-4E91-8EFA-BBF324CDBE04}">
      <dgm:prSet/>
      <dgm:spPr/>
      <dgm:t>
        <a:bodyPr/>
        <a:lstStyle/>
        <a:p>
          <a:endParaRPr lang="de-DE"/>
        </a:p>
      </dgm:t>
    </dgm:pt>
    <dgm:pt modelId="{2E8F27F4-BF68-4557-A09E-C6A45F47383B}" type="pres">
      <dgm:prSet presAssocID="{89EE08E5-E757-45CD-8DF3-761DE8D323FD}" presName="Name0" presStyleCnt="0">
        <dgm:presLayoutVars>
          <dgm:dir/>
          <dgm:resizeHandles val="exact"/>
        </dgm:presLayoutVars>
      </dgm:prSet>
      <dgm:spPr/>
    </dgm:pt>
    <dgm:pt modelId="{6A6FAB67-E219-4B01-A1B2-C4C96ADD3604}" type="pres">
      <dgm:prSet presAssocID="{89EE08E5-E757-45CD-8DF3-761DE8D323FD}" presName="cycle" presStyleCnt="0"/>
      <dgm:spPr/>
    </dgm:pt>
    <dgm:pt modelId="{B2FBFCAF-933A-4795-88C4-F94648FA8D22}" type="pres">
      <dgm:prSet presAssocID="{7CECA7A5-8FFB-4925-8E9E-9D835DFD5142}" presName="nodeFirs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544F27B-4BDA-4B3A-AD0E-8A3991306B0E}" type="pres">
      <dgm:prSet presAssocID="{07406A7F-704B-475D-9301-834C4CF07281}" presName="sibTransFirstNode" presStyleLbl="bgShp" presStyleIdx="0" presStyleCnt="1"/>
      <dgm:spPr/>
      <dgm:t>
        <a:bodyPr/>
        <a:lstStyle/>
        <a:p>
          <a:endParaRPr lang="de-DE"/>
        </a:p>
      </dgm:t>
    </dgm:pt>
    <dgm:pt modelId="{F39754F3-A055-4629-8AF5-3F387567A829}" type="pres">
      <dgm:prSet presAssocID="{7E0E30E2-473C-4A08-BE2B-975E3652D3DA}" presName="nodeFollowingNodes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1383B3C-263C-4062-881D-670EA4B1524B}" type="pres">
      <dgm:prSet presAssocID="{9ACFCBF4-34E6-46D4-B905-C40CE625C079}" presName="nodeFollowingNodes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23ECF60-C0A7-4D7A-B772-D1537D7B436B}" type="pres">
      <dgm:prSet presAssocID="{3812B14E-31DD-4E03-A8F9-083088684570}" presName="nodeFollowingNodes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8AE9D3C-7A10-4CE1-B8EB-754F5270CC45}" type="pres">
      <dgm:prSet presAssocID="{FB95E682-1387-4C0C-BEEF-D097CC52B59D}" presName="nodeFollowingNodes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A1572E9-E24B-4C51-8461-6EA50646F0A5}" type="pres">
      <dgm:prSet presAssocID="{3A1EB62B-91C2-4327-B73B-203CEE920E4D}" presName="nodeFollowingNodes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F15CC37-C7B7-4941-BC48-C0590804D368}" type="presOf" srcId="{7E0E30E2-473C-4A08-BE2B-975E3652D3DA}" destId="{F39754F3-A055-4629-8AF5-3F387567A829}" srcOrd="0" destOrd="0" presId="urn:microsoft.com/office/officeart/2005/8/layout/cycle3"/>
    <dgm:cxn modelId="{EF0137D9-ED47-47CB-A49A-914E6CE18F18}" srcId="{89EE08E5-E757-45CD-8DF3-761DE8D323FD}" destId="{7E0E30E2-473C-4A08-BE2B-975E3652D3DA}" srcOrd="1" destOrd="0" parTransId="{DEFEE8BD-178E-407E-AC29-CE233B1713C1}" sibTransId="{1FD22C14-9155-4AF4-BF0C-1D034CE382FB}"/>
    <dgm:cxn modelId="{5715C46A-6254-45D6-9D6E-835866C8B2DE}" srcId="{89EE08E5-E757-45CD-8DF3-761DE8D323FD}" destId="{7CECA7A5-8FFB-4925-8E9E-9D835DFD5142}" srcOrd="0" destOrd="0" parTransId="{9A6D614A-03CA-4804-A913-EB4B1FBC72B2}" sibTransId="{07406A7F-704B-475D-9301-834C4CF07281}"/>
    <dgm:cxn modelId="{3F8D7FF5-B19E-47E4-88EF-8D2C5B8A6E7A}" type="presOf" srcId="{9ACFCBF4-34E6-46D4-B905-C40CE625C079}" destId="{C1383B3C-263C-4062-881D-670EA4B1524B}" srcOrd="0" destOrd="0" presId="urn:microsoft.com/office/officeart/2005/8/layout/cycle3"/>
    <dgm:cxn modelId="{C5B97159-62DC-4277-B5B2-C5CB427F1CEA}" srcId="{89EE08E5-E757-45CD-8DF3-761DE8D323FD}" destId="{3A1EB62B-91C2-4327-B73B-203CEE920E4D}" srcOrd="5" destOrd="0" parTransId="{9C972956-ED85-4C89-A9E1-4B4DAA9F4FAF}" sibTransId="{4272690A-56BA-46DB-9550-FB64EE2661BC}"/>
    <dgm:cxn modelId="{F5034701-7168-484D-AD31-4EB3C8C038B8}" type="presOf" srcId="{3812B14E-31DD-4E03-A8F9-083088684570}" destId="{323ECF60-C0A7-4D7A-B772-D1537D7B436B}" srcOrd="0" destOrd="0" presId="urn:microsoft.com/office/officeart/2005/8/layout/cycle3"/>
    <dgm:cxn modelId="{16063F7D-D2B7-4C9E-A8E5-C54D5F431B1A}" type="presOf" srcId="{7CECA7A5-8FFB-4925-8E9E-9D835DFD5142}" destId="{B2FBFCAF-933A-4795-88C4-F94648FA8D22}" srcOrd="0" destOrd="0" presId="urn:microsoft.com/office/officeart/2005/8/layout/cycle3"/>
    <dgm:cxn modelId="{E0A95088-63C9-42ED-BBFD-D2C33A8006A9}" srcId="{89EE08E5-E757-45CD-8DF3-761DE8D323FD}" destId="{9ACFCBF4-34E6-46D4-B905-C40CE625C079}" srcOrd="2" destOrd="0" parTransId="{FBFD2F47-5D6D-44AB-9D28-2027C02A2B1E}" sibTransId="{B5BEE261-7E32-47CF-870C-BE5C7876F06F}"/>
    <dgm:cxn modelId="{6301B286-9031-4E91-8EFA-BBF324CDBE04}" srcId="{89EE08E5-E757-45CD-8DF3-761DE8D323FD}" destId="{FB95E682-1387-4C0C-BEEF-D097CC52B59D}" srcOrd="4" destOrd="0" parTransId="{C74F3C18-DEAA-48CB-B2C1-4163164ACEA7}" sibTransId="{79377823-D3C5-45F6-B380-B9F119034108}"/>
    <dgm:cxn modelId="{3857442E-3C65-4F62-9E23-697529EA76FB}" type="presOf" srcId="{89EE08E5-E757-45CD-8DF3-761DE8D323FD}" destId="{2E8F27F4-BF68-4557-A09E-C6A45F47383B}" srcOrd="0" destOrd="0" presId="urn:microsoft.com/office/officeart/2005/8/layout/cycle3"/>
    <dgm:cxn modelId="{68673E6A-F501-48B1-AE2C-126057FEB745}" type="presOf" srcId="{FB95E682-1387-4C0C-BEEF-D097CC52B59D}" destId="{58AE9D3C-7A10-4CE1-B8EB-754F5270CC45}" srcOrd="0" destOrd="0" presId="urn:microsoft.com/office/officeart/2005/8/layout/cycle3"/>
    <dgm:cxn modelId="{3D00C941-EDD2-41C7-9E5E-1A1E4469612D}" type="presOf" srcId="{07406A7F-704B-475D-9301-834C4CF07281}" destId="{1544F27B-4BDA-4B3A-AD0E-8A3991306B0E}" srcOrd="0" destOrd="0" presId="urn:microsoft.com/office/officeart/2005/8/layout/cycle3"/>
    <dgm:cxn modelId="{AE4A75A3-39CF-415C-A24C-2939CB4D87A8}" type="presOf" srcId="{3A1EB62B-91C2-4327-B73B-203CEE920E4D}" destId="{5A1572E9-E24B-4C51-8461-6EA50646F0A5}" srcOrd="0" destOrd="0" presId="urn:microsoft.com/office/officeart/2005/8/layout/cycle3"/>
    <dgm:cxn modelId="{DE8D4288-4C64-4A20-86E6-6B0DEC7CB9B9}" srcId="{89EE08E5-E757-45CD-8DF3-761DE8D323FD}" destId="{3812B14E-31DD-4E03-A8F9-083088684570}" srcOrd="3" destOrd="0" parTransId="{BC6B5006-66E3-454D-8D7A-F1545CD4446F}" sibTransId="{D6D7FA2A-D1A4-4DF9-A766-DC347D75AF3D}"/>
    <dgm:cxn modelId="{472B96C1-A7FC-42CA-ABB3-269AAB8D9026}" type="presParOf" srcId="{2E8F27F4-BF68-4557-A09E-C6A45F47383B}" destId="{6A6FAB67-E219-4B01-A1B2-C4C96ADD3604}" srcOrd="0" destOrd="0" presId="urn:microsoft.com/office/officeart/2005/8/layout/cycle3"/>
    <dgm:cxn modelId="{27FE952C-29D9-412D-A78A-BC9214E10A6A}" type="presParOf" srcId="{6A6FAB67-E219-4B01-A1B2-C4C96ADD3604}" destId="{B2FBFCAF-933A-4795-88C4-F94648FA8D22}" srcOrd="0" destOrd="0" presId="urn:microsoft.com/office/officeart/2005/8/layout/cycle3"/>
    <dgm:cxn modelId="{F9D45D93-209C-4E65-BA0D-F1F85ACD01FB}" type="presParOf" srcId="{6A6FAB67-E219-4B01-A1B2-C4C96ADD3604}" destId="{1544F27B-4BDA-4B3A-AD0E-8A3991306B0E}" srcOrd="1" destOrd="0" presId="urn:microsoft.com/office/officeart/2005/8/layout/cycle3"/>
    <dgm:cxn modelId="{1C96AD2B-EA09-4C91-B9CB-579280837833}" type="presParOf" srcId="{6A6FAB67-E219-4B01-A1B2-C4C96ADD3604}" destId="{F39754F3-A055-4629-8AF5-3F387567A829}" srcOrd="2" destOrd="0" presId="urn:microsoft.com/office/officeart/2005/8/layout/cycle3"/>
    <dgm:cxn modelId="{B790B05D-9528-4ACA-871A-AF5E2E56F703}" type="presParOf" srcId="{6A6FAB67-E219-4B01-A1B2-C4C96ADD3604}" destId="{C1383B3C-263C-4062-881D-670EA4B1524B}" srcOrd="3" destOrd="0" presId="urn:microsoft.com/office/officeart/2005/8/layout/cycle3"/>
    <dgm:cxn modelId="{BB2D3057-67C1-49F7-96FE-66F3C74442D4}" type="presParOf" srcId="{6A6FAB67-E219-4B01-A1B2-C4C96ADD3604}" destId="{323ECF60-C0A7-4D7A-B772-D1537D7B436B}" srcOrd="4" destOrd="0" presId="urn:microsoft.com/office/officeart/2005/8/layout/cycle3"/>
    <dgm:cxn modelId="{2ADCCAA7-270C-4D06-9B53-8CF0E054B5BF}" type="presParOf" srcId="{6A6FAB67-E219-4B01-A1B2-C4C96ADD3604}" destId="{58AE9D3C-7A10-4CE1-B8EB-754F5270CC45}" srcOrd="5" destOrd="0" presId="urn:microsoft.com/office/officeart/2005/8/layout/cycle3"/>
    <dgm:cxn modelId="{0B3082B3-DC9F-4812-93B6-40AECD81C24F}" type="presParOf" srcId="{6A6FAB67-E219-4B01-A1B2-C4C96ADD3604}" destId="{5A1572E9-E24B-4C51-8461-6EA50646F0A5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0C13A4-E054-46B2-9E18-5EB767A9368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</dgm:pt>
    <dgm:pt modelId="{A899FFBB-9AD7-4BC0-8A13-9CB1EE0D52D9}">
      <dgm:prSet phldrT="[Text]"/>
      <dgm:spPr/>
      <dgm:t>
        <a:bodyPr/>
        <a:lstStyle/>
        <a:p>
          <a:r>
            <a:rPr lang="en-US" noProof="0" smtClean="0"/>
            <a:t>Customer message</a:t>
          </a:r>
          <a:endParaRPr lang="en-US" noProof="0"/>
        </a:p>
      </dgm:t>
    </dgm:pt>
    <dgm:pt modelId="{14651913-DD43-497C-952A-7926EBA952EE}" type="parTrans" cxnId="{3A4075B9-1FD3-4966-BE8E-633666F59098}">
      <dgm:prSet/>
      <dgm:spPr/>
      <dgm:t>
        <a:bodyPr/>
        <a:lstStyle/>
        <a:p>
          <a:endParaRPr lang="de-DE"/>
        </a:p>
      </dgm:t>
    </dgm:pt>
    <dgm:pt modelId="{9EAAEAA7-7A2D-4781-B8FE-71A090FC250E}" type="sibTrans" cxnId="{3A4075B9-1FD3-4966-BE8E-633666F59098}">
      <dgm:prSet/>
      <dgm:spPr/>
      <dgm:t>
        <a:bodyPr/>
        <a:lstStyle/>
        <a:p>
          <a:endParaRPr lang="de-DE"/>
        </a:p>
      </dgm:t>
    </dgm:pt>
    <dgm:pt modelId="{DAD9F528-3AFE-4EEC-A5D5-6A2FF978818A}">
      <dgm:prSet phldrT="[Text]"/>
      <dgm:spPr/>
      <dgm:t>
        <a:bodyPr/>
        <a:lstStyle/>
        <a:p>
          <a:r>
            <a:rPr lang="en-US" noProof="0" dirty="0" smtClean="0"/>
            <a:t>Good issue</a:t>
          </a:r>
          <a:endParaRPr lang="en-US" noProof="0" dirty="0"/>
        </a:p>
      </dgm:t>
    </dgm:pt>
    <dgm:pt modelId="{AFD5E1B0-902A-4D37-BFCE-D79193FE176F}" type="parTrans" cxnId="{CEAAC366-3FE1-40C2-A120-E8CAC2D5E535}">
      <dgm:prSet/>
      <dgm:spPr/>
      <dgm:t>
        <a:bodyPr/>
        <a:lstStyle/>
        <a:p>
          <a:endParaRPr lang="de-DE"/>
        </a:p>
      </dgm:t>
    </dgm:pt>
    <dgm:pt modelId="{0853D2A3-6030-45BA-A5A0-FEE7A442F448}" type="sibTrans" cxnId="{CEAAC366-3FE1-40C2-A120-E8CAC2D5E535}">
      <dgm:prSet/>
      <dgm:spPr/>
      <dgm:t>
        <a:bodyPr/>
        <a:lstStyle/>
        <a:p>
          <a:endParaRPr lang="de-DE"/>
        </a:p>
      </dgm:t>
    </dgm:pt>
    <dgm:pt modelId="{6A404D09-F516-48A8-BC34-087AC82337B1}">
      <dgm:prSet phldrT="[Text]"/>
      <dgm:spPr/>
      <dgm:t>
        <a:bodyPr/>
        <a:lstStyle/>
        <a:p>
          <a:r>
            <a:rPr lang="en-US" noProof="0" dirty="0" smtClean="0"/>
            <a:t>Billing</a:t>
          </a:r>
          <a:endParaRPr lang="en-US" noProof="0" dirty="0"/>
        </a:p>
      </dgm:t>
    </dgm:pt>
    <dgm:pt modelId="{0F0FF961-D108-448E-AFFC-8E39AF069AA0}" type="parTrans" cxnId="{234B36E7-7891-4627-9152-36C56DD19FBD}">
      <dgm:prSet/>
      <dgm:spPr/>
      <dgm:t>
        <a:bodyPr/>
        <a:lstStyle/>
        <a:p>
          <a:endParaRPr lang="de-DE"/>
        </a:p>
      </dgm:t>
    </dgm:pt>
    <dgm:pt modelId="{0FF0DBC5-D510-4475-8003-19F74097D20B}" type="sibTrans" cxnId="{234B36E7-7891-4627-9152-36C56DD19FBD}">
      <dgm:prSet/>
      <dgm:spPr/>
      <dgm:t>
        <a:bodyPr/>
        <a:lstStyle/>
        <a:p>
          <a:endParaRPr lang="de-DE"/>
        </a:p>
      </dgm:t>
    </dgm:pt>
    <dgm:pt modelId="{EB47CF83-B7E2-4EE9-AA45-DB8B260A490A}">
      <dgm:prSet/>
      <dgm:spPr/>
      <dgm:t>
        <a:bodyPr/>
        <a:lstStyle/>
        <a:p>
          <a:r>
            <a:rPr lang="en-US" noProof="0" dirty="0" smtClean="0"/>
            <a:t>Goods receipt</a:t>
          </a:r>
          <a:endParaRPr lang="en-US" noProof="0" dirty="0"/>
        </a:p>
      </dgm:t>
    </dgm:pt>
    <dgm:pt modelId="{4BE0E2F3-3877-417E-9D55-D337ED478D4F}" type="parTrans" cxnId="{2DF72C97-4D70-472D-A5BE-F2124FCA5958}">
      <dgm:prSet/>
      <dgm:spPr/>
      <dgm:t>
        <a:bodyPr/>
        <a:lstStyle/>
        <a:p>
          <a:endParaRPr lang="de-DE"/>
        </a:p>
      </dgm:t>
    </dgm:pt>
    <dgm:pt modelId="{2B200D28-BA16-468F-AE0B-819BE551DFDB}" type="sibTrans" cxnId="{2DF72C97-4D70-472D-A5BE-F2124FCA5958}">
      <dgm:prSet/>
      <dgm:spPr/>
      <dgm:t>
        <a:bodyPr/>
        <a:lstStyle/>
        <a:p>
          <a:endParaRPr lang="de-DE"/>
        </a:p>
      </dgm:t>
    </dgm:pt>
    <dgm:pt modelId="{F47B3916-A8EE-45F1-935F-A457EEB71720}">
      <dgm:prSet/>
      <dgm:spPr/>
      <dgm:t>
        <a:bodyPr/>
        <a:lstStyle/>
        <a:p>
          <a:r>
            <a:rPr lang="en-US" noProof="0" dirty="0" smtClean="0"/>
            <a:t>Customer repair order</a:t>
          </a:r>
        </a:p>
      </dgm:t>
    </dgm:pt>
    <dgm:pt modelId="{FD19B8B3-9700-44CD-BF60-CF0DD7AF4CF8}" type="parTrans" cxnId="{23236EEE-D1FD-4D5A-AE29-0FE13DE6F238}">
      <dgm:prSet/>
      <dgm:spPr/>
      <dgm:t>
        <a:bodyPr/>
        <a:lstStyle/>
        <a:p>
          <a:endParaRPr lang="de-DE"/>
        </a:p>
      </dgm:t>
    </dgm:pt>
    <dgm:pt modelId="{43685331-2C2D-4769-B536-4AA1E5C39200}" type="sibTrans" cxnId="{23236EEE-D1FD-4D5A-AE29-0FE13DE6F238}">
      <dgm:prSet/>
      <dgm:spPr/>
      <dgm:t>
        <a:bodyPr/>
        <a:lstStyle/>
        <a:p>
          <a:endParaRPr lang="de-DE"/>
        </a:p>
      </dgm:t>
    </dgm:pt>
    <dgm:pt modelId="{B823EEAD-3A5D-476A-8609-A1E501F0D3E9}">
      <dgm:prSet/>
      <dgm:spPr/>
      <dgm:t>
        <a:bodyPr/>
        <a:lstStyle/>
        <a:p>
          <a:r>
            <a:rPr lang="en-US" noProof="0" dirty="0" smtClean="0"/>
            <a:t>Service order</a:t>
          </a:r>
          <a:endParaRPr lang="en-US" noProof="0" dirty="0"/>
        </a:p>
      </dgm:t>
    </dgm:pt>
    <dgm:pt modelId="{C4B02669-378D-4EAD-8556-72C89A457953}" type="parTrans" cxnId="{3C003741-D15D-48E1-A5DB-8F249EC773F0}">
      <dgm:prSet/>
      <dgm:spPr/>
      <dgm:t>
        <a:bodyPr/>
        <a:lstStyle/>
        <a:p>
          <a:endParaRPr lang="de-DE"/>
        </a:p>
      </dgm:t>
    </dgm:pt>
    <dgm:pt modelId="{3C1A1F8A-95FD-46FC-A79E-33CBFAAEB679}" type="sibTrans" cxnId="{3C003741-D15D-48E1-A5DB-8F249EC773F0}">
      <dgm:prSet/>
      <dgm:spPr/>
      <dgm:t>
        <a:bodyPr/>
        <a:lstStyle/>
        <a:p>
          <a:endParaRPr lang="de-DE"/>
        </a:p>
      </dgm:t>
    </dgm:pt>
    <dgm:pt modelId="{CC4FD7DA-B559-44DD-A94C-A68CF6753612}">
      <dgm:prSet/>
      <dgm:spPr/>
      <dgm:t>
        <a:bodyPr/>
        <a:lstStyle/>
        <a:p>
          <a:r>
            <a:rPr lang="en-US" noProof="0" dirty="0" smtClean="0"/>
            <a:t>Technical inspection</a:t>
          </a:r>
          <a:endParaRPr lang="en-US" noProof="0" dirty="0"/>
        </a:p>
      </dgm:t>
    </dgm:pt>
    <dgm:pt modelId="{93B42C45-EC3A-4394-945D-7356D668BF4B}" type="parTrans" cxnId="{24B6E08F-8CE4-4DA6-B4C6-49E4A9A57E25}">
      <dgm:prSet/>
      <dgm:spPr/>
      <dgm:t>
        <a:bodyPr/>
        <a:lstStyle/>
        <a:p>
          <a:endParaRPr lang="de-DE"/>
        </a:p>
      </dgm:t>
    </dgm:pt>
    <dgm:pt modelId="{75A36B86-866B-4954-A92A-75281F189D91}" type="sibTrans" cxnId="{24B6E08F-8CE4-4DA6-B4C6-49E4A9A57E25}">
      <dgm:prSet/>
      <dgm:spPr/>
      <dgm:t>
        <a:bodyPr/>
        <a:lstStyle/>
        <a:p>
          <a:endParaRPr lang="de-DE"/>
        </a:p>
      </dgm:t>
    </dgm:pt>
    <dgm:pt modelId="{3CF5916D-E610-4DD1-86A5-5C8F9B322CB7}">
      <dgm:prSet/>
      <dgm:spPr/>
      <dgm:t>
        <a:bodyPr/>
        <a:lstStyle/>
        <a:p>
          <a:r>
            <a:rPr lang="en-US" noProof="0" dirty="0" smtClean="0"/>
            <a:t>Repair</a:t>
          </a:r>
          <a:endParaRPr lang="en-US" noProof="0" dirty="0"/>
        </a:p>
      </dgm:t>
    </dgm:pt>
    <dgm:pt modelId="{2ABA5C67-83AC-463C-B119-79B973BBFC4E}" type="parTrans" cxnId="{A15B051B-9826-403F-BB7B-B3BB233933B2}">
      <dgm:prSet/>
      <dgm:spPr/>
      <dgm:t>
        <a:bodyPr/>
        <a:lstStyle/>
        <a:p>
          <a:endParaRPr lang="de-DE"/>
        </a:p>
      </dgm:t>
    </dgm:pt>
    <dgm:pt modelId="{0133FBE7-65A1-4F84-963F-9EB6BB1ED8AE}" type="sibTrans" cxnId="{A15B051B-9826-403F-BB7B-B3BB233933B2}">
      <dgm:prSet/>
      <dgm:spPr/>
      <dgm:t>
        <a:bodyPr/>
        <a:lstStyle/>
        <a:p>
          <a:endParaRPr lang="de-DE"/>
        </a:p>
      </dgm:t>
    </dgm:pt>
    <dgm:pt modelId="{86C8C573-0E45-463A-9D5E-6E58F3ECF410}" type="pres">
      <dgm:prSet presAssocID="{F70C13A4-E054-46B2-9E18-5EB767A93687}" presName="Name0" presStyleCnt="0">
        <dgm:presLayoutVars>
          <dgm:dir/>
          <dgm:resizeHandles val="exact"/>
        </dgm:presLayoutVars>
      </dgm:prSet>
      <dgm:spPr/>
    </dgm:pt>
    <dgm:pt modelId="{1EA4CA69-97AE-4947-87A2-4C171E7C605A}" type="pres">
      <dgm:prSet presAssocID="{F70C13A4-E054-46B2-9E18-5EB767A93687}" presName="cycle" presStyleCnt="0"/>
      <dgm:spPr/>
    </dgm:pt>
    <dgm:pt modelId="{3AF8180D-C28F-4182-9526-922283B708A5}" type="pres">
      <dgm:prSet presAssocID="{A899FFBB-9AD7-4BC0-8A13-9CB1EE0D52D9}" presName="nodeFirst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1D65974-AF49-4E96-B992-3EAC30E40535}" type="pres">
      <dgm:prSet presAssocID="{9EAAEAA7-7A2D-4781-B8FE-71A090FC250E}" presName="sibTransFirstNode" presStyleLbl="bgShp" presStyleIdx="0" presStyleCnt="1"/>
      <dgm:spPr/>
      <dgm:t>
        <a:bodyPr/>
        <a:lstStyle/>
        <a:p>
          <a:endParaRPr lang="de-DE"/>
        </a:p>
      </dgm:t>
    </dgm:pt>
    <dgm:pt modelId="{88E7E56B-D911-4D59-A04D-3E2B36546705}" type="pres">
      <dgm:prSet presAssocID="{F47B3916-A8EE-45F1-935F-A457EEB71720}" presName="nodeFollowingNodes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B9A2106B-EE6C-4BC0-9F59-617CF79D2188}" type="pres">
      <dgm:prSet presAssocID="{EB47CF83-B7E2-4EE9-AA45-DB8B260A490A}" presName="nodeFollowingNodes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1DA7E1C-9F52-41F6-87F5-49ED50AB091A}" type="pres">
      <dgm:prSet presAssocID="{CC4FD7DA-B559-44DD-A94C-A68CF6753612}" presName="nodeFollowingNodes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DC7B32A-4D31-4ABC-A826-1C4CF89AAB3A}" type="pres">
      <dgm:prSet presAssocID="{3CF5916D-E610-4DD1-86A5-5C8F9B322CB7}" presName="nodeFollowingNodes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C1C6505-D869-4946-9BAB-05A4A3BC792F}" type="pres">
      <dgm:prSet presAssocID="{B823EEAD-3A5D-476A-8609-A1E501F0D3E9}" presName="nodeFollowingNodes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93C79BA-7250-445C-9D63-6912624D52AF}" type="pres">
      <dgm:prSet presAssocID="{DAD9F528-3AFE-4EEC-A5D5-6A2FF978818A}" presName="nodeFollowingNodes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8F7FFA9-F069-485B-8719-1C63EABDA09D}" type="pres">
      <dgm:prSet presAssocID="{6A404D09-F516-48A8-BC34-087AC82337B1}" presName="nodeFollowingNodes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3A4075B9-1FD3-4966-BE8E-633666F59098}" srcId="{F70C13A4-E054-46B2-9E18-5EB767A93687}" destId="{A899FFBB-9AD7-4BC0-8A13-9CB1EE0D52D9}" srcOrd="0" destOrd="0" parTransId="{14651913-DD43-497C-952A-7926EBA952EE}" sibTransId="{9EAAEAA7-7A2D-4781-B8FE-71A090FC250E}"/>
    <dgm:cxn modelId="{02015001-4F5B-45E2-96EF-0B0D12427E07}" type="presOf" srcId="{F47B3916-A8EE-45F1-935F-A457EEB71720}" destId="{88E7E56B-D911-4D59-A04D-3E2B36546705}" srcOrd="0" destOrd="0" presId="urn:microsoft.com/office/officeart/2005/8/layout/cycle3"/>
    <dgm:cxn modelId="{A7AF3084-157F-4B90-9997-7831B9A0477B}" type="presOf" srcId="{6A404D09-F516-48A8-BC34-087AC82337B1}" destId="{78F7FFA9-F069-485B-8719-1C63EABDA09D}" srcOrd="0" destOrd="0" presId="urn:microsoft.com/office/officeart/2005/8/layout/cycle3"/>
    <dgm:cxn modelId="{2DF72C97-4D70-472D-A5BE-F2124FCA5958}" srcId="{F70C13A4-E054-46B2-9E18-5EB767A93687}" destId="{EB47CF83-B7E2-4EE9-AA45-DB8B260A490A}" srcOrd="2" destOrd="0" parTransId="{4BE0E2F3-3877-417E-9D55-D337ED478D4F}" sibTransId="{2B200D28-BA16-468F-AE0B-819BE551DFDB}"/>
    <dgm:cxn modelId="{ADABA95F-CEBE-420B-8BC9-1738AD15FDE1}" type="presOf" srcId="{A899FFBB-9AD7-4BC0-8A13-9CB1EE0D52D9}" destId="{3AF8180D-C28F-4182-9526-922283B708A5}" srcOrd="0" destOrd="0" presId="urn:microsoft.com/office/officeart/2005/8/layout/cycle3"/>
    <dgm:cxn modelId="{24B6E08F-8CE4-4DA6-B4C6-49E4A9A57E25}" srcId="{F70C13A4-E054-46B2-9E18-5EB767A93687}" destId="{CC4FD7DA-B559-44DD-A94C-A68CF6753612}" srcOrd="3" destOrd="0" parTransId="{93B42C45-EC3A-4394-945D-7356D668BF4B}" sibTransId="{75A36B86-866B-4954-A92A-75281F189D91}"/>
    <dgm:cxn modelId="{23236EEE-D1FD-4D5A-AE29-0FE13DE6F238}" srcId="{F70C13A4-E054-46B2-9E18-5EB767A93687}" destId="{F47B3916-A8EE-45F1-935F-A457EEB71720}" srcOrd="1" destOrd="0" parTransId="{FD19B8B3-9700-44CD-BF60-CF0DD7AF4CF8}" sibTransId="{43685331-2C2D-4769-B536-4AA1E5C39200}"/>
    <dgm:cxn modelId="{9CE31152-F6F1-46B4-87DD-2AFAB99CFDF4}" type="presOf" srcId="{B823EEAD-3A5D-476A-8609-A1E501F0D3E9}" destId="{5C1C6505-D869-4946-9BAB-05A4A3BC792F}" srcOrd="0" destOrd="0" presId="urn:microsoft.com/office/officeart/2005/8/layout/cycle3"/>
    <dgm:cxn modelId="{88BB9EC3-5860-4125-9242-1BA3A976CF97}" type="presOf" srcId="{EB47CF83-B7E2-4EE9-AA45-DB8B260A490A}" destId="{B9A2106B-EE6C-4BC0-9F59-617CF79D2188}" srcOrd="0" destOrd="0" presId="urn:microsoft.com/office/officeart/2005/8/layout/cycle3"/>
    <dgm:cxn modelId="{234B36E7-7891-4627-9152-36C56DD19FBD}" srcId="{F70C13A4-E054-46B2-9E18-5EB767A93687}" destId="{6A404D09-F516-48A8-BC34-087AC82337B1}" srcOrd="7" destOrd="0" parTransId="{0F0FF961-D108-448E-AFFC-8E39AF069AA0}" sibTransId="{0FF0DBC5-D510-4475-8003-19F74097D20B}"/>
    <dgm:cxn modelId="{9323BA38-6DE7-474B-9083-646E7C3C9859}" type="presOf" srcId="{3CF5916D-E610-4DD1-86A5-5C8F9B322CB7}" destId="{2DC7B32A-4D31-4ABC-A826-1C4CF89AAB3A}" srcOrd="0" destOrd="0" presId="urn:microsoft.com/office/officeart/2005/8/layout/cycle3"/>
    <dgm:cxn modelId="{79511545-AFDB-4FDB-A507-4FF558792989}" type="presOf" srcId="{DAD9F528-3AFE-4EEC-A5D5-6A2FF978818A}" destId="{893C79BA-7250-445C-9D63-6912624D52AF}" srcOrd="0" destOrd="0" presId="urn:microsoft.com/office/officeart/2005/8/layout/cycle3"/>
    <dgm:cxn modelId="{7C2F92DF-1638-4B64-9062-5391C9E51BA8}" type="presOf" srcId="{CC4FD7DA-B559-44DD-A94C-A68CF6753612}" destId="{F1DA7E1C-9F52-41F6-87F5-49ED50AB091A}" srcOrd="0" destOrd="0" presId="urn:microsoft.com/office/officeart/2005/8/layout/cycle3"/>
    <dgm:cxn modelId="{3C003741-D15D-48E1-A5DB-8F249EC773F0}" srcId="{F70C13A4-E054-46B2-9E18-5EB767A93687}" destId="{B823EEAD-3A5D-476A-8609-A1E501F0D3E9}" srcOrd="5" destOrd="0" parTransId="{C4B02669-378D-4EAD-8556-72C89A457953}" sibTransId="{3C1A1F8A-95FD-46FC-A79E-33CBFAAEB679}"/>
    <dgm:cxn modelId="{CEAAC366-3FE1-40C2-A120-E8CAC2D5E535}" srcId="{F70C13A4-E054-46B2-9E18-5EB767A93687}" destId="{DAD9F528-3AFE-4EEC-A5D5-6A2FF978818A}" srcOrd="6" destOrd="0" parTransId="{AFD5E1B0-902A-4D37-BFCE-D79193FE176F}" sibTransId="{0853D2A3-6030-45BA-A5A0-FEE7A442F448}"/>
    <dgm:cxn modelId="{A15B051B-9826-403F-BB7B-B3BB233933B2}" srcId="{F70C13A4-E054-46B2-9E18-5EB767A93687}" destId="{3CF5916D-E610-4DD1-86A5-5C8F9B322CB7}" srcOrd="4" destOrd="0" parTransId="{2ABA5C67-83AC-463C-B119-79B973BBFC4E}" sibTransId="{0133FBE7-65A1-4F84-963F-9EB6BB1ED8AE}"/>
    <dgm:cxn modelId="{778491EF-6925-4CDA-9B9D-1C62036D4B40}" type="presOf" srcId="{9EAAEAA7-7A2D-4781-B8FE-71A090FC250E}" destId="{A1D65974-AF49-4E96-B992-3EAC30E40535}" srcOrd="0" destOrd="0" presId="urn:microsoft.com/office/officeart/2005/8/layout/cycle3"/>
    <dgm:cxn modelId="{3E454B18-CAD4-4FFA-9E13-FF219BCADD95}" type="presOf" srcId="{F70C13A4-E054-46B2-9E18-5EB767A93687}" destId="{86C8C573-0E45-463A-9D5E-6E58F3ECF410}" srcOrd="0" destOrd="0" presId="urn:microsoft.com/office/officeart/2005/8/layout/cycle3"/>
    <dgm:cxn modelId="{F9EAD5BC-EBD5-47D6-B582-DB38980FD4FA}" type="presParOf" srcId="{86C8C573-0E45-463A-9D5E-6E58F3ECF410}" destId="{1EA4CA69-97AE-4947-87A2-4C171E7C605A}" srcOrd="0" destOrd="0" presId="urn:microsoft.com/office/officeart/2005/8/layout/cycle3"/>
    <dgm:cxn modelId="{16498454-88F2-4A76-A7FF-447E7E65ECF5}" type="presParOf" srcId="{1EA4CA69-97AE-4947-87A2-4C171E7C605A}" destId="{3AF8180D-C28F-4182-9526-922283B708A5}" srcOrd="0" destOrd="0" presId="urn:microsoft.com/office/officeart/2005/8/layout/cycle3"/>
    <dgm:cxn modelId="{586E86D7-62AD-40EB-801E-D46CEA394603}" type="presParOf" srcId="{1EA4CA69-97AE-4947-87A2-4C171E7C605A}" destId="{A1D65974-AF49-4E96-B992-3EAC30E40535}" srcOrd="1" destOrd="0" presId="urn:microsoft.com/office/officeart/2005/8/layout/cycle3"/>
    <dgm:cxn modelId="{64D72BAD-3B38-45C2-8F2B-70D2A6075B4D}" type="presParOf" srcId="{1EA4CA69-97AE-4947-87A2-4C171E7C605A}" destId="{88E7E56B-D911-4D59-A04D-3E2B36546705}" srcOrd="2" destOrd="0" presId="urn:microsoft.com/office/officeart/2005/8/layout/cycle3"/>
    <dgm:cxn modelId="{91A8FD8A-2315-4265-8F1F-843D4718A167}" type="presParOf" srcId="{1EA4CA69-97AE-4947-87A2-4C171E7C605A}" destId="{B9A2106B-EE6C-4BC0-9F59-617CF79D2188}" srcOrd="3" destOrd="0" presId="urn:microsoft.com/office/officeart/2005/8/layout/cycle3"/>
    <dgm:cxn modelId="{08DFE6EB-96F7-4103-A1C2-17F5B5B9A49F}" type="presParOf" srcId="{1EA4CA69-97AE-4947-87A2-4C171E7C605A}" destId="{F1DA7E1C-9F52-41F6-87F5-49ED50AB091A}" srcOrd="4" destOrd="0" presId="urn:microsoft.com/office/officeart/2005/8/layout/cycle3"/>
    <dgm:cxn modelId="{D83F95E7-ECD0-4B1A-929B-70FA53712AEA}" type="presParOf" srcId="{1EA4CA69-97AE-4947-87A2-4C171E7C605A}" destId="{2DC7B32A-4D31-4ABC-A826-1C4CF89AAB3A}" srcOrd="5" destOrd="0" presId="urn:microsoft.com/office/officeart/2005/8/layout/cycle3"/>
    <dgm:cxn modelId="{53C3BCCE-E62E-4394-B73B-70F7715865DF}" type="presParOf" srcId="{1EA4CA69-97AE-4947-87A2-4C171E7C605A}" destId="{5C1C6505-D869-4946-9BAB-05A4A3BC792F}" srcOrd="6" destOrd="0" presId="urn:microsoft.com/office/officeart/2005/8/layout/cycle3"/>
    <dgm:cxn modelId="{785796DA-25F5-4B94-846C-2544E2C6301C}" type="presParOf" srcId="{1EA4CA69-97AE-4947-87A2-4C171E7C605A}" destId="{893C79BA-7250-445C-9D63-6912624D52AF}" srcOrd="7" destOrd="0" presId="urn:microsoft.com/office/officeart/2005/8/layout/cycle3"/>
    <dgm:cxn modelId="{D88BAFB0-E81A-4ED4-97EB-9E360D1DF52C}" type="presParOf" srcId="{1EA4CA69-97AE-4947-87A2-4C171E7C605A}" destId="{78F7FFA9-F069-485B-8719-1C63EABDA09D}" srcOrd="8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4F27B-4BDA-4B3A-AD0E-8A3991306B0E}">
      <dsp:nvSpPr>
        <dsp:cNvPr id="0" name=""/>
        <dsp:cNvSpPr/>
      </dsp:nvSpPr>
      <dsp:spPr>
        <a:xfrm>
          <a:off x="3587271" y="-4857"/>
          <a:ext cx="4371344" cy="4371344"/>
        </a:xfrm>
        <a:prstGeom prst="circularArrow">
          <a:avLst>
            <a:gd name="adj1" fmla="val 5274"/>
            <a:gd name="adj2" fmla="val 312630"/>
            <a:gd name="adj3" fmla="val 14196914"/>
            <a:gd name="adj4" fmla="val 17145309"/>
            <a:gd name="adj5" fmla="val 547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BFCAF-933A-4795-88C4-F94648FA8D22}">
      <dsp:nvSpPr>
        <dsp:cNvPr id="0" name=""/>
        <dsp:cNvSpPr/>
      </dsp:nvSpPr>
      <dsp:spPr>
        <a:xfrm>
          <a:off x="4927297" y="117"/>
          <a:ext cx="1691292" cy="845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Service Order</a:t>
          </a:r>
          <a:endParaRPr lang="en-US" sz="1600" kern="1200" noProof="0" dirty="0"/>
        </a:p>
      </dsp:txBody>
      <dsp:txXfrm>
        <a:off x="4968578" y="41398"/>
        <a:ext cx="1608730" cy="763084"/>
      </dsp:txXfrm>
    </dsp:sp>
    <dsp:sp modelId="{F39754F3-A055-4629-8AF5-3F387567A829}">
      <dsp:nvSpPr>
        <dsp:cNvPr id="0" name=""/>
        <dsp:cNvSpPr/>
      </dsp:nvSpPr>
      <dsp:spPr>
        <a:xfrm>
          <a:off x="6463077" y="886800"/>
          <a:ext cx="1691292" cy="845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Planning and release</a:t>
          </a:r>
          <a:endParaRPr lang="en-US" sz="1600" kern="1200" noProof="0" dirty="0"/>
        </a:p>
      </dsp:txBody>
      <dsp:txXfrm>
        <a:off x="6504358" y="928081"/>
        <a:ext cx="1608730" cy="763084"/>
      </dsp:txXfrm>
    </dsp:sp>
    <dsp:sp modelId="{C1383B3C-263C-4062-881D-670EA4B1524B}">
      <dsp:nvSpPr>
        <dsp:cNvPr id="0" name=""/>
        <dsp:cNvSpPr/>
      </dsp:nvSpPr>
      <dsp:spPr>
        <a:xfrm>
          <a:off x="6463077" y="2660165"/>
          <a:ext cx="1691292" cy="845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Execution of activities</a:t>
          </a:r>
          <a:endParaRPr lang="en-US" sz="1600" kern="1200" noProof="0" dirty="0"/>
        </a:p>
      </dsp:txBody>
      <dsp:txXfrm>
        <a:off x="6504358" y="2701446"/>
        <a:ext cx="1608730" cy="763084"/>
      </dsp:txXfrm>
    </dsp:sp>
    <dsp:sp modelId="{323ECF60-C0A7-4D7A-B772-D1537D7B436B}">
      <dsp:nvSpPr>
        <dsp:cNvPr id="0" name=""/>
        <dsp:cNvSpPr/>
      </dsp:nvSpPr>
      <dsp:spPr>
        <a:xfrm>
          <a:off x="4927297" y="3546848"/>
          <a:ext cx="1691292" cy="845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Confirmation and technical completion</a:t>
          </a:r>
          <a:endParaRPr lang="en-US" sz="1600" kern="1200" noProof="0" dirty="0"/>
        </a:p>
      </dsp:txBody>
      <dsp:txXfrm>
        <a:off x="4968578" y="3588129"/>
        <a:ext cx="1608730" cy="763084"/>
      </dsp:txXfrm>
    </dsp:sp>
    <dsp:sp modelId="{58AE9D3C-7A10-4CE1-B8EB-754F5270CC45}">
      <dsp:nvSpPr>
        <dsp:cNvPr id="0" name=""/>
        <dsp:cNvSpPr/>
      </dsp:nvSpPr>
      <dsp:spPr>
        <a:xfrm>
          <a:off x="3391518" y="2660165"/>
          <a:ext cx="1691292" cy="845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Billing</a:t>
          </a:r>
          <a:endParaRPr lang="en-US" sz="1600" kern="1200" noProof="0" dirty="0"/>
        </a:p>
      </dsp:txBody>
      <dsp:txXfrm>
        <a:off x="3432799" y="2701446"/>
        <a:ext cx="1608730" cy="763084"/>
      </dsp:txXfrm>
    </dsp:sp>
    <dsp:sp modelId="{5A1572E9-E24B-4C51-8461-6EA50646F0A5}">
      <dsp:nvSpPr>
        <dsp:cNvPr id="0" name=""/>
        <dsp:cNvSpPr/>
      </dsp:nvSpPr>
      <dsp:spPr>
        <a:xfrm>
          <a:off x="3391518" y="886800"/>
          <a:ext cx="1691292" cy="845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Business completion</a:t>
          </a:r>
          <a:endParaRPr lang="en-US" sz="1600" kern="1200" noProof="0" dirty="0"/>
        </a:p>
      </dsp:txBody>
      <dsp:txXfrm>
        <a:off x="3432799" y="928081"/>
        <a:ext cx="1608730" cy="763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65974-AF49-4E96-B992-3EAC30E40535}">
      <dsp:nvSpPr>
        <dsp:cNvPr id="0" name=""/>
        <dsp:cNvSpPr/>
      </dsp:nvSpPr>
      <dsp:spPr>
        <a:xfrm>
          <a:off x="3572524" y="-35453"/>
          <a:ext cx="4400838" cy="4400838"/>
        </a:xfrm>
        <a:prstGeom prst="circularArrow">
          <a:avLst>
            <a:gd name="adj1" fmla="val 5544"/>
            <a:gd name="adj2" fmla="val 330680"/>
            <a:gd name="adj3" fmla="val 14616962"/>
            <a:gd name="adj4" fmla="val 16892559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8180D-C28F-4182-9526-922283B708A5}">
      <dsp:nvSpPr>
        <dsp:cNvPr id="0" name=""/>
        <dsp:cNvSpPr/>
      </dsp:nvSpPr>
      <dsp:spPr>
        <a:xfrm>
          <a:off x="5137300" y="1793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smtClean="0"/>
            <a:t>Customer message</a:t>
          </a:r>
          <a:endParaRPr lang="en-US" sz="1600" kern="1200" noProof="0"/>
        </a:p>
      </dsp:txBody>
      <dsp:txXfrm>
        <a:off x="5168330" y="32823"/>
        <a:ext cx="1209227" cy="573583"/>
      </dsp:txXfrm>
    </dsp:sp>
    <dsp:sp modelId="{88E7E56B-D911-4D59-A04D-3E2B36546705}">
      <dsp:nvSpPr>
        <dsp:cNvPr id="0" name=""/>
        <dsp:cNvSpPr/>
      </dsp:nvSpPr>
      <dsp:spPr>
        <a:xfrm>
          <a:off x="6464320" y="551463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Customer repair order</a:t>
          </a:r>
        </a:p>
      </dsp:txBody>
      <dsp:txXfrm>
        <a:off x="6495350" y="582493"/>
        <a:ext cx="1209227" cy="573583"/>
      </dsp:txXfrm>
    </dsp:sp>
    <dsp:sp modelId="{B9A2106B-EE6C-4BC0-9F59-617CF79D2188}">
      <dsp:nvSpPr>
        <dsp:cNvPr id="0" name=""/>
        <dsp:cNvSpPr/>
      </dsp:nvSpPr>
      <dsp:spPr>
        <a:xfrm>
          <a:off x="7013990" y="1878484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Goods receipt</a:t>
          </a:r>
          <a:endParaRPr lang="en-US" sz="1600" kern="1200" noProof="0" dirty="0"/>
        </a:p>
      </dsp:txBody>
      <dsp:txXfrm>
        <a:off x="7045020" y="1909514"/>
        <a:ext cx="1209227" cy="573583"/>
      </dsp:txXfrm>
    </dsp:sp>
    <dsp:sp modelId="{F1DA7E1C-9F52-41F6-87F5-49ED50AB091A}">
      <dsp:nvSpPr>
        <dsp:cNvPr id="0" name=""/>
        <dsp:cNvSpPr/>
      </dsp:nvSpPr>
      <dsp:spPr>
        <a:xfrm>
          <a:off x="6464320" y="3205504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Technical inspection</a:t>
          </a:r>
          <a:endParaRPr lang="en-US" sz="1600" kern="1200" noProof="0" dirty="0"/>
        </a:p>
      </dsp:txBody>
      <dsp:txXfrm>
        <a:off x="6495350" y="3236534"/>
        <a:ext cx="1209227" cy="573583"/>
      </dsp:txXfrm>
    </dsp:sp>
    <dsp:sp modelId="{2DC7B32A-4D31-4ABC-A826-1C4CF89AAB3A}">
      <dsp:nvSpPr>
        <dsp:cNvPr id="0" name=""/>
        <dsp:cNvSpPr/>
      </dsp:nvSpPr>
      <dsp:spPr>
        <a:xfrm>
          <a:off x="5137300" y="3755174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Repair</a:t>
          </a:r>
          <a:endParaRPr lang="en-US" sz="1600" kern="1200" noProof="0" dirty="0"/>
        </a:p>
      </dsp:txBody>
      <dsp:txXfrm>
        <a:off x="5168330" y="3786204"/>
        <a:ext cx="1209227" cy="573583"/>
      </dsp:txXfrm>
    </dsp:sp>
    <dsp:sp modelId="{5C1C6505-D869-4946-9BAB-05A4A3BC792F}">
      <dsp:nvSpPr>
        <dsp:cNvPr id="0" name=""/>
        <dsp:cNvSpPr/>
      </dsp:nvSpPr>
      <dsp:spPr>
        <a:xfrm>
          <a:off x="3810279" y="3205504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Service order</a:t>
          </a:r>
          <a:endParaRPr lang="en-US" sz="1600" kern="1200" noProof="0" dirty="0"/>
        </a:p>
      </dsp:txBody>
      <dsp:txXfrm>
        <a:off x="3841309" y="3236534"/>
        <a:ext cx="1209227" cy="573583"/>
      </dsp:txXfrm>
    </dsp:sp>
    <dsp:sp modelId="{893C79BA-7250-445C-9D63-6912624D52AF}">
      <dsp:nvSpPr>
        <dsp:cNvPr id="0" name=""/>
        <dsp:cNvSpPr/>
      </dsp:nvSpPr>
      <dsp:spPr>
        <a:xfrm>
          <a:off x="3260609" y="1878484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Good issue</a:t>
          </a:r>
          <a:endParaRPr lang="en-US" sz="1600" kern="1200" noProof="0" dirty="0"/>
        </a:p>
      </dsp:txBody>
      <dsp:txXfrm>
        <a:off x="3291639" y="1909514"/>
        <a:ext cx="1209227" cy="573583"/>
      </dsp:txXfrm>
    </dsp:sp>
    <dsp:sp modelId="{78F7FFA9-F069-485B-8719-1C63EABDA09D}">
      <dsp:nvSpPr>
        <dsp:cNvPr id="0" name=""/>
        <dsp:cNvSpPr/>
      </dsp:nvSpPr>
      <dsp:spPr>
        <a:xfrm>
          <a:off x="3810279" y="551463"/>
          <a:ext cx="1271287" cy="6356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noProof="0" dirty="0" smtClean="0"/>
            <a:t>Billing</a:t>
          </a:r>
          <a:endParaRPr lang="en-US" sz="1600" kern="1200" noProof="0" dirty="0"/>
        </a:p>
      </dsp:txBody>
      <dsp:txXfrm>
        <a:off x="3841309" y="582493"/>
        <a:ext cx="1209227" cy="573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 </a:t>
            </a:r>
            <a:r>
              <a:rPr lang="en-US" noProof="0" dirty="0" smtClean="0"/>
              <a:t>E.g. introduce a new distribution channel </a:t>
            </a:r>
            <a:r>
              <a:rPr lang="en-US" noProof="0" dirty="0" smtClean="0">
                <a:sym typeface="Wingdings" pitchFamily="2" charset="2"/>
              </a:rPr>
              <a:t> How</a:t>
            </a:r>
            <a:r>
              <a:rPr lang="en-US" baseline="0" noProof="0" dirty="0" smtClean="0">
                <a:sym typeface="Wingdings" pitchFamily="2" charset="2"/>
              </a:rPr>
              <a:t> many Sales Areas</a:t>
            </a:r>
            <a:endParaRPr lang="en-US" noProof="0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85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anpassen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4842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All of this together makes up the Master Record for a Material.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185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03"/>
          <a:stretch/>
        </p:blipFill>
        <p:spPr>
          <a:xfrm>
            <a:off x="-36513" y="-2"/>
            <a:ext cx="12231687" cy="68595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Short Presentation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40520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&lt;First Name&gt; &lt;Last name&gt;, &lt;Organization&gt; (delete if not needed)</a:t>
            </a:r>
            <a:br>
              <a:rPr lang="en-US" dirty="0" smtClean="0"/>
            </a:br>
            <a:r>
              <a:rPr lang="en-US" dirty="0" smtClean="0"/>
              <a:t>&lt;Month&gt; &lt;Day&gt;, &lt;Year&gt;</a:t>
            </a:r>
          </a:p>
        </p:txBody>
      </p:sp>
      <p:grpSp>
        <p:nvGrpSpPr>
          <p:cNvPr id="9" name="Gruppieren 8"/>
          <p:cNvGrpSpPr/>
          <p:nvPr userDrawn="1"/>
        </p:nvGrpSpPr>
        <p:grpSpPr>
          <a:xfrm>
            <a:off x="10518759" y="6066338"/>
            <a:ext cx="1352566" cy="470987"/>
            <a:chOff x="10518759" y="6066338"/>
            <a:chExt cx="1352566" cy="470987"/>
          </a:xfrm>
        </p:grpSpPr>
        <p:sp>
          <p:nvSpPr>
            <p:cNvPr id="10" name="Rectangle 15"/>
            <p:cNvSpPr/>
            <p:nvPr/>
          </p:nvSpPr>
          <p:spPr bwMode="gray">
            <a:xfrm>
              <a:off x="10518759" y="6088062"/>
              <a:ext cx="1352566" cy="449263"/>
            </a:xfrm>
            <a:prstGeom prst="rect">
              <a:avLst/>
            </a:prstGeom>
            <a:solidFill>
              <a:schemeClr val="bg1"/>
            </a:solidFill>
            <a:ln w="12700" cmpd="sng" algn="ctr">
              <a:noFill/>
              <a:prstDash val="dash"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8759" y="6066338"/>
              <a:ext cx="1288232" cy="470987"/>
            </a:xfrm>
            <a:prstGeom prst="rect">
              <a:avLst/>
            </a:prstGeom>
          </p:spPr>
        </p:pic>
      </p:grpSp>
      <p:pic>
        <p:nvPicPr>
          <p:cNvPr id="12" name="Picture 8" descr="M:\Dokumente\UCC_Partner\Logos\SAP UA Logo\SAP_University_Alliances_Logo_2013_Februar\RGB\SAP_UniversityAlliances_scrn_R_pos_stac3.pn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00" y="6184900"/>
            <a:ext cx="647700" cy="352425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429330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- two line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2160000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b" anchorCtr="0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Rectangle 9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&lt;First Name&gt; &lt;Last name&gt;, &lt;Organization&gt; (delete if not needed)</a:t>
            </a:r>
            <a:br>
              <a:rPr lang="en-US" dirty="0" smtClean="0"/>
            </a:br>
            <a:r>
              <a:rPr lang="en-US" dirty="0" smtClean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7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 smtClean="0"/>
              <a:t>Alternate Presentation Title</a:t>
            </a:r>
            <a:br>
              <a:rPr lang="en-US" sz="3600" dirty="0" smtClean="0"/>
            </a:br>
            <a:r>
              <a:rPr lang="en-US" sz="3600" dirty="0" smtClean="0"/>
              <a:t>Breaks to Two Lines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 rot="21360000">
            <a:off x="4212456" y="3628659"/>
            <a:ext cx="37702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defTabSz="914400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defTabSz="914400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 smtClean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Use this title slide only with an</a:t>
            </a:r>
            <a:r>
              <a:rPr lang="en-US" sz="1800" kern="0" baseline="0" dirty="0" smtClean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image</a:t>
            </a:r>
            <a:endParaRPr lang="en-US" sz="1800" kern="0" dirty="0" smtClean="0">
              <a:solidFill>
                <a:schemeClr val="tx1"/>
              </a:solidFill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0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sho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Short Presentation Title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&lt;First Name&gt; &lt;Last name&gt;, &lt;Organization&gt; (delete if not needed)</a:t>
            </a:r>
            <a:br>
              <a:rPr lang="en-US" dirty="0" smtClean="0"/>
            </a:br>
            <a:r>
              <a:rPr lang="en-US" dirty="0" smtClean="0"/>
              <a:t>&lt;Month&gt; &lt;Day&gt;, &lt;Year&gt;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70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- two li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4000" y="1539177"/>
            <a:ext cx="10620000" cy="553998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&lt;First Name&gt; &lt;Last name&gt;, &lt;Organization&gt; (delete if not needed)</a:t>
            </a:r>
            <a:br>
              <a:rPr lang="en-US" dirty="0" smtClean="0"/>
            </a:br>
            <a:r>
              <a:rPr lang="en-US" dirty="0" smtClean="0"/>
              <a:t>&lt;Month&gt; &lt;Day&gt;, &lt;Year&gt;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23999" y="324075"/>
            <a:ext cx="10620000" cy="1107996"/>
          </a:xfrm>
        </p:spPr>
        <p:txBody>
          <a:bodyPr anchor="t" anchorCtr="0">
            <a:noAutofit/>
          </a:bodyPr>
          <a:lstStyle>
            <a:lvl1pPr>
              <a:defRPr sz="3600">
                <a:solidFill>
                  <a:sysClr val="windowText" lastClr="000000"/>
                </a:solidFill>
                <a:latin typeface="+mj-lt"/>
              </a:defRPr>
            </a:lvl1pPr>
          </a:lstStyle>
          <a:p>
            <a:r>
              <a:rPr lang="en-US" sz="3600" dirty="0" smtClean="0"/>
              <a:t>Alternate Presentation Title</a:t>
            </a:r>
            <a:br>
              <a:rPr lang="en-US" sz="3600" dirty="0" smtClean="0"/>
            </a:br>
            <a:r>
              <a:rPr lang="en-US" sz="3600" dirty="0" smtClean="0"/>
              <a:t>Breaks to Two Lines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00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Curriculum</a:t>
            </a:r>
            <a:r>
              <a:rPr lang="en-US" sz="2400" b="1" kern="0" baseline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 smtClean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&lt;Curriculum version + last update&gt;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 smtClean="0">
                  <a:solidFill>
                    <a:schemeClr val="tx1"/>
                  </a:solidFill>
                  <a:latin typeface="+mj-lt"/>
                </a:rPr>
                <a:t>Curriculum </a:t>
              </a:r>
              <a:r>
                <a:rPr lang="en-US" sz="1800" b="1" baseline="0" noProof="0" dirty="0" smtClean="0">
                  <a:solidFill>
                    <a:schemeClr val="tx1"/>
                  </a:solidFill>
                  <a:latin typeface="+mj-lt"/>
                </a:rPr>
                <a:t>Version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 smtClean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 smtClean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 smtClean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 smtClean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&lt;server-side&gt;</a:t>
            </a:r>
          </a:p>
          <a:p>
            <a:pPr lvl="0"/>
            <a:r>
              <a:rPr lang="en-US" dirty="0" smtClean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4533142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Prerequisites</a:t>
            </a: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4845892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&lt;curricula&gt;</a:t>
            </a:r>
          </a:p>
          <a:p>
            <a:pPr lvl="0"/>
            <a:r>
              <a:rPr lang="en-US" dirty="0" smtClean="0"/>
              <a:t>&lt;other prerequisites&gt;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7840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 smtClean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2" name="Gruppieren 21"/>
          <p:cNvGrpSpPr/>
          <p:nvPr userDrawn="1"/>
        </p:nvGrpSpPr>
        <p:grpSpPr>
          <a:xfrm>
            <a:off x="324000" y="1499007"/>
            <a:ext cx="1299600" cy="1299600"/>
            <a:chOff x="214040" y="1152039"/>
            <a:chExt cx="765542" cy="765543"/>
          </a:xfrm>
        </p:grpSpPr>
        <p:grpSp>
          <p:nvGrpSpPr>
            <p:cNvPr id="23" name="Gruppieren 22"/>
            <p:cNvGrpSpPr/>
            <p:nvPr userDrawn="1"/>
          </p:nvGrpSpPr>
          <p:grpSpPr>
            <a:xfrm>
              <a:off x="361780" y="1456593"/>
              <a:ext cx="464587" cy="191753"/>
              <a:chOff x="1642324" y="4884196"/>
              <a:chExt cx="660745" cy="294992"/>
            </a:xfrm>
          </p:grpSpPr>
          <p:sp>
            <p:nvSpPr>
              <p:cNvPr id="25" name="Richtungspfeil 24"/>
              <p:cNvSpPr/>
              <p:nvPr userDrawn="1"/>
            </p:nvSpPr>
            <p:spPr bwMode="gray">
              <a:xfrm rot="8100000">
                <a:off x="1767471" y="4884196"/>
                <a:ext cx="535598" cy="221844"/>
              </a:xfrm>
              <a:prstGeom prst="homePlat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 smtClean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26" name="Rechteck 25"/>
              <p:cNvSpPr/>
              <p:nvPr/>
            </p:nvSpPr>
            <p:spPr bwMode="gray">
              <a:xfrm rot="8100000">
                <a:off x="1920613" y="4887121"/>
                <a:ext cx="305780" cy="129124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 smtClean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cxnSp>
            <p:nvCxnSpPr>
              <p:cNvPr id="27" name="Gerade Verbindung 25"/>
              <p:cNvCxnSpPr/>
              <p:nvPr userDrawn="1"/>
            </p:nvCxnSpPr>
            <p:spPr>
              <a:xfrm>
                <a:off x="1642324" y="5179188"/>
                <a:ext cx="140109" cy="0"/>
              </a:xfrm>
              <a:prstGeom prst="line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8" name="Gruppieren 27"/>
          <p:cNvGrpSpPr/>
          <p:nvPr userDrawn="1"/>
        </p:nvGrpSpPr>
        <p:grpSpPr>
          <a:xfrm>
            <a:off x="324000" y="3809388"/>
            <a:ext cx="1299600" cy="1299600"/>
            <a:chOff x="216000" y="2969382"/>
            <a:chExt cx="765542" cy="765543"/>
          </a:xfrm>
        </p:grpSpPr>
        <p:pic>
          <p:nvPicPr>
            <p:cNvPr id="29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14" y="3133080"/>
              <a:ext cx="361950" cy="438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Donut 11"/>
            <p:cNvSpPr/>
            <p:nvPr userDrawn="1"/>
          </p:nvSpPr>
          <p:spPr bwMode="gray">
            <a:xfrm>
              <a:off x="216000" y="2969382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1" name="Gruppieren 30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32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 smtClean="0">
                  <a:solidFill>
                    <a:schemeClr val="tx1"/>
                  </a:solidFill>
                  <a:latin typeface="+mj-lt"/>
                </a:rPr>
                <a:t>Authors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3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&lt;Author&gt;</a:t>
            </a:r>
          </a:p>
          <a:p>
            <a:pPr lvl="0"/>
            <a:r>
              <a:rPr lang="en-US" dirty="0" smtClean="0"/>
              <a:t>&lt;Author&gt;</a:t>
            </a:r>
          </a:p>
          <a:p>
            <a:pPr lvl="0"/>
            <a:r>
              <a:rPr lang="en-US" dirty="0" smtClean="0"/>
              <a:t>&lt;Author&gt;</a:t>
            </a:r>
          </a:p>
        </p:txBody>
      </p:sp>
      <p:grpSp>
        <p:nvGrpSpPr>
          <p:cNvPr id="35" name="Gruppieren 34"/>
          <p:cNvGrpSpPr/>
          <p:nvPr userDrawn="1"/>
        </p:nvGrpSpPr>
        <p:grpSpPr>
          <a:xfrm>
            <a:off x="1957853" y="4230977"/>
            <a:ext cx="9911347" cy="500901"/>
            <a:chOff x="1108399" y="1396713"/>
            <a:chExt cx="7030682" cy="404566"/>
          </a:xfrm>
        </p:grpSpPr>
        <p:sp>
          <p:nvSpPr>
            <p:cNvPr id="36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noProof="0" dirty="0" smtClean="0">
                  <a:solidFill>
                    <a:schemeClr val="tx1"/>
                  </a:solidFill>
                  <a:latin typeface="+mj-lt"/>
                </a:rPr>
                <a:t>Target Audience</a:t>
              </a:r>
              <a:endParaRPr lang="en-US" sz="1200" b="1" noProof="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7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044953" y="4927509"/>
            <a:ext cx="9824247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&lt;Target audience&gt;</a:t>
            </a:r>
          </a:p>
          <a:p>
            <a:pPr lvl="0"/>
            <a:r>
              <a:rPr lang="en-US" dirty="0" smtClean="0"/>
              <a:t>&lt;Target audience&gt;</a:t>
            </a:r>
          </a:p>
          <a:p>
            <a:pPr lvl="0"/>
            <a:r>
              <a:rPr lang="en-US" dirty="0" smtClean="0"/>
              <a:t>&lt;Target audience&gt;</a:t>
            </a:r>
          </a:p>
        </p:txBody>
      </p:sp>
    </p:spTree>
    <p:extLst>
      <p:ext uri="{BB962C8B-B14F-4D97-AF65-F5344CB8AC3E}">
        <p14:creationId xmlns:p14="http://schemas.microsoft.com/office/powerpoint/2010/main" val="273884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informa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Module</a:t>
            </a:r>
            <a:r>
              <a:rPr lang="en-US" sz="2400" b="1" kern="0" baseline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 Information</a:t>
            </a:r>
            <a:endParaRPr lang="en-US" sz="2400" b="1" kern="0" noProof="0" dirty="0" smtClean="0">
              <a:solidFill>
                <a:schemeClr val="accent2"/>
              </a:solidFill>
              <a:latin typeface="+mj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324000" y="1503256"/>
            <a:ext cx="1299600" cy="1299600"/>
            <a:chOff x="214040" y="1152039"/>
            <a:chExt cx="765542" cy="765543"/>
          </a:xfrm>
        </p:grpSpPr>
        <p:sp>
          <p:nvSpPr>
            <p:cNvPr id="4" name="Donut 11"/>
            <p:cNvSpPr/>
            <p:nvPr userDrawn="1"/>
          </p:nvSpPr>
          <p:spPr bwMode="gray">
            <a:xfrm>
              <a:off x="214040" y="1152039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pic>
          <p:nvPicPr>
            <p:cNvPr id="6" name="Picture 4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87" y="1313261"/>
              <a:ext cx="352425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4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 smtClean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Learning Objectives</a:t>
              </a:r>
              <a:endParaRPr lang="en-US" sz="1800" b="1" kern="1200" noProof="0" dirty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1319928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&lt;Learning objective&gt;</a:t>
            </a:r>
          </a:p>
          <a:p>
            <a:pPr lvl="0"/>
            <a:r>
              <a:rPr lang="en-US" dirty="0" smtClean="0"/>
              <a:t>&lt;Learning objective&gt;</a:t>
            </a:r>
          </a:p>
          <a:p>
            <a:pPr lvl="0"/>
            <a:r>
              <a:rPr lang="en-US" dirty="0" smtClean="0"/>
              <a:t>&lt;Learning objective&gt;</a:t>
            </a:r>
          </a:p>
        </p:txBody>
      </p:sp>
    </p:spTree>
    <p:extLst>
      <p:ext uri="{BB962C8B-B14F-4D97-AF65-F5344CB8AC3E}">
        <p14:creationId xmlns:p14="http://schemas.microsoft.com/office/powerpoint/2010/main" val="101486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&lt;Agenda&gt;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6806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2"/>
          </p:nvPr>
        </p:nvSpPr>
        <p:spPr bwMode="gray">
          <a:xfrm>
            <a:off x="6208016" y="1691079"/>
            <a:ext cx="5661184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 smtClean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57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>
            <a:spLocks noGrp="1"/>
          </p:cNvSpPr>
          <p:nvPr>
            <p:ph idx="14"/>
          </p:nvPr>
        </p:nvSpPr>
        <p:spPr bwMode="gray">
          <a:xfrm>
            <a:off x="8133316" y="1691079"/>
            <a:ext cx="373588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3"/>
          </p:nvPr>
        </p:nvSpPr>
        <p:spPr bwMode="gray">
          <a:xfrm>
            <a:off x="4228658" y="1691079"/>
            <a:ext cx="37404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3740399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000" y="324075"/>
            <a:ext cx="11545200" cy="756175"/>
          </a:xfrm>
        </p:spPr>
        <p:txBody>
          <a:bodyPr/>
          <a:lstStyle/>
          <a:p>
            <a:r>
              <a:rPr lang="en-US" noProof="0" dirty="0" smtClean="0"/>
              <a:t>&lt;Page title&gt;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77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714995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7639050" y="1691079"/>
            <a:ext cx="4232275" cy="4392042"/>
          </a:xfrm>
          <a:solidFill>
            <a:schemeClr val="bg1">
              <a:lumMod val="95000"/>
            </a:schemeClr>
          </a:solidFill>
        </p:spPr>
        <p:txBody>
          <a:bodyPr tIns="1543147" anchor="t" anchorCtr="0"/>
          <a:lstStyle>
            <a:lvl1pPr algn="ctr">
              <a:defRPr b="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96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6208016" y="1692392"/>
            <a:ext cx="5662800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79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4224188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&lt;Page title&gt;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gray">
          <a:xfrm>
            <a:off x="4706938" y="1692392"/>
            <a:ext cx="7164387" cy="4393017"/>
          </a:xfrm>
          <a:solidFill>
            <a:schemeClr val="bg1">
              <a:lumMod val="95000"/>
            </a:schemeClr>
          </a:solidFill>
        </p:spPr>
        <p:txBody>
          <a:bodyPr vert="horz" lIns="0" tIns="1543147" rIns="0" bIns="0" rtlCol="0" anchor="t" anchorCtr="0">
            <a:noAutofit/>
          </a:bodyPr>
          <a:lstStyle>
            <a:lvl1pPr marL="0" indent="0" algn="ctr" defTabSz="1088776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2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83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picture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idx="17"/>
          </p:nvPr>
        </p:nvSpPr>
        <p:spPr bwMode="gray">
          <a:xfrm>
            <a:off x="6208016" y="1691079"/>
            <a:ext cx="5661184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5662800" cy="17211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 smtClean="0"/>
              <a:t>&lt;Page title&gt;</a:t>
            </a:r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324000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/>
          </p:nvPr>
        </p:nvSpPr>
        <p:spPr bwMode="gray">
          <a:xfrm>
            <a:off x="6208016" y="3574318"/>
            <a:ext cx="5662800" cy="2508804"/>
          </a:xfrm>
          <a:solidFill>
            <a:schemeClr val="bg1">
              <a:lumMod val="95000"/>
            </a:schemeClr>
          </a:solidFill>
        </p:spPr>
        <p:txBody>
          <a:bodyPr tIns="600113" anchor="t" anchorCtr="0"/>
          <a:lstStyle>
            <a:lvl1pPr algn="ctr">
              <a:defRPr b="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9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/ Thank You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" y="478741"/>
            <a:ext cx="1833518" cy="9072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324000" y="2061275"/>
            <a:ext cx="115452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6000" noProof="0" dirty="0" smtClean="0"/>
              <a:t>Thank</a:t>
            </a:r>
            <a:r>
              <a:rPr lang="en-US" sz="6000" baseline="0" noProof="0" dirty="0" smtClean="0"/>
              <a:t> you</a:t>
            </a:r>
            <a:r>
              <a:rPr lang="en-US" sz="6000" noProof="0" dirty="0" smtClean="0"/>
              <a:t>!</a:t>
            </a:r>
            <a:endParaRPr lang="en-US" sz="6000" kern="0" noProof="0" dirty="0" smtClean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25792" y="3659939"/>
            <a:ext cx="4341615" cy="2141713"/>
          </a:xfrm>
          <a:noFill/>
          <a:ln>
            <a:solidFill>
              <a:schemeClr val="accent1"/>
            </a:solidFill>
          </a:ln>
        </p:spPr>
        <p:txBody>
          <a:bodyPr lIns="108000" tIns="108000" rIns="108000" bIns="108000"/>
          <a:lstStyle>
            <a:lvl1pPr marL="0" indent="0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  <a:buNone/>
              <a:defRPr sz="2400" b="1" baseline="0">
                <a:solidFill>
                  <a:schemeClr val="tx1"/>
                </a:solidFill>
              </a:defRPr>
            </a:lvl1pPr>
            <a:lvl2pPr marL="201600" indent="0">
              <a:buNone/>
              <a:defRPr/>
            </a:lvl2pPr>
            <a:lvl3pPr marL="324000" indent="0">
              <a:buNone/>
              <a:defRPr/>
            </a:lvl3pPr>
            <a:lvl4pPr marL="504000" indent="0">
              <a:buNone/>
              <a:defRPr/>
            </a:lvl4pPr>
            <a:lvl5pPr marL="361338" indent="0">
              <a:buNone/>
              <a:defRPr/>
            </a:lvl5pPr>
          </a:lstStyle>
          <a:p>
            <a:pPr lvl="0"/>
            <a:r>
              <a:rPr lang="en-US" noProof="0" dirty="0" smtClean="0"/>
              <a:t>Contact</a:t>
            </a:r>
          </a:p>
          <a:p>
            <a:pPr lvl="0"/>
            <a:endParaRPr lang="en-US" noProof="0" dirty="0" smtClean="0"/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noProof="0" dirty="0" smtClean="0">
                <a:ea typeface="Arial Unicode MS" pitchFamily="34" charset="-128"/>
                <a:cs typeface="Arial Unicode MS" pitchFamily="34" charset="-128"/>
              </a:rPr>
              <a:t> &lt;First name&gt; &lt;Last name&gt;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 smtClean="0">
                <a:ea typeface="Arial Unicode MS" pitchFamily="34" charset="-128"/>
                <a:cs typeface="Arial Unicode MS" pitchFamily="34" charset="-128"/>
              </a:rPr>
              <a:t> &lt;Position, Organization&gt;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400" kern="0" baseline="0" noProof="0" dirty="0" smtClean="0">
                <a:ea typeface="Arial Unicode MS" pitchFamily="34" charset="-128"/>
                <a:cs typeface="Arial Unicode MS" pitchFamily="34" charset="-128"/>
              </a:rPr>
              <a:t> &lt;Contact information&gt;</a:t>
            </a:r>
            <a:endParaRPr lang="en-US" sz="1800" kern="0" noProof="0" dirty="0" smtClean="0">
              <a:ea typeface="Arial Unicode MS" pitchFamily="34" charset="-128"/>
              <a:cs typeface="Arial Unicode MS" pitchFamily="34" charset="-128"/>
            </a:endParaRP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val="12047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smtClean="0"/>
              <a:t>Textmasterformat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1787256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>
                  <a:lumMod val="65000"/>
                </a:schemeClr>
              </a:buClr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noProof="0" dirty="0" smtClean="0"/>
              <a:t>&lt;level 1&gt;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 smtClean="0">
                <a:solidFill>
                  <a:schemeClr val="accent2"/>
                </a:solidFill>
                <a:latin typeface="+mj-lt"/>
                <a:ea typeface="Arial Unicode MS" pitchFamily="34" charset="-128"/>
                <a:cs typeface="Arial Unicode MS" pitchFamily="34" charset="-128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3879883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 userDrawn="1"/>
        </p:nvSpPr>
        <p:spPr>
          <a:xfrm>
            <a:off x="324000" y="324000"/>
            <a:ext cx="11545200" cy="759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2400" b="1" kern="0" noProof="0" dirty="0" smtClean="0">
                <a:solidFill>
                  <a:schemeClr val="accent2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Teaching material - Information</a:t>
            </a:r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2038856" y="2624439"/>
            <a:ext cx="9830344" cy="362391"/>
          </a:xfrm>
          <a:prstGeom prst="rect">
            <a:avLst/>
          </a:prstGeom>
        </p:spPr>
        <p:txBody>
          <a:bodyPr anchor="t" anchorCtr="0"/>
          <a:lstStyle>
            <a:lvl1pPr marL="266400" indent="-19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18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 smtClean="0"/>
              <a:t>&lt;3.1 (</a:t>
            </a:r>
            <a:r>
              <a:rPr lang="de-DE" noProof="0" dirty="0" err="1" smtClean="0"/>
              <a:t>July</a:t>
            </a:r>
            <a:r>
              <a:rPr lang="de-DE" noProof="0" dirty="0" smtClean="0"/>
              <a:t> 2017)&gt;</a:t>
            </a:r>
          </a:p>
        </p:txBody>
      </p:sp>
      <p:grpSp>
        <p:nvGrpSpPr>
          <p:cNvPr id="7" name="Gruppieren 6"/>
          <p:cNvGrpSpPr/>
          <p:nvPr userDrawn="1"/>
        </p:nvGrpSpPr>
        <p:grpSpPr>
          <a:xfrm>
            <a:off x="1951753" y="1927906"/>
            <a:ext cx="9917447" cy="500901"/>
            <a:chOff x="1108399" y="1396713"/>
            <a:chExt cx="7030682" cy="404566"/>
          </a:xfrm>
        </p:grpSpPr>
        <p:sp>
          <p:nvSpPr>
            <p:cNvPr id="8" name="Rectangle 10"/>
            <p:cNvSpPr/>
            <p:nvPr userDrawn="1"/>
          </p:nvSpPr>
          <p:spPr>
            <a:xfrm>
              <a:off x="1108399" y="1396713"/>
              <a:ext cx="3835401" cy="298157"/>
            </a:xfrm>
            <a:prstGeom prst="rect">
              <a:avLst/>
            </a:prstGeom>
          </p:spPr>
          <p:txBody>
            <a:bodyPr wrap="square" lIns="91302" tIns="45630" rIns="91302" bIns="45630">
              <a:spAutoFit/>
            </a:bodyPr>
            <a:lstStyle/>
            <a:p>
              <a:r>
                <a:rPr lang="en-US" sz="1800" b="1" kern="1200" noProof="0" dirty="0" smtClean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Teaching</a:t>
              </a:r>
              <a:r>
                <a:rPr lang="en-US" sz="1800" b="1" kern="1200" baseline="0" noProof="0" dirty="0" smtClean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 </a:t>
              </a:r>
              <a:r>
                <a:rPr lang="en-US" sz="1800" b="1" kern="1200" noProof="0" dirty="0" smtClean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material </a:t>
              </a:r>
              <a:r>
                <a:rPr lang="en-US" sz="1800" b="1" kern="1200" baseline="0" noProof="0" dirty="0" smtClean="0">
                  <a:solidFill>
                    <a:schemeClr val="tx1"/>
                  </a:solidFill>
                  <a:latin typeface="Arial"/>
                  <a:ea typeface="+mn-ea"/>
                  <a:cs typeface="+mn-cs"/>
                </a:rPr>
                <a:t>- Version</a:t>
              </a:r>
              <a:endParaRPr lang="en-US" sz="1200" b="1" kern="1200" noProof="0" dirty="0">
                <a:solidFill>
                  <a:schemeClr val="tx1"/>
                </a:solidFill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" name="Straight Connector 12"/>
            <p:cNvCxnSpPr/>
            <p:nvPr userDrawn="1"/>
          </p:nvCxnSpPr>
          <p:spPr>
            <a:xfrm flipV="1">
              <a:off x="1197563" y="1776441"/>
              <a:ext cx="6941518" cy="24838"/>
            </a:xfrm>
            <a:prstGeom prst="line">
              <a:avLst/>
            </a:prstGeom>
            <a:ln w="635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pieren 9"/>
          <p:cNvGrpSpPr/>
          <p:nvPr userDrawn="1"/>
        </p:nvGrpSpPr>
        <p:grpSpPr>
          <a:xfrm>
            <a:off x="324000" y="1499007"/>
            <a:ext cx="1299974" cy="1299976"/>
            <a:chOff x="352676" y="1326706"/>
            <a:chExt cx="765542" cy="765543"/>
          </a:xfrm>
        </p:grpSpPr>
        <p:sp>
          <p:nvSpPr>
            <p:cNvPr id="11" name="Donut 11"/>
            <p:cNvSpPr/>
            <p:nvPr userDrawn="1"/>
          </p:nvSpPr>
          <p:spPr bwMode="gray">
            <a:xfrm>
              <a:off x="352676" y="1326706"/>
              <a:ext cx="765542" cy="765543"/>
            </a:xfrm>
            <a:prstGeom prst="donut">
              <a:avLst>
                <a:gd name="adj" fmla="val 5979"/>
              </a:avLst>
            </a:prstGeom>
            <a:solidFill>
              <a:schemeClr val="accent1"/>
            </a:solidFill>
            <a:ln w="63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89863" tIns="71908" rIns="89863" bIns="71908" rtlCol="0" anchor="ctr"/>
            <a:lstStyle/>
            <a:p>
              <a:pPr algn="ctr" defTabSz="913003"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endParaRPr lang="de-DE" sz="2000" kern="0"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2" name="Gruppieren 11"/>
            <p:cNvGrpSpPr/>
            <p:nvPr userDrawn="1"/>
          </p:nvGrpSpPr>
          <p:grpSpPr>
            <a:xfrm>
              <a:off x="545702" y="1435466"/>
              <a:ext cx="403112" cy="511295"/>
              <a:chOff x="7057115" y="1361724"/>
              <a:chExt cx="403112" cy="511295"/>
            </a:xfrm>
          </p:grpSpPr>
          <p:sp>
            <p:nvSpPr>
              <p:cNvPr id="13" name="Gefaltete Ecke 12"/>
              <p:cNvSpPr/>
              <p:nvPr/>
            </p:nvSpPr>
            <p:spPr bwMode="gray">
              <a:xfrm rot="10800000" flipH="1">
                <a:off x="7150511" y="1361724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 smtClean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14" name="Gefaltete Ecke 13"/>
              <p:cNvSpPr/>
              <p:nvPr/>
            </p:nvSpPr>
            <p:spPr bwMode="gray">
              <a:xfrm rot="10800000" flipH="1">
                <a:off x="7103823" y="1410891"/>
                <a:ext cx="309716" cy="420330"/>
              </a:xfrm>
              <a:prstGeom prst="foldedCorner">
                <a:avLst>
                  <a:gd name="adj" fmla="val 3833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 w="6350" algn="ctr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de-DE" b="0" i="0" u="none" strike="noStrike" kern="0" cap="none" spc="0" normalizeH="0" baseline="0" smtClean="0">
                  <a:ln>
                    <a:noFill/>
                  </a:ln>
                  <a:effectLst/>
                  <a:uLnTx/>
                  <a:uFillTx/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uppieren 33"/>
              <p:cNvGrpSpPr/>
              <p:nvPr/>
            </p:nvGrpSpPr>
            <p:grpSpPr>
              <a:xfrm>
                <a:off x="7057115" y="1452689"/>
                <a:ext cx="309716" cy="420330"/>
                <a:chOff x="589936" y="2809567"/>
                <a:chExt cx="309716" cy="420330"/>
              </a:xfrm>
            </p:grpSpPr>
            <p:sp>
              <p:nvSpPr>
                <p:cNvPr id="16" name="Gefaltete Ecke 15"/>
                <p:cNvSpPr/>
                <p:nvPr/>
              </p:nvSpPr>
              <p:spPr bwMode="gray">
                <a:xfrm rot="10800000" flipH="1">
                  <a:off x="589936" y="2809567"/>
                  <a:ext cx="309716" cy="420330"/>
                </a:xfrm>
                <a:prstGeom prst="foldedCorner">
                  <a:avLst>
                    <a:gd name="adj" fmla="val 38333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6350" algn="ctr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lIns="90000" tIns="72000" rIns="90000" bIns="72000" rtlCol="0" anchor="ctr"/>
                <a:lstStyle/>
                <a:p>
                  <a:pPr marR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  <a:tabLst/>
                  </a:pPr>
                  <a:endParaRPr kumimoji="0" lang="de-DE" b="0" i="0" u="none" strike="noStrike" kern="0" cap="none" spc="0" normalizeH="0" baseline="0" smtClean="0">
                    <a:ln>
                      <a:noFill/>
                    </a:ln>
                    <a:effectLst/>
                    <a:uLnTx/>
                    <a:uFillTx/>
                    <a:ea typeface="Arial Unicode MS" pitchFamily="34" charset="-128"/>
                    <a:cs typeface="Arial Unicode MS" pitchFamily="34" charset="-128"/>
                  </a:endParaRPr>
                </a:p>
              </p:txBody>
            </p:sp>
            <p:sp>
              <p:nvSpPr>
                <p:cNvPr id="17" name="Textfeld 16"/>
                <p:cNvSpPr txBox="1"/>
                <p:nvPr/>
              </p:nvSpPr>
              <p:spPr>
                <a:xfrm>
                  <a:off x="697006" y="2861855"/>
                  <a:ext cx="94496" cy="3262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  <a:buClr>
                      <a:srgbClr val="F0AB00"/>
                    </a:buClr>
                    <a:buSzPct val="80000"/>
                  </a:pPr>
                  <a:r>
                    <a:rPr lang="de-DE" sz="3600" i="1" kern="0" dirty="0" smtClean="0">
                      <a:solidFill>
                        <a:schemeClr val="bg1"/>
                      </a:solidFill>
                      <a:latin typeface="Angsana New" pitchFamily="18" charset="-34"/>
                      <a:ea typeface="Arial Unicode MS" pitchFamily="34" charset="-128"/>
                      <a:cs typeface="Angsana New" pitchFamily="18" charset="-34"/>
                    </a:rPr>
                    <a:t>i</a:t>
                  </a:r>
                </a:p>
              </p:txBody>
            </p:sp>
          </p:grpSp>
        </p:grpSp>
      </p:grpSp>
      <p:sp>
        <p:nvSpPr>
          <p:cNvPr id="18" name="Textplatzhalt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2327108" y="3552319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&lt;server-side&gt;</a:t>
            </a:r>
          </a:p>
          <a:p>
            <a:pPr lvl="0"/>
            <a:r>
              <a:rPr lang="en-US" dirty="0" smtClean="0"/>
              <a:t>&lt;client-side&gt;</a:t>
            </a:r>
            <a:endParaRPr lang="de-DE" dirty="0"/>
          </a:p>
        </p:txBody>
      </p:sp>
      <p:sp>
        <p:nvSpPr>
          <p:cNvPr id="19" name="Textfeld 18"/>
          <p:cNvSpPr txBox="1"/>
          <p:nvPr userDrawn="1"/>
        </p:nvSpPr>
        <p:spPr>
          <a:xfrm>
            <a:off x="2041112" y="3250331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 smtClean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Software used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043658" y="5176323"/>
            <a:ext cx="9825542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b="0" kern="1200" baseline="0" noProof="0" dirty="0" smtClean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Prerequisites</a:t>
            </a:r>
            <a:endParaRPr lang="de-DE" sz="1800" b="0" kern="1200" baseline="0" noProof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327107" y="5489073"/>
            <a:ext cx="9542093" cy="53099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 smtClean="0"/>
              <a:t>&lt;curricula&gt;</a:t>
            </a:r>
          </a:p>
          <a:p>
            <a:pPr lvl="0"/>
            <a:r>
              <a:rPr lang="en-US" dirty="0" smtClean="0"/>
              <a:t>&lt;other prerequisites&gt;</a:t>
            </a:r>
            <a:endParaRPr lang="de-DE" dirty="0" smtClean="0"/>
          </a:p>
        </p:txBody>
      </p:sp>
      <p:sp>
        <p:nvSpPr>
          <p:cNvPr id="22" name="Textfeld 21"/>
          <p:cNvSpPr txBox="1"/>
          <p:nvPr userDrawn="1"/>
        </p:nvSpPr>
        <p:spPr>
          <a:xfrm>
            <a:off x="2046605" y="4184140"/>
            <a:ext cx="9828088" cy="33691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65490" indent="-195248" fontAlgn="base">
              <a:spcBef>
                <a:spcPct val="5000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de-DE" sz="1800" b="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83195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noProof="0" dirty="0" smtClean="0"/>
              <a:t>&lt;</a:t>
            </a:r>
            <a:r>
              <a:rPr lang="de-DE" noProof="0" dirty="0" err="1" smtClean="0"/>
              <a:t>server</a:t>
            </a:r>
            <a:r>
              <a:rPr lang="de-DE" noProof="0" dirty="0" smtClean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1273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24000" y="324075"/>
            <a:ext cx="11545200" cy="7561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noProof="0" dirty="0" smtClean="0"/>
              <a:t>Insert page title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24000" y="1691079"/>
            <a:ext cx="11545200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 smtClean="0"/>
              <a:t>&lt;level 1&gt;</a:t>
            </a:r>
          </a:p>
          <a:p>
            <a:pPr lvl="1"/>
            <a:r>
              <a:rPr lang="en-US" noProof="0" dirty="0" smtClean="0"/>
              <a:t>&lt;level 2&gt;</a:t>
            </a:r>
          </a:p>
          <a:p>
            <a:pPr lvl="2"/>
            <a:r>
              <a:rPr lang="en-US" noProof="0" dirty="0" smtClean="0"/>
              <a:t>&lt;level 3&gt;</a:t>
            </a:r>
          </a:p>
          <a:p>
            <a:pPr lvl="3"/>
            <a:r>
              <a:rPr lang="en-US" noProof="0" dirty="0" smtClean="0"/>
              <a:t>&lt;level 4&gt;</a:t>
            </a:r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4000" y="1231485"/>
            <a:ext cx="115452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 err="1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324000" y="6630039"/>
            <a:ext cx="3153112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0" indent="0" algn="l" defTabSz="816226">
              <a:buClr>
                <a:srgbClr val="000000"/>
              </a:buClr>
              <a:buFont typeface="Arial" pitchFamily="34" charset="0"/>
              <a:buNone/>
            </a:pPr>
            <a:r>
              <a:rPr lang="en-US" sz="900" dirty="0" smtClean="0">
                <a:solidFill>
                  <a:srgbClr val="FFFFFF"/>
                </a:solidFill>
              </a:rPr>
              <a:t>© 2025 SAP</a:t>
            </a:r>
            <a:r>
              <a:rPr lang="en-US" sz="900" baseline="0" dirty="0" smtClean="0">
                <a:solidFill>
                  <a:srgbClr val="FFFFFF"/>
                </a:solidFill>
              </a:rPr>
              <a:t> SE / SAP UCC Magdeburg</a:t>
            </a:r>
            <a:r>
              <a:rPr lang="en-US" sz="900" dirty="0" smtClean="0">
                <a:solidFill>
                  <a:srgbClr val="FFFFFF"/>
                </a:solidFill>
              </a:rPr>
              <a:t>. All rights reserved.</a:t>
            </a:r>
          </a:p>
        </p:txBody>
      </p:sp>
      <p:sp>
        <p:nvSpPr>
          <p:cNvPr id="34" name="TextBox 33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‹Nr.›</a:t>
            </a:fld>
            <a:endParaRPr lang="en-US" sz="900" noProof="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0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56" r:id="rId5"/>
    <p:sldLayoutId id="2147483759" r:id="rId6"/>
    <p:sldLayoutId id="2147483760" r:id="rId7"/>
    <p:sldLayoutId id="2147483746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45" r:id="rId16"/>
    <p:sldLayoutId id="2147483757" r:id="rId17"/>
    <p:sldLayoutId id="2147483758" r:id="rId18"/>
    <p:sldLayoutId id="2147483762" r:id="rId19"/>
  </p:sldLayoutIdLst>
  <p:hf hdr="0" ftr="0" dt="0"/>
  <p:txStyles>
    <p:titleStyle>
      <a:lvl1pPr algn="l" defTabSz="1088776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01600" indent="-201600" algn="l" defTabSz="1088776" rtl="0" eaLnBrk="1" latinLnBrk="0" hangingPunct="1">
        <a:spcBef>
          <a:spcPts val="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17600" indent="-216000" algn="l" defTabSz="1088776" rtl="0" eaLnBrk="1" latinLnBrk="0" hangingPunct="1">
        <a:spcBef>
          <a:spcPts val="338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16000" algn="l" defTabSz="1088776" rtl="0" eaLnBrk="1" latinLnBrk="0" hangingPunct="1">
        <a:spcBef>
          <a:spcPts val="225"/>
        </a:spcBef>
        <a:buClr>
          <a:schemeClr val="accent1"/>
        </a:buClr>
        <a:buSzPct val="75000"/>
        <a:buFont typeface="Symbol" panose="05050102010706020507" pitchFamily="18" charset="2"/>
        <a:buChar char="-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216000" algn="l" defTabSz="1088776" rtl="0" eaLnBrk="1" latinLnBrk="0" hangingPunct="1">
        <a:spcBef>
          <a:spcPts val="140"/>
        </a:spcBef>
        <a:buClr>
          <a:schemeClr val="accent1"/>
        </a:buClr>
        <a:buSzPct val="75000"/>
        <a:buFont typeface="Courier New" panose="02070309020205020404" pitchFamily="49" charset="0"/>
        <a:buChar char="o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1088776" rtl="0" eaLnBrk="1" latinLnBrk="0" hangingPunct="1">
        <a:spcBef>
          <a:spcPts val="250"/>
        </a:spcBef>
        <a:buClr>
          <a:schemeClr val="tx1"/>
        </a:buClr>
        <a:buSzPct val="100000"/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994134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8522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910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7298" indent="-272194" algn="l" defTabSz="108877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38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77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16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552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940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328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716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5104" algn="l" defTabSz="108877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</a:t>
            </a:r>
            <a:r>
              <a:rPr lang="en-US" dirty="0"/>
              <a:t>Service (CS)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Curriculum: Introduction to S4HANA using Global Bike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61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327108" y="3568361"/>
            <a:ext cx="9542092" cy="530990"/>
          </a:xfrm>
        </p:spPr>
        <p:txBody>
          <a:bodyPr/>
          <a:lstStyle/>
          <a:p>
            <a:r>
              <a:rPr lang="de-DE" dirty="0"/>
              <a:t>SAP </a:t>
            </a:r>
            <a:r>
              <a:rPr lang="de-DE" dirty="0" smtClean="0"/>
              <a:t>S/4HANA 2023</a:t>
            </a:r>
          </a:p>
          <a:p>
            <a:r>
              <a:rPr lang="de-DE" dirty="0" err="1" smtClean="0"/>
              <a:t>Fiori</a:t>
            </a:r>
            <a:r>
              <a:rPr lang="de-DE" dirty="0" smtClean="0"/>
              <a:t> 3.0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Prerequisites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endParaRPr lang="de-DE" dirty="0"/>
          </a:p>
        </p:txBody>
      </p:sp>
      <p:sp>
        <p:nvSpPr>
          <p:cNvPr id="5" name="Textplatzhalt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2327108" y="4520696"/>
            <a:ext cx="9542092" cy="530990"/>
          </a:xfrm>
          <a:prstGeom prst="rect">
            <a:avLst/>
          </a:prstGeom>
        </p:spPr>
        <p:txBody>
          <a:bodyPr/>
          <a:lstStyle>
            <a:lvl1pPr marL="214298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100000"/>
              <a:buFont typeface="Arial" panose="020B0604020202020204" pitchFamily="34" charset="0"/>
              <a:buChar char="•"/>
              <a:defRPr sz="1600" b="0" baseline="0">
                <a:solidFill>
                  <a:schemeClr val="tx1"/>
                </a:solidFill>
              </a:defRPr>
            </a:lvl1pPr>
            <a:lvl2pPr marL="405974" indent="-2142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de-DE" dirty="0"/>
              <a:t>Global Bike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4.3 (</a:t>
            </a:r>
            <a:r>
              <a:rPr lang="de-DE" dirty="0" err="1" smtClean="0"/>
              <a:t>July</a:t>
            </a:r>
            <a:r>
              <a:rPr lang="de-DE" dirty="0" smtClean="0"/>
              <a:t> 2025)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3240000"/>
            <a:ext cx="4858331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1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Tim Böttcher</a:t>
            </a:r>
          </a:p>
          <a:p>
            <a:r>
              <a:rPr lang="de-DE" dirty="0" smtClean="0"/>
              <a:t>Chris </a:t>
            </a:r>
            <a:r>
              <a:rPr lang="de-DE" dirty="0"/>
              <a:t>Bernhardt</a:t>
            </a:r>
          </a:p>
          <a:p>
            <a:r>
              <a:rPr lang="de-DE" dirty="0" smtClean="0"/>
              <a:t>Stefan </a:t>
            </a:r>
            <a:r>
              <a:rPr lang="de-DE" dirty="0"/>
              <a:t>Weidner</a:t>
            </a:r>
          </a:p>
          <a:p>
            <a:pPr marL="72000" indent="0">
              <a:buNone/>
            </a:pP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smtClean="0"/>
              <a:t>Beginner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111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>
          <a:xfrm>
            <a:off x="2038856" y="2624439"/>
            <a:ext cx="9830344" cy="1542044"/>
          </a:xfrm>
        </p:spPr>
        <p:txBody>
          <a:bodyPr/>
          <a:lstStyle/>
          <a:p>
            <a:pPr marL="72000" indent="0">
              <a:buNone/>
            </a:pPr>
            <a:r>
              <a:rPr lang="en-US" dirty="0"/>
              <a:t>You are able to</a:t>
            </a:r>
          </a:p>
          <a:p>
            <a:r>
              <a:rPr lang="en-US" dirty="0"/>
              <a:t>name some functionalities of the </a:t>
            </a:r>
            <a:r>
              <a:rPr lang="en-US" dirty="0" smtClean="0"/>
              <a:t>CS </a:t>
            </a:r>
            <a:r>
              <a:rPr lang="en-US" dirty="0"/>
              <a:t>module.</a:t>
            </a:r>
          </a:p>
          <a:p>
            <a:r>
              <a:rPr lang="en-US" dirty="0"/>
              <a:t>define the central organizational structures of the </a:t>
            </a:r>
            <a:r>
              <a:rPr lang="en-US" dirty="0" smtClean="0"/>
              <a:t>CS </a:t>
            </a:r>
            <a:r>
              <a:rPr lang="en-US" dirty="0"/>
              <a:t>module.</a:t>
            </a:r>
          </a:p>
          <a:p>
            <a:r>
              <a:rPr lang="en-US" dirty="0"/>
              <a:t>summarize the master data which is most important for the </a:t>
            </a:r>
            <a:r>
              <a:rPr lang="en-US" dirty="0" smtClean="0"/>
              <a:t>CS </a:t>
            </a:r>
            <a:r>
              <a:rPr lang="en-US" dirty="0"/>
              <a:t>module.</a:t>
            </a:r>
          </a:p>
          <a:p>
            <a:r>
              <a:rPr lang="en-US" dirty="0"/>
              <a:t>explain </a:t>
            </a:r>
            <a:r>
              <a:rPr lang="en-US" dirty="0" smtClean="0"/>
              <a:t>standard processes of the Customer Service.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7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</a:t>
            </a:r>
            <a:r>
              <a:rPr lang="en-US" dirty="0" smtClean="0"/>
              <a:t>Contract</a:t>
            </a:r>
          </a:p>
          <a:p>
            <a:endParaRPr lang="en-US" dirty="0"/>
          </a:p>
          <a:p>
            <a:r>
              <a:rPr lang="en-US" dirty="0"/>
              <a:t>Service </a:t>
            </a:r>
            <a:r>
              <a:rPr lang="en-US" dirty="0" smtClean="0"/>
              <a:t>Notification</a:t>
            </a:r>
          </a:p>
          <a:p>
            <a:endParaRPr lang="en-US" dirty="0"/>
          </a:p>
          <a:p>
            <a:r>
              <a:rPr lang="en-US" dirty="0"/>
              <a:t>Service </a:t>
            </a:r>
            <a:r>
              <a:rPr lang="en-US" dirty="0" smtClean="0"/>
              <a:t>Order</a:t>
            </a:r>
          </a:p>
          <a:p>
            <a:endParaRPr lang="en-US" dirty="0"/>
          </a:p>
          <a:p>
            <a:r>
              <a:rPr lang="en-US" dirty="0"/>
              <a:t>Goods Return and Repair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812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 smtClean="0"/>
              <a:t>CS </a:t>
            </a:r>
            <a:r>
              <a:rPr lang="en-US" altLang="de-DE" dirty="0"/>
              <a:t>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 smtClean="0">
                <a:solidFill>
                  <a:srgbClr val="B2B2B2"/>
                </a:solidFill>
              </a:rPr>
              <a:t>CS </a:t>
            </a:r>
            <a:r>
              <a:rPr lang="en-US" altLang="de-DE" dirty="0">
                <a:solidFill>
                  <a:srgbClr val="B2B2B2"/>
                </a:solidFill>
              </a:rPr>
              <a:t>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 smtClean="0">
                <a:solidFill>
                  <a:srgbClr val="B2B2B2"/>
                </a:solidFill>
              </a:rPr>
              <a:t>CS </a:t>
            </a:r>
            <a:r>
              <a:rPr lang="en-US" altLang="de-DE" dirty="0">
                <a:solidFill>
                  <a:srgbClr val="B2B2B2"/>
                </a:solidFill>
              </a:rPr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162657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GBI Structure for Customer Service</a:t>
            </a:r>
            <a:endParaRPr lang="de-DE" dirty="0"/>
          </a:p>
        </p:txBody>
      </p:sp>
      <p:grpSp>
        <p:nvGrpSpPr>
          <p:cNvPr id="39" name="Gruppieren 38"/>
          <p:cNvGrpSpPr/>
          <p:nvPr/>
        </p:nvGrpSpPr>
        <p:grpSpPr>
          <a:xfrm>
            <a:off x="324000" y="1516744"/>
            <a:ext cx="11144895" cy="4832855"/>
            <a:chOff x="324000" y="1516744"/>
            <a:chExt cx="11144895" cy="4832855"/>
          </a:xfrm>
        </p:grpSpPr>
        <p:sp>
          <p:nvSpPr>
            <p:cNvPr id="4" name="Line 8"/>
            <p:cNvSpPr>
              <a:spLocks noChangeShapeType="1"/>
            </p:cNvSpPr>
            <p:nvPr/>
          </p:nvSpPr>
          <p:spPr bwMode="white">
            <a:xfrm>
              <a:off x="2196306" y="5261656"/>
              <a:ext cx="0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white">
            <a:xfrm>
              <a:off x="3652044" y="3604306"/>
              <a:ext cx="0" cy="86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4396581" y="1516744"/>
              <a:ext cx="1312863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Global Bike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white">
            <a:xfrm>
              <a:off x="5058569" y="1875519"/>
              <a:ext cx="0" cy="3603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white">
            <a:xfrm>
              <a:off x="3117056" y="2235881"/>
              <a:ext cx="3816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white">
            <a:xfrm>
              <a:off x="2324894" y="2524806"/>
              <a:ext cx="1720850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Global Bike Inc.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white">
            <a:xfrm>
              <a:off x="5422106" y="2524806"/>
              <a:ext cx="2917825" cy="3492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Global Bike Germany GmbH</a:t>
              </a: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white">
            <a:xfrm>
              <a:off x="3117056" y="2235881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white">
            <a:xfrm>
              <a:off x="6933406" y="2235881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white">
            <a:xfrm>
              <a:off x="3117056" y="2883581"/>
              <a:ext cx="0" cy="360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white">
            <a:xfrm>
              <a:off x="1219200" y="3243944"/>
              <a:ext cx="35552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white">
            <a:xfrm>
              <a:off x="2202656" y="3243944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white">
            <a:xfrm>
              <a:off x="3655219" y="3243944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white">
            <a:xfrm>
              <a:off x="6933406" y="2883581"/>
              <a:ext cx="0" cy="360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white">
            <a:xfrm>
              <a:off x="6358731" y="3243944"/>
              <a:ext cx="1295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white">
            <a:xfrm>
              <a:off x="6358731" y="3243944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0" name="Line 8"/>
            <p:cNvSpPr>
              <a:spLocks noChangeShapeType="1"/>
            </p:cNvSpPr>
            <p:nvPr/>
          </p:nvSpPr>
          <p:spPr bwMode="white">
            <a:xfrm>
              <a:off x="7654131" y="3243944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9849999" y="1516744"/>
              <a:ext cx="1618893" cy="402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2000" b="0" dirty="0" smtClean="0">
                  <a:ea typeface="Arial Unicode MS" pitchFamily="34" charset="-128"/>
                  <a:cs typeface="Arial Unicode MS" pitchFamily="34" charset="-128"/>
                </a:rPr>
                <a:t>Client</a:t>
              </a:r>
              <a:endParaRPr lang="de-DE" sz="2000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white">
            <a:xfrm>
              <a:off x="9432988" y="2483531"/>
              <a:ext cx="2035905" cy="41767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2000" b="0" dirty="0" smtClean="0">
                  <a:ea typeface="Arial Unicode MS" pitchFamily="34" charset="-128"/>
                  <a:cs typeface="Arial Unicode MS" pitchFamily="34" charset="-128"/>
                </a:rPr>
                <a:t>Company</a:t>
              </a:r>
              <a:r>
                <a:rPr lang="de-DE" sz="2000" dirty="0">
                  <a:ea typeface="Arial Unicode MS" pitchFamily="34" charset="-128"/>
                  <a:cs typeface="Arial Unicode MS" pitchFamily="34" charset="-128"/>
                </a:rPr>
                <a:t> </a:t>
              </a:r>
              <a:r>
                <a:rPr lang="de-DE" sz="2000" b="0" dirty="0" smtClean="0">
                  <a:ea typeface="Arial Unicode MS" pitchFamily="34" charset="-128"/>
                  <a:cs typeface="Arial Unicode MS" pitchFamily="34" charset="-128"/>
                </a:rPr>
                <a:t>Code</a:t>
              </a:r>
              <a:endParaRPr lang="de-DE" sz="2000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white">
            <a:xfrm>
              <a:off x="9931660" y="3564619"/>
              <a:ext cx="1537233" cy="402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2000" b="0" dirty="0" smtClean="0">
                  <a:ea typeface="Arial Unicode MS" pitchFamily="34" charset="-128"/>
                  <a:cs typeface="Arial Unicode MS" pitchFamily="34" charset="-128"/>
                </a:rPr>
                <a:t>Plant</a:t>
              </a:r>
              <a:endParaRPr lang="de-DE" sz="2000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white">
            <a:xfrm>
              <a:off x="9324216" y="5947308"/>
              <a:ext cx="2144678" cy="402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2000" b="0" dirty="0" smtClean="0">
                  <a:ea typeface="Arial Unicode MS" pitchFamily="34" charset="-128"/>
                  <a:cs typeface="Arial Unicode MS" pitchFamily="34" charset="-128"/>
                </a:rPr>
                <a:t>Storage Location</a:t>
              </a:r>
              <a:endParaRPr lang="en-US" sz="2000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5" name="Line 8"/>
            <p:cNvSpPr>
              <a:spLocks noChangeShapeType="1"/>
            </p:cNvSpPr>
            <p:nvPr/>
          </p:nvSpPr>
          <p:spPr bwMode="white">
            <a:xfrm>
              <a:off x="4774406" y="3243944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white">
            <a:xfrm>
              <a:off x="7903459" y="5044150"/>
              <a:ext cx="3565435" cy="71006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2000" b="0" dirty="0" smtClean="0">
                  <a:ea typeface="Arial Unicode MS" pitchFamily="34" charset="-128"/>
                  <a:cs typeface="Arial Unicode MS" pitchFamily="34" charset="-128"/>
                </a:rPr>
                <a:t>Responsible</a:t>
              </a:r>
              <a:r>
                <a:rPr lang="en-US" sz="2000" dirty="0">
                  <a:ea typeface="Arial Unicode MS" pitchFamily="34" charset="-128"/>
                  <a:cs typeface="Arial Unicode MS" pitchFamily="34" charset="-128"/>
                </a:rPr>
                <a:t> </a:t>
              </a:r>
              <a:r>
                <a:rPr lang="en-US" sz="2000" b="0" dirty="0" smtClean="0">
                  <a:ea typeface="Arial Unicode MS" pitchFamily="34" charset="-128"/>
                  <a:cs typeface="Arial Unicode MS" pitchFamily="34" charset="-128"/>
                </a:rPr>
                <a:t>Maintenance</a:t>
              </a:r>
              <a:br>
                <a:rPr lang="en-US" sz="2000" b="0" dirty="0" smtClean="0">
                  <a:ea typeface="Arial Unicode MS" pitchFamily="34" charset="-128"/>
                  <a:cs typeface="Arial Unicode MS" pitchFamily="34" charset="-128"/>
                </a:rPr>
              </a:br>
              <a:r>
                <a:rPr lang="en-US" sz="2000" b="0" dirty="0" smtClean="0">
                  <a:ea typeface="Arial Unicode MS" pitchFamily="34" charset="-128"/>
                  <a:cs typeface="Arial Unicode MS" pitchFamily="34" charset="-128"/>
                </a:rPr>
                <a:t> Planning Plant</a:t>
              </a:r>
              <a:endParaRPr lang="en-US" sz="2000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27" name="Gerade Verbindung 41"/>
            <p:cNvCxnSpPr>
              <a:cxnSpLocks noChangeShapeType="1"/>
            </p:cNvCxnSpPr>
            <p:nvPr/>
          </p:nvCxnSpPr>
          <p:spPr bwMode="auto">
            <a:xfrm flipH="1">
              <a:off x="324000" y="4207556"/>
              <a:ext cx="11102280" cy="72922"/>
            </a:xfrm>
            <a:prstGeom prst="line">
              <a:avLst/>
            </a:prstGeom>
            <a:noFill/>
            <a:ln w="6350" algn="ctr">
              <a:solidFill>
                <a:schemeClr val="tx1"/>
              </a:solidFill>
              <a:prstDash val="sysDash"/>
              <a:round/>
              <a:headEnd/>
              <a:tailEnd/>
            </a:ln>
          </p:spPr>
        </p:cxnSp>
        <p:sp>
          <p:nvSpPr>
            <p:cNvPr id="28" name="Rectangle 5"/>
            <p:cNvSpPr>
              <a:spLocks noChangeArrowheads="1"/>
            </p:cNvSpPr>
            <p:nvPr/>
          </p:nvSpPr>
          <p:spPr bwMode="white">
            <a:xfrm>
              <a:off x="9032511" y="4450444"/>
              <a:ext cx="2436384" cy="402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2000" b="0" dirty="0" smtClean="0">
                  <a:ea typeface="Arial Unicode MS" pitchFamily="34" charset="-128"/>
                  <a:cs typeface="Arial Unicode MS" pitchFamily="34" charset="-128"/>
                </a:rPr>
                <a:t>Maintenance Plant</a:t>
              </a:r>
              <a:endParaRPr lang="de-DE" sz="2000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white">
            <a:xfrm>
              <a:off x="1957749" y="5764894"/>
              <a:ext cx="518388" cy="25609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  <a:defRPr/>
              </a:pPr>
              <a:r>
                <a:rPr lang="en-US" sz="105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Misc.</a:t>
              </a:r>
              <a:endParaRPr lang="en-US" sz="105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white">
            <a:xfrm>
              <a:off x="1821656" y="3532869"/>
              <a:ext cx="792163" cy="201612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Dallas</a:t>
              </a: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white">
            <a:xfrm>
              <a:off x="3117056" y="3532869"/>
              <a:ext cx="1185863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San Diego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white">
            <a:xfrm>
              <a:off x="4414044" y="3532869"/>
              <a:ext cx="771525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Miami</a:t>
              </a:r>
            </a:p>
          </p:txBody>
        </p:sp>
        <p:sp>
          <p:nvSpPr>
            <p:cNvPr id="33" name="Rectangle 5"/>
            <p:cNvSpPr>
              <a:spLocks noChangeArrowheads="1"/>
            </p:cNvSpPr>
            <p:nvPr/>
          </p:nvSpPr>
          <p:spPr bwMode="white">
            <a:xfrm>
              <a:off x="7149306" y="3532869"/>
              <a:ext cx="1084263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Hamburg</a:t>
              </a:r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white">
            <a:xfrm>
              <a:off x="5763419" y="3532869"/>
              <a:ext cx="1243012" cy="118745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Heidelberg</a:t>
              </a:r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white">
            <a:xfrm>
              <a:off x="1219200" y="3243944"/>
              <a:ext cx="0" cy="2889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endParaRPr lang="de-DE"/>
            </a:p>
          </p:txBody>
        </p:sp>
        <p:sp>
          <p:nvSpPr>
            <p:cNvPr id="37" name="Rechteck 36"/>
            <p:cNvSpPr/>
            <p:nvPr/>
          </p:nvSpPr>
          <p:spPr bwMode="gray">
            <a:xfrm>
              <a:off x="858520" y="3532869"/>
              <a:ext cx="721360" cy="1080000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 smtClean="0">
                  <a:solidFill>
                    <a:schemeClr val="bg1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New</a:t>
              </a:r>
            </a:p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 smtClean="0">
                  <a:solidFill>
                    <a:schemeClr val="bg1"/>
                  </a:solidFill>
                  <a:latin typeface="Arial"/>
                  <a:ea typeface="Arial Unicode MS" pitchFamily="34" charset="-128"/>
                  <a:cs typeface="Arial Unicode MS" pitchFamily="34" charset="-128"/>
                </a:rPr>
                <a:t>York</a:t>
              </a:r>
              <a:endParaRPr lang="de-DE" sz="1600" dirty="0">
                <a:solidFill>
                  <a:schemeClr val="bg1"/>
                </a:solidFill>
                <a:latin typeface="Arial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31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CS Organizational Structure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294967295"/>
          </p:nvPr>
        </p:nvSpPr>
        <p:spPr>
          <a:xfrm>
            <a:off x="324000" y="1691078"/>
            <a:ext cx="11545200" cy="4392043"/>
          </a:xfrm>
        </p:spPr>
        <p:txBody>
          <a:bodyPr/>
          <a:lstStyle/>
          <a:p>
            <a:pPr>
              <a:tabLst>
                <a:tab pos="1971675" algn="l"/>
              </a:tabLst>
              <a:defRPr/>
            </a:pPr>
            <a:r>
              <a:rPr lang="en-US" dirty="0"/>
              <a:t>Client</a:t>
            </a:r>
          </a:p>
          <a:p>
            <a:pPr lvl="1">
              <a:tabLst>
                <a:tab pos="1971675" algn="l"/>
              </a:tabLst>
              <a:defRPr/>
            </a:pPr>
            <a:r>
              <a:rPr lang="en-US" dirty="0"/>
              <a:t>An independent environment in the </a:t>
            </a:r>
            <a:r>
              <a:rPr lang="en-US" dirty="0" smtClean="0"/>
              <a:t>System</a:t>
            </a:r>
          </a:p>
          <a:p>
            <a:pPr lvl="1">
              <a:tabLst>
                <a:tab pos="1971675" algn="l"/>
              </a:tabLst>
              <a:defRPr/>
            </a:pPr>
            <a:endParaRPr lang="en-US" dirty="0"/>
          </a:p>
          <a:p>
            <a:pPr>
              <a:tabLst>
                <a:tab pos="1971675" algn="l"/>
              </a:tabLst>
              <a:defRPr/>
            </a:pPr>
            <a:r>
              <a:rPr lang="en-US" dirty="0"/>
              <a:t>Company Code</a:t>
            </a:r>
          </a:p>
          <a:p>
            <a:pPr lvl="1">
              <a:tabLst>
                <a:tab pos="1971675" algn="l"/>
              </a:tabLst>
              <a:defRPr/>
            </a:pPr>
            <a:r>
              <a:rPr lang="en-US" dirty="0"/>
              <a:t>Smallest org unit for which you can maintain a legal set of </a:t>
            </a:r>
            <a:r>
              <a:rPr lang="en-US" dirty="0" smtClean="0"/>
              <a:t>books</a:t>
            </a:r>
          </a:p>
          <a:p>
            <a:pPr lvl="1">
              <a:tabLst>
                <a:tab pos="1971675" algn="l"/>
              </a:tabLst>
              <a:defRPr/>
            </a:pPr>
            <a:endParaRPr lang="en-US" dirty="0"/>
          </a:p>
          <a:p>
            <a:pPr>
              <a:tabLst>
                <a:tab pos="1971675" algn="l"/>
              </a:tabLst>
              <a:defRPr/>
            </a:pPr>
            <a:r>
              <a:rPr lang="en-US" dirty="0"/>
              <a:t>Storage Location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An organizational unit allowing differentiation between the various stocks of material in a </a:t>
            </a:r>
            <a:r>
              <a:rPr lang="en-US" dirty="0" smtClean="0"/>
              <a:t>plant</a:t>
            </a:r>
          </a:p>
          <a:p>
            <a:pPr lvl="1"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Plant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Operating area or branch within a company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Manufacturing, distribution, purchasing or maintenance facility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Place in which the technical objects of a company are installed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634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dirty="0"/>
              <a:t>Sales Organization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An organizational unit responsible for the sale of certain products or services. 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The responsibility of a sales organization may include legal liability for products and customer </a:t>
            </a:r>
            <a:r>
              <a:rPr lang="en-US" dirty="0" smtClean="0"/>
              <a:t>claims</a:t>
            </a:r>
          </a:p>
          <a:p>
            <a:pPr lvl="1"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Distribution Channel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The way in which products or services reach the customer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Typical examples of distribution channels are wholesale, retail, or direct sales </a:t>
            </a:r>
            <a:endParaRPr lang="en-US" dirty="0" smtClean="0"/>
          </a:p>
          <a:p>
            <a:pPr lvl="1"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Division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A way of grouping materials, products, or </a:t>
            </a:r>
            <a:r>
              <a:rPr lang="en-US" dirty="0" smtClean="0"/>
              <a:t>services</a:t>
            </a:r>
          </a:p>
          <a:p>
            <a:pPr lvl="1"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Sales Area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Combination of Sales Organization, Distribution Channel and Division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Determines conditions (i.e. pricing) for sales activities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Organizational </a:t>
            </a:r>
            <a:r>
              <a:rPr lang="en-US" dirty="0" smtClean="0"/>
              <a:t>Structure (Sales)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4904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Area (example)</a:t>
            </a:r>
            <a:endParaRPr lang="de-DE" dirty="0"/>
          </a:p>
        </p:txBody>
      </p:sp>
      <p:grpSp>
        <p:nvGrpSpPr>
          <p:cNvPr id="32" name="Gruppieren 31"/>
          <p:cNvGrpSpPr/>
          <p:nvPr/>
        </p:nvGrpSpPr>
        <p:grpSpPr>
          <a:xfrm>
            <a:off x="1799815" y="1767563"/>
            <a:ext cx="8595545" cy="4239074"/>
            <a:chOff x="1118658" y="1557338"/>
            <a:chExt cx="8595545" cy="4239074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white">
            <a:xfrm>
              <a:off x="3454550" y="1557338"/>
              <a:ext cx="1218901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err="1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ElectroPro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white">
            <a:xfrm>
              <a:off x="8174328" y="1557338"/>
              <a:ext cx="1439863" cy="2791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b="0" dirty="0" smtClean="0">
                  <a:ea typeface="Arial Unicode MS" pitchFamily="34" charset="-128"/>
                  <a:cs typeface="Arial Unicode MS" pitchFamily="34" charset="-128"/>
                </a:rPr>
                <a:t>Company Code</a:t>
              </a:r>
              <a:endParaRPr lang="de-DE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white">
            <a:xfrm>
              <a:off x="8809717" y="4941888"/>
              <a:ext cx="717161" cy="2791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b="0" dirty="0" smtClean="0">
                  <a:ea typeface="Arial Unicode MS" pitchFamily="34" charset="-128"/>
                  <a:cs typeface="Arial Unicode MS" pitchFamily="34" charset="-128"/>
                </a:rPr>
                <a:t>Division</a:t>
              </a:r>
              <a:endParaRPr lang="de-DE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white">
            <a:xfrm>
              <a:off x="8041151" y="4005263"/>
              <a:ext cx="1560340" cy="2791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b="0" dirty="0" smtClean="0">
                  <a:ea typeface="Arial Unicode MS" pitchFamily="34" charset="-128"/>
                  <a:cs typeface="Arial Unicode MS" pitchFamily="34" charset="-128"/>
                </a:rPr>
                <a:t>Distribution Channel</a:t>
              </a:r>
              <a:endParaRPr lang="en-US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white">
            <a:xfrm>
              <a:off x="8237219" y="2781300"/>
              <a:ext cx="1476984" cy="2791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b="0" dirty="0" smtClean="0">
                  <a:ea typeface="Arial Unicode MS" pitchFamily="34" charset="-128"/>
                  <a:cs typeface="Arial Unicode MS" pitchFamily="34" charset="-128"/>
                </a:rPr>
                <a:t>Sales Organization</a:t>
              </a:r>
              <a:endParaRPr lang="en-US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white">
            <a:xfrm>
              <a:off x="5097238" y="2780795"/>
              <a:ext cx="1586373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Southern Area</a:t>
              </a:r>
              <a:endParaRPr lang="de-DE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10" name="Form 40"/>
            <p:cNvCxnSpPr>
              <a:cxnSpLocks noChangeShapeType="1"/>
            </p:cNvCxnSpPr>
            <p:nvPr/>
          </p:nvCxnSpPr>
          <p:spPr bwMode="auto">
            <a:xfrm rot="10800000" flipV="1">
              <a:off x="2087563" y="2276475"/>
              <a:ext cx="2197100" cy="504825"/>
            </a:xfrm>
            <a:prstGeom prst="bentConnector2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" name="Form 42"/>
            <p:cNvCxnSpPr>
              <a:cxnSpLocks noChangeShapeType="1"/>
              <a:endCxn id="9" idx="0"/>
            </p:cNvCxnSpPr>
            <p:nvPr/>
          </p:nvCxnSpPr>
          <p:spPr bwMode="auto">
            <a:xfrm>
              <a:off x="4067175" y="2276475"/>
              <a:ext cx="1823250" cy="504320"/>
            </a:xfrm>
            <a:prstGeom prst="bentConnector2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2" name="Rectangle 5"/>
            <p:cNvSpPr>
              <a:spLocks noChangeArrowheads="1"/>
            </p:cNvSpPr>
            <p:nvPr/>
          </p:nvSpPr>
          <p:spPr bwMode="white">
            <a:xfrm>
              <a:off x="1292159" y="2780795"/>
              <a:ext cx="1552711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Northern Area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white">
            <a:xfrm>
              <a:off x="1600200" y="4005263"/>
              <a:ext cx="935038" cy="341312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Internet</a:t>
              </a: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white">
            <a:xfrm>
              <a:off x="3561022" y="4005551"/>
              <a:ext cx="1196459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Wholesale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white">
            <a:xfrm>
              <a:off x="5287427" y="4005551"/>
              <a:ext cx="1196459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Wholesale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6" name="Rectangle 5"/>
            <p:cNvSpPr>
              <a:spLocks noChangeArrowheads="1"/>
            </p:cNvSpPr>
            <p:nvPr/>
          </p:nvSpPr>
          <p:spPr bwMode="white">
            <a:xfrm>
              <a:off x="1118658" y="4773334"/>
              <a:ext cx="784488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Mobile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white">
            <a:xfrm>
              <a:off x="1968985" y="4782178"/>
              <a:ext cx="1308669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Kitchenware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18" name="Gerade Verbindung 70"/>
            <p:cNvCxnSpPr>
              <a:cxnSpLocks noChangeShapeType="1"/>
              <a:stCxn id="12" idx="2"/>
              <a:endCxn id="13" idx="0"/>
            </p:cNvCxnSpPr>
            <p:nvPr/>
          </p:nvCxnSpPr>
          <p:spPr bwMode="auto">
            <a:xfrm flipH="1">
              <a:off x="2067719" y="3121530"/>
              <a:ext cx="796" cy="88373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" name="Gewinkelte Verbindung 75"/>
            <p:cNvCxnSpPr>
              <a:cxnSpLocks noChangeShapeType="1"/>
              <a:stCxn id="12" idx="2"/>
              <a:endCxn id="14" idx="0"/>
            </p:cNvCxnSpPr>
            <p:nvPr/>
          </p:nvCxnSpPr>
          <p:spPr bwMode="auto">
            <a:xfrm rot="16200000" flipH="1">
              <a:off x="2671873" y="2518171"/>
              <a:ext cx="884021" cy="2090737"/>
            </a:xfrm>
            <a:prstGeom prst="bentConnector3">
              <a:avLst>
                <a:gd name="adj1" fmla="val 50000"/>
              </a:avLst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0" name="Rectangle 5"/>
            <p:cNvSpPr>
              <a:spLocks noChangeArrowheads="1"/>
            </p:cNvSpPr>
            <p:nvPr/>
          </p:nvSpPr>
          <p:spPr bwMode="white">
            <a:xfrm>
              <a:off x="3439930" y="4801125"/>
              <a:ext cx="1459352" cy="586957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Home </a:t>
              </a:r>
            </a:p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Entertainment</a:t>
              </a:r>
              <a:endParaRPr lang="de-DE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white">
            <a:xfrm>
              <a:off x="5232119" y="4910427"/>
              <a:ext cx="1308669" cy="340735"/>
            </a:xfrm>
            <a:prstGeom prst="rect">
              <a:avLst/>
            </a:prstGeom>
            <a:solidFill>
              <a:schemeClr val="tx2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marL="244475" indent="-244475" algn="ct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en-US" sz="1600" dirty="0" smtClean="0">
                  <a:solidFill>
                    <a:schemeClr val="bg1"/>
                  </a:solidFill>
                  <a:ea typeface="Arial Unicode MS" pitchFamily="34" charset="-128"/>
                  <a:cs typeface="Arial Unicode MS" pitchFamily="34" charset="-128"/>
                </a:rPr>
                <a:t>Kitchenware</a:t>
              </a:r>
              <a:endParaRPr lang="en-US" sz="160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endParaRPr>
            </a:p>
          </p:txBody>
        </p:sp>
        <p:cxnSp>
          <p:nvCxnSpPr>
            <p:cNvPr id="22" name="Gewinkelte Verbindung 37"/>
            <p:cNvCxnSpPr>
              <a:cxnSpLocks noChangeShapeType="1"/>
              <a:stCxn id="15" idx="2"/>
              <a:endCxn id="21" idx="0"/>
            </p:cNvCxnSpPr>
            <p:nvPr/>
          </p:nvCxnSpPr>
          <p:spPr bwMode="auto">
            <a:xfrm rot="16200000" flipH="1">
              <a:off x="5603985" y="4627957"/>
              <a:ext cx="564141" cy="797"/>
            </a:xfrm>
            <a:prstGeom prst="bentConnector3">
              <a:avLst>
                <a:gd name="adj1" fmla="val 50000"/>
              </a:avLst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Gerade Verbindung 70"/>
            <p:cNvCxnSpPr>
              <a:cxnSpLocks noChangeShapeType="1"/>
            </p:cNvCxnSpPr>
            <p:nvPr/>
          </p:nvCxnSpPr>
          <p:spPr bwMode="auto">
            <a:xfrm flipH="1">
              <a:off x="2068387" y="4344962"/>
              <a:ext cx="0" cy="1800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Gerade Verbindung 70"/>
            <p:cNvCxnSpPr>
              <a:cxnSpLocks noChangeShapeType="1"/>
            </p:cNvCxnSpPr>
            <p:nvPr/>
          </p:nvCxnSpPr>
          <p:spPr bwMode="auto">
            <a:xfrm flipH="1">
              <a:off x="1552724" y="4523723"/>
              <a:ext cx="0" cy="2520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Gerade Verbindung 70"/>
            <p:cNvCxnSpPr>
              <a:cxnSpLocks noChangeShapeType="1"/>
            </p:cNvCxnSpPr>
            <p:nvPr/>
          </p:nvCxnSpPr>
          <p:spPr bwMode="auto">
            <a:xfrm flipH="1">
              <a:off x="2623320" y="4521334"/>
              <a:ext cx="0" cy="2520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Gerade Verbindung 32"/>
            <p:cNvCxnSpPr/>
            <p:nvPr/>
          </p:nvCxnSpPr>
          <p:spPr bwMode="auto">
            <a:xfrm>
              <a:off x="1547664" y="4525787"/>
              <a:ext cx="108012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Gerade Verbindung 70"/>
            <p:cNvCxnSpPr>
              <a:cxnSpLocks noChangeShapeType="1"/>
            </p:cNvCxnSpPr>
            <p:nvPr/>
          </p:nvCxnSpPr>
          <p:spPr bwMode="auto">
            <a:xfrm flipH="1">
              <a:off x="4159000" y="4343414"/>
              <a:ext cx="0" cy="4320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Gerade Verbindung 70"/>
            <p:cNvCxnSpPr>
              <a:cxnSpLocks noChangeShapeType="1"/>
            </p:cNvCxnSpPr>
            <p:nvPr/>
          </p:nvCxnSpPr>
          <p:spPr bwMode="auto">
            <a:xfrm flipH="1">
              <a:off x="5887192" y="3121968"/>
              <a:ext cx="0" cy="8784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Gerade Verbindung 70"/>
            <p:cNvCxnSpPr>
              <a:cxnSpLocks noChangeShapeType="1"/>
            </p:cNvCxnSpPr>
            <p:nvPr/>
          </p:nvCxnSpPr>
          <p:spPr bwMode="auto">
            <a:xfrm flipH="1">
              <a:off x="4067944" y="1897832"/>
              <a:ext cx="0" cy="3780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0" name="Rechteck 29"/>
            <p:cNvSpPr/>
            <p:nvPr/>
          </p:nvSpPr>
          <p:spPr bwMode="auto">
            <a:xfrm>
              <a:off x="5069706" y="2636912"/>
              <a:ext cx="1656184" cy="273630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48B00"/>
                </a:buClr>
                <a:buSzTx/>
                <a:buFont typeface="Wingdings" pitchFamily="2" charset="2"/>
                <a:buNone/>
                <a:tabLst/>
              </a:pPr>
              <a:endParaRPr kumimoji="0" lang="de-DE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white">
            <a:xfrm>
              <a:off x="5592717" y="5517232"/>
              <a:ext cx="923499" cy="27918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marL="244475" indent="-244475" algn="r">
                <a:spcBef>
                  <a:spcPct val="0"/>
                </a:spcBef>
                <a:buClr>
                  <a:schemeClr val="accent1"/>
                </a:buClr>
                <a:buSzPct val="80000"/>
              </a:pPr>
              <a:r>
                <a:rPr lang="de-DE" b="0" dirty="0" smtClean="0">
                  <a:ea typeface="Arial Unicode MS" pitchFamily="34" charset="-128"/>
                  <a:cs typeface="Arial Unicode MS" pitchFamily="34" charset="-128"/>
                </a:rPr>
                <a:t>Sales Area</a:t>
              </a:r>
              <a:endParaRPr lang="de-DE" b="0" dirty="0"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33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Sales Office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establishes contact between the firm and the regional </a:t>
            </a:r>
            <a:r>
              <a:rPr lang="en-US" dirty="0" smtClean="0"/>
              <a:t>market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en-US" dirty="0"/>
          </a:p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Sales Group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performs and is responsible for sales </a:t>
            </a:r>
            <a:r>
              <a:rPr lang="en-US" dirty="0" smtClean="0"/>
              <a:t>transactions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en-US" dirty="0"/>
          </a:p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Shipping Point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performs shipping processing and is the part of the company responsible for the type of shipping, the necessary shipping materials and the means of </a:t>
            </a:r>
            <a:r>
              <a:rPr lang="en-US" dirty="0" smtClean="0"/>
              <a:t>transport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en-US" dirty="0"/>
          </a:p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Picking Location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place where the goods will be picked for </a:t>
            </a:r>
            <a:r>
              <a:rPr lang="en-US" dirty="0" smtClean="0"/>
              <a:t>shipping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en-US" sz="1800" dirty="0"/>
          </a:p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Purchasing Organization </a:t>
            </a:r>
            <a:endParaRPr lang="de-DE" dirty="0"/>
          </a:p>
          <a:p>
            <a:pPr lvl="1"/>
            <a:r>
              <a:rPr lang="en-US" dirty="0"/>
              <a:t>organizational unit responsible for procuring services and materials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Organizational </a:t>
            </a:r>
            <a:r>
              <a:rPr lang="en-US" dirty="0" smtClean="0"/>
              <a:t>Structure (Sales &amp; Purchasing)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220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Operating Concern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represents a part of an organization for which the sales market is structured in a uniform manner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operating profit for the individual market segments can be calculated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multiple controlling areas can be assigned to one operating </a:t>
            </a:r>
            <a:r>
              <a:rPr lang="en-US" dirty="0" smtClean="0"/>
              <a:t>concern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Controlling Area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self-contained, organizational unit for which the management of revenues and expenses can be performed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include one or more company codes; therefore, an enterprise can perform management accounting analyses and reports across several companies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way to identify and track where revenues and costs are incurred for evaluation purposes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de-DE" dirty="0"/>
          </a:p>
          <a:p>
            <a:pPr lvl="1">
              <a:buFontTx/>
              <a:buNone/>
              <a:tabLst>
                <a:tab pos="1971675" algn="l"/>
              </a:tabLst>
            </a:pPr>
            <a:endParaRPr lang="de-DE" dirty="0"/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Organizational </a:t>
            </a:r>
            <a:r>
              <a:rPr lang="en-US" dirty="0" smtClean="0"/>
              <a:t>Structure (Controlling)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295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CS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 smtClean="0"/>
              <a:t>CS </a:t>
            </a:r>
            <a:r>
              <a:rPr lang="en-US" altLang="de-DE" dirty="0"/>
              <a:t>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 smtClean="0">
                <a:solidFill>
                  <a:srgbClr val="B2B2B2"/>
                </a:solidFill>
              </a:rPr>
              <a:t>CS </a:t>
            </a:r>
            <a:r>
              <a:rPr lang="en-US" altLang="de-DE" dirty="0">
                <a:solidFill>
                  <a:srgbClr val="B2B2B2"/>
                </a:solidFill>
              </a:rPr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3499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Work </a:t>
            </a:r>
            <a:r>
              <a:rPr lang="en-US" dirty="0"/>
              <a:t>Center</a:t>
            </a:r>
          </a:p>
          <a:p>
            <a:endParaRPr lang="en-US" dirty="0" smtClean="0"/>
          </a:p>
          <a:p>
            <a:r>
              <a:rPr lang="en-US" dirty="0" smtClean="0"/>
              <a:t>Equipment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Bill </a:t>
            </a:r>
            <a:r>
              <a:rPr lang="en-US" dirty="0"/>
              <a:t>of </a:t>
            </a:r>
            <a:r>
              <a:rPr lang="en-US" dirty="0" smtClean="0"/>
              <a:t>Material</a:t>
            </a:r>
          </a:p>
          <a:p>
            <a:endParaRPr lang="en-US" dirty="0" smtClean="0"/>
          </a:p>
          <a:p>
            <a:r>
              <a:rPr lang="en-US" dirty="0" smtClean="0"/>
              <a:t>Customer </a:t>
            </a:r>
            <a:r>
              <a:rPr lang="en-US" dirty="0"/>
              <a:t>Master Data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Material Master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/>
              <a:t>Vendor Master Data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 Master Data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7452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A location within a plant where value-added work (operations or activities) are performed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Work Centers can represent</a:t>
            </a:r>
          </a:p>
          <a:p>
            <a:pPr lvl="2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People or Groups of People</a:t>
            </a:r>
          </a:p>
          <a:p>
            <a:pPr lvl="2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Machines or Groups of Machines</a:t>
            </a:r>
          </a:p>
          <a:p>
            <a:pPr lvl="2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Assembly </a:t>
            </a:r>
            <a:r>
              <a:rPr lang="en-US" dirty="0" smtClean="0"/>
              <a:t>Lines</a:t>
            </a:r>
          </a:p>
          <a:p>
            <a:pPr lvl="2">
              <a:lnSpc>
                <a:spcPct val="90000"/>
              </a:lnSpc>
              <a:tabLst>
                <a:tab pos="1971675" algn="l"/>
              </a:tabLst>
            </a:pPr>
            <a:endParaRPr lang="en-US" dirty="0"/>
          </a:p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Work center used to define capacities 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Labor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Machine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Output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Emissions </a:t>
            </a:r>
            <a:endParaRPr lang="en-US" dirty="0" smtClean="0"/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endParaRPr lang="en-US" dirty="0"/>
          </a:p>
          <a:p>
            <a:pPr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Capacities used in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Capacity requirements planning (CRP)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Detailed scheduling</a:t>
            </a:r>
          </a:p>
          <a:p>
            <a:pPr lvl="1">
              <a:lnSpc>
                <a:spcPct val="90000"/>
              </a:lnSpc>
              <a:tabLst>
                <a:tab pos="1971675" algn="l"/>
              </a:tabLst>
            </a:pPr>
            <a:r>
              <a:rPr lang="en-US" dirty="0"/>
              <a:t>Costing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Center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1121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Equipment</a:t>
            </a:r>
          </a:p>
          <a:p>
            <a:pPr lvl="1"/>
            <a:r>
              <a:rPr lang="en-US" dirty="0"/>
              <a:t>Individual and autonomous technical unit</a:t>
            </a:r>
          </a:p>
          <a:p>
            <a:pPr lvl="1"/>
            <a:r>
              <a:rPr lang="en-US" dirty="0"/>
              <a:t>Physical object for which maintenance tasks are planned and performed</a:t>
            </a:r>
          </a:p>
          <a:p>
            <a:pPr lvl="1"/>
            <a:r>
              <a:rPr lang="en-US" dirty="0" err="1"/>
              <a:t>Equipments</a:t>
            </a:r>
            <a:r>
              <a:rPr lang="en-US" dirty="0"/>
              <a:t> can be placed in functional </a:t>
            </a:r>
            <a:r>
              <a:rPr lang="en-US" dirty="0" smtClean="0"/>
              <a:t>locations</a:t>
            </a:r>
          </a:p>
          <a:p>
            <a:pPr lvl="1"/>
            <a:endParaRPr lang="en-US" dirty="0"/>
          </a:p>
          <a:p>
            <a:r>
              <a:rPr lang="en-US" dirty="0"/>
              <a:t>Functional Location </a:t>
            </a:r>
          </a:p>
          <a:p>
            <a:pPr lvl="1"/>
            <a:r>
              <a:rPr lang="en-US" dirty="0"/>
              <a:t>Hierarchal organized structure which represents e.g. a technical system, a building or a part of it</a:t>
            </a:r>
          </a:p>
          <a:p>
            <a:pPr lvl="1"/>
            <a:r>
              <a:rPr lang="en-US" dirty="0"/>
              <a:t>Structural depiction of a technical plant</a:t>
            </a:r>
          </a:p>
          <a:p>
            <a:pPr lvl="1"/>
            <a:r>
              <a:rPr lang="en-US" dirty="0"/>
              <a:t>Planning and performing maintenance </a:t>
            </a:r>
            <a:r>
              <a:rPr lang="en-US" dirty="0" smtClean="0"/>
              <a:t>tasks</a:t>
            </a:r>
          </a:p>
          <a:p>
            <a:pPr lvl="1"/>
            <a:endParaRPr lang="en-US" dirty="0"/>
          </a:p>
          <a:p>
            <a:r>
              <a:rPr lang="en-US" dirty="0"/>
              <a:t>Classification</a:t>
            </a:r>
          </a:p>
          <a:p>
            <a:pPr lvl="1"/>
            <a:r>
              <a:rPr lang="en-US" dirty="0"/>
              <a:t>assignment of an item or initiative to one or several buckets of a classification hierarchy</a:t>
            </a:r>
          </a:p>
          <a:p>
            <a:pPr lvl="1"/>
            <a:r>
              <a:rPr lang="en-US" dirty="0"/>
              <a:t>The act of assigning a value of a given characteristic to an object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 / Functional Location - </a:t>
            </a:r>
            <a:r>
              <a:rPr lang="de-DE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549949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Measuring point and counter reading</a:t>
            </a:r>
          </a:p>
          <a:p>
            <a:pPr lvl="1"/>
            <a:r>
              <a:rPr lang="en-US" dirty="0"/>
              <a:t>describes the state of a technical object</a:t>
            </a:r>
          </a:p>
          <a:p>
            <a:pPr lvl="1"/>
            <a:r>
              <a:rPr lang="en-US" dirty="0"/>
              <a:t>important for regulations, e.g. emission limits of a </a:t>
            </a:r>
            <a:r>
              <a:rPr lang="en-US" dirty="0" smtClean="0"/>
              <a:t>plant</a:t>
            </a:r>
          </a:p>
          <a:p>
            <a:pPr lvl="1"/>
            <a:endParaRPr lang="en-US" dirty="0"/>
          </a:p>
          <a:p>
            <a:r>
              <a:rPr lang="en-US" dirty="0"/>
              <a:t>Serial number</a:t>
            </a:r>
          </a:p>
          <a:p>
            <a:pPr lvl="1"/>
            <a:r>
              <a:rPr lang="en-US" dirty="0"/>
              <a:t>used for individualization of materials</a:t>
            </a:r>
          </a:p>
          <a:p>
            <a:pPr lvl="1"/>
            <a:r>
              <a:rPr lang="en-US" dirty="0"/>
              <a:t>distinguish materials with the same material number</a:t>
            </a:r>
          </a:p>
          <a:p>
            <a:pPr lvl="1"/>
            <a:r>
              <a:rPr lang="en-US" dirty="0"/>
              <a:t>specify the exact location of an unique good </a:t>
            </a:r>
          </a:p>
          <a:p>
            <a:pPr lvl="1"/>
            <a:r>
              <a:rPr lang="en-US" dirty="0"/>
              <a:t>save additional information</a:t>
            </a:r>
          </a:p>
          <a:p>
            <a:pPr lvl="1"/>
            <a:r>
              <a:rPr lang="en-US" dirty="0"/>
              <a:t>e.g. manual, warranty information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 / Functional Location - Definition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7714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Equipment Master Data</a:t>
            </a:r>
          </a:p>
          <a:p>
            <a:pPr lvl="1"/>
            <a:r>
              <a:rPr lang="en-US" dirty="0"/>
              <a:t>contains all information around </a:t>
            </a:r>
            <a:br>
              <a:rPr lang="en-US" dirty="0"/>
            </a:br>
            <a:r>
              <a:rPr lang="en-US" dirty="0"/>
              <a:t>equipment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Information in four views:</a:t>
            </a:r>
          </a:p>
          <a:p>
            <a:pPr lvl="1"/>
            <a:r>
              <a:rPr lang="en-US" dirty="0"/>
              <a:t>General</a:t>
            </a:r>
          </a:p>
          <a:p>
            <a:pPr lvl="1"/>
            <a:r>
              <a:rPr lang="en-US" dirty="0"/>
              <a:t>Location</a:t>
            </a:r>
          </a:p>
          <a:p>
            <a:pPr lvl="1"/>
            <a:r>
              <a:rPr lang="en-US" dirty="0"/>
              <a:t>Organization</a:t>
            </a:r>
          </a:p>
          <a:p>
            <a:pPr lvl="1"/>
            <a:r>
              <a:rPr lang="en-US" dirty="0"/>
              <a:t>Structure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Equipment Master </a:t>
            </a:r>
            <a:r>
              <a:rPr lang="de-DE" dirty="0" err="1"/>
              <a:t>Record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880" y="1739036"/>
            <a:ext cx="4672154" cy="434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28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guarantee to vouch for defects or faults in the product purchased, valid for a specific period of time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The type and scope of the services covered, such as repairing a defect for free or taking the product back, are defined in the warranty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Can be distinguished in vendor-, manufacturer- or customer </a:t>
            </a:r>
            <a:r>
              <a:rPr lang="en-US" dirty="0" smtClean="0"/>
              <a:t>warranty</a:t>
            </a:r>
          </a:p>
          <a:p>
            <a:endParaRPr lang="en-US" dirty="0"/>
          </a:p>
          <a:p>
            <a:r>
              <a:rPr lang="en-US" dirty="0"/>
              <a:t>Valid for a specific technical object</a:t>
            </a:r>
          </a:p>
          <a:p>
            <a:pPr lvl="1"/>
            <a:r>
              <a:rPr lang="en-US" dirty="0"/>
              <a:t>functional location, equipment or serial number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Warranties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192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formally structured list of all </a:t>
            </a:r>
            <a:r>
              <a:rPr lang="en-US" dirty="0" smtClean="0"/>
              <a:t>components</a:t>
            </a:r>
          </a:p>
          <a:p>
            <a:endParaRPr lang="en-US" dirty="0"/>
          </a:p>
          <a:p>
            <a:r>
              <a:rPr lang="en-US" dirty="0"/>
              <a:t>Material BOMs can be allocated to functional locations or </a:t>
            </a:r>
            <a:r>
              <a:rPr lang="en-US" dirty="0" smtClean="0"/>
              <a:t>equipment</a:t>
            </a:r>
          </a:p>
          <a:p>
            <a:endParaRPr lang="en-US" dirty="0"/>
          </a:p>
          <a:p>
            <a:r>
              <a:rPr lang="en-US" dirty="0"/>
              <a:t>Three types of BOMs in Enterprise Asset Management:</a:t>
            </a:r>
          </a:p>
          <a:p>
            <a:pPr lvl="1"/>
            <a:r>
              <a:rPr lang="en-US" dirty="0"/>
              <a:t>Material BOMs</a:t>
            </a:r>
          </a:p>
          <a:p>
            <a:pPr lvl="1"/>
            <a:r>
              <a:rPr lang="en-US" dirty="0"/>
              <a:t>Equipment BOMs</a:t>
            </a:r>
          </a:p>
          <a:p>
            <a:pPr lvl="1"/>
            <a:r>
              <a:rPr lang="en-US" dirty="0"/>
              <a:t>Functional location </a:t>
            </a:r>
            <a:r>
              <a:rPr lang="en-US" dirty="0" smtClean="0"/>
              <a:t>BOMs</a:t>
            </a:r>
          </a:p>
          <a:p>
            <a:pPr lvl="1"/>
            <a:endParaRPr lang="en-US" dirty="0"/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Structuring of objects</a:t>
            </a:r>
          </a:p>
          <a:p>
            <a:pPr lvl="1"/>
            <a:r>
              <a:rPr lang="en-US" dirty="0"/>
              <a:t>Service parts planning in maintenance orders and maintenance task lists </a:t>
            </a:r>
          </a:p>
          <a:p>
            <a:pPr lvl="1"/>
            <a:r>
              <a:rPr lang="en-US" dirty="0"/>
              <a:t>Within plant maintenance BOMs are used, if similar object should be maintained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Bill of Material – Definition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9901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dirty="0"/>
              <a:t>Customer Master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Contains all of the information necessary for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processing </a:t>
            </a:r>
            <a:r>
              <a:rPr lang="en-US" dirty="0"/>
              <a:t>orders, deliveries, </a:t>
            </a:r>
            <a:r>
              <a:rPr lang="en-US" dirty="0" smtClean="0"/>
              <a:t>invoices </a:t>
            </a:r>
            <a:r>
              <a:rPr lang="en-US" dirty="0"/>
              <a:t>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customer </a:t>
            </a:r>
            <a:r>
              <a:rPr lang="en-US" dirty="0"/>
              <a:t>payment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Every customer MUST have a master record</a:t>
            </a:r>
          </a:p>
          <a:p>
            <a:pPr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Created by Sales Area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Sales Organization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Distribution Channel</a:t>
            </a:r>
          </a:p>
          <a:p>
            <a:pPr lvl="1">
              <a:tabLst>
                <a:tab pos="1971675" algn="l"/>
              </a:tabLst>
            </a:pPr>
            <a:r>
              <a:rPr lang="en-US" dirty="0" smtClean="0"/>
              <a:t>Division</a:t>
            </a:r>
          </a:p>
          <a:p>
            <a:pPr>
              <a:tabLst>
                <a:tab pos="1971675" algn="l"/>
              </a:tabLst>
            </a:pPr>
            <a:endParaRPr lang="en-US" dirty="0" smtClean="0"/>
          </a:p>
          <a:p>
            <a:pPr>
              <a:tabLst>
                <a:tab pos="1971675" algn="l"/>
              </a:tabLst>
            </a:pPr>
            <a:r>
              <a:rPr lang="en-US" dirty="0"/>
              <a:t>The customer master information is divided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into </a:t>
            </a:r>
            <a:r>
              <a:rPr lang="en-US" dirty="0"/>
              <a:t>3 areas: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General Data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Company Code Data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Sales Area Data</a:t>
            </a:r>
          </a:p>
          <a:p>
            <a:pPr>
              <a:tabLst>
                <a:tab pos="1971675" algn="l"/>
              </a:tabLst>
            </a:pP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Master Data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401" y="1691079"/>
            <a:ext cx="5416431" cy="395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99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dirty="0"/>
              <a:t>Material Master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Contains all the information a company needs to manage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about </a:t>
            </a:r>
            <a:r>
              <a:rPr lang="en-US" dirty="0"/>
              <a:t>a material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It is used by most components within the SAP system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Sales and Distribution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Materials Management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Production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Plant Maintenance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Accounting/Controlling</a:t>
            </a:r>
          </a:p>
          <a:p>
            <a:pPr lvl="2">
              <a:tabLst>
                <a:tab pos="1971675" algn="l"/>
              </a:tabLst>
            </a:pPr>
            <a:r>
              <a:rPr lang="en-US" sz="1400" dirty="0"/>
              <a:t>Quality Management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Material master data is stored in functional segments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called </a:t>
            </a:r>
            <a:r>
              <a:rPr lang="en-US" dirty="0"/>
              <a:t>Views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Master Data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778" y="1437582"/>
            <a:ext cx="4888503" cy="437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0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Master Views</a:t>
            </a:r>
            <a:endParaRPr lang="de-DE" dirty="0"/>
          </a:p>
        </p:txBody>
      </p:sp>
      <p:grpSp>
        <p:nvGrpSpPr>
          <p:cNvPr id="14" name="Gruppieren 13"/>
          <p:cNvGrpSpPr/>
          <p:nvPr/>
        </p:nvGrpSpPr>
        <p:grpSpPr>
          <a:xfrm>
            <a:off x="2629500" y="2102234"/>
            <a:ext cx="6934200" cy="3569732"/>
            <a:chOff x="1435100" y="1968500"/>
            <a:chExt cx="6934200" cy="3569732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2959100" y="31115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800" b="0">
                  <a:solidFill>
                    <a:schemeClr val="bg1"/>
                  </a:solidFill>
                </a:rPr>
                <a:t>Material Master</a:t>
              </a: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435100" y="2501900"/>
              <a:ext cx="2057400" cy="385763"/>
            </a:xfrm>
            <a:prstGeom prst="rect">
              <a:avLst/>
            </a:prstGeom>
            <a:noFill/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Basic Data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340100" y="1968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6666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Sales Data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511300" y="4635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Controlling Data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311900" y="35687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Forecasting Data</a:t>
              </a: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5092700" y="2501900"/>
              <a:ext cx="2057400" cy="385763"/>
            </a:xfrm>
            <a:prstGeom prst="rect">
              <a:avLst/>
            </a:prstGeom>
            <a:noFill/>
            <a:ln w="1905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Purchasing Data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778500" y="30353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Mat. Plan. Data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340100" y="5168900"/>
              <a:ext cx="2057400" cy="369332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</a:pPr>
              <a:r>
                <a:rPr lang="en-US" sz="1800" b="0">
                  <a:solidFill>
                    <a:srgbClr val="000000"/>
                  </a:solidFill>
                </a:rPr>
                <a:t>Accounting Data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5854700" y="4102100"/>
              <a:ext cx="2057400" cy="369332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 typeface="Wingdings" pitchFamily="2" charset="2"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Storage Data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5168900" y="4635500"/>
              <a:ext cx="2057400" cy="37623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sz="1800" b="0">
                  <a:solidFill>
                    <a:srgbClr val="000000"/>
                  </a:solidFill>
                </a:rPr>
                <a:t>Quality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8460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Master</a:t>
            </a:r>
            <a:endParaRPr lang="de-DE" dirty="0"/>
          </a:p>
        </p:txBody>
      </p:sp>
      <p:grpSp>
        <p:nvGrpSpPr>
          <p:cNvPr id="12" name="Gruppieren 11"/>
          <p:cNvGrpSpPr/>
          <p:nvPr/>
        </p:nvGrpSpPr>
        <p:grpSpPr>
          <a:xfrm>
            <a:off x="1596264" y="1658148"/>
            <a:ext cx="8914038" cy="4441927"/>
            <a:chOff x="287564" y="1723923"/>
            <a:chExt cx="8914038" cy="4441927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1052513" y="4027488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Sales Org. UW00</a:t>
              </a: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617663" y="48704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DBB40D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Sales Org. UE00</a:t>
              </a:r>
            </a:p>
          </p:txBody>
        </p:sp>
        <p:sp>
          <p:nvSpPr>
            <p:cNvPr id="6" name="AutoShape 7"/>
            <p:cNvSpPr>
              <a:spLocks noChangeArrowheads="1"/>
            </p:cNvSpPr>
            <p:nvPr/>
          </p:nvSpPr>
          <p:spPr bwMode="auto">
            <a:xfrm>
              <a:off x="3111500" y="204470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C0C0C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800" b="0"/>
                <a:t>Client XXX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2120900" y="1723923"/>
              <a:ext cx="5334000" cy="11763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sz="1400" dirty="0"/>
                <a:t>General Information</a:t>
              </a:r>
              <a:r>
                <a:rPr lang="en-US" sz="1400" b="0" dirty="0"/>
                <a:t> relevant for the entire organization:</a:t>
              </a:r>
              <a:br>
                <a:rPr lang="en-US" sz="1400" b="0" dirty="0"/>
              </a:br>
              <a:r>
                <a:rPr lang="en-US" sz="1400" b="0" dirty="0"/>
                <a:t>			 </a:t>
              </a:r>
            </a:p>
            <a:p>
              <a:pPr>
                <a:spcBef>
                  <a:spcPct val="10000"/>
                </a:spcBef>
                <a:buClrTx/>
                <a:buFontTx/>
                <a:buNone/>
              </a:pPr>
              <a:r>
                <a:rPr lang="en-US" sz="1400" b="0" dirty="0"/>
                <a:t>			           Name</a:t>
              </a:r>
              <a:br>
                <a:rPr lang="en-US" sz="1400" b="0" dirty="0"/>
              </a:br>
              <a:r>
                <a:rPr lang="en-US" sz="1400" b="0" dirty="0"/>
                <a:t>  			           Weight</a:t>
              </a:r>
              <a:br>
                <a:rPr lang="en-US" sz="1400" b="0" dirty="0"/>
              </a:br>
              <a:r>
                <a:rPr lang="en-US" sz="1400" b="0" dirty="0"/>
                <a:t>			           Unit of Measure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87564" y="3738916"/>
              <a:ext cx="5486400" cy="121264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sz="1400" dirty="0" smtClean="0"/>
                <a:t>	Sales </a:t>
              </a:r>
              <a:r>
                <a:rPr lang="en-US" sz="1400" dirty="0"/>
                <a:t>specific information</a:t>
              </a:r>
              <a:r>
                <a:rPr lang="en-US" sz="1400" b="0" dirty="0"/>
                <a:t>: </a:t>
              </a:r>
            </a:p>
            <a:p>
              <a:pPr>
                <a:spcBef>
                  <a:spcPct val="10000"/>
                </a:spcBef>
                <a:buClrTx/>
                <a:buFontTx/>
                <a:buNone/>
              </a:pPr>
              <a:endParaRPr lang="en-US" sz="1400" b="0" dirty="0"/>
            </a:p>
            <a:p>
              <a:pPr>
                <a:spcBef>
                  <a:spcPct val="10000"/>
                </a:spcBef>
                <a:buClrTx/>
                <a:buFontTx/>
                <a:buNone/>
              </a:pPr>
              <a:r>
                <a:rPr lang="en-US" sz="1400" b="0" dirty="0"/>
                <a:t>			   Delivering Plant</a:t>
              </a:r>
              <a:br>
                <a:rPr lang="en-US" sz="1400" b="0" dirty="0"/>
              </a:br>
              <a:r>
                <a:rPr lang="en-US" sz="1400" b="0" dirty="0"/>
                <a:t>			   Loading Grp</a:t>
              </a:r>
              <a:br>
                <a:rPr lang="en-US" sz="1400" b="0" dirty="0"/>
              </a:br>
              <a:r>
                <a:rPr lang="en-US" sz="1400" b="0" dirty="0"/>
                <a:t>			            </a:t>
              </a:r>
            </a:p>
          </p:txBody>
        </p: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4485823" y="3738916"/>
              <a:ext cx="4715779" cy="76020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sz="1400" dirty="0"/>
                <a:t>Storage Location specific information</a:t>
              </a:r>
              <a:r>
                <a:rPr lang="en-US" sz="1400" b="0" dirty="0"/>
                <a:t>:</a:t>
              </a:r>
              <a:br>
                <a:rPr lang="en-US" sz="1400" b="0" dirty="0"/>
              </a:br>
              <a:r>
                <a:rPr lang="en-US" sz="1400" b="0" dirty="0"/>
                <a:t>		                	     </a:t>
              </a:r>
            </a:p>
            <a:p>
              <a:pPr>
                <a:spcBef>
                  <a:spcPct val="10000"/>
                </a:spcBef>
                <a:buClrTx/>
                <a:buFontTx/>
                <a:buNone/>
              </a:pPr>
              <a:r>
                <a:rPr lang="en-US" sz="1400" b="0" dirty="0"/>
                <a:t>			     Stock </a:t>
              </a:r>
              <a:r>
                <a:rPr lang="en-US" sz="1400" b="0" dirty="0" err="1"/>
                <a:t>Qty</a:t>
              </a:r>
              <a:endParaRPr lang="en-US" sz="1400" b="0" dirty="0"/>
            </a:p>
          </p:txBody>
        </p:sp>
        <p:sp>
          <p:nvSpPr>
            <p:cNvPr id="10" name="AutoShape 8"/>
            <p:cNvSpPr>
              <a:spLocks noChangeArrowheads="1"/>
            </p:cNvSpPr>
            <p:nvPr/>
          </p:nvSpPr>
          <p:spPr bwMode="auto">
            <a:xfrm>
              <a:off x="5165725" y="40322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800" b="0">
                  <a:solidFill>
                    <a:schemeClr val="bg1"/>
                  </a:solidFill>
                </a:rPr>
                <a:t>Storage Loc. FG00</a:t>
              </a:r>
            </a:p>
          </p:txBody>
        </p:sp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5721350" y="4870450"/>
              <a:ext cx="2667000" cy="1295400"/>
            </a:xfrm>
            <a:prstGeom prst="can">
              <a:avLst>
                <a:gd name="adj" fmla="val 25000"/>
              </a:avLst>
            </a:prstGeom>
            <a:solidFill>
              <a:srgbClr val="00488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sz="1800" b="0">
                  <a:solidFill>
                    <a:schemeClr val="bg1"/>
                  </a:solidFill>
                </a:rPr>
                <a:t>Storage Loc. TG00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333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dirty="0" smtClean="0"/>
              <a:t>Contains </a:t>
            </a:r>
            <a:r>
              <a:rPr lang="en-US" dirty="0"/>
              <a:t>all the necessary information needed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 </a:t>
            </a:r>
            <a:r>
              <a:rPr lang="en-US" dirty="0"/>
              <a:t>business with </a:t>
            </a:r>
            <a:r>
              <a:rPr lang="en-US" dirty="0" smtClean="0"/>
              <a:t>an </a:t>
            </a:r>
            <a:r>
              <a:rPr lang="en-US" dirty="0"/>
              <a:t>external </a:t>
            </a:r>
            <a:r>
              <a:rPr lang="en-US" dirty="0" smtClean="0"/>
              <a:t>supplier</a:t>
            </a:r>
          </a:p>
          <a:p>
            <a:pPr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Used and maintained primarily by the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Purchasing </a:t>
            </a:r>
            <a:r>
              <a:rPr lang="en-US" dirty="0"/>
              <a:t>and Accounting </a:t>
            </a:r>
            <a:r>
              <a:rPr lang="en-US" dirty="0" smtClean="0"/>
              <a:t>Departments</a:t>
            </a:r>
          </a:p>
          <a:p>
            <a:pPr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Every vendor MUST have a master </a:t>
            </a:r>
            <a:r>
              <a:rPr lang="en-US" dirty="0" smtClean="0"/>
              <a:t>record</a:t>
            </a:r>
          </a:p>
          <a:p>
            <a:pPr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altLang="de-DE" dirty="0"/>
              <a:t>The supplier master record is created in </a:t>
            </a:r>
            <a:r>
              <a:rPr lang="en-US" altLang="de-DE" dirty="0" smtClean="0"/>
              <a:t/>
            </a:r>
            <a:br>
              <a:rPr lang="en-US" altLang="de-DE" dirty="0" smtClean="0"/>
            </a:br>
            <a:r>
              <a:rPr lang="en-US" altLang="de-DE" dirty="0" smtClean="0"/>
              <a:t>SAP </a:t>
            </a:r>
            <a:r>
              <a:rPr lang="en-US" altLang="de-DE" dirty="0"/>
              <a:t>S/4HANA as a central business partner </a:t>
            </a:r>
            <a:r>
              <a:rPr lang="en-US" altLang="de-DE" dirty="0" smtClean="0"/>
              <a:t/>
            </a:r>
            <a:br>
              <a:rPr lang="en-US" altLang="de-DE" dirty="0" smtClean="0"/>
            </a:br>
            <a:r>
              <a:rPr lang="en-US" altLang="de-DE" dirty="0" smtClean="0"/>
              <a:t>master </a:t>
            </a:r>
            <a:r>
              <a:rPr lang="en-US" altLang="de-DE" dirty="0"/>
              <a:t>record with different roles.</a:t>
            </a:r>
          </a:p>
          <a:p>
            <a:pPr>
              <a:tabLst>
                <a:tab pos="1971675" algn="l"/>
              </a:tabLst>
            </a:pPr>
            <a:endParaRPr lang="en-US" dirty="0" smtClean="0"/>
          </a:p>
          <a:p>
            <a:pPr>
              <a:tabLst>
                <a:tab pos="1971675" algn="l"/>
              </a:tabLst>
            </a:pPr>
            <a:r>
              <a:rPr lang="en-US" altLang="de-DE" dirty="0"/>
              <a:t>For suppliers, these are often the business </a:t>
            </a:r>
            <a:r>
              <a:rPr lang="en-US" altLang="de-DE" dirty="0" smtClean="0"/>
              <a:t/>
            </a:r>
            <a:br>
              <a:rPr lang="en-US" altLang="de-DE" dirty="0" smtClean="0"/>
            </a:br>
            <a:r>
              <a:rPr lang="en-US" altLang="de-DE" dirty="0" smtClean="0"/>
              <a:t>partner </a:t>
            </a:r>
            <a:r>
              <a:rPr lang="en-US" altLang="de-DE" dirty="0"/>
              <a:t>roles: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FLVN00 (FI Vendor)</a:t>
            </a:r>
          </a:p>
          <a:p>
            <a:pPr lvl="1">
              <a:tabLst>
                <a:tab pos="1971675" algn="l"/>
              </a:tabLst>
            </a:pPr>
            <a:r>
              <a:rPr lang="en-US" altLang="de-DE" dirty="0"/>
              <a:t>FLVN01 (Vendor)</a:t>
            </a:r>
          </a:p>
          <a:p>
            <a:pPr>
              <a:tabLst>
                <a:tab pos="1971675" algn="l"/>
              </a:tabLst>
            </a:pPr>
            <a:endParaRPr lang="en-US" dirty="0"/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Master Data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886" y="1691079"/>
            <a:ext cx="5679282" cy="369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5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dirty="0"/>
              <a:t>Client Level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Address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Vendor Number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Preferred </a:t>
            </a:r>
            <a:r>
              <a:rPr lang="en-US" dirty="0" smtClean="0"/>
              <a:t>Communication</a:t>
            </a:r>
          </a:p>
          <a:p>
            <a:pPr lvl="1"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Company Code Data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Reconciliation Account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Terms of Payment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Bank </a:t>
            </a:r>
            <a:r>
              <a:rPr lang="en-US" dirty="0" smtClean="0"/>
              <a:t>Account</a:t>
            </a:r>
          </a:p>
          <a:p>
            <a:pPr lvl="1">
              <a:tabLst>
                <a:tab pos="1971675" algn="l"/>
              </a:tabLst>
            </a:pPr>
            <a:endParaRPr lang="en-US" dirty="0"/>
          </a:p>
          <a:p>
            <a:pPr>
              <a:tabLst>
                <a:tab pos="1971675" algn="l"/>
              </a:tabLst>
            </a:pPr>
            <a:r>
              <a:rPr lang="en-US" dirty="0"/>
              <a:t>Purchase Org Data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Purchasing Currency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Salesman’s Name</a:t>
            </a:r>
          </a:p>
          <a:p>
            <a:pPr lvl="1">
              <a:tabLst>
                <a:tab pos="1971675" algn="l"/>
              </a:tabLst>
            </a:pPr>
            <a:r>
              <a:rPr lang="en-US" dirty="0"/>
              <a:t>Vendor Partners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Master Views</a:t>
            </a:r>
            <a:endParaRPr lang="de-DE" dirty="0"/>
          </a:p>
        </p:txBody>
      </p:sp>
      <p:grpSp>
        <p:nvGrpSpPr>
          <p:cNvPr id="7" name="Gruppieren 6"/>
          <p:cNvGrpSpPr/>
          <p:nvPr/>
        </p:nvGrpSpPr>
        <p:grpSpPr>
          <a:xfrm>
            <a:off x="6335379" y="1982100"/>
            <a:ext cx="3505200" cy="3810000"/>
            <a:chOff x="4843463" y="1700213"/>
            <a:chExt cx="3505200" cy="3810000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5148263" y="1700213"/>
              <a:ext cx="2743200" cy="1066800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12700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2400" b="0">
                  <a:solidFill>
                    <a:srgbClr val="000000"/>
                  </a:solidFill>
                </a:rPr>
                <a:t>General Data</a:t>
              </a: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4843463" y="3071813"/>
              <a:ext cx="3505200" cy="1066800"/>
            </a:xfrm>
            <a:prstGeom prst="roundRect">
              <a:avLst>
                <a:gd name="adj" fmla="val 16667"/>
              </a:avLst>
            </a:prstGeom>
            <a:solidFill>
              <a:srgbClr val="004880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2400" b="0">
                  <a:solidFill>
                    <a:schemeClr val="bg1"/>
                  </a:solidFill>
                </a:rPr>
                <a:t>Company Code Data</a:t>
              </a:r>
            </a:p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2400" b="0">
                  <a:solidFill>
                    <a:schemeClr val="bg1"/>
                  </a:solidFill>
                </a:rPr>
                <a:t>Financial Accounting (FI)</a:t>
              </a:r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4843463" y="4443413"/>
              <a:ext cx="3505200" cy="1066800"/>
            </a:xfrm>
            <a:prstGeom prst="roundRect">
              <a:avLst>
                <a:gd name="adj" fmla="val 16667"/>
              </a:avLst>
            </a:prstGeom>
            <a:solidFill>
              <a:srgbClr val="DBB40D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2400" b="0">
                  <a:solidFill>
                    <a:srgbClr val="000000"/>
                  </a:solidFill>
                </a:rPr>
                <a:t>Purchasing Data</a:t>
              </a:r>
            </a:p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2400" b="0">
                  <a:solidFill>
                    <a:srgbClr val="000000"/>
                  </a:solidFill>
                </a:rPr>
                <a:t>Materials Mgmt (MM)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86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CS Organizational Structure</a:t>
            </a:r>
          </a:p>
          <a:p>
            <a:pPr>
              <a:tabLst>
                <a:tab pos="1971675" algn="l"/>
              </a:tabLst>
            </a:pPr>
            <a:endParaRPr lang="en-US" altLang="de-DE" dirty="0"/>
          </a:p>
          <a:p>
            <a:pPr>
              <a:tabLst>
                <a:tab pos="1971675" algn="l"/>
              </a:tabLst>
            </a:pPr>
            <a:r>
              <a:rPr lang="en-US" altLang="de-DE" dirty="0">
                <a:solidFill>
                  <a:srgbClr val="B2B2B2"/>
                </a:solidFill>
              </a:rPr>
              <a:t>CS Master Data</a:t>
            </a:r>
          </a:p>
          <a:p>
            <a:pPr>
              <a:tabLst>
                <a:tab pos="1971675" algn="l"/>
              </a:tabLst>
            </a:pPr>
            <a:endParaRPr lang="en-US" altLang="de-DE" dirty="0">
              <a:solidFill>
                <a:srgbClr val="B2B2B2"/>
              </a:solidFill>
            </a:endParaRPr>
          </a:p>
          <a:p>
            <a:pPr>
              <a:tabLst>
                <a:tab pos="1971675" algn="l"/>
              </a:tabLst>
            </a:pPr>
            <a:r>
              <a:rPr lang="en-US" altLang="de-DE" dirty="0" smtClean="0"/>
              <a:t>CS </a:t>
            </a:r>
            <a:r>
              <a:rPr lang="en-US" altLang="de-DE" dirty="0"/>
              <a:t>Processes</a:t>
            </a:r>
          </a:p>
        </p:txBody>
      </p:sp>
    </p:spTree>
    <p:extLst>
      <p:ext uri="{BB962C8B-B14F-4D97-AF65-F5344CB8AC3E}">
        <p14:creationId xmlns:p14="http://schemas.microsoft.com/office/powerpoint/2010/main" val="122765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24000" y="1691079"/>
            <a:ext cx="5099026" cy="4392042"/>
          </a:xfrm>
        </p:spPr>
        <p:txBody>
          <a:bodyPr/>
          <a:lstStyle/>
          <a:p>
            <a:pPr>
              <a:defRPr/>
            </a:pPr>
            <a:r>
              <a:rPr lang="en-US" dirty="0"/>
              <a:t>Long term agreement </a:t>
            </a:r>
          </a:p>
          <a:p>
            <a:pPr lvl="1">
              <a:defRPr/>
            </a:pPr>
            <a:r>
              <a:rPr lang="en-US" dirty="0"/>
              <a:t>predefined validity period</a:t>
            </a:r>
          </a:p>
          <a:p>
            <a:pPr lvl="1">
              <a:defRPr/>
            </a:pPr>
            <a:r>
              <a:rPr lang="en-US" dirty="0"/>
              <a:t>for at least one technical object</a:t>
            </a:r>
          </a:p>
          <a:p>
            <a:pPr lvl="1">
              <a:defRPr/>
            </a:pPr>
            <a:r>
              <a:rPr lang="en-US" dirty="0"/>
              <a:t>predefined services</a:t>
            </a:r>
          </a:p>
          <a:p>
            <a:pPr lvl="1">
              <a:defRPr/>
            </a:pPr>
            <a:r>
              <a:rPr lang="en-US" dirty="0"/>
              <a:t>predefined </a:t>
            </a:r>
            <a:r>
              <a:rPr lang="en-US" dirty="0" smtClean="0"/>
              <a:t>conditions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Header</a:t>
            </a:r>
          </a:p>
          <a:p>
            <a:pPr lvl="1">
              <a:defRPr/>
            </a:pPr>
            <a:r>
              <a:rPr lang="en-US" dirty="0"/>
              <a:t>Sales-, contract-, and billing data</a:t>
            </a:r>
          </a:p>
          <a:p>
            <a:pPr lvl="1">
              <a:defRPr/>
            </a:pPr>
            <a:r>
              <a:rPr lang="en-US" dirty="0"/>
              <a:t>Billing plan</a:t>
            </a:r>
          </a:p>
          <a:p>
            <a:pPr lvl="1">
              <a:defRPr/>
            </a:pPr>
            <a:r>
              <a:rPr lang="en-US" dirty="0" smtClean="0"/>
              <a:t>Conditions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Items</a:t>
            </a:r>
          </a:p>
          <a:p>
            <a:pPr lvl="1">
              <a:defRPr/>
            </a:pPr>
            <a:r>
              <a:rPr lang="en-US" dirty="0"/>
              <a:t>Service</a:t>
            </a:r>
          </a:p>
          <a:p>
            <a:pPr lvl="1">
              <a:defRPr/>
            </a:pPr>
            <a:r>
              <a:rPr lang="en-US" dirty="0"/>
              <a:t>Configuration</a:t>
            </a:r>
          </a:p>
          <a:p>
            <a:pPr lvl="1">
              <a:defRPr/>
            </a:pPr>
            <a:r>
              <a:rPr lang="en-US" dirty="0"/>
              <a:t>Technical Objects</a:t>
            </a:r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Contract and Types</a:t>
            </a:r>
            <a:endParaRPr lang="de-DE" dirty="0"/>
          </a:p>
        </p:txBody>
      </p:sp>
      <p:sp>
        <p:nvSpPr>
          <p:cNvPr id="5" name="Inhaltsplatzhalter 1"/>
          <p:cNvSpPr txBox="1">
            <a:spLocks/>
          </p:cNvSpPr>
          <p:nvPr/>
        </p:nvSpPr>
        <p:spPr bwMode="gray">
          <a:xfrm>
            <a:off x="6096600" y="1691079"/>
            <a:ext cx="4104653" cy="4392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01600" indent="-201600" algn="l" defTabSz="1088776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7600" indent="-216000" algn="l" defTabSz="1088776" rtl="0" eaLnBrk="1" latinLnBrk="0" hangingPunct="1">
              <a:spcBef>
                <a:spcPts val="338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216000" algn="l" defTabSz="1088776" rtl="0" eaLnBrk="1" latinLnBrk="0" hangingPunct="1">
              <a:spcBef>
                <a:spcPts val="225"/>
              </a:spcBef>
              <a:buClr>
                <a:schemeClr val="accent1"/>
              </a:buClr>
              <a:buSzPct val="75000"/>
              <a:buFont typeface="Symbol" panose="05050102010706020507" pitchFamily="18" charset="2"/>
              <a:buChar char="-"/>
              <a:defRPr sz="1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216000" algn="l" defTabSz="1088776" rtl="0" eaLnBrk="1" latinLnBrk="0" hangingPunct="1">
              <a:spcBef>
                <a:spcPts val="140"/>
              </a:spcBef>
              <a:buClr>
                <a:schemeClr val="accent1"/>
              </a:buClr>
              <a:buSzPct val="75000"/>
              <a:buFont typeface="Courier New" panose="02070309020205020404" pitchFamily="49" charset="0"/>
              <a:buChar char="o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1088776" rtl="0" eaLnBrk="1" latinLnBrk="0" hangingPunct="1">
              <a:spcBef>
                <a:spcPts val="250"/>
              </a:spcBef>
              <a:buClr>
                <a:schemeClr val="tx1"/>
              </a:buClr>
              <a:buSzPct val="100000"/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4134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8522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910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7298" indent="-272194" algn="l" defTabSz="108877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Service contract</a:t>
            </a:r>
          </a:p>
          <a:p>
            <a:pPr lvl="1"/>
            <a:r>
              <a:rPr lang="en-US" dirty="0" smtClean="0"/>
              <a:t>Solve reported problems of a customer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Service and maintenance contract</a:t>
            </a:r>
          </a:p>
          <a:p>
            <a:pPr lvl="1"/>
            <a:r>
              <a:rPr lang="en-US" dirty="0" smtClean="0"/>
              <a:t>Maintenance of technical object in a predefined manner</a:t>
            </a:r>
          </a:p>
          <a:p>
            <a:pPr lvl="1"/>
            <a:r>
              <a:rPr lang="en-US" dirty="0" smtClean="0"/>
              <a:t>Master agreement with a customer</a:t>
            </a:r>
          </a:p>
          <a:p>
            <a:pPr lvl="1"/>
            <a:r>
              <a:rPr lang="en-US" dirty="0" smtClean="0"/>
              <a:t>Reversal of a predefined quantity or value</a:t>
            </a:r>
          </a:p>
          <a:p>
            <a:pPr lvl="1">
              <a:buFontTx/>
              <a:buNone/>
            </a:pPr>
            <a:endParaRPr lang="en-US" dirty="0" smtClean="0"/>
          </a:p>
          <a:p>
            <a:pPr lvl="1">
              <a:buFontTx/>
              <a:buNone/>
            </a:pPr>
            <a:endParaRPr lang="en-US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9644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Order - Process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6808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Means by which notifications from a customer are entered and managed in Customer Service </a:t>
            </a:r>
          </a:p>
          <a:p>
            <a:r>
              <a:rPr lang="en-US" dirty="0"/>
              <a:t>Used for documentation and </a:t>
            </a:r>
            <a:r>
              <a:rPr lang="en-US" dirty="0" smtClean="0"/>
              <a:t>evaluation</a:t>
            </a:r>
          </a:p>
          <a:p>
            <a:endParaRPr lang="en-US" dirty="0"/>
          </a:p>
          <a:p>
            <a:r>
              <a:rPr lang="en-US" dirty="0"/>
              <a:t>Components</a:t>
            </a:r>
          </a:p>
          <a:p>
            <a:pPr lvl="1"/>
            <a:r>
              <a:rPr lang="en-US" dirty="0"/>
              <a:t>Customer information</a:t>
            </a:r>
          </a:p>
          <a:p>
            <a:pPr lvl="1"/>
            <a:r>
              <a:rPr lang="en-US" dirty="0"/>
              <a:t>Information about technical object and service contract</a:t>
            </a:r>
          </a:p>
          <a:p>
            <a:pPr lvl="1"/>
            <a:r>
              <a:rPr lang="en-US" dirty="0"/>
              <a:t>Information about valid </a:t>
            </a:r>
            <a:r>
              <a:rPr lang="en-US" dirty="0" smtClean="0"/>
              <a:t>warranties</a:t>
            </a:r>
          </a:p>
          <a:p>
            <a:pPr lvl="1"/>
            <a:endParaRPr lang="en-US" dirty="0"/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Customer message / problem notification</a:t>
            </a:r>
          </a:p>
          <a:p>
            <a:pPr lvl="1"/>
            <a:r>
              <a:rPr lang="en-US" dirty="0"/>
              <a:t>Service request</a:t>
            </a:r>
          </a:p>
          <a:p>
            <a:pPr lvl="1"/>
            <a:r>
              <a:rPr lang="en-US" dirty="0"/>
              <a:t>Technical </a:t>
            </a:r>
            <a:r>
              <a:rPr lang="en-US" dirty="0" smtClean="0"/>
              <a:t>completion</a:t>
            </a:r>
          </a:p>
          <a:p>
            <a:pPr lvl="1"/>
            <a:endParaRPr lang="en-US" dirty="0"/>
          </a:p>
          <a:p>
            <a:r>
              <a:rPr lang="en-US" dirty="0">
                <a:sym typeface="Wingdings" pitchFamily="2" charset="2"/>
              </a:rPr>
              <a:t>If there is need for action a service order will be created</a:t>
            </a:r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Notification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6274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Precise assessment of time and </a:t>
            </a:r>
            <a:r>
              <a:rPr lang="en-US" dirty="0" err="1" smtClean="0"/>
              <a:t>ressources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Can be created as follow-up of a service </a:t>
            </a:r>
            <a:r>
              <a:rPr lang="en-US" dirty="0" smtClean="0"/>
              <a:t>notification</a:t>
            </a:r>
          </a:p>
          <a:p>
            <a:endParaRPr lang="en-US" dirty="0"/>
          </a:p>
          <a:p>
            <a:r>
              <a:rPr lang="en-US" dirty="0"/>
              <a:t>Planning of service actions</a:t>
            </a:r>
          </a:p>
          <a:p>
            <a:pPr lvl="1"/>
            <a:r>
              <a:rPr lang="en-US" dirty="0"/>
              <a:t>Resource planning for internal and external employees</a:t>
            </a:r>
          </a:p>
          <a:p>
            <a:pPr lvl="1"/>
            <a:r>
              <a:rPr lang="en-US" dirty="0"/>
              <a:t>Determination of specific execution </a:t>
            </a:r>
            <a:r>
              <a:rPr lang="en-US" dirty="0" smtClean="0"/>
              <a:t>date</a:t>
            </a:r>
          </a:p>
          <a:p>
            <a:pPr lvl="1"/>
            <a:endParaRPr lang="en-US" dirty="0"/>
          </a:p>
          <a:p>
            <a:r>
              <a:rPr lang="en-US" dirty="0"/>
              <a:t>Confirmation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Service Order </a:t>
            </a:r>
          </a:p>
        </p:txBody>
      </p:sp>
    </p:spTree>
    <p:extLst>
      <p:ext uri="{BB962C8B-B14F-4D97-AF65-F5344CB8AC3E}">
        <p14:creationId xmlns:p14="http://schemas.microsoft.com/office/powerpoint/2010/main" val="202933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</a:t>
            </a:r>
            <a:r>
              <a:rPr lang="en-US" dirty="0" smtClean="0"/>
              <a:t>information</a:t>
            </a:r>
          </a:p>
          <a:p>
            <a:endParaRPr lang="en-US" dirty="0"/>
          </a:p>
          <a:p>
            <a:r>
              <a:rPr lang="en-US" dirty="0"/>
              <a:t>Information about the </a:t>
            </a:r>
            <a:r>
              <a:rPr lang="en-US" dirty="0" smtClean="0"/>
              <a:t>location</a:t>
            </a:r>
          </a:p>
          <a:p>
            <a:endParaRPr lang="en-US" dirty="0"/>
          </a:p>
          <a:p>
            <a:r>
              <a:rPr lang="en-US" dirty="0"/>
              <a:t>Object </a:t>
            </a:r>
            <a:r>
              <a:rPr lang="en-US" dirty="0" smtClean="0"/>
              <a:t>information</a:t>
            </a:r>
          </a:p>
          <a:p>
            <a:endParaRPr lang="en-US" dirty="0"/>
          </a:p>
          <a:p>
            <a:r>
              <a:rPr lang="en-US" dirty="0"/>
              <a:t>Information about planning and execution of </a:t>
            </a:r>
            <a:r>
              <a:rPr lang="en-US" dirty="0" smtClean="0"/>
              <a:t>activities</a:t>
            </a:r>
          </a:p>
          <a:p>
            <a:endParaRPr lang="en-US" dirty="0"/>
          </a:p>
          <a:p>
            <a:r>
              <a:rPr lang="en-US" dirty="0"/>
              <a:t>Information about planned and actual </a:t>
            </a:r>
            <a:r>
              <a:rPr lang="en-US" dirty="0" smtClean="0"/>
              <a:t>costs</a:t>
            </a:r>
          </a:p>
          <a:p>
            <a:endParaRPr lang="en-US" dirty="0"/>
          </a:p>
          <a:p>
            <a:r>
              <a:rPr lang="en-US" dirty="0"/>
              <a:t>Information about settlement of the actual costs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Service Order - Content</a:t>
            </a:r>
          </a:p>
        </p:txBody>
      </p:sp>
    </p:spTree>
    <p:extLst>
      <p:ext uri="{BB962C8B-B14F-4D97-AF65-F5344CB8AC3E}">
        <p14:creationId xmlns:p14="http://schemas.microsoft.com/office/powerpoint/2010/main" val="3932683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Goods return and repair - Process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</p:nvPr>
        </p:nvGraphicFramePr>
        <p:xfrm>
          <a:off x="323850" y="1690688"/>
          <a:ext cx="11545888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116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of a damaged </a:t>
            </a:r>
            <a:r>
              <a:rPr lang="en-US" dirty="0" smtClean="0"/>
              <a:t>good</a:t>
            </a:r>
          </a:p>
          <a:p>
            <a:endParaRPr lang="en-US" dirty="0"/>
          </a:p>
          <a:p>
            <a:r>
              <a:rPr lang="en-US" dirty="0"/>
              <a:t>Receipt through goods </a:t>
            </a:r>
            <a:r>
              <a:rPr lang="en-US" dirty="0" smtClean="0"/>
              <a:t>return</a:t>
            </a:r>
          </a:p>
          <a:p>
            <a:endParaRPr lang="en-US" dirty="0"/>
          </a:p>
          <a:p>
            <a:r>
              <a:rPr lang="en-US" dirty="0"/>
              <a:t>Repaired through customer </a:t>
            </a:r>
            <a:r>
              <a:rPr lang="en-US" dirty="0" smtClean="0"/>
              <a:t>service</a:t>
            </a:r>
          </a:p>
          <a:p>
            <a:endParaRPr lang="en-US" dirty="0"/>
          </a:p>
          <a:p>
            <a:r>
              <a:rPr lang="en-US" dirty="0"/>
              <a:t>Billing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Goods return and repair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6424219"/>
      </p:ext>
    </p:extLst>
  </p:cSld>
  <p:clrMapOvr>
    <a:masterClrMapping/>
  </p:clrMapOvr>
</p:sld>
</file>

<file path=ppt/theme/theme1.xml><?xml version="1.0" encoding="utf-8"?>
<a:theme xmlns:a="http://schemas.openxmlformats.org/drawingml/2006/main" name="SAP_2016_16x9_white">
  <a:themeElements>
    <a:clrScheme name="SAP_colors_white_template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6350" algn="ctr">
          <a:noFill/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ts val="6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32696891-6260-4D8D-AB31-F1C204081A38}" vid="{B72584D7-7D1F-4BD9-9F01-A4F5E0412201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SAP_Template_169_en</Template>
  <TotalTime>0</TotalTime>
  <Words>1532</Words>
  <Application>Microsoft Office PowerPoint</Application>
  <PresentationFormat>Benutzerdefiniert</PresentationFormat>
  <Paragraphs>390</Paragraphs>
  <Slides>34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2" baseType="lpstr">
      <vt:lpstr>Angsana New</vt:lpstr>
      <vt:lpstr>Arial</vt:lpstr>
      <vt:lpstr>Arial Unicode MS</vt:lpstr>
      <vt:lpstr>Courier New</vt:lpstr>
      <vt:lpstr>Symbol</vt:lpstr>
      <vt:lpstr>wingdings</vt:lpstr>
      <vt:lpstr>wingdings</vt:lpstr>
      <vt:lpstr>SAP_2016_16x9_white</vt:lpstr>
      <vt:lpstr>Customer Service (CS)</vt:lpstr>
      <vt:lpstr>PowerPoint-Präsentation</vt:lpstr>
      <vt:lpstr>PowerPoint-Präsentation</vt:lpstr>
      <vt:lpstr>PowerPoint-Präsentation</vt:lpstr>
      <vt:lpstr>Functionality</vt:lpstr>
      <vt:lpstr>Agenda</vt:lpstr>
      <vt:lpstr>GBI Structure for Customer Service</vt:lpstr>
      <vt:lpstr> CS Organizational Structure</vt:lpstr>
      <vt:lpstr>CS Organizational Structure (Sales)</vt:lpstr>
      <vt:lpstr>Sales Area (example)</vt:lpstr>
      <vt:lpstr>CS Organizational Structure (Sales &amp; Purchasing)</vt:lpstr>
      <vt:lpstr>CS Organizational Structure (Controlling)</vt:lpstr>
      <vt:lpstr>Agenda</vt:lpstr>
      <vt:lpstr>CS Master Data</vt:lpstr>
      <vt:lpstr>Work Center</vt:lpstr>
      <vt:lpstr>Equipment / Functional Location - Definition</vt:lpstr>
      <vt:lpstr>Equipment / Functional Location - Definition</vt:lpstr>
      <vt:lpstr>Equipment Master Record</vt:lpstr>
      <vt:lpstr>Warranties</vt:lpstr>
      <vt:lpstr>Bill of Material – Definition</vt:lpstr>
      <vt:lpstr>Customer Master Data</vt:lpstr>
      <vt:lpstr>Material Master Data</vt:lpstr>
      <vt:lpstr>Material Master Views</vt:lpstr>
      <vt:lpstr>Material Master</vt:lpstr>
      <vt:lpstr>Vendor Master Data</vt:lpstr>
      <vt:lpstr>Vendor Master Views</vt:lpstr>
      <vt:lpstr>Agenda</vt:lpstr>
      <vt:lpstr>Service Contract and Types</vt:lpstr>
      <vt:lpstr>Service Order - Process</vt:lpstr>
      <vt:lpstr>Service Notification</vt:lpstr>
      <vt:lpstr>Service Order </vt:lpstr>
      <vt:lpstr>Service Order - Content</vt:lpstr>
      <vt:lpstr>Goods return and repair - Process</vt:lpstr>
      <vt:lpstr>Goods return and repair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SAP UCC Magdeburg</dc:creator>
  <cp:keywords>2016/16:9/white</cp:keywords>
  <cp:lastModifiedBy>Robert Häusler</cp:lastModifiedBy>
  <cp:revision>46</cp:revision>
  <dcterms:created xsi:type="dcterms:W3CDTF">2017-05-28T06:54:46Z</dcterms:created>
  <dcterms:modified xsi:type="dcterms:W3CDTF">2025-08-14T09:02:11Z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-1173631419</vt:i4>
  </property>
  <property fmtid="{D5CDD505-2E9C-101B-9397-08002B2CF9AE}" pid="3" name="_NewReviewCycle">
    <vt:lpwstr/>
  </property>
  <property fmtid="{D5CDD505-2E9C-101B-9397-08002B2CF9AE}" pid="4" name="_EmailSubject">
    <vt:lpwstr> UA Master Slides Diskussion</vt:lpwstr>
  </property>
  <property fmtid="{D5CDD505-2E9C-101B-9397-08002B2CF9AE}" pid="5" name="_AuthorEmail">
    <vt:lpwstr>kristof.schneider@sap.com</vt:lpwstr>
  </property>
  <property fmtid="{D5CDD505-2E9C-101B-9397-08002B2CF9AE}" pid="6" name="_AuthorEmailDisplayName">
    <vt:lpwstr>Schneider, Kristof</vt:lpwstr>
  </property>
  <property fmtid="{D5CDD505-2E9C-101B-9397-08002B2CF9AE}" pid="7" name="_PreviousAdHocReviewCycleID">
    <vt:i4>1357826825</vt:i4>
  </property>
</Properties>
</file>