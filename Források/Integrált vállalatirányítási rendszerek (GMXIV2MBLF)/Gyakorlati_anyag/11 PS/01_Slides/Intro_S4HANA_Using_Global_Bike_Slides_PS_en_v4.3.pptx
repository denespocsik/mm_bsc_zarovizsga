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8" r:id="rId1"/>
  </p:sldMasterIdLst>
  <p:notesMasterIdLst>
    <p:notesMasterId r:id="rId31"/>
  </p:notesMasterIdLst>
  <p:handoutMasterIdLst>
    <p:handoutMasterId r:id="rId32"/>
  </p:handoutMasterIdLst>
  <p:sldIdLst>
    <p:sldId id="390" r:id="rId2"/>
    <p:sldId id="369" r:id="rId3"/>
    <p:sldId id="363" r:id="rId4"/>
    <p:sldId id="364" r:id="rId5"/>
    <p:sldId id="391" r:id="rId6"/>
    <p:sldId id="395" r:id="rId7"/>
    <p:sldId id="365" r:id="rId8"/>
    <p:sldId id="392" r:id="rId9"/>
    <p:sldId id="366" r:id="rId10"/>
    <p:sldId id="370" r:id="rId11"/>
    <p:sldId id="371" r:id="rId12"/>
    <p:sldId id="372" r:id="rId13"/>
    <p:sldId id="373" r:id="rId14"/>
    <p:sldId id="374" r:id="rId15"/>
    <p:sldId id="375" r:id="rId16"/>
    <p:sldId id="376" r:id="rId17"/>
    <p:sldId id="377" r:id="rId18"/>
    <p:sldId id="378" r:id="rId19"/>
    <p:sldId id="379" r:id="rId20"/>
    <p:sldId id="380" r:id="rId21"/>
    <p:sldId id="381" r:id="rId22"/>
    <p:sldId id="382" r:id="rId23"/>
    <p:sldId id="383" r:id="rId24"/>
    <p:sldId id="393" r:id="rId25"/>
    <p:sldId id="385" r:id="rId26"/>
    <p:sldId id="386" r:id="rId27"/>
    <p:sldId id="387" r:id="rId28"/>
    <p:sldId id="388" r:id="rId29"/>
    <p:sldId id="389" r:id="rId30"/>
  </p:sldIdLst>
  <p:sldSz cx="12195175" cy="6859588"/>
  <p:notesSz cx="6797675" cy="987425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1285">
          <p15:clr>
            <a:srgbClr val="A4A3A4"/>
          </p15:clr>
        </p15:guide>
        <p15:guide id="4" orient="horz" pos="779">
          <p15:clr>
            <a:srgbClr val="A4A3A4"/>
          </p15:clr>
        </p15:guide>
        <p15:guide id="5" pos="7478">
          <p15:clr>
            <a:srgbClr val="A4A3A4"/>
          </p15:clr>
        </p15:guide>
        <p15:guide id="6" pos="205">
          <p15:clr>
            <a:srgbClr val="A4A3A4"/>
          </p15:clr>
        </p15:guide>
        <p15:guide id="7" pos="3849">
          <p15:clr>
            <a:srgbClr val="A4A3A4"/>
          </p15:clr>
        </p15:guide>
        <p15:guide id="8" pos="4708">
          <p15:clr>
            <a:srgbClr val="A4A3A4"/>
          </p15:clr>
        </p15:guide>
        <p15:guide id="9" pos="4812">
          <p15:clr>
            <a:srgbClr val="A4A3A4"/>
          </p15:clr>
        </p15:guide>
        <p15:guide id="10" pos="2865">
          <p15:clr>
            <a:srgbClr val="A4A3A4"/>
          </p15:clr>
        </p15:guide>
        <p15:guide id="11" pos="2956" userDrawn="1">
          <p15:clr>
            <a:srgbClr val="A4A3A4"/>
          </p15:clr>
        </p15:guide>
      </p15:sldGuideLst>
    </p:ext>
    <p:ext uri="{2D200454-40CA-4A62-9FC3-DE9A4176ACB9}">
      <p15:notesGuideLst xmlns:p15="http://schemas.microsoft.com/office/powerpoint/2012/main">
        <p15:guide id="1" orient="horz" pos="3110">
          <p15:clr>
            <a:srgbClr val="A4A3A4"/>
          </p15:clr>
        </p15:guide>
        <p15:guide id="2" pos="351">
          <p15:clr>
            <a:srgbClr val="A4A3A4"/>
          </p15:clr>
        </p15:guide>
        <p15:guide id="3" pos="395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nt, Phillip" initials="DP" lastIdx="50" clrIdx="0">
    <p:extLst>
      <p:ext uri="{19B8F6BF-5375-455C-9EA6-DF929625EA0E}">
        <p15:presenceInfo xmlns:p15="http://schemas.microsoft.com/office/powerpoint/2012/main" userId="0c306e22-924d-4d2f-9b38-6bfb0b3c3bb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B2B2B2"/>
    <a:srgbClr val="003283"/>
    <a:srgbClr val="FF0000"/>
    <a:srgbClr val="666666"/>
    <a:srgbClr val="2B3F7B"/>
    <a:srgbClr val="9C277B"/>
    <a:srgbClr val="D4652D"/>
    <a:srgbClr val="9E3039"/>
    <a:srgbClr val="99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58" autoAdjust="0"/>
    <p:restoredTop sz="85629" autoAdjust="0"/>
  </p:normalViewPr>
  <p:slideViewPr>
    <p:cSldViewPr snapToGrid="0" showGuides="1">
      <p:cViewPr varScale="1">
        <p:scale>
          <a:sx n="83" d="100"/>
          <a:sy n="83" d="100"/>
        </p:scale>
        <p:origin x="96" y="1272"/>
      </p:cViewPr>
      <p:guideLst>
        <p:guide orient="horz" pos="1285"/>
        <p:guide orient="horz" pos="779"/>
        <p:guide pos="7478"/>
        <p:guide pos="205"/>
        <p:guide pos="3849"/>
        <p:guide pos="4708"/>
        <p:guide pos="4812"/>
        <p:guide pos="2865"/>
        <p:guide pos="2956"/>
      </p:guideLst>
    </p:cSldViewPr>
  </p:slideViewPr>
  <p:notesTextViewPr>
    <p:cViewPr>
      <p:scale>
        <a:sx n="66" d="100"/>
        <a:sy n="66" d="100"/>
      </p:scale>
      <p:origin x="0" y="0"/>
    </p:cViewPr>
  </p:notesTextViewPr>
  <p:sorterViewPr>
    <p:cViewPr varScale="1">
      <p:scale>
        <a:sx n="100" d="100"/>
        <a:sy n="100" d="100"/>
      </p:scale>
      <p:origin x="0" y="0"/>
    </p:cViewPr>
  </p:sorterViewPr>
  <p:notesViewPr>
    <p:cSldViewPr snapToGrid="0" showGuides="1">
      <p:cViewPr varScale="1">
        <p:scale>
          <a:sx n="77" d="100"/>
          <a:sy n="77" d="100"/>
        </p:scale>
        <p:origin x="4080" y="114"/>
      </p:cViewPr>
      <p:guideLst>
        <p:guide orient="horz" pos="3110"/>
        <p:guide pos="351"/>
        <p:guide pos="395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26008" y="9378824"/>
            <a:ext cx="2945659" cy="493713"/>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‹Nr.›</a:t>
            </a:fld>
            <a:endParaRPr lang="de-DE" sz="100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57213" y="661988"/>
            <a:ext cx="5715000" cy="3214687"/>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544171" y="4548205"/>
            <a:ext cx="5709333" cy="4696698"/>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31497" y="9627396"/>
            <a:ext cx="934681" cy="221758"/>
          </a:xfrm>
          <a:prstGeom prst="rect">
            <a:avLst/>
          </a:prstGeom>
        </p:spPr>
        <p:txBody>
          <a:bodyPr vert="horz" lIns="91440" tIns="45720" rIns="91440" bIns="45720" rtlCol="0" anchor="b"/>
          <a:lstStyle>
            <a:lvl1pPr algn="ctr">
              <a:defRPr sz="1000"/>
            </a:lvl1pPr>
          </a:lstStyle>
          <a:p>
            <a:fld id="{7D8C2C35-2B8A-446E-BEC0-FD36716C29AC}" type="slidenum">
              <a:rPr lang="de-DE" smtClean="0"/>
              <a:pPr/>
              <a:t>‹Nr.›</a:t>
            </a:fld>
            <a:endParaRPr lang="de-DE"/>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975" indent="-180975" algn="l" defTabSz="1088776" rtl="0" eaLnBrk="1" latinLnBrk="0" hangingPunct="1">
      <a:buClr>
        <a:schemeClr val="accent1"/>
      </a:buClr>
      <a:buSzPct val="100000"/>
      <a:buFont typeface="Wingdings" pitchFamily="2" charset="2"/>
      <a:buChar char=""/>
      <a:defRPr sz="1200" kern="1200">
        <a:solidFill>
          <a:schemeClr val="tx1"/>
        </a:solidFill>
        <a:latin typeface="+mn-lt"/>
        <a:ea typeface="+mn-ea"/>
        <a:cs typeface="+mn-cs"/>
      </a:defRPr>
    </a:lvl2pPr>
    <a:lvl3pPr marL="357188" indent="-176213"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a:buFontTx/>
              <a:buNone/>
            </a:pPr>
            <a:endParaRPr lang="de-DE" dirty="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7</a:t>
            </a:fld>
            <a:endParaRPr lang="de-DE"/>
          </a:p>
        </p:txBody>
      </p:sp>
    </p:spTree>
    <p:extLst>
      <p:ext uri="{BB962C8B-B14F-4D97-AF65-F5344CB8AC3E}">
        <p14:creationId xmlns:p14="http://schemas.microsoft.com/office/powerpoint/2010/main" val="30412836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10</a:t>
            </a:fld>
            <a:endParaRPr lang="de-DE"/>
          </a:p>
        </p:txBody>
      </p:sp>
    </p:spTree>
    <p:extLst>
      <p:ext uri="{BB962C8B-B14F-4D97-AF65-F5344CB8AC3E}">
        <p14:creationId xmlns:p14="http://schemas.microsoft.com/office/powerpoint/2010/main" val="16046819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12</a:t>
            </a:fld>
            <a:endParaRPr lang="de-DE"/>
          </a:p>
        </p:txBody>
      </p:sp>
    </p:spTree>
    <p:extLst>
      <p:ext uri="{BB962C8B-B14F-4D97-AF65-F5344CB8AC3E}">
        <p14:creationId xmlns:p14="http://schemas.microsoft.com/office/powerpoint/2010/main" val="1921211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a:t>Further </a:t>
            </a:r>
            <a:r>
              <a:rPr lang="de-DE" err="1"/>
              <a:t>statuses</a:t>
            </a:r>
            <a:r>
              <a:rPr lang="de-DE"/>
              <a:t> </a:t>
            </a:r>
            <a:r>
              <a:rPr lang="de-DE" err="1"/>
              <a:t>exist</a:t>
            </a:r>
            <a:r>
              <a:rPr lang="de-DE"/>
              <a:t> </a:t>
            </a:r>
            <a:r>
              <a:rPr lang="de-DE" err="1"/>
              <a:t>for</a:t>
            </a:r>
            <a:r>
              <a:rPr lang="de-DE"/>
              <a:t> WBS </a:t>
            </a:r>
            <a:r>
              <a:rPr lang="de-DE" err="1"/>
              <a:t>elements</a:t>
            </a:r>
            <a:r>
              <a:rPr lang="de-DE"/>
              <a:t> </a:t>
            </a:r>
            <a:r>
              <a:rPr lang="de-DE" err="1"/>
              <a:t>that</a:t>
            </a:r>
            <a:r>
              <a:rPr lang="de-DE"/>
              <a:t> </a:t>
            </a:r>
            <a:r>
              <a:rPr lang="de-DE" err="1"/>
              <a:t>are</a:t>
            </a:r>
            <a:r>
              <a:rPr lang="de-DE"/>
              <a:t> not </a:t>
            </a:r>
            <a:r>
              <a:rPr lang="de-DE" err="1"/>
              <a:t>recalled</a:t>
            </a:r>
            <a:r>
              <a:rPr lang="de-DE"/>
              <a:t> </a:t>
            </a:r>
            <a:r>
              <a:rPr lang="de-DE" err="1"/>
              <a:t>here</a:t>
            </a:r>
            <a:r>
              <a:rPr lang="de-DE"/>
              <a:t>:</a:t>
            </a:r>
          </a:p>
          <a:p>
            <a:pPr>
              <a:buFontTx/>
              <a:buChar char="-"/>
            </a:pPr>
            <a:r>
              <a:rPr lang="de-DE"/>
              <a:t>The </a:t>
            </a:r>
            <a:r>
              <a:rPr lang="de-DE" err="1"/>
              <a:t>status</a:t>
            </a:r>
            <a:r>
              <a:rPr lang="de-DE"/>
              <a:t> </a:t>
            </a:r>
            <a:r>
              <a:rPr lang="de-DE" err="1"/>
              <a:t>for</a:t>
            </a:r>
            <a:r>
              <a:rPr lang="de-DE"/>
              <a:t> </a:t>
            </a:r>
            <a:r>
              <a:rPr lang="de-DE" err="1"/>
              <a:t>standard</a:t>
            </a:r>
            <a:r>
              <a:rPr lang="de-DE"/>
              <a:t> WBS </a:t>
            </a:r>
            <a:r>
              <a:rPr lang="de-DE" err="1"/>
              <a:t>is</a:t>
            </a:r>
            <a:r>
              <a:rPr lang="de-DE"/>
              <a:t> valid </a:t>
            </a:r>
            <a:r>
              <a:rPr lang="de-DE" err="1"/>
              <a:t>for</a:t>
            </a:r>
            <a:r>
              <a:rPr lang="de-DE"/>
              <a:t> all WBS </a:t>
            </a:r>
            <a:r>
              <a:rPr lang="de-DE" err="1"/>
              <a:t>elements</a:t>
            </a:r>
            <a:endParaRPr lang="de-DE"/>
          </a:p>
          <a:p>
            <a:pPr>
              <a:buFontTx/>
              <a:buChar char="-"/>
            </a:pPr>
            <a:r>
              <a:rPr lang="de-DE"/>
              <a:t>In </a:t>
            </a:r>
            <a:r>
              <a:rPr lang="de-DE" err="1"/>
              <a:t>addition</a:t>
            </a:r>
            <a:r>
              <a:rPr lang="de-DE"/>
              <a:t> </a:t>
            </a:r>
            <a:r>
              <a:rPr lang="de-DE" err="1"/>
              <a:t>to</a:t>
            </a:r>
            <a:r>
              <a:rPr lang="de-DE"/>
              <a:t> </a:t>
            </a:r>
            <a:r>
              <a:rPr lang="de-DE" err="1"/>
              <a:t>the</a:t>
            </a:r>
            <a:r>
              <a:rPr lang="de-DE"/>
              <a:t> </a:t>
            </a:r>
            <a:r>
              <a:rPr lang="de-DE" err="1"/>
              <a:t>given</a:t>
            </a:r>
            <a:r>
              <a:rPr lang="de-DE"/>
              <a:t> </a:t>
            </a:r>
            <a:r>
              <a:rPr lang="de-DE" err="1"/>
              <a:t>system</a:t>
            </a:r>
            <a:r>
              <a:rPr lang="de-DE"/>
              <a:t> </a:t>
            </a:r>
            <a:r>
              <a:rPr lang="de-DE" err="1"/>
              <a:t>status</a:t>
            </a:r>
            <a:r>
              <a:rPr lang="de-DE"/>
              <a:t>, </a:t>
            </a:r>
            <a:r>
              <a:rPr lang="de-DE" err="1"/>
              <a:t>user</a:t>
            </a:r>
            <a:r>
              <a:rPr lang="de-DE"/>
              <a:t> </a:t>
            </a:r>
            <a:r>
              <a:rPr lang="de-DE" err="1"/>
              <a:t>statuses</a:t>
            </a:r>
            <a:r>
              <a:rPr lang="de-DE"/>
              <a:t> </a:t>
            </a:r>
            <a:r>
              <a:rPr lang="de-DE" err="1"/>
              <a:t>can</a:t>
            </a:r>
            <a:r>
              <a:rPr lang="de-DE"/>
              <a:t> </a:t>
            </a:r>
            <a:r>
              <a:rPr lang="de-DE" err="1"/>
              <a:t>be</a:t>
            </a:r>
            <a:r>
              <a:rPr lang="de-DE"/>
              <a:t> </a:t>
            </a:r>
            <a:r>
              <a:rPr lang="de-DE" err="1"/>
              <a:t>defined</a:t>
            </a:r>
            <a:endParaRPr lang="de-DE"/>
          </a:p>
          <a:p>
            <a:endParaRPr lang="de-DE"/>
          </a:p>
        </p:txBody>
      </p:sp>
      <p:sp>
        <p:nvSpPr>
          <p:cNvPr id="4" name="Foliennummernplatzhalter 3"/>
          <p:cNvSpPr>
            <a:spLocks noGrp="1"/>
          </p:cNvSpPr>
          <p:nvPr>
            <p:ph type="sldNum" sz="quarter" idx="10"/>
          </p:nvPr>
        </p:nvSpPr>
        <p:spPr/>
        <p:txBody>
          <a:bodyPr/>
          <a:lstStyle/>
          <a:p>
            <a:fld id="{7D8C2C35-2B8A-446E-BEC0-FD36716C29AC}" type="slidenum">
              <a:rPr lang="de-DE" smtClean="0"/>
              <a:pPr/>
              <a:t>13</a:t>
            </a:fld>
            <a:endParaRPr lang="de-DE"/>
          </a:p>
        </p:txBody>
      </p:sp>
    </p:spTree>
    <p:extLst>
      <p:ext uri="{BB962C8B-B14F-4D97-AF65-F5344CB8AC3E}">
        <p14:creationId xmlns:p14="http://schemas.microsoft.com/office/powerpoint/2010/main" val="3445071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a:t>In </a:t>
            </a:r>
            <a:r>
              <a:rPr lang="de-DE" dirty="0" err="1"/>
              <a:t>the</a:t>
            </a:r>
            <a:r>
              <a:rPr lang="de-DE" dirty="0"/>
              <a:t> </a:t>
            </a:r>
            <a:r>
              <a:rPr lang="de-DE" dirty="0" err="1"/>
              <a:t>Hierarchy,WBS</a:t>
            </a:r>
            <a:r>
              <a:rPr lang="de-DE" dirty="0"/>
              <a:t> </a:t>
            </a:r>
            <a:r>
              <a:rPr lang="de-DE" dirty="0" err="1"/>
              <a:t>elements</a:t>
            </a:r>
            <a:r>
              <a:rPr lang="de-DE" dirty="0"/>
              <a:t> are </a:t>
            </a:r>
            <a:r>
              <a:rPr lang="de-DE" dirty="0" err="1"/>
              <a:t>subordinated</a:t>
            </a:r>
            <a:r>
              <a:rPr lang="de-DE" dirty="0"/>
              <a:t>:</a:t>
            </a:r>
          </a:p>
          <a:p>
            <a:pPr>
              <a:buFontTx/>
              <a:buNone/>
            </a:pPr>
            <a:r>
              <a:rPr lang="de-DE" dirty="0"/>
              <a:t>- </a:t>
            </a:r>
            <a:r>
              <a:rPr lang="de-DE" dirty="0" err="1"/>
              <a:t>When</a:t>
            </a:r>
            <a:r>
              <a:rPr lang="de-DE" dirty="0"/>
              <a:t> </a:t>
            </a:r>
            <a:r>
              <a:rPr lang="de-DE" dirty="0" err="1"/>
              <a:t>structuring</a:t>
            </a:r>
            <a:r>
              <a:rPr lang="de-DE" dirty="0"/>
              <a:t> </a:t>
            </a:r>
            <a:r>
              <a:rPr lang="de-DE" dirty="0" err="1"/>
              <a:t>objects</a:t>
            </a:r>
            <a:r>
              <a:rPr lang="de-DE" dirty="0"/>
              <a:t>, </a:t>
            </a:r>
            <a:r>
              <a:rPr lang="de-DE" dirty="0" err="1"/>
              <a:t>objects</a:t>
            </a:r>
            <a:r>
              <a:rPr lang="de-DE" dirty="0"/>
              <a:t> </a:t>
            </a:r>
            <a:r>
              <a:rPr lang="de-DE" dirty="0" err="1"/>
              <a:t>with</a:t>
            </a:r>
            <a:r>
              <a:rPr lang="de-DE" dirty="0"/>
              <a:t> same </a:t>
            </a:r>
            <a:r>
              <a:rPr lang="de-DE" dirty="0" err="1"/>
              <a:t>features</a:t>
            </a:r>
            <a:r>
              <a:rPr lang="de-DE" dirty="0"/>
              <a:t> </a:t>
            </a:r>
            <a:r>
              <a:rPr lang="de-DE" dirty="0" err="1"/>
              <a:t>can</a:t>
            </a:r>
            <a:r>
              <a:rPr lang="de-DE" dirty="0"/>
              <a:t> </a:t>
            </a:r>
            <a:r>
              <a:rPr lang="de-DE" dirty="0" err="1"/>
              <a:t>be</a:t>
            </a:r>
            <a:r>
              <a:rPr lang="de-DE" dirty="0"/>
              <a:t> </a:t>
            </a:r>
            <a:r>
              <a:rPr lang="de-DE" dirty="0" err="1"/>
              <a:t>displayed</a:t>
            </a:r>
            <a:r>
              <a:rPr lang="de-DE" dirty="0"/>
              <a:t> </a:t>
            </a:r>
            <a:r>
              <a:rPr lang="de-DE" dirty="0" err="1"/>
              <a:t>using</a:t>
            </a:r>
            <a:r>
              <a:rPr lang="de-DE" dirty="0"/>
              <a:t> a </a:t>
            </a:r>
            <a:r>
              <a:rPr lang="de-DE" dirty="0" err="1"/>
              <a:t>seperate</a:t>
            </a:r>
            <a:r>
              <a:rPr lang="de-DE" dirty="0"/>
              <a:t> </a:t>
            </a:r>
            <a:r>
              <a:rPr lang="de-DE" dirty="0" err="1"/>
              <a:t>hierarchical</a:t>
            </a:r>
            <a:r>
              <a:rPr lang="de-DE" dirty="0"/>
              <a:t> </a:t>
            </a:r>
            <a:r>
              <a:rPr lang="de-DE" dirty="0" err="1"/>
              <a:t>structure</a:t>
            </a:r>
            <a:r>
              <a:rPr lang="de-DE" dirty="0"/>
              <a:t>: </a:t>
            </a:r>
            <a:r>
              <a:rPr lang="de-DE" dirty="0" err="1"/>
              <a:t>project</a:t>
            </a:r>
            <a:r>
              <a:rPr lang="de-DE" dirty="0"/>
              <a:t> </a:t>
            </a:r>
            <a:r>
              <a:rPr lang="de-DE" dirty="0" err="1"/>
              <a:t>summarization</a:t>
            </a:r>
            <a:endParaRPr lang="de-DE" dirty="0"/>
          </a:p>
          <a:p>
            <a:pPr>
              <a:buFontTx/>
              <a:buNone/>
            </a:pPr>
            <a:r>
              <a:rPr lang="de-DE" dirty="0"/>
              <a:t>- </a:t>
            </a:r>
            <a:r>
              <a:rPr lang="de-DE" dirty="0" err="1"/>
              <a:t>Planning</a:t>
            </a:r>
            <a:r>
              <a:rPr lang="de-DE" dirty="0"/>
              <a:t> </a:t>
            </a:r>
            <a:r>
              <a:rPr lang="de-DE" dirty="0" err="1"/>
              <a:t>is</a:t>
            </a:r>
            <a:r>
              <a:rPr lang="de-DE" dirty="0"/>
              <a:t> </a:t>
            </a:r>
            <a:r>
              <a:rPr lang="de-DE" dirty="0" err="1"/>
              <a:t>done</a:t>
            </a:r>
            <a:r>
              <a:rPr lang="de-DE" dirty="0"/>
              <a:t> </a:t>
            </a:r>
            <a:r>
              <a:rPr lang="de-DE" dirty="0" err="1"/>
              <a:t>using</a:t>
            </a:r>
            <a:r>
              <a:rPr lang="de-DE" dirty="0"/>
              <a:t> </a:t>
            </a:r>
            <a:r>
              <a:rPr lang="de-DE" dirty="0" err="1"/>
              <a:t>processes</a:t>
            </a:r>
            <a:r>
              <a:rPr lang="de-DE" dirty="0"/>
              <a:t> </a:t>
            </a:r>
            <a:r>
              <a:rPr lang="de-DE" dirty="0" err="1"/>
              <a:t>that</a:t>
            </a:r>
            <a:r>
              <a:rPr lang="de-DE" dirty="0"/>
              <a:t> are </a:t>
            </a:r>
            <a:r>
              <a:rPr lang="de-DE" dirty="0" err="1"/>
              <a:t>assigned</a:t>
            </a:r>
            <a:r>
              <a:rPr lang="de-DE" dirty="0"/>
              <a:t> </a:t>
            </a:r>
            <a:r>
              <a:rPr lang="de-DE" dirty="0" err="1"/>
              <a:t>to</a:t>
            </a:r>
            <a:r>
              <a:rPr lang="de-DE" dirty="0"/>
              <a:t> WBS </a:t>
            </a:r>
            <a:r>
              <a:rPr lang="de-DE" dirty="0" err="1"/>
              <a:t>elements</a:t>
            </a:r>
            <a:r>
              <a:rPr lang="de-DE" dirty="0"/>
              <a:t> </a:t>
            </a:r>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15</a:t>
            </a:fld>
            <a:endParaRPr lang="de-DE"/>
          </a:p>
        </p:txBody>
      </p:sp>
    </p:spTree>
    <p:extLst>
      <p:ext uri="{BB962C8B-B14F-4D97-AF65-F5344CB8AC3E}">
        <p14:creationId xmlns:p14="http://schemas.microsoft.com/office/powerpoint/2010/main" val="561558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dirty="0" smtClean="0"/>
          </a:p>
        </p:txBody>
      </p:sp>
      <p:sp>
        <p:nvSpPr>
          <p:cNvPr id="4" name="Foliennummernplatzhalter 3"/>
          <p:cNvSpPr>
            <a:spLocks noGrp="1"/>
          </p:cNvSpPr>
          <p:nvPr>
            <p:ph type="sldNum" sz="quarter" idx="10"/>
          </p:nvPr>
        </p:nvSpPr>
        <p:spPr/>
        <p:txBody>
          <a:bodyPr/>
          <a:lstStyle/>
          <a:p>
            <a:fld id="{7D8C2C35-2B8A-446E-BEC0-FD36716C29AC}" type="slidenum">
              <a:rPr lang="de-DE" smtClean="0"/>
              <a:pPr/>
              <a:t>17</a:t>
            </a:fld>
            <a:endParaRPr lang="de-DE"/>
          </a:p>
        </p:txBody>
      </p:sp>
    </p:spTree>
    <p:extLst>
      <p:ext uri="{BB962C8B-B14F-4D97-AF65-F5344CB8AC3E}">
        <p14:creationId xmlns:p14="http://schemas.microsoft.com/office/powerpoint/2010/main" val="7535858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dirty="0" err="1"/>
              <a:t>Hierarchy</a:t>
            </a:r>
            <a:r>
              <a:rPr lang="de-DE" dirty="0"/>
              <a:t> </a:t>
            </a:r>
            <a:r>
              <a:rPr lang="de-DE" dirty="0" err="1"/>
              <a:t>Graphic</a:t>
            </a:r>
            <a:r>
              <a:rPr lang="de-DE" dirty="0"/>
              <a:t> </a:t>
            </a:r>
            <a:r>
              <a:rPr lang="de-DE" dirty="0" err="1"/>
              <a:t>defined</a:t>
            </a:r>
            <a:r>
              <a:rPr lang="de-DE" dirty="0"/>
              <a:t> in Customizing</a:t>
            </a:r>
          </a:p>
          <a:p>
            <a:r>
              <a:rPr lang="de-DE" dirty="0"/>
              <a:t>Head:</a:t>
            </a:r>
          </a:p>
          <a:p>
            <a:pPr>
              <a:buFont typeface="Symbol" pitchFamily="18" charset="2"/>
              <a:buChar char="-"/>
            </a:pPr>
            <a:r>
              <a:rPr lang="de-DE" dirty="0"/>
              <a:t>Data </a:t>
            </a:r>
            <a:r>
              <a:rPr lang="de-DE" dirty="0" err="1"/>
              <a:t>is</a:t>
            </a:r>
            <a:r>
              <a:rPr lang="de-DE" dirty="0"/>
              <a:t> </a:t>
            </a:r>
            <a:r>
              <a:rPr lang="de-DE" dirty="0" err="1"/>
              <a:t>saved</a:t>
            </a:r>
            <a:r>
              <a:rPr lang="de-DE" dirty="0"/>
              <a:t> </a:t>
            </a:r>
            <a:r>
              <a:rPr lang="de-DE" dirty="0" err="1"/>
              <a:t>and</a:t>
            </a:r>
            <a:r>
              <a:rPr lang="de-DE" dirty="0"/>
              <a:t> </a:t>
            </a:r>
            <a:r>
              <a:rPr lang="de-DE" dirty="0" err="1"/>
              <a:t>taken</a:t>
            </a:r>
            <a:r>
              <a:rPr lang="de-DE" dirty="0"/>
              <a:t> </a:t>
            </a:r>
            <a:r>
              <a:rPr lang="de-DE" dirty="0" err="1"/>
              <a:t>over</a:t>
            </a:r>
            <a:r>
              <a:rPr lang="de-DE" dirty="0"/>
              <a:t> </a:t>
            </a:r>
            <a:r>
              <a:rPr lang="de-DE" dirty="0" err="1"/>
              <a:t>to</a:t>
            </a:r>
            <a:r>
              <a:rPr lang="de-DE" dirty="0"/>
              <a:t> </a:t>
            </a:r>
            <a:r>
              <a:rPr lang="de-DE" dirty="0" err="1"/>
              <a:t>the</a:t>
            </a:r>
            <a:r>
              <a:rPr lang="de-DE" dirty="0"/>
              <a:t> </a:t>
            </a:r>
            <a:r>
              <a:rPr lang="de-DE" dirty="0" err="1"/>
              <a:t>complete</a:t>
            </a:r>
            <a:r>
              <a:rPr lang="de-DE" dirty="0"/>
              <a:t> </a:t>
            </a:r>
            <a:r>
              <a:rPr lang="de-DE" dirty="0" err="1"/>
              <a:t>schedule</a:t>
            </a:r>
            <a:r>
              <a:rPr lang="de-DE" dirty="0"/>
              <a:t>, e.g.:</a:t>
            </a:r>
          </a:p>
          <a:p>
            <a:pPr lvl="1">
              <a:buFont typeface="Symbol" pitchFamily="18" charset="2"/>
              <a:buChar char="-"/>
            </a:pPr>
            <a:r>
              <a:rPr lang="de-DE" dirty="0"/>
              <a:t>System </a:t>
            </a:r>
            <a:r>
              <a:rPr lang="de-DE" dirty="0" err="1"/>
              <a:t>status</a:t>
            </a:r>
            <a:r>
              <a:rPr lang="de-DE" dirty="0"/>
              <a:t> </a:t>
            </a:r>
          </a:p>
          <a:p>
            <a:pPr lvl="1">
              <a:buFont typeface="Symbol" pitchFamily="18" charset="2"/>
              <a:buChar char="-"/>
            </a:pPr>
            <a:r>
              <a:rPr lang="de-DE" dirty="0" err="1"/>
              <a:t>Calculation</a:t>
            </a:r>
            <a:r>
              <a:rPr lang="de-DE" dirty="0"/>
              <a:t> </a:t>
            </a:r>
            <a:r>
              <a:rPr lang="de-DE" dirty="0" err="1"/>
              <a:t>data</a:t>
            </a:r>
            <a:endParaRPr lang="de-DE" dirty="0"/>
          </a:p>
          <a:p>
            <a:r>
              <a:rPr lang="de-DE" dirty="0"/>
              <a:t>e.g.:</a:t>
            </a:r>
          </a:p>
          <a:p>
            <a:r>
              <a:rPr lang="de-DE" dirty="0" err="1"/>
              <a:t>Consists</a:t>
            </a:r>
            <a:r>
              <a:rPr lang="de-DE" dirty="0"/>
              <a:t> </a:t>
            </a:r>
            <a:r>
              <a:rPr lang="de-DE" dirty="0" err="1"/>
              <a:t>of</a:t>
            </a:r>
            <a:r>
              <a:rPr lang="de-DE" dirty="0"/>
              <a:t> normal </a:t>
            </a:r>
            <a:r>
              <a:rPr lang="de-DE" dirty="0" err="1"/>
              <a:t>series</a:t>
            </a:r>
            <a:endParaRPr lang="de-DE" dirty="0"/>
          </a:p>
          <a:p>
            <a:r>
              <a:rPr lang="de-DE" dirty="0" err="1"/>
              <a:t>Depending</a:t>
            </a:r>
            <a:r>
              <a:rPr lang="de-DE" dirty="0"/>
              <a:t> on </a:t>
            </a:r>
            <a:r>
              <a:rPr lang="de-DE" dirty="0" err="1"/>
              <a:t>status</a:t>
            </a:r>
            <a:r>
              <a:rPr lang="de-DE" dirty="0"/>
              <a:t>, </a:t>
            </a:r>
            <a:r>
              <a:rPr lang="de-DE" dirty="0" err="1"/>
              <a:t>elements</a:t>
            </a:r>
            <a:r>
              <a:rPr lang="de-DE" dirty="0"/>
              <a:t> are </a:t>
            </a:r>
            <a:r>
              <a:rPr lang="de-DE" dirty="0" err="1"/>
              <a:t>depicted</a:t>
            </a:r>
            <a:r>
              <a:rPr lang="de-DE" dirty="0"/>
              <a:t> </a:t>
            </a:r>
            <a:r>
              <a:rPr lang="de-DE" dirty="0" err="1"/>
              <a:t>differently</a:t>
            </a:r>
            <a:endParaRPr lang="de-DE" dirty="0"/>
          </a:p>
          <a:p>
            <a:pPr lvl="1">
              <a:buFont typeface="Symbol" pitchFamily="18" charset="2"/>
              <a:buChar char="-"/>
            </a:pPr>
            <a:endParaRPr lang="de-DE" dirty="0"/>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18</a:t>
            </a:fld>
            <a:endParaRPr lang="de-DE"/>
          </a:p>
        </p:txBody>
      </p:sp>
    </p:spTree>
    <p:extLst>
      <p:ext uri="{BB962C8B-B14F-4D97-AF65-F5344CB8AC3E}">
        <p14:creationId xmlns:p14="http://schemas.microsoft.com/office/powerpoint/2010/main" val="20894788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fontScale="70000" lnSpcReduction="20000"/>
          </a:bodyPr>
          <a:lstStyle/>
          <a:p>
            <a:r>
              <a:rPr lang="en-US" dirty="0" smtClean="0"/>
              <a:t>The type of the relationship determines how the individual activities are linked with each other.</a:t>
            </a:r>
          </a:p>
          <a:p>
            <a:endParaRPr lang="en-US" dirty="0" smtClean="0"/>
          </a:p>
          <a:p>
            <a:r>
              <a:rPr lang="en-US" dirty="0" smtClean="0"/>
              <a:t>Finish - Start (FS) Relationship</a:t>
            </a:r>
          </a:p>
          <a:p>
            <a:endParaRPr lang="en-US" dirty="0" smtClean="0"/>
          </a:p>
          <a:p>
            <a:r>
              <a:rPr lang="en-US" dirty="0" smtClean="0"/>
              <a:t>This is the relationship between the end of an activity to the beginning of the following activity. In the graphic, the "assembly" activity cannot start before the "production" activity has finished.</a:t>
            </a:r>
          </a:p>
          <a:p>
            <a:endParaRPr lang="en-US" dirty="0" smtClean="0"/>
          </a:p>
          <a:p>
            <a:r>
              <a:rPr lang="en-US" dirty="0" smtClean="0"/>
              <a:t>This graphic is explained in the accompanying text</a:t>
            </a:r>
          </a:p>
          <a:p>
            <a:endParaRPr lang="en-US" dirty="0" smtClean="0"/>
          </a:p>
          <a:p>
            <a:r>
              <a:rPr lang="en-US" dirty="0" smtClean="0"/>
              <a:t>Start - Start (SS) Relationship</a:t>
            </a:r>
          </a:p>
          <a:p>
            <a:endParaRPr lang="en-US" dirty="0" smtClean="0"/>
          </a:p>
          <a:p>
            <a:r>
              <a:rPr lang="en-US" dirty="0" smtClean="0"/>
              <a:t>This is the relationship between the beginning of an activity to the beginning of the following activity. In the figure, the "component procurement" activity cannot start before the "design" activity has started.</a:t>
            </a:r>
          </a:p>
          <a:p>
            <a:endParaRPr lang="en-US" dirty="0" smtClean="0"/>
          </a:p>
          <a:p>
            <a:r>
              <a:rPr lang="en-US" dirty="0" smtClean="0"/>
              <a:t>This graphic is explained in the accompanying text</a:t>
            </a:r>
          </a:p>
          <a:p>
            <a:endParaRPr lang="en-US" dirty="0" smtClean="0"/>
          </a:p>
          <a:p>
            <a:r>
              <a:rPr lang="en-US" dirty="0" smtClean="0"/>
              <a:t>Finish - Finish (FF) Relationship</a:t>
            </a:r>
          </a:p>
          <a:p>
            <a:endParaRPr lang="en-US" dirty="0" smtClean="0"/>
          </a:p>
          <a:p>
            <a:r>
              <a:rPr lang="en-US" dirty="0" smtClean="0"/>
              <a:t>This is the relationship between the end of an activity to the end of the following activity. In the figure, the "work scheduling" activity cannot finish before the "design" activity has finished.</a:t>
            </a:r>
          </a:p>
          <a:p>
            <a:endParaRPr lang="en-US" dirty="0" smtClean="0"/>
          </a:p>
          <a:p>
            <a:r>
              <a:rPr lang="en-US" dirty="0" smtClean="0"/>
              <a:t>This graphic is explained in the accompanying text</a:t>
            </a:r>
          </a:p>
          <a:p>
            <a:endParaRPr lang="en-US" dirty="0" smtClean="0"/>
          </a:p>
          <a:p>
            <a:r>
              <a:rPr lang="en-US" dirty="0" smtClean="0"/>
              <a:t>Start - Finish (SF) Relationship</a:t>
            </a:r>
          </a:p>
          <a:p>
            <a:endParaRPr lang="en-US" dirty="0" smtClean="0"/>
          </a:p>
          <a:p>
            <a:r>
              <a:rPr lang="en-US" dirty="0" smtClean="0"/>
              <a:t>Relationship from the beginning of an activity to the end of the following activity. In the figure, the "start-up" activity "start-up" cannot finish before the "inspection" activity has started.</a:t>
            </a:r>
          </a:p>
          <a:p>
            <a:endParaRPr lang="en-US" dirty="0" smtClean="0"/>
          </a:p>
          <a:p>
            <a:r>
              <a:rPr lang="en-US" dirty="0" smtClean="0"/>
              <a:t>This graphic is explained in the accompanying text</a:t>
            </a:r>
          </a:p>
          <a:p>
            <a:endParaRPr lang="en-US" dirty="0" smtClean="0"/>
          </a:p>
          <a:p>
            <a:r>
              <a:rPr lang="en-US" dirty="0" smtClean="0"/>
              <a:t>Note</a:t>
            </a:r>
          </a:p>
          <a:p>
            <a:endParaRPr lang="en-US" dirty="0" smtClean="0"/>
          </a:p>
          <a:p>
            <a:r>
              <a:rPr lang="en-US" dirty="0" smtClean="0"/>
              <a:t>SF relationships are seldom used in practice. You can usually change SF relationships to FS relationships by changing the sequence of the activities.</a:t>
            </a:r>
          </a:p>
          <a:p>
            <a:endParaRPr lang="en-US" dirty="0" smtClean="0"/>
          </a:p>
          <a:p>
            <a:r>
              <a:rPr lang="en-US" dirty="0" smtClean="0"/>
              <a:t>Here's the link:</a:t>
            </a:r>
          </a:p>
          <a:p>
            <a:r>
              <a:rPr lang="en-US" dirty="0" smtClean="0"/>
              <a:t>https://help.sap.com/erp2005_ehp_06/helpdata/EN/a9/8a853488601e33e10000009b38f83b/frameset.htm</a:t>
            </a:r>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19</a:t>
            </a:fld>
            <a:endParaRPr lang="de-DE"/>
          </a:p>
        </p:txBody>
      </p:sp>
    </p:spTree>
    <p:extLst>
      <p:ext uri="{BB962C8B-B14F-4D97-AF65-F5344CB8AC3E}">
        <p14:creationId xmlns:p14="http://schemas.microsoft.com/office/powerpoint/2010/main" val="2692964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dirty="0" smtClean="0"/>
              <a:t>Milestones can be used for the following tasks:</a:t>
            </a:r>
          </a:p>
          <a:p>
            <a:endParaRPr lang="en-US" dirty="0" smtClean="0"/>
          </a:p>
          <a:p>
            <a:r>
              <a:rPr lang="en-US" dirty="0" smtClean="0"/>
              <a:t>Milestone Trend Analysis (MTA)</a:t>
            </a:r>
          </a:p>
          <a:p>
            <a:r>
              <a:rPr lang="en-US" dirty="0" smtClean="0"/>
              <a:t>Milestone trend analysis is a simple and effective method of controlling dates in a project. The milestone dates on different report dates are compared. In the graphical MTA chart you recognize trends and delays immediately.</a:t>
            </a:r>
          </a:p>
          <a:p>
            <a:endParaRPr lang="en-US" dirty="0" smtClean="0"/>
          </a:p>
          <a:p>
            <a:r>
              <a:rPr lang="en-US" dirty="0" smtClean="0"/>
              <a:t>Conducting earned value analysis using the   milestone technique</a:t>
            </a:r>
          </a:p>
          <a:p>
            <a:r>
              <a:rPr lang="en-US" dirty="0" smtClean="0"/>
              <a:t>The milestone technique is one of the measurement techniques for determining the earned value in earned value analysis. Each milestone represents the portion of the work that is completed in an activity or in a WBS element.</a:t>
            </a:r>
          </a:p>
          <a:p>
            <a:endParaRPr lang="en-US" dirty="0" smtClean="0"/>
          </a:p>
          <a:p>
            <a:r>
              <a:rPr lang="en-US" dirty="0" smtClean="0"/>
              <a:t>Determining Dates in the Billing Plan</a:t>
            </a:r>
          </a:p>
          <a:p>
            <a:r>
              <a:rPr lang="en-US" dirty="0" smtClean="0"/>
              <a:t>A milestone is linked with a date in the billing plan. When the milestone is reached, the actual date of the milestone is copied into the billing plan.</a:t>
            </a:r>
          </a:p>
          <a:p>
            <a:endParaRPr lang="en-US" dirty="0" smtClean="0"/>
          </a:p>
          <a:p>
            <a:r>
              <a:rPr lang="en-US" dirty="0" smtClean="0"/>
              <a:t>Triggering predefined Milestone Functions</a:t>
            </a:r>
          </a:p>
          <a:p>
            <a:r>
              <a:rPr lang="en-US" dirty="0" smtClean="0"/>
              <a:t>You trigger a series of events to process a particular business process with milestone functions.</a:t>
            </a:r>
          </a:p>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20</a:t>
            </a:fld>
            <a:endParaRPr lang="de-DE"/>
          </a:p>
        </p:txBody>
      </p:sp>
    </p:spTree>
    <p:extLst>
      <p:ext uri="{BB962C8B-B14F-4D97-AF65-F5344CB8AC3E}">
        <p14:creationId xmlns:p14="http://schemas.microsoft.com/office/powerpoint/2010/main" val="2890962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en-US" dirty="0" smtClean="0"/>
          </a:p>
          <a:p>
            <a:endParaRPr lang="en-US" dirty="0" smtClean="0"/>
          </a:p>
        </p:txBody>
      </p:sp>
      <p:sp>
        <p:nvSpPr>
          <p:cNvPr id="4" name="Foliennummernplatzhalter 3"/>
          <p:cNvSpPr>
            <a:spLocks noGrp="1"/>
          </p:cNvSpPr>
          <p:nvPr>
            <p:ph type="sldNum" sz="quarter" idx="10"/>
          </p:nvPr>
        </p:nvSpPr>
        <p:spPr/>
        <p:txBody>
          <a:bodyPr/>
          <a:lstStyle/>
          <a:p>
            <a:fld id="{7D8C2C35-2B8A-446E-BEC0-FD36716C29AC}" type="slidenum">
              <a:rPr lang="de-DE" smtClean="0"/>
              <a:pPr/>
              <a:t>22</a:t>
            </a:fld>
            <a:endParaRPr lang="de-DE"/>
          </a:p>
        </p:txBody>
      </p:sp>
    </p:spTree>
    <p:extLst>
      <p:ext uri="{BB962C8B-B14F-4D97-AF65-F5344CB8AC3E}">
        <p14:creationId xmlns:p14="http://schemas.microsoft.com/office/powerpoint/2010/main" val="7845166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7D8C2C35-2B8A-446E-BEC0-FD36716C29AC}" type="slidenum">
              <a:rPr lang="de-DE" smtClean="0"/>
              <a:pPr/>
              <a:t>25</a:t>
            </a:fld>
            <a:endParaRPr lang="de-DE"/>
          </a:p>
        </p:txBody>
      </p:sp>
    </p:spTree>
    <p:extLst>
      <p:ext uri="{BB962C8B-B14F-4D97-AF65-F5344CB8AC3E}">
        <p14:creationId xmlns:p14="http://schemas.microsoft.com/office/powerpoint/2010/main" val="6773893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 short">
    <p:spTree>
      <p:nvGrpSpPr>
        <p:cNvPr id="1" name=""/>
        <p:cNvGrpSpPr/>
        <p:nvPr/>
      </p:nvGrpSpPr>
      <p:grpSpPr>
        <a:xfrm>
          <a:off x="0" y="0"/>
          <a:ext cx="0" cy="0"/>
          <a:chOff x="0" y="0"/>
          <a:chExt cx="0" cy="0"/>
        </a:xfrm>
      </p:grpSpPr>
      <p:pic>
        <p:nvPicPr>
          <p:cNvPr id="13" name="Grafik 12"/>
          <p:cNvPicPr>
            <a:picLocks noChangeAspect="1"/>
          </p:cNvPicPr>
          <p:nvPr userDrawn="1"/>
        </p:nvPicPr>
        <p:blipFill rotWithShape="1">
          <a:blip r:embed="rId2">
            <a:extLst>
              <a:ext uri="{28A0092B-C50C-407E-A947-70E740481C1C}">
                <a14:useLocalDpi xmlns:a14="http://schemas.microsoft.com/office/drawing/2010/main" val="0"/>
              </a:ext>
            </a:extLst>
          </a:blip>
          <a:srcRect b="16349"/>
          <a:stretch/>
        </p:blipFill>
        <p:spPr>
          <a:xfrm>
            <a:off x="-1" y="-5663"/>
            <a:ext cx="12195175" cy="6858947"/>
          </a:xfrm>
          <a:prstGeom prst="rect">
            <a:avLst/>
          </a:prstGeom>
        </p:spPr>
      </p:pic>
      <p:sp>
        <p:nvSpPr>
          <p:cNvPr id="3" name="Rectangle 2"/>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b="0" i="0" u="none" strike="noStrike" kern="0" cap="none" spc="0" normalizeH="0" baseline="0" noProof="0">
              <a:ln>
                <a:noFill/>
              </a:ln>
              <a:effectLst/>
              <a:uLnTx/>
              <a:uFillTx/>
              <a:ea typeface="Arial Unicode MS" pitchFamily="34" charset="-128"/>
              <a:cs typeface="Arial Unicode MS" pitchFamily="34" charset="-128"/>
            </a:endParaRPr>
          </a:p>
        </p:txBody>
      </p:sp>
      <p:sp>
        <p:nvSpPr>
          <p:cNvPr id="2" name="Title 1"/>
          <p:cNvSpPr>
            <a:spLocks noGrp="1"/>
          </p:cNvSpPr>
          <p:nvPr>
            <p:ph type="title" hasCustomPrompt="1"/>
          </p:nvPr>
        </p:nvSpPr>
        <p:spPr>
          <a:xfrm>
            <a:off x="467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40520"/>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&lt;First Name&gt; &lt;Last name&gt;, &lt;Organization&gt; (delete if not needed)</a:t>
            </a:r>
            <a:br>
              <a:rPr lang="en-US" dirty="0"/>
            </a:br>
            <a:r>
              <a:rPr lang="en-US" dirty="0"/>
              <a:t>&lt;Month&gt; &lt;Day&gt;, &lt;Year&gt;</a:t>
            </a:r>
          </a:p>
        </p:txBody>
      </p:sp>
      <p:grpSp>
        <p:nvGrpSpPr>
          <p:cNvPr id="9" name="Gruppieren 8"/>
          <p:cNvGrpSpPr/>
          <p:nvPr userDrawn="1"/>
        </p:nvGrpSpPr>
        <p:grpSpPr>
          <a:xfrm>
            <a:off x="10518759" y="6066338"/>
            <a:ext cx="1352566" cy="470987"/>
            <a:chOff x="10518759" y="6066338"/>
            <a:chExt cx="1352566" cy="470987"/>
          </a:xfrm>
        </p:grpSpPr>
        <p:sp>
          <p:nvSpPr>
            <p:cNvPr id="10" name="Rectangle 15"/>
            <p:cNvSpPr/>
            <p:nvPr/>
          </p:nvSpPr>
          <p:spPr bwMode="gray">
            <a:xfrm>
              <a:off x="10518759" y="6088062"/>
              <a:ext cx="1352566" cy="449263"/>
            </a:xfrm>
            <a:prstGeom prst="rect">
              <a:avLst/>
            </a:prstGeom>
            <a:solidFill>
              <a:schemeClr val="bg1"/>
            </a:solidFill>
            <a:ln w="12700" cmpd="sng" algn="ctr">
              <a:noFill/>
              <a:prstDash val="dash"/>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1400" b="0" i="0" u="none" strike="noStrike" kern="0" cap="none" spc="0" normalizeH="0" baseline="0" noProof="0">
                <a:ln>
                  <a:noFill/>
                </a:ln>
                <a:effectLst/>
                <a:uLnTx/>
                <a:uFillTx/>
                <a:ea typeface="Arial Unicode MS" pitchFamily="34" charset="-128"/>
                <a:cs typeface="Arial Unicode MS" pitchFamily="34" charset="-128"/>
              </a:endParaRPr>
            </a:p>
          </p:txBody>
        </p:sp>
        <p:pic>
          <p:nvPicPr>
            <p:cNvPr id="11" name="Grafik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8759" y="6066338"/>
              <a:ext cx="1288232" cy="470987"/>
            </a:xfrm>
            <a:prstGeom prst="rect">
              <a:avLst/>
            </a:prstGeom>
          </p:spPr>
        </p:pic>
      </p:grpSp>
      <p:pic>
        <p:nvPicPr>
          <p:cNvPr id="12" name="Picture 8" descr="M:\Dokumente\UCC_Partner\Logos\SAP UA Logo\SAP_University_Alliances_Logo_2013_Februar\RGB\SAP_UniversityAlliances_scrn_R_pos_stac3.png"/>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24000" y="6184900"/>
            <a:ext cx="647700" cy="352425"/>
          </a:xfrm>
          <a:prstGeom prst="rect">
            <a:avLst/>
          </a:prstGeom>
          <a:noFill/>
          <a:ln>
            <a:noFill/>
          </a:ln>
          <a:extLst/>
        </p:spPr>
      </p:pic>
    </p:spTree>
    <p:extLst>
      <p:ext uri="{BB962C8B-B14F-4D97-AF65-F5344CB8AC3E}">
        <p14:creationId xmlns:p14="http://schemas.microsoft.com/office/powerpoint/2010/main" val="4293301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with picture - two lines">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7" name="Rectangle 6"/>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b" anchorCtr="0"/>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b="0" i="0" u="none" strike="noStrike" kern="0" cap="none" spc="0" normalizeH="0" baseline="0" noProof="0">
              <a:ln>
                <a:noFill/>
              </a:ln>
              <a:effectLst/>
              <a:uLnTx/>
              <a:uFillTx/>
              <a:ea typeface="Arial Unicode MS" pitchFamily="34" charset="-128"/>
              <a:cs typeface="Arial Unicode MS" pitchFamily="34" charset="-128"/>
            </a:endParaRPr>
          </a:p>
        </p:txBody>
      </p:sp>
      <p:sp>
        <p:nvSpPr>
          <p:cNvPr id="10" name="Rectangle 9"/>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&lt;First Name&gt; &lt;Last name&gt;, &lt;Organization&gt; (delete if not needed)</a:t>
            </a:r>
            <a:br>
              <a:rPr lang="en-US" dirty="0"/>
            </a:br>
            <a:r>
              <a:rPr lang="en-US" dirty="0"/>
              <a:t>&lt;Month&gt; &lt;Day&gt;, &lt;Year&gt;</a:t>
            </a:r>
          </a:p>
        </p:txBody>
      </p:sp>
      <p:sp>
        <p:nvSpPr>
          <p:cNvPr id="9" name="Title 1"/>
          <p:cNvSpPr>
            <a:spLocks noGrp="1"/>
          </p:cNvSpPr>
          <p:nvPr>
            <p:ph type="ctrTitle" hasCustomPrompt="1"/>
          </p:nvPr>
        </p:nvSpPr>
        <p:spPr bwMode="gray">
          <a:xfrm>
            <a:off x="467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12" name="TextBox 11"/>
          <p:cNvSpPr txBox="1"/>
          <p:nvPr/>
        </p:nvSpPr>
        <p:spPr>
          <a:xfrm rot="21360000">
            <a:off x="4212456" y="3628659"/>
            <a:ext cx="3770263" cy="276999"/>
          </a:xfrm>
          <a:prstGeom prst="rect">
            <a:avLst/>
          </a:prstGeom>
          <a:noFill/>
        </p:spPr>
        <p:txBody>
          <a:bodyPr wrap="none" lIns="0" tIns="0" rIns="0" bIns="0" rtlCol="0">
            <a:spAutoFit/>
          </a:bodyPr>
          <a:ls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50000"/>
              </a:spcBef>
              <a:spcAft>
                <a:spcPct val="0"/>
              </a:spcAft>
              <a:buClr>
                <a:srgbClr val="F0AB00"/>
              </a:buClr>
              <a:buSzPct val="80000"/>
            </a:pPr>
            <a:r>
              <a:rPr lang="en-US" sz="1800" kern="0">
                <a:solidFill>
                  <a:schemeClr val="tx1"/>
                </a:solidFill>
                <a:ea typeface="Arial Unicode MS" pitchFamily="34" charset="-128"/>
                <a:cs typeface="Arial Unicode MS" pitchFamily="34" charset="-128"/>
              </a:rPr>
              <a:t>Use this title slide only with an</a:t>
            </a:r>
            <a:r>
              <a:rPr lang="en-US" sz="1800" kern="0" baseline="0">
                <a:solidFill>
                  <a:schemeClr val="tx1"/>
                </a:solidFill>
                <a:ea typeface="Arial Unicode MS" pitchFamily="34" charset="-128"/>
                <a:cs typeface="Arial Unicode MS" pitchFamily="34" charset="-128"/>
              </a:rPr>
              <a:t> image</a:t>
            </a:r>
            <a:endParaRPr lang="en-US" sz="1800" kern="0">
              <a:solidFill>
                <a:schemeClr val="tx1"/>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1574908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 shor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&lt;First Name&gt; &lt;Last name&gt;, &lt;Organization&gt; (delete if not needed)</a:t>
            </a:r>
            <a:br>
              <a:rPr lang="en-US" dirty="0"/>
            </a:br>
            <a:r>
              <a:rPr lang="en-US" dirty="0"/>
              <a:t>&lt;Month&gt; &lt;Day&gt;, &lt;Year&gt;</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err="1">
              <a:ln>
                <a:noFill/>
              </a:ln>
              <a:effectLst/>
              <a:uLnTx/>
              <a:uFillTx/>
              <a:ea typeface="Arial Unicode MS" pitchFamily="34" charset="-128"/>
              <a:cs typeface="Arial Unicode MS" pitchFamily="34" charset="-128"/>
            </a:endParaRP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782970631"/>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 two lines">
    <p:bg>
      <p:bgRef idx="1001">
        <a:schemeClr val="bg1"/>
      </p:bgRef>
    </p:bg>
    <p:spTree>
      <p:nvGrpSpPr>
        <p:cNvPr id="1" name=""/>
        <p:cNvGrpSpPr/>
        <p:nvPr/>
      </p:nvGrpSpPr>
      <p:grpSpPr>
        <a:xfrm>
          <a:off x="0" y="0"/>
          <a:ext cx="0" cy="0"/>
          <a:chOff x="0" y="0"/>
          <a:chExt cx="0" cy="0"/>
        </a:xfrm>
      </p:grpSpPr>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&lt;First Name&gt; &lt;Last name&gt;, &lt;Organization&gt; (delete if not needed)</a:t>
            </a:r>
            <a:br>
              <a:rPr lang="en-US" dirty="0"/>
            </a:br>
            <a:r>
              <a:rPr lang="en-US" dirty="0"/>
              <a:t>&lt;Month&gt; &lt;Day&gt;, &lt;Year&gt;</a:t>
            </a:r>
          </a:p>
        </p:txBody>
      </p:sp>
      <p:sp>
        <p:nvSpPr>
          <p:cNvPr id="9" name="Title 1"/>
          <p:cNvSpPr>
            <a:spLocks noGrp="1"/>
          </p:cNvSpPr>
          <p:nvPr>
            <p:ph type="ctrTitle" hasCustomPrompt="1"/>
          </p:nvPr>
        </p:nvSpPr>
        <p:spPr bwMode="gray">
          <a:xfrm>
            <a:off x="323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err="1">
              <a:ln>
                <a:noFill/>
              </a:ln>
              <a:effectLst/>
              <a:uLnTx/>
              <a:uFillTx/>
              <a:ea typeface="Arial Unicode MS" pitchFamily="34" charset="-128"/>
              <a:cs typeface="Arial Unicode MS" pitchFamily="34" charset="-128"/>
            </a:endParaRP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1224200990"/>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rriculum information">
    <p:spTree>
      <p:nvGrpSpPr>
        <p:cNvPr id="1" name=""/>
        <p:cNvGrpSpPr/>
        <p:nvPr/>
      </p:nvGrpSpPr>
      <p:grpSpPr>
        <a:xfrm>
          <a:off x="0" y="0"/>
          <a:ext cx="0" cy="0"/>
          <a:chOff x="0" y="0"/>
          <a:chExt cx="0" cy="0"/>
        </a:xfrm>
      </p:grpSpPr>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a:solidFill>
                  <a:schemeClr val="accent2"/>
                </a:solidFill>
                <a:latin typeface="+mj-lt"/>
                <a:ea typeface="Arial Unicode MS" pitchFamily="34" charset="-128"/>
                <a:cs typeface="Arial Unicode MS" pitchFamily="34" charset="-128"/>
              </a:rPr>
              <a:t>Curriculum</a:t>
            </a:r>
            <a:r>
              <a:rPr lang="en-US" sz="2400" b="1" kern="0" baseline="0" noProof="0">
                <a:solidFill>
                  <a:schemeClr val="accent2"/>
                </a:solidFill>
                <a:latin typeface="+mj-lt"/>
                <a:ea typeface="Arial Unicode MS" pitchFamily="34" charset="-128"/>
                <a:cs typeface="Arial Unicode MS" pitchFamily="34" charset="-128"/>
              </a:rPr>
              <a:t> Information</a:t>
            </a:r>
            <a:endParaRPr lang="en-US" sz="2400" b="1" kern="0" noProof="0">
              <a:solidFill>
                <a:schemeClr val="accent2"/>
              </a:solidFill>
              <a:latin typeface="+mj-lt"/>
              <a:ea typeface="Arial Unicode MS" pitchFamily="34" charset="-128"/>
              <a:cs typeface="Arial Unicode MS" pitchFamily="34" charset="-128"/>
            </a:endParaRPr>
          </a:p>
        </p:txBody>
      </p:sp>
      <p:sp>
        <p:nvSpPr>
          <p:cNvPr id="6" name="Textplatzhalter 21"/>
          <p:cNvSpPr>
            <a:spLocks noGrp="1"/>
          </p:cNvSpPr>
          <p:nvPr>
            <p:ph type="body" sz="quarter" idx="15" hasCustomPrompt="1"/>
          </p:nvPr>
        </p:nvSpPr>
        <p:spPr>
          <a:xfrm>
            <a:off x="2038856" y="2624439"/>
            <a:ext cx="9830344" cy="362391"/>
          </a:xfrm>
          <a:prstGeom prst="rect">
            <a:avLst/>
          </a:prstGeom>
        </p:spPr>
        <p:txBody>
          <a:bodyPr anchor="t" anchorCtr="0"/>
          <a:lstStyle>
            <a:lvl1pPr marL="266400" indent="-194400">
              <a:lnSpc>
                <a:spcPct val="100000"/>
              </a:lnSpc>
              <a:spcBef>
                <a:spcPts val="0"/>
              </a:spcBef>
              <a:spcAft>
                <a:spcPts val="0"/>
              </a:spcAft>
              <a:buClr>
                <a:schemeClr val="bg1">
                  <a:lumMod val="65000"/>
                </a:schemeClr>
              </a:buClr>
              <a:buSzPct val="100000"/>
              <a:buFont typeface="Wingdings" panose="05000000000000000000" pitchFamily="2" charset="2"/>
              <a:buChar char="§"/>
              <a:defRPr sz="18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&lt;Curriculum version + last update&gt;</a:t>
            </a:r>
          </a:p>
        </p:txBody>
      </p:sp>
      <p:grpSp>
        <p:nvGrpSpPr>
          <p:cNvPr id="7" name="Gruppieren 6"/>
          <p:cNvGrpSpPr/>
          <p:nvPr userDrawn="1"/>
        </p:nvGrpSpPr>
        <p:grpSpPr>
          <a:xfrm>
            <a:off x="1951753" y="1927906"/>
            <a:ext cx="9917447" cy="500901"/>
            <a:chOff x="1108399" y="1396713"/>
            <a:chExt cx="7030682" cy="404566"/>
          </a:xfrm>
        </p:grpSpPr>
        <p:sp>
          <p:nvSpPr>
            <p:cNvPr id="8" name="Rectangle 10"/>
            <p:cNvSpPr/>
            <p:nvPr userDrawn="1"/>
          </p:nvSpPr>
          <p:spPr>
            <a:xfrm>
              <a:off x="1108399" y="1396713"/>
              <a:ext cx="3835401" cy="298157"/>
            </a:xfrm>
            <a:prstGeom prst="rect">
              <a:avLst/>
            </a:prstGeom>
          </p:spPr>
          <p:txBody>
            <a:bodyPr wrap="square" lIns="91302" tIns="45630" rIns="91302" bIns="45630">
              <a:spAutoFit/>
            </a:bodyPr>
            <a:lstStyle/>
            <a:p>
              <a:r>
                <a:rPr lang="en-US" sz="1800" b="1" noProof="0">
                  <a:solidFill>
                    <a:schemeClr val="tx1"/>
                  </a:solidFill>
                  <a:latin typeface="+mj-lt"/>
                </a:rPr>
                <a:t>Curriculum </a:t>
              </a:r>
              <a:r>
                <a:rPr lang="en-US" sz="1800" b="1" baseline="0" noProof="0">
                  <a:solidFill>
                    <a:schemeClr val="tx1"/>
                  </a:solidFill>
                  <a:latin typeface="+mj-lt"/>
                </a:rPr>
                <a:t>Version</a:t>
              </a:r>
              <a:endParaRPr lang="en-US" sz="1200" b="1" noProof="0">
                <a:solidFill>
                  <a:schemeClr val="tx1"/>
                </a:solidFill>
                <a:latin typeface="+mj-lt"/>
              </a:endParaRPr>
            </a:p>
          </p:txBody>
        </p:sp>
        <p:cxnSp>
          <p:nvCxnSpPr>
            <p:cNvPr id="9" name="Straight Connector 12"/>
            <p:cNvCxnSpPr/>
            <p:nvPr userDrawn="1"/>
          </p:nvCxnSpPr>
          <p:spPr>
            <a:xfrm flipV="1">
              <a:off x="1197563" y="1776441"/>
              <a:ext cx="6941518" cy="24838"/>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0" name="Gruppieren 9"/>
          <p:cNvGrpSpPr/>
          <p:nvPr userDrawn="1"/>
        </p:nvGrpSpPr>
        <p:grpSpPr>
          <a:xfrm>
            <a:off x="324000" y="1499007"/>
            <a:ext cx="1299974" cy="1299976"/>
            <a:chOff x="352676" y="1326706"/>
            <a:chExt cx="765542" cy="765543"/>
          </a:xfrm>
        </p:grpSpPr>
        <p:sp>
          <p:nvSpPr>
            <p:cNvPr id="11" name="Donut 11"/>
            <p:cNvSpPr/>
            <p:nvPr userDrawn="1"/>
          </p:nvSpPr>
          <p:spPr bwMode="gray">
            <a:xfrm>
              <a:off x="352676" y="1326706"/>
              <a:ext cx="765542" cy="765543"/>
            </a:xfrm>
            <a:prstGeom prst="donut">
              <a:avLst>
                <a:gd name="adj" fmla="val 5979"/>
              </a:avLst>
            </a:prstGeom>
            <a:solidFill>
              <a:schemeClr val="accent1"/>
            </a:solidFill>
            <a:ln w="6350" algn="ctr">
              <a:solidFill>
                <a:schemeClr val="accent1"/>
              </a:solidFill>
              <a:miter lim="800000"/>
              <a:headEnd/>
              <a:tailEnd/>
            </a:ln>
          </p:spPr>
          <p:txBody>
            <a:bodyPr lIns="89863" tIns="71908" rIns="89863" bIns="71908" rtlCol="0" anchor="ctr"/>
            <a:lstStyle/>
            <a:p>
              <a:pPr algn="ctr" defTabSz="913003" fontAlgn="base">
                <a:spcBef>
                  <a:spcPct val="50000"/>
                </a:spcBef>
                <a:spcAft>
                  <a:spcPct val="0"/>
                </a:spcAft>
                <a:buClr>
                  <a:srgbClr val="F0AB00"/>
                </a:buClr>
                <a:buSzPct val="80000"/>
              </a:pPr>
              <a:endParaRPr lang="de-DE" sz="2000" kern="0">
                <a:ea typeface="Arial Unicode MS" pitchFamily="34" charset="-128"/>
                <a:cs typeface="Arial Unicode MS" pitchFamily="34" charset="-128"/>
              </a:endParaRPr>
            </a:p>
          </p:txBody>
        </p:sp>
        <p:grpSp>
          <p:nvGrpSpPr>
            <p:cNvPr id="12" name="Gruppieren 11"/>
            <p:cNvGrpSpPr/>
            <p:nvPr userDrawn="1"/>
          </p:nvGrpSpPr>
          <p:grpSpPr>
            <a:xfrm>
              <a:off x="545702" y="1435466"/>
              <a:ext cx="403112" cy="511295"/>
              <a:chOff x="7057115" y="1361724"/>
              <a:chExt cx="403112" cy="511295"/>
            </a:xfrm>
          </p:grpSpPr>
          <p:sp>
            <p:nvSpPr>
              <p:cNvPr id="13" name="Gefaltete Ecke 12"/>
              <p:cNvSpPr/>
              <p:nvPr/>
            </p:nvSpPr>
            <p:spPr bwMode="gray">
              <a:xfrm rot="10800000" flipH="1">
                <a:off x="7150511" y="1361724"/>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sp>
            <p:nvSpPr>
              <p:cNvPr id="14" name="Gefaltete Ecke 13"/>
              <p:cNvSpPr/>
              <p:nvPr/>
            </p:nvSpPr>
            <p:spPr bwMode="gray">
              <a:xfrm rot="10800000" flipH="1">
                <a:off x="7103823" y="1410891"/>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grpSp>
            <p:nvGrpSpPr>
              <p:cNvPr id="15" name="Gruppieren 33"/>
              <p:cNvGrpSpPr/>
              <p:nvPr/>
            </p:nvGrpSpPr>
            <p:grpSpPr>
              <a:xfrm>
                <a:off x="7057115" y="1452689"/>
                <a:ext cx="309716" cy="420330"/>
                <a:chOff x="589936" y="2809567"/>
                <a:chExt cx="309716" cy="420330"/>
              </a:xfrm>
            </p:grpSpPr>
            <p:sp>
              <p:nvSpPr>
                <p:cNvPr id="16" name="Gefaltete Ecke 15"/>
                <p:cNvSpPr/>
                <p:nvPr/>
              </p:nvSpPr>
              <p:spPr bwMode="gray">
                <a:xfrm rot="10800000" flipH="1">
                  <a:off x="589936" y="2809567"/>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sp>
              <p:nvSpPr>
                <p:cNvPr id="17" name="Textfeld 16"/>
                <p:cNvSpPr txBox="1"/>
                <p:nvPr/>
              </p:nvSpPr>
              <p:spPr>
                <a:xfrm>
                  <a:off x="697006" y="2861855"/>
                  <a:ext cx="94496" cy="326244"/>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de-DE" sz="3600" i="1" kern="0">
                      <a:solidFill>
                        <a:schemeClr val="bg1"/>
                      </a:solidFill>
                      <a:latin typeface="Angsana New" pitchFamily="18" charset="-34"/>
                      <a:ea typeface="Arial Unicode MS" pitchFamily="34" charset="-128"/>
                      <a:cs typeface="Angsana New" pitchFamily="18" charset="-34"/>
                    </a:rPr>
                    <a:t>i</a:t>
                  </a:r>
                </a:p>
              </p:txBody>
            </p:sp>
          </p:grpSp>
        </p:grpSp>
      </p:grpSp>
      <p:sp>
        <p:nvSpPr>
          <p:cNvPr id="18" name="Textplatzhalter 21"/>
          <p:cNvSpPr>
            <a:spLocks noGrp="1"/>
          </p:cNvSpPr>
          <p:nvPr>
            <p:ph type="body" sz="quarter" idx="12" hasCustomPrompt="1"/>
          </p:nvPr>
        </p:nvSpPr>
        <p:spPr>
          <a:xfrm>
            <a:off x="2327108" y="3552319"/>
            <a:ext cx="9542092" cy="530990"/>
          </a:xfrm>
          <a:prstGeom prst="rect">
            <a:avLst/>
          </a:prstGeom>
        </p:spPr>
        <p:txBody>
          <a:bodyPr/>
          <a:lstStyle>
            <a:lvl1pPr marL="214298" indent="-214298">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&lt;server-side&gt;</a:t>
            </a:r>
          </a:p>
          <a:p>
            <a:pPr lvl="0"/>
            <a:r>
              <a:rPr lang="en-US" dirty="0"/>
              <a:t>&lt;client-side&gt;</a:t>
            </a:r>
            <a:endParaRPr lang="de-DE" dirty="0"/>
          </a:p>
        </p:txBody>
      </p:sp>
      <p:sp>
        <p:nvSpPr>
          <p:cNvPr id="19" name="Textfeld 18"/>
          <p:cNvSpPr txBox="1"/>
          <p:nvPr userDrawn="1"/>
        </p:nvSpPr>
        <p:spPr>
          <a:xfrm>
            <a:off x="2041112" y="3250331"/>
            <a:ext cx="9828088" cy="336918"/>
          </a:xfrm>
          <a:prstGeom prst="rect">
            <a:avLst/>
          </a:prstGeom>
          <a:noFill/>
        </p:spPr>
        <p:txBody>
          <a:bodyPr wrap="none" lIns="0" tIns="0" rIns="0" bIns="0" rtlCol="0" anchor="t" anchorCtr="0">
            <a:noAutofit/>
          </a:bodyPr>
          <a:lstStyle/>
          <a:p>
            <a:pPr marL="265490" indent="-195248" fontAlgn="base">
              <a:spcBef>
                <a:spcPct val="50000"/>
              </a:spcBef>
              <a:spcAft>
                <a:spcPct val="0"/>
              </a:spcAft>
              <a:buClr>
                <a:schemeClr val="bg1">
                  <a:lumMod val="65000"/>
                </a:schemeClr>
              </a:buClr>
              <a:buSzPct val="100000"/>
              <a:buFont typeface="Wingdings" panose="05000000000000000000" pitchFamily="2" charset="2"/>
              <a:buChar char="§"/>
            </a:pPr>
            <a:r>
              <a:rPr lang="en-US" sz="1800" b="0" kern="1200" baseline="0" noProof="0">
                <a:solidFill>
                  <a:schemeClr val="tx1"/>
                </a:solidFill>
                <a:latin typeface="+mn-lt"/>
                <a:ea typeface="+mn-ea"/>
                <a:cs typeface="+mn-cs"/>
              </a:rPr>
              <a:t>Software used</a:t>
            </a:r>
          </a:p>
        </p:txBody>
      </p:sp>
      <p:sp>
        <p:nvSpPr>
          <p:cNvPr id="20" name="Textfeld 19"/>
          <p:cNvSpPr txBox="1"/>
          <p:nvPr userDrawn="1"/>
        </p:nvSpPr>
        <p:spPr>
          <a:xfrm>
            <a:off x="2043658" y="4533142"/>
            <a:ext cx="9825542" cy="336918"/>
          </a:xfrm>
          <a:prstGeom prst="rect">
            <a:avLst/>
          </a:prstGeom>
          <a:noFill/>
        </p:spPr>
        <p:txBody>
          <a:bodyPr wrap="none" lIns="0" tIns="0" rIns="0" bIns="0" rtlCol="0" anchor="t" anchorCtr="0">
            <a:noAutofit/>
          </a:bodyPr>
          <a:lstStyle/>
          <a:p>
            <a:pPr marL="265490" indent="-195248" fontAlgn="base">
              <a:spcBef>
                <a:spcPct val="50000"/>
              </a:spcBef>
              <a:spcAft>
                <a:spcPct val="0"/>
              </a:spcAft>
              <a:buClr>
                <a:schemeClr val="bg1">
                  <a:lumMod val="65000"/>
                </a:schemeClr>
              </a:buClr>
              <a:buSzPct val="100000"/>
              <a:buFont typeface="Wingdings" panose="05000000000000000000" pitchFamily="2" charset="2"/>
              <a:buChar char="§"/>
            </a:pPr>
            <a:r>
              <a:rPr lang="en-US" sz="1800" b="0" kern="1200" baseline="0" noProof="0">
                <a:solidFill>
                  <a:schemeClr val="tx1"/>
                </a:solidFill>
                <a:latin typeface="+mn-lt"/>
                <a:ea typeface="+mn-ea"/>
                <a:cs typeface="+mn-cs"/>
              </a:rPr>
              <a:t>Prerequisites</a:t>
            </a:r>
          </a:p>
        </p:txBody>
      </p:sp>
      <p:sp>
        <p:nvSpPr>
          <p:cNvPr id="21" name="Textplatzhalter 21"/>
          <p:cNvSpPr>
            <a:spLocks noGrp="1"/>
          </p:cNvSpPr>
          <p:nvPr>
            <p:ph type="body" sz="quarter" idx="13" hasCustomPrompt="1"/>
          </p:nvPr>
        </p:nvSpPr>
        <p:spPr>
          <a:xfrm>
            <a:off x="2327107" y="4845892"/>
            <a:ext cx="9542093" cy="530990"/>
          </a:xfrm>
          <a:prstGeom prst="rect">
            <a:avLst/>
          </a:prstGeom>
        </p:spPr>
        <p:txBody>
          <a:bodyPr/>
          <a:lstStyle>
            <a:lvl1pPr marL="285750" indent="-285750">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&lt;curricula&gt;</a:t>
            </a:r>
          </a:p>
          <a:p>
            <a:pPr lvl="0"/>
            <a:r>
              <a:rPr lang="en-US" dirty="0"/>
              <a:t>&lt;other prerequisites&gt;</a:t>
            </a:r>
            <a:endParaRPr lang="de-DE" dirty="0"/>
          </a:p>
        </p:txBody>
      </p:sp>
    </p:spTree>
    <p:extLst>
      <p:ext uri="{BB962C8B-B14F-4D97-AF65-F5344CB8AC3E}">
        <p14:creationId xmlns:p14="http://schemas.microsoft.com/office/powerpoint/2010/main" val="17840895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Module information I">
    <p:spTree>
      <p:nvGrpSpPr>
        <p:cNvPr id="1" name=""/>
        <p:cNvGrpSpPr/>
        <p:nvPr/>
      </p:nvGrpSpPr>
      <p:grpSpPr>
        <a:xfrm>
          <a:off x="0" y="0"/>
          <a:ext cx="0" cy="0"/>
          <a:chOff x="0" y="0"/>
          <a:chExt cx="0" cy="0"/>
        </a:xfrm>
      </p:grpSpPr>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a:solidFill>
                  <a:schemeClr val="accent2"/>
                </a:solidFill>
                <a:latin typeface="+mj-lt"/>
                <a:ea typeface="Arial Unicode MS" pitchFamily="34" charset="-128"/>
                <a:cs typeface="Arial Unicode MS" pitchFamily="34" charset="-128"/>
              </a:rPr>
              <a:t>Module</a:t>
            </a:r>
            <a:r>
              <a:rPr lang="en-US" sz="2400" b="1" kern="0" baseline="0" noProof="0">
                <a:solidFill>
                  <a:schemeClr val="accent2"/>
                </a:solidFill>
                <a:latin typeface="+mj-lt"/>
                <a:ea typeface="Arial Unicode MS" pitchFamily="34" charset="-128"/>
                <a:cs typeface="Arial Unicode MS" pitchFamily="34" charset="-128"/>
              </a:rPr>
              <a:t> Information</a:t>
            </a:r>
            <a:endParaRPr lang="en-US" sz="2400" b="1" kern="0" noProof="0">
              <a:solidFill>
                <a:schemeClr val="accent2"/>
              </a:solidFill>
              <a:latin typeface="+mj-lt"/>
              <a:ea typeface="Arial Unicode MS" pitchFamily="34" charset="-128"/>
              <a:cs typeface="Arial Unicode MS" pitchFamily="34" charset="-128"/>
            </a:endParaRPr>
          </a:p>
        </p:txBody>
      </p:sp>
      <p:grpSp>
        <p:nvGrpSpPr>
          <p:cNvPr id="22" name="Gruppieren 21"/>
          <p:cNvGrpSpPr/>
          <p:nvPr userDrawn="1"/>
        </p:nvGrpSpPr>
        <p:grpSpPr>
          <a:xfrm>
            <a:off x="324000" y="1499007"/>
            <a:ext cx="1299600" cy="1299600"/>
            <a:chOff x="214040" y="1152039"/>
            <a:chExt cx="765542" cy="765543"/>
          </a:xfrm>
        </p:grpSpPr>
        <p:grpSp>
          <p:nvGrpSpPr>
            <p:cNvPr id="23" name="Gruppieren 22"/>
            <p:cNvGrpSpPr/>
            <p:nvPr userDrawn="1"/>
          </p:nvGrpSpPr>
          <p:grpSpPr>
            <a:xfrm>
              <a:off x="361780" y="1456593"/>
              <a:ext cx="464587" cy="191753"/>
              <a:chOff x="1642324" y="4884196"/>
              <a:chExt cx="660745" cy="294992"/>
            </a:xfrm>
          </p:grpSpPr>
          <p:sp>
            <p:nvSpPr>
              <p:cNvPr id="25" name="Richtungspfeil 24"/>
              <p:cNvSpPr/>
              <p:nvPr userDrawn="1"/>
            </p:nvSpPr>
            <p:spPr bwMode="gray">
              <a:xfrm rot="8100000">
                <a:off x="1767471" y="4884196"/>
                <a:ext cx="535598" cy="221844"/>
              </a:xfrm>
              <a:prstGeom prst="homePlate">
                <a:avLst/>
              </a:prstGeom>
              <a:solidFill>
                <a:schemeClr val="tx1">
                  <a:lumMod val="65000"/>
                  <a:lumOff val="35000"/>
                </a:schemeClr>
              </a:solidFill>
              <a:ln w="6350" algn="ctr">
                <a:solidFill>
                  <a:schemeClr val="tx1">
                    <a:lumMod val="65000"/>
                    <a:lumOff val="35000"/>
                  </a:schemeClr>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sp>
            <p:nvSpPr>
              <p:cNvPr id="26" name="Rechteck 25"/>
              <p:cNvSpPr/>
              <p:nvPr/>
            </p:nvSpPr>
            <p:spPr bwMode="gray">
              <a:xfrm rot="8100000">
                <a:off x="1920613" y="4887121"/>
                <a:ext cx="305780" cy="129124"/>
              </a:xfrm>
              <a:prstGeom prst="rect">
                <a:avLst/>
              </a:prstGeom>
              <a:solidFill>
                <a:schemeClr val="bg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cxnSp>
            <p:nvCxnSpPr>
              <p:cNvPr id="27" name="Gerade Verbindung 25"/>
              <p:cNvCxnSpPr/>
              <p:nvPr userDrawn="1"/>
            </p:nvCxnSpPr>
            <p:spPr>
              <a:xfrm>
                <a:off x="1642324" y="5179188"/>
                <a:ext cx="140109" cy="0"/>
              </a:xfrm>
              <a:prstGeom prst="line">
                <a:avLst/>
              </a:prstGeom>
              <a:ln w="254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sp>
          <p:nvSpPr>
            <p:cNvPr id="24" name="Donut 11"/>
            <p:cNvSpPr/>
            <p:nvPr userDrawn="1"/>
          </p:nvSpPr>
          <p:spPr bwMode="gray">
            <a:xfrm>
              <a:off x="214040" y="1152039"/>
              <a:ext cx="765542" cy="765543"/>
            </a:xfrm>
            <a:prstGeom prst="donut">
              <a:avLst>
                <a:gd name="adj" fmla="val 5979"/>
              </a:avLst>
            </a:prstGeom>
            <a:solidFill>
              <a:schemeClr val="accent1"/>
            </a:solidFill>
            <a:ln w="6350" algn="ctr">
              <a:solidFill>
                <a:schemeClr val="accent1"/>
              </a:solidFill>
              <a:miter lim="800000"/>
              <a:headEnd/>
              <a:tailEnd/>
            </a:ln>
          </p:spPr>
          <p:txBody>
            <a:bodyPr lIns="89863" tIns="71908" rIns="89863" bIns="71908" rtlCol="0" anchor="ctr"/>
            <a:lstStyle/>
            <a:p>
              <a:pPr algn="ctr" defTabSz="913003" fontAlgn="base">
                <a:spcBef>
                  <a:spcPct val="50000"/>
                </a:spcBef>
                <a:spcAft>
                  <a:spcPct val="0"/>
                </a:spcAft>
                <a:buClr>
                  <a:srgbClr val="F0AB00"/>
                </a:buClr>
                <a:buSzPct val="80000"/>
              </a:pPr>
              <a:endParaRPr lang="de-DE" sz="2000" kern="0">
                <a:ea typeface="Arial Unicode MS" pitchFamily="34" charset="-128"/>
                <a:cs typeface="Arial Unicode MS" pitchFamily="34" charset="-128"/>
              </a:endParaRPr>
            </a:p>
          </p:txBody>
        </p:sp>
      </p:grpSp>
      <p:grpSp>
        <p:nvGrpSpPr>
          <p:cNvPr id="28" name="Gruppieren 27"/>
          <p:cNvGrpSpPr/>
          <p:nvPr userDrawn="1"/>
        </p:nvGrpSpPr>
        <p:grpSpPr>
          <a:xfrm>
            <a:off x="324000" y="3809388"/>
            <a:ext cx="1299600" cy="1299600"/>
            <a:chOff x="216000" y="2969382"/>
            <a:chExt cx="765542" cy="765543"/>
          </a:xfrm>
        </p:grpSpPr>
        <p:pic>
          <p:nvPicPr>
            <p:cNvPr id="29"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23714" y="3133080"/>
              <a:ext cx="361950" cy="4381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0" name="Donut 11"/>
            <p:cNvSpPr/>
            <p:nvPr userDrawn="1"/>
          </p:nvSpPr>
          <p:spPr bwMode="gray">
            <a:xfrm>
              <a:off x="216000" y="2969382"/>
              <a:ext cx="765542" cy="765543"/>
            </a:xfrm>
            <a:prstGeom prst="donut">
              <a:avLst>
                <a:gd name="adj" fmla="val 5979"/>
              </a:avLst>
            </a:prstGeom>
            <a:solidFill>
              <a:schemeClr val="accent1"/>
            </a:solidFill>
            <a:ln w="6350" algn="ctr">
              <a:solidFill>
                <a:schemeClr val="accent1"/>
              </a:solidFill>
              <a:miter lim="800000"/>
              <a:headEnd/>
              <a:tailEnd/>
            </a:ln>
          </p:spPr>
          <p:txBody>
            <a:bodyPr lIns="89863" tIns="71908" rIns="89863" bIns="71908" rtlCol="0" anchor="ctr"/>
            <a:lstStyle/>
            <a:p>
              <a:pPr algn="ctr" defTabSz="913003" fontAlgn="base">
                <a:spcBef>
                  <a:spcPct val="50000"/>
                </a:spcBef>
                <a:spcAft>
                  <a:spcPct val="0"/>
                </a:spcAft>
                <a:buClr>
                  <a:srgbClr val="F0AB00"/>
                </a:buClr>
                <a:buSzPct val="80000"/>
              </a:pPr>
              <a:endParaRPr lang="de-DE" sz="2000" kern="0">
                <a:ea typeface="Arial Unicode MS" pitchFamily="34" charset="-128"/>
                <a:cs typeface="Arial Unicode MS" pitchFamily="34" charset="-128"/>
              </a:endParaRPr>
            </a:p>
          </p:txBody>
        </p:sp>
      </p:grpSp>
      <p:grpSp>
        <p:nvGrpSpPr>
          <p:cNvPr id="31" name="Gruppieren 30"/>
          <p:cNvGrpSpPr/>
          <p:nvPr userDrawn="1"/>
        </p:nvGrpSpPr>
        <p:grpSpPr>
          <a:xfrm>
            <a:off x="1951753" y="1927906"/>
            <a:ext cx="9917447" cy="500901"/>
            <a:chOff x="1108399" y="1396713"/>
            <a:chExt cx="7030682" cy="404566"/>
          </a:xfrm>
        </p:grpSpPr>
        <p:sp>
          <p:nvSpPr>
            <p:cNvPr id="32" name="Rectangle 10"/>
            <p:cNvSpPr/>
            <p:nvPr userDrawn="1"/>
          </p:nvSpPr>
          <p:spPr>
            <a:xfrm>
              <a:off x="1108399" y="1396713"/>
              <a:ext cx="3835401" cy="298157"/>
            </a:xfrm>
            <a:prstGeom prst="rect">
              <a:avLst/>
            </a:prstGeom>
          </p:spPr>
          <p:txBody>
            <a:bodyPr wrap="square" lIns="91302" tIns="45630" rIns="91302" bIns="45630">
              <a:spAutoFit/>
            </a:bodyPr>
            <a:lstStyle/>
            <a:p>
              <a:r>
                <a:rPr lang="en-US" sz="1800" b="1" noProof="0">
                  <a:solidFill>
                    <a:schemeClr val="tx1"/>
                  </a:solidFill>
                  <a:latin typeface="+mj-lt"/>
                </a:rPr>
                <a:t>Authors</a:t>
              </a:r>
              <a:endParaRPr lang="en-US" sz="1200" b="1" noProof="0">
                <a:solidFill>
                  <a:schemeClr val="tx1"/>
                </a:solidFill>
                <a:latin typeface="+mj-lt"/>
              </a:endParaRPr>
            </a:p>
          </p:txBody>
        </p:sp>
        <p:cxnSp>
          <p:nvCxnSpPr>
            <p:cNvPr id="33" name="Straight Connector 12"/>
            <p:cNvCxnSpPr/>
            <p:nvPr userDrawn="1"/>
          </p:nvCxnSpPr>
          <p:spPr>
            <a:xfrm flipV="1">
              <a:off x="1197563" y="1776441"/>
              <a:ext cx="6941518" cy="24838"/>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34" name="Textplatzhalter 21"/>
          <p:cNvSpPr>
            <a:spLocks noGrp="1"/>
          </p:cNvSpPr>
          <p:nvPr>
            <p:ph type="body" sz="quarter" idx="15" hasCustomPrompt="1"/>
          </p:nvPr>
        </p:nvSpPr>
        <p:spPr>
          <a:xfrm>
            <a:off x="2038856" y="2624439"/>
            <a:ext cx="9830344" cy="1319928"/>
          </a:xfrm>
          <a:prstGeom prst="rect">
            <a:avLst/>
          </a:prstGeom>
        </p:spPr>
        <p:txBody>
          <a:bodyPr anchor="t" anchorCtr="0"/>
          <a:lstStyle>
            <a:lvl1pPr marL="266400" indent="-194400">
              <a:lnSpc>
                <a:spcPct val="100000"/>
              </a:lnSpc>
              <a:spcBef>
                <a:spcPts val="0"/>
              </a:spcBef>
              <a:spcAft>
                <a:spcPts val="0"/>
              </a:spcAft>
              <a:buClr>
                <a:schemeClr val="bg1">
                  <a:lumMod val="75000"/>
                </a:schemeClr>
              </a:buClr>
              <a:buSzPct val="100000"/>
              <a:buFont typeface="Wingdings" panose="05000000000000000000" pitchFamily="2" charset="2"/>
              <a:buChar char="§"/>
              <a:defRPr sz="18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&lt;Author&gt;</a:t>
            </a:r>
          </a:p>
          <a:p>
            <a:pPr lvl="0"/>
            <a:r>
              <a:rPr lang="en-US" dirty="0"/>
              <a:t>&lt;Author&gt;</a:t>
            </a:r>
          </a:p>
          <a:p>
            <a:pPr lvl="0"/>
            <a:r>
              <a:rPr lang="en-US" dirty="0"/>
              <a:t>&lt;Author&gt;</a:t>
            </a:r>
          </a:p>
        </p:txBody>
      </p:sp>
      <p:grpSp>
        <p:nvGrpSpPr>
          <p:cNvPr id="35" name="Gruppieren 34"/>
          <p:cNvGrpSpPr/>
          <p:nvPr userDrawn="1"/>
        </p:nvGrpSpPr>
        <p:grpSpPr>
          <a:xfrm>
            <a:off x="1957853" y="4230977"/>
            <a:ext cx="9911347" cy="500901"/>
            <a:chOff x="1108399" y="1396713"/>
            <a:chExt cx="7030682" cy="404566"/>
          </a:xfrm>
        </p:grpSpPr>
        <p:sp>
          <p:nvSpPr>
            <p:cNvPr id="36" name="Rectangle 10"/>
            <p:cNvSpPr/>
            <p:nvPr userDrawn="1"/>
          </p:nvSpPr>
          <p:spPr>
            <a:xfrm>
              <a:off x="1108399" y="1396713"/>
              <a:ext cx="3835401" cy="298157"/>
            </a:xfrm>
            <a:prstGeom prst="rect">
              <a:avLst/>
            </a:prstGeom>
          </p:spPr>
          <p:txBody>
            <a:bodyPr wrap="square" lIns="91302" tIns="45630" rIns="91302" bIns="45630">
              <a:spAutoFit/>
            </a:bodyPr>
            <a:lstStyle/>
            <a:p>
              <a:r>
                <a:rPr lang="en-US" sz="1800" b="1" noProof="0">
                  <a:solidFill>
                    <a:schemeClr val="tx1"/>
                  </a:solidFill>
                  <a:latin typeface="+mj-lt"/>
                </a:rPr>
                <a:t>Target Audience</a:t>
              </a:r>
              <a:endParaRPr lang="en-US" sz="1200" b="1" noProof="0">
                <a:solidFill>
                  <a:schemeClr val="tx1"/>
                </a:solidFill>
                <a:latin typeface="+mj-lt"/>
              </a:endParaRPr>
            </a:p>
          </p:txBody>
        </p:sp>
        <p:cxnSp>
          <p:nvCxnSpPr>
            <p:cNvPr id="37" name="Straight Connector 12"/>
            <p:cNvCxnSpPr/>
            <p:nvPr userDrawn="1"/>
          </p:nvCxnSpPr>
          <p:spPr>
            <a:xfrm flipV="1">
              <a:off x="1197563" y="1776441"/>
              <a:ext cx="6941518" cy="24838"/>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38" name="Textplatzhalter 21"/>
          <p:cNvSpPr>
            <a:spLocks noGrp="1"/>
          </p:cNvSpPr>
          <p:nvPr>
            <p:ph type="body" sz="quarter" idx="16" hasCustomPrompt="1"/>
          </p:nvPr>
        </p:nvSpPr>
        <p:spPr>
          <a:xfrm>
            <a:off x="2044953" y="4927509"/>
            <a:ext cx="9824247" cy="1319928"/>
          </a:xfrm>
          <a:prstGeom prst="rect">
            <a:avLst/>
          </a:prstGeom>
        </p:spPr>
        <p:txBody>
          <a:bodyPr anchor="t" anchorCtr="0"/>
          <a:lstStyle>
            <a:lvl1pPr marL="266400" indent="-194400">
              <a:lnSpc>
                <a:spcPct val="100000"/>
              </a:lnSpc>
              <a:spcBef>
                <a:spcPts val="0"/>
              </a:spcBef>
              <a:spcAft>
                <a:spcPts val="0"/>
              </a:spcAft>
              <a:buClr>
                <a:schemeClr val="bg1">
                  <a:lumMod val="75000"/>
                </a:schemeClr>
              </a:buClr>
              <a:buSzPct val="100000"/>
              <a:buFont typeface="Wingdings" panose="05000000000000000000" pitchFamily="2" charset="2"/>
              <a:buChar char="§"/>
              <a:defRPr sz="18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&lt;Target audience&gt;</a:t>
            </a:r>
          </a:p>
          <a:p>
            <a:pPr lvl="0"/>
            <a:r>
              <a:rPr lang="en-US" dirty="0"/>
              <a:t>&lt;Target audience&gt;</a:t>
            </a:r>
          </a:p>
          <a:p>
            <a:pPr lvl="0"/>
            <a:r>
              <a:rPr lang="en-US" dirty="0"/>
              <a:t>&lt;Target audience&gt;</a:t>
            </a:r>
          </a:p>
        </p:txBody>
      </p:sp>
    </p:spTree>
    <p:extLst>
      <p:ext uri="{BB962C8B-B14F-4D97-AF65-F5344CB8AC3E}">
        <p14:creationId xmlns:p14="http://schemas.microsoft.com/office/powerpoint/2010/main" val="2738841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odule information II">
    <p:spTree>
      <p:nvGrpSpPr>
        <p:cNvPr id="1" name=""/>
        <p:cNvGrpSpPr/>
        <p:nvPr/>
      </p:nvGrpSpPr>
      <p:grpSpPr>
        <a:xfrm>
          <a:off x="0" y="0"/>
          <a:ext cx="0" cy="0"/>
          <a:chOff x="0" y="0"/>
          <a:chExt cx="0" cy="0"/>
        </a:xfrm>
      </p:grpSpPr>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a:solidFill>
                  <a:schemeClr val="accent2"/>
                </a:solidFill>
                <a:latin typeface="+mj-lt"/>
                <a:ea typeface="Arial Unicode MS" pitchFamily="34" charset="-128"/>
                <a:cs typeface="Arial Unicode MS" pitchFamily="34" charset="-128"/>
              </a:rPr>
              <a:t>Module</a:t>
            </a:r>
            <a:r>
              <a:rPr lang="en-US" sz="2400" b="1" kern="0" baseline="0" noProof="0">
                <a:solidFill>
                  <a:schemeClr val="accent2"/>
                </a:solidFill>
                <a:latin typeface="+mj-lt"/>
                <a:ea typeface="Arial Unicode MS" pitchFamily="34" charset="-128"/>
                <a:cs typeface="Arial Unicode MS" pitchFamily="34" charset="-128"/>
              </a:rPr>
              <a:t> Information</a:t>
            </a:r>
            <a:endParaRPr lang="en-US" sz="2400" b="1" kern="0" noProof="0">
              <a:solidFill>
                <a:schemeClr val="accent2"/>
              </a:solidFill>
              <a:latin typeface="+mj-lt"/>
              <a:ea typeface="Arial Unicode MS" pitchFamily="34" charset="-128"/>
              <a:cs typeface="Arial Unicode MS" pitchFamily="34" charset="-128"/>
            </a:endParaRPr>
          </a:p>
        </p:txBody>
      </p:sp>
      <p:grpSp>
        <p:nvGrpSpPr>
          <p:cNvPr id="3" name="Gruppieren 2"/>
          <p:cNvGrpSpPr/>
          <p:nvPr userDrawn="1"/>
        </p:nvGrpSpPr>
        <p:grpSpPr>
          <a:xfrm>
            <a:off x="324000" y="1503256"/>
            <a:ext cx="1299600" cy="1299600"/>
            <a:chOff x="214040" y="1152039"/>
            <a:chExt cx="765542" cy="765543"/>
          </a:xfrm>
        </p:grpSpPr>
        <p:sp>
          <p:nvSpPr>
            <p:cNvPr id="4" name="Donut 11"/>
            <p:cNvSpPr/>
            <p:nvPr userDrawn="1"/>
          </p:nvSpPr>
          <p:spPr bwMode="gray">
            <a:xfrm>
              <a:off x="214040" y="1152039"/>
              <a:ext cx="765542" cy="765543"/>
            </a:xfrm>
            <a:prstGeom prst="donut">
              <a:avLst>
                <a:gd name="adj" fmla="val 5979"/>
              </a:avLst>
            </a:prstGeom>
            <a:solidFill>
              <a:schemeClr val="accent1"/>
            </a:solidFill>
            <a:ln w="6350" algn="ctr">
              <a:solidFill>
                <a:schemeClr val="accent1"/>
              </a:solidFill>
              <a:miter lim="800000"/>
              <a:headEnd/>
              <a:tailEnd/>
            </a:ln>
          </p:spPr>
          <p:txBody>
            <a:bodyPr lIns="89863" tIns="71908" rIns="89863" bIns="71908" rtlCol="0" anchor="ctr"/>
            <a:lstStyle/>
            <a:p>
              <a:pPr algn="ctr" defTabSz="913003" fontAlgn="base">
                <a:spcBef>
                  <a:spcPct val="50000"/>
                </a:spcBef>
                <a:spcAft>
                  <a:spcPct val="0"/>
                </a:spcAft>
                <a:buClr>
                  <a:srgbClr val="F0AB00"/>
                </a:buClr>
                <a:buSzPct val="80000"/>
              </a:pPr>
              <a:endParaRPr lang="de-DE" sz="2000" kern="0">
                <a:ea typeface="Arial Unicode MS" pitchFamily="34" charset="-128"/>
                <a:cs typeface="Arial Unicode MS" pitchFamily="34" charset="-128"/>
              </a:endParaRPr>
            </a:p>
          </p:txBody>
        </p:sp>
        <p:pic>
          <p:nvPicPr>
            <p:cNvPr id="6" name="Picture 4"/>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33487" y="1313261"/>
              <a:ext cx="352425" cy="381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7" name="Gruppieren 6"/>
          <p:cNvGrpSpPr/>
          <p:nvPr userDrawn="1"/>
        </p:nvGrpSpPr>
        <p:grpSpPr>
          <a:xfrm>
            <a:off x="1951753" y="1927906"/>
            <a:ext cx="9917447" cy="500901"/>
            <a:chOff x="1108399" y="1396713"/>
            <a:chExt cx="7030682" cy="404566"/>
          </a:xfrm>
        </p:grpSpPr>
        <p:sp>
          <p:nvSpPr>
            <p:cNvPr id="8" name="Rectangle 10"/>
            <p:cNvSpPr/>
            <p:nvPr userDrawn="1"/>
          </p:nvSpPr>
          <p:spPr>
            <a:xfrm>
              <a:off x="1108399" y="1396713"/>
              <a:ext cx="3835401" cy="298154"/>
            </a:xfrm>
            <a:prstGeom prst="rect">
              <a:avLst/>
            </a:prstGeom>
          </p:spPr>
          <p:txBody>
            <a:bodyPr wrap="square" lIns="91302" tIns="45630" rIns="91302" bIns="45630">
              <a:spAutoFit/>
            </a:bodyPr>
            <a:lstStyle/>
            <a:p>
              <a:r>
                <a:rPr lang="en-US" sz="1800" b="1" kern="1200" noProof="0">
                  <a:solidFill>
                    <a:schemeClr val="tx1"/>
                  </a:solidFill>
                  <a:latin typeface="Arial"/>
                  <a:ea typeface="+mn-ea"/>
                  <a:cs typeface="+mn-cs"/>
                </a:rPr>
                <a:t>Learning Objectives</a:t>
              </a:r>
            </a:p>
          </p:txBody>
        </p:sp>
        <p:cxnSp>
          <p:nvCxnSpPr>
            <p:cNvPr id="9" name="Straight Connector 12"/>
            <p:cNvCxnSpPr/>
            <p:nvPr userDrawn="1"/>
          </p:nvCxnSpPr>
          <p:spPr>
            <a:xfrm flipV="1">
              <a:off x="1197563" y="1776441"/>
              <a:ext cx="6941518" cy="24838"/>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grpSp>
      <p:sp>
        <p:nvSpPr>
          <p:cNvPr id="10" name="Textplatzhalter 21"/>
          <p:cNvSpPr>
            <a:spLocks noGrp="1"/>
          </p:cNvSpPr>
          <p:nvPr>
            <p:ph type="body" sz="quarter" idx="15" hasCustomPrompt="1"/>
          </p:nvPr>
        </p:nvSpPr>
        <p:spPr>
          <a:xfrm>
            <a:off x="2038856" y="2624439"/>
            <a:ext cx="9830344" cy="1319928"/>
          </a:xfrm>
          <a:prstGeom prst="rect">
            <a:avLst/>
          </a:prstGeom>
        </p:spPr>
        <p:txBody>
          <a:bodyPr anchor="t" anchorCtr="0"/>
          <a:lstStyle>
            <a:lvl1pPr marL="266400" indent="-194400">
              <a:lnSpc>
                <a:spcPct val="100000"/>
              </a:lnSpc>
              <a:spcBef>
                <a:spcPts val="0"/>
              </a:spcBef>
              <a:spcAft>
                <a:spcPts val="0"/>
              </a:spcAft>
              <a:buClr>
                <a:schemeClr val="bg1">
                  <a:lumMod val="75000"/>
                </a:schemeClr>
              </a:buClr>
              <a:buSzPct val="100000"/>
              <a:buFont typeface="Wingdings" panose="05000000000000000000" pitchFamily="2" charset="2"/>
              <a:buChar char="§"/>
              <a:defRPr sz="18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&lt;Learning objective&gt;</a:t>
            </a:r>
          </a:p>
          <a:p>
            <a:pPr lvl="0"/>
            <a:r>
              <a:rPr lang="en-US" dirty="0"/>
              <a:t>&lt;Learning objective&gt;</a:t>
            </a:r>
          </a:p>
          <a:p>
            <a:pPr lvl="0"/>
            <a:r>
              <a:rPr lang="en-US" dirty="0"/>
              <a:t>&lt;Learning objective&gt;</a:t>
            </a:r>
          </a:p>
        </p:txBody>
      </p:sp>
    </p:spTree>
    <p:extLst>
      <p:ext uri="{BB962C8B-B14F-4D97-AF65-F5344CB8AC3E}">
        <p14:creationId xmlns:p14="http://schemas.microsoft.com/office/powerpoint/2010/main" val="1014866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&lt;Agenda&gt;</a:t>
            </a:r>
          </a:p>
        </p:txBody>
      </p:sp>
      <p:sp>
        <p:nvSpPr>
          <p:cNvPr id="5" name="Text Placeholder 2"/>
          <p:cNvSpPr>
            <a:spLocks noGrp="1"/>
          </p:cNvSpPr>
          <p:nvPr>
            <p:ph idx="1"/>
          </p:nvPr>
        </p:nvSpPr>
        <p:spPr bwMode="gray">
          <a:xfrm>
            <a:off x="324000" y="1691079"/>
            <a:ext cx="1154520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Tree>
    <p:extLst>
      <p:ext uri="{BB962C8B-B14F-4D97-AF65-F5344CB8AC3E}">
        <p14:creationId xmlns:p14="http://schemas.microsoft.com/office/powerpoint/2010/main" val="2680609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el und Text">
    <p:spTree>
      <p:nvGrpSpPr>
        <p:cNvPr id="1" name=""/>
        <p:cNvGrpSpPr/>
        <p:nvPr/>
      </p:nvGrpSpPr>
      <p:grpSpPr>
        <a:xfrm>
          <a:off x="0" y="0"/>
          <a:ext cx="0" cy="0"/>
          <a:chOff x="0" y="0"/>
          <a:chExt cx="0" cy="0"/>
        </a:xfrm>
      </p:grpSpPr>
      <p:sp>
        <p:nvSpPr>
          <p:cNvPr id="5" name="Text Placeholder 2"/>
          <p:cNvSpPr>
            <a:spLocks noGrp="1"/>
          </p:cNvSpPr>
          <p:nvPr>
            <p:ph idx="1"/>
          </p:nvPr>
        </p:nvSpPr>
        <p:spPr bwMode="gray">
          <a:xfrm>
            <a:off x="324000" y="1691079"/>
            <a:ext cx="1154520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p:txBody>
          <a:bodyPr/>
          <a:lstStyle>
            <a:lvl1pPr>
              <a:defRPr/>
            </a:lvl1pPr>
          </a:lstStyle>
          <a:p>
            <a:r>
              <a:rPr lang="en-US" noProof="0" dirty="0"/>
              <a:t>&lt;Page title&gt;</a:t>
            </a:r>
            <a:endParaRPr lang="en-US" dirty="0"/>
          </a:p>
        </p:txBody>
      </p:sp>
    </p:spTree>
    <p:extLst>
      <p:ext uri="{BB962C8B-B14F-4D97-AF65-F5344CB8AC3E}">
        <p14:creationId xmlns:p14="http://schemas.microsoft.com/office/powerpoint/2010/main" val="38710372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7" name="Text Placeholder 2"/>
          <p:cNvSpPr>
            <a:spLocks noGrp="1"/>
          </p:cNvSpPr>
          <p:nvPr>
            <p:ph idx="12"/>
          </p:nvPr>
        </p:nvSpPr>
        <p:spPr bwMode="gray">
          <a:xfrm>
            <a:off x="6208016" y="1691079"/>
            <a:ext cx="5661184"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6" name="Text Placeholder 2"/>
          <p:cNvSpPr>
            <a:spLocks noGrp="1"/>
          </p:cNvSpPr>
          <p:nvPr>
            <p:ph idx="1"/>
          </p:nvPr>
        </p:nvSpPr>
        <p:spPr bwMode="gray">
          <a:xfrm>
            <a:off x="324000" y="1691079"/>
            <a:ext cx="566280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p:txBody>
          <a:bodyPr/>
          <a:lstStyle/>
          <a:p>
            <a:r>
              <a:rPr lang="en-US" noProof="0" dirty="0"/>
              <a:t>&lt;Page title&gt;</a:t>
            </a:r>
            <a:endParaRPr lang="en-US" dirty="0"/>
          </a:p>
        </p:txBody>
      </p:sp>
    </p:spTree>
    <p:extLst>
      <p:ext uri="{BB962C8B-B14F-4D97-AF65-F5344CB8AC3E}">
        <p14:creationId xmlns:p14="http://schemas.microsoft.com/office/powerpoint/2010/main" val="1080573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9" name="Text Placeholder 2"/>
          <p:cNvSpPr>
            <a:spLocks noGrp="1"/>
          </p:cNvSpPr>
          <p:nvPr>
            <p:ph idx="14"/>
          </p:nvPr>
        </p:nvSpPr>
        <p:spPr bwMode="gray">
          <a:xfrm>
            <a:off x="8133316" y="1691079"/>
            <a:ext cx="3735883"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8" name="Text Placeholder 2"/>
          <p:cNvSpPr>
            <a:spLocks noGrp="1"/>
          </p:cNvSpPr>
          <p:nvPr>
            <p:ph idx="13"/>
          </p:nvPr>
        </p:nvSpPr>
        <p:spPr bwMode="gray">
          <a:xfrm>
            <a:off x="4228658" y="1691079"/>
            <a:ext cx="374040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6" name="Text Placeholder 2"/>
          <p:cNvSpPr>
            <a:spLocks noGrp="1"/>
          </p:cNvSpPr>
          <p:nvPr>
            <p:ph idx="1"/>
          </p:nvPr>
        </p:nvSpPr>
        <p:spPr bwMode="gray">
          <a:xfrm>
            <a:off x="324000" y="1691079"/>
            <a:ext cx="3740399"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a:xfrm>
            <a:off x="324000" y="324075"/>
            <a:ext cx="11545200" cy="756175"/>
          </a:xfrm>
        </p:spPr>
        <p:txBody>
          <a:bodyPr/>
          <a:lstStyle/>
          <a:p>
            <a:r>
              <a:rPr lang="en-US" noProof="0" dirty="0"/>
              <a:t>&lt;Page title&gt;</a:t>
            </a:r>
            <a:endParaRPr lang="en-US" dirty="0"/>
          </a:p>
        </p:txBody>
      </p:sp>
    </p:spTree>
    <p:extLst>
      <p:ext uri="{BB962C8B-B14F-4D97-AF65-F5344CB8AC3E}">
        <p14:creationId xmlns:p14="http://schemas.microsoft.com/office/powerpoint/2010/main" val="6800778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Text with picture right 1">
    <p:spTree>
      <p:nvGrpSpPr>
        <p:cNvPr id="1" name=""/>
        <p:cNvGrpSpPr/>
        <p:nvPr/>
      </p:nvGrpSpPr>
      <p:grpSpPr>
        <a:xfrm>
          <a:off x="0" y="0"/>
          <a:ext cx="0" cy="0"/>
          <a:chOff x="0" y="0"/>
          <a:chExt cx="0" cy="0"/>
        </a:xfrm>
      </p:grpSpPr>
      <p:sp>
        <p:nvSpPr>
          <p:cNvPr id="6" name="Text Placeholder 2"/>
          <p:cNvSpPr>
            <a:spLocks noGrp="1"/>
          </p:cNvSpPr>
          <p:nvPr>
            <p:ph idx="1"/>
          </p:nvPr>
        </p:nvSpPr>
        <p:spPr bwMode="gray">
          <a:xfrm>
            <a:off x="324000" y="1691079"/>
            <a:ext cx="714995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bwMode="gray"/>
        <p:txBody>
          <a:bodyPr/>
          <a:lstStyle>
            <a:lvl1pPr>
              <a:defRPr/>
            </a:lvl1pPr>
          </a:lstStyle>
          <a:p>
            <a:r>
              <a:rPr lang="en-US" noProof="0" dirty="0"/>
              <a:t>&lt;Page title&gt;</a:t>
            </a:r>
            <a:endParaRPr lang="en-US" dirty="0"/>
          </a:p>
        </p:txBody>
      </p:sp>
      <p:sp>
        <p:nvSpPr>
          <p:cNvPr id="5" name="Picture Placeholder 4"/>
          <p:cNvSpPr>
            <a:spLocks noGrp="1"/>
          </p:cNvSpPr>
          <p:nvPr>
            <p:ph type="pic" sz="quarter" idx="10"/>
          </p:nvPr>
        </p:nvSpPr>
        <p:spPr bwMode="gray">
          <a:xfrm>
            <a:off x="7639050" y="1691079"/>
            <a:ext cx="4232275" cy="4392042"/>
          </a:xfrm>
          <a:solidFill>
            <a:schemeClr val="bg1">
              <a:lumMod val="95000"/>
            </a:schemeClr>
          </a:solidFill>
        </p:spPr>
        <p:txBody>
          <a:bodyPr tIns="1543147" anchor="t" anchorCtr="0"/>
          <a:lstStyle>
            <a:lvl1pPr algn="ctr">
              <a:defRPr b="0"/>
            </a:lvl1pPr>
          </a:lstStyle>
          <a:p>
            <a:r>
              <a:rPr lang="de-DE"/>
              <a:t>Bild durch Klicken auf Symbol hinzufügen</a:t>
            </a:r>
            <a:endParaRPr lang="en-US"/>
          </a:p>
        </p:txBody>
      </p:sp>
    </p:spTree>
    <p:extLst>
      <p:ext uri="{BB962C8B-B14F-4D97-AF65-F5344CB8AC3E}">
        <p14:creationId xmlns:p14="http://schemas.microsoft.com/office/powerpoint/2010/main" val="13226966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ext with picture right 2">
    <p:spTree>
      <p:nvGrpSpPr>
        <p:cNvPr id="1" name=""/>
        <p:cNvGrpSpPr/>
        <p:nvPr/>
      </p:nvGrpSpPr>
      <p:grpSpPr>
        <a:xfrm>
          <a:off x="0" y="0"/>
          <a:ext cx="0" cy="0"/>
          <a:chOff x="0" y="0"/>
          <a:chExt cx="0" cy="0"/>
        </a:xfrm>
      </p:grpSpPr>
      <p:sp>
        <p:nvSpPr>
          <p:cNvPr id="6" name="Text Placeholder 2"/>
          <p:cNvSpPr>
            <a:spLocks noGrp="1"/>
          </p:cNvSpPr>
          <p:nvPr>
            <p:ph idx="1"/>
          </p:nvPr>
        </p:nvSpPr>
        <p:spPr bwMode="gray">
          <a:xfrm>
            <a:off x="324000" y="1691079"/>
            <a:ext cx="566280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bwMode="gray"/>
        <p:txBody>
          <a:bodyPr/>
          <a:lstStyle>
            <a:lvl1pPr>
              <a:defRPr/>
            </a:lvl1pPr>
          </a:lstStyle>
          <a:p>
            <a:r>
              <a:rPr lang="en-US" noProof="0" dirty="0"/>
              <a:t>&lt;Page title&gt;</a:t>
            </a:r>
            <a:endParaRPr lang="en-US" dirty="0"/>
          </a:p>
        </p:txBody>
      </p:sp>
      <p:sp>
        <p:nvSpPr>
          <p:cNvPr id="5" name="Picture Placeholder 4"/>
          <p:cNvSpPr>
            <a:spLocks noGrp="1"/>
          </p:cNvSpPr>
          <p:nvPr>
            <p:ph type="pic" sz="quarter" idx="10"/>
          </p:nvPr>
        </p:nvSpPr>
        <p:spPr bwMode="gray">
          <a:xfrm>
            <a:off x="6208016" y="1692392"/>
            <a:ext cx="5662800"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de-DE"/>
              <a:t>Bild durch Klicken auf Symbol hinzufügen</a:t>
            </a:r>
            <a:endParaRPr lang="en-US"/>
          </a:p>
        </p:txBody>
      </p:sp>
    </p:spTree>
    <p:extLst>
      <p:ext uri="{BB962C8B-B14F-4D97-AF65-F5344CB8AC3E}">
        <p14:creationId xmlns:p14="http://schemas.microsoft.com/office/powerpoint/2010/main" val="27170796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Text with picture right 3">
    <p:spTree>
      <p:nvGrpSpPr>
        <p:cNvPr id="1" name=""/>
        <p:cNvGrpSpPr/>
        <p:nvPr/>
      </p:nvGrpSpPr>
      <p:grpSpPr>
        <a:xfrm>
          <a:off x="0" y="0"/>
          <a:ext cx="0" cy="0"/>
          <a:chOff x="0" y="0"/>
          <a:chExt cx="0" cy="0"/>
        </a:xfrm>
      </p:grpSpPr>
      <p:sp>
        <p:nvSpPr>
          <p:cNvPr id="6" name="Text Placeholder 2"/>
          <p:cNvSpPr>
            <a:spLocks noGrp="1"/>
          </p:cNvSpPr>
          <p:nvPr>
            <p:ph idx="1"/>
          </p:nvPr>
        </p:nvSpPr>
        <p:spPr bwMode="gray">
          <a:xfrm>
            <a:off x="324000" y="1691079"/>
            <a:ext cx="4224188"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bwMode="gray"/>
        <p:txBody>
          <a:bodyPr/>
          <a:lstStyle>
            <a:lvl1pPr>
              <a:defRPr/>
            </a:lvl1pPr>
          </a:lstStyle>
          <a:p>
            <a:r>
              <a:rPr lang="en-US" noProof="0" dirty="0"/>
              <a:t>&lt;Page title&gt;</a:t>
            </a:r>
            <a:endParaRPr lang="en-US" dirty="0"/>
          </a:p>
        </p:txBody>
      </p:sp>
      <p:sp>
        <p:nvSpPr>
          <p:cNvPr id="5" name="Picture Placeholder 4"/>
          <p:cNvSpPr>
            <a:spLocks noGrp="1"/>
          </p:cNvSpPr>
          <p:nvPr>
            <p:ph type="pic" sz="quarter" idx="10"/>
          </p:nvPr>
        </p:nvSpPr>
        <p:spPr bwMode="gray">
          <a:xfrm>
            <a:off x="4706938" y="1692392"/>
            <a:ext cx="7164387"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de-DE"/>
              <a:t>Bild durch Klicken auf Symbol hinzufügen</a:t>
            </a:r>
            <a:endParaRPr lang="en-US"/>
          </a:p>
        </p:txBody>
      </p:sp>
    </p:spTree>
    <p:extLst>
      <p:ext uri="{BB962C8B-B14F-4D97-AF65-F5344CB8AC3E}">
        <p14:creationId xmlns:p14="http://schemas.microsoft.com/office/powerpoint/2010/main" val="2525883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Text with picture: 2 columns">
    <p:spTree>
      <p:nvGrpSpPr>
        <p:cNvPr id="1" name=""/>
        <p:cNvGrpSpPr/>
        <p:nvPr/>
      </p:nvGrpSpPr>
      <p:grpSpPr>
        <a:xfrm>
          <a:off x="0" y="0"/>
          <a:ext cx="0" cy="0"/>
          <a:chOff x="0" y="0"/>
          <a:chExt cx="0" cy="0"/>
        </a:xfrm>
      </p:grpSpPr>
      <p:sp>
        <p:nvSpPr>
          <p:cNvPr id="8" name="Text Placeholder 2"/>
          <p:cNvSpPr>
            <a:spLocks noGrp="1"/>
          </p:cNvSpPr>
          <p:nvPr>
            <p:ph idx="17"/>
          </p:nvPr>
        </p:nvSpPr>
        <p:spPr bwMode="gray">
          <a:xfrm>
            <a:off x="6208016" y="1691079"/>
            <a:ext cx="5661184" cy="1721199"/>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7" name="Text Placeholder 2"/>
          <p:cNvSpPr>
            <a:spLocks noGrp="1"/>
          </p:cNvSpPr>
          <p:nvPr>
            <p:ph idx="1"/>
          </p:nvPr>
        </p:nvSpPr>
        <p:spPr bwMode="gray">
          <a:xfrm>
            <a:off x="324000" y="1691079"/>
            <a:ext cx="5662800" cy="1721199"/>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2" name="Title 1"/>
          <p:cNvSpPr>
            <a:spLocks noGrp="1"/>
          </p:cNvSpPr>
          <p:nvPr>
            <p:ph type="title" hasCustomPrompt="1"/>
          </p:nvPr>
        </p:nvSpPr>
        <p:spPr/>
        <p:txBody>
          <a:bodyPr/>
          <a:lstStyle/>
          <a:p>
            <a:r>
              <a:rPr lang="en-US" noProof="0" dirty="0"/>
              <a:t>&lt;Page title&gt;</a:t>
            </a:r>
            <a:endParaRPr lang="en-US" dirty="0"/>
          </a:p>
        </p:txBody>
      </p:sp>
      <p:sp>
        <p:nvSpPr>
          <p:cNvPr id="9" name="Picture Placeholder 4"/>
          <p:cNvSpPr>
            <a:spLocks noGrp="1"/>
          </p:cNvSpPr>
          <p:nvPr>
            <p:ph type="pic" sz="quarter" idx="15"/>
          </p:nvPr>
        </p:nvSpPr>
        <p:spPr bwMode="gray">
          <a:xfrm>
            <a:off x="324000" y="3574318"/>
            <a:ext cx="5662800" cy="2508804"/>
          </a:xfrm>
          <a:solidFill>
            <a:schemeClr val="bg1">
              <a:lumMod val="95000"/>
            </a:schemeClr>
          </a:solidFill>
        </p:spPr>
        <p:txBody>
          <a:bodyPr tIns="600113" anchor="t" anchorCtr="0"/>
          <a:lstStyle>
            <a:lvl1pPr algn="ctr">
              <a:defRPr b="0"/>
            </a:lvl1pPr>
          </a:lstStyle>
          <a:p>
            <a:r>
              <a:rPr lang="de-DE"/>
              <a:t>Bild durch Klicken auf Symbol hinzufügen</a:t>
            </a:r>
            <a:endParaRPr lang="en-US"/>
          </a:p>
        </p:txBody>
      </p:sp>
      <p:sp>
        <p:nvSpPr>
          <p:cNvPr id="11" name="Picture Placeholder 4"/>
          <p:cNvSpPr>
            <a:spLocks noGrp="1"/>
          </p:cNvSpPr>
          <p:nvPr>
            <p:ph type="pic" sz="quarter" idx="16"/>
          </p:nvPr>
        </p:nvSpPr>
        <p:spPr bwMode="gray">
          <a:xfrm>
            <a:off x="6208016" y="3574318"/>
            <a:ext cx="5662800" cy="2508804"/>
          </a:xfrm>
          <a:solidFill>
            <a:schemeClr val="bg1">
              <a:lumMod val="95000"/>
            </a:schemeClr>
          </a:solidFill>
        </p:spPr>
        <p:txBody>
          <a:bodyPr tIns="600113" anchor="t" anchorCtr="0"/>
          <a:lstStyle>
            <a:lvl1pPr algn="ctr">
              <a:defRPr b="0"/>
            </a:lvl1pPr>
          </a:lstStyle>
          <a:p>
            <a:r>
              <a:rPr lang="de-DE"/>
              <a:t>Bild durch Klicken auf Symbol hinzufügen</a:t>
            </a:r>
            <a:endParaRPr lang="en-US"/>
          </a:p>
        </p:txBody>
      </p:sp>
    </p:spTree>
    <p:extLst>
      <p:ext uri="{BB962C8B-B14F-4D97-AF65-F5344CB8AC3E}">
        <p14:creationId xmlns:p14="http://schemas.microsoft.com/office/powerpoint/2010/main" val="27202932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Contact / Thank You">
    <p:bg bwMode="gray">
      <p:bgRef idx="1001">
        <a:schemeClr val="bg1"/>
      </p:bgRef>
    </p:bg>
    <p:spTree>
      <p:nvGrpSpPr>
        <p:cNvPr id="1" name=""/>
        <p:cNvGrpSpPr/>
        <p:nvPr/>
      </p:nvGrpSpPr>
      <p:grpSpPr>
        <a:xfrm>
          <a:off x="0" y="0"/>
          <a:ext cx="0" cy="0"/>
          <a:chOff x="0" y="0"/>
          <a:chExt cx="0" cy="0"/>
        </a:xfrm>
      </p:grpSpPr>
      <p:sp>
        <p:nvSpPr>
          <p:cNvPr id="7" name="Rectangle 6"/>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err="1">
              <a:ln>
                <a:noFill/>
              </a:ln>
              <a:effectLst/>
              <a:uLnTx/>
              <a:uFillTx/>
              <a:ea typeface="Arial Unicode MS" pitchFamily="34" charset="-128"/>
              <a:cs typeface="Arial Unicode MS" pitchFamily="34" charset="-128"/>
            </a:endParaRPr>
          </a:p>
        </p:txBody>
      </p:sp>
      <p:pic>
        <p:nvPicPr>
          <p:cNvPr id="6" name="Picture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5437" y="478741"/>
            <a:ext cx="1833518" cy="907200"/>
          </a:xfrm>
          <a:prstGeom prst="rect">
            <a:avLst/>
          </a:prstGeom>
        </p:spPr>
      </p:pic>
      <p:sp>
        <p:nvSpPr>
          <p:cNvPr id="8" name="Textfeld 7"/>
          <p:cNvSpPr txBox="1"/>
          <p:nvPr userDrawn="1"/>
        </p:nvSpPr>
        <p:spPr>
          <a:xfrm>
            <a:off x="324000" y="2061275"/>
            <a:ext cx="11545200" cy="923330"/>
          </a:xfrm>
          <a:prstGeom prst="rect">
            <a:avLst/>
          </a:prstGeom>
          <a:noFill/>
        </p:spPr>
        <p:txBody>
          <a:bodyPr wrap="square" lIns="0" tIns="0" rIns="0" bIns="0" rtlCol="0">
            <a:spAutoFit/>
          </a:bodyPr>
          <a:lstStyle/>
          <a:p>
            <a:pPr algn="ctr" fontAlgn="base">
              <a:spcBef>
                <a:spcPts val="600"/>
              </a:spcBef>
              <a:spcAft>
                <a:spcPct val="0"/>
              </a:spcAft>
              <a:buClr>
                <a:srgbClr val="F0AB00"/>
              </a:buClr>
              <a:buSzPct val="80000"/>
            </a:pPr>
            <a:r>
              <a:rPr lang="en-US" sz="6000" noProof="0"/>
              <a:t>Thank</a:t>
            </a:r>
            <a:r>
              <a:rPr lang="en-US" sz="6000" baseline="0" noProof="0"/>
              <a:t> you</a:t>
            </a:r>
            <a:r>
              <a:rPr lang="en-US" sz="6000" noProof="0"/>
              <a:t>!</a:t>
            </a:r>
            <a:endParaRPr lang="en-US" sz="6000" kern="0" noProof="0">
              <a:ea typeface="Arial Unicode MS" pitchFamily="34" charset="-128"/>
              <a:cs typeface="Arial Unicode MS" pitchFamily="34" charset="-128"/>
            </a:endParaRPr>
          </a:p>
        </p:txBody>
      </p:sp>
      <p:sp>
        <p:nvSpPr>
          <p:cNvPr id="9" name="Textplatzhalter 5"/>
          <p:cNvSpPr>
            <a:spLocks noGrp="1"/>
          </p:cNvSpPr>
          <p:nvPr>
            <p:ph type="body" sz="quarter" idx="10" hasCustomPrompt="1"/>
          </p:nvPr>
        </p:nvSpPr>
        <p:spPr>
          <a:xfrm>
            <a:off x="3925792" y="3659939"/>
            <a:ext cx="4341615" cy="2141713"/>
          </a:xfrm>
          <a:noFill/>
          <a:ln>
            <a:solidFill>
              <a:schemeClr val="accent1"/>
            </a:solidFill>
          </a:ln>
        </p:spPr>
        <p:txBody>
          <a:bodyPr lIns="108000" tIns="108000" rIns="108000" bIns="108000"/>
          <a:lstStyle>
            <a:lvl1pPr marL="0" indent="0" fontAlgn="base">
              <a:spcBef>
                <a:spcPts val="600"/>
              </a:spcBef>
              <a:spcAft>
                <a:spcPct val="0"/>
              </a:spcAft>
              <a:buClr>
                <a:srgbClr val="F0AB00"/>
              </a:buClr>
              <a:buSzPct val="80000"/>
              <a:buNone/>
              <a:defRPr sz="2400" b="1" baseline="0">
                <a:solidFill>
                  <a:schemeClr val="tx1"/>
                </a:solidFill>
              </a:defRPr>
            </a:lvl1pPr>
            <a:lvl2pPr marL="201600" indent="0">
              <a:buNone/>
              <a:defRPr/>
            </a:lvl2pPr>
            <a:lvl3pPr marL="324000" indent="0">
              <a:buNone/>
              <a:defRPr/>
            </a:lvl3pPr>
            <a:lvl4pPr marL="504000" indent="0">
              <a:buNone/>
              <a:defRPr/>
            </a:lvl4pPr>
            <a:lvl5pPr marL="361338" indent="0">
              <a:buNone/>
              <a:defRPr/>
            </a:lvl5pPr>
          </a:lstStyle>
          <a:p>
            <a:pPr lvl="0"/>
            <a:r>
              <a:rPr lang="en-US" noProof="0" dirty="0"/>
              <a:t>Contact</a:t>
            </a:r>
          </a:p>
          <a:p>
            <a:pPr lvl="0"/>
            <a:endParaRPr lang="en-US" noProof="0" dirty="0"/>
          </a:p>
          <a:p>
            <a:pPr fontAlgn="base">
              <a:spcBef>
                <a:spcPts val="600"/>
              </a:spcBef>
              <a:spcAft>
                <a:spcPct val="0"/>
              </a:spcAft>
              <a:buClr>
                <a:srgbClr val="F0AB00"/>
              </a:buClr>
              <a:buSzPct val="80000"/>
            </a:pPr>
            <a:r>
              <a:rPr lang="en-US" sz="1400" kern="0" noProof="0" dirty="0">
                <a:ea typeface="Arial Unicode MS" pitchFamily="34" charset="-128"/>
                <a:cs typeface="Arial Unicode MS" pitchFamily="34" charset="-128"/>
              </a:rPr>
              <a:t> &lt;First name&gt; &lt;Last name&gt;</a:t>
            </a:r>
          </a:p>
          <a:p>
            <a:pPr fontAlgn="base">
              <a:spcBef>
                <a:spcPts val="600"/>
              </a:spcBef>
              <a:spcAft>
                <a:spcPct val="0"/>
              </a:spcAft>
              <a:buClr>
                <a:srgbClr val="F0AB00"/>
              </a:buClr>
              <a:buSzPct val="80000"/>
            </a:pPr>
            <a:r>
              <a:rPr lang="en-US" sz="1400" kern="0" baseline="0" noProof="0" dirty="0">
                <a:ea typeface="Arial Unicode MS" pitchFamily="34" charset="-128"/>
                <a:cs typeface="Arial Unicode MS" pitchFamily="34" charset="-128"/>
              </a:rPr>
              <a:t> &lt;Position, Organization&gt;</a:t>
            </a:r>
          </a:p>
          <a:p>
            <a:pPr fontAlgn="base">
              <a:spcBef>
                <a:spcPts val="600"/>
              </a:spcBef>
              <a:spcAft>
                <a:spcPct val="0"/>
              </a:spcAft>
              <a:buClr>
                <a:srgbClr val="F0AB00"/>
              </a:buClr>
              <a:buSzPct val="80000"/>
            </a:pPr>
            <a:r>
              <a:rPr lang="en-US" sz="1400" kern="0" baseline="0" noProof="0" dirty="0">
                <a:ea typeface="Arial Unicode MS" pitchFamily="34" charset="-128"/>
                <a:cs typeface="Arial Unicode MS" pitchFamily="34" charset="-128"/>
              </a:rPr>
              <a:t> &lt;Contact information&gt;</a:t>
            </a:r>
            <a:endParaRPr lang="en-US" sz="1800" kern="0" noProof="0" dirty="0">
              <a:ea typeface="Arial Unicode MS" pitchFamily="34" charset="-128"/>
              <a:cs typeface="Arial Unicode MS" pitchFamily="34" charset="-128"/>
            </a:endParaRPr>
          </a:p>
          <a:p>
            <a:pPr lvl="0"/>
            <a:endParaRPr lang="en-US" noProof="0" dirty="0"/>
          </a:p>
        </p:txBody>
      </p:sp>
    </p:spTree>
    <p:extLst>
      <p:ext uri="{BB962C8B-B14F-4D97-AF65-F5344CB8AC3E}">
        <p14:creationId xmlns:p14="http://schemas.microsoft.com/office/powerpoint/2010/main" val="1204744678"/>
      </p:ext>
    </p:extLst>
  </p:cSld>
  <p:clrMapOvr>
    <a:overrideClrMapping bg1="lt1" tx1="dk1" bg2="lt2" tx2="dk2" accent1="accent1" accent2="accent2" accent3="accent3" accent4="accent4" accent5="accent5" accent6="accent6" hlink="hlink" folHlink="folHlink"/>
  </p:clrMapOvr>
  <p:hf sldNum="0" hdr="0" ftr="0" dt="0"/>
  <p:extLst mod="1">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uthors">
    <p:spTree>
      <p:nvGrpSpPr>
        <p:cNvPr id="1" name=""/>
        <p:cNvGrpSpPr/>
        <p:nvPr/>
      </p:nvGrpSpPr>
      <p:grpSpPr>
        <a:xfrm>
          <a:off x="0" y="0"/>
          <a:ext cx="0" cy="0"/>
          <a:chOff x="0" y="0"/>
          <a:chExt cx="0" cy="0"/>
        </a:xfrm>
      </p:grpSpPr>
      <p:sp>
        <p:nvSpPr>
          <p:cNvPr id="6" name="Text Placeholder 2"/>
          <p:cNvSpPr>
            <a:spLocks noGrp="1"/>
          </p:cNvSpPr>
          <p:nvPr>
            <p:ph idx="1"/>
          </p:nvPr>
        </p:nvSpPr>
        <p:spPr bwMode="gray">
          <a:xfrm>
            <a:off x="324000" y="1691079"/>
            <a:ext cx="11545200" cy="4392042"/>
          </a:xfrm>
          <a:prstGeom prst="rect">
            <a:avLst/>
          </a:prstGeom>
        </p:spPr>
        <p:txBody>
          <a:bodyPr vert="horz" lIns="0" tIns="0" rIns="0" bIns="0" rtlCol="0">
            <a:noAutofit/>
          </a:bodyPr>
          <a:lstStyle/>
          <a:p>
            <a:pPr lvl="0"/>
            <a:r>
              <a:rPr lang="de-DE" noProof="0"/>
              <a:t>Textmasterformat bearbeiten</a:t>
            </a:r>
          </a:p>
          <a:p>
            <a:pPr lvl="1"/>
            <a:r>
              <a:rPr lang="de-DE" noProof="0"/>
              <a:t>Zweite Ebene</a:t>
            </a:r>
          </a:p>
          <a:p>
            <a:pPr lvl="2"/>
            <a:r>
              <a:rPr lang="de-DE" noProof="0"/>
              <a:t>Dritte Ebene</a:t>
            </a:r>
          </a:p>
          <a:p>
            <a:pPr lvl="3"/>
            <a:r>
              <a:rPr lang="de-DE" noProof="0"/>
              <a:t>Vierte Ebene</a:t>
            </a:r>
          </a:p>
        </p:txBody>
      </p:sp>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a:solidFill>
                  <a:schemeClr val="accent2"/>
                </a:solidFill>
                <a:latin typeface="+mj-lt"/>
                <a:ea typeface="Arial Unicode MS" pitchFamily="34" charset="-128"/>
                <a:cs typeface="Arial Unicode MS" pitchFamily="34" charset="-128"/>
              </a:rPr>
              <a:t>Authors</a:t>
            </a:r>
          </a:p>
        </p:txBody>
      </p:sp>
    </p:spTree>
    <p:extLst>
      <p:ext uri="{BB962C8B-B14F-4D97-AF65-F5344CB8AC3E}">
        <p14:creationId xmlns:p14="http://schemas.microsoft.com/office/powerpoint/2010/main" val="178725648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ources">
    <p:spTree>
      <p:nvGrpSpPr>
        <p:cNvPr id="1" name=""/>
        <p:cNvGrpSpPr/>
        <p:nvPr/>
      </p:nvGrpSpPr>
      <p:grpSpPr>
        <a:xfrm>
          <a:off x="0" y="0"/>
          <a:ext cx="0" cy="0"/>
          <a:chOff x="0" y="0"/>
          <a:chExt cx="0" cy="0"/>
        </a:xfrm>
      </p:grpSpPr>
      <p:sp>
        <p:nvSpPr>
          <p:cNvPr id="6" name="Text Placeholder 2"/>
          <p:cNvSpPr>
            <a:spLocks noGrp="1"/>
          </p:cNvSpPr>
          <p:nvPr>
            <p:ph idx="1" hasCustomPrompt="1"/>
          </p:nvPr>
        </p:nvSpPr>
        <p:spPr bwMode="gray">
          <a:xfrm>
            <a:off x="324000" y="1691079"/>
            <a:ext cx="11545200" cy="4392042"/>
          </a:xfrm>
          <a:prstGeom prst="rect">
            <a:avLst/>
          </a:prstGeom>
        </p:spPr>
        <p:txBody>
          <a:bodyPr vert="horz" lIns="0" tIns="0" rIns="0" bIns="0" rtlCol="0">
            <a:noAutofit/>
          </a:bodyPr>
          <a:lstStyle>
            <a:lvl1pPr>
              <a:buClr>
                <a:schemeClr val="bg1">
                  <a:lumMod val="65000"/>
                </a:schemeClr>
              </a:buClr>
              <a:defRPr sz="1600">
                <a:solidFill>
                  <a:schemeClr val="bg1">
                    <a:lumMod val="65000"/>
                  </a:schemeClr>
                </a:solidFill>
              </a:defRPr>
            </a:lvl1pPr>
          </a:lstStyle>
          <a:p>
            <a:pPr lvl="0"/>
            <a:r>
              <a:rPr lang="en-US" noProof="0" dirty="0"/>
              <a:t>&lt;level 1&gt;</a:t>
            </a:r>
          </a:p>
        </p:txBody>
      </p:sp>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a:solidFill>
                  <a:schemeClr val="accent2"/>
                </a:solidFill>
                <a:latin typeface="+mj-lt"/>
                <a:ea typeface="Arial Unicode MS" pitchFamily="34" charset="-128"/>
                <a:cs typeface="Arial Unicode MS" pitchFamily="34" charset="-128"/>
              </a:rPr>
              <a:t>Sources</a:t>
            </a:r>
          </a:p>
        </p:txBody>
      </p:sp>
    </p:spTree>
    <p:extLst>
      <p:ext uri="{BB962C8B-B14F-4D97-AF65-F5344CB8AC3E}">
        <p14:creationId xmlns:p14="http://schemas.microsoft.com/office/powerpoint/2010/main" val="38798839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Curriculum information">
    <p:spTree>
      <p:nvGrpSpPr>
        <p:cNvPr id="1" name=""/>
        <p:cNvGrpSpPr/>
        <p:nvPr/>
      </p:nvGrpSpPr>
      <p:grpSpPr>
        <a:xfrm>
          <a:off x="0" y="0"/>
          <a:ext cx="0" cy="0"/>
          <a:chOff x="0" y="0"/>
          <a:chExt cx="0" cy="0"/>
        </a:xfrm>
      </p:grpSpPr>
      <p:sp>
        <p:nvSpPr>
          <p:cNvPr id="5" name="Textfeld 4"/>
          <p:cNvSpPr txBox="1"/>
          <p:nvPr userDrawn="1"/>
        </p:nvSpPr>
        <p:spPr>
          <a:xfrm>
            <a:off x="324000" y="324000"/>
            <a:ext cx="11545200" cy="759600"/>
          </a:xfrm>
          <a:prstGeom prst="rect">
            <a:avLst/>
          </a:prstGeom>
          <a:noFill/>
        </p:spPr>
        <p:txBody>
          <a:bodyPr wrap="square" lIns="0" tIns="0" rIns="0" bIns="0" rtlCol="0" anchor="ctr" anchorCtr="0">
            <a:noAutofit/>
          </a:bodyPr>
          <a:lstStyle/>
          <a:p>
            <a:pPr fontAlgn="base">
              <a:spcBef>
                <a:spcPts val="600"/>
              </a:spcBef>
              <a:spcAft>
                <a:spcPct val="0"/>
              </a:spcAft>
              <a:buClr>
                <a:srgbClr val="F0AB00"/>
              </a:buClr>
              <a:buSzPct val="80000"/>
            </a:pPr>
            <a:r>
              <a:rPr lang="en-US" sz="2400" b="1" kern="0" noProof="0">
                <a:solidFill>
                  <a:schemeClr val="accent2"/>
                </a:solidFill>
                <a:latin typeface="Arial"/>
                <a:ea typeface="Arial Unicode MS" pitchFamily="34" charset="-128"/>
                <a:cs typeface="Arial Unicode MS" pitchFamily="34" charset="-128"/>
              </a:rPr>
              <a:t>Teaching material - Information</a:t>
            </a:r>
          </a:p>
        </p:txBody>
      </p:sp>
      <p:sp>
        <p:nvSpPr>
          <p:cNvPr id="6" name="Textplatzhalter 21"/>
          <p:cNvSpPr>
            <a:spLocks noGrp="1"/>
          </p:cNvSpPr>
          <p:nvPr>
            <p:ph type="body" sz="quarter" idx="15" hasCustomPrompt="1"/>
          </p:nvPr>
        </p:nvSpPr>
        <p:spPr>
          <a:xfrm>
            <a:off x="2038856" y="2624439"/>
            <a:ext cx="9830344" cy="362391"/>
          </a:xfrm>
          <a:prstGeom prst="rect">
            <a:avLst/>
          </a:prstGeom>
        </p:spPr>
        <p:txBody>
          <a:bodyPr anchor="t" anchorCtr="0"/>
          <a:lstStyle>
            <a:lvl1pPr marL="266400" indent="-194400">
              <a:lnSpc>
                <a:spcPct val="100000"/>
              </a:lnSpc>
              <a:spcBef>
                <a:spcPts val="0"/>
              </a:spcBef>
              <a:spcAft>
                <a:spcPts val="0"/>
              </a:spcAft>
              <a:buClr>
                <a:schemeClr val="bg1">
                  <a:lumMod val="65000"/>
                </a:schemeClr>
              </a:buClr>
              <a:buSzPct val="100000"/>
              <a:buFont typeface="Wingdings" panose="05000000000000000000" pitchFamily="2" charset="2"/>
              <a:buChar char="§"/>
              <a:defRPr sz="18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de-DE" noProof="0" dirty="0"/>
              <a:t>&lt;3.1 (</a:t>
            </a:r>
            <a:r>
              <a:rPr lang="de-DE" noProof="0" dirty="0" err="1"/>
              <a:t>July</a:t>
            </a:r>
            <a:r>
              <a:rPr lang="de-DE" noProof="0" dirty="0"/>
              <a:t> 2017)&gt;</a:t>
            </a:r>
          </a:p>
        </p:txBody>
      </p:sp>
      <p:grpSp>
        <p:nvGrpSpPr>
          <p:cNvPr id="7" name="Gruppieren 6"/>
          <p:cNvGrpSpPr/>
          <p:nvPr userDrawn="1"/>
        </p:nvGrpSpPr>
        <p:grpSpPr>
          <a:xfrm>
            <a:off x="1951753" y="1927906"/>
            <a:ext cx="9917447" cy="500901"/>
            <a:chOff x="1108399" y="1396713"/>
            <a:chExt cx="7030682" cy="404566"/>
          </a:xfrm>
        </p:grpSpPr>
        <p:sp>
          <p:nvSpPr>
            <p:cNvPr id="8" name="Rectangle 10"/>
            <p:cNvSpPr/>
            <p:nvPr userDrawn="1"/>
          </p:nvSpPr>
          <p:spPr>
            <a:xfrm>
              <a:off x="1108399" y="1396713"/>
              <a:ext cx="3835401" cy="298157"/>
            </a:xfrm>
            <a:prstGeom prst="rect">
              <a:avLst/>
            </a:prstGeom>
          </p:spPr>
          <p:txBody>
            <a:bodyPr wrap="square" lIns="91302" tIns="45630" rIns="91302" bIns="45630">
              <a:spAutoFit/>
            </a:bodyPr>
            <a:lstStyle/>
            <a:p>
              <a:r>
                <a:rPr lang="en-US" sz="1800" b="1" kern="1200" noProof="0">
                  <a:solidFill>
                    <a:schemeClr val="tx1"/>
                  </a:solidFill>
                  <a:latin typeface="Arial"/>
                  <a:ea typeface="+mn-ea"/>
                  <a:cs typeface="+mn-cs"/>
                </a:rPr>
                <a:t>Teaching</a:t>
              </a:r>
              <a:r>
                <a:rPr lang="en-US" sz="1800" b="1" kern="1200" baseline="0" noProof="0">
                  <a:solidFill>
                    <a:schemeClr val="tx1"/>
                  </a:solidFill>
                  <a:latin typeface="Arial"/>
                  <a:ea typeface="+mn-ea"/>
                  <a:cs typeface="+mn-cs"/>
                </a:rPr>
                <a:t> </a:t>
              </a:r>
              <a:r>
                <a:rPr lang="en-US" sz="1800" b="1" kern="1200" noProof="0">
                  <a:solidFill>
                    <a:schemeClr val="tx1"/>
                  </a:solidFill>
                  <a:latin typeface="Arial"/>
                  <a:ea typeface="+mn-ea"/>
                  <a:cs typeface="+mn-cs"/>
                </a:rPr>
                <a:t>material </a:t>
              </a:r>
              <a:r>
                <a:rPr lang="en-US" sz="1800" b="1" kern="1200" baseline="0" noProof="0">
                  <a:solidFill>
                    <a:schemeClr val="tx1"/>
                  </a:solidFill>
                  <a:latin typeface="Arial"/>
                  <a:ea typeface="+mn-ea"/>
                  <a:cs typeface="+mn-cs"/>
                </a:rPr>
                <a:t>- Version</a:t>
              </a:r>
              <a:endParaRPr lang="en-US" sz="1200" b="1" kern="1200" noProof="0">
                <a:solidFill>
                  <a:schemeClr val="tx1"/>
                </a:solidFill>
                <a:latin typeface="Arial"/>
                <a:ea typeface="+mn-ea"/>
                <a:cs typeface="+mn-cs"/>
              </a:endParaRPr>
            </a:p>
          </p:txBody>
        </p:sp>
        <p:cxnSp>
          <p:nvCxnSpPr>
            <p:cNvPr id="9" name="Straight Connector 12"/>
            <p:cNvCxnSpPr/>
            <p:nvPr userDrawn="1"/>
          </p:nvCxnSpPr>
          <p:spPr>
            <a:xfrm flipV="1">
              <a:off x="1197563" y="1776441"/>
              <a:ext cx="6941518" cy="24838"/>
            </a:xfrm>
            <a:prstGeom prst="line">
              <a:avLst/>
            </a:prstGeom>
            <a:ln w="63500">
              <a:solidFill>
                <a:schemeClr val="accent1"/>
              </a:solidFill>
            </a:ln>
          </p:spPr>
          <p:style>
            <a:lnRef idx="1">
              <a:schemeClr val="accent1"/>
            </a:lnRef>
            <a:fillRef idx="0">
              <a:schemeClr val="accent1"/>
            </a:fillRef>
            <a:effectRef idx="0">
              <a:schemeClr val="accent1"/>
            </a:effectRef>
            <a:fontRef idx="minor">
              <a:schemeClr val="tx1"/>
            </a:fontRef>
          </p:style>
        </p:cxnSp>
      </p:grpSp>
      <p:grpSp>
        <p:nvGrpSpPr>
          <p:cNvPr id="10" name="Gruppieren 9"/>
          <p:cNvGrpSpPr/>
          <p:nvPr userDrawn="1"/>
        </p:nvGrpSpPr>
        <p:grpSpPr>
          <a:xfrm>
            <a:off x="324000" y="1499007"/>
            <a:ext cx="1299974" cy="1299976"/>
            <a:chOff x="352676" y="1326706"/>
            <a:chExt cx="765542" cy="765543"/>
          </a:xfrm>
        </p:grpSpPr>
        <p:sp>
          <p:nvSpPr>
            <p:cNvPr id="11" name="Donut 11"/>
            <p:cNvSpPr/>
            <p:nvPr userDrawn="1"/>
          </p:nvSpPr>
          <p:spPr bwMode="gray">
            <a:xfrm>
              <a:off x="352676" y="1326706"/>
              <a:ext cx="765542" cy="765543"/>
            </a:xfrm>
            <a:prstGeom prst="donut">
              <a:avLst>
                <a:gd name="adj" fmla="val 5979"/>
              </a:avLst>
            </a:prstGeom>
            <a:solidFill>
              <a:schemeClr val="accent1"/>
            </a:solidFill>
            <a:ln w="6350" algn="ctr">
              <a:solidFill>
                <a:schemeClr val="accent1"/>
              </a:solidFill>
              <a:miter lim="800000"/>
              <a:headEnd/>
              <a:tailEnd/>
            </a:ln>
          </p:spPr>
          <p:txBody>
            <a:bodyPr lIns="89863" tIns="71908" rIns="89863" bIns="71908" rtlCol="0" anchor="ctr"/>
            <a:lstStyle/>
            <a:p>
              <a:pPr algn="ctr" defTabSz="913003" fontAlgn="base">
                <a:spcBef>
                  <a:spcPct val="50000"/>
                </a:spcBef>
                <a:spcAft>
                  <a:spcPct val="0"/>
                </a:spcAft>
                <a:buClr>
                  <a:srgbClr val="F0AB00"/>
                </a:buClr>
                <a:buSzPct val="80000"/>
              </a:pPr>
              <a:endParaRPr lang="de-DE" sz="2000" kern="0">
                <a:ea typeface="Arial Unicode MS" pitchFamily="34" charset="-128"/>
                <a:cs typeface="Arial Unicode MS" pitchFamily="34" charset="-128"/>
              </a:endParaRPr>
            </a:p>
          </p:txBody>
        </p:sp>
        <p:grpSp>
          <p:nvGrpSpPr>
            <p:cNvPr id="12" name="Gruppieren 11"/>
            <p:cNvGrpSpPr/>
            <p:nvPr userDrawn="1"/>
          </p:nvGrpSpPr>
          <p:grpSpPr>
            <a:xfrm>
              <a:off x="545702" y="1435466"/>
              <a:ext cx="403112" cy="511295"/>
              <a:chOff x="7057115" y="1361724"/>
              <a:chExt cx="403112" cy="511295"/>
            </a:xfrm>
          </p:grpSpPr>
          <p:sp>
            <p:nvSpPr>
              <p:cNvPr id="13" name="Gefaltete Ecke 12"/>
              <p:cNvSpPr/>
              <p:nvPr/>
            </p:nvSpPr>
            <p:spPr bwMode="gray">
              <a:xfrm rot="10800000" flipH="1">
                <a:off x="7150511" y="1361724"/>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sp>
            <p:nvSpPr>
              <p:cNvPr id="14" name="Gefaltete Ecke 13"/>
              <p:cNvSpPr/>
              <p:nvPr/>
            </p:nvSpPr>
            <p:spPr bwMode="gray">
              <a:xfrm rot="10800000" flipH="1">
                <a:off x="7103823" y="1410891"/>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grpSp>
            <p:nvGrpSpPr>
              <p:cNvPr id="15" name="Gruppieren 33"/>
              <p:cNvGrpSpPr/>
              <p:nvPr/>
            </p:nvGrpSpPr>
            <p:grpSpPr>
              <a:xfrm>
                <a:off x="7057115" y="1452689"/>
                <a:ext cx="309716" cy="420330"/>
                <a:chOff x="589936" y="2809567"/>
                <a:chExt cx="309716" cy="420330"/>
              </a:xfrm>
            </p:grpSpPr>
            <p:sp>
              <p:nvSpPr>
                <p:cNvPr id="16" name="Gefaltete Ecke 15"/>
                <p:cNvSpPr/>
                <p:nvPr/>
              </p:nvSpPr>
              <p:spPr bwMode="gray">
                <a:xfrm rot="10800000" flipH="1">
                  <a:off x="589936" y="2809567"/>
                  <a:ext cx="309716" cy="420330"/>
                </a:xfrm>
                <a:prstGeom prst="foldedCorner">
                  <a:avLst>
                    <a:gd name="adj" fmla="val 38333"/>
                  </a:avLst>
                </a:prstGeom>
                <a:solidFill>
                  <a:schemeClr val="tx1">
                    <a:lumMod val="65000"/>
                    <a:lumOff val="35000"/>
                  </a:schemeClr>
                </a:solidFill>
                <a:ln w="6350" algn="ctr">
                  <a:solidFill>
                    <a:schemeClr val="bg1"/>
                  </a:solid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b="0" i="0" u="none" strike="noStrike" kern="0" cap="none" spc="0" normalizeH="0" baseline="0">
                    <a:ln>
                      <a:noFill/>
                    </a:ln>
                    <a:effectLst/>
                    <a:uLnTx/>
                    <a:uFillTx/>
                    <a:ea typeface="Arial Unicode MS" pitchFamily="34" charset="-128"/>
                    <a:cs typeface="Arial Unicode MS" pitchFamily="34" charset="-128"/>
                  </a:endParaRPr>
                </a:p>
              </p:txBody>
            </p:sp>
            <p:sp>
              <p:nvSpPr>
                <p:cNvPr id="17" name="Textfeld 16"/>
                <p:cNvSpPr txBox="1"/>
                <p:nvPr/>
              </p:nvSpPr>
              <p:spPr>
                <a:xfrm>
                  <a:off x="697006" y="2861855"/>
                  <a:ext cx="94496" cy="326244"/>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de-DE" sz="3600" i="1" kern="0">
                      <a:solidFill>
                        <a:schemeClr val="bg1"/>
                      </a:solidFill>
                      <a:latin typeface="Angsana New" pitchFamily="18" charset="-34"/>
                      <a:ea typeface="Arial Unicode MS" pitchFamily="34" charset="-128"/>
                      <a:cs typeface="Angsana New" pitchFamily="18" charset="-34"/>
                    </a:rPr>
                    <a:t>i</a:t>
                  </a:r>
                </a:p>
              </p:txBody>
            </p:sp>
          </p:grpSp>
        </p:grpSp>
      </p:grpSp>
      <p:sp>
        <p:nvSpPr>
          <p:cNvPr id="18" name="Textplatzhalter 21"/>
          <p:cNvSpPr>
            <a:spLocks noGrp="1"/>
          </p:cNvSpPr>
          <p:nvPr>
            <p:ph type="body" sz="quarter" idx="12" hasCustomPrompt="1"/>
          </p:nvPr>
        </p:nvSpPr>
        <p:spPr>
          <a:xfrm>
            <a:off x="2327108" y="3552319"/>
            <a:ext cx="9542092" cy="530990"/>
          </a:xfrm>
          <a:prstGeom prst="rect">
            <a:avLst/>
          </a:prstGeom>
        </p:spPr>
        <p:txBody>
          <a:bodyPr/>
          <a:lstStyle>
            <a:lvl1pPr marL="214298" indent="-214298">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&lt;server-side&gt;</a:t>
            </a:r>
          </a:p>
          <a:p>
            <a:pPr lvl="0"/>
            <a:r>
              <a:rPr lang="en-US" dirty="0"/>
              <a:t>&lt;client-side&gt;</a:t>
            </a:r>
            <a:endParaRPr lang="de-DE" dirty="0"/>
          </a:p>
        </p:txBody>
      </p:sp>
      <p:sp>
        <p:nvSpPr>
          <p:cNvPr id="19" name="Textfeld 18"/>
          <p:cNvSpPr txBox="1"/>
          <p:nvPr userDrawn="1"/>
        </p:nvSpPr>
        <p:spPr>
          <a:xfrm>
            <a:off x="2041112" y="3250331"/>
            <a:ext cx="9828088" cy="336918"/>
          </a:xfrm>
          <a:prstGeom prst="rect">
            <a:avLst/>
          </a:prstGeom>
          <a:noFill/>
        </p:spPr>
        <p:txBody>
          <a:bodyPr wrap="none" lIns="0" tIns="0" rIns="0" bIns="0" rtlCol="0" anchor="t" anchorCtr="0">
            <a:noAutofit/>
          </a:bodyPr>
          <a:lstStyle/>
          <a:p>
            <a:pPr marL="265490" indent="-195248" fontAlgn="base">
              <a:spcBef>
                <a:spcPct val="50000"/>
              </a:spcBef>
              <a:spcAft>
                <a:spcPct val="0"/>
              </a:spcAft>
              <a:buClr>
                <a:schemeClr val="bg1">
                  <a:lumMod val="65000"/>
                </a:schemeClr>
              </a:buClr>
              <a:buSzPct val="100000"/>
              <a:buFont typeface="Wingdings" panose="05000000000000000000" pitchFamily="2" charset="2"/>
              <a:buChar char="§"/>
            </a:pPr>
            <a:r>
              <a:rPr lang="en-US" sz="1800" b="0" kern="1200" baseline="0" noProof="0">
                <a:solidFill>
                  <a:schemeClr val="tx1"/>
                </a:solidFill>
                <a:latin typeface="Arial"/>
                <a:ea typeface="+mn-ea"/>
                <a:cs typeface="+mn-cs"/>
              </a:rPr>
              <a:t>Software used</a:t>
            </a:r>
          </a:p>
        </p:txBody>
      </p:sp>
      <p:sp>
        <p:nvSpPr>
          <p:cNvPr id="20" name="Textfeld 19"/>
          <p:cNvSpPr txBox="1"/>
          <p:nvPr userDrawn="1"/>
        </p:nvSpPr>
        <p:spPr>
          <a:xfrm>
            <a:off x="2043658" y="5176323"/>
            <a:ext cx="9825542" cy="336918"/>
          </a:xfrm>
          <a:prstGeom prst="rect">
            <a:avLst/>
          </a:prstGeom>
          <a:noFill/>
        </p:spPr>
        <p:txBody>
          <a:bodyPr wrap="none" lIns="0" tIns="0" rIns="0" bIns="0" rtlCol="0" anchor="t" anchorCtr="0">
            <a:noAutofit/>
          </a:bodyPr>
          <a:lstStyle/>
          <a:p>
            <a:pPr marL="265490" indent="-195248" fontAlgn="base">
              <a:spcBef>
                <a:spcPct val="50000"/>
              </a:spcBef>
              <a:spcAft>
                <a:spcPct val="0"/>
              </a:spcAft>
              <a:buClr>
                <a:schemeClr val="bg1">
                  <a:lumMod val="65000"/>
                </a:schemeClr>
              </a:buClr>
              <a:buSzPct val="100000"/>
              <a:buFont typeface="Wingdings" panose="05000000000000000000" pitchFamily="2" charset="2"/>
              <a:buChar char="§"/>
            </a:pPr>
            <a:r>
              <a:rPr lang="en-US" sz="1800" b="0" kern="1200" baseline="0" noProof="0">
                <a:solidFill>
                  <a:schemeClr val="tx1"/>
                </a:solidFill>
                <a:latin typeface="Arial"/>
                <a:ea typeface="+mn-ea"/>
                <a:cs typeface="+mn-cs"/>
              </a:rPr>
              <a:t>Prerequisites</a:t>
            </a:r>
            <a:endParaRPr lang="de-DE" sz="1800" b="0" kern="1200" baseline="0" noProof="0">
              <a:solidFill>
                <a:schemeClr val="tx1"/>
              </a:solidFill>
              <a:latin typeface="+mn-lt"/>
              <a:ea typeface="+mn-ea"/>
              <a:cs typeface="+mn-cs"/>
            </a:endParaRPr>
          </a:p>
        </p:txBody>
      </p:sp>
      <p:sp>
        <p:nvSpPr>
          <p:cNvPr id="21" name="Textplatzhalter 21"/>
          <p:cNvSpPr>
            <a:spLocks noGrp="1"/>
          </p:cNvSpPr>
          <p:nvPr>
            <p:ph type="body" sz="quarter" idx="13" hasCustomPrompt="1"/>
          </p:nvPr>
        </p:nvSpPr>
        <p:spPr>
          <a:xfrm>
            <a:off x="2327107" y="5489073"/>
            <a:ext cx="9542093" cy="530990"/>
          </a:xfrm>
          <a:prstGeom prst="rect">
            <a:avLst/>
          </a:prstGeom>
        </p:spPr>
        <p:txBody>
          <a:bodyPr/>
          <a:lstStyle>
            <a:lvl1pPr marL="285750" indent="-285750">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en-US" dirty="0"/>
              <a:t>&lt;curricula&gt;</a:t>
            </a:r>
          </a:p>
          <a:p>
            <a:pPr lvl="0"/>
            <a:r>
              <a:rPr lang="en-US" dirty="0"/>
              <a:t>&lt;other prerequisites&gt;</a:t>
            </a:r>
            <a:endParaRPr lang="de-DE" dirty="0"/>
          </a:p>
        </p:txBody>
      </p:sp>
      <p:sp>
        <p:nvSpPr>
          <p:cNvPr id="22" name="Textfeld 21"/>
          <p:cNvSpPr txBox="1"/>
          <p:nvPr userDrawn="1"/>
        </p:nvSpPr>
        <p:spPr>
          <a:xfrm>
            <a:off x="2046605" y="4184140"/>
            <a:ext cx="9828088" cy="336918"/>
          </a:xfrm>
          <a:prstGeom prst="rect">
            <a:avLst/>
          </a:prstGeom>
          <a:noFill/>
        </p:spPr>
        <p:txBody>
          <a:bodyPr wrap="none" lIns="0" tIns="0" rIns="0" bIns="0" rtlCol="0" anchor="t" anchorCtr="0">
            <a:noAutofit/>
          </a:bodyPr>
          <a:lstStyle/>
          <a:p>
            <a:pPr marL="265490" indent="-195248" fontAlgn="base">
              <a:spcBef>
                <a:spcPct val="50000"/>
              </a:spcBef>
              <a:spcAft>
                <a:spcPct val="0"/>
              </a:spcAft>
              <a:buClr>
                <a:schemeClr val="bg1">
                  <a:lumMod val="65000"/>
                </a:schemeClr>
              </a:buClr>
              <a:buSzPct val="100000"/>
              <a:buFont typeface="Wingdings" panose="05000000000000000000" pitchFamily="2" charset="2"/>
              <a:buChar char="§"/>
            </a:pPr>
            <a:r>
              <a:rPr lang="de-DE" sz="1800" b="0" kern="1200" baseline="0" noProof="0">
                <a:solidFill>
                  <a:schemeClr val="tx1"/>
                </a:solidFill>
                <a:latin typeface="+mn-lt"/>
                <a:ea typeface="+mn-ea"/>
                <a:cs typeface="+mn-cs"/>
              </a:rPr>
              <a:t>Model</a:t>
            </a:r>
          </a:p>
        </p:txBody>
      </p:sp>
      <p:sp>
        <p:nvSpPr>
          <p:cNvPr id="23" name="Textplatzhalter 21"/>
          <p:cNvSpPr>
            <a:spLocks noGrp="1"/>
          </p:cNvSpPr>
          <p:nvPr>
            <p:ph type="body" sz="quarter" idx="16" hasCustomPrompt="1"/>
          </p:nvPr>
        </p:nvSpPr>
        <p:spPr>
          <a:xfrm>
            <a:off x="2327108" y="4583195"/>
            <a:ext cx="9542092" cy="530990"/>
          </a:xfrm>
          <a:prstGeom prst="rect">
            <a:avLst/>
          </a:prstGeom>
        </p:spPr>
        <p:txBody>
          <a:bodyPr/>
          <a:lstStyle>
            <a:lvl1pPr marL="214298" indent="-214298">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de-DE" noProof="0" dirty="0"/>
              <a:t>&lt;</a:t>
            </a:r>
            <a:r>
              <a:rPr lang="de-DE" noProof="0" dirty="0" err="1"/>
              <a:t>server</a:t>
            </a:r>
            <a:r>
              <a:rPr lang="de-DE" noProof="0" dirty="0"/>
              <a:t>&gt;</a:t>
            </a:r>
          </a:p>
        </p:txBody>
      </p:sp>
    </p:spTree>
    <p:extLst>
      <p:ext uri="{BB962C8B-B14F-4D97-AF65-F5344CB8AC3E}">
        <p14:creationId xmlns:p14="http://schemas.microsoft.com/office/powerpoint/2010/main" val="22205597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324000" y="324075"/>
            <a:ext cx="11545200" cy="756175"/>
          </a:xfrm>
          <a:prstGeom prst="rect">
            <a:avLst/>
          </a:prstGeom>
        </p:spPr>
        <p:txBody>
          <a:bodyPr vert="horz" lIns="0" tIns="0" rIns="0" bIns="0" rtlCol="0" anchor="ctr" anchorCtr="0">
            <a:noAutofit/>
          </a:bodyPr>
          <a:lstStyle/>
          <a:p>
            <a:r>
              <a:rPr lang="en-US" noProof="0" dirty="0"/>
              <a:t>Insert page title</a:t>
            </a:r>
          </a:p>
        </p:txBody>
      </p:sp>
      <p:sp>
        <p:nvSpPr>
          <p:cNvPr id="3" name="Text Placeholder 2"/>
          <p:cNvSpPr>
            <a:spLocks noGrp="1"/>
          </p:cNvSpPr>
          <p:nvPr>
            <p:ph type="body" idx="1"/>
          </p:nvPr>
        </p:nvSpPr>
        <p:spPr bwMode="gray">
          <a:xfrm>
            <a:off x="324000" y="1691079"/>
            <a:ext cx="11545200" cy="4392042"/>
          </a:xfrm>
          <a:prstGeom prst="rect">
            <a:avLst/>
          </a:prstGeom>
        </p:spPr>
        <p:txBody>
          <a:bodyPr vert="horz" lIns="0" tIns="0" rIns="0" bIns="0" rtlCol="0">
            <a:noAutofit/>
          </a:bodyPr>
          <a:lstStyle/>
          <a:p>
            <a:pPr lvl="0"/>
            <a:r>
              <a:rPr lang="en-US" noProof="0" dirty="0"/>
              <a:t>&lt;level 1&gt;</a:t>
            </a:r>
          </a:p>
          <a:p>
            <a:pPr lvl="1"/>
            <a:r>
              <a:rPr lang="en-US" noProof="0" dirty="0"/>
              <a:t>&lt;level 2&gt;</a:t>
            </a:r>
          </a:p>
          <a:p>
            <a:pPr lvl="2"/>
            <a:r>
              <a:rPr lang="en-US" noProof="0" dirty="0"/>
              <a:t>&lt;level 3&gt;</a:t>
            </a:r>
          </a:p>
          <a:p>
            <a:pPr lvl="3"/>
            <a:r>
              <a:rPr lang="en-US" noProof="0" dirty="0"/>
              <a:t>&lt;level 4&gt;</a:t>
            </a:r>
          </a:p>
        </p:txBody>
      </p:sp>
      <p:sp>
        <p:nvSpPr>
          <p:cNvPr id="33" name="Rectangle 32"/>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1900" b="0" i="0" u="none" strike="noStrike" kern="0" cap="none" spc="0" normalizeH="0" baseline="0" noProof="0" err="1">
              <a:ln>
                <a:noFill/>
              </a:ln>
              <a:effectLst/>
              <a:uLnTx/>
              <a:uFillTx/>
              <a:ea typeface="Arial Unicode MS" pitchFamily="34" charset="-128"/>
              <a:cs typeface="Arial Unicode MS" pitchFamily="34" charset="-128"/>
            </a:endParaRPr>
          </a:p>
        </p:txBody>
      </p:sp>
      <p:cxnSp>
        <p:nvCxnSpPr>
          <p:cNvPr id="8" name="Straight Connector 7"/>
          <p:cNvCxnSpPr/>
          <p:nvPr/>
        </p:nvCxnSpPr>
        <p:spPr>
          <a:xfrm>
            <a:off x="324000" y="1231485"/>
            <a:ext cx="115452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5" name="Rectangle 94"/>
          <p:cNvSpPr/>
          <p:nvPr userDrawn="1"/>
        </p:nvSpPr>
        <p:spPr bwMode="white">
          <a:xfrm>
            <a:off x="324000" y="6537251"/>
            <a:ext cx="11545200" cy="324075"/>
          </a:xfrm>
          <a:prstGeom prst="rect">
            <a:avLst/>
          </a:prstGeom>
          <a:solidFill>
            <a:schemeClr val="tx1"/>
          </a:solidFill>
          <a:ln w="9525" algn="ctr">
            <a:noFill/>
            <a:miter lim="800000"/>
            <a:headEnd/>
            <a:tailEnd/>
          </a:ln>
        </p:spPr>
        <p:txBody>
          <a:bodyPr lIns="107163" tIns="85730" rIns="107163" bIns="85730" rtlCol="0" anchor="ctr"/>
          <a:lstStyle/>
          <a:p>
            <a:pPr marR="0" algn="ctr" defTabSz="1088776" eaLnBrk="1" fontAlgn="base" latinLnBrk="0" hangingPunct="1">
              <a:lnSpc>
                <a:spcPct val="100000"/>
              </a:lnSpc>
              <a:spcBef>
                <a:spcPct val="50000"/>
              </a:spcBef>
              <a:spcAft>
                <a:spcPct val="0"/>
              </a:spcAft>
              <a:buClr>
                <a:srgbClr val="F0AB00"/>
              </a:buClr>
              <a:buSzPct val="80000"/>
              <a:tabLst/>
            </a:pPr>
            <a:endParaRPr kumimoji="0" lang="en-US" sz="900" b="0" i="0" u="none" strike="noStrike" kern="0" cap="none" spc="0" normalizeH="0" baseline="0" noProof="0" err="1">
              <a:ln>
                <a:noFill/>
              </a:ln>
              <a:effectLst/>
              <a:uLnTx/>
              <a:uFillTx/>
              <a:ea typeface="Arial Unicode MS" pitchFamily="34" charset="-128"/>
              <a:cs typeface="Arial Unicode MS" pitchFamily="34" charset="-128"/>
            </a:endParaRPr>
          </a:p>
        </p:txBody>
      </p:sp>
      <p:sp>
        <p:nvSpPr>
          <p:cNvPr id="10" name="TextBox 9"/>
          <p:cNvSpPr txBox="1"/>
          <p:nvPr userDrawn="1"/>
        </p:nvSpPr>
        <p:spPr bwMode="black">
          <a:xfrm>
            <a:off x="324000" y="6630039"/>
            <a:ext cx="3153112" cy="138499"/>
          </a:xfrm>
          <a:prstGeom prst="rect">
            <a:avLst/>
          </a:prstGeom>
          <a:noFill/>
        </p:spPr>
        <p:txBody>
          <a:bodyPr wrap="none" lIns="85730" tIns="0" rIns="0" bIns="0" rtlCol="0">
            <a:spAutoFit/>
          </a:bodyPr>
          <a:lstStyle/>
          <a:p>
            <a:pPr marL="0" indent="0" algn="l" defTabSz="816226">
              <a:buClr>
                <a:srgbClr val="000000"/>
              </a:buClr>
              <a:buFont typeface="Arial" pitchFamily="34" charset="0"/>
              <a:buNone/>
            </a:pPr>
            <a:r>
              <a:rPr lang="en-US" sz="900" dirty="0">
                <a:solidFill>
                  <a:srgbClr val="FFFFFF"/>
                </a:solidFill>
              </a:rPr>
              <a:t>© </a:t>
            </a:r>
            <a:r>
              <a:rPr lang="en-US" sz="900" dirty="0" smtClean="0">
                <a:solidFill>
                  <a:srgbClr val="FFFFFF"/>
                </a:solidFill>
              </a:rPr>
              <a:t>202</a:t>
            </a:r>
            <a:r>
              <a:rPr lang="de-DE" sz="900" dirty="0" smtClean="0">
                <a:solidFill>
                  <a:srgbClr val="FFFFFF"/>
                </a:solidFill>
              </a:rPr>
              <a:t>5</a:t>
            </a:r>
            <a:r>
              <a:rPr lang="en-US" sz="900" dirty="0" smtClean="0">
                <a:solidFill>
                  <a:srgbClr val="FFFFFF"/>
                </a:solidFill>
              </a:rPr>
              <a:t> </a:t>
            </a:r>
            <a:r>
              <a:rPr lang="en-US" sz="900" dirty="0">
                <a:solidFill>
                  <a:srgbClr val="FFFFFF"/>
                </a:solidFill>
              </a:rPr>
              <a:t>SAP</a:t>
            </a:r>
            <a:r>
              <a:rPr lang="en-US" sz="900" baseline="0" dirty="0">
                <a:solidFill>
                  <a:srgbClr val="FFFFFF"/>
                </a:solidFill>
              </a:rPr>
              <a:t> SE / SAP UCC Magdeburg</a:t>
            </a:r>
            <a:r>
              <a:rPr lang="en-US" sz="900" dirty="0">
                <a:solidFill>
                  <a:srgbClr val="FFFFFF"/>
                </a:solidFill>
              </a:rPr>
              <a:t>. All rights reserved.</a:t>
            </a:r>
          </a:p>
        </p:txBody>
      </p:sp>
      <p:sp>
        <p:nvSpPr>
          <p:cNvPr id="34" name="TextBox 33"/>
          <p:cNvSpPr txBox="1"/>
          <p:nvPr userDrawn="1"/>
        </p:nvSpPr>
        <p:spPr bwMode="black">
          <a:xfrm>
            <a:off x="11640519" y="6630039"/>
            <a:ext cx="227631" cy="138499"/>
          </a:xfrm>
          <a:prstGeom prst="rect">
            <a:avLst/>
          </a:prstGeom>
          <a:noFill/>
        </p:spPr>
        <p:txBody>
          <a:bodyPr wrap="none" lIns="0" tIns="0" rIns="85730" bIns="0" rtlCol="0">
            <a:spAutoFit/>
          </a:bodyPr>
          <a:lstStyle/>
          <a:p>
            <a:pPr marL="111525" indent="-111525" algn="r">
              <a:buClr>
                <a:schemeClr val="accent2"/>
              </a:buClr>
              <a:buFont typeface="Arial" pitchFamily="34" charset="0"/>
              <a:buNone/>
            </a:pPr>
            <a:fld id="{0BDC132A-5C91-4078-9777-31DA19A62E0A}" type="slidenum">
              <a:rPr lang="en-US" sz="900" baseline="0" noProof="0" smtClean="0">
                <a:solidFill>
                  <a:schemeClr val="bg1"/>
                </a:solidFill>
              </a:rPr>
              <a:pPr marL="111525" indent="-111525" algn="r">
                <a:buClr>
                  <a:schemeClr val="accent2"/>
                </a:buClr>
                <a:buFont typeface="Arial" pitchFamily="34" charset="0"/>
                <a:buNone/>
              </a:pPr>
              <a:t>‹Nr.›</a:t>
            </a:fld>
            <a:endParaRPr lang="en-US" sz="900" noProof="0">
              <a:solidFill>
                <a:schemeClr val="bg1"/>
              </a:solidFill>
            </a:endParaRPr>
          </a:p>
        </p:txBody>
      </p:sp>
    </p:spTree>
    <p:extLst>
      <p:ext uri="{BB962C8B-B14F-4D97-AF65-F5344CB8AC3E}">
        <p14:creationId xmlns:p14="http://schemas.microsoft.com/office/powerpoint/2010/main" val="3836400449"/>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56" r:id="rId5"/>
    <p:sldLayoutId id="2147483759" r:id="rId6"/>
    <p:sldLayoutId id="2147483760" r:id="rId7"/>
    <p:sldLayoutId id="2147483746" r:id="rId8"/>
    <p:sldLayoutId id="2147483749" r:id="rId9"/>
    <p:sldLayoutId id="2147483750" r:id="rId10"/>
    <p:sldLayoutId id="2147483751" r:id="rId11"/>
    <p:sldLayoutId id="2147483752" r:id="rId12"/>
    <p:sldLayoutId id="2147483753" r:id="rId13"/>
    <p:sldLayoutId id="2147483754" r:id="rId14"/>
    <p:sldLayoutId id="2147483755" r:id="rId15"/>
    <p:sldLayoutId id="2147483745" r:id="rId16"/>
    <p:sldLayoutId id="2147483757" r:id="rId17"/>
    <p:sldLayoutId id="2147483758" r:id="rId18"/>
    <p:sldLayoutId id="2147483762" r:id="rId19"/>
  </p:sldLayoutIdLst>
  <p:hf hdr="0" ftr="0" dt="0"/>
  <p:txStyles>
    <p:titleStyle>
      <a:lvl1pPr algn="l" defTabSz="1088776" rtl="0" eaLnBrk="1" latinLnBrk="0" hangingPunct="1">
        <a:spcBef>
          <a:spcPct val="0"/>
        </a:spcBef>
        <a:buNone/>
        <a:defRPr sz="2800" b="1" kern="1200">
          <a:solidFill>
            <a:schemeClr val="accent2"/>
          </a:solidFill>
          <a:latin typeface="+mj-lt"/>
          <a:ea typeface="+mj-ea"/>
          <a:cs typeface="+mj-cs"/>
        </a:defRPr>
      </a:lvl1pPr>
    </p:titleStyle>
    <p:bodyStyle>
      <a:lvl1pPr marL="201600" indent="-201600" algn="l" defTabSz="1088776" rtl="0" eaLnBrk="1" latinLnBrk="0" hangingPunct="1">
        <a:spcBef>
          <a:spcPts val="0"/>
        </a:spcBef>
        <a:buClr>
          <a:schemeClr val="accent1"/>
        </a:buClr>
        <a:buSzPct val="100000"/>
        <a:buFont typeface="Wingdings" panose="05000000000000000000" pitchFamily="2" charset="2"/>
        <a:buChar char="§"/>
        <a:defRPr sz="1800" b="0" kern="1200">
          <a:solidFill>
            <a:schemeClr val="tx1"/>
          </a:solidFill>
          <a:latin typeface="+mn-lt"/>
          <a:ea typeface="+mn-ea"/>
          <a:cs typeface="+mn-cs"/>
        </a:defRPr>
      </a:lvl1pPr>
      <a:lvl2pPr marL="417600" indent="-216000" algn="l" defTabSz="1088776" rtl="0" eaLnBrk="1" latinLnBrk="0" hangingPunct="1">
        <a:spcBef>
          <a:spcPts val="338"/>
        </a:spcBef>
        <a:buClr>
          <a:schemeClr val="accent1"/>
        </a:buClr>
        <a:buSzPct val="100000"/>
        <a:buFont typeface="Arial" panose="020B0604020202020204" pitchFamily="34" charset="0"/>
        <a:buChar char="•"/>
        <a:defRPr sz="1600" kern="1200">
          <a:solidFill>
            <a:schemeClr val="tx1"/>
          </a:solidFill>
          <a:latin typeface="+mn-lt"/>
          <a:ea typeface="+mn-ea"/>
          <a:cs typeface="+mn-cs"/>
        </a:defRPr>
      </a:lvl2pPr>
      <a:lvl3pPr marL="540000" indent="-216000" algn="l" defTabSz="1088776" rtl="0" eaLnBrk="1" latinLnBrk="0" hangingPunct="1">
        <a:spcBef>
          <a:spcPts val="225"/>
        </a:spcBef>
        <a:buClr>
          <a:schemeClr val="accent1"/>
        </a:buClr>
        <a:buSzPct val="75000"/>
        <a:buFont typeface="Symbol" panose="05050102010706020507" pitchFamily="18" charset="2"/>
        <a:buChar char="-"/>
        <a:defRPr sz="1450" kern="1200">
          <a:solidFill>
            <a:schemeClr val="tx1"/>
          </a:solidFill>
          <a:latin typeface="+mn-lt"/>
          <a:ea typeface="+mn-ea"/>
          <a:cs typeface="+mn-cs"/>
        </a:defRPr>
      </a:lvl3pPr>
      <a:lvl4pPr marL="720000" indent="-216000" algn="l" defTabSz="1088776" rtl="0" eaLnBrk="1" latinLnBrk="0" hangingPunct="1">
        <a:spcBef>
          <a:spcPts val="140"/>
        </a:spcBef>
        <a:buClr>
          <a:schemeClr val="accent1"/>
        </a:buClr>
        <a:buSzPct val="75000"/>
        <a:buFont typeface="Courier New" panose="02070309020205020404" pitchFamily="49" charset="0"/>
        <a:buChar char="o"/>
        <a:defRPr sz="1300" kern="1200" baseline="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776" rtl="0" eaLnBrk="1" latinLnBrk="0" hangingPunct="1">
        <a:defRPr sz="2100" kern="1200">
          <a:solidFill>
            <a:schemeClr val="tx1"/>
          </a:solidFill>
          <a:latin typeface="+mn-lt"/>
          <a:ea typeface="+mn-ea"/>
          <a:cs typeface="+mn-cs"/>
        </a:defRPr>
      </a:lvl1pPr>
      <a:lvl2pPr marL="544388" algn="l" defTabSz="1088776" rtl="0" eaLnBrk="1" latinLnBrk="0" hangingPunct="1">
        <a:defRPr sz="2100" kern="1200">
          <a:solidFill>
            <a:schemeClr val="tx1"/>
          </a:solidFill>
          <a:latin typeface="+mn-lt"/>
          <a:ea typeface="+mn-ea"/>
          <a:cs typeface="+mn-cs"/>
        </a:defRPr>
      </a:lvl2pPr>
      <a:lvl3pPr marL="1088776" algn="l" defTabSz="1088776" rtl="0" eaLnBrk="1" latinLnBrk="0" hangingPunct="1">
        <a:defRPr sz="2100" kern="1200">
          <a:solidFill>
            <a:schemeClr val="tx1"/>
          </a:solidFill>
          <a:latin typeface="+mn-lt"/>
          <a:ea typeface="+mn-ea"/>
          <a:cs typeface="+mn-cs"/>
        </a:defRPr>
      </a:lvl3pPr>
      <a:lvl4pPr marL="1633164" algn="l" defTabSz="1088776" rtl="0" eaLnBrk="1" latinLnBrk="0" hangingPunct="1">
        <a:defRPr sz="2100" kern="1200">
          <a:solidFill>
            <a:schemeClr val="tx1"/>
          </a:solidFill>
          <a:latin typeface="+mn-lt"/>
          <a:ea typeface="+mn-ea"/>
          <a:cs typeface="+mn-cs"/>
        </a:defRPr>
      </a:lvl4pPr>
      <a:lvl5pPr marL="2177552" algn="l" defTabSz="1088776" rtl="0" eaLnBrk="1" latinLnBrk="0" hangingPunct="1">
        <a:defRPr sz="2100" kern="1200">
          <a:solidFill>
            <a:schemeClr val="tx1"/>
          </a:solidFill>
          <a:latin typeface="+mn-lt"/>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Project Management (PS) </a:t>
            </a:r>
          </a:p>
        </p:txBody>
      </p:sp>
      <p:sp>
        <p:nvSpPr>
          <p:cNvPr id="3" name="Untertitel 2"/>
          <p:cNvSpPr>
            <a:spLocks noGrp="1"/>
          </p:cNvSpPr>
          <p:nvPr>
            <p:ph type="subTitle" idx="1"/>
          </p:nvPr>
        </p:nvSpPr>
        <p:spPr/>
        <p:txBody>
          <a:bodyPr/>
          <a:lstStyle/>
          <a:p>
            <a:r>
              <a:rPr lang="en-US" dirty="0"/>
              <a:t>Curriculum: Introduction to S/4HANA using Global Bike</a:t>
            </a:r>
          </a:p>
          <a:p>
            <a:endParaRPr lang="en-US" dirty="0"/>
          </a:p>
        </p:txBody>
      </p:sp>
    </p:spTree>
    <p:extLst>
      <p:ext uri="{BB962C8B-B14F-4D97-AF65-F5344CB8AC3E}">
        <p14:creationId xmlns:p14="http://schemas.microsoft.com/office/powerpoint/2010/main" val="17124228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p:cNvSpPr>
            <a:spLocks noGrp="1"/>
          </p:cNvSpPr>
          <p:nvPr>
            <p:ph type="body" sz="quarter" idx="12"/>
          </p:nvPr>
        </p:nvSpPr>
        <p:spPr>
          <a:xfrm>
            <a:off x="2327108" y="3568361"/>
            <a:ext cx="9542092" cy="530990"/>
          </a:xfrm>
        </p:spPr>
        <p:txBody>
          <a:bodyPr/>
          <a:lstStyle/>
          <a:p>
            <a:r>
              <a:rPr lang="de-DE" dirty="0"/>
              <a:t>S/4HANA </a:t>
            </a:r>
            <a:r>
              <a:rPr lang="de-DE" dirty="0" smtClean="0"/>
              <a:t>2023</a:t>
            </a:r>
            <a:endParaRPr lang="de-DE" dirty="0"/>
          </a:p>
          <a:p>
            <a:r>
              <a:rPr lang="de-DE" dirty="0" err="1"/>
              <a:t>Fiori</a:t>
            </a:r>
            <a:r>
              <a:rPr lang="de-DE" dirty="0"/>
              <a:t> </a:t>
            </a:r>
            <a:r>
              <a:rPr lang="de-DE" dirty="0" smtClean="0"/>
              <a:t>3.0</a:t>
            </a:r>
            <a:endParaRPr lang="de-DE" dirty="0"/>
          </a:p>
        </p:txBody>
      </p:sp>
      <p:sp>
        <p:nvSpPr>
          <p:cNvPr id="4" name="Textplatzhalter 3"/>
          <p:cNvSpPr>
            <a:spLocks noGrp="1"/>
          </p:cNvSpPr>
          <p:nvPr>
            <p:ph type="body" sz="quarter" idx="13"/>
          </p:nvPr>
        </p:nvSpPr>
        <p:spPr/>
        <p:txBody>
          <a:bodyPr/>
          <a:lstStyle/>
          <a:p>
            <a:r>
              <a:rPr lang="de-DE" dirty="0"/>
              <a:t>No Prerequisites needed</a:t>
            </a:r>
          </a:p>
          <a:p>
            <a:endParaRPr lang="de-DE" dirty="0"/>
          </a:p>
        </p:txBody>
      </p:sp>
      <p:sp>
        <p:nvSpPr>
          <p:cNvPr id="5" name="Textplatzhalter 21"/>
          <p:cNvSpPr>
            <a:spLocks noGrp="1"/>
          </p:cNvSpPr>
          <p:nvPr>
            <p:ph type="body" sz="quarter" idx="16" hasCustomPrompt="1"/>
          </p:nvPr>
        </p:nvSpPr>
        <p:spPr>
          <a:xfrm>
            <a:off x="2327108" y="4520696"/>
            <a:ext cx="9542092" cy="530990"/>
          </a:xfrm>
          <a:prstGeom prst="rect">
            <a:avLst/>
          </a:prstGeom>
        </p:spPr>
        <p:txBody>
          <a:bodyPr/>
          <a:lstStyle>
            <a:lvl1pPr marL="214298" indent="-214298">
              <a:lnSpc>
                <a:spcPct val="100000"/>
              </a:lnSpc>
              <a:spcBef>
                <a:spcPts val="0"/>
              </a:spcBef>
              <a:spcAft>
                <a:spcPts val="0"/>
              </a:spcAft>
              <a:buClr>
                <a:schemeClr val="bg1">
                  <a:lumMod val="65000"/>
                </a:schemeClr>
              </a:buClr>
              <a:buSzPct val="100000"/>
              <a:buFont typeface="Arial" panose="020B0604020202020204" pitchFamily="34" charset="0"/>
              <a:buChar char="•"/>
              <a:defRPr sz="1600" b="0" baseline="0">
                <a:solidFill>
                  <a:schemeClr val="tx1"/>
                </a:solidFill>
              </a:defRPr>
            </a:lvl1pPr>
            <a:lvl2pPr marL="405974" indent="-214298">
              <a:lnSpc>
                <a:spcPct val="100000"/>
              </a:lnSpc>
              <a:spcBef>
                <a:spcPts val="0"/>
              </a:spcBef>
              <a:spcAft>
                <a:spcPts val="0"/>
              </a:spcAft>
              <a:buClr>
                <a:schemeClr val="tx2"/>
              </a:buClr>
              <a:buSzPct val="100000"/>
              <a:buFont typeface="Arial" panose="020B0604020202020204" pitchFamily="34" charset="0"/>
              <a:buChar char="•"/>
              <a:defRPr/>
            </a:lvl2pPr>
          </a:lstStyle>
          <a:p>
            <a:pPr lvl="0"/>
            <a:r>
              <a:rPr lang="de-DE" dirty="0"/>
              <a:t>Global Bike</a:t>
            </a:r>
          </a:p>
        </p:txBody>
      </p:sp>
      <p:sp>
        <p:nvSpPr>
          <p:cNvPr id="6" name="Textplatzhalter 5"/>
          <p:cNvSpPr>
            <a:spLocks noGrp="1"/>
          </p:cNvSpPr>
          <p:nvPr>
            <p:ph type="body" sz="quarter" idx="15"/>
          </p:nvPr>
        </p:nvSpPr>
        <p:spPr/>
        <p:txBody>
          <a:bodyPr/>
          <a:lstStyle/>
          <a:p>
            <a:r>
              <a:rPr lang="de-DE" dirty="0" smtClean="0"/>
              <a:t>4.3 (</a:t>
            </a:r>
            <a:r>
              <a:rPr lang="de-DE" dirty="0" err="1" smtClean="0"/>
              <a:t>July</a:t>
            </a:r>
            <a:r>
              <a:rPr lang="de-DE" dirty="0" smtClean="0"/>
              <a:t> 2025)</a:t>
            </a:r>
            <a:endParaRPr lang="de-DE" dirty="0"/>
          </a:p>
        </p:txBody>
      </p:sp>
      <p:pic>
        <p:nvPicPr>
          <p:cNvPr id="7" name="Grafik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0000" y="3240000"/>
            <a:ext cx="4858331" cy="1800000"/>
          </a:xfrm>
          <a:prstGeom prst="rect">
            <a:avLst/>
          </a:prstGeom>
        </p:spPr>
      </p:pic>
    </p:spTree>
    <p:extLst>
      <p:ext uri="{BB962C8B-B14F-4D97-AF65-F5344CB8AC3E}">
        <p14:creationId xmlns:p14="http://schemas.microsoft.com/office/powerpoint/2010/main" val="3117506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5"/>
          </p:nvPr>
        </p:nvSpPr>
        <p:spPr/>
        <p:txBody>
          <a:bodyPr/>
          <a:lstStyle/>
          <a:p>
            <a:r>
              <a:rPr lang="de-DE" dirty="0"/>
              <a:t>Martin Wassmann</a:t>
            </a:r>
          </a:p>
          <a:p>
            <a:r>
              <a:rPr lang="de-DE" dirty="0"/>
              <a:t>Bret Wagner</a:t>
            </a:r>
          </a:p>
          <a:p>
            <a:r>
              <a:rPr lang="de-DE" dirty="0"/>
              <a:t>Stefan Weidner</a:t>
            </a:r>
          </a:p>
          <a:p>
            <a:r>
              <a:rPr lang="de-DE" dirty="0"/>
              <a:t>Babett Ruß</a:t>
            </a:r>
          </a:p>
          <a:p>
            <a:endParaRPr lang="de-DE" dirty="0"/>
          </a:p>
        </p:txBody>
      </p:sp>
      <p:sp>
        <p:nvSpPr>
          <p:cNvPr id="3" name="Textplatzhalter 2"/>
          <p:cNvSpPr>
            <a:spLocks noGrp="1"/>
          </p:cNvSpPr>
          <p:nvPr>
            <p:ph type="body" sz="quarter" idx="16"/>
          </p:nvPr>
        </p:nvSpPr>
        <p:spPr/>
        <p:txBody>
          <a:bodyPr/>
          <a:lstStyle/>
          <a:p>
            <a:r>
              <a:rPr lang="de-DE" dirty="0"/>
              <a:t>Beginner</a:t>
            </a:r>
          </a:p>
        </p:txBody>
      </p:sp>
    </p:spTree>
    <p:extLst>
      <p:ext uri="{BB962C8B-B14F-4D97-AF65-F5344CB8AC3E}">
        <p14:creationId xmlns:p14="http://schemas.microsoft.com/office/powerpoint/2010/main" val="18811196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p:cNvSpPr>
            <a:spLocks noGrp="1"/>
          </p:cNvSpPr>
          <p:nvPr>
            <p:ph type="body" sz="quarter" idx="15"/>
          </p:nvPr>
        </p:nvSpPr>
        <p:spPr>
          <a:xfrm>
            <a:off x="2038856" y="2624439"/>
            <a:ext cx="9830344" cy="1661314"/>
          </a:xfrm>
        </p:spPr>
        <p:txBody>
          <a:bodyPr/>
          <a:lstStyle/>
          <a:p>
            <a:pPr marL="72000" indent="0">
              <a:buNone/>
            </a:pPr>
            <a:r>
              <a:rPr lang="en-US" dirty="0"/>
              <a:t>You are able to</a:t>
            </a:r>
          </a:p>
          <a:p>
            <a:r>
              <a:rPr lang="en-US" dirty="0"/>
              <a:t>define the central organizational structures of the PS module.</a:t>
            </a:r>
          </a:p>
          <a:p>
            <a:r>
              <a:rPr lang="en-US" dirty="0"/>
              <a:t>summarize the master data which is most important for the PS module.</a:t>
            </a:r>
          </a:p>
          <a:p>
            <a:r>
              <a:rPr lang="en-US" dirty="0"/>
              <a:t>explain a standard process of the Project Management.</a:t>
            </a:r>
          </a:p>
        </p:txBody>
      </p:sp>
    </p:spTree>
    <p:extLst>
      <p:ext uri="{BB962C8B-B14F-4D97-AF65-F5344CB8AC3E}">
        <p14:creationId xmlns:p14="http://schemas.microsoft.com/office/powerpoint/2010/main" val="17600775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Agenda</a:t>
            </a:r>
          </a:p>
        </p:txBody>
      </p:sp>
      <p:sp>
        <p:nvSpPr>
          <p:cNvPr id="3" name="Inhaltsplatzhalter 2"/>
          <p:cNvSpPr>
            <a:spLocks noGrp="1"/>
          </p:cNvSpPr>
          <p:nvPr>
            <p:ph idx="1"/>
          </p:nvPr>
        </p:nvSpPr>
        <p:spPr/>
        <p:txBody>
          <a:bodyPr/>
          <a:lstStyle/>
          <a:p>
            <a:pPr>
              <a:tabLst>
                <a:tab pos="1971675" algn="l"/>
              </a:tabLst>
            </a:pPr>
            <a:r>
              <a:rPr lang="de-DE" dirty="0"/>
              <a:t>PS </a:t>
            </a:r>
            <a:r>
              <a:rPr lang="de-DE" dirty="0" err="1"/>
              <a:t>Organizational</a:t>
            </a:r>
            <a:r>
              <a:rPr lang="de-DE" dirty="0"/>
              <a:t> </a:t>
            </a:r>
            <a:r>
              <a:rPr lang="de-DE" dirty="0" err="1"/>
              <a:t>Structure</a:t>
            </a:r>
            <a:endParaRPr lang="de-DE" dirty="0"/>
          </a:p>
          <a:p>
            <a:pPr marL="0" indent="0">
              <a:buNone/>
              <a:tabLst>
                <a:tab pos="1971675" algn="l"/>
              </a:tabLst>
            </a:pPr>
            <a:endParaRPr lang="de-DE" dirty="0"/>
          </a:p>
          <a:p>
            <a:pPr>
              <a:tabLst>
                <a:tab pos="1971675" algn="l"/>
              </a:tabLst>
            </a:pPr>
            <a:r>
              <a:rPr lang="de-DE" dirty="0"/>
              <a:t>PS Master Data </a:t>
            </a:r>
          </a:p>
          <a:p>
            <a:pPr>
              <a:tabLst>
                <a:tab pos="1971675" algn="l"/>
              </a:tabLst>
            </a:pPr>
            <a:endParaRPr lang="de-DE" dirty="0"/>
          </a:p>
          <a:p>
            <a:pPr>
              <a:tabLst>
                <a:tab pos="1971675" algn="l"/>
              </a:tabLst>
            </a:pPr>
            <a:r>
              <a:rPr lang="de-DE" dirty="0"/>
              <a:t>PS </a:t>
            </a:r>
            <a:r>
              <a:rPr lang="de-DE" dirty="0" err="1"/>
              <a:t>Processes</a:t>
            </a:r>
            <a:endParaRPr lang="de-DE" dirty="0"/>
          </a:p>
          <a:p>
            <a:pPr lvl="1">
              <a:tabLst>
                <a:tab pos="1971675" algn="l"/>
              </a:tabLst>
            </a:pPr>
            <a:r>
              <a:rPr lang="de-DE" dirty="0"/>
              <a:t>Project </a:t>
            </a:r>
            <a:r>
              <a:rPr lang="de-DE" dirty="0" err="1"/>
              <a:t>Planning</a:t>
            </a:r>
            <a:endParaRPr lang="de-DE" dirty="0"/>
          </a:p>
          <a:p>
            <a:pPr lvl="1">
              <a:tabLst>
                <a:tab pos="1971675" algn="l"/>
              </a:tabLst>
            </a:pPr>
            <a:r>
              <a:rPr lang="de-DE" dirty="0"/>
              <a:t>Project </a:t>
            </a:r>
            <a:r>
              <a:rPr lang="de-DE" dirty="0" err="1"/>
              <a:t>Execution</a:t>
            </a:r>
            <a:endParaRPr lang="de-DE" dirty="0"/>
          </a:p>
          <a:p>
            <a:pPr lvl="1">
              <a:tabLst>
                <a:tab pos="1971675" algn="l"/>
              </a:tabLst>
            </a:pPr>
            <a:r>
              <a:rPr lang="de-DE" dirty="0"/>
              <a:t>Project </a:t>
            </a:r>
            <a:r>
              <a:rPr lang="de-DE" dirty="0" err="1"/>
              <a:t>Closure</a:t>
            </a:r>
            <a:endParaRPr lang="de-DE" dirty="0"/>
          </a:p>
          <a:p>
            <a:pPr marL="0" indent="0">
              <a:buNone/>
            </a:pPr>
            <a:endParaRPr lang="de-DE" dirty="0"/>
          </a:p>
        </p:txBody>
      </p:sp>
    </p:spTree>
    <p:extLst>
      <p:ext uri="{BB962C8B-B14F-4D97-AF65-F5344CB8AC3E}">
        <p14:creationId xmlns:p14="http://schemas.microsoft.com/office/powerpoint/2010/main" val="3342491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dirty="0"/>
              <a:t>Agenda</a:t>
            </a:r>
          </a:p>
        </p:txBody>
      </p:sp>
      <p:sp>
        <p:nvSpPr>
          <p:cNvPr id="3" name="Inhaltsplatzhalter 2"/>
          <p:cNvSpPr>
            <a:spLocks noGrp="1"/>
          </p:cNvSpPr>
          <p:nvPr>
            <p:ph idx="1"/>
          </p:nvPr>
        </p:nvSpPr>
        <p:spPr/>
        <p:txBody>
          <a:bodyPr/>
          <a:lstStyle/>
          <a:p>
            <a:pPr>
              <a:tabLst>
                <a:tab pos="1971675" algn="l"/>
              </a:tabLst>
            </a:pPr>
            <a:r>
              <a:rPr lang="de-DE" dirty="0"/>
              <a:t>PS </a:t>
            </a:r>
            <a:r>
              <a:rPr lang="de-DE" dirty="0" err="1"/>
              <a:t>Organizational</a:t>
            </a:r>
            <a:r>
              <a:rPr lang="de-DE" dirty="0"/>
              <a:t> </a:t>
            </a:r>
            <a:r>
              <a:rPr lang="de-DE" dirty="0" err="1"/>
              <a:t>Structure</a:t>
            </a:r>
            <a:endParaRPr lang="de-DE" dirty="0"/>
          </a:p>
          <a:p>
            <a:pPr marL="0" indent="0">
              <a:buNone/>
              <a:tabLst>
                <a:tab pos="1971675" algn="l"/>
              </a:tabLst>
            </a:pPr>
            <a:endParaRPr lang="de-DE" dirty="0"/>
          </a:p>
          <a:p>
            <a:pPr>
              <a:tabLst>
                <a:tab pos="1971675" algn="l"/>
              </a:tabLst>
            </a:pPr>
            <a:r>
              <a:rPr lang="de-DE" dirty="0">
                <a:solidFill>
                  <a:srgbClr val="B2B2B2"/>
                </a:solidFill>
              </a:rPr>
              <a:t>PS Master Data </a:t>
            </a:r>
          </a:p>
          <a:p>
            <a:pPr>
              <a:tabLst>
                <a:tab pos="1971675" algn="l"/>
              </a:tabLst>
            </a:pPr>
            <a:endParaRPr lang="de-DE" dirty="0">
              <a:solidFill>
                <a:srgbClr val="B2B2B2"/>
              </a:solidFill>
            </a:endParaRPr>
          </a:p>
          <a:p>
            <a:pPr>
              <a:tabLst>
                <a:tab pos="1971675" algn="l"/>
              </a:tabLst>
            </a:pPr>
            <a:r>
              <a:rPr lang="de-DE" dirty="0">
                <a:solidFill>
                  <a:srgbClr val="B2B2B2"/>
                </a:solidFill>
              </a:rPr>
              <a:t>PS </a:t>
            </a:r>
            <a:r>
              <a:rPr lang="de-DE" dirty="0" err="1">
                <a:solidFill>
                  <a:srgbClr val="B2B2B2"/>
                </a:solidFill>
              </a:rPr>
              <a:t>Processes</a:t>
            </a:r>
            <a:endParaRPr lang="de-DE" dirty="0">
              <a:solidFill>
                <a:srgbClr val="B2B2B2"/>
              </a:solidFill>
            </a:endParaRPr>
          </a:p>
          <a:p>
            <a:pPr lvl="1">
              <a:tabLst>
                <a:tab pos="1971675" algn="l"/>
              </a:tabLst>
            </a:pPr>
            <a:r>
              <a:rPr lang="de-DE" dirty="0">
                <a:solidFill>
                  <a:srgbClr val="B2B2B2"/>
                </a:solidFill>
              </a:rPr>
              <a:t>Project </a:t>
            </a:r>
            <a:r>
              <a:rPr lang="de-DE" dirty="0" err="1">
                <a:solidFill>
                  <a:srgbClr val="B2B2B2"/>
                </a:solidFill>
              </a:rPr>
              <a:t>Planning</a:t>
            </a:r>
            <a:endParaRPr lang="de-DE" dirty="0">
              <a:solidFill>
                <a:srgbClr val="B2B2B2"/>
              </a:solidFill>
            </a:endParaRPr>
          </a:p>
          <a:p>
            <a:pPr lvl="1">
              <a:tabLst>
                <a:tab pos="1971675" algn="l"/>
              </a:tabLst>
            </a:pPr>
            <a:r>
              <a:rPr lang="de-DE" dirty="0">
                <a:solidFill>
                  <a:srgbClr val="B2B2B2"/>
                </a:solidFill>
              </a:rPr>
              <a:t>Project </a:t>
            </a:r>
            <a:r>
              <a:rPr lang="de-DE" dirty="0" err="1">
                <a:solidFill>
                  <a:srgbClr val="B2B2B2"/>
                </a:solidFill>
              </a:rPr>
              <a:t>Execution</a:t>
            </a:r>
            <a:endParaRPr lang="de-DE" dirty="0">
              <a:solidFill>
                <a:srgbClr val="B2B2B2"/>
              </a:solidFill>
            </a:endParaRPr>
          </a:p>
          <a:p>
            <a:pPr lvl="1">
              <a:tabLst>
                <a:tab pos="1971675" algn="l"/>
              </a:tabLst>
            </a:pPr>
            <a:r>
              <a:rPr lang="de-DE" dirty="0">
                <a:solidFill>
                  <a:srgbClr val="B2B2B2"/>
                </a:solidFill>
              </a:rPr>
              <a:t>Project </a:t>
            </a:r>
            <a:r>
              <a:rPr lang="de-DE" dirty="0" err="1">
                <a:solidFill>
                  <a:srgbClr val="B2B2B2"/>
                </a:solidFill>
              </a:rPr>
              <a:t>Closure</a:t>
            </a:r>
            <a:endParaRPr lang="de-DE" dirty="0">
              <a:solidFill>
                <a:srgbClr val="B2B2B2"/>
              </a:solidFill>
            </a:endParaRPr>
          </a:p>
          <a:p>
            <a:endParaRPr lang="de-DE" dirty="0"/>
          </a:p>
        </p:txBody>
      </p:sp>
    </p:spTree>
    <p:extLst>
      <p:ext uri="{BB962C8B-B14F-4D97-AF65-F5344CB8AC3E}">
        <p14:creationId xmlns:p14="http://schemas.microsoft.com/office/powerpoint/2010/main" val="38629778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PS </a:t>
            </a:r>
            <a:r>
              <a:rPr lang="de-DE" err="1"/>
              <a:t>Organizational</a:t>
            </a:r>
            <a:r>
              <a:rPr lang="de-DE"/>
              <a:t> </a:t>
            </a:r>
            <a:r>
              <a:rPr lang="de-DE" err="1"/>
              <a:t>Structure</a:t>
            </a:r>
            <a:r>
              <a:rPr lang="de-DE"/>
              <a:t> (Project Management)</a:t>
            </a:r>
          </a:p>
        </p:txBody>
      </p:sp>
      <p:sp>
        <p:nvSpPr>
          <p:cNvPr id="3" name="Textplatzhalter 2"/>
          <p:cNvSpPr>
            <a:spLocks noGrp="1"/>
          </p:cNvSpPr>
          <p:nvPr>
            <p:ph type="body" sz="quarter" idx="4294967295"/>
          </p:nvPr>
        </p:nvSpPr>
        <p:spPr>
          <a:xfrm>
            <a:off x="324000" y="1692392"/>
            <a:ext cx="11545200" cy="3832705"/>
          </a:xfrm>
        </p:spPr>
        <p:txBody>
          <a:bodyPr/>
          <a:lstStyle/>
          <a:p>
            <a:pPr>
              <a:tabLst>
                <a:tab pos="1971675" algn="l"/>
              </a:tabLst>
            </a:pPr>
            <a:r>
              <a:rPr lang="en-US" dirty="0"/>
              <a:t>Organizational structure needs to be defined in </a:t>
            </a:r>
            <a:r>
              <a:rPr lang="en-US" dirty="0" smtClean="0"/>
              <a:t>order to </a:t>
            </a:r>
            <a:r>
              <a:rPr lang="en-US" dirty="0"/>
              <a:t>define execution of project</a:t>
            </a:r>
          </a:p>
          <a:p>
            <a:pPr lvl="1">
              <a:tabLst>
                <a:tab pos="1971675" algn="l"/>
              </a:tabLst>
            </a:pPr>
            <a:r>
              <a:rPr lang="en-US" dirty="0"/>
              <a:t>Project system itself does not own its own organizational structure</a:t>
            </a:r>
          </a:p>
          <a:p>
            <a:pPr lvl="1">
              <a:tabLst>
                <a:tab pos="1971675" algn="l"/>
              </a:tabLst>
            </a:pPr>
            <a:r>
              <a:rPr lang="en-US" dirty="0" smtClean="0"/>
              <a:t>PS </a:t>
            </a:r>
            <a:r>
              <a:rPr lang="en-US" dirty="0"/>
              <a:t>inherits it's </a:t>
            </a:r>
            <a:r>
              <a:rPr lang="en-US" dirty="0" smtClean="0"/>
              <a:t>organization structures </a:t>
            </a:r>
            <a:r>
              <a:rPr lang="en-US" dirty="0"/>
              <a:t>via assignment into organizational units in the enterprise structure</a:t>
            </a:r>
          </a:p>
          <a:p>
            <a:pPr lvl="1">
              <a:tabLst>
                <a:tab pos="1971675" algn="l"/>
              </a:tabLst>
            </a:pPr>
            <a:r>
              <a:rPr lang="en-US" dirty="0"/>
              <a:t>The PS module is integrated to the modules Finance and Logistics</a:t>
            </a:r>
          </a:p>
          <a:p>
            <a:pPr lvl="1">
              <a:tabLst>
                <a:tab pos="1971675" algn="l"/>
              </a:tabLst>
            </a:pPr>
            <a:r>
              <a:rPr lang="en-US" dirty="0"/>
              <a:t>The productivity of this module </a:t>
            </a:r>
            <a:r>
              <a:rPr lang="en-US" dirty="0" smtClean="0"/>
              <a:t>is mainly created </a:t>
            </a:r>
            <a:r>
              <a:rPr lang="en-US" dirty="0"/>
              <a:t>through the integration of other SAP modules</a:t>
            </a:r>
          </a:p>
          <a:p>
            <a:pPr lvl="1" algn="r">
              <a:tabLst>
                <a:tab pos="1971675" algn="l"/>
              </a:tabLst>
            </a:pPr>
            <a:endParaRPr lang="de-DE" dirty="0"/>
          </a:p>
          <a:p>
            <a:endParaRPr lang="de-DE" dirty="0"/>
          </a:p>
        </p:txBody>
      </p:sp>
      <p:grpSp>
        <p:nvGrpSpPr>
          <p:cNvPr id="10" name="Gruppieren 9"/>
          <p:cNvGrpSpPr/>
          <p:nvPr/>
        </p:nvGrpSpPr>
        <p:grpSpPr>
          <a:xfrm>
            <a:off x="2639819" y="3883526"/>
            <a:ext cx="6913562" cy="1944688"/>
            <a:chOff x="1042988" y="4292600"/>
            <a:chExt cx="6913562" cy="1944688"/>
          </a:xfrm>
        </p:grpSpPr>
        <p:sp>
          <p:nvSpPr>
            <p:cNvPr id="4" name="Textfeld 30"/>
            <p:cNvSpPr txBox="1">
              <a:spLocks noChangeArrowheads="1"/>
            </p:cNvSpPr>
            <p:nvPr/>
          </p:nvSpPr>
          <p:spPr bwMode="auto">
            <a:xfrm>
              <a:off x="1042988" y="4292600"/>
              <a:ext cx="2736850" cy="635000"/>
            </a:xfrm>
            <a:prstGeom prst="rect">
              <a:avLst/>
            </a:prstGeom>
            <a:solidFill>
              <a:schemeClr val="bg1">
                <a:lumMod val="85000"/>
              </a:schemeClr>
            </a:solidFill>
            <a:ln w="15875">
              <a:solidFill>
                <a:schemeClr val="bg1">
                  <a:lumMod val="65000"/>
                </a:schemeClr>
              </a:solidFill>
              <a:miter lim="800000"/>
              <a:headEnd/>
              <a:tailEnd/>
            </a:ln>
          </p:spPr>
          <p:txBody>
            <a:bodyPr>
              <a:spAutoFit/>
            </a:bodyPr>
            <a:lstStyle/>
            <a:p>
              <a:pPr>
                <a:defRPr/>
              </a:pPr>
              <a:r>
                <a:rPr lang="de-DE" sz="1600" b="0"/>
                <a:t>Sales </a:t>
              </a:r>
              <a:r>
                <a:rPr lang="en-US" sz="1600" b="0"/>
                <a:t>order execution</a:t>
              </a:r>
            </a:p>
            <a:p>
              <a:pPr>
                <a:defRPr/>
              </a:pPr>
              <a:r>
                <a:rPr lang="de-DE" sz="1600" b="0"/>
                <a:t>in Project Management</a:t>
              </a:r>
            </a:p>
          </p:txBody>
        </p:sp>
        <p:cxnSp>
          <p:nvCxnSpPr>
            <p:cNvPr id="5" name="Gerade Verbindung mit Pfeil 4"/>
            <p:cNvCxnSpPr/>
            <p:nvPr/>
          </p:nvCxnSpPr>
          <p:spPr bwMode="auto">
            <a:xfrm>
              <a:off x="4067175" y="4579938"/>
              <a:ext cx="1150938" cy="0"/>
            </a:xfrm>
            <a:prstGeom prst="straightConnector1">
              <a:avLst/>
            </a:prstGeom>
            <a:noFill/>
            <a:ln w="28575" cap="flat" cmpd="sng" algn="ctr">
              <a:solidFill>
                <a:schemeClr val="bg1">
                  <a:lumMod val="65000"/>
                </a:schemeClr>
              </a:solidFill>
              <a:prstDash val="solid"/>
              <a:round/>
              <a:headEnd type="none" w="med" len="med"/>
              <a:tailEnd type="arrow"/>
            </a:ln>
            <a:effectLst/>
          </p:spPr>
        </p:cxnSp>
        <p:sp>
          <p:nvSpPr>
            <p:cNvPr id="6" name="Textfeld 33"/>
            <p:cNvSpPr txBox="1">
              <a:spLocks noChangeArrowheads="1"/>
            </p:cNvSpPr>
            <p:nvPr/>
          </p:nvSpPr>
          <p:spPr bwMode="auto">
            <a:xfrm>
              <a:off x="5651500" y="4292600"/>
              <a:ext cx="2305050" cy="585788"/>
            </a:xfrm>
            <a:prstGeom prst="rect">
              <a:avLst/>
            </a:prstGeom>
            <a:solidFill>
              <a:schemeClr val="bg1">
                <a:lumMod val="85000"/>
              </a:schemeClr>
            </a:solidFill>
            <a:ln w="15875">
              <a:solidFill>
                <a:schemeClr val="bg1">
                  <a:lumMod val="65000"/>
                </a:schemeClr>
              </a:solidFill>
              <a:miter lim="800000"/>
              <a:headEnd/>
              <a:tailEnd/>
            </a:ln>
          </p:spPr>
          <p:txBody>
            <a:bodyPr>
              <a:spAutoFit/>
            </a:bodyPr>
            <a:lstStyle/>
            <a:p>
              <a:pPr>
                <a:defRPr/>
              </a:pPr>
              <a:r>
                <a:rPr lang="de-DE" sz="1600" b="0"/>
                <a:t>Sales </a:t>
              </a:r>
              <a:r>
                <a:rPr lang="en-US" sz="1600" b="0"/>
                <a:t>and</a:t>
              </a:r>
              <a:r>
                <a:rPr lang="de-DE" sz="1600" b="0"/>
                <a:t> Distribution (SD)</a:t>
              </a:r>
            </a:p>
          </p:txBody>
        </p:sp>
        <p:sp>
          <p:nvSpPr>
            <p:cNvPr id="7" name="Textfeld 38"/>
            <p:cNvSpPr txBox="1">
              <a:spLocks noChangeArrowheads="1"/>
            </p:cNvSpPr>
            <p:nvPr/>
          </p:nvSpPr>
          <p:spPr bwMode="auto">
            <a:xfrm>
              <a:off x="1042988" y="5156200"/>
              <a:ext cx="2736850" cy="585788"/>
            </a:xfrm>
            <a:prstGeom prst="rect">
              <a:avLst/>
            </a:prstGeom>
            <a:solidFill>
              <a:schemeClr val="bg1">
                <a:lumMod val="85000"/>
              </a:schemeClr>
            </a:solidFill>
            <a:ln w="15875">
              <a:solidFill>
                <a:schemeClr val="bg1">
                  <a:lumMod val="65000"/>
                </a:schemeClr>
              </a:solidFill>
              <a:miter lim="800000"/>
              <a:headEnd/>
              <a:tailEnd/>
            </a:ln>
          </p:spPr>
          <p:txBody>
            <a:bodyPr>
              <a:spAutoFit/>
            </a:bodyPr>
            <a:lstStyle/>
            <a:p>
              <a:pPr>
                <a:defRPr/>
              </a:pPr>
              <a:r>
                <a:rPr lang="de-DE" sz="1600" b="0"/>
                <a:t>Business </a:t>
              </a:r>
              <a:r>
                <a:rPr lang="en-US" sz="1600" b="0"/>
                <a:t>Requirements</a:t>
              </a:r>
              <a:r>
                <a:rPr lang="de-DE" sz="1600" b="0"/>
                <a:t> in Project Management</a:t>
              </a:r>
            </a:p>
          </p:txBody>
        </p:sp>
        <p:cxnSp>
          <p:nvCxnSpPr>
            <p:cNvPr id="8" name="Gerade Verbindung mit Pfeil 7"/>
            <p:cNvCxnSpPr/>
            <p:nvPr/>
          </p:nvCxnSpPr>
          <p:spPr bwMode="auto">
            <a:xfrm>
              <a:off x="4067175" y="5445125"/>
              <a:ext cx="1152525" cy="0"/>
            </a:xfrm>
            <a:prstGeom prst="straightConnector1">
              <a:avLst/>
            </a:prstGeom>
            <a:noFill/>
            <a:ln w="28575" cap="flat" cmpd="sng" algn="ctr">
              <a:solidFill>
                <a:schemeClr val="bg1">
                  <a:lumMod val="65000"/>
                </a:schemeClr>
              </a:solidFill>
              <a:prstDash val="solid"/>
              <a:round/>
              <a:headEnd type="none" w="med" len="med"/>
              <a:tailEnd type="arrow"/>
            </a:ln>
            <a:effectLst/>
          </p:spPr>
        </p:cxnSp>
        <p:sp>
          <p:nvSpPr>
            <p:cNvPr id="9" name="Textfeld 41"/>
            <p:cNvSpPr txBox="1">
              <a:spLocks noChangeArrowheads="1"/>
            </p:cNvSpPr>
            <p:nvPr/>
          </p:nvSpPr>
          <p:spPr bwMode="auto">
            <a:xfrm>
              <a:off x="5651500" y="5084763"/>
              <a:ext cx="2305050" cy="1152525"/>
            </a:xfrm>
            <a:prstGeom prst="rect">
              <a:avLst/>
            </a:prstGeom>
            <a:solidFill>
              <a:schemeClr val="bg1">
                <a:lumMod val="85000"/>
              </a:schemeClr>
            </a:solidFill>
            <a:ln w="12700" cap="flat" cmpd="sng" algn="ctr">
              <a:solidFill>
                <a:schemeClr val="bg1">
                  <a:lumMod val="65000"/>
                </a:schemeClr>
              </a:solidFill>
              <a:prstDash val="solid"/>
              <a:round/>
              <a:headEnd type="none" w="med" len="med"/>
              <a:tailEnd type="none" w="med" len="med"/>
            </a:ln>
            <a:effectLst/>
          </p:spPr>
          <p:txBody>
            <a:bodyPr wrap="none" lIns="0" tIns="0" rIns="0" bIns="0"/>
            <a:lstStyle/>
            <a:p>
              <a:pPr>
                <a:defRPr/>
              </a:pPr>
              <a:r>
                <a:rPr lang="de-DE" sz="1600" b="0"/>
                <a:t> Controlling (CO)</a:t>
              </a:r>
            </a:p>
            <a:p>
              <a:pPr>
                <a:defRPr/>
              </a:pPr>
              <a:r>
                <a:rPr lang="de-DE" sz="1600" b="0"/>
                <a:t> </a:t>
              </a:r>
              <a:r>
                <a:rPr lang="en-US" sz="1600" b="0"/>
                <a:t>Finance</a:t>
              </a:r>
              <a:r>
                <a:rPr lang="de-DE" sz="1600" b="0"/>
                <a:t> (FI)</a:t>
              </a:r>
            </a:p>
            <a:p>
              <a:pPr>
                <a:defRPr/>
              </a:pPr>
              <a:r>
                <a:rPr lang="de-DE" sz="1600" b="0"/>
                <a:t> Materials Management </a:t>
              </a:r>
            </a:p>
            <a:p>
              <a:pPr>
                <a:defRPr/>
              </a:pPr>
              <a:r>
                <a:rPr lang="de-DE" sz="1600" b="0"/>
                <a:t>(MM)</a:t>
              </a:r>
            </a:p>
          </p:txBody>
        </p:sp>
      </p:grpSp>
    </p:spTree>
    <p:extLst>
      <p:ext uri="{BB962C8B-B14F-4D97-AF65-F5344CB8AC3E}">
        <p14:creationId xmlns:p14="http://schemas.microsoft.com/office/powerpoint/2010/main" val="8463191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Agenda</a:t>
            </a:r>
          </a:p>
        </p:txBody>
      </p:sp>
      <p:sp>
        <p:nvSpPr>
          <p:cNvPr id="3" name="Inhaltsplatzhalter 2"/>
          <p:cNvSpPr>
            <a:spLocks noGrp="1"/>
          </p:cNvSpPr>
          <p:nvPr>
            <p:ph idx="1"/>
          </p:nvPr>
        </p:nvSpPr>
        <p:spPr/>
        <p:txBody>
          <a:bodyPr/>
          <a:lstStyle/>
          <a:p>
            <a:pPr>
              <a:tabLst>
                <a:tab pos="1971675" algn="l"/>
              </a:tabLst>
            </a:pPr>
            <a:r>
              <a:rPr lang="de-DE" dirty="0">
                <a:solidFill>
                  <a:srgbClr val="B2B2B2"/>
                </a:solidFill>
              </a:rPr>
              <a:t>PS </a:t>
            </a:r>
            <a:r>
              <a:rPr lang="de-DE" dirty="0" err="1">
                <a:solidFill>
                  <a:srgbClr val="B2B2B2"/>
                </a:solidFill>
              </a:rPr>
              <a:t>Organizational</a:t>
            </a:r>
            <a:r>
              <a:rPr lang="de-DE" dirty="0">
                <a:solidFill>
                  <a:srgbClr val="B2B2B2"/>
                </a:solidFill>
              </a:rPr>
              <a:t> </a:t>
            </a:r>
            <a:r>
              <a:rPr lang="de-DE" dirty="0" err="1">
                <a:solidFill>
                  <a:srgbClr val="B2B2B2"/>
                </a:solidFill>
              </a:rPr>
              <a:t>Structure</a:t>
            </a:r>
            <a:r>
              <a:rPr lang="de-DE" dirty="0">
                <a:solidFill>
                  <a:srgbClr val="B2B2B2"/>
                </a:solidFill>
              </a:rPr>
              <a:t> </a:t>
            </a:r>
          </a:p>
          <a:p>
            <a:pPr>
              <a:tabLst>
                <a:tab pos="1971675" algn="l"/>
              </a:tabLst>
            </a:pPr>
            <a:endParaRPr lang="de-DE" dirty="0">
              <a:solidFill>
                <a:srgbClr val="B2B2B2"/>
              </a:solidFill>
            </a:endParaRPr>
          </a:p>
          <a:p>
            <a:pPr>
              <a:tabLst>
                <a:tab pos="1971675" algn="l"/>
              </a:tabLst>
            </a:pPr>
            <a:r>
              <a:rPr lang="de-DE" dirty="0"/>
              <a:t>PS Master Data </a:t>
            </a:r>
          </a:p>
          <a:p>
            <a:pPr>
              <a:tabLst>
                <a:tab pos="1971675" algn="l"/>
              </a:tabLst>
            </a:pPr>
            <a:endParaRPr lang="de-DE" dirty="0"/>
          </a:p>
          <a:p>
            <a:pPr>
              <a:tabLst>
                <a:tab pos="1971675" algn="l"/>
              </a:tabLst>
            </a:pPr>
            <a:r>
              <a:rPr lang="de-DE" dirty="0">
                <a:solidFill>
                  <a:srgbClr val="B2B2B2"/>
                </a:solidFill>
              </a:rPr>
              <a:t>PS </a:t>
            </a:r>
            <a:r>
              <a:rPr lang="de-DE" dirty="0" err="1">
                <a:solidFill>
                  <a:srgbClr val="B2B2B2"/>
                </a:solidFill>
              </a:rPr>
              <a:t>Processes</a:t>
            </a:r>
            <a:endParaRPr lang="de-DE" dirty="0">
              <a:solidFill>
                <a:srgbClr val="B2B2B2"/>
              </a:solidFill>
            </a:endParaRPr>
          </a:p>
          <a:p>
            <a:pPr lvl="1">
              <a:tabLst>
                <a:tab pos="1971675" algn="l"/>
              </a:tabLst>
            </a:pPr>
            <a:r>
              <a:rPr lang="de-DE" dirty="0">
                <a:solidFill>
                  <a:srgbClr val="B2B2B2"/>
                </a:solidFill>
              </a:rPr>
              <a:t>Project </a:t>
            </a:r>
            <a:r>
              <a:rPr lang="de-DE" dirty="0" err="1">
                <a:solidFill>
                  <a:srgbClr val="B2B2B2"/>
                </a:solidFill>
              </a:rPr>
              <a:t>Planning</a:t>
            </a:r>
            <a:endParaRPr lang="de-DE" dirty="0">
              <a:solidFill>
                <a:srgbClr val="B2B2B2"/>
              </a:solidFill>
            </a:endParaRPr>
          </a:p>
          <a:p>
            <a:pPr lvl="1">
              <a:tabLst>
                <a:tab pos="1971675" algn="l"/>
              </a:tabLst>
            </a:pPr>
            <a:r>
              <a:rPr lang="de-DE" dirty="0">
                <a:solidFill>
                  <a:srgbClr val="B2B2B2"/>
                </a:solidFill>
              </a:rPr>
              <a:t>Project </a:t>
            </a:r>
            <a:r>
              <a:rPr lang="de-DE" dirty="0" err="1">
                <a:solidFill>
                  <a:srgbClr val="B2B2B2"/>
                </a:solidFill>
              </a:rPr>
              <a:t>Execution</a:t>
            </a:r>
            <a:endParaRPr lang="de-DE" dirty="0">
              <a:solidFill>
                <a:srgbClr val="B2B2B2"/>
              </a:solidFill>
            </a:endParaRPr>
          </a:p>
          <a:p>
            <a:pPr lvl="1">
              <a:tabLst>
                <a:tab pos="1971675" algn="l"/>
              </a:tabLst>
            </a:pPr>
            <a:r>
              <a:rPr lang="de-DE" dirty="0">
                <a:solidFill>
                  <a:srgbClr val="B2B2B2"/>
                </a:solidFill>
              </a:rPr>
              <a:t>Project </a:t>
            </a:r>
            <a:r>
              <a:rPr lang="de-DE" dirty="0" err="1">
                <a:solidFill>
                  <a:srgbClr val="B2B2B2"/>
                </a:solidFill>
              </a:rPr>
              <a:t>Closure</a:t>
            </a:r>
            <a:endParaRPr lang="de-DE" dirty="0">
              <a:solidFill>
                <a:srgbClr val="B2B2B2"/>
              </a:solidFill>
            </a:endParaRPr>
          </a:p>
          <a:p>
            <a:endParaRPr lang="de-DE" dirty="0"/>
          </a:p>
        </p:txBody>
      </p:sp>
    </p:spTree>
    <p:extLst>
      <p:ext uri="{BB962C8B-B14F-4D97-AF65-F5344CB8AC3E}">
        <p14:creationId xmlns:p14="http://schemas.microsoft.com/office/powerpoint/2010/main" val="674585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PS Master Data</a:t>
            </a:r>
          </a:p>
        </p:txBody>
      </p:sp>
      <p:sp>
        <p:nvSpPr>
          <p:cNvPr id="3" name="Textplatzhalter 2"/>
          <p:cNvSpPr>
            <a:spLocks noGrp="1"/>
          </p:cNvSpPr>
          <p:nvPr>
            <p:ph type="body" sz="quarter" idx="4294967295"/>
          </p:nvPr>
        </p:nvSpPr>
        <p:spPr>
          <a:xfrm>
            <a:off x="324000" y="1691078"/>
            <a:ext cx="11545200" cy="4392043"/>
          </a:xfrm>
        </p:spPr>
        <p:txBody>
          <a:bodyPr/>
          <a:lstStyle/>
          <a:p>
            <a:pPr>
              <a:tabLst>
                <a:tab pos="1971675" algn="l"/>
              </a:tabLst>
            </a:pPr>
            <a:r>
              <a:rPr lang="de-DE"/>
              <a:t>Projects</a:t>
            </a:r>
          </a:p>
          <a:p>
            <a:pPr>
              <a:tabLst>
                <a:tab pos="1971675" algn="l"/>
              </a:tabLst>
            </a:pPr>
            <a:endParaRPr lang="de-DE"/>
          </a:p>
          <a:p>
            <a:pPr>
              <a:tabLst>
                <a:tab pos="1971675" algn="l"/>
              </a:tabLst>
            </a:pPr>
            <a:r>
              <a:rPr lang="de-DE"/>
              <a:t>WBS-Elements (Project </a:t>
            </a:r>
            <a:r>
              <a:rPr lang="de-DE" err="1"/>
              <a:t>Structure</a:t>
            </a:r>
            <a:r>
              <a:rPr lang="de-DE"/>
              <a:t> Plan Elements)</a:t>
            </a:r>
          </a:p>
          <a:p>
            <a:pPr>
              <a:tabLst>
                <a:tab pos="1971675" algn="l"/>
              </a:tabLst>
            </a:pPr>
            <a:endParaRPr lang="de-DE"/>
          </a:p>
          <a:p>
            <a:pPr>
              <a:tabLst>
                <a:tab pos="1971675" algn="l"/>
              </a:tabLst>
            </a:pPr>
            <a:r>
              <a:rPr lang="de-DE" err="1"/>
              <a:t>Sequences</a:t>
            </a:r>
            <a:endParaRPr lang="de-DE"/>
          </a:p>
          <a:p>
            <a:pPr>
              <a:tabLst>
                <a:tab pos="1971675" algn="l"/>
              </a:tabLst>
            </a:pPr>
            <a:endParaRPr lang="de-DE"/>
          </a:p>
          <a:p>
            <a:pPr>
              <a:tabLst>
                <a:tab pos="1971675" algn="l"/>
              </a:tabLst>
            </a:pPr>
            <a:r>
              <a:rPr lang="de-DE"/>
              <a:t>Milestones</a:t>
            </a:r>
          </a:p>
          <a:p>
            <a:pPr>
              <a:tabLst>
                <a:tab pos="1971675" algn="l"/>
              </a:tabLst>
            </a:pPr>
            <a:endParaRPr lang="de-DE"/>
          </a:p>
          <a:p>
            <a:pPr>
              <a:tabLst>
                <a:tab pos="1971675" algn="l"/>
              </a:tabLst>
            </a:pPr>
            <a:r>
              <a:rPr lang="de-DE"/>
              <a:t>Work Data</a:t>
            </a:r>
          </a:p>
        </p:txBody>
      </p:sp>
      <p:grpSp>
        <p:nvGrpSpPr>
          <p:cNvPr id="4" name="Gruppieren 45"/>
          <p:cNvGrpSpPr>
            <a:grpSpLocks/>
          </p:cNvGrpSpPr>
          <p:nvPr/>
        </p:nvGrpSpPr>
        <p:grpSpPr bwMode="auto">
          <a:xfrm>
            <a:off x="6474828" y="3293645"/>
            <a:ext cx="4321175" cy="2055813"/>
            <a:chOff x="3635896" y="3028248"/>
            <a:chExt cx="4320480" cy="2056936"/>
          </a:xfrm>
          <a:solidFill>
            <a:schemeClr val="tx2"/>
          </a:solidFill>
        </p:grpSpPr>
        <p:sp>
          <p:nvSpPr>
            <p:cNvPr id="5" name="Rectangle 4"/>
            <p:cNvSpPr>
              <a:spLocks noChangeArrowheads="1"/>
            </p:cNvSpPr>
            <p:nvPr/>
          </p:nvSpPr>
          <p:spPr bwMode="auto">
            <a:xfrm>
              <a:off x="3635896" y="3892344"/>
              <a:ext cx="1296144" cy="400752"/>
            </a:xfrm>
            <a:prstGeom prst="rect">
              <a:avLst/>
            </a:prstGeom>
            <a:grpFill/>
            <a:ln w="12700">
              <a:solidFill>
                <a:srgbClr val="000000"/>
              </a:solidFill>
              <a:miter lim="800000"/>
              <a:headEnd/>
              <a:tailEnd/>
            </a:ln>
          </p:spPr>
          <p:txBody>
            <a:bodyPr lIns="92075" tIns="46038" rIns="92075" bIns="46038">
              <a:spAutoFit/>
            </a:bodyPr>
            <a:lstStyle/>
            <a:p>
              <a:pPr algn="ctr" eaLnBrk="0" hangingPunct="0">
                <a:spcBef>
                  <a:spcPct val="0"/>
                </a:spcBef>
                <a:buClrTx/>
                <a:buFontTx/>
                <a:buNone/>
                <a:defRPr/>
              </a:pPr>
              <a:endParaRPr lang="de-DE" sz="2000" b="0">
                <a:solidFill>
                  <a:schemeClr val="bg1"/>
                </a:solidFill>
              </a:endParaRPr>
            </a:p>
          </p:txBody>
        </p:sp>
        <p:sp>
          <p:nvSpPr>
            <p:cNvPr id="6" name="Rectangle 4"/>
            <p:cNvSpPr>
              <a:spLocks noChangeArrowheads="1"/>
            </p:cNvSpPr>
            <p:nvPr/>
          </p:nvSpPr>
          <p:spPr bwMode="auto">
            <a:xfrm>
              <a:off x="6660232" y="3892344"/>
              <a:ext cx="1296144" cy="400752"/>
            </a:xfrm>
            <a:prstGeom prst="rect">
              <a:avLst/>
            </a:prstGeom>
            <a:grpFill/>
            <a:ln w="12700">
              <a:solidFill>
                <a:srgbClr val="000000"/>
              </a:solidFill>
              <a:miter lim="800000"/>
              <a:headEnd/>
              <a:tailEnd/>
            </a:ln>
          </p:spPr>
          <p:txBody>
            <a:bodyPr lIns="92075" tIns="46038" rIns="92075" bIns="46038">
              <a:spAutoFit/>
            </a:bodyPr>
            <a:lstStyle/>
            <a:p>
              <a:pPr algn="ctr" eaLnBrk="0" hangingPunct="0">
                <a:spcBef>
                  <a:spcPct val="0"/>
                </a:spcBef>
                <a:buClrTx/>
                <a:buFontTx/>
                <a:buNone/>
                <a:defRPr/>
              </a:pPr>
              <a:endParaRPr lang="de-DE" sz="2000" b="0">
                <a:solidFill>
                  <a:schemeClr val="bg1"/>
                </a:solidFill>
              </a:endParaRPr>
            </a:p>
          </p:txBody>
        </p:sp>
        <p:sp>
          <p:nvSpPr>
            <p:cNvPr id="7" name="Rectangle 4"/>
            <p:cNvSpPr>
              <a:spLocks noChangeArrowheads="1"/>
            </p:cNvSpPr>
            <p:nvPr/>
          </p:nvSpPr>
          <p:spPr bwMode="auto">
            <a:xfrm>
              <a:off x="5148064" y="3028248"/>
              <a:ext cx="1296144" cy="400752"/>
            </a:xfrm>
            <a:prstGeom prst="rect">
              <a:avLst/>
            </a:prstGeom>
            <a:grpFill/>
            <a:ln w="12700">
              <a:solidFill>
                <a:srgbClr val="000000"/>
              </a:solidFill>
              <a:miter lim="800000"/>
              <a:headEnd/>
              <a:tailEnd/>
            </a:ln>
          </p:spPr>
          <p:txBody>
            <a:bodyPr lIns="92075" tIns="46038" rIns="92075" bIns="46038">
              <a:spAutoFit/>
            </a:bodyPr>
            <a:lstStyle/>
            <a:p>
              <a:pPr algn="ctr" eaLnBrk="0" hangingPunct="0">
                <a:spcBef>
                  <a:spcPct val="0"/>
                </a:spcBef>
                <a:buClrTx/>
                <a:buFontTx/>
                <a:buNone/>
                <a:defRPr/>
              </a:pPr>
              <a:endParaRPr lang="de-DE" sz="2000" b="0">
                <a:solidFill>
                  <a:schemeClr val="bg1"/>
                </a:solidFill>
              </a:endParaRPr>
            </a:p>
          </p:txBody>
        </p:sp>
        <p:sp>
          <p:nvSpPr>
            <p:cNvPr id="8" name="Rectangle 4"/>
            <p:cNvSpPr>
              <a:spLocks noChangeArrowheads="1"/>
            </p:cNvSpPr>
            <p:nvPr/>
          </p:nvSpPr>
          <p:spPr bwMode="auto">
            <a:xfrm>
              <a:off x="4355976" y="4684432"/>
              <a:ext cx="1296144" cy="400752"/>
            </a:xfrm>
            <a:prstGeom prst="rect">
              <a:avLst/>
            </a:prstGeom>
            <a:grpFill/>
            <a:ln w="12700">
              <a:solidFill>
                <a:srgbClr val="000000"/>
              </a:solidFill>
              <a:miter lim="800000"/>
              <a:headEnd/>
              <a:tailEnd/>
            </a:ln>
          </p:spPr>
          <p:txBody>
            <a:bodyPr lIns="92075" tIns="46038" rIns="92075" bIns="46038">
              <a:spAutoFit/>
            </a:bodyPr>
            <a:lstStyle/>
            <a:p>
              <a:pPr algn="ctr" eaLnBrk="0" hangingPunct="0">
                <a:spcBef>
                  <a:spcPct val="0"/>
                </a:spcBef>
                <a:buClrTx/>
                <a:buFontTx/>
                <a:buNone/>
                <a:defRPr/>
              </a:pPr>
              <a:endParaRPr lang="de-DE" sz="2000" b="0">
                <a:solidFill>
                  <a:schemeClr val="bg1"/>
                </a:solidFill>
              </a:endParaRPr>
            </a:p>
          </p:txBody>
        </p:sp>
        <p:cxnSp>
          <p:nvCxnSpPr>
            <p:cNvPr id="9" name="Gerade Verbindung 10"/>
            <p:cNvCxnSpPr>
              <a:cxnSpLocks noChangeShapeType="1"/>
              <a:stCxn id="5" idx="3"/>
              <a:endCxn id="20" idx="1"/>
            </p:cNvCxnSpPr>
            <p:nvPr/>
          </p:nvCxnSpPr>
          <p:spPr bwMode="auto">
            <a:xfrm>
              <a:off x="4932040" y="4092720"/>
              <a:ext cx="216024" cy="0"/>
            </a:xfrm>
            <a:prstGeom prst="line">
              <a:avLst/>
            </a:prstGeom>
            <a:grpFill/>
            <a:ln w="12700" algn="ctr">
              <a:solidFill>
                <a:schemeClr val="tx1"/>
              </a:solidFill>
              <a:round/>
              <a:headEnd/>
              <a:tailEnd/>
            </a:ln>
          </p:spPr>
        </p:cxnSp>
        <p:cxnSp>
          <p:nvCxnSpPr>
            <p:cNvPr id="10" name="Gerade Verbindung 16"/>
            <p:cNvCxnSpPr>
              <a:cxnSpLocks noChangeShapeType="1"/>
              <a:stCxn id="20" idx="3"/>
              <a:endCxn id="6" idx="1"/>
            </p:cNvCxnSpPr>
            <p:nvPr/>
          </p:nvCxnSpPr>
          <p:spPr bwMode="auto">
            <a:xfrm>
              <a:off x="6444208" y="4092720"/>
              <a:ext cx="216024" cy="0"/>
            </a:xfrm>
            <a:prstGeom prst="line">
              <a:avLst/>
            </a:prstGeom>
            <a:grpFill/>
            <a:ln w="12700" algn="ctr">
              <a:solidFill>
                <a:schemeClr val="tx1"/>
              </a:solidFill>
              <a:round/>
              <a:headEnd/>
              <a:tailEnd/>
            </a:ln>
          </p:spPr>
        </p:cxnSp>
        <p:cxnSp>
          <p:nvCxnSpPr>
            <p:cNvPr id="11" name="Gerade Verbindung 20"/>
            <p:cNvCxnSpPr>
              <a:cxnSpLocks noChangeShapeType="1"/>
              <a:stCxn id="7" idx="2"/>
              <a:endCxn id="20" idx="0"/>
            </p:cNvCxnSpPr>
            <p:nvPr/>
          </p:nvCxnSpPr>
          <p:spPr bwMode="auto">
            <a:xfrm>
              <a:off x="5796136" y="3429000"/>
              <a:ext cx="0" cy="463344"/>
            </a:xfrm>
            <a:prstGeom prst="line">
              <a:avLst/>
            </a:prstGeom>
            <a:grpFill/>
            <a:ln w="12700" algn="ctr">
              <a:solidFill>
                <a:schemeClr val="tx1"/>
              </a:solidFill>
              <a:round/>
              <a:headEnd/>
              <a:tailEnd/>
            </a:ln>
          </p:spPr>
        </p:cxnSp>
        <p:sp>
          <p:nvSpPr>
            <p:cNvPr id="12" name="Rectangle 4"/>
            <p:cNvSpPr>
              <a:spLocks noChangeArrowheads="1"/>
            </p:cNvSpPr>
            <p:nvPr/>
          </p:nvSpPr>
          <p:spPr bwMode="auto">
            <a:xfrm>
              <a:off x="5868144" y="4684432"/>
              <a:ext cx="1296144" cy="400752"/>
            </a:xfrm>
            <a:prstGeom prst="rect">
              <a:avLst/>
            </a:prstGeom>
            <a:grpFill/>
            <a:ln w="12700">
              <a:solidFill>
                <a:srgbClr val="000000"/>
              </a:solidFill>
              <a:miter lim="800000"/>
              <a:headEnd/>
              <a:tailEnd/>
            </a:ln>
          </p:spPr>
          <p:txBody>
            <a:bodyPr lIns="92075" tIns="46038" rIns="92075" bIns="46038">
              <a:spAutoFit/>
            </a:bodyPr>
            <a:lstStyle/>
            <a:p>
              <a:pPr algn="ctr" eaLnBrk="0" hangingPunct="0">
                <a:spcBef>
                  <a:spcPct val="0"/>
                </a:spcBef>
                <a:buClrTx/>
                <a:buFontTx/>
                <a:buNone/>
                <a:defRPr/>
              </a:pPr>
              <a:endParaRPr lang="de-DE" sz="2000" b="0">
                <a:solidFill>
                  <a:schemeClr val="bg1"/>
                </a:solidFill>
              </a:endParaRPr>
            </a:p>
          </p:txBody>
        </p:sp>
        <p:cxnSp>
          <p:nvCxnSpPr>
            <p:cNvPr id="13" name="Gerade Verbindung 23"/>
            <p:cNvCxnSpPr>
              <a:cxnSpLocks noChangeShapeType="1"/>
              <a:stCxn id="5" idx="0"/>
            </p:cNvCxnSpPr>
            <p:nvPr/>
          </p:nvCxnSpPr>
          <p:spPr bwMode="auto">
            <a:xfrm flipV="1">
              <a:off x="4283968" y="3645024"/>
              <a:ext cx="0" cy="247320"/>
            </a:xfrm>
            <a:prstGeom prst="line">
              <a:avLst/>
            </a:prstGeom>
            <a:grpFill/>
            <a:ln w="12700" algn="ctr">
              <a:solidFill>
                <a:schemeClr val="tx1"/>
              </a:solidFill>
              <a:round/>
              <a:headEnd/>
              <a:tailEnd/>
            </a:ln>
          </p:spPr>
        </p:cxnSp>
        <p:cxnSp>
          <p:nvCxnSpPr>
            <p:cNvPr id="14" name="Gerade Verbindung 25"/>
            <p:cNvCxnSpPr>
              <a:cxnSpLocks noChangeShapeType="1"/>
              <a:stCxn id="6" idx="0"/>
            </p:cNvCxnSpPr>
            <p:nvPr/>
          </p:nvCxnSpPr>
          <p:spPr bwMode="auto">
            <a:xfrm flipV="1">
              <a:off x="7308304" y="3645024"/>
              <a:ext cx="0" cy="247320"/>
            </a:xfrm>
            <a:prstGeom prst="line">
              <a:avLst/>
            </a:prstGeom>
            <a:grpFill/>
            <a:ln w="12700" algn="ctr">
              <a:solidFill>
                <a:schemeClr val="tx1"/>
              </a:solidFill>
              <a:round/>
              <a:headEnd/>
              <a:tailEnd/>
            </a:ln>
          </p:spPr>
        </p:cxnSp>
        <p:cxnSp>
          <p:nvCxnSpPr>
            <p:cNvPr id="15" name="Gerade Verbindung 27"/>
            <p:cNvCxnSpPr>
              <a:cxnSpLocks noChangeShapeType="1"/>
            </p:cNvCxnSpPr>
            <p:nvPr/>
          </p:nvCxnSpPr>
          <p:spPr bwMode="auto">
            <a:xfrm>
              <a:off x="4283968" y="3645024"/>
              <a:ext cx="3024336" cy="0"/>
            </a:xfrm>
            <a:prstGeom prst="line">
              <a:avLst/>
            </a:prstGeom>
            <a:grpFill/>
            <a:ln w="12700" algn="ctr">
              <a:solidFill>
                <a:schemeClr val="tx1"/>
              </a:solidFill>
              <a:round/>
              <a:headEnd/>
              <a:tailEnd/>
            </a:ln>
          </p:spPr>
        </p:cxnSp>
        <p:cxnSp>
          <p:nvCxnSpPr>
            <p:cNvPr id="16" name="Gerade Verbindung 30"/>
            <p:cNvCxnSpPr>
              <a:cxnSpLocks noChangeShapeType="1"/>
            </p:cNvCxnSpPr>
            <p:nvPr/>
          </p:nvCxnSpPr>
          <p:spPr bwMode="auto">
            <a:xfrm>
              <a:off x="5796136" y="4221088"/>
              <a:ext cx="0" cy="319328"/>
            </a:xfrm>
            <a:prstGeom prst="line">
              <a:avLst/>
            </a:prstGeom>
            <a:grpFill/>
            <a:ln w="12700" algn="ctr">
              <a:solidFill>
                <a:schemeClr val="tx1"/>
              </a:solidFill>
              <a:round/>
              <a:headEnd/>
              <a:tailEnd/>
            </a:ln>
          </p:spPr>
        </p:cxnSp>
        <p:cxnSp>
          <p:nvCxnSpPr>
            <p:cNvPr id="17" name="Gerade Verbindung 32"/>
            <p:cNvCxnSpPr>
              <a:cxnSpLocks noChangeShapeType="1"/>
              <a:stCxn id="8" idx="0"/>
            </p:cNvCxnSpPr>
            <p:nvPr/>
          </p:nvCxnSpPr>
          <p:spPr bwMode="auto">
            <a:xfrm flipV="1">
              <a:off x="5004048" y="4540416"/>
              <a:ext cx="0" cy="144016"/>
            </a:xfrm>
            <a:prstGeom prst="line">
              <a:avLst/>
            </a:prstGeom>
            <a:grpFill/>
            <a:ln w="12700" algn="ctr">
              <a:solidFill>
                <a:schemeClr val="tx1"/>
              </a:solidFill>
              <a:round/>
              <a:headEnd/>
              <a:tailEnd/>
            </a:ln>
          </p:spPr>
        </p:cxnSp>
        <p:cxnSp>
          <p:nvCxnSpPr>
            <p:cNvPr id="18" name="Gerade Verbindung 34"/>
            <p:cNvCxnSpPr>
              <a:cxnSpLocks noChangeShapeType="1"/>
              <a:stCxn id="12" idx="0"/>
            </p:cNvCxnSpPr>
            <p:nvPr/>
          </p:nvCxnSpPr>
          <p:spPr bwMode="auto">
            <a:xfrm flipV="1">
              <a:off x="6516216" y="4540416"/>
              <a:ext cx="0" cy="144016"/>
            </a:xfrm>
            <a:prstGeom prst="line">
              <a:avLst/>
            </a:prstGeom>
            <a:grpFill/>
            <a:ln w="12700" algn="ctr">
              <a:solidFill>
                <a:schemeClr val="tx1"/>
              </a:solidFill>
              <a:round/>
              <a:headEnd/>
              <a:tailEnd/>
            </a:ln>
          </p:spPr>
        </p:cxnSp>
        <p:cxnSp>
          <p:nvCxnSpPr>
            <p:cNvPr id="19" name="Gerade Verbindung 36"/>
            <p:cNvCxnSpPr>
              <a:cxnSpLocks noChangeShapeType="1"/>
            </p:cNvCxnSpPr>
            <p:nvPr/>
          </p:nvCxnSpPr>
          <p:spPr bwMode="auto">
            <a:xfrm>
              <a:off x="5004048" y="4540416"/>
              <a:ext cx="1512168" cy="0"/>
            </a:xfrm>
            <a:prstGeom prst="line">
              <a:avLst/>
            </a:prstGeom>
            <a:grpFill/>
            <a:ln w="12700" algn="ctr">
              <a:solidFill>
                <a:schemeClr val="tx1"/>
              </a:solidFill>
              <a:round/>
              <a:headEnd/>
              <a:tailEnd/>
            </a:ln>
          </p:spPr>
        </p:cxnSp>
        <p:sp>
          <p:nvSpPr>
            <p:cNvPr id="20" name="Rectangle 4"/>
            <p:cNvSpPr>
              <a:spLocks noChangeArrowheads="1"/>
            </p:cNvSpPr>
            <p:nvPr/>
          </p:nvSpPr>
          <p:spPr bwMode="auto">
            <a:xfrm>
              <a:off x="5148064" y="3892344"/>
              <a:ext cx="1296144" cy="400752"/>
            </a:xfrm>
            <a:prstGeom prst="rect">
              <a:avLst/>
            </a:prstGeom>
            <a:grpFill/>
            <a:ln w="12700">
              <a:solidFill>
                <a:srgbClr val="000000"/>
              </a:solidFill>
              <a:miter lim="800000"/>
              <a:headEnd/>
              <a:tailEnd/>
            </a:ln>
          </p:spPr>
          <p:txBody>
            <a:bodyPr lIns="92075" tIns="46038" rIns="92075" bIns="46038">
              <a:spAutoFit/>
            </a:bodyPr>
            <a:lstStyle/>
            <a:p>
              <a:pPr algn="ctr" eaLnBrk="0" hangingPunct="0">
                <a:spcBef>
                  <a:spcPct val="0"/>
                </a:spcBef>
                <a:buClrTx/>
                <a:buFontTx/>
                <a:buNone/>
                <a:defRPr/>
              </a:pPr>
              <a:endParaRPr lang="de-DE" sz="2000" b="0">
                <a:solidFill>
                  <a:schemeClr val="bg1"/>
                </a:solidFill>
              </a:endParaRPr>
            </a:p>
          </p:txBody>
        </p:sp>
      </p:grpSp>
    </p:spTree>
    <p:extLst>
      <p:ext uri="{BB962C8B-B14F-4D97-AF65-F5344CB8AC3E}">
        <p14:creationId xmlns:p14="http://schemas.microsoft.com/office/powerpoint/2010/main" val="32363496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de-DE" dirty="0" err="1"/>
              <a:t>Characteristics</a:t>
            </a:r>
            <a:r>
              <a:rPr lang="de-DE" dirty="0"/>
              <a:t> </a:t>
            </a:r>
            <a:r>
              <a:rPr lang="de-DE" dirty="0" err="1"/>
              <a:t>of</a:t>
            </a:r>
            <a:r>
              <a:rPr lang="de-DE" dirty="0"/>
              <a:t> </a:t>
            </a:r>
            <a:r>
              <a:rPr lang="de-DE" dirty="0" err="1"/>
              <a:t>projects</a:t>
            </a:r>
            <a:r>
              <a:rPr lang="de-DE" dirty="0"/>
              <a:t>:</a:t>
            </a:r>
          </a:p>
          <a:p>
            <a:pPr lvl="1"/>
            <a:r>
              <a:rPr lang="de-DE" dirty="0" err="1"/>
              <a:t>Complex</a:t>
            </a:r>
            <a:endParaRPr lang="de-DE" dirty="0"/>
          </a:p>
          <a:p>
            <a:pPr lvl="1"/>
            <a:r>
              <a:rPr lang="de-DE" dirty="0"/>
              <a:t>Unique</a:t>
            </a:r>
          </a:p>
          <a:p>
            <a:pPr lvl="1"/>
            <a:r>
              <a:rPr lang="de-DE" dirty="0"/>
              <a:t>High </a:t>
            </a:r>
            <a:r>
              <a:rPr lang="de-DE" dirty="0" err="1"/>
              <a:t>risk</a:t>
            </a:r>
            <a:endParaRPr lang="de-DE" dirty="0"/>
          </a:p>
          <a:p>
            <a:pPr lvl="1"/>
            <a:r>
              <a:rPr lang="de-DE" dirty="0"/>
              <a:t>Goal </a:t>
            </a:r>
            <a:r>
              <a:rPr lang="de-DE" dirty="0" err="1"/>
              <a:t>oriented</a:t>
            </a:r>
            <a:endParaRPr lang="de-DE" dirty="0"/>
          </a:p>
          <a:p>
            <a:pPr lvl="1"/>
            <a:r>
              <a:rPr lang="de-DE" dirty="0"/>
              <a:t>Limited in time, </a:t>
            </a:r>
            <a:r>
              <a:rPr lang="de-DE" dirty="0" err="1"/>
              <a:t>costly</a:t>
            </a:r>
            <a:r>
              <a:rPr lang="de-DE" dirty="0"/>
              <a:t>, high </a:t>
            </a:r>
            <a:r>
              <a:rPr lang="de-DE" dirty="0" err="1"/>
              <a:t>capacities</a:t>
            </a:r>
            <a:r>
              <a:rPr lang="de-DE" dirty="0"/>
              <a:t> </a:t>
            </a:r>
            <a:r>
              <a:rPr lang="de-DE" dirty="0" err="1"/>
              <a:t>needed</a:t>
            </a:r>
            <a:endParaRPr lang="de-DE" dirty="0"/>
          </a:p>
          <a:p>
            <a:pPr lvl="1"/>
            <a:r>
              <a:rPr lang="de-DE" dirty="0" smtClean="0"/>
              <a:t>Strategic </a:t>
            </a:r>
            <a:r>
              <a:rPr lang="de-DE" dirty="0" err="1" smtClean="0"/>
              <a:t>meaning</a:t>
            </a:r>
            <a:endParaRPr lang="de-DE" dirty="0"/>
          </a:p>
          <a:p>
            <a:pPr lvl="1"/>
            <a:r>
              <a:rPr lang="de-DE" dirty="0"/>
              <a:t>High </a:t>
            </a:r>
            <a:r>
              <a:rPr lang="de-DE" dirty="0" err="1"/>
              <a:t>quality</a:t>
            </a:r>
            <a:r>
              <a:rPr lang="de-DE" dirty="0"/>
              <a:t> </a:t>
            </a:r>
            <a:r>
              <a:rPr lang="de-DE" dirty="0" err="1"/>
              <a:t>standards</a:t>
            </a:r>
            <a:endParaRPr lang="de-DE" dirty="0"/>
          </a:p>
          <a:p>
            <a:pPr lvl="1"/>
            <a:endParaRPr lang="de-DE" dirty="0"/>
          </a:p>
          <a:p>
            <a:r>
              <a:rPr lang="de-DE" dirty="0"/>
              <a:t>Project </a:t>
            </a:r>
            <a:r>
              <a:rPr lang="de-DE" dirty="0" err="1"/>
              <a:t>types</a:t>
            </a:r>
            <a:r>
              <a:rPr lang="de-DE" dirty="0"/>
              <a:t>: </a:t>
            </a:r>
          </a:p>
          <a:p>
            <a:pPr lvl="1"/>
            <a:r>
              <a:rPr lang="de-DE" dirty="0"/>
              <a:t>Customer </a:t>
            </a:r>
            <a:r>
              <a:rPr lang="de-DE" dirty="0" err="1"/>
              <a:t>projects</a:t>
            </a:r>
            <a:endParaRPr lang="de-DE" dirty="0"/>
          </a:p>
          <a:p>
            <a:pPr lvl="1"/>
            <a:r>
              <a:rPr lang="de-DE" dirty="0"/>
              <a:t>Overhead </a:t>
            </a:r>
            <a:r>
              <a:rPr lang="de-DE" dirty="0" err="1"/>
              <a:t>cost</a:t>
            </a:r>
            <a:r>
              <a:rPr lang="de-DE" dirty="0"/>
              <a:t> </a:t>
            </a:r>
            <a:r>
              <a:rPr lang="de-DE" dirty="0" err="1"/>
              <a:t>projects</a:t>
            </a:r>
            <a:endParaRPr lang="de-DE" dirty="0"/>
          </a:p>
          <a:p>
            <a:pPr lvl="1"/>
            <a:r>
              <a:rPr lang="de-DE" dirty="0"/>
              <a:t>Investment </a:t>
            </a:r>
            <a:r>
              <a:rPr lang="de-DE" dirty="0" err="1"/>
              <a:t>projects</a:t>
            </a:r>
            <a:endParaRPr lang="de-DE" dirty="0"/>
          </a:p>
        </p:txBody>
      </p:sp>
      <p:sp>
        <p:nvSpPr>
          <p:cNvPr id="3" name="Titel 2"/>
          <p:cNvSpPr>
            <a:spLocks noGrp="1"/>
          </p:cNvSpPr>
          <p:nvPr>
            <p:ph type="title"/>
          </p:nvPr>
        </p:nvSpPr>
        <p:spPr/>
        <p:txBody>
          <a:bodyPr/>
          <a:lstStyle/>
          <a:p>
            <a:r>
              <a:rPr lang="de-DE"/>
              <a:t>Projects</a:t>
            </a:r>
          </a:p>
        </p:txBody>
      </p:sp>
      <p:pic>
        <p:nvPicPr>
          <p:cNvPr id="1028" name="Picture 4" descr="Bildergebnis fÃ¼r project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600" y="1959545"/>
            <a:ext cx="3855110" cy="38551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2836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buNone/>
              <a:tabLst>
                <a:tab pos="1971675" algn="l"/>
              </a:tabLst>
            </a:pPr>
            <a:r>
              <a:rPr lang="en-US" sz="2400" dirty="0"/>
              <a:t>Projects are complex tasks that can be found in several components in the SAP system:</a:t>
            </a:r>
          </a:p>
          <a:p>
            <a:pPr lvl="2">
              <a:tabLst>
                <a:tab pos="1971675" algn="l"/>
              </a:tabLst>
            </a:pPr>
            <a:r>
              <a:rPr lang="en-US" sz="2400" dirty="0"/>
              <a:t>Sales and Distribution</a:t>
            </a:r>
          </a:p>
          <a:p>
            <a:pPr lvl="2">
              <a:tabLst>
                <a:tab pos="1971675" algn="l"/>
              </a:tabLst>
            </a:pPr>
            <a:r>
              <a:rPr lang="en-US" sz="2400" dirty="0"/>
              <a:t>Controlling</a:t>
            </a:r>
          </a:p>
          <a:p>
            <a:pPr lvl="2">
              <a:tabLst>
                <a:tab pos="1971675" algn="l"/>
              </a:tabLst>
            </a:pPr>
            <a:r>
              <a:rPr lang="en-US" sz="2400" dirty="0"/>
              <a:t>Finance</a:t>
            </a:r>
          </a:p>
          <a:p>
            <a:pPr lvl="2">
              <a:tabLst>
                <a:tab pos="1971675" algn="l"/>
              </a:tabLst>
            </a:pPr>
            <a:r>
              <a:rPr lang="en-US" sz="2400" dirty="0"/>
              <a:t>Materials Management</a:t>
            </a:r>
          </a:p>
          <a:p>
            <a:pPr>
              <a:buNone/>
              <a:tabLst>
                <a:tab pos="1971675" algn="l"/>
              </a:tabLst>
            </a:pPr>
            <a:r>
              <a:rPr lang="de-DE" sz="2400" dirty="0"/>
              <a:t>	</a:t>
            </a:r>
          </a:p>
        </p:txBody>
      </p:sp>
      <p:sp>
        <p:nvSpPr>
          <p:cNvPr id="3" name="Titel 2"/>
          <p:cNvSpPr>
            <a:spLocks noGrp="1"/>
          </p:cNvSpPr>
          <p:nvPr>
            <p:ph type="title"/>
          </p:nvPr>
        </p:nvSpPr>
        <p:spPr/>
        <p:txBody>
          <a:bodyPr/>
          <a:lstStyle/>
          <a:p>
            <a:r>
              <a:rPr lang="de-DE"/>
              <a:t>Display Projects</a:t>
            </a:r>
          </a:p>
        </p:txBody>
      </p:sp>
    </p:spTree>
    <p:extLst>
      <p:ext uri="{BB962C8B-B14F-4D97-AF65-F5344CB8AC3E}">
        <p14:creationId xmlns:p14="http://schemas.microsoft.com/office/powerpoint/2010/main" val="2108137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en-US" dirty="0"/>
              <a:t>All data </a:t>
            </a:r>
            <a:r>
              <a:rPr lang="en-US" dirty="0" smtClean="0"/>
              <a:t>is prepared </a:t>
            </a:r>
            <a:r>
              <a:rPr lang="en-US" dirty="0"/>
              <a:t>using one transaction</a:t>
            </a:r>
          </a:p>
          <a:p>
            <a:endParaRPr lang="en-US" dirty="0" smtClean="0"/>
          </a:p>
          <a:p>
            <a:r>
              <a:rPr lang="en-US" dirty="0" smtClean="0"/>
              <a:t>Regularly </a:t>
            </a:r>
            <a:r>
              <a:rPr lang="en-US" dirty="0"/>
              <a:t>performed projects can be re-used </a:t>
            </a:r>
            <a:r>
              <a:rPr lang="en-US" dirty="0" smtClean="0"/>
              <a:t/>
            </a:r>
            <a:br>
              <a:rPr lang="en-US" dirty="0" smtClean="0"/>
            </a:br>
            <a:r>
              <a:rPr lang="en-US" dirty="0" smtClean="0"/>
              <a:t>to </a:t>
            </a:r>
            <a:r>
              <a:rPr lang="en-US" dirty="0"/>
              <a:t>the work of creating </a:t>
            </a:r>
            <a:r>
              <a:rPr lang="en-US" dirty="0" smtClean="0"/>
              <a:t>them.</a:t>
            </a:r>
          </a:p>
          <a:p>
            <a:endParaRPr lang="en-US" dirty="0" smtClean="0"/>
          </a:p>
          <a:p>
            <a:r>
              <a:rPr lang="en-US" dirty="0" smtClean="0"/>
              <a:t>Scheduling </a:t>
            </a:r>
            <a:r>
              <a:rPr lang="en-US" dirty="0"/>
              <a:t>of projects is based on </a:t>
            </a:r>
            <a:r>
              <a:rPr lang="en-US" dirty="0" smtClean="0"/>
              <a:t>networks</a:t>
            </a:r>
            <a:endParaRPr lang="en-US" dirty="0"/>
          </a:p>
        </p:txBody>
      </p:sp>
      <p:sp>
        <p:nvSpPr>
          <p:cNvPr id="3" name="Titel 2"/>
          <p:cNvSpPr>
            <a:spLocks noGrp="1"/>
          </p:cNvSpPr>
          <p:nvPr>
            <p:ph type="title"/>
          </p:nvPr>
        </p:nvSpPr>
        <p:spPr/>
        <p:txBody>
          <a:bodyPr/>
          <a:lstStyle/>
          <a:p>
            <a:r>
              <a:rPr lang="de-DE"/>
              <a:t>Project </a:t>
            </a:r>
            <a:r>
              <a:rPr lang="de-DE" err="1"/>
              <a:t>Builder</a:t>
            </a:r>
            <a:endParaRPr lang="de-DE"/>
          </a:p>
        </p:txBody>
      </p:sp>
      <p:pic>
        <p:nvPicPr>
          <p:cNvPr id="4" name="Grafik 3"/>
          <p:cNvPicPr>
            <a:picLocks noChangeAspect="1"/>
          </p:cNvPicPr>
          <p:nvPr/>
        </p:nvPicPr>
        <p:blipFill>
          <a:blip r:embed="rId3"/>
          <a:stretch>
            <a:fillRect/>
          </a:stretch>
        </p:blipFill>
        <p:spPr>
          <a:xfrm>
            <a:off x="6484047" y="2137662"/>
            <a:ext cx="4896701" cy="3784075"/>
          </a:xfrm>
          <a:prstGeom prst="rect">
            <a:avLst/>
          </a:prstGeom>
          <a:ln w="19050">
            <a:solidFill>
              <a:schemeClr val="tx2">
                <a:lumMod val="75000"/>
              </a:schemeClr>
            </a:solidFill>
          </a:ln>
        </p:spPr>
      </p:pic>
    </p:spTree>
    <p:extLst>
      <p:ext uri="{BB962C8B-B14F-4D97-AF65-F5344CB8AC3E}">
        <p14:creationId xmlns:p14="http://schemas.microsoft.com/office/powerpoint/2010/main" val="27074463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en-US" dirty="0"/>
              <a:t>The WBS-Element either describes a </a:t>
            </a:r>
            <a:r>
              <a:rPr lang="en-US" dirty="0" smtClean="0"/>
              <a:t>specific tasks </a:t>
            </a:r>
            <a:r>
              <a:rPr lang="en-US" dirty="0"/>
              <a:t>or subtasks that can be further broken down in to work </a:t>
            </a:r>
            <a:r>
              <a:rPr lang="en-US" dirty="0" smtClean="0"/>
              <a:t>packages</a:t>
            </a:r>
            <a:r>
              <a:rPr lang="en-US" dirty="0" smtClean="0">
                <a:sym typeface="Wingdings" pitchFamily="2" charset="2"/>
              </a:rPr>
              <a:t></a:t>
            </a:r>
            <a:r>
              <a:rPr lang="en-US" dirty="0" smtClean="0"/>
              <a:t> </a:t>
            </a:r>
            <a:r>
              <a:rPr lang="en-US" dirty="0"/>
              <a:t>Work package</a:t>
            </a:r>
          </a:p>
          <a:p>
            <a:endParaRPr lang="en-US" dirty="0"/>
          </a:p>
          <a:p>
            <a:r>
              <a:rPr lang="en-US" dirty="0"/>
              <a:t>Possible Status for WBS Elements</a:t>
            </a:r>
          </a:p>
          <a:p>
            <a:pPr lvl="1"/>
            <a:r>
              <a:rPr lang="en-US" dirty="0"/>
              <a:t>Released</a:t>
            </a:r>
            <a:r>
              <a:rPr lang="en-US" dirty="0">
                <a:sym typeface="Wingdings" pitchFamily="2" charset="2"/>
              </a:rPr>
              <a:t> </a:t>
            </a:r>
            <a:r>
              <a:rPr lang="en-US" dirty="0"/>
              <a:t>Entry of effective costs possible</a:t>
            </a:r>
          </a:p>
          <a:p>
            <a:pPr lvl="1"/>
            <a:r>
              <a:rPr lang="en-US" dirty="0"/>
              <a:t>Unlocked </a:t>
            </a:r>
          </a:p>
          <a:p>
            <a:pPr lvl="1"/>
            <a:r>
              <a:rPr lang="en-US" dirty="0"/>
              <a:t>Technically </a:t>
            </a:r>
            <a:r>
              <a:rPr lang="en-US" dirty="0" smtClean="0"/>
              <a:t>complete</a:t>
            </a:r>
            <a:endParaRPr lang="en-US" dirty="0" smtClean="0">
              <a:sym typeface="Wingdings" pitchFamily="2" charset="2"/>
            </a:endParaRPr>
          </a:p>
          <a:p>
            <a:pPr lvl="1"/>
            <a:r>
              <a:rPr lang="en-US" dirty="0" smtClean="0"/>
              <a:t>Closed</a:t>
            </a:r>
            <a:r>
              <a:rPr lang="en-US" dirty="0">
                <a:sym typeface="Wingdings" pitchFamily="2" charset="2"/>
              </a:rPr>
              <a:t> </a:t>
            </a:r>
            <a:r>
              <a:rPr lang="en-US" dirty="0"/>
              <a:t>processes in Logistics and Finance</a:t>
            </a:r>
          </a:p>
          <a:p>
            <a:pPr lvl="1"/>
            <a:r>
              <a:rPr lang="en-US" dirty="0"/>
              <a:t>Deletion flag</a:t>
            </a:r>
          </a:p>
          <a:p>
            <a:pPr lvl="1"/>
            <a:r>
              <a:rPr lang="en-US" dirty="0"/>
              <a:t>Fully invoiced</a:t>
            </a:r>
            <a:r>
              <a:rPr lang="en-US" dirty="0">
                <a:sym typeface="Wingdings" pitchFamily="2" charset="2"/>
              </a:rPr>
              <a:t> </a:t>
            </a:r>
            <a:r>
              <a:rPr lang="en-US" dirty="0"/>
              <a:t>further invoices can be inhibited</a:t>
            </a:r>
          </a:p>
        </p:txBody>
      </p:sp>
      <p:sp>
        <p:nvSpPr>
          <p:cNvPr id="3" name="Titel 2"/>
          <p:cNvSpPr>
            <a:spLocks noGrp="1"/>
          </p:cNvSpPr>
          <p:nvPr>
            <p:ph type="title"/>
          </p:nvPr>
        </p:nvSpPr>
        <p:spPr/>
        <p:txBody>
          <a:bodyPr/>
          <a:lstStyle/>
          <a:p>
            <a:r>
              <a:rPr lang="de-DE"/>
              <a:t>WBS-Elements</a:t>
            </a:r>
          </a:p>
        </p:txBody>
      </p:sp>
    </p:spTree>
    <p:extLst>
      <p:ext uri="{BB962C8B-B14F-4D97-AF65-F5344CB8AC3E}">
        <p14:creationId xmlns:p14="http://schemas.microsoft.com/office/powerpoint/2010/main" val="42835313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en-US" sz="2000" dirty="0"/>
              <a:t>The Hierarchy Graphic forms the </a:t>
            </a:r>
            <a:r>
              <a:rPr lang="en-US" sz="2000" dirty="0" smtClean="0"/>
              <a:t>basis </a:t>
            </a:r>
            <a:r>
              <a:rPr lang="en-US" sz="2000" dirty="0"/>
              <a:t>for planning:</a:t>
            </a:r>
          </a:p>
          <a:p>
            <a:pPr lvl="1"/>
            <a:r>
              <a:rPr lang="en-US" sz="2000" dirty="0"/>
              <a:t>Costs </a:t>
            </a:r>
          </a:p>
          <a:p>
            <a:pPr lvl="1"/>
            <a:r>
              <a:rPr lang="en-US" sz="2000" dirty="0"/>
              <a:t>Revenues</a:t>
            </a:r>
          </a:p>
          <a:p>
            <a:pPr lvl="1"/>
            <a:r>
              <a:rPr lang="en-US" sz="2000" dirty="0"/>
              <a:t>Payments</a:t>
            </a:r>
          </a:p>
          <a:p>
            <a:pPr lvl="1"/>
            <a:r>
              <a:rPr lang="en-US" sz="2000" dirty="0"/>
              <a:t>Budgets</a:t>
            </a:r>
          </a:p>
          <a:p>
            <a:pPr lvl="1"/>
            <a:r>
              <a:rPr lang="en-US" sz="2000" dirty="0"/>
              <a:t>Schedules</a:t>
            </a:r>
          </a:p>
          <a:p>
            <a:pPr lvl="1"/>
            <a:endParaRPr lang="en-US" sz="2000" dirty="0"/>
          </a:p>
          <a:p>
            <a:r>
              <a:rPr lang="en-US" sz="2000" dirty="0"/>
              <a:t>Can be structured in phases, functions and objects like conceptual design, overall </a:t>
            </a:r>
            <a:r>
              <a:rPr lang="en-US" sz="2000" dirty="0" err="1"/>
              <a:t>planing</a:t>
            </a:r>
            <a:r>
              <a:rPr lang="en-US" sz="2000" dirty="0"/>
              <a:t> or permissions</a:t>
            </a:r>
            <a:r>
              <a:rPr lang="en-US" sz="2000" dirty="0" smtClean="0"/>
              <a:t>.</a:t>
            </a:r>
          </a:p>
          <a:p>
            <a:endParaRPr lang="en-US" sz="2000" dirty="0"/>
          </a:p>
          <a:p>
            <a:r>
              <a:rPr lang="en-US" sz="2000" dirty="0" smtClean="0"/>
              <a:t>Project </a:t>
            </a:r>
            <a:r>
              <a:rPr lang="en-US" sz="2000" dirty="0"/>
              <a:t>phases are, for instance:</a:t>
            </a:r>
          </a:p>
          <a:p>
            <a:pPr lvl="1"/>
            <a:r>
              <a:rPr lang="en-US" sz="2000" dirty="0"/>
              <a:t>Conceptual design</a:t>
            </a:r>
          </a:p>
          <a:p>
            <a:pPr lvl="1"/>
            <a:r>
              <a:rPr lang="en-US" sz="2000" dirty="0"/>
              <a:t>Overall planning</a:t>
            </a:r>
          </a:p>
          <a:p>
            <a:pPr lvl="1"/>
            <a:r>
              <a:rPr lang="en-US" sz="2000" dirty="0"/>
              <a:t>Permission, etc.</a:t>
            </a:r>
          </a:p>
        </p:txBody>
      </p:sp>
      <p:sp>
        <p:nvSpPr>
          <p:cNvPr id="3" name="Titel 2"/>
          <p:cNvSpPr>
            <a:spLocks noGrp="1"/>
          </p:cNvSpPr>
          <p:nvPr>
            <p:ph type="title"/>
          </p:nvPr>
        </p:nvSpPr>
        <p:spPr/>
        <p:txBody>
          <a:bodyPr/>
          <a:lstStyle/>
          <a:p>
            <a:r>
              <a:rPr lang="de-DE" err="1"/>
              <a:t>Hierarchy</a:t>
            </a:r>
            <a:r>
              <a:rPr lang="de-DE"/>
              <a:t> </a:t>
            </a:r>
            <a:r>
              <a:rPr lang="de-DE" err="1"/>
              <a:t>Graphic</a:t>
            </a:r>
            <a:r>
              <a:rPr lang="de-DE"/>
              <a:t> (PSP)</a:t>
            </a:r>
          </a:p>
        </p:txBody>
      </p:sp>
    </p:spTree>
    <p:extLst>
      <p:ext uri="{BB962C8B-B14F-4D97-AF65-F5344CB8AC3E}">
        <p14:creationId xmlns:p14="http://schemas.microsoft.com/office/powerpoint/2010/main" val="27608619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de-DE" err="1"/>
              <a:t>Hierarchy</a:t>
            </a:r>
            <a:r>
              <a:rPr lang="de-DE"/>
              <a:t> </a:t>
            </a:r>
            <a:r>
              <a:rPr lang="de-DE" err="1"/>
              <a:t>Graphic</a:t>
            </a:r>
            <a:endParaRPr lang="de-DE"/>
          </a:p>
        </p:txBody>
      </p:sp>
      <p:sp>
        <p:nvSpPr>
          <p:cNvPr id="5" name="Textfeld 12"/>
          <p:cNvSpPr txBox="1">
            <a:spLocks noChangeArrowheads="1"/>
          </p:cNvSpPr>
          <p:nvPr/>
        </p:nvSpPr>
        <p:spPr bwMode="auto">
          <a:xfrm>
            <a:off x="3043509" y="5377655"/>
            <a:ext cx="6106178" cy="646331"/>
          </a:xfrm>
          <a:prstGeom prst="rect">
            <a:avLst/>
          </a:prstGeom>
          <a:noFill/>
          <a:ln w="9525">
            <a:noFill/>
            <a:miter lim="800000"/>
            <a:headEnd/>
            <a:tailEnd/>
          </a:ln>
        </p:spPr>
        <p:txBody>
          <a:bodyPr wrap="square">
            <a:spAutoFit/>
          </a:bodyPr>
          <a:lstStyle/>
          <a:p>
            <a:r>
              <a:rPr lang="de-DE" sz="1800" err="1"/>
              <a:t>Functions</a:t>
            </a:r>
            <a:r>
              <a:rPr lang="de-DE" sz="1800"/>
              <a:t>:</a:t>
            </a:r>
          </a:p>
          <a:p>
            <a:pPr>
              <a:buClr>
                <a:schemeClr val="tx1"/>
              </a:buClr>
            </a:pPr>
            <a:r>
              <a:rPr lang="de-DE" sz="1800" err="1"/>
              <a:t>Scheduling</a:t>
            </a:r>
            <a:r>
              <a:rPr lang="de-DE" sz="1800"/>
              <a:t>, </a:t>
            </a:r>
            <a:r>
              <a:rPr lang="de-DE" sz="1800" err="1"/>
              <a:t>Cost</a:t>
            </a:r>
            <a:r>
              <a:rPr lang="de-DE" sz="1800"/>
              <a:t> Determination, </a:t>
            </a:r>
            <a:r>
              <a:rPr lang="de-DE" sz="1800" err="1"/>
              <a:t>Classification</a:t>
            </a:r>
            <a:r>
              <a:rPr lang="de-DE" sz="1800"/>
              <a:t> in </a:t>
            </a:r>
            <a:r>
              <a:rPr lang="de-DE" sz="1800" err="1"/>
              <a:t>Entities</a:t>
            </a:r>
            <a:endParaRPr lang="de-DE" sz="1800"/>
          </a:p>
        </p:txBody>
      </p:sp>
      <p:pic>
        <p:nvPicPr>
          <p:cNvPr id="2" name="Grafik 1"/>
          <p:cNvPicPr>
            <a:picLocks noChangeAspect="1"/>
          </p:cNvPicPr>
          <p:nvPr/>
        </p:nvPicPr>
        <p:blipFill>
          <a:blip r:embed="rId3"/>
          <a:stretch>
            <a:fillRect/>
          </a:stretch>
        </p:blipFill>
        <p:spPr>
          <a:xfrm>
            <a:off x="2339455" y="1686095"/>
            <a:ext cx="7514286" cy="3085714"/>
          </a:xfrm>
          <a:prstGeom prst="rect">
            <a:avLst/>
          </a:prstGeom>
        </p:spPr>
      </p:pic>
    </p:spTree>
    <p:extLst>
      <p:ext uri="{BB962C8B-B14F-4D97-AF65-F5344CB8AC3E}">
        <p14:creationId xmlns:p14="http://schemas.microsoft.com/office/powerpoint/2010/main" val="4817277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de-DE" dirty="0"/>
              <a:t>Project </a:t>
            </a:r>
            <a:r>
              <a:rPr lang="de-DE" dirty="0" err="1"/>
              <a:t>Structure</a:t>
            </a:r>
            <a:r>
              <a:rPr lang="de-DE" dirty="0"/>
              <a:t> in SAP </a:t>
            </a:r>
            <a:r>
              <a:rPr lang="de-DE" dirty="0" smtClean="0"/>
              <a:t>S/4HANA</a:t>
            </a:r>
            <a:endParaRPr lang="de-DE" dirty="0"/>
          </a:p>
        </p:txBody>
      </p:sp>
      <p:pic>
        <p:nvPicPr>
          <p:cNvPr id="6" name="Grafik 5"/>
          <p:cNvPicPr>
            <a:picLocks noChangeAspect="1"/>
          </p:cNvPicPr>
          <p:nvPr/>
        </p:nvPicPr>
        <p:blipFill>
          <a:blip r:embed="rId2"/>
          <a:stretch>
            <a:fillRect/>
          </a:stretch>
        </p:blipFill>
        <p:spPr>
          <a:xfrm>
            <a:off x="2824886" y="1307619"/>
            <a:ext cx="6576552" cy="5082230"/>
          </a:xfrm>
          <a:prstGeom prst="rect">
            <a:avLst/>
          </a:prstGeom>
          <a:ln w="28575">
            <a:solidFill>
              <a:schemeClr val="tx2">
                <a:lumMod val="75000"/>
              </a:schemeClr>
            </a:solidFill>
          </a:ln>
        </p:spPr>
      </p:pic>
      <p:cxnSp>
        <p:nvCxnSpPr>
          <p:cNvPr id="14" name="Gerade Verbindung mit Pfeil 8"/>
          <p:cNvCxnSpPr>
            <a:cxnSpLocks noChangeShapeType="1"/>
          </p:cNvCxnSpPr>
          <p:nvPr/>
        </p:nvCxnSpPr>
        <p:spPr bwMode="auto">
          <a:xfrm flipH="1" flipV="1">
            <a:off x="3697464" y="3033096"/>
            <a:ext cx="3940" cy="465716"/>
          </a:xfrm>
          <a:prstGeom prst="straightConnector1">
            <a:avLst/>
          </a:prstGeom>
          <a:noFill/>
          <a:ln w="28575" algn="ctr">
            <a:solidFill>
              <a:schemeClr val="tx2"/>
            </a:solidFill>
            <a:round/>
            <a:headEnd/>
            <a:tailEnd type="arrow" w="med" len="med"/>
          </a:ln>
        </p:spPr>
      </p:cxnSp>
      <p:sp>
        <p:nvSpPr>
          <p:cNvPr id="13" name="Textfeld 6"/>
          <p:cNvSpPr txBox="1">
            <a:spLocks noChangeArrowheads="1"/>
          </p:cNvSpPr>
          <p:nvPr/>
        </p:nvSpPr>
        <p:spPr bwMode="auto">
          <a:xfrm>
            <a:off x="2785462" y="3498812"/>
            <a:ext cx="2591429" cy="923330"/>
          </a:xfrm>
          <a:prstGeom prst="rect">
            <a:avLst/>
          </a:prstGeom>
          <a:noFill/>
          <a:ln w="9525">
            <a:noFill/>
            <a:miter lim="800000"/>
            <a:headEnd/>
            <a:tailEnd/>
          </a:ln>
        </p:spPr>
        <p:txBody>
          <a:bodyPr wrap="square">
            <a:spAutoFit/>
          </a:bodyPr>
          <a:lstStyle/>
          <a:p>
            <a:r>
              <a:rPr lang="de-DE" sz="1800" i="1" dirty="0">
                <a:solidFill>
                  <a:schemeClr val="tx2"/>
                </a:solidFill>
              </a:rPr>
              <a:t>Project </a:t>
            </a:r>
            <a:r>
              <a:rPr lang="de-DE" sz="1800" i="1" dirty="0" err="1">
                <a:solidFill>
                  <a:schemeClr val="tx2"/>
                </a:solidFill>
              </a:rPr>
              <a:t>Structure</a:t>
            </a:r>
            <a:endParaRPr lang="de-DE" sz="1800" i="1" dirty="0">
              <a:solidFill>
                <a:schemeClr val="tx2"/>
              </a:solidFill>
            </a:endParaRPr>
          </a:p>
          <a:p>
            <a:r>
              <a:rPr lang="de-DE" sz="1800" i="1" dirty="0">
                <a:solidFill>
                  <a:schemeClr val="tx2"/>
                </a:solidFill>
              </a:rPr>
              <a:t>Project + PSP </a:t>
            </a:r>
            <a:r>
              <a:rPr lang="de-DE" sz="1800" i="1" dirty="0" smtClean="0">
                <a:solidFill>
                  <a:schemeClr val="tx2"/>
                </a:solidFill>
              </a:rPr>
              <a:t>Elements</a:t>
            </a:r>
            <a:endParaRPr lang="de-DE" sz="1800" i="1" dirty="0">
              <a:solidFill>
                <a:schemeClr val="tx2"/>
              </a:solidFill>
            </a:endParaRPr>
          </a:p>
        </p:txBody>
      </p:sp>
    </p:spTree>
    <p:extLst>
      <p:ext uri="{BB962C8B-B14F-4D97-AF65-F5344CB8AC3E}">
        <p14:creationId xmlns:p14="http://schemas.microsoft.com/office/powerpoint/2010/main" val="8062580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endParaRPr lang="en-US" dirty="0"/>
          </a:p>
          <a:p>
            <a:r>
              <a:rPr lang="en-US" dirty="0"/>
              <a:t>The Project System distinguishes between the following types of activity:</a:t>
            </a:r>
          </a:p>
          <a:p>
            <a:endParaRPr lang="en-US" dirty="0"/>
          </a:p>
          <a:p>
            <a:r>
              <a:rPr lang="en-US" dirty="0"/>
              <a:t>Internally processed activities</a:t>
            </a:r>
          </a:p>
          <a:p>
            <a:r>
              <a:rPr lang="en-US" dirty="0"/>
              <a:t>Externally processed activities</a:t>
            </a:r>
          </a:p>
          <a:p>
            <a:r>
              <a:rPr lang="en-US" dirty="0"/>
              <a:t>General costs activities</a:t>
            </a:r>
            <a:endParaRPr lang="de-DE" dirty="0"/>
          </a:p>
          <a:p>
            <a:pPr marL="457200" indent="-457200">
              <a:defRPr/>
            </a:pPr>
            <a:endParaRPr lang="de-DE" dirty="0"/>
          </a:p>
          <a:p>
            <a:r>
              <a:rPr lang="en-US" dirty="0"/>
              <a:t>The German standard DIN 69 900 describes activities as "components of a process " with the following characteristics:</a:t>
            </a:r>
          </a:p>
          <a:p>
            <a:endParaRPr lang="en-US" dirty="0"/>
          </a:p>
          <a:p>
            <a:r>
              <a:rPr lang="en-US" dirty="0"/>
              <a:t>They have a duration.</a:t>
            </a:r>
          </a:p>
          <a:p>
            <a:r>
              <a:rPr lang="en-US" dirty="0"/>
              <a:t>They have a defined start and a defined finish.</a:t>
            </a:r>
          </a:p>
          <a:p>
            <a:r>
              <a:rPr lang="en-US" dirty="0"/>
              <a:t>They are processed without interruption.</a:t>
            </a:r>
          </a:p>
          <a:p>
            <a:r>
              <a:rPr lang="en-US" dirty="0"/>
              <a:t>Resources are needed to execute them.</a:t>
            </a:r>
          </a:p>
          <a:p>
            <a:r>
              <a:rPr lang="en-US" dirty="0"/>
              <a:t>They incur costs.</a:t>
            </a:r>
          </a:p>
          <a:p>
            <a:pPr>
              <a:defRPr/>
            </a:pPr>
            <a:endParaRPr lang="de-DE" dirty="0"/>
          </a:p>
          <a:p>
            <a:endParaRPr lang="de-DE" dirty="0"/>
          </a:p>
        </p:txBody>
      </p:sp>
      <p:sp>
        <p:nvSpPr>
          <p:cNvPr id="3" name="Titel 2"/>
          <p:cNvSpPr>
            <a:spLocks noGrp="1"/>
          </p:cNvSpPr>
          <p:nvPr>
            <p:ph type="title"/>
          </p:nvPr>
        </p:nvSpPr>
        <p:spPr/>
        <p:txBody>
          <a:bodyPr/>
          <a:lstStyle/>
          <a:p>
            <a:r>
              <a:rPr lang="de-DE" dirty="0" err="1"/>
              <a:t>Activities</a:t>
            </a:r>
            <a:endParaRPr lang="de-DE" dirty="0"/>
          </a:p>
        </p:txBody>
      </p:sp>
    </p:spTree>
    <p:extLst>
      <p:ext uri="{BB962C8B-B14F-4D97-AF65-F5344CB8AC3E}">
        <p14:creationId xmlns:p14="http://schemas.microsoft.com/office/powerpoint/2010/main" val="3731719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en-US" dirty="0"/>
              <a:t>Consists of access sequences and relationships</a:t>
            </a:r>
          </a:p>
          <a:p>
            <a:endParaRPr lang="en-US" dirty="0"/>
          </a:p>
          <a:p>
            <a:r>
              <a:rPr lang="en-US" dirty="0"/>
              <a:t>Possibility to create access sequences in external</a:t>
            </a:r>
            <a:br>
              <a:rPr lang="en-US" dirty="0"/>
            </a:br>
            <a:r>
              <a:rPr lang="en-US" dirty="0"/>
              <a:t>processing</a:t>
            </a:r>
          </a:p>
          <a:p>
            <a:endParaRPr lang="en-US" dirty="0"/>
          </a:p>
          <a:p>
            <a:r>
              <a:rPr lang="en-US" dirty="0"/>
              <a:t>Change of internally processed activities </a:t>
            </a:r>
            <a:r>
              <a:rPr lang="en-US" dirty="0" smtClean="0"/>
              <a:t>to</a:t>
            </a:r>
            <a:br>
              <a:rPr lang="en-US" dirty="0" smtClean="0"/>
            </a:br>
            <a:r>
              <a:rPr lang="en-US" dirty="0" smtClean="0"/>
              <a:t>externally </a:t>
            </a:r>
            <a:r>
              <a:rPr lang="en-US" dirty="0"/>
              <a:t>processed ones</a:t>
            </a:r>
            <a:endParaRPr lang="de-DE" dirty="0"/>
          </a:p>
        </p:txBody>
      </p:sp>
      <p:sp>
        <p:nvSpPr>
          <p:cNvPr id="3" name="Titel 2"/>
          <p:cNvSpPr>
            <a:spLocks noGrp="1"/>
          </p:cNvSpPr>
          <p:nvPr>
            <p:ph type="title"/>
          </p:nvPr>
        </p:nvSpPr>
        <p:spPr/>
        <p:txBody>
          <a:bodyPr/>
          <a:lstStyle/>
          <a:p>
            <a:r>
              <a:rPr lang="de-DE" err="1"/>
              <a:t>Hierarchy</a:t>
            </a:r>
            <a:r>
              <a:rPr lang="de-DE"/>
              <a:t> </a:t>
            </a:r>
            <a:r>
              <a:rPr lang="de-DE" err="1"/>
              <a:t>Graphic</a:t>
            </a:r>
            <a:endParaRPr lang="de-DE"/>
          </a:p>
        </p:txBody>
      </p:sp>
      <p:grpSp>
        <p:nvGrpSpPr>
          <p:cNvPr id="7" name="Gruppieren 6"/>
          <p:cNvGrpSpPr/>
          <p:nvPr/>
        </p:nvGrpSpPr>
        <p:grpSpPr>
          <a:xfrm>
            <a:off x="6470113" y="1331225"/>
            <a:ext cx="5399087" cy="5111750"/>
            <a:chOff x="468313" y="1196975"/>
            <a:chExt cx="5399087" cy="5111750"/>
          </a:xfrm>
        </p:grpSpPr>
        <p:sp>
          <p:nvSpPr>
            <p:cNvPr id="4" name="Rechteck 3"/>
            <p:cNvSpPr/>
            <p:nvPr/>
          </p:nvSpPr>
          <p:spPr bwMode="auto">
            <a:xfrm>
              <a:off x="468313" y="1196975"/>
              <a:ext cx="5399087" cy="5111750"/>
            </a:xfrm>
            <a:prstGeom prst="rect">
              <a:avLst/>
            </a:prstGeom>
            <a:solidFill>
              <a:schemeClr val="bg1">
                <a:lumMod val="75000"/>
              </a:schemeClr>
            </a:solidFill>
            <a:ln w="12700" cap="flat" cmpd="sng" algn="ctr">
              <a:solidFill>
                <a:schemeClr val="bg1">
                  <a:lumMod val="75000"/>
                </a:schemeClr>
              </a:solidFill>
              <a:prstDash val="solid"/>
              <a:round/>
              <a:headEnd type="none" w="med" len="med"/>
              <a:tailEnd type="none" w="med" len="med"/>
            </a:ln>
            <a:effectLst/>
          </p:spPr>
          <p:txBody>
            <a:bodyPr wrap="none" lIns="0" tIns="0" rIns="0" bIns="0"/>
            <a:lstStyle/>
            <a:p>
              <a:pPr>
                <a:defRPr/>
              </a:pPr>
              <a:endParaRPr lang="de-DE" sz="2800"/>
            </a:p>
          </p:txBody>
        </p:sp>
        <p:pic>
          <p:nvPicPr>
            <p:cNvPr id="5" name="Picture 3"/>
            <p:cNvPicPr>
              <a:picLocks noChangeAspect="1" noChangeArrowheads="1"/>
            </p:cNvPicPr>
            <p:nvPr/>
          </p:nvPicPr>
          <p:blipFill>
            <a:blip r:embed="rId3" cstate="print"/>
            <a:srcRect/>
            <a:stretch>
              <a:fillRect/>
            </a:stretch>
          </p:blipFill>
          <p:spPr bwMode="gray">
            <a:xfrm>
              <a:off x="539750" y="1700213"/>
              <a:ext cx="5256213" cy="4206875"/>
            </a:xfrm>
            <a:prstGeom prst="rect">
              <a:avLst/>
            </a:prstGeom>
            <a:noFill/>
          </p:spPr>
        </p:pic>
        <p:sp>
          <p:nvSpPr>
            <p:cNvPr id="6" name="Textfeld 6"/>
            <p:cNvSpPr txBox="1">
              <a:spLocks noChangeArrowheads="1"/>
            </p:cNvSpPr>
            <p:nvPr/>
          </p:nvSpPr>
          <p:spPr bwMode="auto">
            <a:xfrm>
              <a:off x="468313" y="1196975"/>
              <a:ext cx="3240087" cy="369888"/>
            </a:xfrm>
            <a:prstGeom prst="rect">
              <a:avLst/>
            </a:prstGeom>
            <a:noFill/>
            <a:ln w="9525">
              <a:noFill/>
              <a:miter lim="800000"/>
              <a:headEnd/>
              <a:tailEnd/>
            </a:ln>
          </p:spPr>
          <p:txBody>
            <a:bodyPr>
              <a:spAutoFit/>
            </a:bodyPr>
            <a:lstStyle/>
            <a:p>
              <a:r>
                <a:rPr lang="de-DE" sz="1800" i="1">
                  <a:solidFill>
                    <a:schemeClr val="bg1"/>
                  </a:solidFill>
                </a:rPr>
                <a:t>Example Hierarchy Graphic</a:t>
              </a:r>
            </a:p>
          </p:txBody>
        </p:sp>
      </p:grpSp>
    </p:spTree>
    <p:extLst>
      <p:ext uri="{BB962C8B-B14F-4D97-AF65-F5344CB8AC3E}">
        <p14:creationId xmlns:p14="http://schemas.microsoft.com/office/powerpoint/2010/main" val="14615728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de-DE" dirty="0" err="1"/>
              <a:t>Relationships</a:t>
            </a:r>
            <a:r>
              <a:rPr lang="de-DE" dirty="0"/>
              <a:t> </a:t>
            </a:r>
            <a:r>
              <a:rPr lang="de-DE" dirty="0" err="1"/>
              <a:t>describe</a:t>
            </a:r>
            <a:r>
              <a:rPr lang="de-DE" dirty="0"/>
              <a:t> </a:t>
            </a:r>
            <a:r>
              <a:rPr lang="de-DE" dirty="0" err="1"/>
              <a:t>the</a:t>
            </a:r>
            <a:r>
              <a:rPr lang="de-DE" dirty="0"/>
              <a:t> </a:t>
            </a:r>
            <a:r>
              <a:rPr lang="de-DE" dirty="0" err="1"/>
              <a:t>chronological</a:t>
            </a:r>
            <a:r>
              <a:rPr lang="de-DE" dirty="0"/>
              <a:t> </a:t>
            </a:r>
            <a:r>
              <a:rPr lang="de-DE" dirty="0" err="1"/>
              <a:t>sequence</a:t>
            </a:r>
            <a:r>
              <a:rPr lang="de-DE" dirty="0"/>
              <a:t> in a </a:t>
            </a:r>
            <a:r>
              <a:rPr lang="de-DE" dirty="0" err="1"/>
              <a:t>network</a:t>
            </a:r>
            <a:r>
              <a:rPr lang="de-DE" dirty="0"/>
              <a:t> plan oder </a:t>
            </a:r>
            <a:r>
              <a:rPr lang="de-DE" dirty="0" err="1"/>
              <a:t>standard</a:t>
            </a:r>
            <a:r>
              <a:rPr lang="de-DE" dirty="0"/>
              <a:t> </a:t>
            </a:r>
            <a:r>
              <a:rPr lang="de-DE" dirty="0" err="1"/>
              <a:t>network</a:t>
            </a:r>
            <a:r>
              <a:rPr lang="de-DE" dirty="0"/>
              <a:t>. </a:t>
            </a:r>
            <a:r>
              <a:rPr lang="en-US" dirty="0" smtClean="0"/>
              <a:t>There </a:t>
            </a:r>
            <a:r>
              <a:rPr lang="en-US" dirty="0"/>
              <a:t>can be dependencies of a technical or logical nature.</a:t>
            </a:r>
            <a:r>
              <a:rPr lang="de-DE" dirty="0"/>
              <a:t>		</a:t>
            </a:r>
          </a:p>
          <a:p>
            <a:pPr>
              <a:buNone/>
            </a:pPr>
            <a:endParaRPr lang="de-DE" dirty="0"/>
          </a:p>
          <a:p>
            <a:pPr>
              <a:buNone/>
            </a:pPr>
            <a:r>
              <a:rPr lang="de-DE" dirty="0"/>
              <a:t>	Normal </a:t>
            </a:r>
            <a:r>
              <a:rPr lang="de-DE" dirty="0" err="1" smtClean="0"/>
              <a:t>series</a:t>
            </a:r>
            <a:r>
              <a:rPr lang="de-DE" dirty="0"/>
              <a:t/>
            </a:r>
            <a:br>
              <a:rPr lang="de-DE" dirty="0"/>
            </a:br>
            <a:r>
              <a:rPr lang="de-DE" dirty="0" err="1"/>
              <a:t>From</a:t>
            </a:r>
            <a:r>
              <a:rPr lang="de-DE" dirty="0"/>
              <a:t> </a:t>
            </a:r>
            <a:r>
              <a:rPr lang="de-DE" dirty="0" err="1"/>
              <a:t>the</a:t>
            </a:r>
            <a:r>
              <a:rPr lang="de-DE" dirty="0"/>
              <a:t> end </a:t>
            </a:r>
            <a:r>
              <a:rPr lang="de-DE" dirty="0" err="1"/>
              <a:t>of</a:t>
            </a:r>
            <a:r>
              <a:rPr lang="de-DE" dirty="0"/>
              <a:t> </a:t>
            </a:r>
            <a:r>
              <a:rPr lang="de-DE" dirty="0" err="1"/>
              <a:t>one</a:t>
            </a:r>
            <a:r>
              <a:rPr lang="de-DE" dirty="0"/>
              <a:t> </a:t>
            </a:r>
            <a:r>
              <a:rPr lang="de-DE" dirty="0" err="1"/>
              <a:t>series</a:t>
            </a:r>
            <a:r>
              <a:rPr lang="de-DE" dirty="0"/>
              <a:t> </a:t>
            </a:r>
            <a:r>
              <a:rPr lang="de-DE" dirty="0" err="1"/>
              <a:t>to</a:t>
            </a:r>
            <a:r>
              <a:rPr lang="de-DE" dirty="0"/>
              <a:t> </a:t>
            </a:r>
            <a:r>
              <a:rPr lang="de-DE" dirty="0" err="1"/>
              <a:t>the</a:t>
            </a:r>
            <a:r>
              <a:rPr lang="de-DE" dirty="0"/>
              <a:t> </a:t>
            </a:r>
            <a:r>
              <a:rPr lang="de-DE" dirty="0" err="1"/>
              <a:t>beginning</a:t>
            </a:r>
            <a:r>
              <a:rPr lang="de-DE" dirty="0"/>
              <a:t> </a:t>
            </a:r>
            <a:r>
              <a:rPr lang="de-DE" dirty="0" err="1"/>
              <a:t>of</a:t>
            </a:r>
            <a:r>
              <a:rPr lang="de-DE" dirty="0"/>
              <a:t> </a:t>
            </a:r>
            <a:r>
              <a:rPr lang="de-DE" dirty="0" err="1"/>
              <a:t>another</a:t>
            </a:r>
            <a:r>
              <a:rPr lang="de-DE" dirty="0"/>
              <a:t> </a:t>
            </a:r>
            <a:r>
              <a:rPr lang="de-DE" dirty="0" err="1"/>
              <a:t>one</a:t>
            </a:r>
            <a:r>
              <a:rPr lang="de-DE" dirty="0"/>
              <a:t>.</a:t>
            </a:r>
          </a:p>
          <a:p>
            <a:endParaRPr lang="de-DE" dirty="0"/>
          </a:p>
          <a:p>
            <a:pPr>
              <a:buNone/>
            </a:pPr>
            <a:r>
              <a:rPr lang="de-DE" dirty="0"/>
              <a:t>	Start </a:t>
            </a:r>
            <a:r>
              <a:rPr lang="de-DE" dirty="0" err="1" smtClean="0"/>
              <a:t>series</a:t>
            </a:r>
            <a:r>
              <a:rPr lang="de-DE" dirty="0"/>
              <a:t/>
            </a:r>
            <a:br>
              <a:rPr lang="de-DE" dirty="0"/>
            </a:br>
            <a:r>
              <a:rPr lang="de-DE" dirty="0" err="1"/>
              <a:t>From</a:t>
            </a:r>
            <a:r>
              <a:rPr lang="de-DE" dirty="0"/>
              <a:t> </a:t>
            </a:r>
            <a:r>
              <a:rPr lang="de-DE" dirty="0" err="1"/>
              <a:t>the</a:t>
            </a:r>
            <a:r>
              <a:rPr lang="de-DE" dirty="0"/>
              <a:t> </a:t>
            </a:r>
            <a:r>
              <a:rPr lang="de-DE" dirty="0" err="1"/>
              <a:t>Beginning</a:t>
            </a:r>
            <a:r>
              <a:rPr lang="de-DE" dirty="0"/>
              <a:t> </a:t>
            </a:r>
            <a:r>
              <a:rPr lang="de-DE" dirty="0" err="1"/>
              <a:t>of</a:t>
            </a:r>
            <a:r>
              <a:rPr lang="de-DE" dirty="0"/>
              <a:t> </a:t>
            </a:r>
            <a:r>
              <a:rPr lang="de-DE" dirty="0" err="1"/>
              <a:t>one</a:t>
            </a:r>
            <a:r>
              <a:rPr lang="de-DE" dirty="0"/>
              <a:t> Series </a:t>
            </a:r>
            <a:r>
              <a:rPr lang="de-DE" dirty="0" err="1"/>
              <a:t>to</a:t>
            </a:r>
            <a:r>
              <a:rPr lang="de-DE" dirty="0"/>
              <a:t> </a:t>
            </a:r>
            <a:r>
              <a:rPr lang="de-DE" dirty="0" err="1"/>
              <a:t>the</a:t>
            </a:r>
            <a:r>
              <a:rPr lang="de-DE" dirty="0"/>
              <a:t> </a:t>
            </a:r>
            <a:r>
              <a:rPr lang="de-DE" dirty="0" err="1"/>
              <a:t>beginning</a:t>
            </a:r>
            <a:r>
              <a:rPr lang="de-DE" dirty="0"/>
              <a:t> </a:t>
            </a:r>
            <a:r>
              <a:rPr lang="de-DE" dirty="0" err="1"/>
              <a:t>of</a:t>
            </a:r>
            <a:r>
              <a:rPr lang="de-DE" dirty="0"/>
              <a:t> </a:t>
            </a:r>
            <a:r>
              <a:rPr lang="de-DE" dirty="0" err="1"/>
              <a:t>another</a:t>
            </a:r>
            <a:r>
              <a:rPr lang="de-DE" dirty="0"/>
              <a:t> </a:t>
            </a:r>
            <a:r>
              <a:rPr lang="de-DE" dirty="0" err="1"/>
              <a:t>one</a:t>
            </a:r>
            <a:r>
              <a:rPr lang="de-DE" dirty="0"/>
              <a:t>. </a:t>
            </a:r>
          </a:p>
          <a:p>
            <a:pPr>
              <a:buNone/>
            </a:pPr>
            <a:endParaRPr lang="de-DE" sz="1400" dirty="0"/>
          </a:p>
          <a:p>
            <a:pPr>
              <a:buNone/>
            </a:pPr>
            <a:endParaRPr lang="de-DE" dirty="0"/>
          </a:p>
          <a:p>
            <a:pPr>
              <a:buNone/>
            </a:pPr>
            <a:r>
              <a:rPr lang="de-DE" dirty="0"/>
              <a:t>	End </a:t>
            </a:r>
            <a:r>
              <a:rPr lang="de-DE" dirty="0" err="1"/>
              <a:t>series</a:t>
            </a:r>
            <a:r>
              <a:rPr lang="de-DE" dirty="0"/>
              <a:t> </a:t>
            </a:r>
            <a:br>
              <a:rPr lang="de-DE" dirty="0"/>
            </a:br>
            <a:r>
              <a:rPr lang="de-DE" dirty="0" err="1"/>
              <a:t>Starting</a:t>
            </a:r>
            <a:r>
              <a:rPr lang="de-DE" dirty="0"/>
              <a:t> at </a:t>
            </a:r>
            <a:r>
              <a:rPr lang="de-DE" dirty="0" err="1"/>
              <a:t>the</a:t>
            </a:r>
            <a:r>
              <a:rPr lang="de-DE" dirty="0"/>
              <a:t> end </a:t>
            </a:r>
            <a:r>
              <a:rPr lang="de-DE" dirty="0" err="1"/>
              <a:t>of</a:t>
            </a:r>
            <a:r>
              <a:rPr lang="de-DE" dirty="0"/>
              <a:t> </a:t>
            </a:r>
            <a:r>
              <a:rPr lang="de-DE" dirty="0" err="1"/>
              <a:t>one</a:t>
            </a:r>
            <a:r>
              <a:rPr lang="de-DE" dirty="0"/>
              <a:t> </a:t>
            </a:r>
            <a:r>
              <a:rPr lang="de-DE" dirty="0" err="1"/>
              <a:t>series</a:t>
            </a:r>
            <a:r>
              <a:rPr lang="de-DE" dirty="0"/>
              <a:t> </a:t>
            </a:r>
            <a:r>
              <a:rPr lang="de-DE" dirty="0" err="1"/>
              <a:t>going</a:t>
            </a:r>
            <a:r>
              <a:rPr lang="de-DE" dirty="0"/>
              <a:t> </a:t>
            </a:r>
            <a:r>
              <a:rPr lang="de-DE" dirty="0" err="1"/>
              <a:t>to</a:t>
            </a:r>
            <a:r>
              <a:rPr lang="de-DE" dirty="0"/>
              <a:t> </a:t>
            </a:r>
            <a:r>
              <a:rPr lang="de-DE" dirty="0" err="1"/>
              <a:t>the</a:t>
            </a:r>
            <a:r>
              <a:rPr lang="de-DE" dirty="0"/>
              <a:t> end </a:t>
            </a:r>
            <a:r>
              <a:rPr lang="de-DE" dirty="0" err="1"/>
              <a:t>of</a:t>
            </a:r>
            <a:r>
              <a:rPr lang="de-DE" dirty="0"/>
              <a:t> </a:t>
            </a:r>
            <a:r>
              <a:rPr lang="de-DE" dirty="0" err="1"/>
              <a:t>another</a:t>
            </a:r>
            <a:r>
              <a:rPr lang="de-DE" dirty="0"/>
              <a:t> </a:t>
            </a:r>
            <a:r>
              <a:rPr lang="de-DE" dirty="0" err="1"/>
              <a:t>series</a:t>
            </a:r>
            <a:r>
              <a:rPr lang="de-DE" dirty="0"/>
              <a:t>.</a:t>
            </a:r>
          </a:p>
          <a:p>
            <a:pPr>
              <a:buNone/>
            </a:pPr>
            <a:endParaRPr lang="de-DE" sz="2400" dirty="0"/>
          </a:p>
          <a:p>
            <a:pPr>
              <a:buNone/>
            </a:pPr>
            <a:r>
              <a:rPr lang="de-DE" dirty="0"/>
              <a:t>	</a:t>
            </a:r>
            <a:r>
              <a:rPr lang="de-DE" dirty="0" err="1"/>
              <a:t>Bounding</a:t>
            </a:r>
            <a:r>
              <a:rPr lang="de-DE" dirty="0"/>
              <a:t> </a:t>
            </a:r>
            <a:r>
              <a:rPr lang="de-DE" dirty="0" err="1" smtClean="0"/>
              <a:t>series</a:t>
            </a:r>
            <a:r>
              <a:rPr lang="de-DE" dirty="0"/>
              <a:t/>
            </a:r>
            <a:br>
              <a:rPr lang="de-DE" dirty="0"/>
            </a:br>
            <a:r>
              <a:rPr lang="de-DE" dirty="0" err="1"/>
              <a:t>From</a:t>
            </a:r>
            <a:r>
              <a:rPr lang="de-DE" dirty="0"/>
              <a:t> </a:t>
            </a:r>
            <a:r>
              <a:rPr lang="de-DE" dirty="0" err="1"/>
              <a:t>the</a:t>
            </a:r>
            <a:r>
              <a:rPr lang="de-DE" dirty="0"/>
              <a:t> </a:t>
            </a:r>
            <a:r>
              <a:rPr lang="de-DE" dirty="0" err="1"/>
              <a:t>beginning</a:t>
            </a:r>
            <a:r>
              <a:rPr lang="de-DE" dirty="0"/>
              <a:t> </a:t>
            </a:r>
            <a:r>
              <a:rPr lang="de-DE" dirty="0" err="1"/>
              <a:t>of</a:t>
            </a:r>
            <a:r>
              <a:rPr lang="de-DE" dirty="0"/>
              <a:t> </a:t>
            </a:r>
            <a:r>
              <a:rPr lang="de-DE" dirty="0" err="1"/>
              <a:t>one</a:t>
            </a:r>
            <a:r>
              <a:rPr lang="de-DE" dirty="0"/>
              <a:t> </a:t>
            </a:r>
            <a:r>
              <a:rPr lang="de-DE" dirty="0" err="1"/>
              <a:t>series</a:t>
            </a:r>
            <a:r>
              <a:rPr lang="de-DE" dirty="0"/>
              <a:t> </a:t>
            </a:r>
            <a:r>
              <a:rPr lang="de-DE" dirty="0" err="1"/>
              <a:t>to</a:t>
            </a:r>
            <a:r>
              <a:rPr lang="de-DE" dirty="0"/>
              <a:t> </a:t>
            </a:r>
            <a:r>
              <a:rPr lang="de-DE" dirty="0" err="1"/>
              <a:t>the</a:t>
            </a:r>
            <a:r>
              <a:rPr lang="de-DE" dirty="0"/>
              <a:t> end </a:t>
            </a:r>
            <a:r>
              <a:rPr lang="de-DE" dirty="0" err="1"/>
              <a:t>of</a:t>
            </a:r>
            <a:r>
              <a:rPr lang="de-DE" dirty="0"/>
              <a:t> </a:t>
            </a:r>
            <a:r>
              <a:rPr lang="de-DE" dirty="0" err="1"/>
              <a:t>another</a:t>
            </a:r>
            <a:r>
              <a:rPr lang="de-DE" dirty="0"/>
              <a:t> </a:t>
            </a:r>
            <a:r>
              <a:rPr lang="de-DE" dirty="0" err="1"/>
              <a:t>series</a:t>
            </a:r>
            <a:r>
              <a:rPr lang="de-DE" dirty="0"/>
              <a:t>.</a:t>
            </a:r>
          </a:p>
          <a:p>
            <a:pPr>
              <a:buNone/>
            </a:pPr>
            <a:endParaRPr lang="de-DE" dirty="0"/>
          </a:p>
          <a:p>
            <a:endParaRPr lang="de-DE" dirty="0"/>
          </a:p>
        </p:txBody>
      </p:sp>
      <p:sp>
        <p:nvSpPr>
          <p:cNvPr id="3" name="Titel 2"/>
          <p:cNvSpPr>
            <a:spLocks noGrp="1"/>
          </p:cNvSpPr>
          <p:nvPr>
            <p:ph type="title"/>
          </p:nvPr>
        </p:nvSpPr>
        <p:spPr/>
        <p:txBody>
          <a:bodyPr/>
          <a:lstStyle/>
          <a:p>
            <a:r>
              <a:rPr lang="de-DE" err="1"/>
              <a:t>Relationships</a:t>
            </a:r>
            <a:endParaRPr lang="de-DE"/>
          </a:p>
        </p:txBody>
      </p:sp>
      <p:grpSp>
        <p:nvGrpSpPr>
          <p:cNvPr id="8" name="Gruppieren 7"/>
          <p:cNvGrpSpPr/>
          <p:nvPr/>
        </p:nvGrpSpPr>
        <p:grpSpPr>
          <a:xfrm>
            <a:off x="7969315" y="2512834"/>
            <a:ext cx="2736850" cy="3570287"/>
            <a:chOff x="3348038" y="2636838"/>
            <a:chExt cx="2736850" cy="3570287"/>
          </a:xfrm>
        </p:grpSpPr>
        <p:pic>
          <p:nvPicPr>
            <p:cNvPr id="4" name="Picture 2" descr="http://help.sap.com/saphelp_46c/helpdata/de/4c/2261ba46e611d189470000e829fbbd/Image206.gif"/>
            <p:cNvPicPr>
              <a:picLocks noChangeAspect="1" noChangeArrowheads="1"/>
            </p:cNvPicPr>
            <p:nvPr/>
          </p:nvPicPr>
          <p:blipFill>
            <a:blip r:embed="rId3" cstate="print"/>
            <a:srcRect/>
            <a:stretch>
              <a:fillRect/>
            </a:stretch>
          </p:blipFill>
          <p:spPr bwMode="auto">
            <a:xfrm>
              <a:off x="3348038" y="2636838"/>
              <a:ext cx="2736850" cy="639762"/>
            </a:xfrm>
            <a:prstGeom prst="rect">
              <a:avLst/>
            </a:prstGeom>
            <a:noFill/>
            <a:ln w="9525">
              <a:noFill/>
              <a:miter lim="800000"/>
              <a:headEnd/>
              <a:tailEnd/>
            </a:ln>
          </p:spPr>
        </p:pic>
        <p:pic>
          <p:nvPicPr>
            <p:cNvPr id="5" name="Picture 4" descr="http://help.sap.com/saphelp_46c/helpdata/de/4c/2261ba46e611d189470000e829fbbd/Image207.gif"/>
            <p:cNvPicPr>
              <a:picLocks noChangeAspect="1" noChangeArrowheads="1"/>
            </p:cNvPicPr>
            <p:nvPr/>
          </p:nvPicPr>
          <p:blipFill>
            <a:blip r:embed="rId4" cstate="print"/>
            <a:srcRect/>
            <a:stretch>
              <a:fillRect/>
            </a:stretch>
          </p:blipFill>
          <p:spPr bwMode="auto">
            <a:xfrm>
              <a:off x="3348038" y="3573463"/>
              <a:ext cx="2736850" cy="639762"/>
            </a:xfrm>
            <a:prstGeom prst="rect">
              <a:avLst/>
            </a:prstGeom>
            <a:noFill/>
            <a:ln w="9525">
              <a:noFill/>
              <a:miter lim="800000"/>
              <a:headEnd/>
              <a:tailEnd/>
            </a:ln>
          </p:spPr>
        </p:pic>
        <p:pic>
          <p:nvPicPr>
            <p:cNvPr id="6" name="Picture 6" descr="http://help.sap.com/saphelp_46c/helpdata/de/4c/2261ba46e611d189470000e829fbbd/Image208.gif"/>
            <p:cNvPicPr>
              <a:picLocks noChangeAspect="1" noChangeArrowheads="1"/>
            </p:cNvPicPr>
            <p:nvPr/>
          </p:nvPicPr>
          <p:blipFill>
            <a:blip r:embed="rId5" cstate="print"/>
            <a:srcRect/>
            <a:stretch>
              <a:fillRect/>
            </a:stretch>
          </p:blipFill>
          <p:spPr bwMode="auto">
            <a:xfrm>
              <a:off x="3348038" y="4437063"/>
              <a:ext cx="2736850" cy="639762"/>
            </a:xfrm>
            <a:prstGeom prst="rect">
              <a:avLst/>
            </a:prstGeom>
            <a:noFill/>
            <a:ln w="9525">
              <a:noFill/>
              <a:miter lim="800000"/>
              <a:headEnd/>
              <a:tailEnd/>
            </a:ln>
          </p:spPr>
        </p:pic>
        <p:pic>
          <p:nvPicPr>
            <p:cNvPr id="7" name="Picture 8" descr="http://help.sap.com/saphelp_46c/helpdata/de/4c/2261ba46e611d189470000e829fbbd/Image209.gif"/>
            <p:cNvPicPr>
              <a:picLocks noChangeAspect="1" noChangeArrowheads="1"/>
            </p:cNvPicPr>
            <p:nvPr/>
          </p:nvPicPr>
          <p:blipFill>
            <a:blip r:embed="rId6" cstate="print"/>
            <a:srcRect/>
            <a:stretch>
              <a:fillRect/>
            </a:stretch>
          </p:blipFill>
          <p:spPr bwMode="auto">
            <a:xfrm>
              <a:off x="3348038" y="5300663"/>
              <a:ext cx="2736850" cy="906462"/>
            </a:xfrm>
            <a:prstGeom prst="rect">
              <a:avLst/>
            </a:prstGeom>
            <a:noFill/>
            <a:ln w="9525">
              <a:noFill/>
              <a:miter lim="800000"/>
              <a:headEnd/>
              <a:tailEnd/>
            </a:ln>
          </p:spPr>
        </p:pic>
      </p:grpSp>
    </p:spTree>
    <p:extLst>
      <p:ext uri="{BB962C8B-B14F-4D97-AF65-F5344CB8AC3E}">
        <p14:creationId xmlns:p14="http://schemas.microsoft.com/office/powerpoint/2010/main" val="30593880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en-US" dirty="0"/>
              <a:t>Milestones are </a:t>
            </a:r>
            <a:r>
              <a:rPr lang="en-US" dirty="0" smtClean="0"/>
              <a:t>used to </a:t>
            </a:r>
            <a:r>
              <a:rPr lang="en-US" dirty="0"/>
              <a:t>mark </a:t>
            </a:r>
            <a:r>
              <a:rPr lang="en-US" dirty="0" smtClean="0"/>
              <a:t>transitions between </a:t>
            </a:r>
            <a:r>
              <a:rPr lang="en-US" dirty="0"/>
              <a:t>different phases or departments</a:t>
            </a:r>
          </a:p>
          <a:p>
            <a:r>
              <a:rPr lang="en-US" dirty="0" smtClean="0"/>
              <a:t>In </a:t>
            </a:r>
            <a:r>
              <a:rPr lang="en-US" dirty="0"/>
              <a:t>the project </a:t>
            </a:r>
            <a:r>
              <a:rPr lang="en-US" dirty="0" smtClean="0"/>
              <a:t>system, </a:t>
            </a:r>
            <a:r>
              <a:rPr lang="en-US" dirty="0"/>
              <a:t>they can be used for additional tasks and functions</a:t>
            </a:r>
          </a:p>
          <a:p>
            <a:endParaRPr lang="de-DE" dirty="0"/>
          </a:p>
        </p:txBody>
      </p:sp>
      <p:sp>
        <p:nvSpPr>
          <p:cNvPr id="3" name="Titel 2"/>
          <p:cNvSpPr>
            <a:spLocks noGrp="1"/>
          </p:cNvSpPr>
          <p:nvPr>
            <p:ph type="title"/>
          </p:nvPr>
        </p:nvSpPr>
        <p:spPr/>
        <p:txBody>
          <a:bodyPr/>
          <a:lstStyle/>
          <a:p>
            <a:r>
              <a:rPr lang="de-DE"/>
              <a:t>Milestones</a:t>
            </a:r>
          </a:p>
        </p:txBody>
      </p:sp>
      <p:pic>
        <p:nvPicPr>
          <p:cNvPr id="4" name="Grafik 3"/>
          <p:cNvPicPr>
            <a:picLocks noChangeAspect="1"/>
          </p:cNvPicPr>
          <p:nvPr/>
        </p:nvPicPr>
        <p:blipFill>
          <a:blip r:embed="rId3"/>
          <a:stretch>
            <a:fillRect/>
          </a:stretch>
        </p:blipFill>
        <p:spPr>
          <a:xfrm>
            <a:off x="2492370" y="2427463"/>
            <a:ext cx="5302818" cy="3791221"/>
          </a:xfrm>
          <a:prstGeom prst="rect">
            <a:avLst/>
          </a:prstGeom>
          <a:ln w="19050">
            <a:solidFill>
              <a:schemeClr val="tx2">
                <a:lumMod val="75000"/>
              </a:schemeClr>
            </a:solidFill>
          </a:ln>
        </p:spPr>
      </p:pic>
      <p:cxnSp>
        <p:nvCxnSpPr>
          <p:cNvPr id="12" name="Gerade Verbindung 12"/>
          <p:cNvCxnSpPr>
            <a:cxnSpLocks noChangeShapeType="1"/>
          </p:cNvCxnSpPr>
          <p:nvPr/>
        </p:nvCxnSpPr>
        <p:spPr bwMode="auto">
          <a:xfrm flipH="1">
            <a:off x="3882036" y="2813962"/>
            <a:ext cx="3991964" cy="0"/>
          </a:xfrm>
          <a:prstGeom prst="line">
            <a:avLst/>
          </a:prstGeom>
          <a:noFill/>
          <a:ln w="28575" algn="ctr">
            <a:solidFill>
              <a:schemeClr val="tx1"/>
            </a:solidFill>
            <a:round/>
            <a:headEnd/>
            <a:tailEnd/>
          </a:ln>
        </p:spPr>
      </p:cxnSp>
      <p:cxnSp>
        <p:nvCxnSpPr>
          <p:cNvPr id="13" name="Gerade Verbindung mit Pfeil 14"/>
          <p:cNvCxnSpPr>
            <a:cxnSpLocks noChangeShapeType="1"/>
          </p:cNvCxnSpPr>
          <p:nvPr/>
        </p:nvCxnSpPr>
        <p:spPr bwMode="auto">
          <a:xfrm flipH="1">
            <a:off x="3882035" y="2813962"/>
            <a:ext cx="0" cy="215900"/>
          </a:xfrm>
          <a:prstGeom prst="straightConnector1">
            <a:avLst/>
          </a:prstGeom>
          <a:noFill/>
          <a:ln w="28575" algn="ctr">
            <a:solidFill>
              <a:schemeClr val="tx1"/>
            </a:solidFill>
            <a:round/>
            <a:headEnd/>
            <a:tailEnd type="arrow" w="med" len="med"/>
          </a:ln>
        </p:spPr>
      </p:cxnSp>
      <p:sp>
        <p:nvSpPr>
          <p:cNvPr id="11" name="Textfeld 10"/>
          <p:cNvSpPr txBox="1">
            <a:spLocks noChangeArrowheads="1"/>
          </p:cNvSpPr>
          <p:nvPr/>
        </p:nvSpPr>
        <p:spPr bwMode="auto">
          <a:xfrm>
            <a:off x="7874000" y="2505987"/>
            <a:ext cx="2447925" cy="831850"/>
          </a:xfrm>
          <a:prstGeom prst="rect">
            <a:avLst/>
          </a:prstGeom>
          <a:noFill/>
          <a:ln w="9525">
            <a:noFill/>
            <a:miter lim="800000"/>
            <a:headEnd/>
            <a:tailEnd/>
          </a:ln>
        </p:spPr>
        <p:txBody>
          <a:bodyPr>
            <a:spAutoFit/>
          </a:bodyPr>
          <a:lstStyle/>
          <a:p>
            <a:r>
              <a:rPr lang="de-DE" sz="1600" b="0" dirty="0"/>
              <a:t>Milestones </a:t>
            </a:r>
            <a:r>
              <a:rPr lang="de-DE" sz="1600" b="0" dirty="0" err="1"/>
              <a:t>are</a:t>
            </a:r>
            <a:r>
              <a:rPr lang="de-DE" sz="1600" b="0" dirty="0"/>
              <a:t> </a:t>
            </a:r>
            <a:r>
              <a:rPr lang="de-DE" sz="1600" b="0" dirty="0" err="1"/>
              <a:t>created</a:t>
            </a:r>
            <a:r>
              <a:rPr lang="de-DE" sz="1600" b="0" dirty="0"/>
              <a:t> in </a:t>
            </a:r>
            <a:r>
              <a:rPr lang="de-DE" sz="1600" b="0" dirty="0" err="1"/>
              <a:t>the</a:t>
            </a:r>
            <a:r>
              <a:rPr lang="de-DE" sz="1600" b="0" dirty="0"/>
              <a:t> Project </a:t>
            </a:r>
            <a:r>
              <a:rPr lang="de-DE" sz="1600" b="0" dirty="0" err="1"/>
              <a:t>Builder</a:t>
            </a:r>
            <a:r>
              <a:rPr lang="de-DE" sz="1600" b="0" dirty="0"/>
              <a:t> </a:t>
            </a:r>
            <a:r>
              <a:rPr lang="de-DE" sz="1600" b="0" dirty="0" err="1"/>
              <a:t>for</a:t>
            </a:r>
            <a:r>
              <a:rPr lang="de-DE" sz="1600" b="0" dirty="0"/>
              <a:t> Single Elements</a:t>
            </a:r>
          </a:p>
        </p:txBody>
      </p:sp>
    </p:spTree>
    <p:extLst>
      <p:ext uri="{BB962C8B-B14F-4D97-AF65-F5344CB8AC3E}">
        <p14:creationId xmlns:p14="http://schemas.microsoft.com/office/powerpoint/2010/main" val="21019184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de-DE" dirty="0" err="1"/>
              <a:t>For</a:t>
            </a:r>
            <a:r>
              <a:rPr lang="de-DE" dirty="0"/>
              <a:t> </a:t>
            </a:r>
            <a:r>
              <a:rPr lang="de-DE" dirty="0" err="1"/>
              <a:t>preparation</a:t>
            </a:r>
            <a:r>
              <a:rPr lang="de-DE" dirty="0"/>
              <a:t> </a:t>
            </a:r>
            <a:r>
              <a:rPr lang="de-DE" dirty="0" err="1"/>
              <a:t>of</a:t>
            </a:r>
            <a:r>
              <a:rPr lang="de-DE" dirty="0"/>
              <a:t> </a:t>
            </a:r>
            <a:r>
              <a:rPr lang="de-DE" dirty="0" err="1"/>
              <a:t>business</a:t>
            </a:r>
            <a:r>
              <a:rPr lang="de-DE" dirty="0"/>
              <a:t> </a:t>
            </a:r>
            <a:r>
              <a:rPr lang="de-DE" dirty="0" err="1"/>
              <a:t>actions</a:t>
            </a:r>
            <a:endParaRPr lang="de-DE" dirty="0"/>
          </a:p>
          <a:p>
            <a:endParaRPr lang="de-DE" dirty="0"/>
          </a:p>
          <a:p>
            <a:r>
              <a:rPr lang="de-DE" dirty="0"/>
              <a:t>Functions:</a:t>
            </a:r>
          </a:p>
          <a:p>
            <a:pPr lvl="1"/>
            <a:r>
              <a:rPr lang="de-DE" dirty="0"/>
              <a:t>Release </a:t>
            </a:r>
            <a:r>
              <a:rPr lang="de-DE" dirty="0" err="1"/>
              <a:t>of</a:t>
            </a:r>
            <a:r>
              <a:rPr lang="de-DE" dirty="0"/>
              <a:t> </a:t>
            </a:r>
            <a:r>
              <a:rPr lang="de-DE" dirty="0" err="1"/>
              <a:t>activities</a:t>
            </a:r>
            <a:endParaRPr lang="de-DE" dirty="0"/>
          </a:p>
          <a:p>
            <a:pPr lvl="1"/>
            <a:r>
              <a:rPr lang="de-DE" dirty="0" err="1"/>
              <a:t>Include</a:t>
            </a:r>
            <a:r>
              <a:rPr lang="de-DE" dirty="0"/>
              <a:t> </a:t>
            </a:r>
            <a:r>
              <a:rPr lang="de-DE" dirty="0" err="1"/>
              <a:t>standard</a:t>
            </a:r>
            <a:r>
              <a:rPr lang="de-DE" dirty="0"/>
              <a:t> </a:t>
            </a:r>
            <a:r>
              <a:rPr lang="de-DE" dirty="0" err="1"/>
              <a:t>schedule</a:t>
            </a:r>
            <a:endParaRPr lang="de-DE" dirty="0"/>
          </a:p>
          <a:p>
            <a:pPr lvl="1"/>
            <a:r>
              <a:rPr lang="de-DE" dirty="0"/>
              <a:t>Create </a:t>
            </a:r>
            <a:r>
              <a:rPr lang="de-DE" dirty="0" err="1"/>
              <a:t>hierarchy</a:t>
            </a:r>
            <a:endParaRPr lang="de-DE" dirty="0"/>
          </a:p>
          <a:p>
            <a:pPr lvl="1"/>
            <a:r>
              <a:rPr lang="de-DE" dirty="0" err="1"/>
              <a:t>Include</a:t>
            </a:r>
            <a:r>
              <a:rPr lang="de-DE" dirty="0"/>
              <a:t> </a:t>
            </a:r>
            <a:r>
              <a:rPr lang="de-DE" dirty="0" err="1"/>
              <a:t>parts</a:t>
            </a:r>
            <a:r>
              <a:rPr lang="de-DE" dirty="0"/>
              <a:t> </a:t>
            </a:r>
            <a:r>
              <a:rPr lang="de-DE" dirty="0" err="1"/>
              <a:t>of</a:t>
            </a:r>
            <a:r>
              <a:rPr lang="de-DE" dirty="0"/>
              <a:t> </a:t>
            </a:r>
            <a:r>
              <a:rPr lang="de-DE" dirty="0" err="1"/>
              <a:t>hierarchy</a:t>
            </a:r>
            <a:endParaRPr lang="de-DE" dirty="0"/>
          </a:p>
          <a:p>
            <a:pPr lvl="1"/>
            <a:r>
              <a:rPr lang="de-DE" dirty="0"/>
              <a:t>Start </a:t>
            </a:r>
            <a:r>
              <a:rPr lang="de-DE" dirty="0" err="1"/>
              <a:t>workflow</a:t>
            </a:r>
            <a:r>
              <a:rPr lang="de-DE" dirty="0"/>
              <a:t> </a:t>
            </a:r>
            <a:r>
              <a:rPr lang="de-DE" dirty="0" err="1"/>
              <a:t>tasks</a:t>
            </a:r>
            <a:endParaRPr lang="de-DE" dirty="0"/>
          </a:p>
          <a:p>
            <a:pPr lvl="1"/>
            <a:r>
              <a:rPr lang="de-DE" dirty="0"/>
              <a:t>etc.</a:t>
            </a:r>
          </a:p>
        </p:txBody>
      </p:sp>
      <p:sp>
        <p:nvSpPr>
          <p:cNvPr id="3" name="Titel 2"/>
          <p:cNvSpPr>
            <a:spLocks noGrp="1"/>
          </p:cNvSpPr>
          <p:nvPr>
            <p:ph type="title"/>
          </p:nvPr>
        </p:nvSpPr>
        <p:spPr/>
        <p:txBody>
          <a:bodyPr/>
          <a:lstStyle/>
          <a:p>
            <a:r>
              <a:rPr lang="de-DE"/>
              <a:t>Milestones</a:t>
            </a:r>
          </a:p>
        </p:txBody>
      </p:sp>
      <p:pic>
        <p:nvPicPr>
          <p:cNvPr id="6" name="Grafik 5"/>
          <p:cNvPicPr>
            <a:picLocks noChangeAspect="1"/>
          </p:cNvPicPr>
          <p:nvPr/>
        </p:nvPicPr>
        <p:blipFill>
          <a:blip r:embed="rId2"/>
          <a:stretch>
            <a:fillRect/>
          </a:stretch>
        </p:blipFill>
        <p:spPr>
          <a:xfrm>
            <a:off x="4547522" y="3887100"/>
            <a:ext cx="6920862" cy="1565433"/>
          </a:xfrm>
          <a:prstGeom prst="rect">
            <a:avLst/>
          </a:prstGeom>
          <a:ln w="19050">
            <a:solidFill>
              <a:schemeClr val="tx2">
                <a:lumMod val="75000"/>
              </a:schemeClr>
            </a:solidFill>
          </a:ln>
        </p:spPr>
      </p:pic>
    </p:spTree>
    <p:extLst>
      <p:ext uri="{BB962C8B-B14F-4D97-AF65-F5344CB8AC3E}">
        <p14:creationId xmlns:p14="http://schemas.microsoft.com/office/powerpoint/2010/main" val="37090378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de-DE" sz="1600" dirty="0" err="1"/>
              <a:t>Activity</a:t>
            </a:r>
            <a:r>
              <a:rPr lang="de-DE" sz="1600" dirty="0"/>
              <a:t> </a:t>
            </a:r>
            <a:r>
              <a:rPr lang="de-DE" sz="1600" dirty="0" smtClean="0"/>
              <a:t>type: </a:t>
            </a:r>
            <a:r>
              <a:rPr lang="en-US" sz="1600" dirty="0"/>
              <a:t>If you want to cost networks, you must define an activity type for internal processing and a formula key for calculating costs. When you enter an activity type you can display different costs for special qualifications or weekend work.</a:t>
            </a:r>
          </a:p>
          <a:p>
            <a:endParaRPr lang="en-US" sz="1600" dirty="0"/>
          </a:p>
          <a:p>
            <a:r>
              <a:rPr lang="de-DE" sz="1600" dirty="0" smtClean="0"/>
              <a:t>Work: </a:t>
            </a:r>
            <a:r>
              <a:rPr lang="en-US" sz="1600" dirty="0"/>
              <a:t>Here you specify the planned amount of work involved in carrying out the activity. For example, you can specify the engineering activity in hours or energy requirements in kilowatt hours. Using the value for work and the formula for calculating capacity requirements entered in the work center, the system determines the capacity requirements during </a:t>
            </a:r>
            <a:r>
              <a:rPr lang="en-US" sz="1600" dirty="0" smtClean="0"/>
              <a:t>scheduling. You </a:t>
            </a:r>
            <a:r>
              <a:rPr lang="en-US" sz="1600" dirty="0"/>
              <a:t>can enter basic and forecast data for work in network activities.</a:t>
            </a:r>
          </a:p>
          <a:p>
            <a:endParaRPr lang="de-DE" sz="1600" dirty="0"/>
          </a:p>
          <a:p>
            <a:r>
              <a:rPr lang="en-US" sz="1600" dirty="0"/>
              <a:t>Number of Required </a:t>
            </a:r>
            <a:r>
              <a:rPr lang="en-US" sz="1600" dirty="0" smtClean="0"/>
              <a:t>Capacities: </a:t>
            </a:r>
            <a:r>
              <a:rPr lang="en-US" sz="1600" dirty="0"/>
              <a:t>Here you specify how much capacity is required to do the work in the activity, for example, two people or three machines. This number refers to the capacity category, which is entered on the scheduling screen in the work center.</a:t>
            </a:r>
          </a:p>
          <a:p>
            <a:endParaRPr lang="de-DE" sz="1600" dirty="0"/>
          </a:p>
          <a:p>
            <a:r>
              <a:rPr lang="de-DE" sz="1600" dirty="0" err="1" smtClean="0"/>
              <a:t>Percent</a:t>
            </a:r>
            <a:r>
              <a:rPr lang="de-DE" sz="1600" dirty="0" smtClean="0"/>
              <a:t>: </a:t>
            </a:r>
            <a:r>
              <a:rPr lang="en-US" sz="1600" dirty="0"/>
              <a:t>With this value you specify the percentage of the work that is used in the </a:t>
            </a:r>
            <a:r>
              <a:rPr lang="en-US" sz="1600" dirty="0" smtClean="0"/>
              <a:t>activity. The </a:t>
            </a:r>
            <a:r>
              <a:rPr lang="en-US" sz="1600" dirty="0"/>
              <a:t>percentage is only used when you let the system calculate duration, work, or the number of capacities using the calculation </a:t>
            </a:r>
            <a:r>
              <a:rPr lang="en-US" sz="1600" dirty="0" smtClean="0"/>
              <a:t>key. If </a:t>
            </a:r>
            <a:r>
              <a:rPr lang="en-US" sz="1600" dirty="0"/>
              <a:t>you do not enter a percentage, the system will assume 100%.</a:t>
            </a:r>
          </a:p>
          <a:p>
            <a:endParaRPr lang="de-DE" sz="1600" dirty="0"/>
          </a:p>
          <a:p>
            <a:r>
              <a:rPr lang="de-DE" sz="1600" dirty="0" err="1"/>
              <a:t>Calculation</a:t>
            </a:r>
            <a:r>
              <a:rPr lang="de-DE" sz="1600" dirty="0"/>
              <a:t> </a:t>
            </a:r>
            <a:r>
              <a:rPr lang="de-DE" sz="1600" dirty="0" err="1" smtClean="0"/>
              <a:t>key</a:t>
            </a:r>
            <a:r>
              <a:rPr lang="de-DE" sz="1600" dirty="0" smtClean="0"/>
              <a:t>: </a:t>
            </a:r>
            <a:r>
              <a:rPr lang="en-US" sz="1600" dirty="0"/>
              <a:t>You can maintain the data for work, duration, and number of capacities required manually, or, you can let the system determine it using the calculation key.</a:t>
            </a:r>
          </a:p>
          <a:p>
            <a:endParaRPr lang="de-DE" sz="1600" dirty="0"/>
          </a:p>
        </p:txBody>
      </p:sp>
      <p:sp>
        <p:nvSpPr>
          <p:cNvPr id="3" name="Titel 2"/>
          <p:cNvSpPr>
            <a:spLocks noGrp="1"/>
          </p:cNvSpPr>
          <p:nvPr>
            <p:ph type="title"/>
          </p:nvPr>
        </p:nvSpPr>
        <p:spPr/>
        <p:txBody>
          <a:bodyPr/>
          <a:lstStyle/>
          <a:p>
            <a:r>
              <a:rPr lang="en-US" dirty="0" smtClean="0"/>
              <a:t>Work </a:t>
            </a:r>
            <a:r>
              <a:rPr lang="en-US" dirty="0"/>
              <a:t>Data in the </a:t>
            </a:r>
            <a:r>
              <a:rPr lang="en-US" dirty="0" smtClean="0"/>
              <a:t>Activity</a:t>
            </a:r>
            <a:endParaRPr lang="de-DE" dirty="0"/>
          </a:p>
        </p:txBody>
      </p:sp>
    </p:spTree>
    <p:extLst>
      <p:ext uri="{BB962C8B-B14F-4D97-AF65-F5344CB8AC3E}">
        <p14:creationId xmlns:p14="http://schemas.microsoft.com/office/powerpoint/2010/main" val="12463316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en-US" dirty="0"/>
              <a:t>Planned</a:t>
            </a:r>
          </a:p>
          <a:p>
            <a:pPr lvl="1"/>
            <a:r>
              <a:rPr lang="en-US" dirty="0"/>
              <a:t>Related to </a:t>
            </a:r>
            <a:r>
              <a:rPr lang="en-US" dirty="0" smtClean="0"/>
              <a:t>activities that </a:t>
            </a:r>
            <a:r>
              <a:rPr lang="en-US" dirty="0"/>
              <a:t>are collected in a service master</a:t>
            </a:r>
          </a:p>
          <a:p>
            <a:pPr lvl="1"/>
            <a:endParaRPr lang="en-US" dirty="0"/>
          </a:p>
          <a:p>
            <a:r>
              <a:rPr lang="en-US" dirty="0"/>
              <a:t>Non-Planned</a:t>
            </a:r>
          </a:p>
          <a:p>
            <a:pPr lvl="1"/>
            <a:r>
              <a:rPr lang="en-US" dirty="0"/>
              <a:t>Related to </a:t>
            </a:r>
            <a:r>
              <a:rPr lang="en-US" dirty="0" smtClean="0"/>
              <a:t>activities that </a:t>
            </a:r>
            <a:r>
              <a:rPr lang="en-US" dirty="0"/>
              <a:t>cannot be specified because it is not known, which individual specifications they comprise. </a:t>
            </a:r>
          </a:p>
          <a:p>
            <a:pPr lvl="1"/>
            <a:endParaRPr lang="en-US" dirty="0"/>
          </a:p>
          <a:p>
            <a:r>
              <a:rPr lang="en-US" dirty="0" smtClean="0"/>
              <a:t>For </a:t>
            </a:r>
            <a:r>
              <a:rPr lang="en-US" dirty="0"/>
              <a:t>preparation of externally processed tasks, the corresponding control key must be entered in the network activity</a:t>
            </a:r>
            <a:r>
              <a:rPr lang="en-US" dirty="0" smtClean="0"/>
              <a:t>.</a:t>
            </a:r>
            <a:endParaRPr lang="en-US" dirty="0"/>
          </a:p>
        </p:txBody>
      </p:sp>
      <p:sp>
        <p:nvSpPr>
          <p:cNvPr id="3" name="Titel 2"/>
          <p:cNvSpPr>
            <a:spLocks noGrp="1"/>
          </p:cNvSpPr>
          <p:nvPr>
            <p:ph type="title"/>
          </p:nvPr>
        </p:nvSpPr>
        <p:spPr/>
        <p:txBody>
          <a:bodyPr/>
          <a:lstStyle/>
          <a:p>
            <a:r>
              <a:rPr lang="de-DE"/>
              <a:t>Services</a:t>
            </a:r>
          </a:p>
        </p:txBody>
      </p:sp>
    </p:spTree>
    <p:extLst>
      <p:ext uri="{BB962C8B-B14F-4D97-AF65-F5344CB8AC3E}">
        <p14:creationId xmlns:p14="http://schemas.microsoft.com/office/powerpoint/2010/main" val="8412133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Agenda</a:t>
            </a:r>
          </a:p>
        </p:txBody>
      </p:sp>
      <p:sp>
        <p:nvSpPr>
          <p:cNvPr id="3" name="Inhaltsplatzhalter 2"/>
          <p:cNvSpPr>
            <a:spLocks noGrp="1"/>
          </p:cNvSpPr>
          <p:nvPr>
            <p:ph idx="1"/>
          </p:nvPr>
        </p:nvSpPr>
        <p:spPr/>
        <p:txBody>
          <a:bodyPr/>
          <a:lstStyle/>
          <a:p>
            <a:pPr>
              <a:tabLst>
                <a:tab pos="1971675" algn="l"/>
              </a:tabLst>
            </a:pPr>
            <a:r>
              <a:rPr lang="de-DE" dirty="0">
                <a:solidFill>
                  <a:srgbClr val="B2B2B2"/>
                </a:solidFill>
              </a:rPr>
              <a:t>PS </a:t>
            </a:r>
            <a:r>
              <a:rPr lang="de-DE" dirty="0" err="1">
                <a:solidFill>
                  <a:srgbClr val="B2B2B2"/>
                </a:solidFill>
              </a:rPr>
              <a:t>Organizational</a:t>
            </a:r>
            <a:r>
              <a:rPr lang="de-DE" dirty="0">
                <a:solidFill>
                  <a:srgbClr val="B2B2B2"/>
                </a:solidFill>
              </a:rPr>
              <a:t> </a:t>
            </a:r>
            <a:r>
              <a:rPr lang="de-DE" dirty="0" err="1">
                <a:solidFill>
                  <a:srgbClr val="B2B2B2"/>
                </a:solidFill>
              </a:rPr>
              <a:t>Structure</a:t>
            </a:r>
            <a:r>
              <a:rPr lang="de-DE" dirty="0">
                <a:solidFill>
                  <a:srgbClr val="B2B2B2"/>
                </a:solidFill>
              </a:rPr>
              <a:t> </a:t>
            </a:r>
          </a:p>
          <a:p>
            <a:pPr>
              <a:tabLst>
                <a:tab pos="1971675" algn="l"/>
              </a:tabLst>
            </a:pPr>
            <a:endParaRPr lang="de-DE" dirty="0">
              <a:solidFill>
                <a:srgbClr val="B2B2B2"/>
              </a:solidFill>
            </a:endParaRPr>
          </a:p>
          <a:p>
            <a:pPr>
              <a:tabLst>
                <a:tab pos="1971675" algn="l"/>
              </a:tabLst>
            </a:pPr>
            <a:r>
              <a:rPr lang="de-DE" dirty="0">
                <a:solidFill>
                  <a:srgbClr val="B2B2B2"/>
                </a:solidFill>
              </a:rPr>
              <a:t>PS Master Data </a:t>
            </a:r>
          </a:p>
          <a:p>
            <a:pPr>
              <a:tabLst>
                <a:tab pos="1971675" algn="l"/>
              </a:tabLst>
            </a:pPr>
            <a:endParaRPr lang="de-DE" dirty="0"/>
          </a:p>
          <a:p>
            <a:pPr>
              <a:tabLst>
                <a:tab pos="1971675" algn="l"/>
              </a:tabLst>
            </a:pPr>
            <a:r>
              <a:rPr lang="de-DE" dirty="0"/>
              <a:t>PS </a:t>
            </a:r>
            <a:r>
              <a:rPr lang="de-DE" dirty="0" err="1"/>
              <a:t>Processes</a:t>
            </a:r>
            <a:endParaRPr lang="de-DE" dirty="0"/>
          </a:p>
          <a:p>
            <a:pPr lvl="1">
              <a:tabLst>
                <a:tab pos="1971675" algn="l"/>
              </a:tabLst>
            </a:pPr>
            <a:r>
              <a:rPr lang="de-DE" dirty="0"/>
              <a:t>Project </a:t>
            </a:r>
            <a:r>
              <a:rPr lang="de-DE" dirty="0" err="1"/>
              <a:t>Planning</a:t>
            </a:r>
            <a:endParaRPr lang="de-DE" dirty="0"/>
          </a:p>
          <a:p>
            <a:pPr lvl="1">
              <a:tabLst>
                <a:tab pos="1971675" algn="l"/>
              </a:tabLst>
            </a:pPr>
            <a:r>
              <a:rPr lang="de-DE" dirty="0"/>
              <a:t>Project </a:t>
            </a:r>
            <a:r>
              <a:rPr lang="de-DE" dirty="0" err="1"/>
              <a:t>Execution</a:t>
            </a:r>
            <a:endParaRPr lang="de-DE" dirty="0"/>
          </a:p>
          <a:p>
            <a:pPr lvl="1">
              <a:tabLst>
                <a:tab pos="1971675" algn="l"/>
              </a:tabLst>
            </a:pPr>
            <a:r>
              <a:rPr lang="de-DE" dirty="0"/>
              <a:t>Project </a:t>
            </a:r>
            <a:r>
              <a:rPr lang="de-DE" dirty="0" err="1"/>
              <a:t>Closure</a:t>
            </a:r>
            <a:endParaRPr lang="de-DE" dirty="0"/>
          </a:p>
          <a:p>
            <a:endParaRPr lang="de-DE" dirty="0"/>
          </a:p>
        </p:txBody>
      </p:sp>
    </p:spTree>
    <p:extLst>
      <p:ext uri="{BB962C8B-B14F-4D97-AF65-F5344CB8AC3E}">
        <p14:creationId xmlns:p14="http://schemas.microsoft.com/office/powerpoint/2010/main" val="36711080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en-US" dirty="0"/>
              <a:t>Graphical </a:t>
            </a:r>
            <a:r>
              <a:rPr lang="en-US" dirty="0" smtClean="0"/>
              <a:t>interface for </a:t>
            </a:r>
            <a:r>
              <a:rPr lang="en-US" dirty="0"/>
              <a:t>creation and preparation of projects</a:t>
            </a:r>
          </a:p>
          <a:p>
            <a:r>
              <a:rPr lang="en-US" dirty="0"/>
              <a:t> </a:t>
            </a:r>
            <a:endParaRPr lang="en-US" dirty="0" smtClean="0"/>
          </a:p>
          <a:p>
            <a:r>
              <a:rPr lang="en-US" dirty="0" smtClean="0"/>
              <a:t>Function</a:t>
            </a:r>
            <a:r>
              <a:rPr lang="en-US" dirty="0"/>
              <a:t>: </a:t>
            </a:r>
          </a:p>
          <a:p>
            <a:pPr lvl="1"/>
            <a:r>
              <a:rPr lang="en-US" dirty="0"/>
              <a:t>Termination (of resources)</a:t>
            </a:r>
          </a:p>
          <a:p>
            <a:pPr lvl="1"/>
            <a:r>
              <a:rPr lang="en-US" dirty="0"/>
              <a:t>Coordinate work</a:t>
            </a:r>
          </a:p>
          <a:p>
            <a:pPr lvl="1"/>
            <a:r>
              <a:rPr lang="en-US" dirty="0"/>
              <a:t>Check capacities</a:t>
            </a:r>
          </a:p>
          <a:p>
            <a:pPr lvl="1"/>
            <a:r>
              <a:rPr lang="en-US" dirty="0"/>
              <a:t>Calculate costs</a:t>
            </a:r>
          </a:p>
          <a:p>
            <a:pPr marL="0" indent="0">
              <a:buNone/>
            </a:pPr>
            <a:r>
              <a:rPr lang="en-US" dirty="0" smtClean="0"/>
              <a:t> </a:t>
            </a:r>
            <a:endParaRPr lang="en-US" dirty="0"/>
          </a:p>
          <a:p>
            <a:endParaRPr lang="en-US" dirty="0"/>
          </a:p>
        </p:txBody>
      </p:sp>
      <p:sp>
        <p:nvSpPr>
          <p:cNvPr id="3" name="Titel 2"/>
          <p:cNvSpPr>
            <a:spLocks noGrp="1"/>
          </p:cNvSpPr>
          <p:nvPr>
            <p:ph type="title"/>
          </p:nvPr>
        </p:nvSpPr>
        <p:spPr/>
        <p:txBody>
          <a:bodyPr/>
          <a:lstStyle/>
          <a:p>
            <a:r>
              <a:rPr lang="de-DE" dirty="0"/>
              <a:t>Project </a:t>
            </a:r>
            <a:r>
              <a:rPr lang="de-DE" dirty="0" err="1"/>
              <a:t>Planning</a:t>
            </a:r>
            <a:r>
              <a:rPr lang="de-DE" dirty="0"/>
              <a:t> – Project </a:t>
            </a:r>
            <a:r>
              <a:rPr lang="de-DE" dirty="0" err="1"/>
              <a:t>Planning</a:t>
            </a:r>
            <a:r>
              <a:rPr lang="de-DE" dirty="0"/>
              <a:t> Board</a:t>
            </a:r>
          </a:p>
        </p:txBody>
      </p:sp>
      <p:pic>
        <p:nvPicPr>
          <p:cNvPr id="4" name="Grafik 3"/>
          <p:cNvPicPr>
            <a:picLocks noChangeAspect="1"/>
          </p:cNvPicPr>
          <p:nvPr/>
        </p:nvPicPr>
        <p:blipFill>
          <a:blip r:embed="rId3"/>
          <a:stretch>
            <a:fillRect/>
          </a:stretch>
        </p:blipFill>
        <p:spPr>
          <a:xfrm>
            <a:off x="4793827" y="2371736"/>
            <a:ext cx="5641320" cy="3827132"/>
          </a:xfrm>
          <a:prstGeom prst="rect">
            <a:avLst/>
          </a:prstGeom>
          <a:ln w="28575">
            <a:solidFill>
              <a:schemeClr val="tx2">
                <a:lumMod val="75000"/>
              </a:schemeClr>
            </a:solidFill>
          </a:ln>
        </p:spPr>
      </p:pic>
    </p:spTree>
    <p:extLst>
      <p:ext uri="{BB962C8B-B14F-4D97-AF65-F5344CB8AC3E}">
        <p14:creationId xmlns:p14="http://schemas.microsoft.com/office/powerpoint/2010/main" val="36467872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en-US" dirty="0"/>
              <a:t>Project execution comprises several steps (e.g. purchase process)</a:t>
            </a:r>
          </a:p>
          <a:p>
            <a:endParaRPr lang="en-US" dirty="0"/>
          </a:p>
          <a:p>
            <a:r>
              <a:rPr lang="en-US" dirty="0"/>
              <a:t>When goods receipt of services is executed, </a:t>
            </a:r>
            <a:r>
              <a:rPr lang="en-US" dirty="0" smtClean="0"/>
              <a:t>times are </a:t>
            </a:r>
            <a:r>
              <a:rPr lang="en-US" dirty="0"/>
              <a:t>recorded</a:t>
            </a:r>
          </a:p>
          <a:p>
            <a:endParaRPr lang="en-US" dirty="0"/>
          </a:p>
          <a:p>
            <a:r>
              <a:rPr lang="en-US" dirty="0"/>
              <a:t>Sales orders are generated automatically using the hierarchy</a:t>
            </a:r>
          </a:p>
          <a:p>
            <a:endParaRPr lang="en-US" dirty="0"/>
          </a:p>
          <a:p>
            <a:r>
              <a:rPr lang="en-US" dirty="0" smtClean="0"/>
              <a:t>With </a:t>
            </a:r>
            <a:r>
              <a:rPr lang="en-US" dirty="0"/>
              <a:t>the execution of services, liabilities  and costs for items that were planned using Easy Cost Planning are </a:t>
            </a:r>
            <a:r>
              <a:rPr lang="en-US" dirty="0" smtClean="0"/>
              <a:t>entered</a:t>
            </a:r>
            <a:endParaRPr lang="de-DE" dirty="0"/>
          </a:p>
        </p:txBody>
      </p:sp>
      <p:sp>
        <p:nvSpPr>
          <p:cNvPr id="3" name="Titel 2"/>
          <p:cNvSpPr>
            <a:spLocks noGrp="1"/>
          </p:cNvSpPr>
          <p:nvPr>
            <p:ph type="title"/>
          </p:nvPr>
        </p:nvSpPr>
        <p:spPr/>
        <p:txBody>
          <a:bodyPr/>
          <a:lstStyle/>
          <a:p>
            <a:r>
              <a:rPr lang="de-DE"/>
              <a:t>Project </a:t>
            </a:r>
            <a:r>
              <a:rPr lang="de-DE" err="1"/>
              <a:t>Execution</a:t>
            </a:r>
            <a:endParaRPr lang="de-DE"/>
          </a:p>
        </p:txBody>
      </p:sp>
    </p:spTree>
    <p:extLst>
      <p:ext uri="{BB962C8B-B14F-4D97-AF65-F5344CB8AC3E}">
        <p14:creationId xmlns:p14="http://schemas.microsoft.com/office/powerpoint/2010/main" val="11312977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pPr>
              <a:buNone/>
            </a:pPr>
            <a:r>
              <a:rPr lang="de-DE"/>
              <a:t>Easy </a:t>
            </a:r>
            <a:r>
              <a:rPr lang="de-DE" err="1"/>
              <a:t>Cost</a:t>
            </a:r>
            <a:r>
              <a:rPr lang="de-DE"/>
              <a:t> </a:t>
            </a:r>
            <a:r>
              <a:rPr lang="de-DE" err="1"/>
              <a:t>Planning</a:t>
            </a:r>
            <a:r>
              <a:rPr lang="de-DE"/>
              <a:t> </a:t>
            </a:r>
            <a:r>
              <a:rPr lang="de-DE" err="1"/>
              <a:t>enables</a:t>
            </a:r>
            <a:r>
              <a:rPr lang="de-DE"/>
              <a:t> </a:t>
            </a:r>
            <a:r>
              <a:rPr lang="de-DE" err="1"/>
              <a:t>cost</a:t>
            </a:r>
            <a:r>
              <a:rPr lang="de-DE"/>
              <a:t> </a:t>
            </a:r>
            <a:r>
              <a:rPr lang="de-DE" err="1"/>
              <a:t>planning</a:t>
            </a:r>
            <a:r>
              <a:rPr lang="de-DE"/>
              <a:t> </a:t>
            </a:r>
            <a:r>
              <a:rPr lang="de-DE" err="1"/>
              <a:t>based</a:t>
            </a:r>
            <a:r>
              <a:rPr lang="de-DE"/>
              <a:t> on </a:t>
            </a:r>
            <a:r>
              <a:rPr lang="de-DE" err="1"/>
              <a:t>amounts</a:t>
            </a:r>
            <a:r>
              <a:rPr lang="de-DE"/>
              <a:t> </a:t>
            </a:r>
            <a:r>
              <a:rPr lang="de-DE" err="1"/>
              <a:t>and</a:t>
            </a:r>
            <a:r>
              <a:rPr lang="de-DE"/>
              <a:t> </a:t>
            </a:r>
            <a:r>
              <a:rPr lang="de-DE" err="1"/>
              <a:t>characteristics</a:t>
            </a:r>
            <a:r>
              <a:rPr lang="de-DE"/>
              <a:t>. </a:t>
            </a:r>
            <a:r>
              <a:rPr lang="de-DE" err="1"/>
              <a:t>It</a:t>
            </a:r>
            <a:r>
              <a:rPr lang="de-DE"/>
              <a:t> </a:t>
            </a:r>
            <a:r>
              <a:rPr lang="de-DE" err="1"/>
              <a:t>is</a:t>
            </a:r>
            <a:r>
              <a:rPr lang="de-DE"/>
              <a:t> </a:t>
            </a:r>
            <a:r>
              <a:rPr lang="de-DE" err="1"/>
              <a:t>executed</a:t>
            </a:r>
            <a:r>
              <a:rPr lang="de-DE"/>
              <a:t> on </a:t>
            </a:r>
            <a:r>
              <a:rPr lang="de-DE" err="1"/>
              <a:t>the</a:t>
            </a:r>
            <a:r>
              <a:rPr lang="de-DE"/>
              <a:t> </a:t>
            </a:r>
            <a:r>
              <a:rPr lang="de-DE" err="1"/>
              <a:t>level</a:t>
            </a:r>
            <a:r>
              <a:rPr lang="de-DE"/>
              <a:t> </a:t>
            </a:r>
            <a:r>
              <a:rPr lang="de-DE" err="1"/>
              <a:t>of</a:t>
            </a:r>
            <a:r>
              <a:rPr lang="de-DE"/>
              <a:t> </a:t>
            </a:r>
            <a:r>
              <a:rPr lang="de-DE" err="1"/>
              <a:t>project</a:t>
            </a:r>
            <a:r>
              <a:rPr lang="de-DE"/>
              <a:t> </a:t>
            </a:r>
            <a:r>
              <a:rPr lang="de-DE" err="1"/>
              <a:t>structures</a:t>
            </a:r>
            <a:r>
              <a:rPr lang="de-DE"/>
              <a:t>. Main </a:t>
            </a:r>
            <a:r>
              <a:rPr lang="de-DE" err="1"/>
              <a:t>advantages</a:t>
            </a:r>
            <a:r>
              <a:rPr lang="de-DE"/>
              <a:t> </a:t>
            </a:r>
            <a:r>
              <a:rPr lang="de-DE" err="1"/>
              <a:t>of</a:t>
            </a:r>
            <a:r>
              <a:rPr lang="de-DE"/>
              <a:t> </a:t>
            </a:r>
            <a:r>
              <a:rPr lang="de-DE" err="1"/>
              <a:t>these</a:t>
            </a:r>
            <a:r>
              <a:rPr lang="de-DE"/>
              <a:t> </a:t>
            </a:r>
            <a:r>
              <a:rPr lang="de-DE" err="1"/>
              <a:t>is</a:t>
            </a:r>
            <a:r>
              <a:rPr lang="de-DE"/>
              <a:t> a fast, easy </a:t>
            </a:r>
            <a:r>
              <a:rPr lang="de-DE" err="1"/>
              <a:t>and</a:t>
            </a:r>
            <a:r>
              <a:rPr lang="de-DE"/>
              <a:t> </a:t>
            </a:r>
            <a:r>
              <a:rPr lang="de-DE" err="1"/>
              <a:t>clearly</a:t>
            </a:r>
            <a:r>
              <a:rPr lang="de-DE"/>
              <a:t> </a:t>
            </a:r>
            <a:r>
              <a:rPr lang="de-DE" err="1"/>
              <a:t>arranged</a:t>
            </a:r>
            <a:r>
              <a:rPr lang="de-DE"/>
              <a:t> </a:t>
            </a:r>
            <a:r>
              <a:rPr lang="de-DE" err="1"/>
              <a:t>data</a:t>
            </a:r>
            <a:r>
              <a:rPr lang="de-DE"/>
              <a:t> </a:t>
            </a:r>
            <a:r>
              <a:rPr lang="de-DE" err="1"/>
              <a:t>acquisition</a:t>
            </a:r>
            <a:r>
              <a:rPr lang="de-DE"/>
              <a:t>. </a:t>
            </a:r>
          </a:p>
          <a:p>
            <a:pPr>
              <a:buNone/>
            </a:pPr>
            <a:endParaRPr lang="de-DE"/>
          </a:p>
          <a:p>
            <a:r>
              <a:rPr lang="de-DE" err="1"/>
              <a:t>Possible</a:t>
            </a:r>
            <a:r>
              <a:rPr lang="de-DE"/>
              <a:t> </a:t>
            </a:r>
            <a:r>
              <a:rPr lang="de-DE" err="1"/>
              <a:t>entries</a:t>
            </a:r>
            <a:r>
              <a:rPr lang="de-DE"/>
              <a:t> </a:t>
            </a:r>
            <a:r>
              <a:rPr lang="de-DE" err="1"/>
              <a:t>with</a:t>
            </a:r>
            <a:r>
              <a:rPr lang="de-DE"/>
              <a:t> Easy </a:t>
            </a:r>
            <a:r>
              <a:rPr lang="de-DE" err="1"/>
              <a:t>Cost</a:t>
            </a:r>
            <a:r>
              <a:rPr lang="de-DE"/>
              <a:t> </a:t>
            </a:r>
            <a:r>
              <a:rPr lang="de-DE" err="1"/>
              <a:t>Planning</a:t>
            </a:r>
            <a:r>
              <a:rPr lang="de-DE"/>
              <a:t>:</a:t>
            </a:r>
          </a:p>
          <a:p>
            <a:pPr lvl="1"/>
            <a:r>
              <a:rPr lang="de-DE"/>
              <a:t>Internal </a:t>
            </a:r>
            <a:r>
              <a:rPr lang="de-DE" err="1"/>
              <a:t>accounting</a:t>
            </a:r>
            <a:r>
              <a:rPr lang="de-DE"/>
              <a:t> </a:t>
            </a:r>
            <a:r>
              <a:rPr lang="de-DE" err="1"/>
              <a:t>for</a:t>
            </a:r>
            <a:r>
              <a:rPr lang="de-DE"/>
              <a:t> </a:t>
            </a:r>
            <a:r>
              <a:rPr lang="de-DE" err="1"/>
              <a:t>services</a:t>
            </a:r>
            <a:endParaRPr lang="de-DE"/>
          </a:p>
          <a:p>
            <a:pPr lvl="1"/>
            <a:r>
              <a:rPr lang="de-DE" err="1"/>
              <a:t>Direct</a:t>
            </a:r>
            <a:r>
              <a:rPr lang="de-DE"/>
              <a:t> </a:t>
            </a:r>
            <a:r>
              <a:rPr lang="de-DE" err="1"/>
              <a:t>process</a:t>
            </a:r>
            <a:r>
              <a:rPr lang="de-DE"/>
              <a:t> </a:t>
            </a:r>
            <a:r>
              <a:rPr lang="de-DE" err="1"/>
              <a:t>accounting</a:t>
            </a:r>
            <a:endParaRPr lang="de-DE"/>
          </a:p>
          <a:p>
            <a:pPr lvl="1"/>
            <a:r>
              <a:rPr lang="de-DE" err="1"/>
              <a:t>Reservations</a:t>
            </a:r>
            <a:endParaRPr lang="de-DE"/>
          </a:p>
          <a:p>
            <a:pPr lvl="1"/>
            <a:r>
              <a:rPr lang="de-DE" err="1"/>
              <a:t>Goods</a:t>
            </a:r>
            <a:r>
              <a:rPr lang="de-DE"/>
              <a:t> </a:t>
            </a:r>
            <a:r>
              <a:rPr lang="de-DE" err="1"/>
              <a:t>issue</a:t>
            </a:r>
            <a:endParaRPr lang="de-DE"/>
          </a:p>
          <a:p>
            <a:pPr lvl="1"/>
            <a:r>
              <a:rPr lang="de-DE" err="1"/>
              <a:t>Purchase</a:t>
            </a:r>
            <a:r>
              <a:rPr lang="de-DE"/>
              <a:t> </a:t>
            </a:r>
            <a:r>
              <a:rPr lang="de-DE" err="1"/>
              <a:t>requisition</a:t>
            </a:r>
            <a:r>
              <a:rPr lang="de-DE"/>
              <a:t> </a:t>
            </a:r>
          </a:p>
          <a:p>
            <a:pPr lvl="1"/>
            <a:r>
              <a:rPr lang="de-DE" err="1"/>
              <a:t>Sales</a:t>
            </a:r>
            <a:r>
              <a:rPr lang="de-DE"/>
              <a:t> </a:t>
            </a:r>
            <a:r>
              <a:rPr lang="de-DE" err="1"/>
              <a:t>order</a:t>
            </a:r>
            <a:endParaRPr lang="de-DE"/>
          </a:p>
        </p:txBody>
      </p:sp>
      <p:sp>
        <p:nvSpPr>
          <p:cNvPr id="3" name="Titel 2"/>
          <p:cNvSpPr>
            <a:spLocks noGrp="1"/>
          </p:cNvSpPr>
          <p:nvPr>
            <p:ph type="title"/>
          </p:nvPr>
        </p:nvSpPr>
        <p:spPr/>
        <p:txBody>
          <a:bodyPr/>
          <a:lstStyle/>
          <a:p>
            <a:r>
              <a:rPr lang="de-DE"/>
              <a:t>Project </a:t>
            </a:r>
            <a:r>
              <a:rPr lang="de-DE" err="1"/>
              <a:t>Execution</a:t>
            </a:r>
            <a:r>
              <a:rPr lang="de-DE"/>
              <a:t>: Easy </a:t>
            </a:r>
            <a:r>
              <a:rPr lang="de-DE" err="1"/>
              <a:t>Cost</a:t>
            </a:r>
            <a:r>
              <a:rPr lang="de-DE"/>
              <a:t> </a:t>
            </a:r>
            <a:r>
              <a:rPr lang="de-DE" err="1"/>
              <a:t>Planning</a:t>
            </a:r>
            <a:endParaRPr lang="de-DE"/>
          </a:p>
        </p:txBody>
      </p:sp>
    </p:spTree>
    <p:extLst>
      <p:ext uri="{BB962C8B-B14F-4D97-AF65-F5344CB8AC3E}">
        <p14:creationId xmlns:p14="http://schemas.microsoft.com/office/powerpoint/2010/main" val="35735299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de-DE" dirty="0"/>
              <a:t>In </a:t>
            </a:r>
            <a:r>
              <a:rPr lang="de-DE" dirty="0" err="1"/>
              <a:t>general</a:t>
            </a:r>
            <a:r>
              <a:rPr lang="de-DE" dirty="0"/>
              <a:t>, </a:t>
            </a:r>
            <a:r>
              <a:rPr lang="de-DE" dirty="0" err="1"/>
              <a:t>one</a:t>
            </a:r>
            <a:r>
              <a:rPr lang="de-DE" dirty="0"/>
              <a:t> time per </a:t>
            </a:r>
            <a:r>
              <a:rPr lang="de-DE" dirty="0" err="1" smtClean="0"/>
              <a:t>period</a:t>
            </a:r>
            <a:r>
              <a:rPr lang="de-DE" dirty="0" smtClean="0"/>
              <a:t> </a:t>
            </a:r>
            <a:r>
              <a:rPr lang="de-DE" dirty="0" err="1"/>
              <a:t>executed</a:t>
            </a:r>
            <a:r>
              <a:rPr lang="de-DE" dirty="0"/>
              <a:t> in </a:t>
            </a:r>
            <a:r>
              <a:rPr lang="de-DE" dirty="0" err="1"/>
              <a:t>background</a:t>
            </a:r>
            <a:endParaRPr lang="de-DE" dirty="0"/>
          </a:p>
          <a:p>
            <a:endParaRPr lang="de-DE" dirty="0"/>
          </a:p>
          <a:p>
            <a:r>
              <a:rPr lang="de-DE" dirty="0" err="1"/>
              <a:t>To</a:t>
            </a:r>
            <a:r>
              <a:rPr lang="de-DE" dirty="0"/>
              <a:t> </a:t>
            </a:r>
            <a:r>
              <a:rPr lang="de-DE" dirty="0" err="1"/>
              <a:t>execute</a:t>
            </a:r>
            <a:r>
              <a:rPr lang="de-DE" dirty="0"/>
              <a:t> </a:t>
            </a:r>
            <a:r>
              <a:rPr lang="de-DE" dirty="0" err="1"/>
              <a:t>billing</a:t>
            </a:r>
            <a:r>
              <a:rPr lang="de-DE" dirty="0"/>
              <a:t>, </a:t>
            </a:r>
            <a:r>
              <a:rPr lang="de-DE" dirty="0" err="1"/>
              <a:t>rules</a:t>
            </a:r>
            <a:r>
              <a:rPr lang="de-DE" dirty="0"/>
              <a:t> </a:t>
            </a:r>
            <a:r>
              <a:rPr lang="de-DE" dirty="0" err="1"/>
              <a:t>are</a:t>
            </a:r>
            <a:r>
              <a:rPr lang="de-DE" dirty="0"/>
              <a:t> </a:t>
            </a:r>
            <a:r>
              <a:rPr lang="de-DE" dirty="0" err="1"/>
              <a:t>necessary</a:t>
            </a:r>
            <a:endParaRPr lang="de-DE" dirty="0"/>
          </a:p>
          <a:p>
            <a:endParaRPr lang="de-DE" dirty="0"/>
          </a:p>
          <a:p>
            <a:r>
              <a:rPr lang="de-DE" dirty="0" err="1"/>
              <a:t>Costs</a:t>
            </a:r>
            <a:r>
              <a:rPr lang="de-DE" dirty="0"/>
              <a:t> </a:t>
            </a:r>
            <a:r>
              <a:rPr lang="de-DE" dirty="0" err="1"/>
              <a:t>are</a:t>
            </a:r>
            <a:r>
              <a:rPr lang="de-DE" dirty="0"/>
              <a:t> </a:t>
            </a:r>
            <a:r>
              <a:rPr lang="de-DE" dirty="0" err="1"/>
              <a:t>given</a:t>
            </a:r>
            <a:r>
              <a:rPr lang="de-DE" dirty="0"/>
              <a:t> </a:t>
            </a:r>
            <a:r>
              <a:rPr lang="de-DE" dirty="0" err="1"/>
              <a:t>by</a:t>
            </a:r>
            <a:r>
              <a:rPr lang="de-DE" dirty="0"/>
              <a:t> </a:t>
            </a:r>
            <a:r>
              <a:rPr lang="de-DE" dirty="0" err="1"/>
              <a:t>customer</a:t>
            </a:r>
            <a:r>
              <a:rPr lang="de-DE" dirty="0"/>
              <a:t> </a:t>
            </a:r>
            <a:r>
              <a:rPr lang="de-DE" dirty="0" err="1"/>
              <a:t>bills</a:t>
            </a:r>
            <a:r>
              <a:rPr lang="de-DE" dirty="0"/>
              <a:t> </a:t>
            </a:r>
            <a:r>
              <a:rPr lang="de-DE" dirty="0" err="1"/>
              <a:t>and</a:t>
            </a:r>
            <a:r>
              <a:rPr lang="de-DE" dirty="0"/>
              <a:t> </a:t>
            </a:r>
            <a:r>
              <a:rPr lang="de-DE" dirty="0" err="1"/>
              <a:t>supplier</a:t>
            </a:r>
            <a:r>
              <a:rPr lang="de-DE" dirty="0"/>
              <a:t> </a:t>
            </a:r>
            <a:r>
              <a:rPr lang="de-DE" dirty="0" err="1"/>
              <a:t>bills</a:t>
            </a:r>
            <a:r>
              <a:rPr lang="de-DE" dirty="0"/>
              <a:t> etc.; </a:t>
            </a:r>
            <a:r>
              <a:rPr lang="de-DE" dirty="0" err="1"/>
              <a:t>are</a:t>
            </a:r>
            <a:r>
              <a:rPr lang="de-DE" dirty="0"/>
              <a:t> </a:t>
            </a:r>
            <a:r>
              <a:rPr lang="de-DE" dirty="0" err="1"/>
              <a:t>given</a:t>
            </a:r>
            <a:r>
              <a:rPr lang="de-DE" dirty="0"/>
              <a:t> </a:t>
            </a:r>
            <a:r>
              <a:rPr lang="de-DE" dirty="0" err="1"/>
              <a:t>to</a:t>
            </a:r>
            <a:r>
              <a:rPr lang="de-DE" dirty="0"/>
              <a:t> FI </a:t>
            </a:r>
            <a:r>
              <a:rPr lang="de-DE" dirty="0" err="1"/>
              <a:t>and</a:t>
            </a:r>
            <a:r>
              <a:rPr lang="de-DE" dirty="0"/>
              <a:t> </a:t>
            </a:r>
            <a:r>
              <a:rPr lang="de-DE" dirty="0" err="1"/>
              <a:t>other</a:t>
            </a:r>
            <a:r>
              <a:rPr lang="de-DE" dirty="0"/>
              <a:t> </a:t>
            </a:r>
            <a:r>
              <a:rPr lang="de-DE" dirty="0" err="1"/>
              <a:t>modules</a:t>
            </a:r>
            <a:endParaRPr lang="de-DE" dirty="0"/>
          </a:p>
        </p:txBody>
      </p:sp>
      <p:sp>
        <p:nvSpPr>
          <p:cNvPr id="3" name="Titel 2"/>
          <p:cNvSpPr>
            <a:spLocks noGrp="1"/>
          </p:cNvSpPr>
          <p:nvPr>
            <p:ph type="title"/>
          </p:nvPr>
        </p:nvSpPr>
        <p:spPr/>
        <p:txBody>
          <a:bodyPr/>
          <a:lstStyle/>
          <a:p>
            <a:r>
              <a:rPr lang="de-DE" dirty="0" err="1" smtClean="0"/>
              <a:t>Period</a:t>
            </a:r>
            <a:r>
              <a:rPr lang="de-DE" dirty="0" smtClean="0"/>
              <a:t> </a:t>
            </a:r>
            <a:r>
              <a:rPr lang="de-DE" dirty="0" err="1"/>
              <a:t>Closing</a:t>
            </a:r>
            <a:endParaRPr lang="de-DE" dirty="0"/>
          </a:p>
        </p:txBody>
      </p:sp>
      <p:grpSp>
        <p:nvGrpSpPr>
          <p:cNvPr id="8" name="Gruppieren 7"/>
          <p:cNvGrpSpPr/>
          <p:nvPr/>
        </p:nvGrpSpPr>
        <p:grpSpPr>
          <a:xfrm>
            <a:off x="2208018" y="4140021"/>
            <a:ext cx="7777163" cy="1943100"/>
            <a:chOff x="2079120" y="4126913"/>
            <a:chExt cx="7777163" cy="1943100"/>
          </a:xfrm>
        </p:grpSpPr>
        <p:sp>
          <p:nvSpPr>
            <p:cNvPr id="4" name="Rechteck 3"/>
            <p:cNvSpPr/>
            <p:nvPr/>
          </p:nvSpPr>
          <p:spPr bwMode="auto">
            <a:xfrm>
              <a:off x="2079120" y="4126913"/>
              <a:ext cx="3744913" cy="1943100"/>
            </a:xfrm>
            <a:prstGeom prst="rect">
              <a:avLst/>
            </a:prstGeom>
            <a:solidFill>
              <a:schemeClr val="bg1">
                <a:lumMod val="85000"/>
              </a:schemeClr>
            </a:solidFill>
            <a:ln w="12700" cap="flat" cmpd="sng" algn="ctr">
              <a:solidFill>
                <a:schemeClr val="tx1"/>
              </a:solidFill>
              <a:prstDash val="solid"/>
              <a:round/>
              <a:headEnd type="none" w="med" len="med"/>
              <a:tailEnd type="none" w="med" len="med"/>
            </a:ln>
            <a:effectLst/>
          </p:spPr>
          <p:txBody>
            <a:bodyPr wrap="none" lIns="0" tIns="0" rIns="0" bIns="0"/>
            <a:lstStyle/>
            <a:p>
              <a:pPr>
                <a:defRPr/>
              </a:pPr>
              <a:endParaRPr lang="en-US" sz="2800"/>
            </a:p>
          </p:txBody>
        </p:sp>
        <p:sp>
          <p:nvSpPr>
            <p:cNvPr id="5" name="Textfeld 3"/>
            <p:cNvSpPr txBox="1">
              <a:spLocks noChangeArrowheads="1"/>
            </p:cNvSpPr>
            <p:nvPr/>
          </p:nvSpPr>
          <p:spPr bwMode="auto">
            <a:xfrm>
              <a:off x="2079120" y="4198350"/>
              <a:ext cx="3744913" cy="1477328"/>
            </a:xfrm>
            <a:prstGeom prst="rect">
              <a:avLst/>
            </a:prstGeom>
            <a:noFill/>
            <a:ln w="15875">
              <a:noFill/>
              <a:miter lim="800000"/>
              <a:headEnd/>
              <a:tailEnd/>
            </a:ln>
          </p:spPr>
          <p:txBody>
            <a:bodyPr>
              <a:spAutoFit/>
            </a:bodyPr>
            <a:lstStyle/>
            <a:p>
              <a:r>
                <a:rPr lang="de-DE" sz="1800" b="1" dirty="0" err="1"/>
                <a:t>Direct</a:t>
              </a:r>
              <a:r>
                <a:rPr lang="de-DE" sz="1800" b="1" dirty="0"/>
                <a:t> </a:t>
              </a:r>
              <a:r>
                <a:rPr lang="de-DE" sz="1800" b="1" dirty="0" err="1"/>
                <a:t>settlement</a:t>
              </a:r>
              <a:endParaRPr lang="de-DE" sz="1800" b="1" dirty="0"/>
            </a:p>
            <a:p>
              <a:r>
                <a:rPr lang="en-US" sz="1800" b="0" dirty="0"/>
                <a:t>Each object is settled directly to the external cost object (examples: cost center, profitability segment)</a:t>
              </a:r>
              <a:endParaRPr lang="de-DE" sz="1800" b="0" dirty="0"/>
            </a:p>
            <a:p>
              <a:endParaRPr lang="de-DE" sz="1800" b="0" dirty="0"/>
            </a:p>
          </p:txBody>
        </p:sp>
        <p:sp>
          <p:nvSpPr>
            <p:cNvPr id="6" name="Rechteck 5"/>
            <p:cNvSpPr/>
            <p:nvPr/>
          </p:nvSpPr>
          <p:spPr bwMode="auto">
            <a:xfrm>
              <a:off x="6111370" y="4126913"/>
              <a:ext cx="3744913" cy="1943100"/>
            </a:xfrm>
            <a:prstGeom prst="rect">
              <a:avLst/>
            </a:prstGeom>
            <a:solidFill>
              <a:schemeClr val="bg1">
                <a:lumMod val="85000"/>
              </a:schemeClr>
            </a:solidFill>
            <a:ln w="12700" cap="flat" cmpd="sng" algn="ctr">
              <a:solidFill>
                <a:schemeClr val="tx1"/>
              </a:solidFill>
              <a:prstDash val="solid"/>
              <a:round/>
              <a:headEnd type="none" w="med" len="med"/>
              <a:tailEnd type="none" w="med" len="med"/>
            </a:ln>
            <a:effectLst/>
          </p:spPr>
          <p:txBody>
            <a:bodyPr wrap="none" lIns="0" tIns="0" rIns="0" bIns="0"/>
            <a:lstStyle/>
            <a:p>
              <a:pPr>
                <a:defRPr/>
              </a:pPr>
              <a:endParaRPr lang="en-US" sz="2800"/>
            </a:p>
          </p:txBody>
        </p:sp>
        <p:sp>
          <p:nvSpPr>
            <p:cNvPr id="7" name="Textfeld 4"/>
            <p:cNvSpPr txBox="1">
              <a:spLocks noChangeArrowheads="1"/>
            </p:cNvSpPr>
            <p:nvPr/>
          </p:nvSpPr>
          <p:spPr bwMode="auto">
            <a:xfrm>
              <a:off x="6111370" y="4198350"/>
              <a:ext cx="3744913" cy="1809750"/>
            </a:xfrm>
            <a:prstGeom prst="rect">
              <a:avLst/>
            </a:prstGeom>
            <a:noFill/>
            <a:ln w="15875">
              <a:noFill/>
              <a:miter lim="800000"/>
              <a:headEnd/>
              <a:tailEnd/>
            </a:ln>
          </p:spPr>
          <p:txBody>
            <a:bodyPr>
              <a:spAutoFit/>
            </a:bodyPr>
            <a:lstStyle/>
            <a:p>
              <a:r>
                <a:rPr lang="en-US" sz="1800" b="1" dirty="0"/>
                <a:t>Multi-level settlement</a:t>
              </a:r>
            </a:p>
            <a:p>
              <a:r>
                <a:rPr lang="en-US" sz="1800" b="0" dirty="0"/>
                <a:t>You settle individual objects in the project to the higher-level WBS element first. This then settles the costs collected to the external receiver.</a:t>
              </a:r>
            </a:p>
          </p:txBody>
        </p:sp>
      </p:grpSp>
    </p:spTree>
    <p:extLst>
      <p:ext uri="{BB962C8B-B14F-4D97-AF65-F5344CB8AC3E}">
        <p14:creationId xmlns:p14="http://schemas.microsoft.com/office/powerpoint/2010/main" val="4981751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Inhaltsplatzhalter 1"/>
          <p:cNvSpPr>
            <a:spLocks noGrp="1"/>
          </p:cNvSpPr>
          <p:nvPr>
            <p:ph idx="1"/>
          </p:nvPr>
        </p:nvSpPr>
        <p:spPr/>
        <p:txBody>
          <a:bodyPr/>
          <a:lstStyle/>
          <a:p>
            <a:r>
              <a:rPr lang="en-US" dirty="0"/>
              <a:t>The information system is used to evaluate key performance indicators within a project.</a:t>
            </a:r>
          </a:p>
          <a:p>
            <a:endParaRPr lang="en-US" dirty="0"/>
          </a:p>
          <a:p>
            <a:r>
              <a:rPr lang="en-US" dirty="0"/>
              <a:t>Provides the user with available reports and graphs</a:t>
            </a:r>
          </a:p>
          <a:p>
            <a:endParaRPr lang="en-US" dirty="0"/>
          </a:p>
          <a:p>
            <a:r>
              <a:rPr lang="en-US" dirty="0"/>
              <a:t>Overview over performance, schedule and costs</a:t>
            </a:r>
          </a:p>
          <a:p>
            <a:endParaRPr lang="en-US" dirty="0"/>
          </a:p>
          <a:p>
            <a:r>
              <a:rPr lang="en-US" dirty="0"/>
              <a:t>Report types:</a:t>
            </a:r>
          </a:p>
          <a:p>
            <a:pPr lvl="1"/>
            <a:r>
              <a:rPr lang="en-US" dirty="0"/>
              <a:t>Structure-based</a:t>
            </a:r>
          </a:p>
          <a:p>
            <a:pPr lvl="1"/>
            <a:r>
              <a:rPr lang="en-US" dirty="0" smtClean="0"/>
              <a:t>Cost-oriented</a:t>
            </a:r>
          </a:p>
          <a:p>
            <a:pPr lvl="1"/>
            <a:r>
              <a:rPr lang="en-US" dirty="0" smtClean="0"/>
              <a:t>Item </a:t>
            </a:r>
            <a:r>
              <a:rPr lang="en-US" dirty="0"/>
              <a:t>reports</a:t>
            </a:r>
          </a:p>
          <a:p>
            <a:pPr lvl="1"/>
            <a:r>
              <a:rPr lang="en-US" dirty="0" err="1" smtClean="0"/>
              <a:t>Summarised</a:t>
            </a:r>
            <a:r>
              <a:rPr lang="en-US" dirty="0" smtClean="0"/>
              <a:t> reports</a:t>
            </a:r>
            <a:endParaRPr lang="en-US" dirty="0"/>
          </a:p>
        </p:txBody>
      </p:sp>
      <p:sp>
        <p:nvSpPr>
          <p:cNvPr id="3" name="Titel 2"/>
          <p:cNvSpPr>
            <a:spLocks noGrp="1"/>
          </p:cNvSpPr>
          <p:nvPr>
            <p:ph type="title"/>
          </p:nvPr>
        </p:nvSpPr>
        <p:spPr/>
        <p:txBody>
          <a:bodyPr/>
          <a:lstStyle/>
          <a:p>
            <a:r>
              <a:rPr lang="de-DE" dirty="0"/>
              <a:t>Information </a:t>
            </a:r>
            <a:r>
              <a:rPr lang="de-DE" dirty="0" smtClean="0"/>
              <a:t>System</a:t>
            </a:r>
            <a:endParaRPr lang="de-DE" dirty="0"/>
          </a:p>
        </p:txBody>
      </p:sp>
    </p:spTree>
    <p:extLst>
      <p:ext uri="{BB962C8B-B14F-4D97-AF65-F5344CB8AC3E}">
        <p14:creationId xmlns:p14="http://schemas.microsoft.com/office/powerpoint/2010/main" val="140210628"/>
      </p:ext>
    </p:extLst>
  </p:cSld>
  <p:clrMapOvr>
    <a:masterClrMapping/>
  </p:clrMapOvr>
</p:sld>
</file>

<file path=ppt/theme/theme1.xml><?xml version="1.0" encoding="utf-8"?>
<a:theme xmlns:a="http://schemas.openxmlformats.org/drawingml/2006/main" name="SAP_2016_16x9_white">
  <a:themeElements>
    <a:clrScheme name="SAP_colors_white_template">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20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ts val="6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Präsentation1" id="{32696891-6260-4D8D-AB31-F1C204081A38}" vid="{B72584D7-7D1F-4BD9-9F01-A4F5E0412201}"/>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SAP_Template_169_en</Template>
  <TotalTime>0</TotalTime>
  <Words>1864</Words>
  <Application>Microsoft Office PowerPoint</Application>
  <PresentationFormat>Benutzerdefiniert</PresentationFormat>
  <Paragraphs>317</Paragraphs>
  <Slides>29</Slides>
  <Notes>11</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29</vt:i4>
      </vt:variant>
    </vt:vector>
  </HeadingPairs>
  <TitlesOfParts>
    <vt:vector size="37" baseType="lpstr">
      <vt:lpstr>Angsana New</vt:lpstr>
      <vt:lpstr>Arial</vt:lpstr>
      <vt:lpstr>Arial Unicode MS</vt:lpstr>
      <vt:lpstr>Courier New</vt:lpstr>
      <vt:lpstr>Symbol</vt:lpstr>
      <vt:lpstr>wingdings</vt:lpstr>
      <vt:lpstr>wingdings</vt:lpstr>
      <vt:lpstr>SAP_2016_16x9_white</vt:lpstr>
      <vt:lpstr>Project Management (PS) </vt:lpstr>
      <vt:lpstr>PowerPoint-Präsentation</vt:lpstr>
      <vt:lpstr>PowerPoint-Präsentation</vt:lpstr>
      <vt:lpstr>PowerPoint-Präsentation</vt:lpstr>
      <vt:lpstr>Agenda</vt:lpstr>
      <vt:lpstr>Agenda</vt:lpstr>
      <vt:lpstr>PS Organizational Structure (Project Management)</vt:lpstr>
      <vt:lpstr>Agenda</vt:lpstr>
      <vt:lpstr>PS Master Data</vt:lpstr>
      <vt:lpstr>Projects</vt:lpstr>
      <vt:lpstr>Display Projects</vt:lpstr>
      <vt:lpstr>Project Builder</vt:lpstr>
      <vt:lpstr>WBS-Elements</vt:lpstr>
      <vt:lpstr>Hierarchy Graphic (PSP)</vt:lpstr>
      <vt:lpstr>Hierarchy Graphic</vt:lpstr>
      <vt:lpstr>Project Structure in SAP S/4HANA</vt:lpstr>
      <vt:lpstr>Activities</vt:lpstr>
      <vt:lpstr>Hierarchy Graphic</vt:lpstr>
      <vt:lpstr>Relationships</vt:lpstr>
      <vt:lpstr>Milestones</vt:lpstr>
      <vt:lpstr>Milestones</vt:lpstr>
      <vt:lpstr>Work Data in the Activity</vt:lpstr>
      <vt:lpstr>Services</vt:lpstr>
      <vt:lpstr>Agenda</vt:lpstr>
      <vt:lpstr>Project Planning – Project Planning Board</vt:lpstr>
      <vt:lpstr>Project Execution</vt:lpstr>
      <vt:lpstr>Project Execution: Easy Cost Planning</vt:lpstr>
      <vt:lpstr>Period Closing</vt:lpstr>
      <vt:lpstr>Information System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SAP UCC Magdeburg</dc:creator>
  <cp:keywords>2016/16:9/white</cp:keywords>
  <cp:lastModifiedBy>Robert Häusler</cp:lastModifiedBy>
  <cp:revision>71</cp:revision>
  <dcterms:created xsi:type="dcterms:W3CDTF">2017-05-28T06:52:13Z</dcterms:created>
  <dcterms:modified xsi:type="dcterms:W3CDTF">2025-08-14T07:59:21Z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-1173631419</vt:i4>
  </property>
  <property fmtid="{D5CDD505-2E9C-101B-9397-08002B2CF9AE}" pid="3" name="_NewReviewCycle">
    <vt:lpwstr/>
  </property>
  <property fmtid="{D5CDD505-2E9C-101B-9397-08002B2CF9AE}" pid="4" name="_EmailSubject">
    <vt:lpwstr> UA Master Slides Diskussion</vt:lpwstr>
  </property>
  <property fmtid="{D5CDD505-2E9C-101B-9397-08002B2CF9AE}" pid="5" name="_AuthorEmail">
    <vt:lpwstr>kristof.schneider@sap.com</vt:lpwstr>
  </property>
  <property fmtid="{D5CDD505-2E9C-101B-9397-08002B2CF9AE}" pid="6" name="_AuthorEmailDisplayName">
    <vt:lpwstr>Schneider, Kristof</vt:lpwstr>
  </property>
  <property fmtid="{D5CDD505-2E9C-101B-9397-08002B2CF9AE}" pid="7" name="_PreviousAdHocReviewCycleID">
    <vt:i4>1357826825</vt:i4>
  </property>
</Properties>
</file>