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Quattrocento Sans" panose="020B0502050000020003" pitchFamily="34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80">
          <p15:clr>
            <a:srgbClr val="A4A3A4"/>
          </p15:clr>
        </p15:guide>
        <p15:guide id="3" pos="7200">
          <p15:clr>
            <a:srgbClr val="A4A3A4"/>
          </p15:clr>
        </p15:guide>
        <p15:guide id="4" pos="436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QDOh1yOP30Id4dwvdLFs4ELwC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37DF2B-DECF-44A7-8971-07475E2BCFC3}" type="doc">
      <dgm:prSet loTypeId="urn:microsoft.com/office/officeart/2018/2/layout/IconLabelList#2" loCatId="other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BE9CF9E9-0C84-47D5-B772-160F1774DABA}">
      <dgm:prSet/>
      <dgm:spPr/>
      <dgm:t>
        <a:bodyPr/>
        <a:lstStyle/>
        <a:p>
          <a:pPr>
            <a:lnSpc>
              <a:spcPct val="100000"/>
            </a:lnSpc>
          </a:pPr>
          <a:r>
            <a:rPr lang="hu-HU" b="0" i="0" u="none" strike="noStrike" cap="none" dirty="0"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rPr>
            <a:t>Misszió</a:t>
          </a:r>
          <a:endParaRPr lang="hu-HU" dirty="0"/>
        </a:p>
      </dgm:t>
    </dgm:pt>
    <dgm:pt modelId="{729428B5-FF52-4022-8341-74A967B6D0B6}" type="parTrans" cxnId="{AE0A0207-E471-4027-B03C-6F326F9E9D54}">
      <dgm:prSet/>
      <dgm:spPr/>
      <dgm:t>
        <a:bodyPr/>
        <a:lstStyle/>
        <a:p>
          <a:endParaRPr lang="hu-HU"/>
        </a:p>
      </dgm:t>
    </dgm:pt>
    <dgm:pt modelId="{2FB79C65-F934-45E4-B88F-C1E7423CAC8D}" type="sibTrans" cxnId="{AE0A0207-E471-4027-B03C-6F326F9E9D54}">
      <dgm:prSet/>
      <dgm:spPr/>
      <dgm:t>
        <a:bodyPr/>
        <a:lstStyle/>
        <a:p>
          <a:endParaRPr lang="hu-HU"/>
        </a:p>
      </dgm:t>
    </dgm:pt>
    <dgm:pt modelId="{ECB2CA1D-D741-46FE-8C2F-C06265BF33AB}">
      <dgm:prSet/>
      <dgm:spPr/>
      <dgm:t>
        <a:bodyPr/>
        <a:lstStyle/>
        <a:p>
          <a:pPr>
            <a:lnSpc>
              <a:spcPct val="100000"/>
            </a:lnSpc>
          </a:pPr>
          <a:r>
            <a:rPr lang="hu-HU" noProof="0" dirty="0"/>
            <a:t>Vízió</a:t>
          </a:r>
        </a:p>
      </dgm:t>
    </dgm:pt>
    <dgm:pt modelId="{64C27B2E-DAA3-4B25-97B6-3A7674B5C376}" type="parTrans" cxnId="{B97B1C69-2180-413F-97CA-6EB5E8921A43}">
      <dgm:prSet/>
      <dgm:spPr/>
      <dgm:t>
        <a:bodyPr/>
        <a:lstStyle/>
        <a:p>
          <a:endParaRPr lang="hu-HU"/>
        </a:p>
      </dgm:t>
    </dgm:pt>
    <dgm:pt modelId="{BF7B0348-4B46-41F7-9E84-446CBAE49F97}" type="sibTrans" cxnId="{B97B1C69-2180-413F-97CA-6EB5E8921A43}">
      <dgm:prSet/>
      <dgm:spPr/>
      <dgm:t>
        <a:bodyPr/>
        <a:lstStyle/>
        <a:p>
          <a:endParaRPr lang="hu-HU"/>
        </a:p>
      </dgm:t>
    </dgm:pt>
    <dgm:pt modelId="{8D63EC5B-D555-4D95-AC46-39733AF99870}">
      <dgm:prSet/>
      <dgm:spPr/>
      <dgm:t>
        <a:bodyPr/>
        <a:lstStyle/>
        <a:p>
          <a:pPr>
            <a:lnSpc>
              <a:spcPct val="100000"/>
            </a:lnSpc>
          </a:pPr>
          <a:r>
            <a:rPr lang="hu-HU" noProof="0" dirty="0"/>
            <a:t>Értékek</a:t>
          </a:r>
        </a:p>
      </dgm:t>
    </dgm:pt>
    <dgm:pt modelId="{95C82B05-D44D-48DB-AA0C-92A827355501}" type="parTrans" cxnId="{3FE8BA5B-D59C-46CF-B534-370785FCB33A}">
      <dgm:prSet/>
      <dgm:spPr/>
      <dgm:t>
        <a:bodyPr/>
        <a:lstStyle/>
        <a:p>
          <a:endParaRPr lang="hu-HU"/>
        </a:p>
      </dgm:t>
    </dgm:pt>
    <dgm:pt modelId="{EA405E46-B65E-42A2-8193-DFA119458A91}" type="sibTrans" cxnId="{3FE8BA5B-D59C-46CF-B534-370785FCB33A}">
      <dgm:prSet/>
      <dgm:spPr/>
      <dgm:t>
        <a:bodyPr/>
        <a:lstStyle/>
        <a:p>
          <a:endParaRPr lang="hu-HU"/>
        </a:p>
      </dgm:t>
    </dgm:pt>
    <dgm:pt modelId="{F365F799-91C6-467E-8005-77142388ADA7}" type="pres">
      <dgm:prSet presAssocID="{3137DF2B-DECF-44A7-8971-07475E2BCFC3}" presName="root" presStyleCnt="0">
        <dgm:presLayoutVars>
          <dgm:dir/>
          <dgm:resizeHandles val="exact"/>
        </dgm:presLayoutVars>
      </dgm:prSet>
      <dgm:spPr/>
    </dgm:pt>
    <dgm:pt modelId="{B90B421F-02BA-4B7A-9A12-0C0518D986D4}" type="pres">
      <dgm:prSet presAssocID="{BE9CF9E9-0C84-47D5-B772-160F1774DABA}" presName="compNode" presStyleCnt="0"/>
      <dgm:spPr/>
    </dgm:pt>
    <dgm:pt modelId="{99151F39-470D-4FE6-8495-69E67419D8BF}" type="pres">
      <dgm:prSet presAssocID="{BE9CF9E9-0C84-47D5-B772-160F1774DABA}" presName="iconRect" presStyleLbl="node1" presStyleIdx="0" presStyleCnt="3" custScaleX="235795" custScaleY="235795"/>
      <dgm:spPr>
        <a:blipFill rotWithShape="1">
          <a:blip xmlns:r="http://schemas.openxmlformats.org/officeDocument/2006/relationships" r:embed="rId1">
            <a:alphaModFix/>
          </a:blip>
          <a:srcRect/>
          <a:stretch>
            <a:fillRect t="-3000" b="-3000"/>
          </a:stretch>
        </a:blipFill>
        <a:ln>
          <a:noFill/>
        </a:ln>
      </dgm:spPr>
    </dgm:pt>
    <dgm:pt modelId="{6970D3F7-ADD4-43C2-97B2-7B0ED1E908AF}" type="pres">
      <dgm:prSet presAssocID="{BE9CF9E9-0C84-47D5-B772-160F1774DABA}" presName="spaceRect" presStyleCnt="0"/>
      <dgm:spPr/>
    </dgm:pt>
    <dgm:pt modelId="{07422149-0F8C-4229-90EA-31E40935FE78}" type="pres">
      <dgm:prSet presAssocID="{BE9CF9E9-0C84-47D5-B772-160F1774DABA}" presName="textRect" presStyleLbl="revTx" presStyleIdx="0" presStyleCnt="3" custLinFactNeighborY="84726">
        <dgm:presLayoutVars>
          <dgm:chMax val="1"/>
          <dgm:chPref val="1"/>
        </dgm:presLayoutVars>
      </dgm:prSet>
      <dgm:spPr/>
    </dgm:pt>
    <dgm:pt modelId="{F05EBE33-4259-475C-903D-DF7F97EE2AF6}" type="pres">
      <dgm:prSet presAssocID="{2FB79C65-F934-45E4-B88F-C1E7423CAC8D}" presName="sibTrans" presStyleCnt="0"/>
      <dgm:spPr/>
    </dgm:pt>
    <dgm:pt modelId="{3561917B-259E-4B79-8C85-EFF496BE5D1F}" type="pres">
      <dgm:prSet presAssocID="{ECB2CA1D-D741-46FE-8C2F-C06265BF33AB}" presName="compNode" presStyleCnt="0"/>
      <dgm:spPr/>
    </dgm:pt>
    <dgm:pt modelId="{1BA2D9E8-81FA-4F66-ACA0-0570D63938AD}" type="pres">
      <dgm:prSet presAssocID="{ECB2CA1D-D741-46FE-8C2F-C06265BF33AB}" presName="iconRect" presStyleLbl="node1" presStyleIdx="1" presStyleCnt="3" custScaleX="235795" custScaleY="235795"/>
      <dgm:spPr>
        <a:blipFill rotWithShape="1">
          <a:blip xmlns:r="http://schemas.openxmlformats.org/officeDocument/2006/relationships" r:embed="rId2">
            <a:alphaModFix/>
          </a:blip>
          <a:srcRect/>
          <a:stretch>
            <a:fillRect l="-2000" r="-2000"/>
          </a:stretch>
        </a:blipFill>
        <a:ln>
          <a:noFill/>
        </a:ln>
      </dgm:spPr>
    </dgm:pt>
    <dgm:pt modelId="{E0A9F9A0-3C62-404A-8454-2BD894C448FF}" type="pres">
      <dgm:prSet presAssocID="{ECB2CA1D-D741-46FE-8C2F-C06265BF33AB}" presName="spaceRect" presStyleCnt="0"/>
      <dgm:spPr/>
    </dgm:pt>
    <dgm:pt modelId="{D686C8AF-3F85-47FF-84FB-83736C7F11AA}" type="pres">
      <dgm:prSet presAssocID="{ECB2CA1D-D741-46FE-8C2F-C06265BF33AB}" presName="textRect" presStyleLbl="revTx" presStyleIdx="1" presStyleCnt="3" custLinFactNeighborY="84726">
        <dgm:presLayoutVars>
          <dgm:chMax val="1"/>
          <dgm:chPref val="1"/>
        </dgm:presLayoutVars>
      </dgm:prSet>
      <dgm:spPr/>
    </dgm:pt>
    <dgm:pt modelId="{71604986-4BD1-4E0F-AD4D-560F8DD39BA1}" type="pres">
      <dgm:prSet presAssocID="{BF7B0348-4B46-41F7-9E84-446CBAE49F97}" presName="sibTrans" presStyleCnt="0"/>
      <dgm:spPr/>
    </dgm:pt>
    <dgm:pt modelId="{3CC78F69-0D4E-4035-A8E9-680A08AC14F8}" type="pres">
      <dgm:prSet presAssocID="{8D63EC5B-D555-4D95-AC46-39733AF99870}" presName="compNode" presStyleCnt="0"/>
      <dgm:spPr/>
    </dgm:pt>
    <dgm:pt modelId="{8B2DF598-2DF5-4A6B-A0A7-1D8343CBAD32}" type="pres">
      <dgm:prSet presAssocID="{8D63EC5B-D555-4D95-AC46-39733AF99870}" presName="iconRect" presStyleLbl="node1" presStyleIdx="2" presStyleCnt="3" custScaleX="235795" custScaleY="235795"/>
      <dgm:spPr>
        <a:blipFill rotWithShape="1">
          <a:blip xmlns:r="http://schemas.openxmlformats.org/officeDocument/2006/relationships" r:embed="rId3">
            <a:alphaModFix/>
          </a:blip>
          <a:srcRect/>
          <a:stretch>
            <a:fillRect l="-3000" r="-3000"/>
          </a:stretch>
        </a:blipFill>
        <a:ln>
          <a:noFill/>
        </a:ln>
      </dgm:spPr>
    </dgm:pt>
    <dgm:pt modelId="{7CAFE869-5120-41FD-AA19-3675B8BA41A7}" type="pres">
      <dgm:prSet presAssocID="{8D63EC5B-D555-4D95-AC46-39733AF99870}" presName="spaceRect" presStyleCnt="0"/>
      <dgm:spPr/>
    </dgm:pt>
    <dgm:pt modelId="{A4F478B1-780F-4F86-807B-220ACA4C7E46}" type="pres">
      <dgm:prSet presAssocID="{8D63EC5B-D555-4D95-AC46-39733AF99870}" presName="textRect" presStyleLbl="revTx" presStyleIdx="2" presStyleCnt="3" custLinFactNeighborY="84726">
        <dgm:presLayoutVars>
          <dgm:chMax val="1"/>
          <dgm:chPref val="1"/>
        </dgm:presLayoutVars>
      </dgm:prSet>
      <dgm:spPr/>
    </dgm:pt>
  </dgm:ptLst>
  <dgm:cxnLst>
    <dgm:cxn modelId="{AE0A0207-E471-4027-B03C-6F326F9E9D54}" srcId="{3137DF2B-DECF-44A7-8971-07475E2BCFC3}" destId="{BE9CF9E9-0C84-47D5-B772-160F1774DABA}" srcOrd="0" destOrd="0" parTransId="{729428B5-FF52-4022-8341-74A967B6D0B6}" sibTransId="{2FB79C65-F934-45E4-B88F-C1E7423CAC8D}"/>
    <dgm:cxn modelId="{6CE09C13-55C3-46EB-A542-3E10BA082EC2}" type="presOf" srcId="{BE9CF9E9-0C84-47D5-B772-160F1774DABA}" destId="{07422149-0F8C-4229-90EA-31E40935FE78}" srcOrd="0" destOrd="0" presId="urn:microsoft.com/office/officeart/2018/2/layout/IconLabelList#2"/>
    <dgm:cxn modelId="{3FE8BA5B-D59C-46CF-B534-370785FCB33A}" srcId="{3137DF2B-DECF-44A7-8971-07475E2BCFC3}" destId="{8D63EC5B-D555-4D95-AC46-39733AF99870}" srcOrd="2" destOrd="0" parTransId="{95C82B05-D44D-48DB-AA0C-92A827355501}" sibTransId="{EA405E46-B65E-42A2-8193-DFA119458A91}"/>
    <dgm:cxn modelId="{F492FE67-BCEC-4E13-B781-2E79431631B9}" type="presOf" srcId="{ECB2CA1D-D741-46FE-8C2F-C06265BF33AB}" destId="{D686C8AF-3F85-47FF-84FB-83736C7F11AA}" srcOrd="0" destOrd="0" presId="urn:microsoft.com/office/officeart/2018/2/layout/IconLabelList#2"/>
    <dgm:cxn modelId="{B97B1C69-2180-413F-97CA-6EB5E8921A43}" srcId="{3137DF2B-DECF-44A7-8971-07475E2BCFC3}" destId="{ECB2CA1D-D741-46FE-8C2F-C06265BF33AB}" srcOrd="1" destOrd="0" parTransId="{64C27B2E-DAA3-4B25-97B6-3A7674B5C376}" sibTransId="{BF7B0348-4B46-41F7-9E84-446CBAE49F97}"/>
    <dgm:cxn modelId="{C8D114CC-2F70-49B1-A0D3-03EA006474FF}" type="presOf" srcId="{8D63EC5B-D555-4D95-AC46-39733AF99870}" destId="{A4F478B1-780F-4F86-807B-220ACA4C7E46}" srcOrd="0" destOrd="0" presId="urn:microsoft.com/office/officeart/2018/2/layout/IconLabelList#2"/>
    <dgm:cxn modelId="{02F767F8-F42A-4F3B-A329-DEC0D12CD806}" type="presOf" srcId="{3137DF2B-DECF-44A7-8971-07475E2BCFC3}" destId="{F365F799-91C6-467E-8005-77142388ADA7}" srcOrd="0" destOrd="0" presId="urn:microsoft.com/office/officeart/2018/2/layout/IconLabelList#2"/>
    <dgm:cxn modelId="{D55A6BFD-B09B-4349-9311-F071CAC66C2F}" type="presParOf" srcId="{F365F799-91C6-467E-8005-77142388ADA7}" destId="{B90B421F-02BA-4B7A-9A12-0C0518D986D4}" srcOrd="0" destOrd="0" presId="urn:microsoft.com/office/officeart/2018/2/layout/IconLabelList#2"/>
    <dgm:cxn modelId="{3A70BDF8-724C-40B0-AD89-C90C32ACB5FF}" type="presParOf" srcId="{B90B421F-02BA-4B7A-9A12-0C0518D986D4}" destId="{99151F39-470D-4FE6-8495-69E67419D8BF}" srcOrd="0" destOrd="0" presId="urn:microsoft.com/office/officeart/2018/2/layout/IconLabelList#2"/>
    <dgm:cxn modelId="{5BF56B82-0485-411E-A6B7-571A8EA3EF4A}" type="presParOf" srcId="{B90B421F-02BA-4B7A-9A12-0C0518D986D4}" destId="{6970D3F7-ADD4-43C2-97B2-7B0ED1E908AF}" srcOrd="1" destOrd="0" presId="urn:microsoft.com/office/officeart/2018/2/layout/IconLabelList#2"/>
    <dgm:cxn modelId="{F3D3ACC6-B56F-43E9-890A-E82A29F3E3BD}" type="presParOf" srcId="{B90B421F-02BA-4B7A-9A12-0C0518D986D4}" destId="{07422149-0F8C-4229-90EA-31E40935FE78}" srcOrd="2" destOrd="0" presId="urn:microsoft.com/office/officeart/2018/2/layout/IconLabelList#2"/>
    <dgm:cxn modelId="{CA129A4A-B9ED-44DA-82F8-E0E2476D08B1}" type="presParOf" srcId="{F365F799-91C6-467E-8005-77142388ADA7}" destId="{F05EBE33-4259-475C-903D-DF7F97EE2AF6}" srcOrd="1" destOrd="0" presId="urn:microsoft.com/office/officeart/2018/2/layout/IconLabelList#2"/>
    <dgm:cxn modelId="{B4C78AA0-7894-43CA-B5B0-772DBD4959F6}" type="presParOf" srcId="{F365F799-91C6-467E-8005-77142388ADA7}" destId="{3561917B-259E-4B79-8C85-EFF496BE5D1F}" srcOrd="2" destOrd="0" presId="urn:microsoft.com/office/officeart/2018/2/layout/IconLabelList#2"/>
    <dgm:cxn modelId="{A72CD3C2-AE5A-426E-910F-2860AE1AE8C9}" type="presParOf" srcId="{3561917B-259E-4B79-8C85-EFF496BE5D1F}" destId="{1BA2D9E8-81FA-4F66-ACA0-0570D63938AD}" srcOrd="0" destOrd="0" presId="urn:microsoft.com/office/officeart/2018/2/layout/IconLabelList#2"/>
    <dgm:cxn modelId="{C8B22A3E-D2A7-4278-8CBD-F6063A3D2522}" type="presParOf" srcId="{3561917B-259E-4B79-8C85-EFF496BE5D1F}" destId="{E0A9F9A0-3C62-404A-8454-2BD894C448FF}" srcOrd="1" destOrd="0" presId="urn:microsoft.com/office/officeart/2018/2/layout/IconLabelList#2"/>
    <dgm:cxn modelId="{16C8F1A7-5C41-4C04-B991-448DD22E4B85}" type="presParOf" srcId="{3561917B-259E-4B79-8C85-EFF496BE5D1F}" destId="{D686C8AF-3F85-47FF-84FB-83736C7F11AA}" srcOrd="2" destOrd="0" presId="urn:microsoft.com/office/officeart/2018/2/layout/IconLabelList#2"/>
    <dgm:cxn modelId="{EC85444D-0BCF-4D2F-8051-535A0C7BF0CA}" type="presParOf" srcId="{F365F799-91C6-467E-8005-77142388ADA7}" destId="{71604986-4BD1-4E0F-AD4D-560F8DD39BA1}" srcOrd="3" destOrd="0" presId="urn:microsoft.com/office/officeart/2018/2/layout/IconLabelList#2"/>
    <dgm:cxn modelId="{7C4D25EB-AFE2-42D3-8BAA-4CF796420106}" type="presParOf" srcId="{F365F799-91C6-467E-8005-77142388ADA7}" destId="{3CC78F69-0D4E-4035-A8E9-680A08AC14F8}" srcOrd="4" destOrd="0" presId="urn:microsoft.com/office/officeart/2018/2/layout/IconLabelList#2"/>
    <dgm:cxn modelId="{1CE8A52B-855F-4592-BEDE-693F308CF59B}" type="presParOf" srcId="{3CC78F69-0D4E-4035-A8E9-680A08AC14F8}" destId="{8B2DF598-2DF5-4A6B-A0A7-1D8343CBAD32}" srcOrd="0" destOrd="0" presId="urn:microsoft.com/office/officeart/2018/2/layout/IconLabelList#2"/>
    <dgm:cxn modelId="{7ABF6954-0FB1-48C3-AF12-7D9A8C43228F}" type="presParOf" srcId="{3CC78F69-0D4E-4035-A8E9-680A08AC14F8}" destId="{7CAFE869-5120-41FD-AA19-3675B8BA41A7}" srcOrd="1" destOrd="0" presId="urn:microsoft.com/office/officeart/2018/2/layout/IconLabelList#2"/>
    <dgm:cxn modelId="{FFC28A5D-470E-4767-8135-9F80E84FFE5D}" type="presParOf" srcId="{3CC78F69-0D4E-4035-A8E9-680A08AC14F8}" destId="{A4F478B1-780F-4F86-807B-220ACA4C7E46}" srcOrd="2" destOrd="0" presId="urn:microsoft.com/office/officeart/2018/2/layout/IconLabelLis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37DF2B-DECF-44A7-8971-07475E2BCFC3}" type="doc">
      <dgm:prSet loTypeId="urn:microsoft.com/office/officeart/2018/2/layout/IconLabelList#2" loCatId="other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BE9CF9E9-0C84-47D5-B772-160F1774DAB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hu-HU" sz="3600" b="0" i="0" u="none" strike="noStrike" cap="none" dirty="0"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rPr>
            <a:t>Misszió</a:t>
          </a:r>
          <a:endParaRPr lang="hu-HU" sz="3600" dirty="0"/>
        </a:p>
      </dgm:t>
    </dgm:pt>
    <dgm:pt modelId="{729428B5-FF52-4022-8341-74A967B6D0B6}" type="parTrans" cxnId="{AE0A0207-E471-4027-B03C-6F326F9E9D54}">
      <dgm:prSet/>
      <dgm:spPr/>
      <dgm:t>
        <a:bodyPr/>
        <a:lstStyle/>
        <a:p>
          <a:endParaRPr lang="hu-HU"/>
        </a:p>
      </dgm:t>
    </dgm:pt>
    <dgm:pt modelId="{2FB79C65-F934-45E4-B88F-C1E7423CAC8D}" type="sibTrans" cxnId="{AE0A0207-E471-4027-B03C-6F326F9E9D54}">
      <dgm:prSet/>
      <dgm:spPr/>
      <dgm:t>
        <a:bodyPr/>
        <a:lstStyle/>
        <a:p>
          <a:endParaRPr lang="hu-HU"/>
        </a:p>
      </dgm:t>
    </dgm:pt>
    <dgm:pt modelId="{8D63EC5B-D555-4D95-AC46-39733AF998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hu-HU" sz="3600" noProof="0" dirty="0"/>
            <a:t>Értékek</a:t>
          </a:r>
        </a:p>
      </dgm:t>
    </dgm:pt>
    <dgm:pt modelId="{95C82B05-D44D-48DB-AA0C-92A827355501}" type="parTrans" cxnId="{3FE8BA5B-D59C-46CF-B534-370785FCB33A}">
      <dgm:prSet/>
      <dgm:spPr/>
      <dgm:t>
        <a:bodyPr/>
        <a:lstStyle/>
        <a:p>
          <a:endParaRPr lang="hu-HU"/>
        </a:p>
      </dgm:t>
    </dgm:pt>
    <dgm:pt modelId="{EA405E46-B65E-42A2-8193-DFA119458A91}" type="sibTrans" cxnId="{3FE8BA5B-D59C-46CF-B534-370785FCB33A}">
      <dgm:prSet/>
      <dgm:spPr/>
      <dgm:t>
        <a:bodyPr/>
        <a:lstStyle/>
        <a:p>
          <a:endParaRPr lang="hu-HU"/>
        </a:p>
      </dgm:t>
    </dgm:pt>
    <dgm:pt modelId="{F365F799-91C6-467E-8005-77142388ADA7}" type="pres">
      <dgm:prSet presAssocID="{3137DF2B-DECF-44A7-8971-07475E2BCFC3}" presName="root" presStyleCnt="0">
        <dgm:presLayoutVars>
          <dgm:dir/>
          <dgm:resizeHandles val="exact"/>
        </dgm:presLayoutVars>
      </dgm:prSet>
      <dgm:spPr/>
    </dgm:pt>
    <dgm:pt modelId="{B90B421F-02BA-4B7A-9A12-0C0518D986D4}" type="pres">
      <dgm:prSet presAssocID="{BE9CF9E9-0C84-47D5-B772-160F1774DABA}" presName="compNode" presStyleCnt="0"/>
      <dgm:spPr/>
    </dgm:pt>
    <dgm:pt modelId="{99151F39-470D-4FE6-8495-69E67419D8BF}" type="pres">
      <dgm:prSet presAssocID="{BE9CF9E9-0C84-47D5-B772-160F1774DABA}" presName="iconRect" presStyleLbl="node1" presStyleIdx="0" presStyleCnt="2" custScaleX="174996" custScaleY="174996"/>
      <dgm:spPr>
        <a:blipFill rotWithShape="1">
          <a:blip xmlns:r="http://schemas.openxmlformats.org/officeDocument/2006/relationships" r:embed="rId1">
            <a:alphaModFix/>
          </a:blip>
          <a:srcRect/>
          <a:stretch>
            <a:fillRect t="-3000" b="-3000"/>
          </a:stretch>
        </a:blipFill>
        <a:ln>
          <a:noFill/>
        </a:ln>
      </dgm:spPr>
    </dgm:pt>
    <dgm:pt modelId="{6970D3F7-ADD4-43C2-97B2-7B0ED1E908AF}" type="pres">
      <dgm:prSet presAssocID="{BE9CF9E9-0C84-47D5-B772-160F1774DABA}" presName="spaceRect" presStyleCnt="0"/>
      <dgm:spPr/>
    </dgm:pt>
    <dgm:pt modelId="{07422149-0F8C-4229-90EA-31E40935FE78}" type="pres">
      <dgm:prSet presAssocID="{BE9CF9E9-0C84-47D5-B772-160F1774DABA}" presName="textRect" presStyleLbl="revTx" presStyleIdx="0" presStyleCnt="2" custLinFactNeighborY="84726">
        <dgm:presLayoutVars>
          <dgm:chMax val="1"/>
          <dgm:chPref val="1"/>
        </dgm:presLayoutVars>
      </dgm:prSet>
      <dgm:spPr/>
    </dgm:pt>
    <dgm:pt modelId="{F05EBE33-4259-475C-903D-DF7F97EE2AF6}" type="pres">
      <dgm:prSet presAssocID="{2FB79C65-F934-45E4-B88F-C1E7423CAC8D}" presName="sibTrans" presStyleCnt="0"/>
      <dgm:spPr/>
    </dgm:pt>
    <dgm:pt modelId="{3CC78F69-0D4E-4035-A8E9-680A08AC14F8}" type="pres">
      <dgm:prSet presAssocID="{8D63EC5B-D555-4D95-AC46-39733AF99870}" presName="compNode" presStyleCnt="0"/>
      <dgm:spPr/>
    </dgm:pt>
    <dgm:pt modelId="{8B2DF598-2DF5-4A6B-A0A7-1D8343CBAD32}" type="pres">
      <dgm:prSet presAssocID="{8D63EC5B-D555-4D95-AC46-39733AF99870}" presName="iconRect" presStyleLbl="node1" presStyleIdx="1" presStyleCnt="2" custScaleX="174996" custScaleY="174996"/>
      <dgm:spPr>
        <a:blipFill rotWithShape="1">
          <a:blip xmlns:r="http://schemas.openxmlformats.org/officeDocument/2006/relationships" r:embed="rId2">
            <a:alphaModFix/>
          </a:blip>
          <a:srcRect/>
          <a:stretch>
            <a:fillRect l="-3000" r="-3000"/>
          </a:stretch>
        </a:blipFill>
        <a:ln>
          <a:noFill/>
        </a:ln>
      </dgm:spPr>
    </dgm:pt>
    <dgm:pt modelId="{7CAFE869-5120-41FD-AA19-3675B8BA41A7}" type="pres">
      <dgm:prSet presAssocID="{8D63EC5B-D555-4D95-AC46-39733AF99870}" presName="spaceRect" presStyleCnt="0"/>
      <dgm:spPr/>
    </dgm:pt>
    <dgm:pt modelId="{A4F478B1-780F-4F86-807B-220ACA4C7E46}" type="pres">
      <dgm:prSet presAssocID="{8D63EC5B-D555-4D95-AC46-39733AF99870}" presName="textRect" presStyleLbl="revTx" presStyleIdx="1" presStyleCnt="2" custLinFactNeighborY="84726">
        <dgm:presLayoutVars>
          <dgm:chMax val="1"/>
          <dgm:chPref val="1"/>
        </dgm:presLayoutVars>
      </dgm:prSet>
      <dgm:spPr/>
    </dgm:pt>
  </dgm:ptLst>
  <dgm:cxnLst>
    <dgm:cxn modelId="{AE0A0207-E471-4027-B03C-6F326F9E9D54}" srcId="{3137DF2B-DECF-44A7-8971-07475E2BCFC3}" destId="{BE9CF9E9-0C84-47D5-B772-160F1774DABA}" srcOrd="0" destOrd="0" parTransId="{729428B5-FF52-4022-8341-74A967B6D0B6}" sibTransId="{2FB79C65-F934-45E4-B88F-C1E7423CAC8D}"/>
    <dgm:cxn modelId="{6CE09C13-55C3-46EB-A542-3E10BA082EC2}" type="presOf" srcId="{BE9CF9E9-0C84-47D5-B772-160F1774DABA}" destId="{07422149-0F8C-4229-90EA-31E40935FE78}" srcOrd="0" destOrd="0" presId="urn:microsoft.com/office/officeart/2018/2/layout/IconLabelList#2"/>
    <dgm:cxn modelId="{3FE8BA5B-D59C-46CF-B534-370785FCB33A}" srcId="{3137DF2B-DECF-44A7-8971-07475E2BCFC3}" destId="{8D63EC5B-D555-4D95-AC46-39733AF99870}" srcOrd="1" destOrd="0" parTransId="{95C82B05-D44D-48DB-AA0C-92A827355501}" sibTransId="{EA405E46-B65E-42A2-8193-DFA119458A91}"/>
    <dgm:cxn modelId="{C8D114CC-2F70-49B1-A0D3-03EA006474FF}" type="presOf" srcId="{8D63EC5B-D555-4D95-AC46-39733AF99870}" destId="{A4F478B1-780F-4F86-807B-220ACA4C7E46}" srcOrd="0" destOrd="0" presId="urn:microsoft.com/office/officeart/2018/2/layout/IconLabelList#2"/>
    <dgm:cxn modelId="{02F767F8-F42A-4F3B-A329-DEC0D12CD806}" type="presOf" srcId="{3137DF2B-DECF-44A7-8971-07475E2BCFC3}" destId="{F365F799-91C6-467E-8005-77142388ADA7}" srcOrd="0" destOrd="0" presId="urn:microsoft.com/office/officeart/2018/2/layout/IconLabelList#2"/>
    <dgm:cxn modelId="{D55A6BFD-B09B-4349-9311-F071CAC66C2F}" type="presParOf" srcId="{F365F799-91C6-467E-8005-77142388ADA7}" destId="{B90B421F-02BA-4B7A-9A12-0C0518D986D4}" srcOrd="0" destOrd="0" presId="urn:microsoft.com/office/officeart/2018/2/layout/IconLabelList#2"/>
    <dgm:cxn modelId="{3A70BDF8-724C-40B0-AD89-C90C32ACB5FF}" type="presParOf" srcId="{B90B421F-02BA-4B7A-9A12-0C0518D986D4}" destId="{99151F39-470D-4FE6-8495-69E67419D8BF}" srcOrd="0" destOrd="0" presId="urn:microsoft.com/office/officeart/2018/2/layout/IconLabelList#2"/>
    <dgm:cxn modelId="{5BF56B82-0485-411E-A6B7-571A8EA3EF4A}" type="presParOf" srcId="{B90B421F-02BA-4B7A-9A12-0C0518D986D4}" destId="{6970D3F7-ADD4-43C2-97B2-7B0ED1E908AF}" srcOrd="1" destOrd="0" presId="urn:microsoft.com/office/officeart/2018/2/layout/IconLabelList#2"/>
    <dgm:cxn modelId="{F3D3ACC6-B56F-43E9-890A-E82A29F3E3BD}" type="presParOf" srcId="{B90B421F-02BA-4B7A-9A12-0C0518D986D4}" destId="{07422149-0F8C-4229-90EA-31E40935FE78}" srcOrd="2" destOrd="0" presId="urn:microsoft.com/office/officeart/2018/2/layout/IconLabelList#2"/>
    <dgm:cxn modelId="{CA129A4A-B9ED-44DA-82F8-E0E2476D08B1}" type="presParOf" srcId="{F365F799-91C6-467E-8005-77142388ADA7}" destId="{F05EBE33-4259-475C-903D-DF7F97EE2AF6}" srcOrd="1" destOrd="0" presId="urn:microsoft.com/office/officeart/2018/2/layout/IconLabelList#2"/>
    <dgm:cxn modelId="{7C4D25EB-AFE2-42D3-8BAA-4CF796420106}" type="presParOf" srcId="{F365F799-91C6-467E-8005-77142388ADA7}" destId="{3CC78F69-0D4E-4035-A8E9-680A08AC14F8}" srcOrd="2" destOrd="0" presId="urn:microsoft.com/office/officeart/2018/2/layout/IconLabelList#2"/>
    <dgm:cxn modelId="{1CE8A52B-855F-4592-BEDE-693F308CF59B}" type="presParOf" srcId="{3CC78F69-0D4E-4035-A8E9-680A08AC14F8}" destId="{8B2DF598-2DF5-4A6B-A0A7-1D8343CBAD32}" srcOrd="0" destOrd="0" presId="urn:microsoft.com/office/officeart/2018/2/layout/IconLabelList#2"/>
    <dgm:cxn modelId="{7ABF6954-0FB1-48C3-AF12-7D9A8C43228F}" type="presParOf" srcId="{3CC78F69-0D4E-4035-A8E9-680A08AC14F8}" destId="{7CAFE869-5120-41FD-AA19-3675B8BA41A7}" srcOrd="1" destOrd="0" presId="urn:microsoft.com/office/officeart/2018/2/layout/IconLabelList#2"/>
    <dgm:cxn modelId="{FFC28A5D-470E-4767-8135-9F80E84FFE5D}" type="presParOf" srcId="{3CC78F69-0D4E-4035-A8E9-680A08AC14F8}" destId="{A4F478B1-780F-4F86-807B-220ACA4C7E46}" srcOrd="2" destOrd="0" presId="urn:microsoft.com/office/officeart/2018/2/layout/IconLabelLis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51F39-470D-4FE6-8495-69E67419D8BF}">
      <dsp:nvSpPr>
        <dsp:cNvPr id="0" name=""/>
        <dsp:cNvSpPr/>
      </dsp:nvSpPr>
      <dsp:spPr>
        <a:xfrm>
          <a:off x="195796" y="610027"/>
          <a:ext cx="3086143" cy="3086143"/>
        </a:xfrm>
        <a:prstGeom prst="rect">
          <a:avLst/>
        </a:prstGeom>
        <a:blipFill rotWithShape="1">
          <a:blip xmlns:r="http://schemas.openxmlformats.org/officeDocument/2006/relationships" r:embed="rId1">
            <a:alphaModFix/>
          </a:blip>
          <a:srcRect/>
          <a:stretch>
            <a:fillRect t="-3000" b="-3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22149-0F8C-4229-90EA-31E40935FE78}">
      <dsp:nvSpPr>
        <dsp:cNvPr id="0" name=""/>
        <dsp:cNvSpPr/>
      </dsp:nvSpPr>
      <dsp:spPr>
        <a:xfrm>
          <a:off x="284618" y="3775798"/>
          <a:ext cx="29084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b="0" i="0" u="none" strike="noStrike" kern="1200" cap="none" dirty="0"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rPr>
            <a:t>Misszió</a:t>
          </a:r>
          <a:endParaRPr lang="hu-HU" sz="3600" kern="1200" dirty="0"/>
        </a:p>
      </dsp:txBody>
      <dsp:txXfrm>
        <a:off x="284618" y="3775798"/>
        <a:ext cx="2908499" cy="720000"/>
      </dsp:txXfrm>
    </dsp:sp>
    <dsp:sp modelId="{1BA2D9E8-81FA-4F66-ACA0-0570D63938AD}">
      <dsp:nvSpPr>
        <dsp:cNvPr id="0" name=""/>
        <dsp:cNvSpPr/>
      </dsp:nvSpPr>
      <dsp:spPr>
        <a:xfrm>
          <a:off x="3790928" y="610027"/>
          <a:ext cx="3086143" cy="3086143"/>
        </a:xfrm>
        <a:prstGeom prst="rect">
          <a:avLst/>
        </a:prstGeom>
        <a:blipFill rotWithShape="1">
          <a:blip xmlns:r="http://schemas.openxmlformats.org/officeDocument/2006/relationships" r:embed="rId2">
            <a:alphaModFix/>
          </a:blip>
          <a:srcRect/>
          <a:stretch>
            <a:fillRect l="-2000" r="-2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86C8AF-3F85-47FF-84FB-83736C7F11AA}">
      <dsp:nvSpPr>
        <dsp:cNvPr id="0" name=""/>
        <dsp:cNvSpPr/>
      </dsp:nvSpPr>
      <dsp:spPr>
        <a:xfrm>
          <a:off x="3879749" y="3775798"/>
          <a:ext cx="29084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 noProof="0" dirty="0"/>
            <a:t>Vízió</a:t>
          </a:r>
        </a:p>
      </dsp:txBody>
      <dsp:txXfrm>
        <a:off x="3879749" y="3775798"/>
        <a:ext cx="2908499" cy="720000"/>
      </dsp:txXfrm>
    </dsp:sp>
    <dsp:sp modelId="{8B2DF598-2DF5-4A6B-A0A7-1D8343CBAD32}">
      <dsp:nvSpPr>
        <dsp:cNvPr id="0" name=""/>
        <dsp:cNvSpPr/>
      </dsp:nvSpPr>
      <dsp:spPr>
        <a:xfrm>
          <a:off x="7386059" y="610027"/>
          <a:ext cx="3086143" cy="3086143"/>
        </a:xfrm>
        <a:prstGeom prst="rect">
          <a:avLst/>
        </a:prstGeom>
        <a:blipFill rotWithShape="1">
          <a:blip xmlns:r="http://schemas.openxmlformats.org/officeDocument/2006/relationships" r:embed="rId3">
            <a:alphaModFix/>
          </a:blip>
          <a:srcRect/>
          <a:stretch>
            <a:fillRect l="-3000" r="-3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478B1-780F-4F86-807B-220ACA4C7E46}">
      <dsp:nvSpPr>
        <dsp:cNvPr id="0" name=""/>
        <dsp:cNvSpPr/>
      </dsp:nvSpPr>
      <dsp:spPr>
        <a:xfrm>
          <a:off x="7474881" y="3775798"/>
          <a:ext cx="29084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 noProof="0" dirty="0"/>
            <a:t>Értékek</a:t>
          </a:r>
        </a:p>
      </dsp:txBody>
      <dsp:txXfrm>
        <a:off x="7474881" y="3775798"/>
        <a:ext cx="290849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51F39-470D-4FE6-8495-69E67419D8BF}">
      <dsp:nvSpPr>
        <dsp:cNvPr id="0" name=""/>
        <dsp:cNvSpPr/>
      </dsp:nvSpPr>
      <dsp:spPr>
        <a:xfrm>
          <a:off x="1095038" y="316311"/>
          <a:ext cx="3401922" cy="3401922"/>
        </a:xfrm>
        <a:prstGeom prst="rect">
          <a:avLst/>
        </a:prstGeom>
        <a:blipFill rotWithShape="1">
          <a:blip xmlns:r="http://schemas.openxmlformats.org/officeDocument/2006/relationships" r:embed="rId1">
            <a:alphaModFix/>
          </a:blip>
          <a:srcRect/>
          <a:stretch>
            <a:fillRect t="-3000" b="-3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22149-0F8C-4229-90EA-31E40935FE78}">
      <dsp:nvSpPr>
        <dsp:cNvPr id="0" name=""/>
        <dsp:cNvSpPr/>
      </dsp:nvSpPr>
      <dsp:spPr>
        <a:xfrm>
          <a:off x="635999" y="377579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b="0" i="0" u="none" strike="noStrike" kern="1200" cap="none" dirty="0"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rPr>
            <a:t>Misszió</a:t>
          </a:r>
          <a:endParaRPr lang="hu-HU" sz="3600" kern="1200" dirty="0"/>
        </a:p>
      </dsp:txBody>
      <dsp:txXfrm>
        <a:off x="635999" y="3775799"/>
        <a:ext cx="4320000" cy="720000"/>
      </dsp:txXfrm>
    </dsp:sp>
    <dsp:sp modelId="{8B2DF598-2DF5-4A6B-A0A7-1D8343CBAD32}">
      <dsp:nvSpPr>
        <dsp:cNvPr id="0" name=""/>
        <dsp:cNvSpPr/>
      </dsp:nvSpPr>
      <dsp:spPr>
        <a:xfrm>
          <a:off x="6171038" y="316311"/>
          <a:ext cx="3401922" cy="3401922"/>
        </a:xfrm>
        <a:prstGeom prst="rect">
          <a:avLst/>
        </a:prstGeom>
        <a:blipFill rotWithShape="1">
          <a:blip xmlns:r="http://schemas.openxmlformats.org/officeDocument/2006/relationships" r:embed="rId2">
            <a:alphaModFix/>
          </a:blip>
          <a:srcRect/>
          <a:stretch>
            <a:fillRect l="-3000" r="-3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478B1-780F-4F86-807B-220ACA4C7E46}">
      <dsp:nvSpPr>
        <dsp:cNvPr id="0" name=""/>
        <dsp:cNvSpPr/>
      </dsp:nvSpPr>
      <dsp:spPr>
        <a:xfrm>
          <a:off x="5712000" y="377579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 noProof="0" dirty="0"/>
            <a:t>Értékek</a:t>
          </a:r>
        </a:p>
      </dsp:txBody>
      <dsp:txXfrm>
        <a:off x="5712000" y="3775799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#2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#2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8" name="Google Shape;1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8" name="Google Shape;13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577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0" name="Google Shape;20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7" name="Google Shape;20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">
  <p:cSld name="Title 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8"/>
          <p:cNvSpPr txBox="1">
            <a:spLocks noGrp="1"/>
          </p:cNvSpPr>
          <p:nvPr>
            <p:ph type="title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sz="44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Pattern Content">
  <p:cSld name="Right Pattern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body" idx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16" name="Google Shape;16;p29" descr="Red, blue grey white pattern backgroun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>
          <p15:clr>
            <a:srgbClr val="5ACBF0"/>
          </p15:clr>
        </p15:guide>
        <p15:guide id="4" orient="horz" pos="2487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s">
  <p:cSld name="Questio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body" idx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20" name="Google Shape;20;p30" descr="Red, blue grey white pattern backgroun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verview">
  <p:cSld name="Overview">
    <p:bg>
      <p:bgPr>
        <a:solidFill>
          <a:schemeClr val="accent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1" descr="White Striped backgroun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1"/>
          <p:cNvSpPr txBox="1"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body" idx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>
          <p15:clr>
            <a:srgbClr val="5ACBF0"/>
          </p15:clr>
        </p15:guide>
        <p15:guide id="4" orient="horz" pos="248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 txBox="1"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32"/>
          <p:cNvSpPr txBox="1">
            <a:spLocks noGrp="1"/>
          </p:cNvSpPr>
          <p:nvPr>
            <p:ph type="body" idx="1"/>
          </p:nvPr>
        </p:nvSpPr>
        <p:spPr>
          <a:xfrm>
            <a:off x="762000" y="1432562"/>
            <a:ext cx="10667999" cy="115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28" name="Google Shape;28;p32"/>
          <p:cNvSpPr>
            <a:spLocks noGrp="1"/>
          </p:cNvSpPr>
          <p:nvPr>
            <p:ph type="tbl" idx="2"/>
          </p:nvPr>
        </p:nvSpPr>
        <p:spPr>
          <a:xfrm>
            <a:off x="757381" y="2591662"/>
            <a:ext cx="10667999" cy="283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attrocento Sans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29" name="Google Shape;29;p32" descr="Red, blue grey white pattern backgroun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Pattern Content">
  <p:cSld name="Left Pattern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 txBox="1"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body" idx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33" name="Google Shape;33;p33" descr="Red, blue grey white pattern backgroun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>
          <p15:clr>
            <a:srgbClr val="5ACBF0"/>
          </p15:clr>
        </p15:guide>
        <p15:guide id="3" orient="horz" pos="2240">
          <p15:clr>
            <a:srgbClr val="5ACBF0"/>
          </p15:clr>
        </p15:guide>
        <p15:guide id="4" orient="horz" pos="2487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rt Art">
  <p:cSld name="Smart Ar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9393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rgbClr val="93939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body" idx="1"/>
          </p:nvPr>
        </p:nvSpPr>
        <p:spPr>
          <a:xfrm>
            <a:off x="762000" y="1432562"/>
            <a:ext cx="10667999" cy="92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37" name="Google Shape;37;p34"/>
          <p:cNvSpPr>
            <a:spLocks noGrp="1"/>
          </p:cNvSpPr>
          <p:nvPr>
            <p:ph type="dgm" idx="2"/>
          </p:nvPr>
        </p:nvSpPr>
        <p:spPr>
          <a:xfrm>
            <a:off x="762001" y="2369129"/>
            <a:ext cx="10667998" cy="3343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38" name="Google Shape;38;p34" descr="Red, blue grey white pattern backgroun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Photo Content">
  <p:cSld name="Two Phot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title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42" name="Google Shape;42;p35"/>
          <p:cNvSpPr>
            <a:spLocks noGrp="1"/>
          </p:cNvSpPr>
          <p:nvPr>
            <p:ph type="pic" idx="2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3" name="Google Shape;43;p35"/>
          <p:cNvSpPr>
            <a:spLocks noGrp="1"/>
          </p:cNvSpPr>
          <p:nvPr>
            <p:ph type="pic" idx="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44" name="Google Shape;44;p35" descr="Red, blue grey white pattern backgroun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Pattern Content Gray title">
  <p:cSld name="Right Pattern Content Gray tit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9393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rgbClr val="93939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48" name="Google Shape;48;p36" descr="Red, blue grey white pattern backgroun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>
          <p15:clr>
            <a:srgbClr val="5ACBF0"/>
          </p15:clr>
        </p15:guide>
        <p15:guide id="4" orient="horz" pos="2487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">
  <p:cSld name="Conclusion">
    <p:bg>
      <p:bgPr>
        <a:solidFill>
          <a:schemeClr val="accen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7" descr="Picture placeholder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body" idx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>
          <p15:clr>
            <a:srgbClr val="5ACBF0"/>
          </p15:clr>
        </p15:guide>
        <p15:guide id="4" orient="horz" pos="24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Pattern Content Blue title">
  <p:cSld name="Left Pattern Content Blue 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  <a:defRPr sz="4000" b="1" i="0" u="none" strike="noStrike" cap="non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body" idx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56" name="Google Shape;56;p38" descr="Red, blue grey white pattern backgroun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>
          <p15:clr>
            <a:srgbClr val="5ACBF0"/>
          </p15:clr>
        </p15:guide>
        <p15:guide id="3" orient="horz" pos="2240">
          <p15:clr>
            <a:srgbClr val="5ACBF0"/>
          </p15:clr>
        </p15:guide>
        <p15:guide id="4" orient="horz" pos="2487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7833/2022.1.ECO.002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thefivecoatconsultinggroup.com/the-coronavirus-crisis/leadership-shadow" TargetMode="External"/><Relationship Id="rId5" Type="http://schemas.openxmlformats.org/officeDocument/2006/relationships/hyperlink" Target="https://businessleadershiptoday.com/how-leaders-influence-culture/#:~:text=Leaders%20profoundly%20influence%20culture%20by,strategically%20imperative%20for%20sustained%20excellence." TargetMode="External"/><Relationship Id="rId4" Type="http://schemas.openxmlformats.org/officeDocument/2006/relationships/hyperlink" Target="https://www.linkedin.com/pulse/how-leaders-influence-organizational-culture-mike-desmarai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title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Quattrocento Sans"/>
              <a:buNone/>
            </a:pPr>
            <a:r>
              <a:rPr lang="hu-HU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Szervezeti kultúra és a vezetés kapcsolata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Előadók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Google Shape;68;p2"/>
          <p:cNvSpPr txBox="1">
            <a:spLocks noGrp="1"/>
          </p:cNvSpPr>
          <p:nvPr>
            <p:ph type="body" idx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Aizenpreisz Oszkár (KVCJ4F)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Pócsik Dénes (OFNIW2)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Quattrocento Sans"/>
              <a:buNone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Az előadás fő kérdései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Google Shape;74;p3"/>
          <p:cNvSpPr txBox="1">
            <a:spLocks noGrp="1"/>
          </p:cNvSpPr>
          <p:nvPr>
            <p:ph type="body" idx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Mi a szervezeti kultúra?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Hogyan hat a szervezeti kultúra a munkavállalókra?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Hogyan formálhatja egy vezető a szervezeti kultúrát?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Szervezeti kultúra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762000" y="722314"/>
            <a:ext cx="10591800" cy="64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Quattrocento Sans"/>
              <a:buNone/>
            </a:pPr>
            <a:r>
              <a:rPr lang="hu-HU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Szervezeti kultúra</a:t>
            </a:r>
            <a:endParaRPr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762000" y="1772903"/>
            <a:ext cx="10668000" cy="3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900"/>
              <a:buChar char="-"/>
            </a:pPr>
            <a:r>
              <a:rPr lang="hu-HU" sz="1900" dirty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vállalat működésének lényegi eleme</a:t>
            </a:r>
            <a:endParaRPr sz="1900" dirty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900"/>
              <a:buChar char="-"/>
            </a:pPr>
            <a:r>
              <a:rPr lang="hu-HU" sz="1900" dirty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meghatározza: </a:t>
            </a:r>
            <a:endParaRPr sz="1900" dirty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900"/>
              <a:buChar char="-"/>
            </a:pPr>
            <a:r>
              <a:rPr lang="hu-HU" sz="1900" dirty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emberek közötti viszonyokat</a:t>
            </a:r>
            <a:endParaRPr sz="1900" dirty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900"/>
              <a:buChar char="-"/>
            </a:pPr>
            <a:r>
              <a:rPr lang="hu-HU" sz="1900" dirty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az értékrendet</a:t>
            </a:r>
            <a:endParaRPr sz="1900" dirty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900"/>
              <a:buChar char="-"/>
            </a:pPr>
            <a:r>
              <a:rPr lang="hu-HU" sz="1900" dirty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a munkavégzés módját</a:t>
            </a:r>
            <a:endParaRPr sz="1900" dirty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900"/>
              <a:buFont typeface="Arial"/>
              <a:buChar char="-"/>
            </a:pPr>
            <a:r>
              <a:rPr lang="hu-HU" sz="1900" dirty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Hatással van az alkalmazottak:</a:t>
            </a:r>
            <a:endParaRPr sz="1900" dirty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900"/>
              <a:buFont typeface="Arial"/>
              <a:buChar char="-"/>
            </a:pPr>
            <a:r>
              <a:rPr lang="hu-HU" sz="1900" dirty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hozzáállására</a:t>
            </a:r>
            <a:endParaRPr sz="1900" dirty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900"/>
              <a:buFont typeface="Arial"/>
              <a:buChar char="-"/>
            </a:pPr>
            <a:r>
              <a:rPr lang="hu-HU" sz="1900" dirty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elkötelezettségére </a:t>
            </a:r>
            <a:endParaRPr sz="1900" dirty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900"/>
              <a:buFont typeface="Arial"/>
              <a:buChar char="-"/>
            </a:pPr>
            <a:r>
              <a:rPr lang="hu-HU" sz="1900" dirty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hatékonyságára</a:t>
            </a:r>
            <a:endParaRPr sz="1900" dirty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1200" y="1522424"/>
            <a:ext cx="4702612" cy="332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4785225" y="715950"/>
            <a:ext cx="7406700" cy="1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Milyen egy jó szervezeti kultúra?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nem kell félni a hibázástól</a:t>
            </a:r>
            <a:endParaRPr b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mernek kísérletezni, kreatívnak lenni</a:t>
            </a:r>
            <a:endParaRPr b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teret ad tehetségnek és a dolgozni akarásnak</a:t>
            </a:r>
            <a:endParaRPr b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megjutalmaz</a:t>
            </a:r>
            <a:endParaRPr b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>
            <a:spLocks noGrp="1"/>
          </p:cNvSpPr>
          <p:nvPr>
            <p:ph type="title"/>
          </p:nvPr>
        </p:nvSpPr>
        <p:spPr>
          <a:xfrm>
            <a:off x="2503500" y="270050"/>
            <a:ext cx="7185000" cy="13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A szervezeti kultúra elemei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</a:pPr>
            <a:r>
              <a:rPr lang="hu-HU" sz="2900">
                <a:latin typeface="Segoe UI" panose="020B0502040204020203" pitchFamily="34" charset="0"/>
                <a:cs typeface="Segoe UI" panose="020B0502040204020203" pitchFamily="34" charset="0"/>
              </a:rPr>
              <a:t>(Jéghegy-modell)</a:t>
            </a:r>
            <a:endParaRPr sz="2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79975" y="1904875"/>
            <a:ext cx="49821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Vízszint feletti jellemzők: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800"/>
              <a:buFont typeface="Quattrocento Sans"/>
              <a:buChar char="-"/>
            </a:pPr>
            <a:r>
              <a:rPr lang="hu-HU" b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Vállalat épülete, berendezése, a közös terek</a:t>
            </a:r>
            <a:endParaRPr b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800"/>
              <a:buFont typeface="Quattrocento Sans"/>
              <a:buChar char="-"/>
            </a:pPr>
            <a:r>
              <a:rPr lang="hu-HU" b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 csapatépítő programok, ünnepek</a:t>
            </a:r>
            <a:endParaRPr b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800"/>
              <a:buFont typeface="Quattrocento Sans"/>
              <a:buChar char="-"/>
            </a:pPr>
            <a:r>
              <a:rPr lang="hu-HU" b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Az emberek viselkedése</a:t>
            </a:r>
            <a:endParaRPr b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800"/>
              <a:buFont typeface="Quattrocento Sans"/>
              <a:buChar char="-"/>
            </a:pPr>
            <a:r>
              <a:rPr lang="hu-HU" b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Az iroda elrendezése (és a nyitott ajtók száma)</a:t>
            </a:r>
            <a:endParaRPr b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800"/>
              <a:buFont typeface="Quattrocento Sans"/>
              <a:buChar char="-"/>
            </a:pPr>
            <a:r>
              <a:rPr lang="hu-HU" b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 kollégák öltözködése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" name="Google Shape;102;p8"/>
          <p:cNvPicPr preferRelativeResize="0"/>
          <p:nvPr/>
        </p:nvPicPr>
        <p:blipFill rotWithShape="1">
          <a:blip r:embed="rId3">
            <a:alphaModFix/>
          </a:blip>
          <a:srcRect r="45722"/>
          <a:stretch/>
        </p:blipFill>
        <p:spPr>
          <a:xfrm>
            <a:off x="5044425" y="1790700"/>
            <a:ext cx="2103150" cy="269146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  <p:sp>
        <p:nvSpPr>
          <p:cNvPr id="103" name="Google Shape;103;p8"/>
          <p:cNvSpPr txBox="1">
            <a:spLocks noGrp="1"/>
          </p:cNvSpPr>
          <p:nvPr>
            <p:ph type="body" idx="1"/>
          </p:nvPr>
        </p:nvSpPr>
        <p:spPr>
          <a:xfrm>
            <a:off x="7147575" y="1904875"/>
            <a:ext cx="49821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Vízszint alatti jellemzők: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800"/>
              <a:buFont typeface="Quattrocento Sans"/>
              <a:buChar char="-"/>
            </a:pPr>
            <a:r>
              <a:rPr lang="hu-HU" b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 normák, elvárt magatartásformák,</a:t>
            </a:r>
            <a:endParaRPr b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800"/>
              <a:buFont typeface="Quattrocento Sans"/>
              <a:buChar char="-"/>
            </a:pPr>
            <a:r>
              <a:rPr lang="hu-HU" b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Az értékrendszer,</a:t>
            </a:r>
            <a:endParaRPr b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A03"/>
              </a:buClr>
              <a:buSzPts val="1800"/>
              <a:buFont typeface="Quattrocento Sans"/>
              <a:buChar char="-"/>
            </a:pPr>
            <a:r>
              <a:rPr lang="hu-HU" b="0">
                <a:solidFill>
                  <a:srgbClr val="132A03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 kollégák érzései a vállalat irányába (pozitív vagy negatív érzések vannak-e a dolgozókban, amiért ott dolgozhatnak?)</a:t>
            </a:r>
            <a:endParaRPr b="0">
              <a:solidFill>
                <a:srgbClr val="132A03"/>
              </a:solidFill>
              <a:highlight>
                <a:srgbClr val="FFFFFF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1525301" y="1379914"/>
            <a:ext cx="9141397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Szervezeti kultúra hatása a munkavállalókra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Google Shape;109;p10"/>
          <p:cNvSpPr txBox="1">
            <a:spLocks noGrp="1"/>
          </p:cNvSpPr>
          <p:nvPr>
            <p:ph type="body" idx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Rossz szervezeti kultúra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body" idx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Char char="-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Csökkent motiváció</a:t>
            </a:r>
            <a:endParaRPr b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Char char="-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Magas stresszszint</a:t>
            </a:r>
            <a:endParaRPr b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Char char="-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Magas fluktuáció</a:t>
            </a:r>
            <a:endParaRPr b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Char char="-"/>
            </a:pPr>
            <a:r>
              <a:rPr lang="hu-HU" b="0">
                <a:solidFill>
                  <a:srgbClr val="0D0D0D"/>
                </a:solidFill>
                <a:highlight>
                  <a:srgbClr val="FFFFFF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Alacsony teljesítmény és hatékonyság</a:t>
            </a:r>
            <a:endParaRPr b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Jó szervezeti kultúra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2" name="Google Shape;122;p11"/>
          <p:cNvSpPr txBox="1">
            <a:spLocks noGrp="1"/>
          </p:cNvSpPr>
          <p:nvPr>
            <p:ph type="body" idx="1"/>
          </p:nvPr>
        </p:nvSpPr>
        <p:spPr>
          <a:xfrm>
            <a:off x="762000" y="1494069"/>
            <a:ext cx="10668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Char char="-"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Motiválttá teszi a munkavállalókat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Char char="-"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Magasabb teljesítmény és hatékonyság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Magasabb fokú elégedettség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Eredmény: szervezeti hűség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-&gt; pozitív élmények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3" name="Google Shape;12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0" y="1362294"/>
            <a:ext cx="487680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>
            <a:spLocks noGrp="1"/>
          </p:cNvSpPr>
          <p:nvPr>
            <p:ph type="title"/>
          </p:nvPr>
        </p:nvSpPr>
        <p:spPr>
          <a:xfrm>
            <a:off x="1525301" y="1379914"/>
            <a:ext cx="9141397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A Vezetők szerepe a kultúra formálásában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body" idx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Quattrocento Sans"/>
              <a:buNone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Vezető a szervezeti kultúrában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5199742" y="715961"/>
            <a:ext cx="6477000" cy="1633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Kultúra formálás módjai a vezető hatalmi forrásai szerint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5199743" y="2349500"/>
            <a:ext cx="6477000" cy="2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Pozíciós hatalom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Egyéni és csoportcélok meghatározása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Folyamatok fejlesztése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Szabályzatok, etikai kódex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Kapcsolati hatalom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Pozitív munkahelyi légkör megteremtésével.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Vállalati alapelvek levetítése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" name="Content Placeholder 6" descr="key people SmartArt Graphic">
            <a:extLst>
              <a:ext uri="{FF2B5EF4-FFF2-40B4-BE49-F238E27FC236}">
                <a16:creationId xmlns:a16="http://schemas.microsoft.com/office/drawing/2014/main" id="{15B5A8D1-7F07-978E-8F1A-E056869028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7131228"/>
              </p:ext>
            </p:extLst>
          </p:nvPr>
        </p:nvGraphicFramePr>
        <p:xfrm>
          <a:off x="762000" y="1466850"/>
          <a:ext cx="10668000" cy="4495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Vállalati alapelvek levetítése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" name="Content Placeholder 6" descr="key people SmartArt Graphic">
            <a:extLst>
              <a:ext uri="{FF2B5EF4-FFF2-40B4-BE49-F238E27FC236}">
                <a16:creationId xmlns:a16="http://schemas.microsoft.com/office/drawing/2014/main" id="{15B5A8D1-7F07-978E-8F1A-E056869028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1597921"/>
              </p:ext>
            </p:extLst>
          </p:nvPr>
        </p:nvGraphicFramePr>
        <p:xfrm>
          <a:off x="762000" y="1466850"/>
          <a:ext cx="10668000" cy="4495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32184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>
            <a:spLocks noGrp="1"/>
          </p:cNvSpPr>
          <p:nvPr>
            <p:ph type="title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A vezető árnyéka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5" name="Google Shape;175;p21"/>
          <p:cNvSpPr txBox="1">
            <a:spLocks noGrp="1"/>
          </p:cNvSpPr>
          <p:nvPr>
            <p:ph type="body" idx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Pozitív, inspiráló árnyék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Közös sikerek és felelősség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Konzisztencia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Transzparencia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Asszertív kommunikáció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Humorérzék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6" name="Google Shape;176;p2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0002" b="10001"/>
          <a:stretch/>
        </p:blipFill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  <p:pic>
        <p:nvPicPr>
          <p:cNvPr id="177" name="Google Shape;177;p2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l="2853" r="2854"/>
          <a:stretch/>
        </p:blipFill>
        <p:spPr>
          <a:xfrm>
            <a:off x="6858000" y="3305541"/>
            <a:ext cx="45720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>
            <a:spLocks noGrp="1"/>
          </p:cNvSpPr>
          <p:nvPr>
            <p:ph type="title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A vezető árnyéka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3" name="Google Shape;183;p22"/>
          <p:cNvSpPr txBox="1">
            <a:spLocks noGrp="1"/>
          </p:cNvSpPr>
          <p:nvPr>
            <p:ph type="body" idx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Negatív, toxikus árnyék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 dirty="0">
                <a:latin typeface="Segoe UI" panose="020B0502040204020203" pitchFamily="34" charset="0"/>
                <a:cs typeface="Segoe UI" panose="020B0502040204020203" pitchFamily="34" charset="0"/>
              </a:rPr>
              <a:t>Felelősség hárítása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 dirty="0">
                <a:latin typeface="Segoe UI" panose="020B0502040204020203" pitchFamily="34" charset="0"/>
                <a:cs typeface="Segoe UI" panose="020B0502040204020203" pitchFamily="34" charset="0"/>
              </a:rPr>
              <a:t>Siker kisajátítása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 dirty="0">
                <a:latin typeface="Segoe UI" panose="020B0502040204020203" pitchFamily="34" charset="0"/>
                <a:cs typeface="Segoe UI" panose="020B0502040204020203" pitchFamily="34" charset="0"/>
              </a:rPr>
              <a:t>Inkonzisztencia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 dirty="0">
                <a:latin typeface="Segoe UI" panose="020B0502040204020203" pitchFamily="34" charset="0"/>
                <a:cs typeface="Segoe UI" panose="020B0502040204020203" pitchFamily="34" charset="0"/>
              </a:rPr>
              <a:t>Transzparencia hiánya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 dirty="0">
                <a:latin typeface="Segoe UI" panose="020B0502040204020203" pitchFamily="34" charset="0"/>
                <a:cs typeface="Segoe UI" panose="020B0502040204020203" pitchFamily="34" charset="0"/>
              </a:rPr>
              <a:t>Toxikus személyiség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4" name="Google Shape;184;p22" descr="Signs of a toxic workplac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1249" b="11250"/>
          <a:stretch/>
        </p:blipFill>
        <p:spPr>
          <a:xfrm>
            <a:off x="6858000" y="715963"/>
            <a:ext cx="4572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 descr="Navigating a toxic workplace when you're in HR will never be easy |  Employee Experience | HR Grapevine | Opini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l="7661" r="7660"/>
          <a:stretch/>
        </p:blipFill>
        <p:spPr>
          <a:xfrm>
            <a:off x="6858000" y="3305541"/>
            <a:ext cx="45720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4000"/>
              <a:buFont typeface="Quattrocento Sans"/>
              <a:buNone/>
            </a:pPr>
            <a:r>
              <a:rPr lang="hu-HU">
                <a:solidFill>
                  <a:srgbClr val="93939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HR részleg szerepe a kultúra formálásában </a:t>
            </a:r>
            <a:endParaRPr>
              <a:solidFill>
                <a:srgbClr val="93939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1" name="Google Shape;191;p23"/>
          <p:cNvSpPr txBox="1">
            <a:spLocks noGrp="1"/>
          </p:cNvSpPr>
          <p:nvPr>
            <p:ph type="body" idx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Viselkedési, etikai normák meghatározása, számonkérése.</a:t>
            </a:r>
            <a:endParaRPr b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Vezetői kompetenciafejlesztés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b="0">
                <a:latin typeface="Segoe UI" panose="020B0502040204020203" pitchFamily="34" charset="0"/>
                <a:cs typeface="Segoe UI" panose="020B0502040204020203" pitchFamily="34" charset="0"/>
              </a:rPr>
              <a:t>Rendezvények szervezése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Konklúzió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body" idx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Egy jó vezetőnek kötelessége a szervezeti kultúrát jól ismerni és azt tudatosan, pozitív irányba formálni.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Köszönjük a figyelmet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4" name="Google Shape;204;p25"/>
          <p:cNvSpPr txBox="1">
            <a:spLocks noGrp="1"/>
          </p:cNvSpPr>
          <p:nvPr>
            <p:ph type="body" idx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Várjuk a kérdéseket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Quattrocento Sans"/>
              <a:buNone/>
            </a:pPr>
            <a:r>
              <a:rPr lang="hu-HU">
                <a:latin typeface="Segoe UI" panose="020B0502040204020203" pitchFamily="34" charset="0"/>
                <a:cs typeface="Segoe UI" panose="020B0502040204020203" pitchFamily="34" charset="0"/>
              </a:rPr>
              <a:t>Források</a:t>
            </a: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1" name="Google Shape;211;p26"/>
          <p:cNvSpPr txBox="1">
            <a:spLocks noGrp="1"/>
          </p:cNvSpPr>
          <p:nvPr>
            <p:ph type="body" idx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Quattrocento Sans"/>
              <a:buAutoNum type="arabicPeriod"/>
            </a:pPr>
            <a:r>
              <a:rPr lang="hu-HU" sz="1000" b="0" i="1" u="none" strike="noStrike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</a:rPr>
              <a:t>Szabó Tamás, Molnár Edina</a:t>
            </a:r>
            <a:r>
              <a:rPr lang="hu-HU" sz="1000" b="0" i="1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</a:rPr>
              <a:t> (2022)</a:t>
            </a:r>
            <a:r>
              <a:rPr lang="hu-HU" sz="1000" b="0" i="0" u="none" strike="noStrike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</a:rPr>
              <a:t> A szervezeti kultúra és a vezetés kapcsolata </a:t>
            </a:r>
            <a:r>
              <a:rPr lang="hu-HU" sz="1000" b="0" i="0" u="sng" strike="noStrike" dirty="0">
                <a:solidFill>
                  <a:srgbClr val="0000FF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https://doi.org/10.47833/2022.1.ECO.002</a:t>
            </a:r>
            <a:endParaRPr sz="1000" b="0" i="0" u="none" strike="noStrike" dirty="0">
              <a:solidFill>
                <a:srgbClr val="0000FF"/>
              </a:solidFill>
              <a:latin typeface="+mj-lt"/>
              <a:ea typeface="Arial"/>
              <a:cs typeface="Segoe UI" panose="020B0502040204020203" pitchFamily="34" charset="0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Quattrocento Sans"/>
              <a:buAutoNum type="arabicPeriod"/>
            </a:pP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leaders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influence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organizational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culture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sz="1000" b="0" i="1" dirty="0">
              <a:solidFill>
                <a:srgbClr val="000000"/>
              </a:solidFill>
              <a:latin typeface="+mj-lt"/>
              <a:ea typeface="Arial"/>
              <a:cs typeface="Segoe UI" panose="020B0502040204020203" pitchFamily="34" charset="0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Quattrocento Sans"/>
              <a:buAutoNum type="arabicPeriod"/>
            </a:pP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Leaders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Influence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Culture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The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Crucial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Role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Leadership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Shaping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Organizational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Culture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Business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Leadership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Today</a:t>
            </a:r>
            <a:endParaRPr sz="1000" b="0" i="1" dirty="0">
              <a:solidFill>
                <a:srgbClr val="000000"/>
              </a:solidFill>
              <a:latin typeface="+mj-lt"/>
              <a:ea typeface="Arial"/>
              <a:cs typeface="Segoe UI" panose="020B0502040204020203" pitchFamily="34" charset="0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Quattrocento Sans"/>
              <a:buAutoNum type="arabicPeriod"/>
            </a:pP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is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Leadership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Shadow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 — The </a:t>
            </a:r>
            <a:r>
              <a:rPr lang="hu-HU" sz="1000" b="0" i="1" u="sng" dirty="0" err="1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Fivecoat</a:t>
            </a:r>
            <a:r>
              <a:rPr lang="hu-HU" sz="1000" b="0" i="1" u="sng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Consulting Group</a:t>
            </a:r>
            <a:endParaRPr sz="1000" b="0" i="1" dirty="0">
              <a:solidFill>
                <a:srgbClr val="000000"/>
              </a:solidFill>
              <a:latin typeface="+mj-lt"/>
              <a:ea typeface="Arial"/>
              <a:cs typeface="Segoe UI" panose="020B0502040204020203" pitchFamily="34" charset="0"/>
              <a:sym typeface="Arial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hu-HU" sz="1000" b="0" i="1" dirty="0">
                <a:solidFill>
                  <a:srgbClr val="000000"/>
                </a:solidFill>
                <a:latin typeface="+mj-lt"/>
                <a:ea typeface="Arial"/>
                <a:cs typeface="Segoe UI" panose="020B0502040204020203" pitchFamily="34" charset="0"/>
                <a:sym typeface="Arial"/>
              </a:rPr>
              <a:t>https://tudasportal.uni-nke.hu/xmlui/bitstream/handle/20.500.12944/10442/Teljes%20sz%C3%B6veg%21?sequence=2&amp;amp;isAllowed=y</a:t>
            </a:r>
            <a:endParaRPr sz="1000" b="0" i="1" dirty="0">
              <a:solidFill>
                <a:srgbClr val="000000"/>
              </a:solidFill>
              <a:latin typeface="+mj-lt"/>
              <a:ea typeface="Arial"/>
              <a:cs typeface="Segoe UI" panose="020B0502040204020203" pitchFamily="34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430</Words>
  <Application>Microsoft Office PowerPoint</Application>
  <PresentationFormat>Widescreen</PresentationFormat>
  <Paragraphs>101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Segoe UI</vt:lpstr>
      <vt:lpstr>Arial</vt:lpstr>
      <vt:lpstr>Quattrocento Sans</vt:lpstr>
      <vt:lpstr>Office Theme</vt:lpstr>
      <vt:lpstr>Szervezeti kultúra és a vezetés kapcsolata</vt:lpstr>
      <vt:lpstr>Előadók</vt:lpstr>
      <vt:lpstr>Az előadás fő kérdései</vt:lpstr>
      <vt:lpstr>Szervezeti kultúra</vt:lpstr>
      <vt:lpstr>Szervezeti kultúra</vt:lpstr>
      <vt:lpstr>Milyen egy jó szervezeti kultúra?</vt:lpstr>
      <vt:lpstr>A szervezeti kultúra elemei (Jéghegy-modell)</vt:lpstr>
      <vt:lpstr>Szervezeti kultúra hatása a munkavállalókra</vt:lpstr>
      <vt:lpstr>Rossz szervezeti kultúra</vt:lpstr>
      <vt:lpstr>Jó szervezeti kultúra</vt:lpstr>
      <vt:lpstr>A Vezetők szerepe a kultúra formálásában</vt:lpstr>
      <vt:lpstr>Vezető a szervezeti kultúrában</vt:lpstr>
      <vt:lpstr>Kultúra formálás módjai a vezető hatalmi forrásai szerint</vt:lpstr>
      <vt:lpstr>Vállalati alapelvek levetítése</vt:lpstr>
      <vt:lpstr>Vállalati alapelvek levetítése</vt:lpstr>
      <vt:lpstr>A vezető árnyéka</vt:lpstr>
      <vt:lpstr>A vezető árnyéka</vt:lpstr>
      <vt:lpstr>HR részleg szerepe a kultúra formálásában </vt:lpstr>
      <vt:lpstr>Konklúzió</vt:lpstr>
      <vt:lpstr>Köszönjük a figyelmet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Szervezeti kultúra és a vezetés kapcsolata</dc:title>
  <dc:creator>Dénes Pócsik</dc:creator>
  <cp:lastModifiedBy>Dénes Pócsik</cp:lastModifiedBy>
  <cp:revision>13</cp:revision>
  <dcterms:created xsi:type="dcterms:W3CDTF">2024-04-18T17:58:55Z</dcterms:created>
  <dcterms:modified xsi:type="dcterms:W3CDTF">2024-04-19T20:18:03Z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