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68" r:id="rId3"/>
    <p:sldId id="269" r:id="rId4"/>
    <p:sldId id="270" r:id="rId5"/>
    <p:sldId id="271" r:id="rId6"/>
    <p:sldId id="278" r:id="rId7"/>
    <p:sldId id="279" r:id="rId8"/>
    <p:sldId id="280" r:id="rId9"/>
    <p:sldId id="284" r:id="rId10"/>
    <p:sldId id="281" r:id="rId11"/>
    <p:sldId id="282" r:id="rId12"/>
    <p:sldId id="283" r:id="rId13"/>
    <p:sldId id="272" r:id="rId14"/>
    <p:sldId id="273" r:id="rId15"/>
    <p:sldId id="274" r:id="rId16"/>
    <p:sldId id="275" r:id="rId17"/>
    <p:sldId id="276" r:id="rId18"/>
    <p:sldId id="262" r:id="rId19"/>
  </p:sldIdLst>
  <p:sldSz cx="12192000" cy="6858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8E1A94-ABD1-4F03-8AF7-37E701506519}" type="datetimeFigureOut">
              <a:rPr lang="hu-HU" smtClean="0"/>
              <a:t>2024. 04. 13.</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AF5D23-41B7-4B5A-875B-DBCDF1EA9C4F}" type="slidenum">
              <a:rPr lang="hu-HU" smtClean="0"/>
              <a:t>‹#›</a:t>
            </a:fld>
            <a:endParaRPr lang="hu-HU"/>
          </a:p>
        </p:txBody>
      </p:sp>
    </p:spTree>
    <p:extLst>
      <p:ext uri="{BB962C8B-B14F-4D97-AF65-F5344CB8AC3E}">
        <p14:creationId xmlns:p14="http://schemas.microsoft.com/office/powerpoint/2010/main" val="1786156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hu-HU" altLang="hu-HU" smtClean="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18"/>
              </a:defRPr>
            </a:lvl1pPr>
            <a:lvl2pPr marL="742950" indent="-285750">
              <a:defRPr>
                <a:solidFill>
                  <a:schemeClr val="tx1"/>
                </a:solidFill>
                <a:latin typeface="Tw Cen MT" panose="020B0602020104020603" pitchFamily="34" charset="-18"/>
              </a:defRPr>
            </a:lvl2pPr>
            <a:lvl3pPr marL="1143000" indent="-228600">
              <a:defRPr>
                <a:solidFill>
                  <a:schemeClr val="tx1"/>
                </a:solidFill>
                <a:latin typeface="Tw Cen MT" panose="020B0602020104020603" pitchFamily="34" charset="-18"/>
              </a:defRPr>
            </a:lvl3pPr>
            <a:lvl4pPr marL="1600200" indent="-228600">
              <a:defRPr>
                <a:solidFill>
                  <a:schemeClr val="tx1"/>
                </a:solidFill>
                <a:latin typeface="Tw Cen MT" panose="020B0602020104020603" pitchFamily="34" charset="-18"/>
              </a:defRPr>
            </a:lvl4pPr>
            <a:lvl5pPr marL="2057400" indent="-228600">
              <a:defRPr>
                <a:solidFill>
                  <a:schemeClr val="tx1"/>
                </a:solidFill>
                <a:latin typeface="Tw Cen MT" panose="020B0602020104020603" pitchFamily="34" charset="-18"/>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18"/>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18"/>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18"/>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18"/>
              </a:defRPr>
            </a:lvl9pPr>
          </a:lstStyle>
          <a:p>
            <a:fld id="{D1899D8F-78AD-40D9-80BB-33B654E3AC5D}" type="slidenum">
              <a:rPr lang="en-US" altLang="hu-HU">
                <a:latin typeface="Calibri" panose="020F0502020204030204" pitchFamily="34" charset="0"/>
              </a:rPr>
              <a:pPr/>
              <a:t>2</a:t>
            </a:fld>
            <a:endParaRPr lang="en-US" altLang="hu-HU">
              <a:latin typeface="Calibri" panose="020F0502020204030204" pitchFamily="34" charset="0"/>
            </a:endParaRPr>
          </a:p>
        </p:txBody>
      </p:sp>
    </p:spTree>
    <p:extLst>
      <p:ext uri="{BB962C8B-B14F-4D97-AF65-F5344CB8AC3E}">
        <p14:creationId xmlns:p14="http://schemas.microsoft.com/office/powerpoint/2010/main" val="1872988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hu-HU" altLang="hu-HU" smtClean="0"/>
          </a:p>
        </p:txBody>
      </p:sp>
      <p:sp>
        <p:nvSpPr>
          <p:cNvPr id="389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18"/>
              </a:defRPr>
            </a:lvl1pPr>
            <a:lvl2pPr marL="742950" indent="-285750">
              <a:defRPr>
                <a:solidFill>
                  <a:schemeClr val="tx1"/>
                </a:solidFill>
                <a:latin typeface="Tw Cen MT" panose="020B0602020104020603" pitchFamily="34" charset="-18"/>
              </a:defRPr>
            </a:lvl2pPr>
            <a:lvl3pPr marL="1143000" indent="-228600">
              <a:defRPr>
                <a:solidFill>
                  <a:schemeClr val="tx1"/>
                </a:solidFill>
                <a:latin typeface="Tw Cen MT" panose="020B0602020104020603" pitchFamily="34" charset="-18"/>
              </a:defRPr>
            </a:lvl3pPr>
            <a:lvl4pPr marL="1600200" indent="-228600">
              <a:defRPr>
                <a:solidFill>
                  <a:schemeClr val="tx1"/>
                </a:solidFill>
                <a:latin typeface="Tw Cen MT" panose="020B0602020104020603" pitchFamily="34" charset="-18"/>
              </a:defRPr>
            </a:lvl4pPr>
            <a:lvl5pPr marL="2057400" indent="-228600">
              <a:defRPr>
                <a:solidFill>
                  <a:schemeClr val="tx1"/>
                </a:solidFill>
                <a:latin typeface="Tw Cen MT" panose="020B0602020104020603" pitchFamily="34" charset="-18"/>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18"/>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18"/>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18"/>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18"/>
              </a:defRPr>
            </a:lvl9pPr>
          </a:lstStyle>
          <a:p>
            <a:fld id="{D51987F7-2756-4EA6-A965-A0B5001A9CAE}" type="slidenum">
              <a:rPr lang="en-US" altLang="hu-HU">
                <a:latin typeface="Calibri" panose="020F0502020204030204" pitchFamily="34" charset="0"/>
              </a:rPr>
              <a:pPr/>
              <a:t>3</a:t>
            </a:fld>
            <a:endParaRPr lang="en-US" altLang="hu-HU">
              <a:latin typeface="Calibri" panose="020F0502020204030204" pitchFamily="34" charset="0"/>
            </a:endParaRPr>
          </a:p>
        </p:txBody>
      </p:sp>
    </p:spTree>
    <p:extLst>
      <p:ext uri="{BB962C8B-B14F-4D97-AF65-F5344CB8AC3E}">
        <p14:creationId xmlns:p14="http://schemas.microsoft.com/office/powerpoint/2010/main" val="2660442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hu-HU" altLang="hu-HU" smtClean="0"/>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18"/>
              </a:defRPr>
            </a:lvl1pPr>
            <a:lvl2pPr marL="742950" indent="-285750">
              <a:defRPr>
                <a:solidFill>
                  <a:schemeClr val="tx1"/>
                </a:solidFill>
                <a:latin typeface="Tw Cen MT" panose="020B0602020104020603" pitchFamily="34" charset="-18"/>
              </a:defRPr>
            </a:lvl2pPr>
            <a:lvl3pPr marL="1143000" indent="-228600">
              <a:defRPr>
                <a:solidFill>
                  <a:schemeClr val="tx1"/>
                </a:solidFill>
                <a:latin typeface="Tw Cen MT" panose="020B0602020104020603" pitchFamily="34" charset="-18"/>
              </a:defRPr>
            </a:lvl3pPr>
            <a:lvl4pPr marL="1600200" indent="-228600">
              <a:defRPr>
                <a:solidFill>
                  <a:schemeClr val="tx1"/>
                </a:solidFill>
                <a:latin typeface="Tw Cen MT" panose="020B0602020104020603" pitchFamily="34" charset="-18"/>
              </a:defRPr>
            </a:lvl4pPr>
            <a:lvl5pPr marL="2057400" indent="-228600">
              <a:defRPr>
                <a:solidFill>
                  <a:schemeClr val="tx1"/>
                </a:solidFill>
                <a:latin typeface="Tw Cen MT" panose="020B0602020104020603" pitchFamily="34" charset="-18"/>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18"/>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18"/>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18"/>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18"/>
              </a:defRPr>
            </a:lvl9pPr>
          </a:lstStyle>
          <a:p>
            <a:fld id="{AD71E8F7-BD76-4D09-9AC2-B80430776881}" type="slidenum">
              <a:rPr lang="en-US" altLang="hu-HU">
                <a:latin typeface="Calibri" panose="020F0502020204030204" pitchFamily="34" charset="0"/>
              </a:rPr>
              <a:pPr/>
              <a:t>4</a:t>
            </a:fld>
            <a:endParaRPr lang="en-US" altLang="hu-HU">
              <a:latin typeface="Calibri" panose="020F0502020204030204" pitchFamily="34" charset="0"/>
            </a:endParaRPr>
          </a:p>
        </p:txBody>
      </p:sp>
    </p:spTree>
    <p:extLst>
      <p:ext uri="{BB962C8B-B14F-4D97-AF65-F5344CB8AC3E}">
        <p14:creationId xmlns:p14="http://schemas.microsoft.com/office/powerpoint/2010/main" val="3861258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hu-HU" altLang="hu-HU" smtClean="0"/>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18"/>
              </a:defRPr>
            </a:lvl1pPr>
            <a:lvl2pPr marL="742950" indent="-285750">
              <a:defRPr>
                <a:solidFill>
                  <a:schemeClr val="tx1"/>
                </a:solidFill>
                <a:latin typeface="Tw Cen MT" panose="020B0602020104020603" pitchFamily="34" charset="-18"/>
              </a:defRPr>
            </a:lvl2pPr>
            <a:lvl3pPr marL="1143000" indent="-228600">
              <a:defRPr>
                <a:solidFill>
                  <a:schemeClr val="tx1"/>
                </a:solidFill>
                <a:latin typeface="Tw Cen MT" panose="020B0602020104020603" pitchFamily="34" charset="-18"/>
              </a:defRPr>
            </a:lvl3pPr>
            <a:lvl4pPr marL="1600200" indent="-228600">
              <a:defRPr>
                <a:solidFill>
                  <a:schemeClr val="tx1"/>
                </a:solidFill>
                <a:latin typeface="Tw Cen MT" panose="020B0602020104020603" pitchFamily="34" charset="-18"/>
              </a:defRPr>
            </a:lvl4pPr>
            <a:lvl5pPr marL="2057400" indent="-228600">
              <a:defRPr>
                <a:solidFill>
                  <a:schemeClr val="tx1"/>
                </a:solidFill>
                <a:latin typeface="Tw Cen MT" panose="020B0602020104020603" pitchFamily="34" charset="-18"/>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18"/>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18"/>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18"/>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18"/>
              </a:defRPr>
            </a:lvl9pPr>
          </a:lstStyle>
          <a:p>
            <a:fld id="{74A073BB-5CD8-434A-872F-FD97FDA6298E}" type="slidenum">
              <a:rPr lang="en-US" altLang="hu-HU">
                <a:latin typeface="Calibri" panose="020F0502020204030204" pitchFamily="34" charset="0"/>
              </a:rPr>
              <a:pPr/>
              <a:t>5</a:t>
            </a:fld>
            <a:endParaRPr lang="en-US" altLang="hu-HU">
              <a:latin typeface="Calibri" panose="020F0502020204030204" pitchFamily="34" charset="0"/>
            </a:endParaRPr>
          </a:p>
        </p:txBody>
      </p:sp>
    </p:spTree>
    <p:extLst>
      <p:ext uri="{BB962C8B-B14F-4D97-AF65-F5344CB8AC3E}">
        <p14:creationId xmlns:p14="http://schemas.microsoft.com/office/powerpoint/2010/main" val="3432135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w Cen MT" panose="020B0602020104020603" pitchFamily="34" charset="0"/>
              </a:defRPr>
            </a:lvl1pPr>
            <a:lvl2pPr marL="742950" indent="-285750">
              <a:defRPr>
                <a:solidFill>
                  <a:schemeClr val="tx1"/>
                </a:solidFill>
                <a:latin typeface="Tw Cen MT" panose="020B0602020104020603" pitchFamily="34" charset="0"/>
              </a:defRPr>
            </a:lvl2pPr>
            <a:lvl3pPr marL="1143000" indent="-228600">
              <a:defRPr>
                <a:solidFill>
                  <a:schemeClr val="tx1"/>
                </a:solidFill>
                <a:latin typeface="Tw Cen MT" panose="020B0602020104020603" pitchFamily="34" charset="0"/>
              </a:defRPr>
            </a:lvl3pPr>
            <a:lvl4pPr marL="1600200" indent="-228600">
              <a:defRPr>
                <a:solidFill>
                  <a:schemeClr val="tx1"/>
                </a:solidFill>
                <a:latin typeface="Tw Cen MT" panose="020B0602020104020603" pitchFamily="34" charset="0"/>
              </a:defRPr>
            </a:lvl4pPr>
            <a:lvl5pPr marL="2057400" indent="-228600">
              <a:defRPr>
                <a:solidFill>
                  <a:schemeClr val="tx1"/>
                </a:solidFill>
                <a:latin typeface="Tw Cen MT" panose="020B0602020104020603" pitchFamily="34" charset="0"/>
              </a:defRPr>
            </a:lvl5pPr>
            <a:lvl6pPr marL="2514600" indent="-228600" defTabSz="457200" eaLnBrk="0" fontAlgn="base" hangingPunct="0">
              <a:spcBef>
                <a:spcPct val="0"/>
              </a:spcBef>
              <a:spcAft>
                <a:spcPct val="0"/>
              </a:spcAft>
              <a:defRPr>
                <a:solidFill>
                  <a:schemeClr val="tx1"/>
                </a:solidFill>
                <a:latin typeface="Tw Cen MT" panose="020B0602020104020603" pitchFamily="34" charset="0"/>
              </a:defRPr>
            </a:lvl6pPr>
            <a:lvl7pPr marL="2971800" indent="-228600" defTabSz="457200" eaLnBrk="0" fontAlgn="base" hangingPunct="0">
              <a:spcBef>
                <a:spcPct val="0"/>
              </a:spcBef>
              <a:spcAft>
                <a:spcPct val="0"/>
              </a:spcAft>
              <a:defRPr>
                <a:solidFill>
                  <a:schemeClr val="tx1"/>
                </a:solidFill>
                <a:latin typeface="Tw Cen MT" panose="020B0602020104020603" pitchFamily="34" charset="0"/>
              </a:defRPr>
            </a:lvl7pPr>
            <a:lvl8pPr marL="3429000" indent="-228600" defTabSz="457200" eaLnBrk="0" fontAlgn="base" hangingPunct="0">
              <a:spcBef>
                <a:spcPct val="0"/>
              </a:spcBef>
              <a:spcAft>
                <a:spcPct val="0"/>
              </a:spcAft>
              <a:defRPr>
                <a:solidFill>
                  <a:schemeClr val="tx1"/>
                </a:solidFill>
                <a:latin typeface="Tw Cen MT" panose="020B0602020104020603" pitchFamily="34" charset="0"/>
              </a:defRPr>
            </a:lvl8pPr>
            <a:lvl9pPr marL="3886200" indent="-228600" defTabSz="457200" eaLnBrk="0" fontAlgn="base" hangingPunct="0">
              <a:spcBef>
                <a:spcPct val="0"/>
              </a:spcBef>
              <a:spcAft>
                <a:spcPct val="0"/>
              </a:spcAft>
              <a:defRPr>
                <a:solidFill>
                  <a:schemeClr val="tx1"/>
                </a:solidFill>
                <a:latin typeface="Tw Cen MT" panose="020B0602020104020603" pitchFamily="34" charset="0"/>
              </a:defRPr>
            </a:lvl9pPr>
          </a:lstStyle>
          <a:p>
            <a:fld id="{A9E154FF-A3D2-4677-8C81-40E725F28E96}" type="slidenum">
              <a:rPr lang="en-US" altLang="sk-SK" smtClean="0">
                <a:latin typeface="Arial" panose="020B0604020202020204" pitchFamily="34" charset="0"/>
              </a:rPr>
              <a:pPr/>
              <a:t>12</a:t>
            </a:fld>
            <a:endParaRPr lang="en-US" altLang="sk-SK" smtClean="0">
              <a:latin typeface="Arial" panose="020B0604020202020204" pitchFamily="34" charset="0"/>
            </a:endParaRPr>
          </a:p>
        </p:txBody>
      </p:sp>
      <p:sp>
        <p:nvSpPr>
          <p:cNvPr id="747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sk-SK" smtClean="0"/>
              <a:t>Give constructive criticism. Feedback is important. But you should criticize only the behavior, not the person.  If you find yourself saying, “You never do anything right,” stop in your tracks.  Self-esteem is critical to motivation.  When you do have to provide criticism, do so in private.  It doesn’t help for others to overhear your words; it only makes the situation worse.  Fear of repercussion never causes good performance- at least not for long.  If you run your department in a finger-pointing way, your best employees won’t stay for long.  And you’re certainly not fostering open communication and teamwork, which are key motivating elements.  As a manager, you are paid to delegate and lead your team.  If you’re doing all the “work” but neglecting those duties, you need to reexamine your priorities.  Give others opportunities to learn.  Not only are you making your life easier and leading by example, but you are also helping your employees feel valued and respected. Plan for peak work periods and take advantage of temporary staffing opportunities.  Hire top performing temporary professional.  Whatever you do, don’t overload your employees for long stretches of time.  You’re giving them an invitation to find an employer who can provide a bit of balance.</a:t>
            </a:r>
          </a:p>
        </p:txBody>
      </p:sp>
    </p:spTree>
    <p:extLst>
      <p:ext uri="{BB962C8B-B14F-4D97-AF65-F5344CB8AC3E}">
        <p14:creationId xmlns:p14="http://schemas.microsoft.com/office/powerpoint/2010/main" val="3647755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dirty="0"/>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4D80450F-3B7D-4359-951D-DFD78CEE4E2F}" type="slidenum">
              <a:rPr lang="en-US" altLang="hu-HU" smtClean="0"/>
              <a:pPr/>
              <a:t>14</a:t>
            </a:fld>
            <a:endParaRPr lang="en-US" altLang="hu-HU" dirty="0"/>
          </a:p>
        </p:txBody>
      </p:sp>
    </p:spTree>
    <p:extLst>
      <p:ext uri="{BB962C8B-B14F-4D97-AF65-F5344CB8AC3E}">
        <p14:creationId xmlns:p14="http://schemas.microsoft.com/office/powerpoint/2010/main" val="1531149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dirty="0"/>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C8C2CF4-8614-4CDF-B75B-8684F721ABDA}" type="slidenum">
              <a:rPr lang="en-US" altLang="hu-HU" smtClean="0"/>
              <a:pPr/>
              <a:t>15</a:t>
            </a:fld>
            <a:endParaRPr lang="en-US" altLang="hu-HU" dirty="0"/>
          </a:p>
        </p:txBody>
      </p:sp>
    </p:spTree>
    <p:extLst>
      <p:ext uri="{BB962C8B-B14F-4D97-AF65-F5344CB8AC3E}">
        <p14:creationId xmlns:p14="http://schemas.microsoft.com/office/powerpoint/2010/main" val="2468509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dirty="0"/>
          </a:p>
        </p:txBody>
      </p:sp>
      <p:sp>
        <p:nvSpPr>
          <p:cNvPr id="49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AC5C1A9D-93B9-4EBE-AC9F-D8FDC4AF3253}" type="slidenum">
              <a:rPr lang="en-US" altLang="hu-HU" smtClean="0"/>
              <a:pPr/>
              <a:t>16</a:t>
            </a:fld>
            <a:endParaRPr lang="en-US" altLang="hu-HU" dirty="0"/>
          </a:p>
        </p:txBody>
      </p:sp>
    </p:spTree>
    <p:extLst>
      <p:ext uri="{BB962C8B-B14F-4D97-AF65-F5344CB8AC3E}">
        <p14:creationId xmlns:p14="http://schemas.microsoft.com/office/powerpoint/2010/main" val="1213253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hu-HU" smtClean="0"/>
              <a:t>Mintacím szerkesztése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hu-HU" smtClean="0"/>
              <a:t>Alcím mintájának szerkesztése</a:t>
            </a:r>
            <a:endParaRPr lang="en-US" dirty="0"/>
          </a:p>
        </p:txBody>
      </p:sp>
      <p:sp>
        <p:nvSpPr>
          <p:cNvPr id="4" name="Date Placeholder 3"/>
          <p:cNvSpPr>
            <a:spLocks noGrp="1"/>
          </p:cNvSpPr>
          <p:nvPr>
            <p:ph type="dt" sz="half" idx="10"/>
          </p:nvPr>
        </p:nvSpPr>
        <p:spPr/>
        <p:txBody>
          <a:bodyPr/>
          <a:lstStyle>
            <a:lvl1pPr algn="l">
              <a:defRPr/>
            </a:lvl1pPr>
          </a:lstStyle>
          <a:p>
            <a:fld id="{F854A171-0E1D-40EE-B5F7-D8411B7C818B}" type="datetimeFigureOut">
              <a:rPr lang="sk-SK" smtClean="0"/>
              <a:t>13. 4. 2024</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EC55A2C5-42C5-4148-8DCA-2FBED0857856}" type="slidenum">
              <a:rPr lang="sk-SK" smtClean="0"/>
              <a:t>‹#›</a:t>
            </a:fld>
            <a:endParaRPr lang="sk-SK"/>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1675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Content Placeholder 2"/>
          <p:cNvSpPr>
            <a:spLocks noGrp="1"/>
          </p:cNvSpPr>
          <p:nvPr>
            <p:ph idx="1"/>
          </p:nvPr>
        </p:nvSpPr>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F854A171-0E1D-40EE-B5F7-D8411B7C818B}" type="datetimeFigureOut">
              <a:rPr lang="sk-SK" smtClean="0"/>
              <a:t>13. 4. 2024</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EC55A2C5-42C5-4148-8DCA-2FBED0857856}" type="slidenum">
              <a:rPr lang="sk-SK" smtClean="0"/>
              <a:t>‹#›</a:t>
            </a:fld>
            <a:endParaRPr lang="sk-SK"/>
          </a:p>
        </p:txBody>
      </p:sp>
    </p:spTree>
    <p:extLst>
      <p:ext uri="{BB962C8B-B14F-4D97-AF65-F5344CB8AC3E}">
        <p14:creationId xmlns:p14="http://schemas.microsoft.com/office/powerpoint/2010/main" val="22220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zakaszfejléc">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hu-HU" smtClean="0"/>
              <a:t>Mintacím szerkesztése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F854A171-0E1D-40EE-B5F7-D8411B7C818B}" type="datetimeFigureOut">
              <a:rPr lang="sk-SK" smtClean="0"/>
              <a:t>13. 4. 2024</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EC55A2C5-42C5-4148-8DCA-2FBED0857856}" type="slidenum">
              <a:rPr lang="sk-SK" smtClean="0"/>
              <a:t>‹#›</a:t>
            </a:fld>
            <a:endParaRPr lang="sk-SK"/>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0262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hu-HU" smtClean="0"/>
              <a:t>Mintacím szerkesztése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5" name="Date Placeholder 4"/>
          <p:cNvSpPr>
            <a:spLocks noGrp="1"/>
          </p:cNvSpPr>
          <p:nvPr>
            <p:ph type="dt" sz="half" idx="10"/>
          </p:nvPr>
        </p:nvSpPr>
        <p:spPr/>
        <p:txBody>
          <a:bodyPr/>
          <a:lstStyle/>
          <a:p>
            <a:fld id="{F854A171-0E1D-40EE-B5F7-D8411B7C818B}" type="datetimeFigureOut">
              <a:rPr lang="sk-SK" smtClean="0"/>
              <a:t>13. 4. 2024</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EC55A2C5-42C5-4148-8DCA-2FBED0857856}" type="slidenum">
              <a:rPr lang="sk-SK" smtClean="0"/>
              <a:t>‹#›</a:t>
            </a:fld>
            <a:endParaRPr lang="sk-SK"/>
          </a:p>
        </p:txBody>
      </p:sp>
    </p:spTree>
    <p:extLst>
      <p:ext uri="{BB962C8B-B14F-4D97-AF65-F5344CB8AC3E}">
        <p14:creationId xmlns:p14="http://schemas.microsoft.com/office/powerpoint/2010/main" val="2579549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hu-HU" smtClean="0"/>
              <a:t>Mintacím szerkesztése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4" name="Content Placeholder 3"/>
          <p:cNvSpPr>
            <a:spLocks noGrp="1"/>
          </p:cNvSpPr>
          <p:nvPr>
            <p:ph sz="half" idx="2"/>
          </p:nvPr>
        </p:nvSpPr>
        <p:spPr>
          <a:xfrm>
            <a:off x="1024128" y="2967788"/>
            <a:ext cx="4754880" cy="3341572"/>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hu-HU" smtClean="0"/>
              <a:t>Mintaszöveg szerkesztése</a:t>
            </a:r>
          </a:p>
        </p:txBody>
      </p:sp>
      <p:sp>
        <p:nvSpPr>
          <p:cNvPr id="6" name="Content Placeholder 5"/>
          <p:cNvSpPr>
            <a:spLocks noGrp="1"/>
          </p:cNvSpPr>
          <p:nvPr>
            <p:ph sz="quarter" idx="4"/>
          </p:nvPr>
        </p:nvSpPr>
        <p:spPr>
          <a:xfrm>
            <a:off x="5990888" y="2967788"/>
            <a:ext cx="4754880" cy="3341572"/>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7" name="Date Placeholder 6"/>
          <p:cNvSpPr>
            <a:spLocks noGrp="1"/>
          </p:cNvSpPr>
          <p:nvPr>
            <p:ph type="dt" sz="half" idx="10"/>
          </p:nvPr>
        </p:nvSpPr>
        <p:spPr/>
        <p:txBody>
          <a:bodyPr/>
          <a:lstStyle/>
          <a:p>
            <a:fld id="{F854A171-0E1D-40EE-B5F7-D8411B7C818B}" type="datetimeFigureOut">
              <a:rPr lang="sk-SK" smtClean="0"/>
              <a:t>13. 4. 2024</a:t>
            </a:fld>
            <a:endParaRPr lang="sk-SK"/>
          </a:p>
        </p:txBody>
      </p:sp>
      <p:sp>
        <p:nvSpPr>
          <p:cNvPr id="8" name="Footer Placeholder 7"/>
          <p:cNvSpPr>
            <a:spLocks noGrp="1"/>
          </p:cNvSpPr>
          <p:nvPr>
            <p:ph type="ftr" sz="quarter" idx="11"/>
          </p:nvPr>
        </p:nvSpPr>
        <p:spPr/>
        <p:txBody>
          <a:bodyPr/>
          <a:lstStyle/>
          <a:p>
            <a:endParaRPr lang="sk-SK"/>
          </a:p>
        </p:txBody>
      </p:sp>
      <p:sp>
        <p:nvSpPr>
          <p:cNvPr id="9" name="Slide Number Placeholder 8"/>
          <p:cNvSpPr>
            <a:spLocks noGrp="1"/>
          </p:cNvSpPr>
          <p:nvPr>
            <p:ph type="sldNum" sz="quarter" idx="12"/>
          </p:nvPr>
        </p:nvSpPr>
        <p:spPr/>
        <p:txBody>
          <a:bodyPr/>
          <a:lstStyle/>
          <a:p>
            <a:fld id="{EC55A2C5-42C5-4148-8DCA-2FBED0857856}" type="slidenum">
              <a:rPr lang="sk-SK" smtClean="0"/>
              <a:t>‹#›</a:t>
            </a:fld>
            <a:endParaRPr lang="sk-SK"/>
          </a:p>
        </p:txBody>
      </p:sp>
    </p:spTree>
    <p:extLst>
      <p:ext uri="{BB962C8B-B14F-4D97-AF65-F5344CB8AC3E}">
        <p14:creationId xmlns:p14="http://schemas.microsoft.com/office/powerpoint/2010/main" val="282756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Date Placeholder 2"/>
          <p:cNvSpPr>
            <a:spLocks noGrp="1"/>
          </p:cNvSpPr>
          <p:nvPr>
            <p:ph type="dt" sz="half" idx="10"/>
          </p:nvPr>
        </p:nvSpPr>
        <p:spPr/>
        <p:txBody>
          <a:bodyPr/>
          <a:lstStyle/>
          <a:p>
            <a:fld id="{F854A171-0E1D-40EE-B5F7-D8411B7C818B}" type="datetimeFigureOut">
              <a:rPr lang="sk-SK" smtClean="0"/>
              <a:t>13. 4. 2024</a:t>
            </a:fld>
            <a:endParaRPr lang="sk-SK"/>
          </a:p>
        </p:txBody>
      </p:sp>
      <p:sp>
        <p:nvSpPr>
          <p:cNvPr id="4" name="Footer Placeholder 3"/>
          <p:cNvSpPr>
            <a:spLocks noGrp="1"/>
          </p:cNvSpPr>
          <p:nvPr>
            <p:ph type="ftr" sz="quarter" idx="11"/>
          </p:nvPr>
        </p:nvSpPr>
        <p:spPr/>
        <p:txBody>
          <a:bodyPr/>
          <a:lstStyle/>
          <a:p>
            <a:endParaRPr lang="sk-SK"/>
          </a:p>
        </p:txBody>
      </p:sp>
      <p:sp>
        <p:nvSpPr>
          <p:cNvPr id="5" name="Slide Number Placeholder 4"/>
          <p:cNvSpPr>
            <a:spLocks noGrp="1"/>
          </p:cNvSpPr>
          <p:nvPr>
            <p:ph type="sldNum" sz="quarter" idx="12"/>
          </p:nvPr>
        </p:nvSpPr>
        <p:spPr/>
        <p:txBody>
          <a:bodyPr/>
          <a:lstStyle/>
          <a:p>
            <a:fld id="{EC55A2C5-42C5-4148-8DCA-2FBED0857856}" type="slidenum">
              <a:rPr lang="sk-SK" smtClean="0"/>
              <a:t>‹#›</a:t>
            </a:fld>
            <a:endParaRPr lang="sk-SK"/>
          </a:p>
        </p:txBody>
      </p:sp>
    </p:spTree>
    <p:extLst>
      <p:ext uri="{BB962C8B-B14F-4D97-AF65-F5344CB8AC3E}">
        <p14:creationId xmlns:p14="http://schemas.microsoft.com/office/powerpoint/2010/main" val="3329633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54A171-0E1D-40EE-B5F7-D8411B7C818B}" type="datetimeFigureOut">
              <a:rPr lang="sk-SK" smtClean="0"/>
              <a:t>13. 4. 2024</a:t>
            </a:fld>
            <a:endParaRPr lang="sk-SK"/>
          </a:p>
        </p:txBody>
      </p:sp>
      <p:sp>
        <p:nvSpPr>
          <p:cNvPr id="3" name="Footer Placeholder 2"/>
          <p:cNvSpPr>
            <a:spLocks noGrp="1"/>
          </p:cNvSpPr>
          <p:nvPr>
            <p:ph type="ftr" sz="quarter" idx="11"/>
          </p:nvPr>
        </p:nvSpPr>
        <p:spPr/>
        <p:txBody>
          <a:bodyPr/>
          <a:lstStyle/>
          <a:p>
            <a:endParaRPr lang="sk-SK"/>
          </a:p>
        </p:txBody>
      </p:sp>
      <p:sp>
        <p:nvSpPr>
          <p:cNvPr id="4" name="Slide Number Placeholder 3"/>
          <p:cNvSpPr>
            <a:spLocks noGrp="1"/>
          </p:cNvSpPr>
          <p:nvPr>
            <p:ph type="sldNum" sz="quarter" idx="12"/>
          </p:nvPr>
        </p:nvSpPr>
        <p:spPr/>
        <p:txBody>
          <a:bodyPr/>
          <a:lstStyle/>
          <a:p>
            <a:fld id="{EC55A2C5-42C5-4148-8DCA-2FBED0857856}" type="slidenum">
              <a:rPr lang="sk-SK" smtClean="0"/>
              <a:t>‹#›</a:t>
            </a:fld>
            <a:endParaRPr lang="sk-SK"/>
          </a:p>
        </p:txBody>
      </p:sp>
    </p:spTree>
    <p:extLst>
      <p:ext uri="{BB962C8B-B14F-4D97-AF65-F5344CB8AC3E}">
        <p14:creationId xmlns:p14="http://schemas.microsoft.com/office/powerpoint/2010/main" val="1360078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hu-HU" smtClean="0"/>
              <a:t>Mintacím szerkesztése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5" name="Date Placeholder 4"/>
          <p:cNvSpPr>
            <a:spLocks noGrp="1"/>
          </p:cNvSpPr>
          <p:nvPr>
            <p:ph type="dt" sz="half" idx="10"/>
          </p:nvPr>
        </p:nvSpPr>
        <p:spPr/>
        <p:txBody>
          <a:bodyPr/>
          <a:lstStyle/>
          <a:p>
            <a:fld id="{F854A171-0E1D-40EE-B5F7-D8411B7C818B}" type="datetimeFigureOut">
              <a:rPr lang="sk-SK" smtClean="0"/>
              <a:t>13. 4. 2024</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EC55A2C5-42C5-4148-8DCA-2FBED0857856}" type="slidenum">
              <a:rPr lang="sk-SK" smtClean="0"/>
              <a:t>‹#›</a:t>
            </a:fld>
            <a:endParaRPr lang="sk-SK"/>
          </a:p>
        </p:txBody>
      </p:sp>
    </p:spTree>
    <p:extLst>
      <p:ext uri="{BB962C8B-B14F-4D97-AF65-F5344CB8AC3E}">
        <p14:creationId xmlns:p14="http://schemas.microsoft.com/office/powerpoint/2010/main" val="3740759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hu-HU" smtClean="0"/>
              <a:t>Mintacím szerkesztése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smtClean="0"/>
              <a:t>Kép beszúrásához kattintson az ikonra</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smtClean="0"/>
              <a:t>Mintaszöveg szerkesztése</a:t>
            </a:r>
          </a:p>
        </p:txBody>
      </p:sp>
      <p:sp>
        <p:nvSpPr>
          <p:cNvPr id="5" name="Date Placeholder 4"/>
          <p:cNvSpPr>
            <a:spLocks noGrp="1"/>
          </p:cNvSpPr>
          <p:nvPr>
            <p:ph type="dt" sz="half" idx="10"/>
          </p:nvPr>
        </p:nvSpPr>
        <p:spPr/>
        <p:txBody>
          <a:bodyPr/>
          <a:lstStyle/>
          <a:p>
            <a:fld id="{F854A171-0E1D-40EE-B5F7-D8411B7C818B}" type="datetimeFigureOut">
              <a:rPr lang="sk-SK" smtClean="0"/>
              <a:t>13. 4. 2024</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EC55A2C5-42C5-4148-8DCA-2FBED0857856}" type="slidenum">
              <a:rPr lang="sk-SK" smtClean="0"/>
              <a:t>‹#›</a:t>
            </a:fld>
            <a:endParaRPr lang="sk-SK"/>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4793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Vertical Text Placeholder 2"/>
          <p:cNvSpPr>
            <a:spLocks noGrp="1"/>
          </p:cNvSpPr>
          <p:nvPr>
            <p:ph type="body" orient="vert" idx="1"/>
          </p:nvPr>
        </p:nvSpPr>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F854A171-0E1D-40EE-B5F7-D8411B7C818B}" type="datetimeFigureOut">
              <a:rPr lang="sk-SK" smtClean="0"/>
              <a:t>13. 4. 2024</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EC55A2C5-42C5-4148-8DCA-2FBED0857856}" type="slidenum">
              <a:rPr lang="sk-SK" smtClean="0"/>
              <a:t>‹#›</a:t>
            </a:fld>
            <a:endParaRPr lang="sk-SK"/>
          </a:p>
        </p:txBody>
      </p:sp>
    </p:spTree>
    <p:extLst>
      <p:ext uri="{BB962C8B-B14F-4D97-AF65-F5344CB8AC3E}">
        <p14:creationId xmlns:p14="http://schemas.microsoft.com/office/powerpoint/2010/main" val="14378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hu-HU" smtClean="0"/>
              <a:t>Mintacím szerkesztése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F854A171-0E1D-40EE-B5F7-D8411B7C818B}" type="datetimeFigureOut">
              <a:rPr lang="sk-SK" smtClean="0"/>
              <a:t>13. 4. 2024</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EC55A2C5-42C5-4148-8DCA-2FBED0857856}" type="slidenum">
              <a:rPr lang="sk-SK" smtClean="0"/>
              <a:t>‹#›</a:t>
            </a:fld>
            <a:endParaRPr lang="sk-SK"/>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4560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hu-HU" smtClean="0"/>
              <a:t>Mintacím szerkesztése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854A171-0E1D-40EE-B5F7-D8411B7C818B}" type="datetimeFigureOut">
              <a:rPr lang="sk-SK" smtClean="0"/>
              <a:t>13. 4. 2024</a:t>
            </a:fld>
            <a:endParaRPr lang="sk-SK"/>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sk-SK"/>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55A2C5-42C5-4148-8DCA-2FBED0857856}" type="slidenum">
              <a:rPr lang="sk-SK" smtClean="0"/>
              <a:t>‹#›</a:t>
            </a:fld>
            <a:endParaRPr lang="sk-SK"/>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0975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p:txBody>
          <a:bodyPr>
            <a:normAutofit/>
          </a:bodyPr>
          <a:lstStyle/>
          <a:p>
            <a:r>
              <a:rPr lang="en-US" dirty="0"/>
              <a:t>Human Resource </a:t>
            </a:r>
            <a:r>
              <a:rPr lang="en-US" dirty="0" smtClean="0"/>
              <a:t>Management</a:t>
            </a:r>
            <a:r>
              <a:rPr lang="hu-HU" dirty="0" smtClean="0"/>
              <a:t> and </a:t>
            </a:r>
            <a:r>
              <a:rPr lang="hu-HU" dirty="0" err="1" smtClean="0"/>
              <a:t>leadership</a:t>
            </a:r>
            <a:r>
              <a:rPr lang="hu-HU" dirty="0" smtClean="0"/>
              <a:t> </a:t>
            </a:r>
            <a:r>
              <a:rPr lang="hu-HU" dirty="0" err="1" smtClean="0"/>
              <a:t>techniques</a:t>
            </a:r>
            <a:endParaRPr lang="sk-SK" dirty="0"/>
          </a:p>
        </p:txBody>
      </p:sp>
      <p:sp>
        <p:nvSpPr>
          <p:cNvPr id="3" name="Alcím 2"/>
          <p:cNvSpPr>
            <a:spLocks noGrp="1"/>
          </p:cNvSpPr>
          <p:nvPr>
            <p:ph type="subTitle" idx="1"/>
          </p:nvPr>
        </p:nvSpPr>
        <p:spPr/>
        <p:txBody>
          <a:bodyPr/>
          <a:lstStyle/>
          <a:p>
            <a:endParaRPr lang="sk-SK"/>
          </a:p>
        </p:txBody>
      </p:sp>
    </p:spTree>
    <p:extLst>
      <p:ext uri="{BB962C8B-B14F-4D97-AF65-F5344CB8AC3E}">
        <p14:creationId xmlns:p14="http://schemas.microsoft.com/office/powerpoint/2010/main" val="25744259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52151" y="567691"/>
            <a:ext cx="7772400" cy="1597025"/>
          </a:xfrm>
        </p:spPr>
        <p:txBody>
          <a:bodyPr/>
          <a:lstStyle/>
          <a:p>
            <a:pPr>
              <a:defRPr/>
            </a:pPr>
            <a:r>
              <a:rPr lang="en-US" dirty="0" smtClean="0"/>
              <a:t>It’s not just what you see!</a:t>
            </a:r>
            <a:endParaRPr lang="en-US" dirty="0"/>
          </a:p>
        </p:txBody>
      </p:sp>
      <p:sp>
        <p:nvSpPr>
          <p:cNvPr id="5" name="Content Placeholder 4"/>
          <p:cNvSpPr>
            <a:spLocks noGrp="1"/>
          </p:cNvSpPr>
          <p:nvPr>
            <p:ph sz="half" idx="4294967295"/>
          </p:nvPr>
        </p:nvSpPr>
        <p:spPr>
          <a:xfrm>
            <a:off x="1189901" y="2328863"/>
            <a:ext cx="6081440" cy="4529137"/>
          </a:xfrm>
        </p:spPr>
        <p:txBody>
          <a:bodyPr>
            <a:normAutofit/>
          </a:bodyPr>
          <a:lstStyle/>
          <a:p>
            <a:pPr>
              <a:defRPr/>
            </a:pPr>
            <a:r>
              <a:rPr lang="en-US" sz="2600" dirty="0"/>
              <a:t>In our normal day to day routine we usually see only half of what is happening – like this tree shown </a:t>
            </a:r>
            <a:r>
              <a:rPr lang="en-US" sz="2600" dirty="0" smtClean="0"/>
              <a:t>here.  </a:t>
            </a:r>
            <a:r>
              <a:rPr lang="en-US" sz="2600" dirty="0"/>
              <a:t>We see the trunk, branches and leaves in all their glory but it takes a root system just as big to support the healthy tree that we see.  And it is the same for organizations. </a:t>
            </a:r>
            <a:r>
              <a:rPr lang="en-US" sz="2600" dirty="0" smtClean="0">
                <a:solidFill>
                  <a:srgbClr val="FF0000"/>
                </a:solidFill>
              </a:rPr>
              <a:t>Without </a:t>
            </a:r>
            <a:r>
              <a:rPr lang="en-US" sz="2600" dirty="0">
                <a:solidFill>
                  <a:srgbClr val="FF0000"/>
                </a:solidFill>
              </a:rPr>
              <a:t>a strong human resource practice and function as your root system</a:t>
            </a:r>
            <a:r>
              <a:rPr lang="en-US" sz="2600" dirty="0"/>
              <a:t>, your organization </a:t>
            </a:r>
            <a:r>
              <a:rPr lang="en-US" sz="2600" dirty="0">
                <a:solidFill>
                  <a:srgbClr val="FF0000"/>
                </a:solidFill>
              </a:rPr>
              <a:t>will not be healthy and vibrant and able to grow</a:t>
            </a:r>
            <a:r>
              <a:rPr lang="en-US" sz="2600" dirty="0"/>
              <a:t>.</a:t>
            </a:r>
          </a:p>
        </p:txBody>
      </p:sp>
      <p:pic>
        <p:nvPicPr>
          <p:cNvPr id="35844" name="Picture 2"/>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bwMode="auto">
          <a:xfrm>
            <a:off x="7435214" y="666206"/>
            <a:ext cx="4465047" cy="591602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0804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What is HR</a:t>
            </a:r>
            <a:r>
              <a:rPr lang="hu-HU" dirty="0" smtClean="0"/>
              <a:t>?</a:t>
            </a:r>
            <a:endParaRPr lang="en-US" dirty="0"/>
          </a:p>
        </p:txBody>
      </p:sp>
      <p:sp>
        <p:nvSpPr>
          <p:cNvPr id="3" name="Content Placeholder 2"/>
          <p:cNvSpPr>
            <a:spLocks noGrp="1"/>
          </p:cNvSpPr>
          <p:nvPr>
            <p:ph sz="quarter" idx="4294967295"/>
          </p:nvPr>
        </p:nvSpPr>
        <p:spPr>
          <a:xfrm>
            <a:off x="809898" y="2286000"/>
            <a:ext cx="10332720" cy="4572000"/>
          </a:xfrm>
        </p:spPr>
        <p:txBody>
          <a:bodyPr>
            <a:normAutofit/>
          </a:bodyPr>
          <a:lstStyle/>
          <a:p>
            <a:pPr>
              <a:defRPr/>
            </a:pPr>
            <a:r>
              <a:rPr lang="en-US" sz="2600" dirty="0" smtClean="0"/>
              <a:t>Human Resources is the function that </a:t>
            </a:r>
            <a:r>
              <a:rPr lang="en-US" sz="2600" dirty="0" smtClean="0">
                <a:solidFill>
                  <a:srgbClr val="FF0000"/>
                </a:solidFill>
              </a:rPr>
              <a:t>manages the people within an organization and gives guidance</a:t>
            </a:r>
            <a:r>
              <a:rPr lang="en-US" sz="2600" dirty="0" smtClean="0"/>
              <a:t> in the areas of staffing, compensation, benefits, training and development, performance appraisal, health and safety, </a:t>
            </a:r>
            <a:r>
              <a:rPr lang="en-US" sz="2600" dirty="0" err="1" smtClean="0"/>
              <a:t>labour</a:t>
            </a:r>
            <a:r>
              <a:rPr lang="en-US" sz="2600" dirty="0" smtClean="0"/>
              <a:t> relations, employee engagement, wellness and any issues dealing with employees.</a:t>
            </a:r>
          </a:p>
          <a:p>
            <a:pPr>
              <a:defRPr/>
            </a:pPr>
            <a:r>
              <a:rPr lang="en-US" sz="2600" dirty="0"/>
              <a:t>And, of course, many of these areas overlap and impact each other as they change and move forward.  Having a basic understanding will help to reduce the risk of lawsuits while a </a:t>
            </a:r>
            <a:r>
              <a:rPr lang="en-US" sz="2600" dirty="0">
                <a:solidFill>
                  <a:srgbClr val="FF0000"/>
                </a:solidFill>
              </a:rPr>
              <a:t>better understanding will help your organization to be successful.</a:t>
            </a:r>
            <a:endParaRPr lang="en-US" sz="2600" dirty="0" smtClean="0">
              <a:solidFill>
                <a:srgbClr val="FF0000"/>
              </a:solidFill>
            </a:endParaRPr>
          </a:p>
        </p:txBody>
      </p:sp>
    </p:spTree>
    <p:extLst>
      <p:ext uri="{BB962C8B-B14F-4D97-AF65-F5344CB8AC3E}">
        <p14:creationId xmlns:p14="http://schemas.microsoft.com/office/powerpoint/2010/main" val="1907399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745" y="489522"/>
            <a:ext cx="9720072" cy="1499616"/>
          </a:xfrm>
        </p:spPr>
        <p:txBody>
          <a:bodyPr/>
          <a:lstStyle/>
          <a:p>
            <a:pPr>
              <a:defRPr/>
            </a:pPr>
            <a:r>
              <a:rPr lang="en-US" dirty="0" smtClean="0"/>
              <a:t>Why is it important?</a:t>
            </a:r>
            <a:endParaRPr lang="en-US" dirty="0"/>
          </a:p>
        </p:txBody>
      </p:sp>
      <p:sp>
        <p:nvSpPr>
          <p:cNvPr id="3" name="Content Placeholder 2"/>
          <p:cNvSpPr>
            <a:spLocks noGrp="1"/>
          </p:cNvSpPr>
          <p:nvPr>
            <p:ph sz="quarter" idx="4294967295"/>
          </p:nvPr>
        </p:nvSpPr>
        <p:spPr>
          <a:xfrm>
            <a:off x="736745" y="2158955"/>
            <a:ext cx="10371908" cy="4572000"/>
          </a:xfrm>
        </p:spPr>
        <p:txBody>
          <a:bodyPr>
            <a:normAutofit/>
          </a:bodyPr>
          <a:lstStyle/>
          <a:p>
            <a:pPr>
              <a:defRPr/>
            </a:pPr>
            <a:r>
              <a:rPr lang="en-US" sz="2600" dirty="0"/>
              <a:t>For most organizations, it is the employees who make the product or transact the business that makes the </a:t>
            </a:r>
            <a:r>
              <a:rPr lang="en-US" sz="2600" dirty="0">
                <a:solidFill>
                  <a:srgbClr val="FF0000"/>
                </a:solidFill>
              </a:rPr>
              <a:t>organization successful</a:t>
            </a:r>
            <a:r>
              <a:rPr lang="en-US" sz="2600" dirty="0"/>
              <a:t>.</a:t>
            </a:r>
          </a:p>
          <a:p>
            <a:pPr>
              <a:defRPr/>
            </a:pPr>
            <a:r>
              <a:rPr lang="en-US" sz="2600" dirty="0"/>
              <a:t>Without the </a:t>
            </a:r>
            <a:r>
              <a:rPr lang="en-US" sz="2600" dirty="0">
                <a:solidFill>
                  <a:srgbClr val="FF0000"/>
                </a:solidFill>
              </a:rPr>
              <a:t>proper policies and procedures </a:t>
            </a:r>
            <a:r>
              <a:rPr lang="en-US" sz="2600" dirty="0"/>
              <a:t>in place, work is not handled properly, </a:t>
            </a:r>
            <a:r>
              <a:rPr lang="en-US" sz="2600" dirty="0">
                <a:solidFill>
                  <a:srgbClr val="FF0000"/>
                </a:solidFill>
              </a:rPr>
              <a:t>productivity is low and increases costs</a:t>
            </a:r>
            <a:r>
              <a:rPr lang="en-US" sz="2600" dirty="0"/>
              <a:t>, and the organization loses the opportunity to improve and grow.</a:t>
            </a:r>
          </a:p>
          <a:p>
            <a:pPr>
              <a:defRPr/>
            </a:pPr>
            <a:r>
              <a:rPr lang="en-US" sz="2600" dirty="0"/>
              <a:t>Without the proper management of employees, </a:t>
            </a:r>
            <a:r>
              <a:rPr lang="en-US" sz="2600" dirty="0">
                <a:solidFill>
                  <a:srgbClr val="FF0000"/>
                </a:solidFill>
              </a:rPr>
              <a:t>costs go up (absenteeism) and efficiencies are missed (better ways of doing things).</a:t>
            </a:r>
          </a:p>
          <a:p>
            <a:pPr>
              <a:defRPr/>
            </a:pPr>
            <a:r>
              <a:rPr lang="en-US" sz="2600" dirty="0"/>
              <a:t>Get HR or a good lawyer!</a:t>
            </a:r>
          </a:p>
        </p:txBody>
      </p:sp>
    </p:spTree>
    <p:extLst>
      <p:ext uri="{BB962C8B-B14F-4D97-AF65-F5344CB8AC3E}">
        <p14:creationId xmlns:p14="http://schemas.microsoft.com/office/powerpoint/2010/main" val="38326264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514" y="615950"/>
            <a:ext cx="7772400" cy="1595438"/>
          </a:xfrm>
        </p:spPr>
        <p:txBody>
          <a:bodyPr/>
          <a:lstStyle/>
          <a:p>
            <a:pPr>
              <a:defRPr/>
            </a:pPr>
            <a:r>
              <a:rPr lang="en-US" dirty="0" smtClean="0"/>
              <a:t>What does it impact?</a:t>
            </a:r>
            <a:endParaRPr lang="en-US" dirty="0"/>
          </a:p>
        </p:txBody>
      </p:sp>
      <p:sp>
        <p:nvSpPr>
          <p:cNvPr id="3" name="Content Placeholder 2"/>
          <p:cNvSpPr>
            <a:spLocks noGrp="1"/>
          </p:cNvSpPr>
          <p:nvPr>
            <p:ph sz="quarter" idx="4294967295"/>
          </p:nvPr>
        </p:nvSpPr>
        <p:spPr>
          <a:xfrm>
            <a:off x="692332" y="2211388"/>
            <a:ext cx="10855234" cy="4572000"/>
          </a:xfrm>
        </p:spPr>
        <p:txBody>
          <a:bodyPr>
            <a:normAutofit/>
          </a:bodyPr>
          <a:lstStyle/>
          <a:p>
            <a:pPr>
              <a:defRPr/>
            </a:pPr>
            <a:r>
              <a:rPr lang="en-US" sz="2600" dirty="0" smtClean="0"/>
              <a:t>Without HR guiding the way, decisions get made that </a:t>
            </a:r>
            <a:r>
              <a:rPr lang="en-US" sz="2600" dirty="0" smtClean="0">
                <a:solidFill>
                  <a:srgbClr val="FF0000"/>
                </a:solidFill>
              </a:rPr>
              <a:t>can be legally challenged at a significant cost</a:t>
            </a:r>
            <a:r>
              <a:rPr lang="en-US" sz="2600" dirty="0" smtClean="0"/>
              <a:t>. </a:t>
            </a:r>
            <a:endParaRPr lang="hu-HU" sz="2600" dirty="0" smtClean="0"/>
          </a:p>
          <a:p>
            <a:pPr>
              <a:defRPr/>
            </a:pPr>
            <a:r>
              <a:rPr lang="en-US" sz="2600" dirty="0" smtClean="0"/>
              <a:t>Without proper policies in </a:t>
            </a:r>
            <a:r>
              <a:rPr lang="hu-HU" sz="2600" dirty="0" err="1" smtClean="0"/>
              <a:t>work</a:t>
            </a:r>
            <a:r>
              <a:rPr lang="en-US" sz="2600" dirty="0" smtClean="0"/>
              <a:t>place, </a:t>
            </a:r>
            <a:r>
              <a:rPr lang="en-US" sz="2600" dirty="0" smtClean="0">
                <a:solidFill>
                  <a:srgbClr val="FF0000"/>
                </a:solidFill>
              </a:rPr>
              <a:t>employees take advantage of the organization </a:t>
            </a:r>
            <a:r>
              <a:rPr lang="en-US" sz="2600" dirty="0" smtClean="0"/>
              <a:t>and there are no ways to resolve issues because there are no standard rules.</a:t>
            </a:r>
          </a:p>
          <a:p>
            <a:pPr>
              <a:defRPr/>
            </a:pPr>
            <a:r>
              <a:rPr lang="en-US" sz="2600" dirty="0" smtClean="0"/>
              <a:t>Lack of consistent direction to the </a:t>
            </a:r>
            <a:r>
              <a:rPr lang="en-US" sz="2600" dirty="0" smtClean="0">
                <a:solidFill>
                  <a:srgbClr val="FF0000"/>
                </a:solidFill>
              </a:rPr>
              <a:t>employees means decreased productivity </a:t>
            </a:r>
            <a:r>
              <a:rPr lang="en-US" sz="2600" dirty="0" smtClean="0"/>
              <a:t>and </a:t>
            </a:r>
            <a:r>
              <a:rPr lang="en-US" sz="2600" dirty="0" smtClean="0">
                <a:solidFill>
                  <a:srgbClr val="FF0000"/>
                </a:solidFill>
              </a:rPr>
              <a:t>loss of potential income</a:t>
            </a:r>
            <a:r>
              <a:rPr lang="en-US" sz="2600" dirty="0" smtClean="0"/>
              <a:t>.</a:t>
            </a:r>
          </a:p>
          <a:p>
            <a:pPr>
              <a:defRPr/>
            </a:pPr>
            <a:r>
              <a:rPr lang="en-US" sz="2600" dirty="0" smtClean="0">
                <a:solidFill>
                  <a:srgbClr val="FF0000"/>
                </a:solidFill>
              </a:rPr>
              <a:t>Inconsistent and unfair treatment </a:t>
            </a:r>
            <a:r>
              <a:rPr lang="en-US" sz="2600" dirty="0" smtClean="0"/>
              <a:t>leads to </a:t>
            </a:r>
            <a:r>
              <a:rPr lang="en-US" sz="2600" dirty="0" smtClean="0">
                <a:solidFill>
                  <a:srgbClr val="FF0000"/>
                </a:solidFill>
              </a:rPr>
              <a:t>employees leaving </a:t>
            </a:r>
            <a:r>
              <a:rPr lang="en-US" sz="2600" dirty="0" smtClean="0"/>
              <a:t>and costs for replacement.</a:t>
            </a:r>
            <a:endParaRPr lang="en-US" sz="2600" dirty="0"/>
          </a:p>
        </p:txBody>
      </p:sp>
    </p:spTree>
    <p:extLst>
      <p:ext uri="{BB962C8B-B14F-4D97-AF65-F5344CB8AC3E}">
        <p14:creationId xmlns:p14="http://schemas.microsoft.com/office/powerpoint/2010/main" val="1790307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7670" y="799563"/>
            <a:ext cx="7862888" cy="990600"/>
          </a:xfrm>
        </p:spPr>
        <p:txBody>
          <a:bodyPr>
            <a:noAutofit/>
          </a:bodyPr>
          <a:lstStyle/>
          <a:p>
            <a:pPr>
              <a:defRPr/>
            </a:pPr>
            <a:r>
              <a:rPr lang="en-IN" dirty="0"/>
              <a:t>Human </a:t>
            </a:r>
            <a:r>
              <a:rPr lang="en-IN" dirty="0" smtClean="0"/>
              <a:t>Capital</a:t>
            </a:r>
            <a:endParaRPr lang="en-IN" sz="3400" dirty="0">
              <a:solidFill>
                <a:srgbClr val="FF0000"/>
              </a:solidFill>
            </a:endParaRPr>
          </a:p>
        </p:txBody>
      </p:sp>
      <p:sp>
        <p:nvSpPr>
          <p:cNvPr id="3" name="Content Placeholder 2"/>
          <p:cNvSpPr>
            <a:spLocks noGrp="1"/>
          </p:cNvSpPr>
          <p:nvPr>
            <p:ph idx="4294967295"/>
          </p:nvPr>
        </p:nvSpPr>
        <p:spPr>
          <a:xfrm>
            <a:off x="1125158" y="2252729"/>
            <a:ext cx="9809005" cy="4191000"/>
          </a:xfrm>
        </p:spPr>
        <p:txBody>
          <a:bodyPr>
            <a:noAutofit/>
          </a:bodyPr>
          <a:lstStyle/>
          <a:p>
            <a:pPr>
              <a:defRPr/>
            </a:pPr>
            <a:r>
              <a:rPr lang="en-IN" sz="2400" dirty="0" smtClean="0"/>
              <a:t>Collective value </a:t>
            </a:r>
            <a:r>
              <a:rPr lang="en-IN" sz="2400" dirty="0"/>
              <a:t>of the </a:t>
            </a:r>
            <a:r>
              <a:rPr lang="en-IN" sz="2400" dirty="0" smtClean="0">
                <a:solidFill>
                  <a:srgbClr val="FF0000"/>
                </a:solidFill>
              </a:rPr>
              <a:t>knowledge</a:t>
            </a:r>
            <a:r>
              <a:rPr lang="en-IN" sz="2400" dirty="0">
                <a:solidFill>
                  <a:srgbClr val="FF0000"/>
                </a:solidFill>
              </a:rPr>
              <a:t>, skills, life experiences, and </a:t>
            </a:r>
            <a:r>
              <a:rPr lang="en-IN" sz="2400" dirty="0" smtClean="0">
                <a:solidFill>
                  <a:srgbClr val="FF0000"/>
                </a:solidFill>
              </a:rPr>
              <a:t>motivation </a:t>
            </a:r>
            <a:r>
              <a:rPr lang="en-IN" sz="2400" dirty="0" smtClean="0"/>
              <a:t>of </a:t>
            </a:r>
            <a:r>
              <a:rPr lang="en-IN" sz="2400" dirty="0"/>
              <a:t>an organizational </a:t>
            </a:r>
            <a:r>
              <a:rPr lang="en-IN" sz="2400" dirty="0" smtClean="0"/>
              <a:t>workforce</a:t>
            </a:r>
            <a:r>
              <a:rPr lang="hu-HU" sz="2400" dirty="0" smtClean="0"/>
              <a:t>.</a:t>
            </a:r>
          </a:p>
          <a:p>
            <a:pPr>
              <a:defRPr/>
            </a:pPr>
            <a:endParaRPr lang="en-IN" sz="2400" dirty="0" smtClean="0"/>
          </a:p>
          <a:p>
            <a:pPr>
              <a:defRPr/>
            </a:pPr>
            <a:r>
              <a:rPr lang="en-IN" sz="2400" dirty="0" smtClean="0"/>
              <a:t>Called </a:t>
            </a:r>
            <a:r>
              <a:rPr lang="en-IN" sz="2400" dirty="0" smtClean="0">
                <a:solidFill>
                  <a:srgbClr val="FF0000"/>
                </a:solidFill>
              </a:rPr>
              <a:t>intellectual </a:t>
            </a:r>
            <a:r>
              <a:rPr lang="en-IN" sz="2400" dirty="0">
                <a:solidFill>
                  <a:srgbClr val="FF0000"/>
                </a:solidFill>
              </a:rPr>
              <a:t>capital</a:t>
            </a:r>
            <a:r>
              <a:rPr lang="en-IN" sz="2400" dirty="0"/>
              <a:t> </a:t>
            </a:r>
            <a:r>
              <a:rPr lang="en-IN" sz="2400" dirty="0" smtClean="0"/>
              <a:t>to reflect following contributions of employees</a:t>
            </a:r>
            <a:r>
              <a:rPr lang="hu-HU" sz="2400" dirty="0"/>
              <a:t>:</a:t>
            </a:r>
            <a:endParaRPr lang="en-IN" sz="2400" dirty="0" smtClean="0"/>
          </a:p>
          <a:p>
            <a:pPr lvl="1">
              <a:defRPr/>
            </a:pPr>
            <a:r>
              <a:rPr lang="en-IN" sz="2400" dirty="0" smtClean="0"/>
              <a:t>Thinking</a:t>
            </a:r>
          </a:p>
          <a:p>
            <a:pPr lvl="1">
              <a:defRPr/>
            </a:pPr>
            <a:r>
              <a:rPr lang="en-IN" sz="2400" dirty="0" smtClean="0"/>
              <a:t>Knowledge</a:t>
            </a:r>
          </a:p>
          <a:p>
            <a:pPr lvl="1">
              <a:defRPr/>
            </a:pPr>
            <a:r>
              <a:rPr lang="en-IN" sz="2400" dirty="0" smtClean="0"/>
              <a:t>Creativity</a:t>
            </a:r>
          </a:p>
          <a:p>
            <a:pPr lvl="1">
              <a:defRPr/>
            </a:pPr>
            <a:r>
              <a:rPr lang="en-IN" sz="2400" dirty="0"/>
              <a:t>D</a:t>
            </a:r>
            <a:r>
              <a:rPr lang="en-IN" sz="2400" dirty="0" smtClean="0"/>
              <a:t>ecision making</a:t>
            </a:r>
            <a:endParaRPr lang="en-IN" sz="2400" dirty="0"/>
          </a:p>
        </p:txBody>
      </p:sp>
    </p:spTree>
    <p:extLst>
      <p:ext uri="{BB962C8B-B14F-4D97-AF65-F5344CB8AC3E}">
        <p14:creationId xmlns:p14="http://schemas.microsoft.com/office/powerpoint/2010/main" val="17286449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4294967295"/>
          </p:nvPr>
        </p:nvSpPr>
        <p:spPr>
          <a:xfrm>
            <a:off x="1406928" y="1287887"/>
            <a:ext cx="9140870" cy="6560423"/>
          </a:xfrm>
        </p:spPr>
        <p:txBody>
          <a:bodyPr>
            <a:normAutofit/>
          </a:bodyPr>
          <a:lstStyle/>
          <a:p>
            <a:pPr marL="609600" indent="-609600">
              <a:buNone/>
              <a:defRPr/>
            </a:pPr>
            <a:r>
              <a:rPr lang="en-US" altLang="sk-SK" sz="2600" dirty="0" smtClean="0"/>
              <a:t>2 major influences affect how </a:t>
            </a:r>
            <a:r>
              <a:rPr lang="en-US" altLang="sk-SK" sz="2600" dirty="0" smtClean="0">
                <a:solidFill>
                  <a:srgbClr val="FF0000"/>
                </a:solidFill>
              </a:rPr>
              <a:t>individuals perform</a:t>
            </a:r>
            <a:r>
              <a:rPr lang="en-US" altLang="sk-SK" sz="2600" dirty="0" smtClean="0"/>
              <a:t>:</a:t>
            </a:r>
            <a:endParaRPr lang="hu-HU" altLang="sk-SK" sz="2600" dirty="0" smtClean="0"/>
          </a:p>
          <a:p>
            <a:pPr marL="609600" indent="-609600">
              <a:buNone/>
              <a:defRPr/>
            </a:pPr>
            <a:endParaRPr lang="en-US" altLang="sk-SK" sz="2600" dirty="0" smtClean="0"/>
          </a:p>
          <a:p>
            <a:pPr marL="609600" indent="-609600">
              <a:buFontTx/>
              <a:buAutoNum type="arabicPeriod"/>
              <a:defRPr/>
            </a:pPr>
            <a:r>
              <a:rPr lang="en-US" altLang="sk-SK" sz="2600" dirty="0" smtClean="0"/>
              <a:t>Personal motivation</a:t>
            </a:r>
          </a:p>
          <a:p>
            <a:pPr marL="609600" indent="-609600">
              <a:buFontTx/>
              <a:buAutoNum type="arabicPeriod"/>
              <a:defRPr/>
            </a:pPr>
            <a:r>
              <a:rPr lang="en-US" altLang="sk-SK" sz="2600" dirty="0" smtClean="0"/>
              <a:t>The type of leadership that exists</a:t>
            </a:r>
          </a:p>
          <a:p>
            <a:pPr marL="609600" indent="-609600">
              <a:buNone/>
              <a:defRPr/>
            </a:pPr>
            <a:endParaRPr lang="en-US" altLang="sk-SK" sz="2600" dirty="0" smtClean="0"/>
          </a:p>
          <a:p>
            <a:pPr marL="609600" indent="-609600">
              <a:defRPr/>
            </a:pPr>
            <a:r>
              <a:rPr lang="en-US" altLang="sk-SK" sz="2600" dirty="0" smtClean="0"/>
              <a:t>Important to look at these two concepts as interconnected and dependent </a:t>
            </a:r>
            <a:r>
              <a:rPr lang="en-US" altLang="sk-SK" sz="2600" dirty="0" smtClean="0">
                <a:solidFill>
                  <a:srgbClr val="FF0000"/>
                </a:solidFill>
              </a:rPr>
              <a:t>on individual situations</a:t>
            </a:r>
            <a:r>
              <a:rPr lang="hu-HU" altLang="sk-SK" sz="2600" dirty="0" smtClean="0">
                <a:solidFill>
                  <a:srgbClr val="FF0000"/>
                </a:solidFill>
              </a:rPr>
              <a:t>.</a:t>
            </a:r>
            <a:endParaRPr lang="en-US" altLang="sk-SK" sz="2600" dirty="0" smtClean="0">
              <a:solidFill>
                <a:srgbClr val="FF0000"/>
              </a:solidFill>
            </a:endParaRPr>
          </a:p>
        </p:txBody>
      </p:sp>
    </p:spTree>
    <p:extLst>
      <p:ext uri="{BB962C8B-B14F-4D97-AF65-F5344CB8AC3E}">
        <p14:creationId xmlns:p14="http://schemas.microsoft.com/office/powerpoint/2010/main" val="22059110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881" y="541673"/>
            <a:ext cx="7772400" cy="1595438"/>
          </a:xfrm>
        </p:spPr>
        <p:txBody>
          <a:bodyPr/>
          <a:lstStyle/>
          <a:p>
            <a:pPr eaLnBrk="1" hangingPunct="1">
              <a:defRPr/>
            </a:pPr>
            <a:r>
              <a:rPr lang="en-US" dirty="0" smtClean="0"/>
              <a:t>MOTIVATION </a:t>
            </a:r>
            <a:endParaRPr lang="en-US" dirty="0"/>
          </a:p>
        </p:txBody>
      </p:sp>
      <p:sp>
        <p:nvSpPr>
          <p:cNvPr id="23555" name="Content Placeholder 2"/>
          <p:cNvSpPr>
            <a:spLocks noGrp="1"/>
          </p:cNvSpPr>
          <p:nvPr>
            <p:ph idx="4294967295"/>
          </p:nvPr>
        </p:nvSpPr>
        <p:spPr>
          <a:xfrm>
            <a:off x="833214" y="2465409"/>
            <a:ext cx="9472680" cy="3626297"/>
          </a:xfrm>
        </p:spPr>
        <p:txBody>
          <a:bodyPr>
            <a:noAutofit/>
          </a:bodyPr>
          <a:lstStyle/>
          <a:p>
            <a:pPr eaLnBrk="1" hangingPunct="1">
              <a:buFont typeface="Arial" panose="020B0604020202020204" pitchFamily="34" charset="0"/>
              <a:buNone/>
              <a:defRPr/>
            </a:pPr>
            <a:r>
              <a:rPr lang="en-US" altLang="sk-SK" sz="2300" dirty="0"/>
              <a:t>	</a:t>
            </a:r>
            <a:endParaRPr lang="en-US" altLang="sk-SK" sz="2300" b="1" dirty="0"/>
          </a:p>
          <a:p>
            <a:pPr eaLnBrk="1" hangingPunct="1">
              <a:defRPr/>
            </a:pPr>
            <a:r>
              <a:rPr lang="en-US" altLang="sk-SK" sz="2300" dirty="0"/>
              <a:t>Motivation is </a:t>
            </a:r>
            <a:r>
              <a:rPr lang="en-US" altLang="sk-SK" sz="2300" dirty="0">
                <a:solidFill>
                  <a:srgbClr val="FF0000"/>
                </a:solidFill>
              </a:rPr>
              <a:t>one of the key factors </a:t>
            </a:r>
            <a:r>
              <a:rPr lang="en-US" altLang="sk-SK" sz="2300" dirty="0"/>
              <a:t>driving us towards </a:t>
            </a:r>
            <a:r>
              <a:rPr lang="en-US" altLang="sk-SK" sz="2300" dirty="0">
                <a:solidFill>
                  <a:srgbClr val="FF0000"/>
                </a:solidFill>
              </a:rPr>
              <a:t>achieving something</a:t>
            </a:r>
            <a:r>
              <a:rPr lang="en-US" altLang="sk-SK" sz="2300" dirty="0"/>
              <a:t>. </a:t>
            </a:r>
            <a:endParaRPr lang="hu-HU" altLang="sk-SK" sz="2300" dirty="0"/>
          </a:p>
          <a:p>
            <a:pPr eaLnBrk="1" hangingPunct="1">
              <a:defRPr/>
            </a:pPr>
            <a:r>
              <a:rPr lang="en-US" altLang="sk-SK" sz="2300" dirty="0">
                <a:solidFill>
                  <a:srgbClr val="FF0000"/>
                </a:solidFill>
              </a:rPr>
              <a:t>Without motivation, we will do nothing. </a:t>
            </a:r>
          </a:p>
          <a:p>
            <a:pPr eaLnBrk="1" hangingPunct="1">
              <a:defRPr/>
            </a:pPr>
            <a:r>
              <a:rPr lang="en-US" altLang="sk-SK" sz="2300" dirty="0"/>
              <a:t>Therefore, motivation is one of the key aspects when it comes to</a:t>
            </a:r>
            <a:r>
              <a:rPr lang="hu-HU" altLang="sk-SK" sz="2300" dirty="0"/>
              <a:t> </a:t>
            </a:r>
            <a:r>
              <a:rPr lang="en-US" altLang="sk-SK" sz="2300" dirty="0"/>
              <a:t>management</a:t>
            </a:r>
            <a:r>
              <a:rPr lang="en-US" altLang="sk-SK" sz="2300" dirty="0" smtClean="0"/>
              <a:t>.</a:t>
            </a:r>
            <a:endParaRPr lang="hu-HU" altLang="sk-SK" sz="2300" dirty="0" smtClean="0"/>
          </a:p>
          <a:p>
            <a:pPr eaLnBrk="1" hangingPunct="1">
              <a:defRPr/>
            </a:pPr>
            <a:r>
              <a:rPr lang="en-US" altLang="sk-SK" sz="2300" dirty="0" smtClean="0"/>
              <a:t>In </a:t>
            </a:r>
            <a:r>
              <a:rPr lang="en-US" altLang="sk-SK" sz="2300" dirty="0"/>
              <a:t>order to achieve the best results, </a:t>
            </a:r>
            <a:r>
              <a:rPr lang="en-US" altLang="sk-SK" sz="2300" dirty="0">
                <a:solidFill>
                  <a:srgbClr val="FF0000"/>
                </a:solidFill>
              </a:rPr>
              <a:t>the organization needs to keep employees motivated.</a:t>
            </a:r>
          </a:p>
          <a:p>
            <a:pPr eaLnBrk="1" hangingPunct="1">
              <a:defRPr/>
            </a:pPr>
            <a:endParaRPr lang="en-US" altLang="sk-SK" sz="2300" dirty="0">
              <a:solidFill>
                <a:srgbClr val="FF0000"/>
              </a:solidFill>
            </a:endParaRPr>
          </a:p>
          <a:p>
            <a:pPr eaLnBrk="1" hangingPunct="1">
              <a:defRPr/>
            </a:pPr>
            <a:endParaRPr lang="en-US" altLang="sk-SK" sz="2300" dirty="0">
              <a:solidFill>
                <a:srgbClr val="FF0000"/>
              </a:solidFill>
            </a:endParaRPr>
          </a:p>
        </p:txBody>
      </p:sp>
    </p:spTree>
    <p:extLst>
      <p:ext uri="{BB962C8B-B14F-4D97-AF65-F5344CB8AC3E}">
        <p14:creationId xmlns:p14="http://schemas.microsoft.com/office/powerpoint/2010/main" val="2395837053"/>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986307" y="731189"/>
            <a:ext cx="7772400" cy="1143000"/>
          </a:xfrm>
        </p:spPr>
        <p:txBody>
          <a:bodyPr/>
          <a:lstStyle/>
          <a:p>
            <a:pPr eaLnBrk="1" hangingPunct="1">
              <a:defRPr/>
            </a:pPr>
            <a:r>
              <a:rPr lang="en-US" altLang="en-US" dirty="0" smtClean="0"/>
              <a:t>Function of motivation</a:t>
            </a:r>
          </a:p>
        </p:txBody>
      </p:sp>
      <p:sp>
        <p:nvSpPr>
          <p:cNvPr id="3" name="Content Placeholder 2"/>
          <p:cNvSpPr>
            <a:spLocks noGrp="1"/>
          </p:cNvSpPr>
          <p:nvPr>
            <p:ph sz="quarter" idx="4294967295"/>
          </p:nvPr>
        </p:nvSpPr>
        <p:spPr>
          <a:xfrm>
            <a:off x="986307" y="2439562"/>
            <a:ext cx="9587248" cy="3819569"/>
          </a:xfrm>
        </p:spPr>
        <p:txBody>
          <a:bodyPr/>
          <a:lstStyle/>
          <a:p>
            <a:pPr marL="0" indent="0">
              <a:buNone/>
              <a:defRPr/>
            </a:pPr>
            <a:r>
              <a:rPr lang="en-US" altLang="en-US" sz="3200" i="1" dirty="0">
                <a:solidFill>
                  <a:srgbClr val="FF0000"/>
                </a:solidFill>
              </a:rPr>
              <a:t>Simple Answer - For survival: </a:t>
            </a:r>
            <a:r>
              <a:rPr lang="en-US" altLang="en-US" dirty="0">
                <a:solidFill>
                  <a:srgbClr val="FF0000"/>
                </a:solidFill>
              </a:rPr>
              <a:t> </a:t>
            </a:r>
          </a:p>
          <a:p>
            <a:pPr eaLnBrk="1" hangingPunct="1">
              <a:defRPr/>
            </a:pPr>
            <a:endParaRPr lang="en-US" altLang="en-US" dirty="0"/>
          </a:p>
          <a:p>
            <a:pPr eaLnBrk="1" hangingPunct="1">
              <a:defRPr/>
            </a:pPr>
            <a:r>
              <a:rPr lang="en-US" altLang="en-US" dirty="0"/>
              <a:t>Organisms need to initiate adaptive behaviors</a:t>
            </a:r>
          </a:p>
          <a:p>
            <a:pPr marL="0" indent="0">
              <a:buNone/>
              <a:defRPr/>
            </a:pPr>
            <a:r>
              <a:rPr lang="en-US" altLang="en-US" dirty="0"/>
              <a:t>       (eat, drink, sleep, etc.)</a:t>
            </a:r>
          </a:p>
          <a:p>
            <a:pPr eaLnBrk="1" hangingPunct="1">
              <a:defRPr/>
            </a:pPr>
            <a:endParaRPr lang="hu-HU" altLang="en-US" dirty="0" smtClean="0">
              <a:solidFill>
                <a:srgbClr val="FF0000"/>
              </a:solidFill>
            </a:endParaRPr>
          </a:p>
          <a:p>
            <a:pPr eaLnBrk="1" hangingPunct="1">
              <a:defRPr/>
            </a:pPr>
            <a:r>
              <a:rPr lang="en-US" altLang="en-US" dirty="0"/>
              <a:t>F</a:t>
            </a:r>
            <a:r>
              <a:rPr lang="hu-HU" altLang="en-US" dirty="0" err="1"/>
              <a:t>or</a:t>
            </a:r>
            <a:r>
              <a:rPr lang="hu-HU" altLang="en-US" dirty="0"/>
              <a:t> </a:t>
            </a:r>
            <a:r>
              <a:rPr lang="hu-HU" altLang="en-US" dirty="0" err="1"/>
              <a:t>organizational</a:t>
            </a:r>
            <a:r>
              <a:rPr lang="hu-HU" altLang="en-US" dirty="0"/>
              <a:t> </a:t>
            </a:r>
            <a:r>
              <a:rPr lang="hu-HU" altLang="en-US" dirty="0" err="1"/>
              <a:t>effectiveness</a:t>
            </a:r>
            <a:r>
              <a:rPr lang="hu-HU" altLang="en-US" dirty="0"/>
              <a:t>: </a:t>
            </a:r>
            <a:r>
              <a:rPr lang="hu-HU" altLang="en-US" dirty="0" err="1" smtClean="0">
                <a:solidFill>
                  <a:srgbClr val="FF0000"/>
                </a:solidFill>
              </a:rPr>
              <a:t>sometimes</a:t>
            </a:r>
            <a:r>
              <a:rPr lang="hu-HU" altLang="en-US" dirty="0" smtClean="0">
                <a:solidFill>
                  <a:srgbClr val="FF0000"/>
                </a:solidFill>
              </a:rPr>
              <a:t> </a:t>
            </a:r>
            <a:r>
              <a:rPr lang="hu-HU" altLang="en-US" dirty="0" err="1" smtClean="0">
                <a:solidFill>
                  <a:srgbClr val="FF0000"/>
                </a:solidFill>
              </a:rPr>
              <a:t>need</a:t>
            </a:r>
            <a:r>
              <a:rPr lang="en-US" altLang="en-US" dirty="0" smtClean="0">
                <a:solidFill>
                  <a:srgbClr val="FF0000"/>
                </a:solidFill>
              </a:rPr>
              <a:t> </a:t>
            </a:r>
            <a:r>
              <a:rPr lang="en-US" altLang="en-US" dirty="0">
                <a:solidFill>
                  <a:srgbClr val="FF0000"/>
                </a:solidFill>
              </a:rPr>
              <a:t>to push </a:t>
            </a:r>
            <a:r>
              <a:rPr lang="en-US" altLang="en-US" dirty="0" smtClean="0">
                <a:solidFill>
                  <a:srgbClr val="FF0000"/>
                </a:solidFill>
              </a:rPr>
              <a:t>the</a:t>
            </a:r>
            <a:r>
              <a:rPr lang="hu-HU" altLang="en-US" dirty="0" smtClean="0">
                <a:solidFill>
                  <a:srgbClr val="FF0000"/>
                </a:solidFill>
              </a:rPr>
              <a:t> </a:t>
            </a:r>
            <a:r>
              <a:rPr lang="hu-HU" altLang="en-US" dirty="0" err="1" smtClean="0">
                <a:solidFill>
                  <a:srgbClr val="FF0000"/>
                </a:solidFill>
              </a:rPr>
              <a:t>workers</a:t>
            </a:r>
            <a:r>
              <a:rPr lang="en-US" altLang="en-US" dirty="0" smtClean="0">
                <a:solidFill>
                  <a:srgbClr val="FF0000"/>
                </a:solidFill>
              </a:rPr>
              <a:t> </a:t>
            </a:r>
            <a:r>
              <a:rPr lang="en-US" altLang="en-US" dirty="0">
                <a:solidFill>
                  <a:srgbClr val="FF0000"/>
                </a:solidFill>
              </a:rPr>
              <a:t>in right </a:t>
            </a:r>
            <a:r>
              <a:rPr lang="en-US" altLang="en-US" dirty="0" smtClean="0">
                <a:solidFill>
                  <a:srgbClr val="FF0000"/>
                </a:solidFill>
              </a:rPr>
              <a:t>direction</a:t>
            </a:r>
            <a:r>
              <a:rPr lang="hu-HU" altLang="en-US" dirty="0" smtClean="0">
                <a:solidFill>
                  <a:srgbClr val="FF0000"/>
                </a:solidFill>
              </a:rPr>
              <a:t>…</a:t>
            </a:r>
            <a:endParaRPr lang="en-US" altLang="en-US" dirty="0">
              <a:solidFill>
                <a:srgbClr val="FF0000"/>
              </a:solidFill>
            </a:endParaRPr>
          </a:p>
          <a:p>
            <a:pPr eaLnBrk="1" hangingPunct="1">
              <a:defRPr/>
            </a:pPr>
            <a:endParaRPr lang="en-US" altLang="en-US" dirty="0"/>
          </a:p>
        </p:txBody>
      </p:sp>
    </p:spTree>
    <p:extLst>
      <p:ext uri="{BB962C8B-B14F-4D97-AF65-F5344CB8AC3E}">
        <p14:creationId xmlns:p14="http://schemas.microsoft.com/office/powerpoint/2010/main" val="23347544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4294967295"/>
          </p:nvPr>
        </p:nvSpPr>
        <p:spPr>
          <a:xfrm>
            <a:off x="830945" y="2188559"/>
            <a:ext cx="10191732" cy="4525963"/>
          </a:xfrm>
        </p:spPr>
        <p:txBody>
          <a:bodyPr>
            <a:normAutofit/>
          </a:bodyPr>
          <a:lstStyle/>
          <a:p>
            <a:pPr>
              <a:lnSpc>
                <a:spcPct val="90000"/>
              </a:lnSpc>
              <a:defRPr/>
            </a:pPr>
            <a:r>
              <a:rPr lang="en-US" sz="2400" dirty="0" smtClean="0">
                <a:solidFill>
                  <a:srgbClr val="FF0000"/>
                </a:solidFill>
              </a:rPr>
              <a:t>Intrinsic motivation </a:t>
            </a:r>
            <a:r>
              <a:rPr lang="en-US" sz="2400" dirty="0" smtClean="0"/>
              <a:t>causes people to participate in an activity for their own enjoyment</a:t>
            </a:r>
            <a:r>
              <a:rPr lang="hu-HU" sz="2400" dirty="0" smtClean="0"/>
              <a:t>.</a:t>
            </a:r>
          </a:p>
          <a:p>
            <a:pPr>
              <a:lnSpc>
                <a:spcPct val="90000"/>
              </a:lnSpc>
              <a:defRPr/>
            </a:pPr>
            <a:endParaRPr lang="en-US" sz="2400" dirty="0" smtClean="0"/>
          </a:p>
          <a:p>
            <a:pPr>
              <a:lnSpc>
                <a:spcPct val="90000"/>
              </a:lnSpc>
              <a:defRPr/>
            </a:pPr>
            <a:r>
              <a:rPr lang="en-US" sz="2400" dirty="0" smtClean="0">
                <a:solidFill>
                  <a:srgbClr val="FF0000"/>
                </a:solidFill>
              </a:rPr>
              <a:t>Extrinsic motivation </a:t>
            </a:r>
            <a:r>
              <a:rPr lang="en-US" sz="2400" dirty="0" smtClean="0"/>
              <a:t>causes people to do something for a reward or to avoid a penalty</a:t>
            </a:r>
            <a:r>
              <a:rPr lang="hu-HU" sz="2400" dirty="0" smtClean="0"/>
              <a:t>.</a:t>
            </a:r>
          </a:p>
          <a:p>
            <a:pPr>
              <a:lnSpc>
                <a:spcPct val="90000"/>
              </a:lnSpc>
              <a:defRPr/>
            </a:pPr>
            <a:endParaRPr lang="en-US" sz="2400" dirty="0" smtClean="0"/>
          </a:p>
          <a:p>
            <a:pPr>
              <a:lnSpc>
                <a:spcPct val="90000"/>
              </a:lnSpc>
              <a:defRPr/>
            </a:pPr>
            <a:r>
              <a:rPr lang="en-US" sz="2400" dirty="0" smtClean="0">
                <a:solidFill>
                  <a:srgbClr val="FF0000"/>
                </a:solidFill>
              </a:rPr>
              <a:t>For example</a:t>
            </a:r>
            <a:r>
              <a:rPr lang="en-US" sz="2400" dirty="0" smtClean="0"/>
              <a:t>, some children take piano lessons for intrinsic motivation </a:t>
            </a:r>
            <a:r>
              <a:rPr lang="en-US" sz="2400" dirty="0" smtClean="0">
                <a:solidFill>
                  <a:srgbClr val="FF0000"/>
                </a:solidFill>
              </a:rPr>
              <a:t>(they enjoy it</a:t>
            </a:r>
            <a:r>
              <a:rPr lang="en-US" sz="2400" dirty="0" smtClean="0"/>
              <a:t>) while others take them for extrinsic motivation (</a:t>
            </a:r>
            <a:r>
              <a:rPr lang="en-US" sz="2400" dirty="0" smtClean="0">
                <a:solidFill>
                  <a:srgbClr val="FF0000"/>
                </a:solidFill>
              </a:rPr>
              <a:t>to get a reward or avoid punishment</a:t>
            </a:r>
            <a:r>
              <a:rPr lang="en-US" sz="2400" dirty="0" smtClean="0"/>
              <a:t>)</a:t>
            </a:r>
            <a:r>
              <a:rPr lang="hu-HU" sz="2400" dirty="0" smtClean="0"/>
              <a:t>.</a:t>
            </a:r>
            <a:endParaRPr lang="en-US" sz="2400" dirty="0" smtClean="0"/>
          </a:p>
        </p:txBody>
      </p:sp>
      <p:sp>
        <p:nvSpPr>
          <p:cNvPr id="21506" name="Rectangle 2"/>
          <p:cNvSpPr>
            <a:spLocks noGrp="1" noChangeArrowheads="1"/>
          </p:cNvSpPr>
          <p:nvPr>
            <p:ph type="title"/>
          </p:nvPr>
        </p:nvSpPr>
        <p:spPr>
          <a:xfrm>
            <a:off x="830945" y="688943"/>
            <a:ext cx="9720072" cy="1499616"/>
          </a:xfrm>
        </p:spPr>
        <p:txBody>
          <a:bodyPr/>
          <a:lstStyle/>
          <a:p>
            <a:pPr>
              <a:defRPr/>
            </a:pPr>
            <a:r>
              <a:rPr lang="en-US" dirty="0" smtClean="0"/>
              <a:t>Intrinsic and Extrinsic Motivation</a:t>
            </a:r>
          </a:p>
        </p:txBody>
      </p:sp>
    </p:spTree>
    <p:extLst>
      <p:ext uri="{BB962C8B-B14F-4D97-AF65-F5344CB8AC3E}">
        <p14:creationId xmlns:p14="http://schemas.microsoft.com/office/powerpoint/2010/main" val="31634082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984542" y="322263"/>
            <a:ext cx="7772400" cy="1595438"/>
          </a:xfrm>
        </p:spPr>
        <p:txBody>
          <a:bodyPr/>
          <a:lstStyle/>
          <a:p>
            <a:pPr eaLnBrk="1" hangingPunct="1">
              <a:defRPr/>
            </a:pPr>
            <a:r>
              <a:rPr lang="en-US" altLang="sk-SK" sz="3500" dirty="0"/>
              <a:t/>
            </a:r>
            <a:br>
              <a:rPr lang="en-US" altLang="sk-SK" sz="3500" dirty="0"/>
            </a:br>
            <a:r>
              <a:rPr lang="en-US" altLang="sk-SK" sz="3500" dirty="0">
                <a:solidFill>
                  <a:srgbClr val="FF0000"/>
                </a:solidFill>
                <a:latin typeface="Tahoma" panose="020B0604030504040204" pitchFamily="34" charset="0"/>
              </a:rPr>
              <a:t>REMEMBER!</a:t>
            </a:r>
          </a:p>
        </p:txBody>
      </p:sp>
      <p:sp>
        <p:nvSpPr>
          <p:cNvPr id="29699" name="Rectangle 3"/>
          <p:cNvSpPr>
            <a:spLocks noGrp="1" noChangeArrowheads="1"/>
          </p:cNvSpPr>
          <p:nvPr>
            <p:ph type="body" idx="4294967295"/>
          </p:nvPr>
        </p:nvSpPr>
        <p:spPr>
          <a:xfrm>
            <a:off x="2005192" y="1801791"/>
            <a:ext cx="8229600" cy="4530725"/>
          </a:xfrm>
        </p:spPr>
        <p:txBody>
          <a:bodyPr/>
          <a:lstStyle/>
          <a:p>
            <a:pPr algn="ctr" eaLnBrk="1" hangingPunct="1">
              <a:buFont typeface="Wingdings" panose="05000000000000000000" pitchFamily="2" charset="2"/>
              <a:buNone/>
              <a:defRPr/>
            </a:pPr>
            <a:r>
              <a:rPr lang="en-US" altLang="sk-SK" sz="2600" dirty="0"/>
              <a:t>What motivates you doesn’t always motivate your staff</a:t>
            </a:r>
            <a:r>
              <a:rPr lang="hu-HU" altLang="sk-SK" sz="2600" dirty="0"/>
              <a:t>!</a:t>
            </a:r>
            <a:endParaRPr lang="en-US" altLang="sk-SK" sz="2600" dirty="0"/>
          </a:p>
        </p:txBody>
      </p:sp>
      <p:pic>
        <p:nvPicPr>
          <p:cNvPr id="60420" name="Kép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79659" y="2628901"/>
            <a:ext cx="5091112"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3735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918693" y="674778"/>
            <a:ext cx="9144000" cy="1327150"/>
          </a:xfrm>
        </p:spPr>
        <p:txBody>
          <a:bodyPr/>
          <a:lstStyle/>
          <a:p>
            <a:pPr eaLnBrk="1" hangingPunct="1">
              <a:defRPr/>
            </a:pPr>
            <a:r>
              <a:rPr lang="en-US" altLang="sk-SK" dirty="0"/>
              <a:t>Things That Don’t Motivate</a:t>
            </a:r>
          </a:p>
        </p:txBody>
      </p:sp>
      <p:sp>
        <p:nvSpPr>
          <p:cNvPr id="47107" name="Rectangle 3"/>
          <p:cNvSpPr>
            <a:spLocks noGrp="1" noChangeArrowheads="1"/>
          </p:cNvSpPr>
          <p:nvPr>
            <p:ph type="body" idx="4294967295"/>
          </p:nvPr>
        </p:nvSpPr>
        <p:spPr>
          <a:xfrm>
            <a:off x="1151184" y="2349971"/>
            <a:ext cx="4678363" cy="4198937"/>
          </a:xfrm>
        </p:spPr>
        <p:txBody>
          <a:bodyPr>
            <a:normAutofit/>
          </a:bodyPr>
          <a:lstStyle/>
          <a:p>
            <a:pPr marL="0" indent="0">
              <a:buNone/>
              <a:defRPr/>
            </a:pPr>
            <a:r>
              <a:rPr lang="en-US" altLang="sk-SK" sz="2600" dirty="0"/>
              <a:t>Personal Attacks</a:t>
            </a:r>
          </a:p>
          <a:p>
            <a:pPr marL="0" indent="0">
              <a:buNone/>
              <a:defRPr/>
            </a:pPr>
            <a:r>
              <a:rPr lang="en-US" altLang="sk-SK" sz="2600" dirty="0"/>
              <a:t>Governing by Fear</a:t>
            </a:r>
          </a:p>
          <a:p>
            <a:pPr marL="0" indent="0">
              <a:buNone/>
              <a:defRPr/>
            </a:pPr>
            <a:r>
              <a:rPr lang="en-US" altLang="sk-SK" sz="2600" dirty="0"/>
              <a:t>Shouldering All Responsibility</a:t>
            </a:r>
          </a:p>
          <a:p>
            <a:pPr marL="0" indent="0">
              <a:buNone/>
              <a:defRPr/>
            </a:pPr>
            <a:r>
              <a:rPr lang="en-US" altLang="sk-SK" sz="2600" dirty="0"/>
              <a:t>Overworking Employees</a:t>
            </a:r>
          </a:p>
          <a:p>
            <a:pPr eaLnBrk="1" hangingPunct="1">
              <a:buFont typeface="Wingdings" panose="05000000000000000000" pitchFamily="2" charset="2"/>
              <a:buChar char="Ø"/>
              <a:defRPr/>
            </a:pPr>
            <a:endParaRPr lang="en-US" altLang="sk-SK" sz="2600" dirty="0">
              <a:latin typeface="Tahoma" panose="020B0604030504040204" pitchFamily="34" charset="0"/>
            </a:endParaRPr>
          </a:p>
          <a:p>
            <a:pPr eaLnBrk="1" hangingPunct="1">
              <a:buFont typeface="Wingdings" panose="05000000000000000000" pitchFamily="2" charset="2"/>
              <a:buChar char="Ø"/>
              <a:defRPr/>
            </a:pPr>
            <a:endParaRPr lang="en-US" altLang="sk-SK" sz="2600" dirty="0">
              <a:latin typeface="Tahoma" panose="020B0604030504040204" pitchFamily="34" charset="0"/>
            </a:endParaRPr>
          </a:p>
        </p:txBody>
      </p:sp>
      <p:pic>
        <p:nvPicPr>
          <p:cNvPr id="73732" name="Kép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43193" y="2001928"/>
            <a:ext cx="361950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36453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953589" y="841783"/>
            <a:ext cx="10857411" cy="922114"/>
          </a:xfrm>
        </p:spPr>
        <p:txBody>
          <a:bodyPr>
            <a:normAutofit/>
          </a:bodyPr>
          <a:lstStyle/>
          <a:p>
            <a:r>
              <a:rPr lang="en-GB" dirty="0"/>
              <a:t>THE HRM </a:t>
            </a:r>
            <a:r>
              <a:rPr lang="en-GB" dirty="0" smtClean="0"/>
              <a:t>SYSTEM</a:t>
            </a:r>
            <a:endParaRPr lang="en-GB" dirty="0"/>
          </a:p>
        </p:txBody>
      </p:sp>
      <p:pic>
        <p:nvPicPr>
          <p:cNvPr id="3" name="Kép 2"/>
          <p:cNvPicPr>
            <a:picLocks noChangeAspect="1"/>
          </p:cNvPicPr>
          <p:nvPr/>
        </p:nvPicPr>
        <p:blipFill>
          <a:blip r:embed="rId2"/>
          <a:stretch>
            <a:fillRect/>
          </a:stretch>
        </p:blipFill>
        <p:spPr>
          <a:xfrm>
            <a:off x="3843337" y="2052032"/>
            <a:ext cx="4505325" cy="4133850"/>
          </a:xfrm>
          <a:prstGeom prst="rect">
            <a:avLst/>
          </a:prstGeom>
        </p:spPr>
      </p:pic>
    </p:spTree>
    <p:extLst>
      <p:ext uri="{BB962C8B-B14F-4D97-AF65-F5344CB8AC3E}">
        <p14:creationId xmlns:p14="http://schemas.microsoft.com/office/powerpoint/2010/main" val="35106753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68348" y="919934"/>
            <a:ext cx="5349280" cy="961730"/>
          </a:xfrm>
        </p:spPr>
        <p:txBody>
          <a:bodyPr>
            <a:normAutofit/>
          </a:bodyPr>
          <a:lstStyle/>
          <a:p>
            <a:pPr eaLnBrk="1" hangingPunct="1"/>
            <a:r>
              <a:rPr lang="en-US" altLang="hu-HU" noProof="0" dirty="0"/>
              <a:t>HRM functions -1</a:t>
            </a:r>
          </a:p>
        </p:txBody>
      </p:sp>
      <p:sp>
        <p:nvSpPr>
          <p:cNvPr id="11267" name="Rectangle 3"/>
          <p:cNvSpPr>
            <a:spLocks noGrp="1" noChangeArrowheads="1"/>
          </p:cNvSpPr>
          <p:nvPr>
            <p:ph type="body" idx="1"/>
          </p:nvPr>
        </p:nvSpPr>
        <p:spPr>
          <a:xfrm>
            <a:off x="875211" y="2654280"/>
            <a:ext cx="9771433" cy="3816424"/>
          </a:xfrm>
        </p:spPr>
        <p:txBody>
          <a:bodyPr>
            <a:normAutofit/>
          </a:bodyPr>
          <a:lstStyle/>
          <a:p>
            <a:r>
              <a:rPr lang="en-US" altLang="hu-HU" sz="3000" dirty="0"/>
              <a:t>Planning labor needs (HR planning)</a:t>
            </a:r>
          </a:p>
          <a:p>
            <a:pPr eaLnBrk="1" hangingPunct="1"/>
            <a:r>
              <a:rPr lang="en-US" altLang="hu-HU" sz="3000" dirty="0" smtClean="0">
                <a:solidFill>
                  <a:srgbClr val="FF0000"/>
                </a:solidFill>
              </a:rPr>
              <a:t>Job </a:t>
            </a:r>
            <a:r>
              <a:rPr lang="en-US" altLang="hu-HU" sz="3000" dirty="0">
                <a:solidFill>
                  <a:srgbClr val="FF0000"/>
                </a:solidFill>
              </a:rPr>
              <a:t>analysis (determining the nature of each employees job)</a:t>
            </a:r>
          </a:p>
          <a:p>
            <a:pPr eaLnBrk="1" hangingPunct="1"/>
            <a:r>
              <a:rPr lang="en-US" altLang="hu-HU" sz="3000" dirty="0" smtClean="0"/>
              <a:t>Recruitment </a:t>
            </a:r>
            <a:r>
              <a:rPr lang="en-US" altLang="hu-HU" sz="3000" dirty="0"/>
              <a:t>and selection </a:t>
            </a:r>
            <a:r>
              <a:rPr lang="en-US" altLang="hu-HU" sz="3000" dirty="0" smtClean="0"/>
              <a:t>promotion</a:t>
            </a:r>
            <a:endParaRPr lang="en-US" altLang="hu-HU" sz="3000" dirty="0"/>
          </a:p>
          <a:p>
            <a:pPr eaLnBrk="1" hangingPunct="1"/>
            <a:r>
              <a:rPr lang="hu-HU" altLang="hu-HU" sz="3000" dirty="0" smtClean="0">
                <a:solidFill>
                  <a:srgbClr val="FF0000"/>
                </a:solidFill>
              </a:rPr>
              <a:t>T</a:t>
            </a:r>
            <a:r>
              <a:rPr lang="en-US" altLang="hu-HU" sz="3000" dirty="0" smtClean="0">
                <a:solidFill>
                  <a:srgbClr val="FF0000"/>
                </a:solidFill>
              </a:rPr>
              <a:t>raining </a:t>
            </a:r>
            <a:r>
              <a:rPr lang="en-US" altLang="hu-HU" sz="3000" dirty="0">
                <a:solidFill>
                  <a:srgbClr val="FF0000"/>
                </a:solidFill>
              </a:rPr>
              <a:t>and development</a:t>
            </a:r>
            <a:endParaRPr lang="hu-HU" altLang="hu-HU" sz="3000" dirty="0">
              <a:solidFill>
                <a:srgbClr val="FF0000"/>
              </a:solidFill>
            </a:endParaRPr>
          </a:p>
          <a:p>
            <a:r>
              <a:rPr lang="en-US" altLang="hu-HU" sz="3000" dirty="0"/>
              <a:t>Managing wages salaries, incentives and benefits   (compensation management)</a:t>
            </a:r>
          </a:p>
        </p:txBody>
      </p:sp>
    </p:spTree>
    <p:extLst>
      <p:ext uri="{BB962C8B-B14F-4D97-AF65-F5344CB8AC3E}">
        <p14:creationId xmlns:p14="http://schemas.microsoft.com/office/powerpoint/2010/main" val="9268723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18972" y="797848"/>
            <a:ext cx="5349280" cy="961730"/>
          </a:xfrm>
        </p:spPr>
        <p:txBody>
          <a:bodyPr>
            <a:normAutofit/>
          </a:bodyPr>
          <a:lstStyle/>
          <a:p>
            <a:pPr eaLnBrk="1" hangingPunct="1"/>
            <a:r>
              <a:rPr lang="en-US" altLang="hu-HU" noProof="0" dirty="0"/>
              <a:t>HRM functions -2 </a:t>
            </a:r>
          </a:p>
        </p:txBody>
      </p:sp>
      <p:sp>
        <p:nvSpPr>
          <p:cNvPr id="12291" name="Rectangle 3"/>
          <p:cNvSpPr>
            <a:spLocks noGrp="1" noChangeArrowheads="1"/>
          </p:cNvSpPr>
          <p:nvPr>
            <p:ph type="body" idx="1"/>
          </p:nvPr>
        </p:nvSpPr>
        <p:spPr>
          <a:xfrm>
            <a:off x="1018972" y="2426810"/>
            <a:ext cx="9490204" cy="3312368"/>
          </a:xfrm>
        </p:spPr>
        <p:txBody>
          <a:bodyPr>
            <a:normAutofit/>
          </a:bodyPr>
          <a:lstStyle/>
          <a:p>
            <a:pPr eaLnBrk="1" hangingPunct="1"/>
            <a:r>
              <a:rPr lang="en-US" altLang="hu-HU" sz="3000" dirty="0">
                <a:solidFill>
                  <a:srgbClr val="FF0000"/>
                </a:solidFill>
              </a:rPr>
              <a:t>Performance management</a:t>
            </a:r>
          </a:p>
          <a:p>
            <a:pPr eaLnBrk="1" hangingPunct="1"/>
            <a:r>
              <a:rPr lang="en-US" altLang="hu-HU" sz="3000" dirty="0"/>
              <a:t>Health and safety</a:t>
            </a:r>
          </a:p>
          <a:p>
            <a:pPr eaLnBrk="1" hangingPunct="1"/>
            <a:r>
              <a:rPr lang="en-US" altLang="hu-HU" sz="3000" dirty="0">
                <a:solidFill>
                  <a:srgbClr val="FF0000"/>
                </a:solidFill>
              </a:rPr>
              <a:t>Collective bargaining  </a:t>
            </a:r>
          </a:p>
          <a:p>
            <a:pPr eaLnBrk="1" hangingPunct="1"/>
            <a:r>
              <a:rPr lang="en-US" altLang="hu-HU" sz="3000" dirty="0"/>
              <a:t>Managing Relations </a:t>
            </a:r>
          </a:p>
        </p:txBody>
      </p:sp>
    </p:spTree>
    <p:extLst>
      <p:ext uri="{BB962C8B-B14F-4D97-AF65-F5344CB8AC3E}">
        <p14:creationId xmlns:p14="http://schemas.microsoft.com/office/powerpoint/2010/main" val="2164718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91399" y="836712"/>
            <a:ext cx="5349280" cy="961730"/>
          </a:xfrm>
        </p:spPr>
        <p:txBody>
          <a:bodyPr>
            <a:normAutofit/>
          </a:bodyPr>
          <a:lstStyle/>
          <a:p>
            <a:pPr eaLnBrk="1" hangingPunct="1"/>
            <a:r>
              <a:rPr lang="en-US" altLang="hu-HU" noProof="0" dirty="0"/>
              <a:t>Objectives of HRM</a:t>
            </a:r>
          </a:p>
        </p:txBody>
      </p:sp>
      <p:sp>
        <p:nvSpPr>
          <p:cNvPr id="14339" name="Rectangle 3"/>
          <p:cNvSpPr>
            <a:spLocks noGrp="1" noChangeArrowheads="1"/>
          </p:cNvSpPr>
          <p:nvPr>
            <p:ph type="body" idx="1"/>
          </p:nvPr>
        </p:nvSpPr>
        <p:spPr>
          <a:xfrm>
            <a:off x="991399" y="2220949"/>
            <a:ext cx="10216532" cy="4249755"/>
          </a:xfrm>
        </p:spPr>
        <p:txBody>
          <a:bodyPr>
            <a:normAutofit/>
          </a:bodyPr>
          <a:lstStyle/>
          <a:p>
            <a:pPr marL="0" indent="0">
              <a:buNone/>
            </a:pPr>
            <a:r>
              <a:rPr lang="en-US" sz="3000" dirty="0"/>
              <a:t>To </a:t>
            </a:r>
            <a:r>
              <a:rPr lang="en-US" sz="3000" dirty="0">
                <a:solidFill>
                  <a:srgbClr val="FF0000"/>
                </a:solidFill>
              </a:rPr>
              <a:t>increase organizational effectiveness and capability</a:t>
            </a:r>
          </a:p>
          <a:p>
            <a:pPr marL="0" indent="0">
              <a:buNone/>
            </a:pPr>
            <a:r>
              <a:rPr lang="en-US" altLang="hu-HU" sz="3000" dirty="0">
                <a:solidFill>
                  <a:srgbClr val="FF0000"/>
                </a:solidFill>
              </a:rPr>
              <a:t>Communicating HRM policies </a:t>
            </a:r>
            <a:r>
              <a:rPr lang="en-US" altLang="hu-HU" sz="3000" dirty="0"/>
              <a:t>to all employees</a:t>
            </a:r>
          </a:p>
          <a:p>
            <a:pPr marL="0" indent="0">
              <a:buNone/>
            </a:pPr>
            <a:r>
              <a:rPr lang="en-US" altLang="hu-HU" sz="3000" dirty="0"/>
              <a:t>Helping to maintain </a:t>
            </a:r>
            <a:r>
              <a:rPr lang="en-US" altLang="hu-HU" sz="3000" dirty="0">
                <a:solidFill>
                  <a:srgbClr val="FF0000"/>
                </a:solidFill>
              </a:rPr>
              <a:t>ethical policies </a:t>
            </a:r>
            <a:r>
              <a:rPr lang="en-US" altLang="hu-HU" sz="3000" dirty="0"/>
              <a:t>and </a:t>
            </a:r>
            <a:r>
              <a:rPr lang="en-US" altLang="hu-HU" sz="3000" dirty="0">
                <a:solidFill>
                  <a:srgbClr val="FF0000"/>
                </a:solidFill>
              </a:rPr>
              <a:t>socially responsible behavior</a:t>
            </a:r>
          </a:p>
          <a:p>
            <a:pPr marL="0" indent="0">
              <a:buNone/>
            </a:pPr>
            <a:r>
              <a:rPr lang="en-US" altLang="hu-HU" sz="3000" dirty="0"/>
              <a:t>Developing and maintaining </a:t>
            </a:r>
            <a:r>
              <a:rPr lang="en-US" altLang="hu-HU" sz="3000" dirty="0">
                <a:solidFill>
                  <a:srgbClr val="FF0000"/>
                </a:solidFill>
              </a:rPr>
              <a:t>quality of work life </a:t>
            </a:r>
            <a:r>
              <a:rPr lang="en-US" altLang="hu-HU" sz="3000" dirty="0"/>
              <a:t>that makes employment  in the organization desirable</a:t>
            </a:r>
          </a:p>
          <a:p>
            <a:pPr marL="0" indent="0">
              <a:buNone/>
            </a:pPr>
            <a:r>
              <a:rPr lang="en-US" altLang="hu-HU" sz="3000" dirty="0">
                <a:solidFill>
                  <a:srgbClr val="FF0000"/>
                </a:solidFill>
              </a:rPr>
              <a:t>Managing change to the mutual advantage </a:t>
            </a:r>
            <a:r>
              <a:rPr lang="en-US" altLang="hu-HU" sz="3000" dirty="0"/>
              <a:t>of individuals, groups, the enterprise, and the public</a:t>
            </a:r>
          </a:p>
          <a:p>
            <a:pPr eaLnBrk="1" hangingPunct="1"/>
            <a:endParaRPr lang="en-US" altLang="hu-HU" sz="2800" dirty="0"/>
          </a:p>
        </p:txBody>
      </p:sp>
    </p:spTree>
    <p:extLst>
      <p:ext uri="{BB962C8B-B14F-4D97-AF65-F5344CB8AC3E}">
        <p14:creationId xmlns:p14="http://schemas.microsoft.com/office/powerpoint/2010/main" val="16397194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957107" y="861826"/>
            <a:ext cx="5349280" cy="961730"/>
          </a:xfrm>
        </p:spPr>
        <p:txBody>
          <a:bodyPr/>
          <a:lstStyle/>
          <a:p>
            <a:r>
              <a:rPr lang="en-US" noProof="0" dirty="0"/>
              <a:t>HRM Today</a:t>
            </a:r>
          </a:p>
        </p:txBody>
      </p:sp>
      <p:sp>
        <p:nvSpPr>
          <p:cNvPr id="3" name="Tartalom helye 2"/>
          <p:cNvSpPr>
            <a:spLocks noGrp="1"/>
          </p:cNvSpPr>
          <p:nvPr>
            <p:ph idx="1"/>
          </p:nvPr>
        </p:nvSpPr>
        <p:spPr>
          <a:xfrm>
            <a:off x="822960" y="2098744"/>
            <a:ext cx="10358846" cy="4509120"/>
          </a:xfrm>
        </p:spPr>
        <p:txBody>
          <a:bodyPr>
            <a:normAutofit/>
          </a:bodyPr>
          <a:lstStyle/>
          <a:p>
            <a:r>
              <a:rPr lang="en-US" sz="2800" dirty="0" smtClean="0"/>
              <a:t>New </a:t>
            </a:r>
            <a:r>
              <a:rPr lang="en-US" sz="2800" dirty="0"/>
              <a:t>interests and developments include </a:t>
            </a:r>
            <a:r>
              <a:rPr lang="en-US" sz="2800" dirty="0">
                <a:solidFill>
                  <a:srgbClr val="FF0000"/>
                </a:solidFill>
              </a:rPr>
              <a:t>human capital management, </a:t>
            </a:r>
            <a:r>
              <a:rPr lang="en-US" sz="2800" dirty="0" smtClean="0">
                <a:solidFill>
                  <a:srgbClr val="FF0000"/>
                </a:solidFill>
              </a:rPr>
              <a:t>engagement</a:t>
            </a:r>
            <a:r>
              <a:rPr lang="hu-HU" sz="2800" dirty="0" smtClean="0">
                <a:solidFill>
                  <a:srgbClr val="FF0000"/>
                </a:solidFill>
              </a:rPr>
              <a:t> </a:t>
            </a:r>
            <a:r>
              <a:rPr lang="en-US" sz="2800" dirty="0" smtClean="0">
                <a:solidFill>
                  <a:srgbClr val="FF0000"/>
                </a:solidFill>
              </a:rPr>
              <a:t>management</a:t>
            </a:r>
            <a:r>
              <a:rPr lang="en-US" sz="2800" dirty="0">
                <a:solidFill>
                  <a:srgbClr val="FF0000"/>
                </a:solidFill>
              </a:rPr>
              <a:t>, competency-based HRM, e-HRM, performance and reward </a:t>
            </a:r>
            <a:r>
              <a:rPr lang="en-US" sz="2800" dirty="0" smtClean="0">
                <a:solidFill>
                  <a:srgbClr val="FF0000"/>
                </a:solidFill>
              </a:rPr>
              <a:t>management</a:t>
            </a:r>
            <a:r>
              <a:rPr lang="hu-HU" sz="2800" dirty="0" smtClean="0">
                <a:solidFill>
                  <a:srgbClr val="FF0000"/>
                </a:solidFill>
              </a:rPr>
              <a:t>.</a:t>
            </a:r>
          </a:p>
          <a:p>
            <a:endParaRPr lang="en-US" sz="2800" dirty="0">
              <a:solidFill>
                <a:srgbClr val="FF0000"/>
              </a:solidFill>
            </a:endParaRPr>
          </a:p>
          <a:p>
            <a:r>
              <a:rPr lang="en-US" sz="2800" dirty="0">
                <a:solidFill>
                  <a:srgbClr val="FF0000"/>
                </a:solidFill>
              </a:rPr>
              <a:t>Ethical dimensions</a:t>
            </a:r>
            <a:r>
              <a:rPr lang="en-US" sz="2800" dirty="0"/>
              <a:t>: </a:t>
            </a:r>
            <a:r>
              <a:rPr lang="en-US" altLang="hu-HU" sz="2800" dirty="0"/>
              <a:t>The application of HRM requires the exercise of </a:t>
            </a:r>
            <a:r>
              <a:rPr lang="en-US" altLang="hu-HU" sz="2800" dirty="0">
                <a:solidFill>
                  <a:srgbClr val="FF0000"/>
                </a:solidFill>
              </a:rPr>
              <a:t>social responsibility </a:t>
            </a:r>
            <a:r>
              <a:rPr lang="en-US" altLang="hu-HU" sz="2800" dirty="0"/>
              <a:t>– it must be concerned with the interests (</a:t>
            </a:r>
            <a:r>
              <a:rPr lang="en-US" altLang="hu-HU" sz="2800" dirty="0">
                <a:solidFill>
                  <a:srgbClr val="FF0000"/>
                </a:solidFill>
              </a:rPr>
              <a:t>well-being</a:t>
            </a:r>
            <a:r>
              <a:rPr lang="en-US" altLang="hu-HU" sz="2800" dirty="0"/>
              <a:t>) of employees and act ethically with regard to the needs of people in the organization and the </a:t>
            </a:r>
            <a:r>
              <a:rPr lang="en-US" altLang="hu-HU" sz="2800" dirty="0" smtClean="0"/>
              <a:t>community</a:t>
            </a:r>
            <a:r>
              <a:rPr lang="hu-HU" altLang="hu-HU" sz="2800" dirty="0" smtClean="0"/>
              <a:t>.</a:t>
            </a:r>
            <a:endParaRPr lang="en-US" altLang="hu-HU" sz="2800" dirty="0"/>
          </a:p>
          <a:p>
            <a:endParaRPr lang="en-US" sz="2800" noProof="0" dirty="0"/>
          </a:p>
          <a:p>
            <a:endParaRPr lang="en-US" sz="2800" noProof="0" dirty="0"/>
          </a:p>
        </p:txBody>
      </p:sp>
    </p:spTree>
    <p:extLst>
      <p:ext uri="{BB962C8B-B14F-4D97-AF65-F5344CB8AC3E}">
        <p14:creationId xmlns:p14="http://schemas.microsoft.com/office/powerpoint/2010/main" val="26999659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272322" y="2505457"/>
            <a:ext cx="9720072" cy="1499616"/>
          </a:xfrm>
        </p:spPr>
        <p:txBody>
          <a:bodyPr/>
          <a:lstStyle/>
          <a:p>
            <a:pPr algn="ctr"/>
            <a:r>
              <a:rPr lang="hu-HU" dirty="0" err="1" smtClean="0"/>
              <a:t>THank</a:t>
            </a:r>
            <a:r>
              <a:rPr lang="hu-HU" dirty="0" smtClean="0"/>
              <a:t> </a:t>
            </a:r>
            <a:r>
              <a:rPr lang="hu-HU" dirty="0" err="1" smtClean="0"/>
              <a:t>you</a:t>
            </a:r>
            <a:r>
              <a:rPr lang="hu-HU" dirty="0" smtClean="0"/>
              <a:t> </a:t>
            </a:r>
            <a:r>
              <a:rPr lang="hu-HU" dirty="0" err="1" smtClean="0"/>
              <a:t>for</a:t>
            </a:r>
            <a:r>
              <a:rPr lang="hu-HU" dirty="0" smtClean="0"/>
              <a:t> </a:t>
            </a:r>
            <a:r>
              <a:rPr lang="hu-HU" dirty="0" err="1" smtClean="0"/>
              <a:t>your</a:t>
            </a:r>
            <a:r>
              <a:rPr lang="hu-HU" dirty="0" smtClean="0"/>
              <a:t> </a:t>
            </a:r>
            <a:r>
              <a:rPr lang="hu-HU" dirty="0" err="1" smtClean="0"/>
              <a:t>attentioN</a:t>
            </a:r>
            <a:r>
              <a:rPr lang="hu-HU" dirty="0" smtClean="0"/>
              <a:t>!</a:t>
            </a:r>
            <a:endParaRPr lang="sk-SK" dirty="0"/>
          </a:p>
        </p:txBody>
      </p:sp>
    </p:spTree>
    <p:extLst>
      <p:ext uri="{BB962C8B-B14F-4D97-AF65-F5344CB8AC3E}">
        <p14:creationId xmlns:p14="http://schemas.microsoft.com/office/powerpoint/2010/main" val="196244169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ál">
  <a:themeElements>
    <a:clrScheme name="Integrá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á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á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233</TotalTime>
  <Words>997</Words>
  <Application>Microsoft Office PowerPoint</Application>
  <PresentationFormat>Szélesvásznú</PresentationFormat>
  <Paragraphs>88</Paragraphs>
  <Slides>18</Slides>
  <Notes>8</Notes>
  <HiddenSlides>0</HiddenSlides>
  <MMClips>0</MMClips>
  <ScaleCrop>false</ScaleCrop>
  <HeadingPairs>
    <vt:vector size="6" baseType="variant">
      <vt:variant>
        <vt:lpstr>Használt betűtípusok</vt:lpstr>
      </vt:variant>
      <vt:variant>
        <vt:i4>7</vt:i4>
      </vt:variant>
      <vt:variant>
        <vt:lpstr>Téma</vt:lpstr>
      </vt:variant>
      <vt:variant>
        <vt:i4>1</vt:i4>
      </vt:variant>
      <vt:variant>
        <vt:lpstr>Diacímek</vt:lpstr>
      </vt:variant>
      <vt:variant>
        <vt:i4>18</vt:i4>
      </vt:variant>
    </vt:vector>
  </HeadingPairs>
  <TitlesOfParts>
    <vt:vector size="26" baseType="lpstr">
      <vt:lpstr>Arial</vt:lpstr>
      <vt:lpstr>Calibri</vt:lpstr>
      <vt:lpstr>Tahoma</vt:lpstr>
      <vt:lpstr>Tw Cen MT</vt:lpstr>
      <vt:lpstr>Tw Cen MT Condensed</vt:lpstr>
      <vt:lpstr>Wingdings</vt:lpstr>
      <vt:lpstr>Wingdings 3</vt:lpstr>
      <vt:lpstr>Integrál</vt:lpstr>
      <vt:lpstr>Human Resource Management and leadership techniques</vt:lpstr>
      <vt:lpstr>It’s not just what you see!</vt:lpstr>
      <vt:lpstr>What is HR?</vt:lpstr>
      <vt:lpstr>Why is it important?</vt:lpstr>
      <vt:lpstr>What does it impact?</vt:lpstr>
      <vt:lpstr>Human Capital</vt:lpstr>
      <vt:lpstr>PowerPoint bemutató</vt:lpstr>
      <vt:lpstr>MOTIVATION </vt:lpstr>
      <vt:lpstr>Function of motivation</vt:lpstr>
      <vt:lpstr>Intrinsic and Extrinsic Motivation</vt:lpstr>
      <vt:lpstr> REMEMBER!</vt:lpstr>
      <vt:lpstr>Things That Don’t Motivate</vt:lpstr>
      <vt:lpstr>THE HRM SYSTEM</vt:lpstr>
      <vt:lpstr>HRM functions -1</vt:lpstr>
      <vt:lpstr>HRM functions -2 </vt:lpstr>
      <vt:lpstr>Objectives of HRM</vt:lpstr>
      <vt:lpstr>HRM Today</vt:lpstr>
      <vt:lpstr>THank you for your attentioN!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Labour Market Knowledge</dc:title>
  <dc:creator>user</dc:creator>
  <cp:lastModifiedBy>user</cp:lastModifiedBy>
  <cp:revision>72</cp:revision>
  <dcterms:created xsi:type="dcterms:W3CDTF">2021-09-03T16:50:18Z</dcterms:created>
  <dcterms:modified xsi:type="dcterms:W3CDTF">2024-04-13T09:49:10Z</dcterms:modified>
</cp:coreProperties>
</file>